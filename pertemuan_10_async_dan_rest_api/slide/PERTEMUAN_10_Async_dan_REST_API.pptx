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a738393a-b363-74e6-c576-0c80c752ed76}">
          <p14:sldIdLst>
            <p14:sldId id="256"/>
            <p14:sldId id="257"/>
            <p14:sldId id="258"/>
          </p14:sldIdLst>
        </p14:section>
        <p14:section name="Aplikasi yang Berbicara dengan Server" id="{87437b34-22b9-d2ca-210f-7d095d025ea7}">
          <p14:sldIdLst>
            <p14:sldId id="259"/>
            <p14:sldId id="260"/>
            <p14:sldId id="261"/>
          </p14:sldIdLst>
        </p14:section>
        <p14:section name="Anatomi Permintaan dan Jawaban HTTP" id="{62c16d09-d1f8-1458-0337-4fd5a223be30}">
          <p14:sldIdLst>
            <p14:sldId id="262"/>
            <p14:sldId id="263"/>
            <p14:sldId id="264"/>
            <p14:sldId id="265"/>
          </p14:sldIdLst>
        </p14:section>
        <p14:section name="JSON: Bahasa Pertukaran Data" id="{dd267dd2-f192-1582-65eb-96db1d27f8a0}">
          <p14:sldIdLst>
            <p14:sldId id="266"/>
            <p14:sldId id="267"/>
            <p14:sldId id="268"/>
          </p14:sldIdLst>
        </p14:section>
        <p14:section name="Paket http: Permintaan Pertama" id="{a0a37078-5338-a501-8987-a1a360196215}">
          <p14:sldIdLst>
            <p14:sldId id="269"/>
            <p14:sldId id="270"/>
            <p14:sldId id="271"/>
          </p14:sldIdLst>
        </p14:section>
        <p14:section name="Membedah Jawaban Server" id="{ddae64c1-b3c0-8c9b-4b1d-d75310011320}">
          <p14:sldIdLst>
            <p14:sldId id="272"/>
            <p14:sldId id="273"/>
            <p14:sldId id="274"/>
          </p14:sldIdLst>
        </p14:section>
        <p14:section name="Dari JSON Menjadi Model" id="{0a98bfe5-6ba0-e8d4-5741-65ee03d822a0}">
          <p14:sldIdLst>
            <p14:sldId id="275"/>
            <p14:sldId id="276"/>
            <p14:sldId id="277"/>
          </p14:sldIdLst>
        </p14:section>
        <p14:section name="FutureBuilder dan Jebakannya" id="{20abf6e4-b29b-9810-1231-be297c81c49f}">
          <p14:sldIdLst>
            <p14:sldId id="278"/>
            <p14:sldId id="279"/>
            <p14:sldId id="280"/>
          </p14:sldIdLst>
        </p14:section>
        <p14:section name="Menangani Galat Jaringan" id="{1a44edfa-e20f-cfcb-ad39-c47eacfd244d}">
          <p14:sldIdLst>
            <p14:sldId id="281"/>
            <p14:sldId id="282"/>
            <p14:sldId id="283"/>
            <p14:sldId id="284"/>
          </p14:sldIdLst>
        </p14:section>
        <p14:section name="Lapisan Data: Layanan dan Repository" id="{3063284f-0c37-c77f-d11f-1fc2f68c8a34}">
          <p14:sldIdLst>
            <p14:sldId id="285"/>
            <p14:sldId id="286"/>
            <p14:sldId id="287"/>
            <p14:sldId id="288"/>
          </p14:sldIdLst>
        </p14:section>
        <p14:section name="Parameter Query, Pencarian, dan Muat Lebih Banyak" id="{4034ff92-af4c-7193-e353-59c9c2d12595}">
          <p14:sldIdLst>
            <p14:sldId id="289"/>
            <p14:sldId id="290"/>
            <p14:sldId id="291"/>
            <p14:sldId id="292"/>
          </p14:sldIdLst>
        </p14:section>
        <p14:section name="Mengirim Data: POST, PATCH, dan DELETE" id="{7634df7c-371c-aac0-4f8a-f4b7475dbc44}">
          <p14:sldIdLst>
            <p14:sldId id="293"/>
            <p14:sldId id="294"/>
            <p14:sldId id="295"/>
          </p14:sldIdLst>
        </p14:section>
        <p14:section name="Menguji Tanpa Internet dengan MockClient" id="{da984b1b-3c4f-fa71-ad1d-f23e09f7a0bf}">
          <p14:sldIdLst>
            <p14:sldId id="296"/>
            <p14:sldId id="297"/>
            <p14:sldId id="298"/>
          </p14:sldIdLst>
        </p14:section>
        <p14:section name="Studi Kasus: Cuaca Kampus" id="{5cee4953-6d67-276e-d278-8c1b6493347a}">
          <p14:sldIdLst>
            <p14:sldId id="299"/>
            <p14:sldId id="300"/>
            <p14:sldId id="301"/>
            <p14:sldId id="302"/>
            <p14:sldId id="303"/>
            <p14:sldId id="304"/>
            <p14:sldId id="305"/>
          </p14:sldIdLst>
        </p14:section>
        <p14:section name="Menjalankan di Web dan di Android" id="{1229d17b-64ff-d4e8-22e4-8abc4c90e006}">
          <p14:sldIdLst>
            <p14:sldId id="306"/>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 Pertemuan 9, semua data ditulis di kode, termasuk repository palsu. Hari ini data diambil dari server sungguhan lewat internet. Bekal: Future, async/await, dan exception (P3); ListView (P6); ChangeNotifier, provider, MVVM, repository, dan status memuat (P9). Hampir semua contoh butuh internet; server latihan: DummyJSON dan Open-Meteo (gratis, tanpa pendaftaran).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Cuaca Kampus. Prakiraan cuaca delapan kota diambil dari internet, ditata dengan MVVM, menampilkan status memuat dan pesan galat yang ramah, bisa ditarik untuk menyegarkan, dan diuji tanpa koneksi internet. Untuk proyek akhir: hari ini adalah saat yang tepat untuk mencoba API pilihan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menjawab: bagaimana aplikasi berbicara dengan server, dan apa bahasanya? Bagian B: bagaimana mengirim permintaan dari Flutter dan mengubah jawabannya menjadi objek Dart. Bagian C: bagaimana menampilkan data yang butuh waktu dan menangani kegagalan. Bagian D: di mana kode jaringan sebaiknya ditulis agar rapi, mudah diganti, dan mudah diuji. Bagian E: merangkai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aplikasi sungguhan tinggal di server. Aplikasi (klien) memintanya lewat internet setiap kali dibutuhkan.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Keuntungan data di server: cukup diperbarui di satu tempat, semua pengguna langsung melihat data terbaru tanpa memperbarui aplikasinya. Coba langsung di kelas: buka https://dummyjson.com/todos/1 di browser. Yang tampil bukan halaman web yang indah, melainkan teks data. Itulah yang akan dibaca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adalah gaya API yang paling umum: setiap jenis data punya alamat sendiri, dan metode menentukan apa yang ingin dilakukan terhadap data itu. Server lain (misalnya API kampus) memakai pola yang sama, hanya alamatnya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adalah aturan percakapan antara klien dan server: alamat, metode, header, kode status, dan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jarang dipakai di contoh kita: untuk mengubah satu kolom (misalnya mencentang tugas), PATCH lebih hemat karena hanya mengirim kolom yang berubah. Parameter query nanti dibuat dengan Uri.https agar spasi dan huruf khusus dikodekan otomatis (Bagian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2.4 juga memuat 204 No Content dan 403 Forbidden. Cek cepat: server menjawab 401. Siapa yang perlu memperbaiki sesuatu? Aplikasi (kelompok 4xx): permintaan dikirim tanpa tanda pengenal yang sah, misalnya pengguna belum masuk atau tokennya kedaluwarsa.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adalah isi utama permintaan atau jawaban. Pada GET, permintaan biasanya tanpa body, sedangkan jawabannya berisi data. Pada POST dan PATCH, permintaan berisi data yang dikirim. Hampir semua REST API modern memakai JSON untuk body. Lupa Content-Type saat mengirim JSON adalah kesalahan yang sangat sering (Praktikum 4 membuktikannya).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teks untuk data terstruktur, sangat mirip Map dan List di 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GET https://dummyjson.com/todos/1 (isinya bisa berbeda di server). {'id': 1} (petik satu) atau {"id": 1,} (koma terakhir) bukan JSON yang sah. Data dari DummyJSON berbahasa Inggris; tulisan di aplikasi kita tetap berbahasa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Keduanya ada di pustaka bawaan dart:convert, tidak perlu paket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Paket resmi tim Dart untuk mengirim permintaan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tidak membawa alat pengirim permintaan HTTP yang praktis secara bawaan, jadi kita memakai paket resmi http. flutter pub add menambahkan baris http di bagian dependencies pada pubspec.yaml.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ini diringkas dari _ambilKutipan di Contoh 01 (kode lengkap memakai blok try/catch dan mengubah _memuat/_galat). if (!mounted) return; mencegah setState pada halaman yang sudah ditutup selama menunggu (P5). Mengapa aplikasi tidak membeku? Fungsi berhenti sejenak di await, sementara Flutter tetap menggambar layar. Cek cepat: mengapa tombol Kutipan lain dinonaktifkan selama memuat? Agar tidak terkirim beberapa permintaan sekaligus yang jawabannya datang dalam urutan tak pasti.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02 adalah "penjelajah respons": kode status, jenis isi, lama menunggu, dan isi jawaban.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percobaan Tidak ditemukan (kode 404 berwarna merah, isi JSON pesan galat). Kanan: percobaan Alamat salah (tulisan merah Tidak ada jawaban, exception ClientException). Parameter delay adalah fitur DummyJSON untuk meniru server yang lambat.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teman menulis final data = jsonDecode(respons.body); tanpa memeriksa statusCode. Saat server menjawab 404? Tidak ada exception dari http; jsonDecode membaca JSON pesan galat, lalu data['quote'] bernilai null. Aplikasi menampilkan data kosong atau pesan yang membingungkan.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Ubah data menjadi objek Model satu kali, di satu tempat, lalu seluruh aplikasi memakai objek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sedikit dirapatkan; versi lengkapnya di Contoh 03. Jangan memakai pola double untuk angka dari JSON: di web, angka 15 bisa ikut dianggap double sehingga kesalahan tidak terlihat di Chrome, tetapi di Android 15 adalah int, polanya tidak cocok, dan muncul FormatException. Mengapa tidak memakai Map langsung? json['qoute'] (salah ketik) diam-diam menghasilkan null, editor tidak memberi saran, dan pemeriksaan tipe tersebar di banyak tempat.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03 adalah program konsol tanpa internet. Cek cepat: server mengubah stock dari 99 menjadi "99" (teks). Apa yang terjadi? Pola 'stock': int stok tidak cocok, cabang _ dipilih, FormatException dilempar. Kesalahan langsung ketahuan di satu tempat. Untuk puluhan model, ada pembuat kode otomatis seperti json_serializable; di kuliah ini kita menulisnya sendiri agar paham.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Widget bawaan yang menampilkan tampilan berbeda sesuai keadaan sebuah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04 menampilkan sepuluh tugas dari https://dummyjson.com/todos. Untuk meminta data baru dengan sengaja (tombol muat ulang), GANTI Future yang disimpan di dalam setState: setState(() { _tugas = ambilTugas();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FutureBuilder menampilkan lingkaran memuat setiap kali pengguna mengetik di kolom pencarian. Penyebabnya? Future dibuat di build: setiap ketikan memanggil setState, build berjalan lagi, Future baru dibuat. Simpan Future di initState, atau pindahkan logikanya ke ViewModel. Pilihan alat: FutureBuilder untuk halaman sederhana yang hanya menampilkan hasil satu permintaan; ViewModel jika ada pencarian, saringan, muat lebih banyak, mengirim data, atau logika yang perlu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kegagalan diubah menjadi exception yang jelas jenisnya, lalu diterjemahkan menjadi pesan yang ramah.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menyiapkan enam skenario: normal, lambat 5 detik (batas waktu contoh 3 detik agar mudah diamati), tidak ditemukan, server error 503, bukan JSON (gambar), dan tanpa koneksi.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lengkap ApiException juga punya toString() =&gt; 'ApiException: kode status $kodeStatus' agar mudah dibaca di konsol. Fungsi ini nanti dipindahkan ke layanan (Bagian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Teks pesan di slide disingkat dengan ...; kalimat lengkapnya di modul Bagian 8.2. Cek cepat: jika ApiException() ditulis sebelum ApiException(kodeStatus: 404), pesan untuk 404? "Permintaan ditolak oleh server." karena switch berhenti di cabang pertama yang cocok; analyzer juga memberi peringatan bahwa cabang 404 tidak mungkin tercapai. Contoh 05 menampilkan detail teknis di layar hanya untuk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arsitektur resmi Flutter membagi lapisan data menjadi layanan (service) dan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06 mengambil pengumuman dari https://dummyjson.com/posts dengan susunan ini. Cek cepat: server pengumuman pindah ke api.kampus.ac.id. Yang diubah? Hanya layanan (misalnya konstanta _host). Jika bentuk JSON-nya juga berbeda, cukup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sedikit dirapatkan. Di main, layanan dititipkan dengan Provider&lt;LayananDummyJson&gt;(create: ..., dispose: (context, layanan) =&gt; layanan.tutup()), sehingga ditutup otomatis saat aplikasi selesai. Jika server lupa menyebutkan charset di Content-Type, respons.body membacanya dengan aturan lama sehingga huruf seperti é menjadi tulisan aneh.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select=title,body,views adalah fitur DummyJSON untuk meminta kolom tertentu saja. Di contoh ini pengubahan JSON ditulis di repository, sehingga class Pengumuman bersih dari urusan JSON; cara lain yang juga umum (Contoh 03 dan 04) menaruh fromJson di Model. Pertemuan 12 membahas kapan masing-masing lebih tepat. Contoh 06 menyimpan kedua repository: ubah satu baris create untuk berpindah.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07: katalog produk dengan kotak pencarian dan tombol Muat lebih banyak.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halaman ketiga, 10 produk per halaman, skip berapa? 20, yaitu jumlah produk yang sudah ditampilkan. Di Contoh 07 nilainya diambil dari _produk.length, sehingga selalu tepat. Server tidak mengirim 194 produk sekaligus; kita memintanya per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Timer berasal dari dart:async. Garis waktu tanpa penjaga: 0 ms kirim "phone" (nomor 1), 300 ms kirim "laptop" (nomor 2), 600 ms jawaban laptop tiba dan tampil, 900 ms jawaban phone tiba dan MENIMPA (salah!). Dengan nomor permintaan: 1 ≠ 2, diabaikan. Penjaga yang sama dipakai di studi kasus agar cuaca kota lama tidak tampil setelah pengguna memilih kota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katalog awal dengan tulisan Menampilkan 10 dari 194 produk dan tombol Muat lebih banyak. Kanan: hasil pencarian phone. Di slide, tipe parameter builder disingkat; kode lengkapnya menuliskan tipe BuildContext, Widget, ImageChunkEvent?, Object, dan StackTrace?.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mengirim data baru; Contoh 09 mengubah dan menghapus.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diringkas; di Contoh 08 teks JSON disimpan dulu di variabel body, header juga berisi Accept, dan .timeout dipasang dengan gaya berantai. Layar Contoh 08 menampilkan apa yang dikirim dan apa yang diterima kembali: data yang sama ditambah id baru. Karena DummyJSON server latihan, tugas baru tidak muncul saat daftar dimuat ulang. Cek cepat: mengapa tombol Kirim dinonaktifkan selama mengirim? Agar data yang sama tidak terkirim dua kali; di server sungguhan ketukan ganda bisa membuat dua tugas kembar.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diringkas dari Contoh 09 (fungsi _baca melempar ApiException jika bukan 2xx). Cara sebaliknya disebut optimistic update: tampilan langsung diubah lalu dikembalikan jika server menolak. Terasa lebih cepat tetapi lebih rumit; untuk pemula, cara "tunggu server dulu" lebih aman dan mudah diperiksa.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tiruan yang jawabannya kita tentukan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pemeriksaannya sama dengan Pertemuan 9 Bagian 12: siapkan, lakukan, periksa. Yang diperiksa: JSON → Model (jumlah dan judul), alamat yang dikirim (jalur, q, skip), dan jenis galat (404 → ApiException, bukan JSON → FormatException, kolom hilang → FormatException, lambat → TimeoutException).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kecil seperti ini membuat tombol Muat lebih banyak menampilkan produk yang SAMA berulang-ulang, dan sulit ditemukan dengan mencoba aplikasi sekilas. Contoh 10 menampilkan hasil uji di layar agar mudah diamati di DartPad; Pertemuan 14 memakai cara resmi: flutter_test dan flutter test, dengan MockClient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11 merangkai semua materi hari ini menjadi aplikasi prakiraan cuaca delapan kota kampus.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Permintaan: Uri.https('api.open-meteo.com', '/v1/forecast', {latitude, longitude, current: 'temperature_2m,relative_humidity_2m,weather_code,wind_speed_10m', daily: 'weather_code,temperature_2m_max,temperature_2m_min,precipitation_probability_max', timezone: 'auto', forecast_days: '7'}). timezone=auto membuat tanggal dan jam mengikuti zona waktu kota itu (WIB, WITA, atau 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jawaban daily: "time": ["2026-10-15", ...], "weather_code": [3, 95, 61], "precipitation_probability_max": [20, 85, null]. Jika panjang lariknya berbeda, kode [i] bisa melampaui batas; lebih baik berhenti dengan FormatException('Panjang data harian tidak sama'). (peluang[i] as num?)?.round(): null tetap null, angka dibulatkan.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cuaca WMO adalah angka standar Organisasi Meteorologi Dunia. Ikon kondisi di View diberi semanticLabel, sehingga kondisi tidak hanya ditunjukkan ikon tetapi juga dibaca pembaca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sedikit dirapatkan (return di baris yang sama); di berkas aslinya ditulis dalam blok. Di View: StatusMuat.berhasil =&gt; RefreshIndicator(onRefresh: () =&gt; context.read&lt;CuacaViewModel&gt;().segarkan(), ...). ListView memakai AlwaysScrollableScrollPhysics agar tetap bisa ditarik walaupun isinya pendek. PilihanKota memakai context.select agar hanya dibangun ulang saat kota berganti.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Seperti Praktikum 4 di Pertemuan 9: main menjalankan jalankanUji() sebelum runApp. Repository dan ViewModel diperiksa dengan MockClient berisi JSON contoh. Sepuluh baris LULUS menjadi syarat pertama uji mandiri.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Jakarta (kartu cuaca saat ini dan prakiraan Hari ini, Besok, dan seterusnya). Tengah: mode gelap untuk Samarinda. Kanan: gagal memuat (ikon awan tercoret, pesan, Coba lagi). Daftar uji mandiri lengkap di modul Bagian 13.9.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jebakan yang sering membuat aplikasi lancar di satu tempat tetapi gagal di tempat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izin internet ditulis di dalam tag &lt;manifest&gt; dan SEBELUM tag &lt;application&gt;. Tanpa baris ini, aplikasi rilis tidak bisa memuat data apa pun, padahal saat diuji dengan flutter run semuanya lancar. Android menolak koneksi http:// (tanpa s) secara bawaan. Kunci API (Bagian 14.4): jangan ditulis di kode yang masuk GitHub; berikan saat menjalankan dengan flutter run --dart-define=KUNCI_API=... lalu baca dengan String.fromEnvironment('KUNCI_API').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15, termasuk paket http yang belum dipasang, FormatException karena pola double, setState() called after dispose(), tidak ada batas waktu, CORS, dan izin internet APK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memetakan proyek akhir: API apa yang dipakai, endpoint apa saja, bentuk JSON-nya, dan bagian mana yang akan diuji dengan MockClient.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apa bedanya "server menjawab 404" dengan "tidak ada jawaban sama sekali", dan di bagian kode mana keduanya ditangani.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1–4 bisa di DartPad; Praktikum 5 di VS Code (flutter pub add http, izin internet di AndroidManifest.xml). Semua praktikum membutuhkan internet. Tugas mandiri memakai API Wilayah Indonesia (emsifa) dan wajib punya jalankanUji() dengan MockClient. Pertemuan 11 membahas penyimpanan lokal: menyimpan kota favorit, pengaturan, dan data cadangan agar aplikasi tetap berguna tanpa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10  ·  Asinkron &amp; REST API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10  ·  Asinkron &amp; REST API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01_permintaan_pertama.dart" TargetMode="External"/><Relationship Id="rId4" Type="http://schemas.openxmlformats.org/officeDocument/2006/relationships/hyperlink" Target="https://github.com/antonprafanto/mobile2026/blob/main/pertemuan_10_async_dan_rest_api/kode/contoh_01_permintaan_pertama.dart" TargetMode="External"/><Relationship Id="rId1" Type="http://schemas.openxmlformats.org/officeDocument/2006/relationships/image" Target="../media/image-16-1.jpg"/><Relationship Id="rId3" Type="http://schemas.openxmlformats.org/officeDocument/2006/relationships/image" Target="../media/image-16-2.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ntonprafanto/mobile2026/blob/main/pertemuan_10_async_dan_rest_api/kode/contoh_02_anatomi_respons.dart" TargetMode="External"/><Relationship Id="rId5" Type="http://schemas.openxmlformats.org/officeDocument/2006/relationships/hyperlink" Target="https://github.com/antonprafanto/mobile2026/blob/main/pertemuan_10_async_dan_rest_api/kode/contoh_02_anatomi_respons.dart" TargetMode="External"/><Relationship Id="rId1" Type="http://schemas.openxmlformats.org/officeDocument/2006/relationships/image" Target="../media/image-18-1.jpg"/><Relationship Id="rId2" Type="http://schemas.openxmlformats.org/officeDocument/2006/relationships/image" Target="../media/image-18-2.jpg"/><Relationship Id="rId4" Type="http://schemas.openxmlformats.org/officeDocument/2006/relationships/image" Target="../media/image-18-3.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3_json_dan_model.dart" TargetMode="External"/><Relationship Id="rId3" Type="http://schemas.openxmlformats.org/officeDocument/2006/relationships/hyperlink" Target="https://github.com/antonprafanto/mobile2026/blob/main/pertemuan_10_async_dan_rest_api/kode/contoh_03_json_dan_model.dart" TargetMode="External"/><Relationship Id="rId2" Type="http://schemas.openxmlformats.org/officeDocument/2006/relationships/image" Target="../media/image-21-1.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3_json_dan_model.dart" TargetMode="External"/><Relationship Id="rId3" Type="http://schemas.openxmlformats.org/officeDocument/2006/relationships/hyperlink" Target="https://github.com/antonprafanto/mobile2026/blob/main/pertemuan_10_async_dan_rest_api/kode/contoh_03_json_dan_model.dart" TargetMode="External"/><Relationship Id="rId2" Type="http://schemas.openxmlformats.org/officeDocument/2006/relationships/image" Target="../media/image-22-1.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4_futurebuilder.dart" TargetMode="External"/><Relationship Id="rId3" Type="http://schemas.openxmlformats.org/officeDocument/2006/relationships/hyperlink" Target="https://github.com/antonprafanto/mobile2026/blob/main/pertemuan_10_async_dan_rest_api/kode/contoh_04_futurebuilder.dart" TargetMode="External"/><Relationship Id="rId2" Type="http://schemas.openxmlformats.org/officeDocument/2006/relationships/image" Target="../media/image-24-1.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04_futurebuilder.dart" TargetMode="External"/><Relationship Id="rId4" Type="http://schemas.openxmlformats.org/officeDocument/2006/relationships/hyperlink" Target="https://github.com/antonprafanto/mobile2026/blob/main/pertemuan_10_async_dan_rest_api/kode/contoh_04_futurebuilder.dart" TargetMode="External"/><Relationship Id="rId1" Type="http://schemas.openxmlformats.org/officeDocument/2006/relationships/image" Target="../media/image-25-1.jpg"/><Relationship Id="rId3" Type="http://schemas.openxmlformats.org/officeDocument/2006/relationships/image" Target="../media/image-25-2.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5_menangani_galat.dart" TargetMode="External"/><Relationship Id="rId3" Type="http://schemas.openxmlformats.org/officeDocument/2006/relationships/hyperlink" Target="https://github.com/antonprafanto/mobile2026/blob/main/pertemuan_10_async_dan_rest_api/kode/contoh_05_menangani_galat.dart" TargetMode="External"/><Relationship Id="rId2" Type="http://schemas.openxmlformats.org/officeDocument/2006/relationships/image" Target="../media/image-28-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antonprafanto/mobile2026/blob/main/pertemuan_10_async_dan_rest_api/kode/contoh_05_menangani_galat.dart" TargetMode="External"/><Relationship Id="rId5" Type="http://schemas.openxmlformats.org/officeDocument/2006/relationships/hyperlink" Target="https://github.com/antonprafanto/mobile2026/blob/main/pertemuan_10_async_dan_rest_api/kode/contoh_05_menangani_galat.dart" TargetMode="External"/><Relationship Id="rId1" Type="http://schemas.openxmlformats.org/officeDocument/2006/relationships/image" Target="../media/image-29-1.jpg"/><Relationship Id="rId2" Type="http://schemas.openxmlformats.org/officeDocument/2006/relationships/image" Target="../media/image-29-2.jpg"/><Relationship Id="rId4" Type="http://schemas.openxmlformats.org/officeDocument/2006/relationships/image" Target="../media/image-29-3.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4.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6_layanan_dan_repository.dart" TargetMode="External"/><Relationship Id="rId3" Type="http://schemas.openxmlformats.org/officeDocument/2006/relationships/hyperlink" Target="https://github.com/antonprafanto/mobile2026/blob/main/pertemuan_10_async_dan_rest_api/kode/contoh_06_layanan_dan_repository.dart" TargetMode="External"/><Relationship Id="rId2" Type="http://schemas.openxmlformats.org/officeDocument/2006/relationships/image" Target="../media/image-32-1.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06_layanan_dan_repository.dart" TargetMode="External"/><Relationship Id="rId4" Type="http://schemas.openxmlformats.org/officeDocument/2006/relationships/hyperlink" Target="https://github.com/antonprafanto/mobile2026/blob/main/pertemuan_10_async_dan_rest_api/kode/contoh_06_layanan_dan_repository.dart" TargetMode="External"/><Relationship Id="rId1" Type="http://schemas.openxmlformats.org/officeDocument/2006/relationships/image" Target="../media/image-33-1.jpg"/><Relationship Id="rId3" Type="http://schemas.openxmlformats.org/officeDocument/2006/relationships/image" Target="../media/image-33-2.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7_pencarian_dan_muat_lagi.dart" TargetMode="External"/><Relationship Id="rId3" Type="http://schemas.openxmlformats.org/officeDocument/2006/relationships/hyperlink" Target="https://github.com/antonprafanto/mobile2026/blob/main/pertemuan_10_async_dan_rest_api/kode/contoh_07_pencarian_dan_muat_lagi.dart" TargetMode="External"/><Relationship Id="rId2" Type="http://schemas.openxmlformats.org/officeDocument/2006/relationships/image" Target="../media/image-35-1.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07_pencarian_dan_muat_lagi.dart" TargetMode="External"/><Relationship Id="rId3" Type="http://schemas.openxmlformats.org/officeDocument/2006/relationships/hyperlink" Target="https://github.com/antonprafanto/mobile2026/blob/main/pertemuan_10_async_dan_rest_api/kode/contoh_07_pencarian_dan_muat_lagi.dart" TargetMode="External"/><Relationship Id="rId2" Type="http://schemas.openxmlformats.org/officeDocument/2006/relationships/image" Target="../media/image-36-1.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antonprafanto/mobile2026/blob/main/pertemuan_10_async_dan_rest_api/kode/contoh_07_pencarian_dan_muat_lagi.dart" TargetMode="External"/><Relationship Id="rId5" Type="http://schemas.openxmlformats.org/officeDocument/2006/relationships/hyperlink" Target="https://github.com/antonprafanto/mobile2026/blob/main/pertemuan_10_async_dan_rest_api/kode/contoh_07_pencarian_dan_muat_lagi.dart" TargetMode="External"/><Relationship Id="rId1" Type="http://schemas.openxmlformats.org/officeDocument/2006/relationships/image" Target="../media/image-37-1.jpg"/><Relationship Id="rId2" Type="http://schemas.openxmlformats.org/officeDocument/2006/relationships/image" Target="../media/image-37-2.jpg"/><Relationship Id="rId4" Type="http://schemas.openxmlformats.org/officeDocument/2006/relationships/image" Target="../media/image-37-3.png"/><Relationship Id="rId6" Type="http://schemas.openxmlformats.org/officeDocument/2006/relationships/slideLayout" Target="../slideLayouts/slideLayout4.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08_mengirim_data_post.dart" TargetMode="External"/><Relationship Id="rId4" Type="http://schemas.openxmlformats.org/officeDocument/2006/relationships/hyperlink" Target="https://github.com/antonprafanto/mobile2026/blob/main/pertemuan_10_async_dan_rest_api/kode/contoh_08_mengirim_data_post.dart" TargetMode="External"/><Relationship Id="rId1" Type="http://schemas.openxmlformats.org/officeDocument/2006/relationships/image" Target="../media/image-39-1.jpg"/><Relationship Id="rId3" Type="http://schemas.openxmlformats.org/officeDocument/2006/relationships/image" Target="../media/image-39-2.png"/><Relationship Id="rId5" Type="http://schemas.openxmlformats.org/officeDocument/2006/relationships/slideLayout" Target="../slideLayouts/slideLayout4.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09_ubah_dan_hapus.dart" TargetMode="External"/><Relationship Id="rId4" Type="http://schemas.openxmlformats.org/officeDocument/2006/relationships/hyperlink" Target="https://github.com/antonprafanto/mobile2026/blob/main/pertemuan_10_async_dan_rest_api/kode/contoh_09_ubah_dan_hapus.dart" TargetMode="External"/><Relationship Id="rId1" Type="http://schemas.openxmlformats.org/officeDocument/2006/relationships/image" Target="../media/image-40-1.jpg"/><Relationship Id="rId3" Type="http://schemas.openxmlformats.org/officeDocument/2006/relationships/image" Target="../media/image-40-2.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10_menguji_dengan_mockclient.dart" TargetMode="External"/><Relationship Id="rId3" Type="http://schemas.openxmlformats.org/officeDocument/2006/relationships/hyperlink" Target="https://github.com/antonprafanto/mobile2026/blob/main/pertemuan_10_async_dan_rest_api/kode/contoh_10_menguji_dengan_mockclient.dart" TargetMode="External"/><Relationship Id="rId2" Type="http://schemas.openxmlformats.org/officeDocument/2006/relationships/image" Target="../media/image-42-1.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hyperlink" Target="https://github.com/antonprafanto/mobile2026/blob/main/pertemuan_10_async_dan_rest_api/kode/contoh_10_menguji_dengan_mockclient.dart" TargetMode="External"/><Relationship Id="rId4" Type="http://schemas.openxmlformats.org/officeDocument/2006/relationships/hyperlink" Target="https://github.com/antonprafanto/mobile2026/blob/main/pertemuan_10_async_dan_rest_api/kode/contoh_10_menguji_dengan_mockclient.dart" TargetMode="External"/><Relationship Id="rId1" Type="http://schemas.openxmlformats.org/officeDocument/2006/relationships/image" Target="../media/image-43-1.jpg"/><Relationship Id="rId3" Type="http://schemas.openxmlformats.org/officeDocument/2006/relationships/image" Target="../media/image-43-2.png"/><Relationship Id="rId5" Type="http://schemas.openxmlformats.org/officeDocument/2006/relationships/slideLayout" Target="../slideLayouts/slideLayout4.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4.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11_studi_kasus_cuaca_kampus.dart" TargetMode="External"/><Relationship Id="rId3" Type="http://schemas.openxmlformats.org/officeDocument/2006/relationships/hyperlink" Target="https://github.com/antonprafanto/mobile2026/blob/main/pertemuan_10_async_dan_rest_api/kode/contoh_11_studi_kasus_cuaca_kampus.dart" TargetMode="External"/><Relationship Id="rId2" Type="http://schemas.openxmlformats.org/officeDocument/2006/relationships/image" Target="../media/image-46-1.png"/><Relationship Id="rId4" Type="http://schemas.openxmlformats.org/officeDocument/2006/relationships/slideLayout" Target="../slideLayouts/slideLayout4.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11_studi_kasus_cuaca_kampus.dart" TargetMode="External"/><Relationship Id="rId3" Type="http://schemas.openxmlformats.org/officeDocument/2006/relationships/hyperlink" Target="https://github.com/antonprafanto/mobile2026/blob/main/pertemuan_10_async_dan_rest_api/kode/contoh_11_studi_kasus_cuaca_kampus.dart" TargetMode="External"/><Relationship Id="rId2" Type="http://schemas.openxmlformats.org/officeDocument/2006/relationships/image" Target="../media/image-47-1.png"/><Relationship Id="rId4" Type="http://schemas.openxmlformats.org/officeDocument/2006/relationships/slideLayout" Target="../slideLayouts/slideLayout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11_studi_kasus_cuaca_kampus.dart" TargetMode="External"/><Relationship Id="rId3" Type="http://schemas.openxmlformats.org/officeDocument/2006/relationships/hyperlink" Target="https://github.com/antonprafanto/mobile2026/blob/main/pertemuan_10_async_dan_rest_api/kode/contoh_11_studi_kasus_cuaca_kampus.dart" TargetMode="External"/><Relationship Id="rId2" Type="http://schemas.openxmlformats.org/officeDocument/2006/relationships/image" Target="../media/image-48-1.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kode/contoh_11_studi_kasus_cuaca_kampus.dart" TargetMode="External"/><Relationship Id="rId3" Type="http://schemas.openxmlformats.org/officeDocument/2006/relationships/hyperlink" Target="https://github.com/antonprafanto/mobile2026/blob/main/pertemuan_10_async_dan_rest_api/kode/contoh_11_studi_kasus_cuaca_kampus.dart" TargetMode="External"/><Relationship Id="rId2" Type="http://schemas.openxmlformats.org/officeDocument/2006/relationships/image" Target="../media/image-49-1.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4" Type="http://schemas.openxmlformats.org/officeDocument/2006/relationships/hyperlink" Target="https://github.com/antonprafanto/mobile2026/blob/main/pertemuan_10_async_dan_rest_api/kode/contoh_11_studi_kasus_cuaca_kampus.dart" TargetMode="External"/><Relationship Id="rId6" Type="http://schemas.openxmlformats.org/officeDocument/2006/relationships/hyperlink" Target="https://github.com/antonprafanto/mobile2026/blob/main/pertemuan_10_async_dan_rest_api/kode/contoh_11_studi_kasus_cuaca_kampus.dart" TargetMode="External"/><Relationship Id="rId1" Type="http://schemas.openxmlformats.org/officeDocument/2006/relationships/image" Target="../media/image-50-1.jpg"/><Relationship Id="rId2" Type="http://schemas.openxmlformats.org/officeDocument/2006/relationships/image" Target="../media/image-50-2.jpg"/><Relationship Id="rId3" Type="http://schemas.openxmlformats.org/officeDocument/2006/relationships/image" Target="../media/image-50-3.jpg"/><Relationship Id="rId5" Type="http://schemas.openxmlformats.org/officeDocument/2006/relationships/image" Target="../media/image-50-4.png"/><Relationship Id="rId7" Type="http://schemas.openxmlformats.org/officeDocument/2006/relationships/slideLayout" Target="../slideLayouts/slideLayout4.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github.com/antonprafanto/mobile2026/blob/main/pertemuan_10_async_dan_rest_api/JOBSHEET.md" TargetMode="External"/><Relationship Id="rId3" Type="http://schemas.openxmlformats.org/officeDocument/2006/relationships/hyperlink" Target="https://github.com/antonprafanto/mobile2026/blob/main/pertemuan_10_async_dan_rest_api/JOBSHEET.md" TargetMode="External"/><Relationship Id="rId4" Type="http://schemas.openxmlformats.org/officeDocument/2006/relationships/hyperlink" Target="https://github.com/antonprafanto/mobile2026/blob/main/pertemuan_10_async_dan_rest_api/LATIHAN.md" TargetMode="External"/><Relationship Id="rId6" Type="http://schemas.openxmlformats.org/officeDocument/2006/relationships/hyperlink" Target="https://github.com/antonprafanto/mobile2026/blob/main/pertemuan_10_async_dan_rest_api/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56-1.png"/><Relationship Id="rId5" Type="http://schemas.openxmlformats.org/officeDocument/2006/relationships/image" Target="../media/image-56-2.png"/><Relationship Id="rId8" Type="http://schemas.openxmlformats.org/officeDocument/2006/relationships/image" Target="../media/image-56-3.png"/><Relationship Id="rId10" Type="http://schemas.openxmlformats.org/officeDocument/2006/relationships/image" Target="../media/image-56-3.png"/><Relationship Id="rId11" Type="http://schemas.openxmlformats.org/officeDocument/2006/relationships/slideLayout" Target="../slideLayouts/slideLayout2.xml"/><Relationship Id="rId1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Asinkron &amp; Integrasi REST API</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10  ·  HTTP dan JSON, paket http, pola Dart 3 untuk fromJson, FutureBuilder, galat jaringan, layanan dan repository, parameter query, debounce, POST/PATCH/DELETE, dan menguji dengan MockClient</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alamat, metode, header, kode status, dan body HTTP</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Mengirim GET, POST, PATCH, dan DELETE dengan paket http</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Mengubah JSON menjadi Model dengan pola Dart 3, dan sebaliknya</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Menampilkan data yang butuh waktu dengan FutureBuilder atau ViewModel</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Membedakan jenis galat jaringan dan menampilkan pesan yang ramah</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Menata lapisan data menjadi layanan dan repository</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pencarian dengan query, debounce, dan "muat lebih banyak"</a:t>
            </a:r>
            <a:endParaRPr lang="en-US" sz="1900" dirty="0"/>
          </a:p>
        </p:txBody>
      </p:sp>
      <p:sp>
        <p:nvSpPr>
          <p:cNvPr id="26" name="lingkaran centang"/>
          <p:cNvSpPr/>
          <p:nvPr/>
        </p:nvSpPr>
        <p:spPr>
          <a:xfrm>
            <a:off x="6278728" y="5234940"/>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5365699"/>
            <a:ext cx="332842" cy="332842"/>
          </a:xfrm>
          <a:prstGeom prst="rect">
            <a:avLst/>
          </a:prstGeom>
        </p:spPr>
      </p:pic>
      <p:sp>
        <p:nvSpPr>
          <p:cNvPr id="28" name="Text 17"/>
          <p:cNvSpPr txBox="1"/>
          <p:nvPr/>
        </p:nvSpPr>
        <p:spPr>
          <a:xfrm>
            <a:off x="7055968"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Menguji lapisan data tanpa internet dengan MockClient</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awan"/>
          <p:cNvSpPr/>
          <p:nvPr/>
        </p:nvSpPr>
        <p:spPr>
          <a:xfrm>
            <a:off x="1095726" y="2103120"/>
            <a:ext cx="868680" cy="868680"/>
          </a:xfrm>
          <a:prstGeom prst="ellipse">
            <a:avLst/>
          </a:prstGeom>
          <a:solidFill>
            <a:schemeClr val="accent1"/>
          </a:solidFill>
          <a:ln/>
        </p:spPr>
      </p:sp>
      <p:pic>
        <p:nvPicPr>
          <p:cNvPr id="6" name="Image 0" descr="awan">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Dasar komunikasi</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HTTP dan JSON (Bagian 1–3)</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unduh"/>
          <p:cNvSpPr/>
          <p:nvPr/>
        </p:nvSpPr>
        <p:spPr>
          <a:xfrm>
            <a:off x="3378617" y="2103120"/>
            <a:ext cx="868680" cy="868680"/>
          </a:xfrm>
          <a:prstGeom prst="ellipse">
            <a:avLst/>
          </a:prstGeom>
          <a:solidFill>
            <a:schemeClr val="accent1"/>
          </a:solidFill>
          <a:ln/>
        </p:spPr>
      </p:sp>
      <p:pic>
        <p:nvPicPr>
          <p:cNvPr id="13" name="Image 1" descr="unduh">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Paket http &amp; model</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Permintaan pertama, membaca jawaban, fromJson (4–6)</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jam"/>
          <p:cNvSpPr/>
          <p:nvPr/>
        </p:nvSpPr>
        <p:spPr>
          <a:xfrm>
            <a:off x="5661508" y="2103120"/>
            <a:ext cx="868680" cy="868680"/>
          </a:xfrm>
          <a:prstGeom prst="ellipse">
            <a:avLst/>
          </a:prstGeom>
          <a:solidFill>
            <a:schemeClr val="accent1"/>
          </a:solidFill>
          <a:ln/>
        </p:spPr>
      </p:sp>
      <p:pic>
        <p:nvPicPr>
          <p:cNvPr id="20" name="Image 2" descr="jam">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Menunggu &amp; galat</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FutureBuilder, empat jenis kegagalan, pesan ramah (7–8)</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lapisan"/>
          <p:cNvSpPr/>
          <p:nvPr/>
        </p:nvSpPr>
        <p:spPr>
          <a:xfrm>
            <a:off x="7944399" y="2103120"/>
            <a:ext cx="868680" cy="868680"/>
          </a:xfrm>
          <a:prstGeom prst="ellipse">
            <a:avLst/>
          </a:prstGeom>
          <a:solidFill>
            <a:schemeClr val="accent1"/>
          </a:solidFill>
          <a:ln/>
        </p:spPr>
      </p:sp>
      <p:pic>
        <p:nvPicPr>
          <p:cNvPr id="27" name="Image 3" descr="lapisan">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Lapisan data</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Layanan, repository, query, POST/PATCH/DELETE, MockClient (9–12)</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cuaca"/>
          <p:cNvSpPr/>
          <p:nvPr/>
        </p:nvSpPr>
        <p:spPr>
          <a:xfrm>
            <a:off x="10227290" y="2103120"/>
            <a:ext cx="868680" cy="868680"/>
          </a:xfrm>
          <a:prstGeom prst="ellipse">
            <a:avLst/>
          </a:prstGeom>
          <a:solidFill>
            <a:schemeClr val="accent4"/>
          </a:solidFill>
          <a:ln/>
        </p:spPr>
      </p:sp>
      <p:pic>
        <p:nvPicPr>
          <p:cNvPr id="34" name="Image 4" descr="cuaca">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Studi kasus</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Cuaca Kampus, web dan Android (13–14)</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Aplikasi yang Berbicara dengan Server</a:t>
            </a:r>
            <a:endParaRPr lang="en-US" sz="4000" dirty="0"/>
          </a:p>
        </p:txBody>
      </p:sp>
      <p:sp>
        <p:nvSpPr>
          <p:cNvPr id="5" name="lingkaran awan"/>
          <p:cNvSpPr/>
          <p:nvPr/>
        </p:nvSpPr>
        <p:spPr>
          <a:xfrm>
            <a:off x="1097280" y="2148840"/>
            <a:ext cx="2011680" cy="2011680"/>
          </a:xfrm>
          <a:prstGeom prst="ellipse">
            <a:avLst/>
          </a:prstGeom>
          <a:solidFill>
            <a:schemeClr val="accent1"/>
          </a:solidFill>
          <a:ln/>
        </p:spPr>
      </p:sp>
      <p:pic>
        <p:nvPicPr>
          <p:cNvPr id="6" name="Image 0" descr="aw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Analogi: Loket Layanan Akademik</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642849"/>
                <a:gridCol w="5451566"/>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loket layanan akademik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dunia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Mengisi formulir permintaan, menyerahkannya ke loket tertentu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mengirim permintaan (request) ke alamat tertentu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"Minta transkrip", "ajukan cuti", "batalkan cuti"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Metode: GET (minta), POST (kirim baru), PATCH (ubah), DELETE (hapus)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Petugas memproses lalu memberi jawaban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mengirim jawaban (response)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Stempel: "selesai", "tidak ditemukan", "loket tutup"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Kode status: 200 (berhasil), 404 (tidak ditemukan), 503 (tidak tersedia)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Dokumen yang diterima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Body: isi jawaban, biasanya JSON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Menunggu sambil tetap bisa melakukan hal lain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await: aplikasi menunggu tanpa membeku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REST API: Alamat untuk Data, Metode untuk Tindakan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API = "loket" yang disediakan server. Contoh dari server latihan DummyJSON:</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6121057"/>
                <a:gridCol w="4973359"/>
              </a:tblGrid>
              <a:tr h="53035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Permintaan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Artinya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30352">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GET https://dummyjson.com/todos</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Minta daftar tugas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GET https://dummyjson.com/todos/1</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Minta tugas nomor 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POST https://dummyjson.com/todos/add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Kirim tugas baru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PATCH https://dummyjson.com/todos/1</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Ubah sebagian isi tugas nomor 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DELETE https://dummyjson.com/todos/1</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Hapus tugas nomor 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Cek cepat: menghapus produk nomor 7? → DELETE https://dummyjson.com/products/7</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Anatomi Permintaan dan Jawaban HTTP</a:t>
            </a:r>
            <a:endParaRPr lang="en-US" sz="4000" dirty="0"/>
          </a:p>
        </p:txBody>
      </p:sp>
      <p:sp>
        <p:nvSpPr>
          <p:cNvPr id="5" name="lingkaran server"/>
          <p:cNvSpPr/>
          <p:nvPr/>
        </p:nvSpPr>
        <p:spPr>
          <a:xfrm>
            <a:off x="1097280" y="2148840"/>
            <a:ext cx="2011680" cy="2011680"/>
          </a:xfrm>
          <a:prstGeom prst="ellipse">
            <a:avLst/>
          </a:prstGeom>
          <a:solidFill>
            <a:schemeClr val="accent1"/>
          </a:solidFill>
          <a:ln/>
        </p:spPr>
      </p:sp>
      <p:pic>
        <p:nvPicPr>
          <p:cNvPr id="6" name="Image 0" descr="serve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Alamat (URL) dan Metode</a:t>
            </a:r>
            <a:endParaRPr lang="en-US" sz="3200" dirty="0"/>
          </a:p>
        </p:txBody>
      </p:sp>
      <p:sp>
        <p:nvSpPr>
          <p:cNvPr id="4" name="kotak kode"/>
          <p:cNvSpPr txBox="1"/>
          <p:nvPr/>
        </p:nvSpPr>
        <p:spPr>
          <a:xfrm>
            <a:off x="548640" y="1371600"/>
            <a:ext cx="6949440" cy="1979676"/>
          </a:xfrm>
          <a:prstGeom prst="roundRect">
            <a:avLst>
              <a:gd name="adj" fmla="val 4619"/>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https://dummyjson.com/products/search?q=phone&amp;limit=</a:t>
            </a:r>
            <a:r>
              <a:rPr lang="en-US" sz="1400" dirty="0">
                <a:solidFill>
                  <a:srgbClr val="F78C6C"/>
                </a:solidFill>
                <a:latin typeface="Consolas" pitchFamily="34" charset="0"/>
                <a:ea typeface="Consolas" pitchFamily="34" charset="-122"/>
                <a:cs typeface="Consolas" pitchFamily="34" charset="-120"/>
              </a:rPr>
              <a:t>10</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dipecah menjadi:</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skema  : https</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host   : dummyjson.com</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jalur  : /products/search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query  : q=phone &amp; limit=</a:t>
            </a:r>
            <a:r>
              <a:rPr lang="en-US" sz="1400" dirty="0">
                <a:solidFill>
                  <a:srgbClr val="F78C6C"/>
                </a:solidFill>
                <a:latin typeface="Consolas" pitchFamily="34" charset="0"/>
                <a:ea typeface="Consolas" pitchFamily="34" charset="-122"/>
                <a:cs typeface="Consolas" pitchFamily="34" charset="-120"/>
              </a:rPr>
              <a:t>10</a:t>
            </a:r>
            <a:endParaRPr lang="en-US" sz="14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Skema: selalu https (terenkripsi).</a:t>
            </a:r>
            <a:endParaRPr lang="en-US" sz="1700" dirty="0"/>
          </a:p>
          <a:p>
            <a:pPr marL="228600" indent="-228600">
              <a:spcAft>
                <a:spcPts val="800"/>
              </a:spcAft>
              <a:buSzPct val="100000"/>
              <a:buChar char="•"/>
            </a:pPr>
            <a:r>
              <a:rPr lang="en-US" sz="1700" dirty="0">
                <a:solidFill>
                  <a:schemeClr val="tx1"/>
                </a:solidFill>
              </a:rPr>
              <a:t>Host: nama server. Jalur: data yang diminta.</a:t>
            </a:r>
            <a:endParaRPr lang="en-US" sz="1700" dirty="0"/>
          </a:p>
          <a:p>
            <a:pPr marL="228600" indent="-228600">
              <a:spcAft>
                <a:spcPts val="800"/>
              </a:spcAft>
              <a:buSzPct val="100000"/>
              <a:buChar char="•"/>
            </a:pPr>
            <a:r>
              <a:rPr lang="en-US" sz="1700" dirty="0">
                <a:solidFill>
                  <a:schemeClr val="tx1"/>
                </a:solidFill>
              </a:rPr>
              <a:t>Query: nama=nilai setelah ?, dipisah &amp;.</a:t>
            </a:r>
            <a:endParaRPr lang="en-US" sz="1700" dirty="0"/>
          </a:p>
          <a:p>
            <a:pPr marL="228600" indent="-228600">
              <a:spcAft>
                <a:spcPts val="800"/>
              </a:spcAft>
              <a:buSzPct val="100000"/>
              <a:buChar char="•"/>
            </a:pPr>
            <a:r>
              <a:rPr lang="en-US" sz="1700" dirty="0">
                <a:solidFill>
                  <a:schemeClr val="tx1"/>
                </a:solidFill>
              </a:rPr>
              <a:t>GET mengambil, POST mengirim data baru, PUT mengganti seluruh data, PATCH mengubah sebagian, DELETE menghapus.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Status: Stempel pada Jawaban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338981"/>
                <a:gridCol w="6312340"/>
                <a:gridCol w="3443094"/>
              </a:tblGrid>
              <a:tr h="4297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Arti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Kelompok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200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OK: permintaan berhasil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2xx: berhasil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201</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Created: data baru berhasil dibuat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2xx: berhasil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400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Bad Request: permintaan salah bentuk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4xx: salah di sisi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401</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Unauthorized: belum masuk (login)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4xx: salah di sisi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404</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Not Found: data tidak ditemukan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4xx: salah di sisi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429</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Too Many Requests: terlalu sering meminta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4xx: salah di sisi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500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Internal Server Error: server mengalami galat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5xx: salah di sisi server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503</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Service Unavailable: server sedang tidak tersedia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5xx: salah di sisi server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2xx berhasil, 4xx periksa permintaan kita, 5xx tunggu servernya pulih.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Header dan Body</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Header = keterangan tambahan berbentuk "Nama: nilai", seperti kolom "perihal" pada formulir.</a:t>
            </a:r>
            <a:endParaRPr lang="en-US" sz="1800" dirty="0"/>
          </a:p>
        </p:txBody>
      </p:sp>
      <p:sp>
        <p:nvSpPr>
          <p:cNvPr id="5" name="kartu 1"/>
          <p:cNvSpPr/>
          <p:nvPr/>
        </p:nvSpPr>
        <p:spPr>
          <a:xfrm>
            <a:off x="548640" y="2011680"/>
            <a:ext cx="3484778" cy="3017520"/>
          </a:xfrm>
          <a:prstGeom prst="roundRect">
            <a:avLst>
              <a:gd name="adj" fmla="val 3636"/>
            </a:avLst>
          </a:prstGeom>
          <a:solidFill>
            <a:schemeClr val="bg2"/>
          </a:solidFill>
          <a:ln/>
        </p:spPr>
      </p:sp>
      <p:sp>
        <p:nvSpPr>
          <p:cNvPr id="6" name="lingkaran unduh"/>
          <p:cNvSpPr/>
          <p:nvPr/>
        </p:nvSpPr>
        <p:spPr>
          <a:xfrm>
            <a:off x="777240" y="2240280"/>
            <a:ext cx="685800" cy="685800"/>
          </a:xfrm>
          <a:prstGeom prst="ellipse">
            <a:avLst/>
          </a:prstGeom>
          <a:solidFill>
            <a:schemeClr val="accent1"/>
          </a:solidFill>
          <a:ln/>
        </p:spPr>
      </p:sp>
      <p:pic>
        <p:nvPicPr>
          <p:cNvPr id="7" name="Image 0" descr="unduh">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Accept</a:t>
            </a:r>
            <a:endParaRPr lang="en-US" sz="1800" dirty="0"/>
          </a:p>
        </p:txBody>
      </p:sp>
      <p:sp>
        <p:nvSpPr>
          <p:cNvPr id="9" name="Text 5"/>
          <p:cNvSpPr txBox="1"/>
          <p:nvPr/>
        </p:nvSpPr>
        <p:spPr>
          <a:xfrm>
            <a:off x="777240" y="3063240"/>
            <a:ext cx="3027578" cy="1298448"/>
          </a:xfrm>
          <a:prstGeom prst="rect">
            <a:avLst/>
          </a:prstGeom>
          <a:noFill/>
          <a:ln/>
        </p:spPr>
        <p:txBody>
          <a:bodyPr wrap="square" lIns="0" tIns="0" rIns="0" bIns="0" rtlCol="0" anchor="t"/>
          <a:lstStyle/>
          <a:p>
            <a:pPr indent="0" marL="0">
              <a:buNone/>
            </a:pPr>
            <a:r>
              <a:rPr lang="en-US" sz="1500" dirty="0">
                <a:solidFill>
                  <a:schemeClr val="tx1"/>
                </a:solidFill>
              </a:rPr>
              <a:t>Dikirim klien: "Tolong jawab dalam format JSON."</a:t>
            </a:r>
            <a:endParaRPr lang="en-US" sz="1500" dirty="0"/>
          </a:p>
        </p:txBody>
      </p:sp>
      <p:sp>
        <p:nvSpPr>
          <p:cNvPr id="10" name="kotak kode"/>
          <p:cNvSpPr txBox="1"/>
          <p:nvPr/>
        </p:nvSpPr>
        <p:spPr>
          <a:xfrm>
            <a:off x="731520" y="4315968"/>
            <a:ext cx="3119018" cy="530352"/>
          </a:xfrm>
          <a:prstGeom prst="roundRect">
            <a:avLst>
              <a:gd name="adj" fmla="val 1724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Accept</a:t>
            </a:r>
            <a:r>
              <a:rPr lang="en-US" sz="1300" dirty="0">
                <a:solidFill>
                  <a:srgbClr val="E6EDF3"/>
                </a:solidFill>
                <a:latin typeface="Consolas" pitchFamily="34" charset="0"/>
                <a:ea typeface="Consolas" pitchFamily="34" charset="-122"/>
                <a:cs typeface="Consolas" pitchFamily="34" charset="-120"/>
              </a:rPr>
              <a:t>: application/json</a:t>
            </a:r>
            <a:endParaRPr lang="en-US" sz="1300" dirty="0"/>
          </a:p>
        </p:txBody>
      </p:sp>
      <p:sp>
        <p:nvSpPr>
          <p:cNvPr id="11" name="kartu 2"/>
          <p:cNvSpPr/>
          <p:nvPr/>
        </p:nvSpPr>
        <p:spPr>
          <a:xfrm>
            <a:off x="4353458" y="2011680"/>
            <a:ext cx="3484778" cy="3017520"/>
          </a:xfrm>
          <a:prstGeom prst="roundRect">
            <a:avLst>
              <a:gd name="adj" fmla="val 3636"/>
            </a:avLst>
          </a:prstGeom>
          <a:solidFill>
            <a:schemeClr val="bg2"/>
          </a:solidFill>
          <a:ln/>
        </p:spPr>
      </p:sp>
      <p:sp>
        <p:nvSpPr>
          <p:cNvPr id="12" name="lingkaran kirim"/>
          <p:cNvSpPr/>
          <p:nvPr/>
        </p:nvSpPr>
        <p:spPr>
          <a:xfrm>
            <a:off x="4582058" y="2240280"/>
            <a:ext cx="685800" cy="685800"/>
          </a:xfrm>
          <a:prstGeom prst="ellipse">
            <a:avLst/>
          </a:prstGeom>
          <a:solidFill>
            <a:schemeClr val="accent1"/>
          </a:solidFill>
          <a:ln/>
        </p:spPr>
      </p:sp>
      <p:pic>
        <p:nvPicPr>
          <p:cNvPr id="13" name="Image 1" descr="kirim">    </p:cNvPr>
          <p:cNvPicPr>
            <a:picLocks noChangeAspect="1"/>
          </p:cNvPicPr>
          <p:nvPr/>
        </p:nvPicPr>
        <p:blipFill>
          <a:blip r:embed="rId2"/>
          <a:stretch>
            <a:fillRect/>
          </a:stretch>
        </p:blipFill>
        <p:spPr>
          <a:xfrm>
            <a:off x="4732934" y="2391156"/>
            <a:ext cx="384048" cy="384048"/>
          </a:xfrm>
          <a:prstGeom prst="rect">
            <a:avLst/>
          </a:prstGeom>
        </p:spPr>
      </p:pic>
      <p:sp>
        <p:nvSpPr>
          <p:cNvPr id="14" name="Text 9"/>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Content-Type</a:t>
            </a:r>
            <a:endParaRPr lang="en-US" sz="1800" dirty="0"/>
          </a:p>
        </p:txBody>
      </p:sp>
      <p:sp>
        <p:nvSpPr>
          <p:cNvPr id="15" name="Text 10"/>
          <p:cNvSpPr txBox="1"/>
          <p:nvPr/>
        </p:nvSpPr>
        <p:spPr>
          <a:xfrm>
            <a:off x="4582058" y="3063240"/>
            <a:ext cx="3027578" cy="1060704"/>
          </a:xfrm>
          <a:prstGeom prst="rect">
            <a:avLst/>
          </a:prstGeom>
          <a:noFill/>
          <a:ln/>
        </p:spPr>
        <p:txBody>
          <a:bodyPr wrap="square" lIns="0" tIns="0" rIns="0" bIns="0" rtlCol="0" anchor="t"/>
          <a:lstStyle/>
          <a:p>
            <a:pPr indent="0" marL="0">
              <a:buNone/>
            </a:pPr>
            <a:r>
              <a:rPr lang="en-US" sz="1500" dirty="0">
                <a:solidFill>
                  <a:schemeClr val="tx1"/>
                </a:solidFill>
              </a:rPr>
              <a:t>Saat mengirim data: "Isi yang saya kirim berformat JSON."</a:t>
            </a:r>
            <a:endParaRPr lang="en-US" sz="1500" dirty="0"/>
          </a:p>
        </p:txBody>
      </p:sp>
      <p:sp>
        <p:nvSpPr>
          <p:cNvPr id="16" name="kotak kode"/>
          <p:cNvSpPr txBox="1"/>
          <p:nvPr/>
        </p:nvSpPr>
        <p:spPr>
          <a:xfrm>
            <a:off x="4536338" y="407822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Content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FCB6B"/>
                </a:solidFill>
                <a:latin typeface="Consolas" pitchFamily="34" charset="0"/>
                <a:ea typeface="Consolas" pitchFamily="34" charset="-122"/>
                <a:cs typeface="Consolas" pitchFamily="34" charset="-120"/>
              </a:rPr>
              <a:t>Type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application/json</a:t>
            </a:r>
            <a:endParaRPr lang="en-US" sz="1300" dirty="0"/>
          </a:p>
        </p:txBody>
      </p:sp>
      <p:sp>
        <p:nvSpPr>
          <p:cNvPr id="17" name="kartu 3"/>
          <p:cNvSpPr/>
          <p:nvPr/>
        </p:nvSpPr>
        <p:spPr>
          <a:xfrm>
            <a:off x="8158277" y="2011680"/>
            <a:ext cx="3484778" cy="3017520"/>
          </a:xfrm>
          <a:prstGeom prst="roundRect">
            <a:avLst>
              <a:gd name="adj" fmla="val 3636"/>
            </a:avLst>
          </a:prstGeom>
          <a:solidFill>
            <a:schemeClr val="bg2"/>
          </a:solidFill>
          <a:ln/>
        </p:spPr>
      </p:sp>
      <p:sp>
        <p:nvSpPr>
          <p:cNvPr id="18" name="lingkaran kunci"/>
          <p:cNvSpPr/>
          <p:nvPr/>
        </p:nvSpPr>
        <p:spPr>
          <a:xfrm>
            <a:off x="8386877" y="2240280"/>
            <a:ext cx="685800" cy="685800"/>
          </a:xfrm>
          <a:prstGeom prst="ellipse">
            <a:avLst/>
          </a:prstGeom>
          <a:solidFill>
            <a:schemeClr val="accent1"/>
          </a:solidFill>
          <a:ln/>
        </p:spPr>
      </p:sp>
      <p:pic>
        <p:nvPicPr>
          <p:cNvPr id="19" name="Image 2" descr="kunci">    </p:cNvPr>
          <p:cNvPicPr>
            <a:picLocks noChangeAspect="1"/>
          </p:cNvPicPr>
          <p:nvPr/>
        </p:nvPicPr>
        <p:blipFill>
          <a:blip r:embed="rId3"/>
          <a:stretch>
            <a:fillRect/>
          </a:stretch>
        </p:blipFill>
        <p:spPr>
          <a:xfrm>
            <a:off x="8537753" y="2391156"/>
            <a:ext cx="384048" cy="384048"/>
          </a:xfrm>
          <a:prstGeom prst="rect">
            <a:avLst/>
          </a:prstGeom>
        </p:spPr>
      </p:pic>
      <p:sp>
        <p:nvSpPr>
          <p:cNvPr id="20" name="Text 14"/>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Authorization</a:t>
            </a:r>
            <a:endParaRPr lang="en-US" sz="1800" dirty="0"/>
          </a:p>
        </p:txBody>
      </p:sp>
      <p:sp>
        <p:nvSpPr>
          <p:cNvPr id="21" name="Text 15"/>
          <p:cNvSpPr txBox="1"/>
          <p:nvPr/>
        </p:nvSpPr>
        <p:spPr>
          <a:xfrm>
            <a:off x="8386877" y="3063240"/>
            <a:ext cx="3027578" cy="1060704"/>
          </a:xfrm>
          <a:prstGeom prst="rect">
            <a:avLst/>
          </a:prstGeom>
          <a:noFill/>
          <a:ln/>
        </p:spPr>
        <p:txBody>
          <a:bodyPr wrap="square" lIns="0" tIns="0" rIns="0" bIns="0" rtlCol="0" anchor="t"/>
          <a:lstStyle/>
          <a:p>
            <a:pPr indent="0" marL="0">
              <a:buNone/>
            </a:pPr>
            <a:r>
              <a:rPr lang="en-US" sz="1500" dirty="0">
                <a:solidFill>
                  <a:schemeClr val="tx1"/>
                </a:solidFill>
              </a:rPr>
              <a:t>Tanda pengenal pengguna yang sudah masuk, untuk API yang butuh akun.</a:t>
            </a:r>
            <a:endParaRPr lang="en-US" sz="1500" dirty="0"/>
          </a:p>
        </p:txBody>
      </p:sp>
      <p:sp>
        <p:nvSpPr>
          <p:cNvPr id="22" name="kotak kode"/>
          <p:cNvSpPr txBox="1"/>
          <p:nvPr/>
        </p:nvSpPr>
        <p:spPr>
          <a:xfrm>
            <a:off x="8341157" y="407822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Authorization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Bearer</a:t>
            </a:r>
            <a:r>
              <a:rPr lang="en-US" sz="1300" dirty="0">
                <a:solidFill>
                  <a:srgbClr val="E6EDF3"/>
                </a:solidFill>
                <a:latin typeface="Consolas" pitchFamily="34" charset="0"/>
                <a:ea typeface="Consolas" pitchFamily="34" charset="-122"/>
                <a:cs typeface="Consolas" pitchFamily="34" charset="-120"/>
              </a:rPr>
              <a:t> ...</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JSON: Bahasa Pertukaran Data</a:t>
            </a:r>
            <a:endParaRPr lang="en-US" sz="4000" dirty="0"/>
          </a:p>
        </p:txBody>
      </p:sp>
      <p:sp>
        <p:nvSpPr>
          <p:cNvPr id="5" name="lingkaran data"/>
          <p:cNvSpPr/>
          <p:nvPr/>
        </p:nvSpPr>
        <p:spPr>
          <a:xfrm>
            <a:off x="1097280" y="2148840"/>
            <a:ext cx="2011680" cy="2011680"/>
          </a:xfrm>
          <a:prstGeom prst="ellipse">
            <a:avLst/>
          </a:prstGeom>
          <a:solidFill>
            <a:schemeClr val="accent1"/>
          </a:solidFill>
          <a:ln/>
        </p:spPr>
      </p:sp>
      <p:pic>
        <p:nvPicPr>
          <p:cNvPr id="6" name="Image 0" descr="dat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Bentuk JSON</a:t>
            </a:r>
            <a:endParaRPr lang="en-US" sz="3200" dirty="0"/>
          </a:p>
        </p:txBody>
      </p:sp>
      <p:sp>
        <p:nvSpPr>
          <p:cNvPr id="4" name="kotak kode"/>
          <p:cNvSpPr txBox="1"/>
          <p:nvPr/>
        </p:nvSpPr>
        <p:spPr>
          <a:xfrm>
            <a:off x="548640" y="1371600"/>
            <a:ext cx="6949440" cy="1659636"/>
          </a:xfrm>
          <a:prstGeom prst="roundRect">
            <a:avLst>
              <a:gd name="adj" fmla="val 551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"id"</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"todo"</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"Do something nice for someone you care about"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"completed"</a:t>
            </a:r>
            <a:r>
              <a:rPr lang="en-US" sz="1300" dirty="0">
                <a:solidFill>
                  <a:srgbClr val="E6EDF3"/>
                </a:solidFill>
                <a:latin typeface="Consolas" pitchFamily="34" charset="0"/>
                <a:ea typeface="Consolas" pitchFamily="34" charset="-122"/>
                <a:cs typeface="Consolas" pitchFamily="34" charset="-120"/>
              </a:rPr>
              <a:t>: false,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"userId"</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152</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Objek { } → Map&lt;String, dynamic&gt;</a:t>
            </a:r>
            <a:endParaRPr lang="en-US" sz="1700" dirty="0"/>
          </a:p>
          <a:p>
            <a:pPr marL="228600" indent="-228600">
              <a:spcAft>
                <a:spcPts val="800"/>
              </a:spcAft>
              <a:buSzPct val="100000"/>
              <a:buChar char="•"/>
            </a:pPr>
            <a:r>
              <a:rPr lang="en-US" sz="1700" dirty="0">
                <a:solidFill>
                  <a:schemeClr val="tx1"/>
                </a:solidFill>
              </a:rPr>
              <a:t>Larik [ ] → List&lt;dynamic&gt;</a:t>
            </a:r>
            <a:endParaRPr lang="en-US" sz="1700" dirty="0"/>
          </a:p>
          <a:p>
            <a:pPr marL="228600" indent="-228600">
              <a:spcAft>
                <a:spcPts val="800"/>
              </a:spcAft>
              <a:buSzPct val="100000"/>
              <a:buChar char="•"/>
            </a:pPr>
            <a:r>
              <a:rPr lang="en-US" sz="1700" dirty="0">
                <a:solidFill>
                  <a:schemeClr val="tx1"/>
                </a:solidFill>
              </a:rPr>
              <a:t>Teks "..." → String; angka → int/double</a:t>
            </a:r>
            <a:endParaRPr lang="en-US" sz="1700" dirty="0"/>
          </a:p>
          <a:p>
            <a:pPr marL="228600" indent="-228600">
              <a:spcAft>
                <a:spcPts val="800"/>
              </a:spcAft>
              <a:buSzPct val="100000"/>
              <a:buChar char="•"/>
            </a:pPr>
            <a:r>
              <a:rPr lang="en-US" sz="1700" dirty="0">
                <a:solidFill>
                  <a:schemeClr val="tx1"/>
                </a:solidFill>
              </a:rPr>
              <a:t>true/false → bool; null → null</a:t>
            </a:r>
            <a:endParaRPr lang="en-US" sz="1700" dirty="0"/>
          </a:p>
          <a:p>
            <a:pPr marL="228600" indent="-228600">
              <a:spcAft>
                <a:spcPts val="800"/>
              </a:spcAft>
              <a:buSzPct val="100000"/>
              <a:buChar char="•"/>
            </a:pPr>
            <a:r>
              <a:rPr lang="en-US" sz="1700" dirty="0">
                <a:solidFill>
                  <a:schemeClr val="tx1"/>
                </a:solidFill>
              </a:rPr>
              <a:t>Wajib petik dua; tidak boleh ada koma setelah unsur terakhir.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jsonDecode dan jsonEncode (dart:convert)</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unduh"/>
          <p:cNvSpPr/>
          <p:nvPr/>
        </p:nvSpPr>
        <p:spPr>
          <a:xfrm>
            <a:off x="777240" y="1600200"/>
            <a:ext cx="685800" cy="685800"/>
          </a:xfrm>
          <a:prstGeom prst="ellipse">
            <a:avLst/>
          </a:prstGeom>
          <a:solidFill>
            <a:schemeClr val="accent1"/>
          </a:solidFill>
          <a:ln/>
        </p:spPr>
      </p:sp>
      <p:pic>
        <p:nvPicPr>
          <p:cNvPr id="6" name="Image 0" descr="unduh">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jsonDecode</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Teks JSON → Map/List (MENERIMA)</a:t>
            </a:r>
            <a:endParaRPr lang="en-US" sz="1400" dirty="0"/>
          </a:p>
        </p:txBody>
      </p:sp>
      <p:sp>
        <p:nvSpPr>
          <p:cNvPr id="9" name="daftar poin"/>
          <p:cNvSpPr txBox="1"/>
          <p:nvPr/>
        </p:nvSpPr>
        <p:spPr>
          <a:xfrm>
            <a:off x="777240"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Hasilnya bertipe dynamic</a:t>
            </a:r>
            <a:endParaRPr lang="en-US" sz="1600" dirty="0"/>
          </a:p>
          <a:p>
            <a:pPr marL="228600" indent="-228600">
              <a:spcAft>
                <a:spcPts val="800"/>
              </a:spcAft>
              <a:buSzPct val="100000"/>
              <a:buChar char="•"/>
            </a:pPr>
            <a:r>
              <a:rPr lang="en-US" sz="1600" dirty="0">
                <a:solidFill>
                  <a:schemeClr val="tx1"/>
                </a:solidFill>
              </a:rPr>
              <a:t>as Map&lt;String, dynamic&gt; = "saya yakin isinya objek"</a:t>
            </a:r>
            <a:endParaRPr lang="en-US" sz="1600" dirty="0"/>
          </a:p>
          <a:p>
            <a:pPr marL="228600" indent="-228600">
              <a:spcAft>
                <a:spcPts val="800"/>
              </a:spcAft>
              <a:buSzPct val="100000"/>
              <a:buChar char="•"/>
            </a:pPr>
            <a:r>
              <a:rPr lang="en-US" sz="1600" dirty="0">
                <a:solidFill>
                  <a:schemeClr val="tx1"/>
                </a:solidFill>
              </a:rPr>
              <a:t>Jika teksnya bukan JSON: FormatException</a:t>
            </a:r>
            <a:endParaRPr lang="en-US" sz="1600" dirty="0"/>
          </a:p>
        </p:txBody>
      </p:sp>
      <p:sp>
        <p:nvSpPr>
          <p:cNvPr id="10" name="kotak kode"/>
          <p:cNvSpPr txBox="1"/>
          <p:nvPr/>
        </p:nvSpPr>
        <p:spPr>
          <a:xfrm>
            <a:off x="731520"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Map</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dynamic</a:t>
            </a:r>
            <a:r>
              <a:rPr lang="en-US" sz="1300" dirty="0">
                <a:solidFill>
                  <a:srgbClr val="E6EDF3"/>
                </a:solidFill>
                <a:latin typeface="Consolas" pitchFamily="34" charset="0"/>
                <a:ea typeface="Consolas" pitchFamily="34" charset="-122"/>
                <a:cs typeface="Consolas" pitchFamily="34" charset="-120"/>
              </a:rPr>
              <a:t>&gt; tugas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jsonDecode(</a:t>
            </a:r>
            <a:r>
              <a:rPr lang="en-US" sz="1300" dirty="0">
                <a:solidFill>
                  <a:srgbClr val="C3E88D"/>
                </a:solidFill>
                <a:latin typeface="Consolas" pitchFamily="34" charset="0"/>
                <a:ea typeface="Consolas" pitchFamily="34" charset="-122"/>
                <a:cs typeface="Consolas" pitchFamily="34" charset="-120"/>
              </a:rPr>
              <a:t>'{"id": 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Map</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dynamic</a:t>
            </a:r>
            <a:r>
              <a:rPr lang="en-US" sz="1300" dirty="0">
                <a:solidFill>
                  <a:srgbClr val="E6EDF3"/>
                </a:solidFill>
                <a:latin typeface="Consolas" pitchFamily="34" charset="0"/>
                <a:ea typeface="Consolas" pitchFamily="34" charset="-122"/>
                <a:cs typeface="Consolas" pitchFamily="34" charset="-120"/>
              </a:rPr>
              <a:t>&gt;;</a:t>
            </a:r>
            <a:endParaRPr lang="en-US" sz="1300" dirty="0"/>
          </a:p>
        </p:txBody>
      </p:sp>
      <p:sp>
        <p:nvSpPr>
          <p:cNvPr id="11" name="kolom 2"/>
          <p:cNvSpPr/>
          <p:nvPr/>
        </p:nvSpPr>
        <p:spPr>
          <a:xfrm>
            <a:off x="6255868" y="1371600"/>
            <a:ext cx="5387188" cy="3931920"/>
          </a:xfrm>
          <a:prstGeom prst="roundRect">
            <a:avLst>
              <a:gd name="adj" fmla="val 2791"/>
            </a:avLst>
          </a:prstGeom>
          <a:solidFill>
            <a:schemeClr val="bg2"/>
          </a:solidFill>
          <a:ln/>
        </p:spPr>
      </p:sp>
      <p:sp>
        <p:nvSpPr>
          <p:cNvPr id="12" name="lingkaran kirim"/>
          <p:cNvSpPr/>
          <p:nvPr/>
        </p:nvSpPr>
        <p:spPr>
          <a:xfrm>
            <a:off x="6484468" y="1600200"/>
            <a:ext cx="685800" cy="685800"/>
          </a:xfrm>
          <a:prstGeom prst="ellipse">
            <a:avLst/>
          </a:prstGeom>
          <a:solidFill>
            <a:schemeClr val="accent6"/>
          </a:solidFill>
          <a:ln/>
        </p:spPr>
      </p:sp>
      <p:pic>
        <p:nvPicPr>
          <p:cNvPr id="13" name="Image 1" descr="kirim">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jsonEncode</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Map/List → teks JSON (MENGIRIM)</a:t>
            </a:r>
            <a:endParaRPr lang="en-US" sz="1400" dirty="0"/>
          </a:p>
        </p:txBody>
      </p:sp>
      <p:sp>
        <p:nvSpPr>
          <p:cNvPr id="16" name="daftar poin"/>
          <p:cNvSpPr txBox="1"/>
          <p:nvPr/>
        </p:nvSpPr>
        <p:spPr>
          <a:xfrm>
            <a:off x="6484468"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Dipakai sebelum POST dan PATCH</a:t>
            </a:r>
            <a:endParaRPr lang="en-US" sz="1600" dirty="0"/>
          </a:p>
          <a:p>
            <a:pPr marL="228600" indent="-228600">
              <a:spcAft>
                <a:spcPts val="800"/>
              </a:spcAft>
              <a:buSzPct val="100000"/>
              <a:buChar char="•"/>
            </a:pPr>
            <a:r>
              <a:rPr lang="en-US" sz="1600" dirty="0">
                <a:solidFill>
                  <a:schemeClr val="tx1"/>
                </a:solidFill>
              </a:rPr>
              <a:t>Kunci dan teks otomatis berpetik dua</a:t>
            </a:r>
            <a:endParaRPr lang="en-US" sz="1600" dirty="0"/>
          </a:p>
          <a:p>
            <a:pPr marL="228600" indent="-228600">
              <a:spcAft>
                <a:spcPts val="800"/>
              </a:spcAft>
              <a:buSzPct val="100000"/>
              <a:buChar char="•"/>
            </a:pPr>
            <a:r>
              <a:rPr lang="en-US" sz="1600" dirty="0">
                <a:solidFill>
                  <a:schemeClr val="tx1"/>
                </a:solidFill>
              </a:rPr>
              <a:t>Hasilnya satu baris tanpa spasi</a:t>
            </a:r>
            <a:endParaRPr lang="en-US" sz="1600" dirty="0"/>
          </a:p>
        </p:txBody>
      </p:sp>
      <p:sp>
        <p:nvSpPr>
          <p:cNvPr id="17" name="kotak kode"/>
          <p:cNvSpPr txBox="1"/>
          <p:nvPr/>
        </p:nvSpPr>
        <p:spPr>
          <a:xfrm>
            <a:off x="6438748"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jsonEncode({</a:t>
            </a:r>
            <a:r>
              <a:rPr lang="en-US" sz="1300" dirty="0">
                <a:solidFill>
                  <a:srgbClr val="C3E88D"/>
                </a:solidFill>
                <a:latin typeface="Consolas" pitchFamily="34" charset="0"/>
                <a:ea typeface="Consolas" pitchFamily="34" charset="-122"/>
                <a:cs typeface="Consolas" pitchFamily="34" charset="-120"/>
              </a:rPr>
              <a:t>'todo'</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'Tidur'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'completed'</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true</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{"todo":"Tidur","completed":true}</a:t>
            </a:r>
            <a:endParaRPr lang="en-US" sz="13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as hanya "janji". Jika ternyata bukan objek, aplikasi error saat berjalan. Bagian 6 menunjukkan cara yang lebih aman: pola.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Paket http: Permintaan Pertama</a:t>
            </a:r>
            <a:endParaRPr lang="en-US" sz="4000" dirty="0"/>
          </a:p>
        </p:txBody>
      </p:sp>
      <p:sp>
        <p:nvSpPr>
          <p:cNvPr id="5" name="lingkaran unduh"/>
          <p:cNvSpPr/>
          <p:nvPr/>
        </p:nvSpPr>
        <p:spPr>
          <a:xfrm>
            <a:off x="1097280" y="2148840"/>
            <a:ext cx="2011680" cy="2011680"/>
          </a:xfrm>
          <a:prstGeom prst="ellipse">
            <a:avLst/>
          </a:prstGeom>
          <a:solidFill>
            <a:schemeClr val="accent1"/>
          </a:solidFill>
          <a:ln/>
        </p:spPr>
      </p:sp>
      <p:pic>
        <p:nvPicPr>
          <p:cNvPr id="6" name="Image 0" descr="unduh">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Memasang dan Memakai Paket http</a:t>
            </a:r>
            <a:endParaRPr lang="en-US" sz="3200" dirty="0"/>
          </a:p>
        </p:txBody>
      </p:sp>
      <p:sp>
        <p:nvSpPr>
          <p:cNvPr id="4" name="kotak kode"/>
          <p:cNvSpPr txBox="1"/>
          <p:nvPr/>
        </p:nvSpPr>
        <p:spPr>
          <a:xfrm>
            <a:off x="548640" y="1371600"/>
            <a:ext cx="6035040" cy="2331720"/>
          </a:xfrm>
          <a:prstGeom prst="roundRect">
            <a:avLst>
              <a:gd name="adj" fmla="val 3922"/>
            </a:avLst>
          </a:prstGeom>
          <a:solidFill>
            <a:srgbClr val="0E1A2B"/>
          </a:solidFill>
          <a:ln/>
        </p:spPr>
        <p:txBody>
          <a:bodyPr wrap="square" lIns="177800" tIns="152400" rIns="152400" bIns="177800" rtlCol="0" anchor="t"/>
          <a:lstStyle/>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sekali, di folder proyek</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flutter pub add http</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di bagian atas berkas Dart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import </a:t>
            </a:r>
            <a:r>
              <a:rPr lang="en-US" sz="1500" dirty="0">
                <a:solidFill>
                  <a:srgbClr val="C3E88D"/>
                </a:solidFill>
                <a:latin typeface="Consolas" pitchFamily="34" charset="0"/>
                <a:ea typeface="Consolas" pitchFamily="34" charset="-122"/>
                <a:cs typeface="Consolas" pitchFamily="34" charset="-120"/>
              </a:rPr>
              <a:t>'package:http/http.dart'</a:t>
            </a:r>
            <a:r>
              <a:rPr lang="en-US" sz="1500" dirty="0">
                <a:solidFill>
                  <a:srgbClr val="E6EDF3"/>
                </a:solidFill>
                <a:latin typeface="Consolas" pitchFamily="34" charset="0"/>
                <a:ea typeface="Consolas" pitchFamily="34" charset="-122"/>
                <a:cs typeface="Consolas" pitchFamily="34" charset="-120"/>
              </a:rPr>
              <a:t> as http;</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http.get(...)      // fungsi dari paket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http.Response      // class dari paket</a:t>
            </a:r>
            <a:endParaRPr lang="en-US" sz="1500" dirty="0"/>
          </a:p>
        </p:txBody>
      </p:sp>
      <p:sp>
        <p:nvSpPr>
          <p:cNvPr id="5"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as http = awalan (prefix): semua isi paket dipanggil dengan http.</a:t>
            </a:r>
            <a:endParaRPr lang="en-US" sz="1700" dirty="0"/>
          </a:p>
          <a:p>
            <a:pPr marL="228600" indent="-228600">
              <a:spcAft>
                <a:spcPts val="800"/>
              </a:spcAft>
              <a:buSzPct val="100000"/>
              <a:buChar char="•"/>
            </a:pPr>
            <a:r>
              <a:rPr lang="en-US" sz="1700" dirty="0">
                <a:solidFill>
                  <a:schemeClr val="tx1"/>
                </a:solidFill>
              </a:rPr>
              <a:t>Tanpa awalan, get bisa tertukar dengan nama lain, dan pembaca sulit tahu asalnya.</a:t>
            </a:r>
            <a:endParaRPr lang="en-US" sz="1700" dirty="0"/>
          </a:p>
          <a:p>
            <a:pPr marL="228600" indent="-228600">
              <a:spcAft>
                <a:spcPts val="800"/>
              </a:spcAft>
              <a:buSzPct val="100000"/>
              <a:buChar char="•"/>
            </a:pPr>
            <a:r>
              <a:rPr lang="en-US" sz="1700" dirty="0">
                <a:solidFill>
                  <a:schemeClr val="tx1"/>
                </a:solidFill>
              </a:rPr>
              <a:t>DartPad sudah menyediakan paket http.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01: Kutipan Acak</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1.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Response</a:t>
            </a:r>
            <a:r>
              <a:rPr lang="en-US" sz="1200" dirty="0">
                <a:solidFill>
                  <a:srgbClr val="E6EDF3"/>
                </a:solidFill>
                <a:latin typeface="Consolas" pitchFamily="34" charset="0"/>
                <a:ea typeface="Consolas" pitchFamily="34" charset="-122"/>
                <a:cs typeface="Consolas" pitchFamily="34" charset="-120"/>
              </a:rPr>
              <a:t> respons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C792EA"/>
                </a:solidFill>
                <a:latin typeface="Consolas" pitchFamily="34" charset="0"/>
                <a:ea typeface="Consolas" pitchFamily="34" charset="-122"/>
                <a:cs typeface="Consolas" pitchFamily="34" charset="-120"/>
              </a:rPr>
              <a:t>get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Uri</a:t>
            </a:r>
            <a:r>
              <a:rPr lang="en-US" sz="1200" dirty="0">
                <a:solidFill>
                  <a:srgbClr val="E6EDF3"/>
                </a:solidFill>
                <a:latin typeface="Consolas" pitchFamily="34" charset="0"/>
                <a:ea typeface="Consolas" pitchFamily="34" charset="-122"/>
                <a:cs typeface="Consolas" pitchFamily="34" charset="-120"/>
              </a:rPr>
              <a:t>.parse(</a:t>
            </a:r>
            <a:r>
              <a:rPr lang="en-US" sz="1200" dirty="0">
                <a:solidFill>
                  <a:srgbClr val="C3E88D"/>
                </a:solidFill>
                <a:latin typeface="Consolas" pitchFamily="34" charset="0"/>
                <a:ea typeface="Consolas" pitchFamily="34" charset="-122"/>
                <a:cs typeface="Consolas" pitchFamily="34" charset="-120"/>
              </a:rPr>
              <a:t>'https://dummyjson.com/quotes/random'</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headers: {</a:t>
            </a:r>
            <a:r>
              <a:rPr lang="en-US" sz="1200" dirty="0">
                <a:solidFill>
                  <a:srgbClr val="C3E88D"/>
                </a:solidFill>
                <a:latin typeface="Consolas" pitchFamily="34" charset="0"/>
                <a:ea typeface="Consolas" pitchFamily="34" charset="-122"/>
                <a:cs typeface="Consolas" pitchFamily="34" charset="-120"/>
              </a:rPr>
              <a:t>'Accept'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'application/json'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(!mounted)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(respons.statusCode == </a:t>
            </a:r>
            <a:r>
              <a:rPr lang="en-US" sz="1200" dirty="0">
                <a:solidFill>
                  <a:srgbClr val="F78C6C"/>
                </a:solidFill>
                <a:latin typeface="Consolas" pitchFamily="34" charset="0"/>
                <a:ea typeface="Consolas" pitchFamily="34" charset="-122"/>
                <a:cs typeface="Consolas" pitchFamily="34" charset="-120"/>
              </a:rPr>
              <a:t>200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json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jsonDecode(respons.body)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setState(() =&gt; _kutipan = json[</a:t>
            </a:r>
            <a:r>
              <a:rPr lang="en-US" sz="1200" dirty="0">
                <a:solidFill>
                  <a:srgbClr val="C3E88D"/>
                </a:solidFill>
                <a:latin typeface="Consolas" pitchFamily="34" charset="0"/>
                <a:ea typeface="Consolas" pitchFamily="34" charset="-122"/>
                <a:cs typeface="Consolas" pitchFamily="34" charset="-120"/>
              </a:rPr>
              <a:t>'quote'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"Server menjawab dengan kode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10_async_dan_rest_api/kode/contoh_01_permintaan_pertama.dart"/>
          </p:cNvPr>
          <p:cNvSpPr txBox="1"/>
          <p:nvPr/>
        </p:nvSpPr>
        <p:spPr>
          <a:xfrm>
            <a:off x="548640" y="427024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contoh_01_permintaan_pertama.dart</a:t>
            </a:r>
            <a:endParaRPr lang="en-US" sz="1300" dirty="0"/>
          </a:p>
        </p:txBody>
      </p:sp>
      <p:pic>
        <p:nvPicPr>
          <p:cNvPr id="8" name="Image 1" descr="ikon tautan">
            <a:hlinkClick r:id="rId4" tooltip="https://github.com/antonprafanto/mobile2026/blob/main/pertemuan_10_async_dan_rest_api/kode/contoh_01_permintaan_pertama.dart"/>
          </p:cNvPr>
          <p:cNvPicPr>
            <a:picLocks noChangeAspect="1"/>
          </p:cNvPicPr>
          <p:nvPr/>
        </p:nvPicPr>
        <p:blipFill>
          <a:blip r:embed="rId3"/>
          <a:stretch>
            <a:fillRect/>
          </a:stretch>
        </p:blipFill>
        <p:spPr>
          <a:xfrm>
            <a:off x="694944" y="4361688"/>
            <a:ext cx="274320" cy="274320"/>
          </a:xfrm>
          <a:prstGeom prst="rect">
            <a:avLst/>
          </a:prstGeom>
        </p:spPr>
      </p:pic>
      <p:sp>
        <p:nvSpPr>
          <p:cNvPr id="9" name="daftar poin"/>
          <p:cNvSpPr txBox="1"/>
          <p:nvPr/>
        </p:nvSpPr>
        <p:spPr>
          <a:xfrm>
            <a:off x="548640" y="5001768"/>
            <a:ext cx="7608319"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http.get menerima Uri, bukan String. Hasilnya Future&lt;http.Response&gt;.</a:t>
            </a:r>
            <a:endParaRPr lang="en-US" sz="1500" dirty="0"/>
          </a:p>
          <a:p>
            <a:pPr marL="228600" indent="-228600">
              <a:spcAft>
                <a:spcPts val="800"/>
              </a:spcAft>
              <a:buSzPct val="100000"/>
              <a:buChar char="•"/>
            </a:pPr>
            <a:r>
              <a:rPr lang="en-US" sz="1500" dirty="0">
                <a:solidFill>
                  <a:schemeClr val="tx1"/>
                </a:solidFill>
              </a:rPr>
              <a:t>statusCode = kode status; body = teks JSON.</a:t>
            </a:r>
            <a:endParaRPr lang="en-US" sz="1500" dirty="0"/>
          </a:p>
          <a:p>
            <a:pPr marL="228600" indent="-228600">
              <a:spcAft>
                <a:spcPts val="800"/>
              </a:spcAft>
              <a:buSzPct val="100000"/>
              <a:buChar char="•"/>
            </a:pPr>
            <a:r>
              <a:rPr lang="en-US" sz="1500" dirty="0">
                <a:solidFill>
                  <a:schemeClr val="tx1"/>
                </a:solidFill>
              </a:rPr>
              <a:t>catch menangkap kegagalan saat TIDAK ADA jawaban (misalnya tanpa internet).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Membedah Jawaban Server</a:t>
            </a:r>
            <a:endParaRPr lang="en-US" sz="4000" dirty="0"/>
          </a:p>
        </p:txBody>
      </p:sp>
      <p:sp>
        <p:nvSpPr>
          <p:cNvPr id="5" name="lingkaran lihat"/>
          <p:cNvSpPr/>
          <p:nvPr/>
        </p:nvSpPr>
        <p:spPr>
          <a:xfrm>
            <a:off x="1097280" y="2148840"/>
            <a:ext cx="2011680" cy="2011680"/>
          </a:xfrm>
          <a:prstGeom prst="ellipse">
            <a:avLst/>
          </a:prstGeom>
          <a:solidFill>
            <a:schemeClr val="accent1"/>
          </a:solidFill>
          <a:ln/>
        </p:spPr>
      </p:sp>
      <p:pic>
        <p:nvPicPr>
          <p:cNvPr id="6" name="Image 0" descr="lih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02: Penjelajah Respons</a:t>
            </a:r>
            <a:endParaRPr lang="en-US" sz="3200" dirty="0"/>
          </a:p>
        </p:txBody>
      </p:sp>
      <p:sp>
        <p:nvSpPr>
          <p:cNvPr id="4" name="bingkai layar 1"/>
          <p:cNvSpPr/>
          <p:nvPr/>
        </p:nvSpPr>
        <p:spPr>
          <a:xfrm>
            <a:off x="5736031" y="1316736"/>
            <a:ext cx="2898648" cy="4445786"/>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5790895" y="1371600"/>
            <a:ext cx="2788920" cy="4336058"/>
          </a:xfrm>
          <a:prstGeom prst="rect">
            <a:avLst/>
          </a:prstGeom>
        </p:spPr>
      </p:pic>
      <p:sp>
        <p:nvSpPr>
          <p:cNvPr id="6" name="bingkai layar 2"/>
          <p:cNvSpPr/>
          <p:nvPr/>
        </p:nvSpPr>
        <p:spPr>
          <a:xfrm>
            <a:off x="8799271" y="1316736"/>
            <a:ext cx="2898648" cy="4445786"/>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8854135" y="1371600"/>
            <a:ext cx="2788920" cy="4336058"/>
          </a:xfrm>
          <a:prstGeom prst="rect">
            <a:avLst/>
          </a:prstGeom>
        </p:spPr>
      </p:pic>
      <p:sp>
        <p:nvSpPr>
          <p:cNvPr id="8" name="tombol tautan">
            <a:hlinkClick r:id="rId3" tooltip="https://github.com/antonprafanto/mobile2026/blob/main/pertemuan_10_async_dan_rest_api/kode/contoh_02_anatomi_respons.dart"/>
          </p:cNvPr>
          <p:cNvSpPr txBox="1"/>
          <p:nvPr/>
        </p:nvSpPr>
        <p:spPr>
          <a:xfrm>
            <a:off x="548640" y="1371600"/>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contoh_02_anatomi_respons.dart</a:t>
            </a:r>
            <a:endParaRPr lang="en-US" sz="1300" dirty="0"/>
          </a:p>
        </p:txBody>
      </p:sp>
      <p:pic>
        <p:nvPicPr>
          <p:cNvPr id="9" name="Image 2" descr="ikon tautan">
            <a:hlinkClick r:id="rId5" tooltip="https://github.com/antonprafanto/mobile2026/blob/main/pertemuan_10_async_dan_rest_api/kode/contoh_02_anatomi_respons.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7850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/quotes/1 → 200, JSON satu kutipan.</a:t>
            </a:r>
            <a:endParaRPr lang="en-US" sz="1500" dirty="0"/>
          </a:p>
          <a:p>
            <a:pPr marL="228600" indent="-228600">
              <a:spcAft>
                <a:spcPts val="800"/>
              </a:spcAft>
              <a:buSzPct val="100000"/>
              <a:buChar char="•"/>
            </a:pPr>
            <a:r>
              <a:rPr lang="en-US" sz="1500" dirty="0">
                <a:solidFill>
                  <a:schemeClr val="tx1"/>
                </a:solidFill>
              </a:rPr>
              <a:t>/quotes/99999 → 404, JSON berisi pesan "not found".</a:t>
            </a:r>
            <a:endParaRPr lang="en-US" sz="1500" dirty="0"/>
          </a:p>
          <a:p>
            <a:pPr marL="228600" indent="-228600">
              <a:spcAft>
                <a:spcPts val="800"/>
              </a:spcAft>
              <a:buSzPct val="100000"/>
              <a:buChar char="•"/>
            </a:pPr>
            <a:r>
              <a:rPr lang="en-US" sz="1500" dirty="0">
                <a:solidFill>
                  <a:schemeClr val="tx1"/>
                </a:solidFill>
              </a:rPr>
              <a:t>/http/500/... → 500 (alamat latihan galat server).</a:t>
            </a:r>
            <a:endParaRPr lang="en-US" sz="1500" dirty="0"/>
          </a:p>
          <a:p>
            <a:pPr marL="228600" indent="-228600">
              <a:spcAft>
                <a:spcPts val="800"/>
              </a:spcAft>
              <a:buSzPct val="100000"/>
              <a:buChar char="•"/>
            </a:pPr>
            <a:r>
              <a:rPr lang="en-US" sz="1500" dirty="0">
                <a:solidFill>
                  <a:schemeClr val="tx1"/>
                </a:solidFill>
              </a:rPr>
              <a:t>/quotes/2?delay=3000 → 200 setelah ± 3 detik.</a:t>
            </a:r>
            <a:endParaRPr lang="en-US" sz="1500" dirty="0"/>
          </a:p>
          <a:p>
            <a:pPr marL="228600" indent="-228600">
              <a:spcAft>
                <a:spcPts val="800"/>
              </a:spcAft>
              <a:buSzPct val="100000"/>
              <a:buChar char="•"/>
            </a:pPr>
            <a:r>
              <a:rPr lang="en-US" sz="1500" dirty="0">
                <a:solidFill>
                  <a:schemeClr val="tx1"/>
                </a:solidFill>
              </a:rPr>
              <a:t>Host .invalid → TIDAK ADA kode status: yang muncul exception.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Pelajaran Terpenting</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server"/>
          <p:cNvSpPr/>
          <p:nvPr/>
        </p:nvSpPr>
        <p:spPr>
          <a:xfrm>
            <a:off x="777240" y="1600200"/>
            <a:ext cx="685800" cy="685800"/>
          </a:xfrm>
          <a:prstGeom prst="ellipse">
            <a:avLst/>
          </a:prstGeom>
          <a:solidFill>
            <a:schemeClr val="accent4"/>
          </a:solidFill>
          <a:ln/>
        </p:spPr>
      </p:sp>
      <p:pic>
        <p:nvPicPr>
          <p:cNvPr id="6" name="Image 0" descr="server">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Kode 404 dan 500 tetap JAWABAN</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Periksa statusCode</a:t>
            </a:r>
            <a:endParaRPr lang="en-US" sz="1400" dirty="0"/>
          </a:p>
        </p:txBody>
      </p:sp>
      <p:sp>
        <p:nvSpPr>
          <p:cNvPr id="9" name="daftar poin"/>
          <p:cNvSpPr txBox="1"/>
          <p:nvPr/>
        </p:nvSpPr>
        <p:spPr>
          <a:xfrm>
            <a:off x="777240" y="2926080"/>
            <a:ext cx="4929988" cy="174650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Paket http tidak melempar exception untuk kode status apa pun</a:t>
            </a:r>
            <a:endParaRPr lang="en-US" sz="1600" dirty="0"/>
          </a:p>
          <a:p>
            <a:pPr marL="228600" indent="-228600">
              <a:spcAft>
                <a:spcPts val="800"/>
              </a:spcAft>
              <a:buSzPct val="100000"/>
              <a:buChar char="•"/>
            </a:pPr>
            <a:r>
              <a:rPr lang="en-US" sz="1600" dirty="0">
                <a:solidFill>
                  <a:schemeClr val="tx1"/>
                </a:solidFill>
              </a:rPr>
              <a:t>Tanpa pemeriksaan, isi pesan galat dibaca seolah-olah data</a:t>
            </a:r>
            <a:endParaRPr lang="en-US" sz="1600" dirty="0"/>
          </a:p>
        </p:txBody>
      </p:sp>
      <p:sp>
        <p:nvSpPr>
          <p:cNvPr id="10" name="kotak kode"/>
          <p:cNvSpPr txBox="1"/>
          <p:nvPr/>
        </p:nvSpPr>
        <p:spPr>
          <a:xfrm>
            <a:off x="731520" y="4626864"/>
            <a:ext cx="5021428" cy="1316736"/>
          </a:xfrm>
          <a:prstGeom prst="roundRect">
            <a:avLst>
              <a:gd name="adj" fmla="val 6944"/>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if</a:t>
            </a:r>
            <a:r>
              <a:rPr lang="en-US" sz="1400" dirty="0">
                <a:solidFill>
                  <a:srgbClr val="E6EDF3"/>
                </a:solidFill>
                <a:latin typeface="Consolas" pitchFamily="34" charset="0"/>
                <a:ea typeface="Consolas" pitchFamily="34" charset="-122"/>
                <a:cs typeface="Consolas" pitchFamily="34" charset="-120"/>
              </a:rPr>
              <a:t> (respons.statusCode != </a:t>
            </a:r>
            <a:r>
              <a:rPr lang="en-US" sz="1400" dirty="0">
                <a:solidFill>
                  <a:srgbClr val="F78C6C"/>
                </a:solidFill>
                <a:latin typeface="Consolas" pitchFamily="34" charset="0"/>
                <a:ea typeface="Consolas" pitchFamily="34" charset="-122"/>
                <a:cs typeface="Consolas" pitchFamily="34" charset="-120"/>
              </a:rPr>
              <a:t>200</a:t>
            </a: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throw</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ApiException</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respons.statusCode);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11" name="kolom 2"/>
          <p:cNvSpPr/>
          <p:nvPr/>
        </p:nvSpPr>
        <p:spPr>
          <a:xfrm>
            <a:off x="6255868" y="1371600"/>
            <a:ext cx="5387188" cy="4754880"/>
          </a:xfrm>
          <a:prstGeom prst="roundRect">
            <a:avLst>
              <a:gd name="adj" fmla="val 2308"/>
            </a:avLst>
          </a:prstGeom>
          <a:solidFill>
            <a:schemeClr val="bg2"/>
          </a:solidFill>
          <a:ln/>
        </p:spPr>
      </p:sp>
      <p:sp>
        <p:nvSpPr>
          <p:cNvPr id="12" name="lingkaran awanputus"/>
          <p:cNvSpPr/>
          <p:nvPr/>
        </p:nvSpPr>
        <p:spPr>
          <a:xfrm>
            <a:off x="6484468" y="1600200"/>
            <a:ext cx="685800" cy="685800"/>
          </a:xfrm>
          <a:prstGeom prst="ellipse">
            <a:avLst/>
          </a:prstGeom>
          <a:solidFill>
            <a:schemeClr val="accent5"/>
          </a:solidFill>
          <a:ln/>
        </p:spPr>
      </p:sp>
      <p:pic>
        <p:nvPicPr>
          <p:cNvPr id="13" name="Image 1" descr="awanputus">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Exception = tidak ada jawaban</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Tangkap dengan catch</a:t>
            </a:r>
            <a:endParaRPr lang="en-US" sz="1400" dirty="0"/>
          </a:p>
        </p:txBody>
      </p:sp>
      <p:sp>
        <p:nvSpPr>
          <p:cNvPr id="16" name="daftar poin"/>
          <p:cNvSpPr txBox="1"/>
          <p:nvPr/>
        </p:nvSpPr>
        <p:spPr>
          <a:xfrm>
            <a:off x="6484468" y="2926080"/>
            <a:ext cx="4929988" cy="14904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Alamat server tidak ada atau koneksi putus</a:t>
            </a:r>
            <a:endParaRPr lang="en-US" sz="1600" dirty="0"/>
          </a:p>
          <a:p>
            <a:pPr marL="228600" indent="-228600">
              <a:spcAft>
                <a:spcPts val="800"/>
              </a:spcAft>
              <a:buSzPct val="100000"/>
              <a:buChar char="•"/>
            </a:pPr>
            <a:r>
              <a:rPr lang="en-US" sz="1600" dirty="0">
                <a:solidFill>
                  <a:schemeClr val="tx1"/>
                </a:solidFill>
              </a:rPr>
              <a:t>Di web: server menolak dipanggil dari browser (CORS, Bagian 14)</a:t>
            </a:r>
            <a:endParaRPr lang="en-US" sz="1600" dirty="0"/>
          </a:p>
        </p:txBody>
      </p:sp>
      <p:sp>
        <p:nvSpPr>
          <p:cNvPr id="17" name="kotak kode"/>
          <p:cNvSpPr txBox="1"/>
          <p:nvPr/>
        </p:nvSpPr>
        <p:spPr>
          <a:xfrm>
            <a:off x="6438748" y="4370832"/>
            <a:ext cx="5021428" cy="1572768"/>
          </a:xfrm>
          <a:prstGeom prst="roundRect">
            <a:avLst>
              <a:gd name="adj" fmla="val 5814"/>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try</a:t>
            </a: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catch</a:t>
            </a:r>
            <a:r>
              <a:rPr lang="en-US" sz="1400" dirty="0">
                <a:solidFill>
                  <a:srgbClr val="E6EDF3"/>
                </a:solidFill>
                <a:latin typeface="Consolas" pitchFamily="34" charset="0"/>
                <a:ea typeface="Consolas" pitchFamily="34" charset="-122"/>
                <a:cs typeface="Consolas" pitchFamily="34" charset="-120"/>
              </a:rPr>
              <a:t> (galat)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tidak ada jawaban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Dari JSON Menjadi Model</a:t>
            </a:r>
            <a:endParaRPr lang="en-US" sz="4000" dirty="0"/>
          </a:p>
        </p:txBody>
      </p:sp>
      <p:sp>
        <p:nvSpPr>
          <p:cNvPr id="5" name="lingkaran kelas"/>
          <p:cNvSpPr/>
          <p:nvPr/>
        </p:nvSpPr>
        <p:spPr>
          <a:xfrm>
            <a:off x="1097280" y="2148840"/>
            <a:ext cx="2011680" cy="2011680"/>
          </a:xfrm>
          <a:prstGeom prst="ellipse">
            <a:avLst/>
          </a:prstGeom>
          <a:solidFill>
            <a:schemeClr val="accent1"/>
          </a:solidFill>
          <a:ln/>
        </p:spPr>
      </p:sp>
      <p:pic>
        <p:nvPicPr>
          <p:cNvPr id="6" name="Image 0" descr="kel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Factory fromJson dengan Pola Dart 3</a:t>
            </a:r>
            <a:endParaRPr lang="en-US" sz="3200" dirty="0"/>
          </a:p>
        </p:txBody>
      </p:sp>
      <p:sp>
        <p:nvSpPr>
          <p:cNvPr id="4" name="kotak kode"/>
          <p:cNvSpPr txBox="1"/>
          <p:nvPr/>
        </p:nvSpPr>
        <p:spPr>
          <a:xfrm>
            <a:off x="548640" y="1371600"/>
            <a:ext cx="603504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factory</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Produk</a:t>
            </a:r>
            <a:r>
              <a:rPr lang="en-US" sz="1200" dirty="0">
                <a:solidFill>
                  <a:srgbClr val="E6EDF3"/>
                </a:solidFill>
                <a:latin typeface="Consolas" pitchFamily="34" charset="0"/>
                <a:ea typeface="Consolas" pitchFamily="34" charset="-122"/>
                <a:cs typeface="Consolas" pitchFamily="34" charset="-120"/>
              </a:rPr>
              <a:t>.fromJson(</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json)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(json)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'title'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judul,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'price'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 harga,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'stock'</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stok,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'rating'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 rating,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Produk</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id: id, judul: judul,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harga: harga.toDouble(),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stok: stok, rating: rating.toDouble(),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 =&gt;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'Bentuk data produk tidak sesuai'</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0_async_dan_rest_api/kode/contoh_03_json_dan_model.dart"/>
          </p:cNvPr>
          <p:cNvSpPr txBox="1"/>
          <p:nvPr/>
        </p:nvSpPr>
        <p:spPr>
          <a:xfrm>
            <a:off x="548640" y="5468112"/>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contoh_03_json_dan_model.dart</a:t>
            </a:r>
            <a:endParaRPr lang="en-US" sz="1300" dirty="0"/>
          </a:p>
        </p:txBody>
      </p:sp>
      <p:pic>
        <p:nvPicPr>
          <p:cNvPr id="6" name="Image 0" descr="ikon tautan">
            <a:hlinkClick r:id="rId3" tooltip="https://github.com/antonprafanto/mobile2026/blob/main/pertemuan_10_async_dan_rest_api/kode/contoh_03_json_dan_model.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Pola map: cabang dipilih jika SEMUA kunci yang disebut ada DAN tipenya cocok.</a:t>
            </a:r>
            <a:endParaRPr lang="en-US" sz="1700" dirty="0"/>
          </a:p>
          <a:p>
            <a:pPr marL="228600" indent="-228600">
              <a:spcAft>
                <a:spcPts val="800"/>
              </a:spcAft>
              <a:buSzPct val="100000"/>
              <a:buChar char="•"/>
            </a:pPr>
            <a:r>
              <a:rPr lang="en-US" sz="1700" dirty="0">
                <a:solidFill>
                  <a:schemeClr val="tx1"/>
                </a:solidFill>
              </a:rPr>
              <a:t>'id': int id = memeriksa sekaligus mengambil.</a:t>
            </a:r>
            <a:endParaRPr lang="en-US" sz="1700" dirty="0"/>
          </a:p>
          <a:p>
            <a:pPr marL="228600" indent="-228600">
              <a:spcAft>
                <a:spcPts val="800"/>
              </a:spcAft>
              <a:buSzPct val="100000"/>
              <a:buChar char="•"/>
            </a:pPr>
            <a:r>
              <a:rPr lang="en-US" sz="1700" dirty="0">
                <a:solidFill>
                  <a:schemeClr val="tx1"/>
                </a:solidFill>
              </a:rPr>
              <a:t>num + toDouble(): JSON tidak membedakan 15 dan 9.99.</a:t>
            </a:r>
            <a:endParaRPr lang="en-US" sz="1700" dirty="0"/>
          </a:p>
          <a:p>
            <a:pPr marL="228600" indent="-228600">
              <a:spcAft>
                <a:spcPts val="800"/>
              </a:spcAft>
              <a:buSzPct val="100000"/>
              <a:buChar char="•"/>
            </a:pPr>
            <a:r>
              <a:rPr lang="en-US" sz="1700" dirty="0">
                <a:solidFill>
                  <a:schemeClr val="tx1"/>
                </a:solidFill>
              </a:rPr>
              <a:t>_ =&gt; throw: bentuk salah langsung ketahuan.</a:t>
            </a:r>
            <a:endParaRPr lang="en-US" sz="1700" dirty="0"/>
          </a:p>
          <a:p>
            <a:pPr marL="228600" indent="-228600">
              <a:spcAft>
                <a:spcPts val="800"/>
              </a:spcAft>
              <a:buSzPct val="100000"/>
              <a:buChar char="•"/>
            </a:pPr>
            <a:r>
              <a:rPr lang="en-US" sz="1700" dirty="0">
                <a:solidFill>
                  <a:schemeClr val="tx1"/>
                </a:solidFill>
              </a:rPr>
              <a:t>Kunci JSON (title) boleh berbeda dari nama properti (judul).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Membaca Daftar dan Data yang Bentuknya Salah</a:t>
            </a:r>
            <a:endParaRPr lang="en-US" sz="3200" dirty="0"/>
          </a:p>
        </p:txBody>
      </p:sp>
      <p:sp>
        <p:nvSpPr>
          <p:cNvPr id="4" name="kotak kode"/>
          <p:cNvSpPr txBox="1"/>
          <p:nvPr/>
        </p:nvSpPr>
        <p:spPr>
          <a:xfrm>
            <a:off x="548640" y="1371600"/>
            <a:ext cx="6583680" cy="3291840"/>
          </a:xfrm>
          <a:prstGeom prst="roundRect">
            <a:avLst>
              <a:gd name="adj" fmla="val 277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Produk</a:t>
            </a:r>
            <a:r>
              <a:rPr lang="en-US" sz="1200" dirty="0">
                <a:solidFill>
                  <a:srgbClr val="E6EDF3"/>
                </a:solidFill>
                <a:latin typeface="Consolas" pitchFamily="34" charset="0"/>
                <a:ea typeface="Consolas" pitchFamily="34" charset="-122"/>
                <a:cs typeface="Consolas" pitchFamily="34" charset="-120"/>
              </a:rPr>
              <a:t>&gt; daftar =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(data)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'products'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isi}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.map((</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 item)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Produk</a:t>
            </a:r>
            <a:r>
              <a:rPr lang="en-US" sz="1200" dirty="0">
                <a:solidFill>
                  <a:srgbClr val="E6EDF3"/>
                </a:solidFill>
                <a:latin typeface="Consolas" pitchFamily="34" charset="0"/>
                <a:ea typeface="Consolas" pitchFamily="34" charset="-122"/>
                <a:cs typeface="Consolas" pitchFamily="34" charset="-120"/>
              </a:rPr>
              <a:t>.fromJson(item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.toList(),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 =&gt;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'Kunci "products" tidak ditemukan'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Output Contoh 03, bagian 3:</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Harga berupa teks -&gt; FormatException: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Kolom tidak lengkap -&gt; FormatException: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Teks bukan JSON yang sah -&gt; FormatException</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Salah tulis kunci "produk" -&gt; hasilnya null</a:t>
            </a:r>
            <a:endParaRPr lang="en-US" sz="1200" dirty="0"/>
          </a:p>
        </p:txBody>
      </p:sp>
      <p:sp>
        <p:nvSpPr>
          <p:cNvPr id="5" name="tombol tautan">
            <a:hlinkClick r:id="rId1" tooltip="https://github.com/antonprafanto/mobile2026/blob/main/pertemuan_10_async_dan_rest_api/kode/contoh_03_json_dan_model.dart"/>
          </p:cNvPr>
          <p:cNvSpPr txBox="1"/>
          <p:nvPr/>
        </p:nvSpPr>
        <p:spPr>
          <a:xfrm>
            <a:off x="548640" y="4892040"/>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contoh_03_json_dan_model.dart</a:t>
            </a:r>
            <a:endParaRPr lang="en-US" sz="1300" dirty="0"/>
          </a:p>
        </p:txBody>
      </p:sp>
      <p:pic>
        <p:nvPicPr>
          <p:cNvPr id="6" name="Image 0" descr="ikon tautan">
            <a:hlinkClick r:id="rId3" tooltip="https://github.com/antonprafanto/mobile2026/blob/main/pertemuan_10_async_dan_rest_api/kode/contoh_03_json_dan_model.dart"/>
          </p:cNvPr>
          <p:cNvPicPr>
            <a:picLocks noChangeAspect="1"/>
          </p:cNvPicPr>
          <p:nvPr/>
        </p:nvPicPr>
        <p:blipFill>
          <a:blip r:embed="rId2"/>
          <a:stretch>
            <a:fillRect/>
          </a:stretch>
        </p:blipFill>
        <p:spPr>
          <a:xfrm>
            <a:off x="694944" y="4983480"/>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Jawaban daftar biasanya objek yang berisi larik: {"products": [...], "total": 194}.</a:t>
            </a:r>
            <a:endParaRPr lang="en-US" sz="1700" dirty="0"/>
          </a:p>
          <a:p>
            <a:pPr marL="228600" indent="-228600">
              <a:spcAft>
                <a:spcPts val="800"/>
              </a:spcAft>
              <a:buSzPct val="100000"/>
              <a:buChar char="•"/>
            </a:pPr>
            <a:r>
              <a:rPr lang="en-US" sz="1700" dirty="0">
                <a:solidFill>
                  <a:schemeClr val="tx1"/>
                </a:solidFill>
              </a:rPr>
              <a:t>Paling berbahaya: salah tulis kunci TIDAK menimbulkan error, hanya null.</a:t>
            </a:r>
            <a:endParaRPr lang="en-US" sz="1700" dirty="0"/>
          </a:p>
          <a:p>
            <a:pPr marL="228600" indent="-228600">
              <a:spcAft>
                <a:spcPts val="800"/>
              </a:spcAft>
              <a:buSzPct val="100000"/>
              <a:buChar char="•"/>
            </a:pPr>
            <a:r>
              <a:rPr lang="en-US" sz="1700" dirty="0">
                <a:solidFill>
                  <a:schemeClr val="tx1"/>
                </a:solidFill>
              </a:rPr>
              <a:t>Kebalikannya: toJson() → jsonEncode untuk mengirim.</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FutureBuilder dan Jebakannya</a:t>
            </a:r>
            <a:endParaRPr lang="en-US" sz="4000" dirty="0"/>
          </a:p>
        </p:txBody>
      </p:sp>
      <p:sp>
        <p:nvSpPr>
          <p:cNvPr id="5" name="lingkaran jam"/>
          <p:cNvSpPr/>
          <p:nvPr/>
        </p:nvSpPr>
        <p:spPr>
          <a:xfrm>
            <a:off x="1097280" y="2148840"/>
            <a:ext cx="2011680" cy="2011680"/>
          </a:xfrm>
          <a:prstGeom prst="ellipse">
            <a:avLst/>
          </a:prstGeom>
          <a:solidFill>
            <a:schemeClr val="accent1"/>
          </a:solidFill>
          <a:ln/>
        </p:spPr>
      </p:sp>
      <p:pic>
        <p:nvPicPr>
          <p:cNvPr id="6" name="Image 0" descr="jam">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FutureBuilder: Tiga Keadaan</a:t>
            </a:r>
            <a:endParaRPr lang="en-US" sz="3200" dirty="0"/>
          </a:p>
        </p:txBody>
      </p:sp>
      <p:sp>
        <p:nvSpPr>
          <p:cNvPr id="4" name="kotak kode"/>
          <p:cNvSpPr txBox="1"/>
          <p:nvPr/>
        </p:nvSpPr>
        <p:spPr>
          <a:xfrm>
            <a:off x="548640" y="1371600"/>
            <a:ext cx="6400800" cy="3291840"/>
          </a:xfrm>
          <a:prstGeom prst="roundRect">
            <a:avLst>
              <a:gd name="adj" fmla="val 277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FutureBuilder</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Tugas</a:t>
            </a:r>
            <a:r>
              <a:rPr lang="en-US" sz="1200" dirty="0">
                <a:solidFill>
                  <a:srgbClr val="E6EDF3"/>
                </a:solidFill>
                <a:latin typeface="Consolas" pitchFamily="34" charset="0"/>
                <a:ea typeface="Consolas" pitchFamily="34" charset="-122"/>
                <a:cs typeface="Consolas" pitchFamily="34" charset="-120"/>
              </a:rPr>
              <a:t>&gt;&gt;(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future: _tugas, </a:t>
            </a:r>
            <a:r>
              <a:rPr lang="en-US" sz="1200" i="1" dirty="0">
                <a:solidFill>
                  <a:srgbClr val="8FA3BC"/>
                </a:solidFill>
                <a:latin typeface="Consolas" pitchFamily="34" charset="0"/>
                <a:ea typeface="Consolas" pitchFamily="34" charset="-122"/>
                <a:cs typeface="Consolas" pitchFamily="34" charset="-120"/>
              </a:rPr>
              <a:t>// Future yang SUDAH disimpan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builder: (</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AsyncSnapshot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Tugas</a:t>
            </a:r>
            <a:r>
              <a:rPr lang="en-US" sz="1200" dirty="0">
                <a:solidFill>
                  <a:srgbClr val="E6EDF3"/>
                </a:solidFill>
                <a:latin typeface="Consolas" pitchFamily="34" charset="0"/>
                <a:ea typeface="Consolas" pitchFamily="34" charset="-122"/>
                <a:cs typeface="Consolas" pitchFamily="34" charset="-120"/>
              </a:rPr>
              <a:t>&gt;&gt; snapshot)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(snapshot.connectionState != </a:t>
            </a:r>
            <a:r>
              <a:rPr lang="en-US" sz="1200" dirty="0">
                <a:solidFill>
                  <a:srgbClr val="FFCB6B"/>
                </a:solidFill>
                <a:latin typeface="Consolas" pitchFamily="34" charset="0"/>
                <a:ea typeface="Consolas" pitchFamily="34" charset="-122"/>
                <a:cs typeface="Consolas" pitchFamily="34" charset="-120"/>
              </a:rPr>
              <a:t>ConnectionState</a:t>
            </a:r>
            <a:r>
              <a:rPr lang="en-US" sz="1200" dirty="0">
                <a:solidFill>
                  <a:srgbClr val="E6EDF3"/>
                </a:solidFill>
                <a:latin typeface="Consolas" pitchFamily="34" charset="0"/>
                <a:ea typeface="Consolas" pitchFamily="34" charset="-122"/>
                <a:cs typeface="Consolas" pitchFamily="34" charset="-120"/>
              </a:rPr>
              <a:t>.done)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Center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child: </a:t>
            </a:r>
            <a:r>
              <a:rPr lang="en-US" sz="1200" dirty="0">
                <a:solidFill>
                  <a:srgbClr val="FFCB6B"/>
                </a:solidFill>
                <a:latin typeface="Consolas" pitchFamily="34" charset="0"/>
                <a:ea typeface="Consolas" pitchFamily="34" charset="-122"/>
                <a:cs typeface="Consolas" pitchFamily="34" charset="-120"/>
              </a:rPr>
              <a:t>CircularProgressIndicator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(snapshot.hasError)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Text</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'Gagal memuat: ${snapshot.error}'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Tugas</a:t>
            </a:r>
            <a:r>
              <a:rPr lang="en-US" sz="1200" dirty="0">
                <a:solidFill>
                  <a:srgbClr val="E6EDF3"/>
                </a:solidFill>
                <a:latin typeface="Consolas" pitchFamily="34" charset="0"/>
                <a:ea typeface="Consolas" pitchFamily="34" charset="-122"/>
                <a:cs typeface="Consolas" pitchFamily="34" charset="-120"/>
              </a:rPr>
              <a:t>&gt; daftar = snapshot.data!;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ListView</a:t>
            </a:r>
            <a:r>
              <a:rPr lang="en-US" sz="1200" dirty="0">
                <a:solidFill>
                  <a:srgbClr val="E6EDF3"/>
                </a:solidFill>
                <a:latin typeface="Consolas" pitchFamily="34" charset="0"/>
                <a:ea typeface="Consolas" pitchFamily="34" charset="-122"/>
                <a:cs typeface="Consolas" pitchFamily="34" charset="-120"/>
              </a:rPr>
              <a:t>.builder(</a:t>
            </a:r>
            <a:r>
              <a:rPr lang="en-US" sz="1200" i="1" dirty="0">
                <a:solidFill>
                  <a:srgbClr val="8FA3BC"/>
                </a:solidFill>
                <a:latin typeface="Consolas" pitchFamily="34" charset="0"/>
                <a:ea typeface="Consolas" pitchFamily="34" charset="-122"/>
                <a:cs typeface="Consolas" pitchFamily="34" charset="-120"/>
              </a:rPr>
              <a:t>/* ...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0_async_dan_rest_api/kode/contoh_04_futurebuilder.dart"/>
          </p:cNvPr>
          <p:cNvSpPr txBox="1"/>
          <p:nvPr/>
        </p:nvSpPr>
        <p:spPr>
          <a:xfrm>
            <a:off x="548640" y="489204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contoh_04_futurebuilder.dart</a:t>
            </a:r>
            <a:endParaRPr lang="en-US" sz="1300" dirty="0"/>
          </a:p>
        </p:txBody>
      </p:sp>
      <p:pic>
        <p:nvPicPr>
          <p:cNvPr id="6" name="Image 0" descr="ikon tautan">
            <a:hlinkClick r:id="rId3" tooltip="https://github.com/antonprafanto/mobile2026/blob/main/pertemuan_10_async_dan_rest_api/kode/contoh_04_futurebuilder.dart"/>
          </p:cNvPr>
          <p:cNvPicPr>
            <a:picLocks noChangeAspect="1"/>
          </p:cNvPicPr>
          <p:nvPr/>
        </p:nvPicPr>
        <p:blipFill>
          <a:blip r:embed="rId2"/>
          <a:stretch>
            <a:fillRect/>
          </a:stretch>
        </p:blipFill>
        <p:spPr>
          <a:xfrm>
            <a:off x="694944" y="498348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snapshot = "potret" keadaan Future saat ini.</a:t>
            </a:r>
            <a:endParaRPr lang="en-US" sz="1700" dirty="0"/>
          </a:p>
          <a:p>
            <a:pPr marL="228600" indent="-228600">
              <a:spcAft>
                <a:spcPts val="800"/>
              </a:spcAft>
              <a:buSzPct val="100000"/>
              <a:buChar char="•"/>
            </a:pPr>
            <a:r>
              <a:rPr lang="en-US" sz="1700" dirty="0">
                <a:solidFill>
                  <a:schemeClr val="tx1"/>
                </a:solidFill>
              </a:rPr>
              <a:t>connectionState: waiting (menunggu) atau done (selesai).</a:t>
            </a:r>
            <a:endParaRPr lang="en-US" sz="1700" dirty="0"/>
          </a:p>
          <a:p>
            <a:pPr marL="228600" indent="-228600">
              <a:spcAft>
                <a:spcPts val="800"/>
              </a:spcAft>
              <a:buSzPct val="100000"/>
              <a:buChar char="•"/>
            </a:pPr>
            <a:r>
              <a:rPr lang="en-US" sz="1700" dirty="0">
                <a:solidFill>
                  <a:schemeClr val="tx1"/>
                </a:solidFill>
              </a:rPr>
              <a:t>hasError / error: selesai dengan error.</a:t>
            </a:r>
            <a:endParaRPr lang="en-US" sz="1700" dirty="0"/>
          </a:p>
          <a:p>
            <a:pPr marL="228600" indent="-228600">
              <a:spcAft>
                <a:spcPts val="800"/>
              </a:spcAft>
              <a:buSzPct val="100000"/>
              <a:buChar char="•"/>
            </a:pPr>
            <a:r>
              <a:rPr lang="en-US" sz="1700" dirty="0">
                <a:solidFill>
                  <a:schemeClr val="tx1"/>
                </a:solidFill>
              </a:rPr>
              <a:t>data: hasilnya jika berhasil.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Jebakan: Membuat Future di Dalam build</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4.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SALAH: permintaan baru setiap build()</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Widget</a:t>
            </a:r>
            <a:r>
              <a:rPr lang="en-US" sz="1200" dirty="0">
                <a:solidFill>
                  <a:srgbClr val="E6EDF3"/>
                </a:solidFill>
                <a:latin typeface="Consolas" pitchFamily="34" charset="0"/>
                <a:ea typeface="Consolas" pitchFamily="34" charset="-122"/>
                <a:cs typeface="Consolas" pitchFamily="34" charset="-120"/>
              </a:rPr>
              <a:t> build(</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FutureBuilder</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Tugas</a:t>
            </a:r>
            <a:r>
              <a:rPr lang="en-US" sz="1200" dirty="0">
                <a:solidFill>
                  <a:srgbClr val="E6EDF3"/>
                </a:solidFill>
                <a:latin typeface="Consolas" pitchFamily="34" charset="0"/>
                <a:ea typeface="Consolas" pitchFamily="34" charset="-122"/>
                <a:cs typeface="Consolas" pitchFamily="34" charset="-120"/>
              </a:rPr>
              <a:t>&gt;&gt;(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future: ambilTugas(),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builder: </a:t>
            </a:r>
            <a:r>
              <a:rPr lang="en-US" sz="1200" i="1" dirty="0">
                <a:solidFill>
                  <a:srgbClr val="8FA3BC"/>
                </a:solidFill>
                <a:latin typeface="Consolas" pitchFamily="34" charset="0"/>
                <a:ea typeface="Consolas" pitchFamily="34" charset="-122"/>
                <a:cs typeface="Consolas" pitchFamily="34" charset="-120"/>
              </a:rPr>
              <a:t>/* ...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BENAR: dibuat sekali, lalu disimpan</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late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Tugas</a:t>
            </a:r>
            <a:r>
              <a:rPr lang="en-US" sz="1200" dirty="0">
                <a:solidFill>
                  <a:srgbClr val="E6EDF3"/>
                </a:solidFill>
                <a:latin typeface="Consolas" pitchFamily="34" charset="0"/>
                <a:ea typeface="Consolas" pitchFamily="34" charset="-122"/>
                <a:cs typeface="Consolas" pitchFamily="34" charset="-120"/>
              </a:rPr>
              <a:t>&gt;&gt; _tugas;</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initState()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super</a:t>
            </a:r>
            <a:r>
              <a:rPr lang="en-US" sz="1200" dirty="0">
                <a:solidFill>
                  <a:srgbClr val="E6EDF3"/>
                </a:solidFill>
                <a:latin typeface="Consolas" pitchFamily="34" charset="0"/>
                <a:ea typeface="Consolas" pitchFamily="34" charset="-122"/>
                <a:cs typeface="Consolas" pitchFamily="34" charset="-120"/>
              </a:rPr>
              <a:t>.initState();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_tugas = ambilTugas();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10_async_dan_rest_api/kode/contoh_04_futurebuilder.dart"/>
          </p:cNvPr>
          <p:cNvSpPr txBox="1"/>
          <p:nvPr/>
        </p:nvSpPr>
        <p:spPr>
          <a:xfrm>
            <a:off x="548640" y="4654296"/>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contoh_04_futurebuilder.dart</a:t>
            </a:r>
            <a:endParaRPr lang="en-US" sz="1300" dirty="0"/>
          </a:p>
        </p:txBody>
      </p:sp>
      <p:pic>
        <p:nvPicPr>
          <p:cNvPr id="8" name="Image 1" descr="ikon tautan">
            <a:hlinkClick r:id="rId4" tooltip="https://github.com/antonprafanto/mobile2026/blob/main/pertemuan_10_async_dan_rest_api/kode/contoh_04_futurebuilder.dart"/>
          </p:cNvPr>
          <p:cNvPicPr>
            <a:picLocks noChangeAspect="1"/>
          </p:cNvPicPr>
          <p:nvPr/>
        </p:nvPicPr>
        <p:blipFill>
          <a:blip r:embed="rId3"/>
          <a:stretch>
            <a:fillRect/>
          </a:stretch>
        </p:blipFill>
        <p:spPr>
          <a:xfrm>
            <a:off x="694944" y="4745736"/>
            <a:ext cx="274320" cy="274320"/>
          </a:xfrm>
          <a:prstGeom prst="rect">
            <a:avLst/>
          </a:prstGeom>
        </p:spPr>
      </p:pic>
      <p:sp>
        <p:nvSpPr>
          <p:cNvPr id="9" name="daftar poin"/>
          <p:cNvSpPr txBox="1"/>
          <p:nvPr/>
        </p:nvSpPr>
        <p:spPr>
          <a:xfrm>
            <a:off x="548640" y="5385816"/>
            <a:ext cx="7608319" cy="832104"/>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build boleh berjalan kapan saja: setState, ukuran layar berubah, tema berganti.</a:t>
            </a:r>
            <a:endParaRPr lang="en-US" sz="1500" dirty="0"/>
          </a:p>
          <a:p>
            <a:pPr marL="228600" indent="-228600">
              <a:spcAft>
                <a:spcPts val="800"/>
              </a:spcAft>
              <a:buSzPct val="100000"/>
              <a:buChar char="•"/>
            </a:pPr>
            <a:r>
              <a:rPr lang="en-US" sz="1500" dirty="0">
                <a:solidFill>
                  <a:schemeClr val="tx1"/>
                </a:solidFill>
              </a:rPr>
              <a:t>Nyalakan sakelar "cara salah", tekan Bangun ulang layar: angka Permintaan terkirim terus bertambah.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Menangani Galat Jaringan</a:t>
            </a:r>
            <a:endParaRPr lang="en-US" sz="4000" dirty="0"/>
          </a:p>
        </p:txBody>
      </p:sp>
      <p:sp>
        <p:nvSpPr>
          <p:cNvPr id="5" name="lingkaran awanputus"/>
          <p:cNvSpPr/>
          <p:nvPr/>
        </p:nvSpPr>
        <p:spPr>
          <a:xfrm>
            <a:off x="1097280" y="2148840"/>
            <a:ext cx="2011680" cy="2011680"/>
          </a:xfrm>
          <a:prstGeom prst="ellipse">
            <a:avLst/>
          </a:prstGeom>
          <a:solidFill>
            <a:schemeClr val="accent1"/>
          </a:solidFill>
          <a:ln/>
        </p:spPr>
      </p:sp>
      <p:pic>
        <p:nvPicPr>
          <p:cNvPr id="6" name="Image 0" descr="awanputu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Empat Jenis Kegagalan</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399509"/>
                <a:gridCol w="3251811"/>
                <a:gridCol w="3443094"/>
              </a:tblGrid>
              <a:tr h="6858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Yang terjadi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Exception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Dari mana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 ada koneksi, alamat server salah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http.ClientException</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Paket http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Server terlalu lama menjawab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TimeoutException</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.timeout(...) yang kita pasang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Kode status bukan 200</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ApiException</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Pemeriksaan statusCode (buatan kita)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Isi bukan JSON, atau bentuknya salah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FormatException</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jsonDecode atau pola di fromJson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Tanpa batas waktu, permintaan ke server yang tidak menjawab bisa menggantung sangat lama. Aplikasi sungguhan: 10–15 detik.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Fungsi Pengambil yang Melempar Galat yang Jelas</a:t>
            </a:r>
            <a:endParaRPr lang="en-US" sz="3200" dirty="0"/>
          </a:p>
        </p:txBody>
      </p:sp>
      <p:sp>
        <p:nvSpPr>
          <p:cNvPr id="4" name="kotak kode"/>
          <p:cNvSpPr txBox="1"/>
          <p:nvPr/>
        </p:nvSpPr>
        <p:spPr>
          <a:xfrm>
            <a:off x="548640" y="1371600"/>
            <a:ext cx="694944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ApiException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implements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ApiException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.kodeStatus);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kodeStatus;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&gt;&gt; ambilJson(</a:t>
            </a:r>
            <a:r>
              <a:rPr lang="en-US" sz="1200" dirty="0">
                <a:solidFill>
                  <a:srgbClr val="FFCB6B"/>
                </a:solidFill>
                <a:latin typeface="Consolas" pitchFamily="34" charset="0"/>
                <a:ea typeface="Consolas" pitchFamily="34" charset="-122"/>
                <a:cs typeface="Consolas" pitchFamily="34" charset="-120"/>
              </a:rPr>
              <a:t>Uri</a:t>
            </a:r>
            <a:r>
              <a:rPr lang="en-US" sz="1200" dirty="0">
                <a:solidFill>
                  <a:srgbClr val="E6EDF3"/>
                </a:solidFill>
                <a:latin typeface="Consolas" pitchFamily="34" charset="0"/>
                <a:ea typeface="Consolas" pitchFamily="34" charset="-122"/>
                <a:cs typeface="Consolas" pitchFamily="34" charset="-120"/>
              </a:rPr>
              <a:t> alamat)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Response</a:t>
            </a:r>
            <a:r>
              <a:rPr lang="en-US" sz="1200" dirty="0">
                <a:solidFill>
                  <a:srgbClr val="E6EDF3"/>
                </a:solidFill>
                <a:latin typeface="Consolas" pitchFamily="34" charset="0"/>
                <a:ea typeface="Consolas" pitchFamily="34" charset="-122"/>
                <a:cs typeface="Consolas" pitchFamily="34" charset="-120"/>
              </a:rPr>
              <a:t> respons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http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get</a:t>
            </a:r>
            <a:r>
              <a:rPr lang="en-US" sz="1200" dirty="0">
                <a:solidFill>
                  <a:srgbClr val="E6EDF3"/>
                </a:solidFill>
                <a:latin typeface="Consolas" pitchFamily="34" charset="0"/>
                <a:ea typeface="Consolas" pitchFamily="34" charset="-122"/>
                <a:cs typeface="Consolas" pitchFamily="34" charset="-120"/>
              </a:rPr>
              <a:t>(alamat, headers: {</a:t>
            </a:r>
            <a:r>
              <a:rPr lang="en-US" sz="1200" dirty="0">
                <a:solidFill>
                  <a:srgbClr val="C3E88D"/>
                </a:solidFill>
                <a:latin typeface="Consolas" pitchFamily="34" charset="0"/>
                <a:ea typeface="Consolas" pitchFamily="34" charset="-122"/>
                <a:cs typeface="Consolas" pitchFamily="34" charset="-120"/>
              </a:rPr>
              <a:t>'Accept'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'application/json'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.timeout(batasWaktu); </a:t>
            </a:r>
            <a:r>
              <a:rPr lang="en-US" sz="1200" i="1" dirty="0">
                <a:solidFill>
                  <a:srgbClr val="8FA3BC"/>
                </a:solidFill>
                <a:latin typeface="Consolas" pitchFamily="34" charset="0"/>
                <a:ea typeface="Consolas" pitchFamily="34" charset="-122"/>
                <a:cs typeface="Consolas" pitchFamily="34" charset="-120"/>
              </a:rPr>
              <a:t>// TimeoutException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(respons.statusCode != </a:t>
            </a:r>
            <a:r>
              <a:rPr lang="en-US" sz="1200" dirty="0">
                <a:solidFill>
                  <a:srgbClr val="F78C6C"/>
                </a:solidFill>
                <a:latin typeface="Consolas" pitchFamily="34" charset="0"/>
                <a:ea typeface="Consolas" pitchFamily="34" charset="-122"/>
                <a:cs typeface="Consolas" pitchFamily="34" charset="-120"/>
              </a:rPr>
              <a:t>200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ApiException</a:t>
            </a:r>
            <a:r>
              <a:rPr lang="en-US" sz="1200" dirty="0">
                <a:solidFill>
                  <a:srgbClr val="E6EDF3"/>
                </a:solidFill>
                <a:latin typeface="Consolas" pitchFamily="34" charset="0"/>
                <a:ea typeface="Consolas" pitchFamily="34" charset="-122"/>
                <a:cs typeface="Consolas" pitchFamily="34" charset="-120"/>
              </a:rPr>
              <a:t>(respons.statusCode);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FormatException jika bukan JSON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Object</a:t>
            </a:r>
            <a:r>
              <a:rPr lang="en-US" sz="1200" dirty="0">
                <a:solidFill>
                  <a:srgbClr val="E6EDF3"/>
                </a:solidFill>
                <a:latin typeface="Consolas" pitchFamily="34" charset="0"/>
                <a:ea typeface="Consolas" pitchFamily="34" charset="-122"/>
                <a:cs typeface="Consolas" pitchFamily="34" charset="-120"/>
              </a:rPr>
              <a:t>? data = jsonDecode(respons.body);</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(data </a:t>
            </a:r>
            <a:r>
              <a:rPr lang="en-US" sz="1200" dirty="0">
                <a:solidFill>
                  <a:srgbClr val="C792EA"/>
                </a:solidFill>
                <a:latin typeface="Consolas" pitchFamily="34" charset="0"/>
                <a:ea typeface="Consolas" pitchFamily="34" charset="-122"/>
                <a:cs typeface="Consolas" pitchFamily="34" charset="-120"/>
              </a:rPr>
              <a:t>is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'Bentuk JSON tidak dikenal'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data;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0_async_dan_rest_api/kode/contoh_05_menangani_galat.dart"/>
          </p:cNvPr>
          <p:cNvSpPr txBox="1"/>
          <p:nvPr/>
        </p:nvSpPr>
        <p:spPr>
          <a:xfrm>
            <a:off x="548640" y="5660136"/>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contoh_05_menangani_galat.dart</a:t>
            </a:r>
            <a:endParaRPr lang="en-US" sz="1300" dirty="0"/>
          </a:p>
        </p:txBody>
      </p:sp>
      <p:pic>
        <p:nvPicPr>
          <p:cNvPr id="6" name="Image 0" descr="ikon tautan">
            <a:hlinkClick r:id="rId3" tooltip="https://github.com/antonprafanto/mobile2026/blob/main/pertemuan_10_async_dan_rest_api/kode/contoh_05_menangani_galat.dart"/>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Kode status diperiksa SEBELUM jsonDecode.</a:t>
            </a:r>
            <a:endParaRPr lang="en-US" sz="1700" dirty="0"/>
          </a:p>
          <a:p>
            <a:pPr marL="228600" indent="-228600">
              <a:spcAft>
                <a:spcPts val="800"/>
              </a:spcAft>
              <a:buSzPct val="100000"/>
              <a:buChar char="•"/>
            </a:pPr>
            <a:r>
              <a:rPr lang="en-US" sz="1700" dirty="0">
                <a:solidFill>
                  <a:schemeClr val="tx1"/>
                </a:solidFill>
              </a:rPr>
              <a:t>Satu fungsi, empat kemungkinan exception yang jelas.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Exception Menjadi Pesan yang Ramah</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3051810"/>
          </a:xfrm>
          <a:prstGeom prst="roundRect">
            <a:avLst>
              <a:gd name="adj" fmla="val 299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pesanRamah(</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galat)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(galat)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TimeoutException</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'Server terlalu lama menjawab...'</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ApiException</a:t>
            </a:r>
            <a:r>
              <a:rPr lang="en-US" sz="1100" dirty="0">
                <a:solidFill>
                  <a:srgbClr val="E6EDF3"/>
                </a:solidFill>
                <a:latin typeface="Consolas" pitchFamily="34" charset="0"/>
                <a:ea typeface="Consolas" pitchFamily="34" charset="-122"/>
                <a:cs typeface="Consolas" pitchFamily="34" charset="-120"/>
              </a:rPr>
              <a:t>(kodeStatus: </a:t>
            </a:r>
            <a:r>
              <a:rPr lang="en-US" sz="1100" dirty="0">
                <a:solidFill>
                  <a:srgbClr val="F78C6C"/>
                </a:solidFill>
                <a:latin typeface="Consolas" pitchFamily="34" charset="0"/>
                <a:ea typeface="Consolas" pitchFamily="34" charset="-122"/>
                <a:cs typeface="Consolas" pitchFamily="34" charset="-120"/>
              </a:rPr>
              <a:t>404</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'Data yang dicari tidak ditemukan.'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ApiException</a:t>
            </a:r>
            <a:r>
              <a:rPr lang="en-US" sz="1100" dirty="0">
                <a:solidFill>
                  <a:srgbClr val="E6EDF3"/>
                </a:solidFill>
                <a:latin typeface="Consolas" pitchFamily="34" charset="0"/>
                <a:ea typeface="Consolas" pitchFamily="34" charset="-122"/>
                <a:cs typeface="Consolas" pitchFamily="34" charset="-120"/>
              </a:rPr>
              <a:t>(kodeStatus: &gt;= </a:t>
            </a:r>
            <a:r>
              <a:rPr lang="en-US" sz="1100" dirty="0">
                <a:solidFill>
                  <a:srgbClr val="F78C6C"/>
                </a:solidFill>
                <a:latin typeface="Consolas" pitchFamily="34" charset="0"/>
                <a:ea typeface="Consolas" pitchFamily="34" charset="-122"/>
                <a:cs typeface="Consolas" pitchFamily="34" charset="-120"/>
              </a:rPr>
              <a:t>500</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'Server sedang bermasalah...'</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ApiException</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'Permintaan ditolak...'</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FormatException</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3E88D"/>
                </a:solidFill>
                <a:latin typeface="Consolas" pitchFamily="34" charset="0"/>
                <a:ea typeface="Consolas" pitchFamily="34" charset="-122"/>
                <a:cs typeface="Consolas" pitchFamily="34" charset="-120"/>
              </a:rPr>
              <a:t>'Data ... tidak bisa dibaca.'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ClientException</a:t>
            </a:r>
            <a:r>
              <a:rPr lang="en-US" sz="1100" dirty="0">
                <a:solidFill>
                  <a:srgbClr val="E6EDF3"/>
                </a:solidFill>
                <a:latin typeface="Consolas" pitchFamily="34" charset="0"/>
                <a:ea typeface="Consolas" pitchFamily="34" charset="-122"/>
                <a:cs typeface="Consolas" pitchFamily="34" charset="-120"/>
              </a:rPr>
              <a:t>()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'Tidak dapat terhubung...'</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 =&gt; </a:t>
            </a:r>
            <a:r>
              <a:rPr lang="en-US" sz="1100" dirty="0">
                <a:solidFill>
                  <a:srgbClr val="C3E88D"/>
                </a:solidFill>
                <a:latin typeface="Consolas" pitchFamily="34" charset="0"/>
                <a:ea typeface="Consolas" pitchFamily="34" charset="-122"/>
                <a:cs typeface="Consolas" pitchFamily="34" charset="-120"/>
              </a:rPr>
              <a:t>'Terjadi kesalahan yang tidak terduga.'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9" name="tombol tautan">
            <a:hlinkClick r:id="rId3" tooltip="https://github.com/antonprafanto/mobile2026/blob/main/pertemuan_10_async_dan_rest_api/kode/contoh_05_menangani_galat.dart"/>
          </p:cNvPr>
          <p:cNvSpPr txBox="1"/>
          <p:nvPr/>
        </p:nvSpPr>
        <p:spPr>
          <a:xfrm>
            <a:off x="548640" y="4606290"/>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contoh_05_menangani_galat.dart</a:t>
            </a:r>
            <a:endParaRPr lang="en-US" sz="1300" dirty="0"/>
          </a:p>
        </p:txBody>
      </p:sp>
      <p:pic>
        <p:nvPicPr>
          <p:cNvPr id="10" name="Image 2" descr="ikon tautan">
            <a:hlinkClick r:id="rId5" tooltip="https://github.com/antonprafanto/mobile2026/blob/main/pertemuan_10_async_dan_rest_api/kode/contoh_05_menangani_galat.dart"/>
          </p:cNvPr>
          <p:cNvPicPr>
            <a:picLocks noChangeAspect="1"/>
          </p:cNvPicPr>
          <p:nvPr/>
        </p:nvPicPr>
        <p:blipFill>
          <a:blip r:embed="rId4"/>
          <a:stretch>
            <a:fillRect/>
          </a:stretch>
        </p:blipFill>
        <p:spPr>
          <a:xfrm>
            <a:off x="694944" y="4697730"/>
            <a:ext cx="274320" cy="274320"/>
          </a:xfrm>
          <a:prstGeom prst="rect">
            <a:avLst/>
          </a:prstGeom>
        </p:spPr>
      </p:pic>
      <p:sp>
        <p:nvSpPr>
          <p:cNvPr id="11" name="daftar poin"/>
          <p:cNvSpPr txBox="1"/>
          <p:nvPr/>
        </p:nvSpPr>
        <p:spPr>
          <a:xfrm>
            <a:off x="548640" y="5337810"/>
            <a:ext cx="5516575" cy="88011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Pola objek: tipe DAN isi properti (kodeStatus: 404, &gt;= 500).</a:t>
            </a:r>
            <a:endParaRPr lang="en-US" sz="1500" dirty="0"/>
          </a:p>
          <a:p>
            <a:pPr marL="228600" indent="-228600">
              <a:spcAft>
                <a:spcPts val="800"/>
              </a:spcAft>
              <a:buSzPct val="100000"/>
              <a:buChar char="•"/>
            </a:pPr>
            <a:r>
              <a:rPr lang="en-US" sz="1500" dirty="0">
                <a:solidFill>
                  <a:schemeClr val="tx1"/>
                </a:solidFill>
              </a:rPr>
              <a:t>Urutan penting: yang khusus SEBELUM yang umum.</a:t>
            </a:r>
            <a:endParaRPr lang="en-US" sz="1500" dirty="0"/>
          </a:p>
          <a:p>
            <a:pPr marL="228600" indent="-228600">
              <a:spcAft>
                <a:spcPts val="800"/>
              </a:spcAft>
              <a:buSzPct val="100000"/>
              <a:buChar char="•"/>
            </a:pPr>
            <a:r>
              <a:rPr lang="en-US" sz="1500" dirty="0">
                <a:solidFill>
                  <a:schemeClr val="tx1"/>
                </a:solidFill>
              </a:rPr>
              <a:t>Detail teknis → debugPrint; pengguna → kalimat jelas + Coba lagi.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Lapisan Data: Layanan dan Repository</a:t>
            </a:r>
            <a:endParaRPr lang="en-US" sz="4000" dirty="0"/>
          </a:p>
        </p:txBody>
      </p:sp>
      <p:sp>
        <p:nvSpPr>
          <p:cNvPr id="5" name="lingkaran lapisan"/>
          <p:cNvSpPr/>
          <p:nvPr/>
        </p:nvSpPr>
        <p:spPr>
          <a:xfrm>
            <a:off x="1097280" y="2148840"/>
            <a:ext cx="2011680" cy="2011680"/>
          </a:xfrm>
          <a:prstGeom prst="ellipse">
            <a:avLst/>
          </a:prstGeom>
          <a:solidFill>
            <a:schemeClr val="accent1"/>
          </a:solidFill>
          <a:ln/>
        </p:spPr>
      </p:sp>
      <p:pic>
        <p:nvPicPr>
          <p:cNvPr id="6" name="Image 0" descr="lapis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Siapa Mengerjakan Apa?</a:t>
            </a:r>
            <a:endParaRPr lang="en-US" sz="3200" dirty="0"/>
          </a:p>
        </p:txBody>
      </p:sp>
      <p:sp>
        <p:nvSpPr>
          <p:cNvPr id="4" name="lapisan 1"/>
          <p:cNvSpPr/>
          <p:nvPr/>
        </p:nvSpPr>
        <p:spPr>
          <a:xfrm>
            <a:off x="548640" y="1371600"/>
            <a:ext cx="6583680" cy="813816"/>
          </a:xfrm>
          <a:prstGeom prst="roundRect">
            <a:avLst>
              <a:gd name="adj" fmla="val 13483"/>
            </a:avLst>
          </a:prstGeom>
          <a:solidFill>
            <a:schemeClr val="bg2"/>
          </a:solidFill>
          <a:ln/>
        </p:spPr>
      </p:sp>
      <p:sp>
        <p:nvSpPr>
          <p:cNvPr id="5" name="lingkaran hp"/>
          <p:cNvSpPr/>
          <p:nvPr/>
        </p:nvSpPr>
        <p:spPr>
          <a:xfrm>
            <a:off x="731520" y="1458468"/>
            <a:ext cx="640080" cy="64008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872338" y="1599286"/>
            <a:ext cx="358445" cy="358445"/>
          </a:xfrm>
          <a:prstGeom prst="rect">
            <a:avLst/>
          </a:prstGeom>
        </p:spPr>
      </p:pic>
      <p:sp>
        <p:nvSpPr>
          <p:cNvPr id="7" name="Text 3"/>
          <p:cNvSpPr txBox="1"/>
          <p:nvPr/>
        </p:nvSpPr>
        <p:spPr>
          <a:xfrm>
            <a:off x="1554480" y="1371600"/>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View (widget)</a:t>
            </a:r>
            <a:endParaRPr lang="en-US" sz="1800" dirty="0"/>
          </a:p>
          <a:p>
            <a:pPr indent="0" marL="0">
              <a:buNone/>
            </a:pPr>
            <a:r>
              <a:rPr lang="en-US" sz="1500" dirty="0">
                <a:solidFill>
                  <a:schemeClr val="tx1"/>
                </a:solidFill>
              </a:rPr>
              <a:t>Menampilkan dan meneruskan perintah pengguna</a:t>
            </a:r>
            <a:endParaRPr lang="en-US" sz="1800" dirty="0"/>
          </a:p>
        </p:txBody>
      </p:sp>
      <p:sp>
        <p:nvSpPr>
          <p:cNvPr id="8" name="Shape 4"/>
          <p:cNvSpPr/>
          <p:nvPr/>
        </p:nvSpPr>
        <p:spPr>
          <a:xfrm>
            <a:off x="3703320" y="2167128"/>
            <a:ext cx="274320" cy="219456"/>
          </a:xfrm>
          <a:prstGeom prst="downArrow">
            <a:avLst/>
          </a:prstGeom>
          <a:solidFill>
            <a:schemeClr val="accent2"/>
          </a:solidFill>
          <a:ln/>
        </p:spPr>
      </p:sp>
      <p:sp>
        <p:nvSpPr>
          <p:cNvPr id="9" name="lapisan 2"/>
          <p:cNvSpPr/>
          <p:nvPr/>
        </p:nvSpPr>
        <p:spPr>
          <a:xfrm>
            <a:off x="548640" y="2368296"/>
            <a:ext cx="6583680" cy="813816"/>
          </a:xfrm>
          <a:prstGeom prst="roundRect">
            <a:avLst>
              <a:gd name="adj" fmla="val 13483"/>
            </a:avLst>
          </a:prstGeom>
          <a:solidFill>
            <a:schemeClr val="bg2"/>
          </a:solidFill>
          <a:ln/>
        </p:spPr>
      </p:sp>
      <p:sp>
        <p:nvSpPr>
          <p:cNvPr id="10" name="lingkaran restoran"/>
          <p:cNvSpPr/>
          <p:nvPr/>
        </p:nvSpPr>
        <p:spPr>
          <a:xfrm>
            <a:off x="731520" y="2455164"/>
            <a:ext cx="640080" cy="640080"/>
          </a:xfrm>
          <a:prstGeom prst="ellipse">
            <a:avLst/>
          </a:prstGeom>
          <a:solidFill>
            <a:schemeClr val="accent6"/>
          </a:solidFill>
          <a:ln/>
        </p:spPr>
      </p:sp>
      <p:pic>
        <p:nvPicPr>
          <p:cNvPr id="11" name="Image 1" descr="restoran">    </p:cNvPr>
          <p:cNvPicPr>
            <a:picLocks noChangeAspect="1"/>
          </p:cNvPicPr>
          <p:nvPr/>
        </p:nvPicPr>
        <p:blipFill>
          <a:blip r:embed="rId2"/>
          <a:stretch>
            <a:fillRect/>
          </a:stretch>
        </p:blipFill>
        <p:spPr>
          <a:xfrm>
            <a:off x="872338" y="2595982"/>
            <a:ext cx="358445" cy="358445"/>
          </a:xfrm>
          <a:prstGeom prst="rect">
            <a:avLst/>
          </a:prstGeom>
        </p:spPr>
      </p:pic>
      <p:sp>
        <p:nvSpPr>
          <p:cNvPr id="12" name="Text 7"/>
          <p:cNvSpPr txBox="1"/>
          <p:nvPr/>
        </p:nvSpPr>
        <p:spPr>
          <a:xfrm>
            <a:off x="1554480" y="2368296"/>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ViewModel</a:t>
            </a:r>
            <a:endParaRPr lang="en-US" sz="1800" dirty="0"/>
          </a:p>
          <a:p>
            <a:pPr indent="0" marL="0">
              <a:buNone/>
            </a:pPr>
            <a:r>
              <a:rPr lang="en-US" sz="1500" dirty="0">
                <a:solidFill>
                  <a:schemeClr val="tx1"/>
                </a:solidFill>
              </a:rPr>
              <a:t>State halaman dan perintah (Pertemuan 9)</a:t>
            </a:r>
            <a:endParaRPr lang="en-US" sz="1800" dirty="0"/>
          </a:p>
        </p:txBody>
      </p:sp>
      <p:sp>
        <p:nvSpPr>
          <p:cNvPr id="13" name="Shape 8"/>
          <p:cNvSpPr/>
          <p:nvPr/>
        </p:nvSpPr>
        <p:spPr>
          <a:xfrm>
            <a:off x="3703320" y="3163824"/>
            <a:ext cx="274320" cy="219456"/>
          </a:xfrm>
          <a:prstGeom prst="downArrow">
            <a:avLst/>
          </a:prstGeom>
          <a:solidFill>
            <a:schemeClr val="accent2"/>
          </a:solidFill>
          <a:ln/>
        </p:spPr>
      </p:sp>
      <p:sp>
        <p:nvSpPr>
          <p:cNvPr id="14" name="lapisan 3"/>
          <p:cNvSpPr/>
          <p:nvPr/>
        </p:nvSpPr>
        <p:spPr>
          <a:xfrm>
            <a:off x="548640" y="3364992"/>
            <a:ext cx="6583680" cy="813816"/>
          </a:xfrm>
          <a:prstGeom prst="roundRect">
            <a:avLst>
              <a:gd name="adj" fmla="val 13483"/>
            </a:avLst>
          </a:prstGeom>
          <a:solidFill>
            <a:schemeClr val="bg2"/>
          </a:solidFill>
          <a:ln/>
        </p:spPr>
      </p:sp>
      <p:sp>
        <p:nvSpPr>
          <p:cNvPr id="15" name="lingkaran gudang"/>
          <p:cNvSpPr/>
          <p:nvPr/>
        </p:nvSpPr>
        <p:spPr>
          <a:xfrm>
            <a:off x="731520" y="3451860"/>
            <a:ext cx="640080" cy="640080"/>
          </a:xfrm>
          <a:prstGeom prst="ellipse">
            <a:avLst/>
          </a:prstGeom>
          <a:solidFill>
            <a:schemeClr val="accent4"/>
          </a:solidFill>
          <a:ln/>
        </p:spPr>
      </p:sp>
      <p:pic>
        <p:nvPicPr>
          <p:cNvPr id="16" name="Image 2" descr="gudang">    </p:cNvPr>
          <p:cNvPicPr>
            <a:picLocks noChangeAspect="1"/>
          </p:cNvPicPr>
          <p:nvPr/>
        </p:nvPicPr>
        <p:blipFill>
          <a:blip r:embed="rId3"/>
          <a:stretch>
            <a:fillRect/>
          </a:stretch>
        </p:blipFill>
        <p:spPr>
          <a:xfrm>
            <a:off x="872338" y="3592678"/>
            <a:ext cx="358445" cy="358445"/>
          </a:xfrm>
          <a:prstGeom prst="rect">
            <a:avLst/>
          </a:prstGeom>
        </p:spPr>
      </p:pic>
      <p:sp>
        <p:nvSpPr>
          <p:cNvPr id="17" name="Text 11"/>
          <p:cNvSpPr txBox="1"/>
          <p:nvPr/>
        </p:nvSpPr>
        <p:spPr>
          <a:xfrm>
            <a:off x="1554480" y="3364992"/>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Repository</a:t>
            </a:r>
            <a:endParaRPr lang="en-US" sz="1800" dirty="0"/>
          </a:p>
          <a:p>
            <a:pPr indent="0" marL="0">
              <a:buNone/>
            </a:pPr>
            <a:r>
              <a:rPr lang="en-US" sz="1500" dirty="0">
                <a:solidFill>
                  <a:schemeClr val="tx1"/>
                </a:solidFill>
              </a:rPr>
              <a:t>Sumber data bagi ViewModel: JSON → Model</a:t>
            </a:r>
            <a:endParaRPr lang="en-US" sz="1800" dirty="0"/>
          </a:p>
        </p:txBody>
      </p:sp>
      <p:sp>
        <p:nvSpPr>
          <p:cNvPr id="18" name="Shape 12"/>
          <p:cNvSpPr/>
          <p:nvPr/>
        </p:nvSpPr>
        <p:spPr>
          <a:xfrm>
            <a:off x="3703320" y="4160520"/>
            <a:ext cx="274320" cy="219456"/>
          </a:xfrm>
          <a:prstGeom prst="downArrow">
            <a:avLst/>
          </a:prstGeom>
          <a:solidFill>
            <a:schemeClr val="accent2"/>
          </a:solidFill>
          <a:ln/>
        </p:spPr>
      </p:sp>
      <p:sp>
        <p:nvSpPr>
          <p:cNvPr id="19" name="lapisan 4"/>
          <p:cNvSpPr/>
          <p:nvPr/>
        </p:nvSpPr>
        <p:spPr>
          <a:xfrm>
            <a:off x="548640" y="4361688"/>
            <a:ext cx="6583680" cy="813816"/>
          </a:xfrm>
          <a:prstGeom prst="roundRect">
            <a:avLst>
              <a:gd name="adj" fmla="val 13483"/>
            </a:avLst>
          </a:prstGeom>
          <a:solidFill>
            <a:schemeClr val="bg2"/>
          </a:solidFill>
          <a:ln/>
        </p:spPr>
      </p:sp>
      <p:sp>
        <p:nvSpPr>
          <p:cNvPr id="20" name="lingkaran kurir"/>
          <p:cNvSpPr/>
          <p:nvPr/>
        </p:nvSpPr>
        <p:spPr>
          <a:xfrm>
            <a:off x="731520" y="4448556"/>
            <a:ext cx="640080" cy="640080"/>
          </a:xfrm>
          <a:prstGeom prst="ellipse">
            <a:avLst/>
          </a:prstGeom>
          <a:solidFill>
            <a:schemeClr val="accent5"/>
          </a:solidFill>
          <a:ln/>
        </p:spPr>
      </p:sp>
      <p:pic>
        <p:nvPicPr>
          <p:cNvPr id="21" name="Image 3" descr="kurir">    </p:cNvPr>
          <p:cNvPicPr>
            <a:picLocks noChangeAspect="1"/>
          </p:cNvPicPr>
          <p:nvPr/>
        </p:nvPicPr>
        <p:blipFill>
          <a:blip r:embed="rId4"/>
          <a:stretch>
            <a:fillRect/>
          </a:stretch>
        </p:blipFill>
        <p:spPr>
          <a:xfrm>
            <a:off x="872338" y="4589374"/>
            <a:ext cx="358445" cy="358445"/>
          </a:xfrm>
          <a:prstGeom prst="rect">
            <a:avLst/>
          </a:prstGeom>
        </p:spPr>
      </p:pic>
      <p:sp>
        <p:nvSpPr>
          <p:cNvPr id="22" name="Text 15"/>
          <p:cNvSpPr txBox="1"/>
          <p:nvPr/>
        </p:nvSpPr>
        <p:spPr>
          <a:xfrm>
            <a:off x="1554480" y="4361688"/>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Layanan (service)</a:t>
            </a:r>
            <a:endParaRPr lang="en-US" sz="1800" dirty="0"/>
          </a:p>
          <a:p>
            <a:pPr indent="0" marL="0">
              <a:buNone/>
            </a:pPr>
            <a:r>
              <a:rPr lang="en-US" sz="1500" dirty="0">
                <a:solidFill>
                  <a:schemeClr val="tx1"/>
                </a:solidFill>
              </a:rPr>
              <a:t>HTTP + JSON: alamat, permintaan, kode status. Tanpa state, tanpa Model</a:t>
            </a:r>
            <a:endParaRPr lang="en-US" sz="1800" dirty="0"/>
          </a:p>
        </p:txBody>
      </p:sp>
      <p:sp>
        <p:nvSpPr>
          <p:cNvPr id="23" name="Shape 16"/>
          <p:cNvSpPr/>
          <p:nvPr/>
        </p:nvSpPr>
        <p:spPr>
          <a:xfrm>
            <a:off x="3703320" y="5157216"/>
            <a:ext cx="274320" cy="219456"/>
          </a:xfrm>
          <a:prstGeom prst="downArrow">
            <a:avLst/>
          </a:prstGeom>
          <a:solidFill>
            <a:schemeClr val="accent2"/>
          </a:solidFill>
          <a:ln/>
        </p:spPr>
      </p:sp>
      <p:sp>
        <p:nvSpPr>
          <p:cNvPr id="24" name="lapisan 5"/>
          <p:cNvSpPr/>
          <p:nvPr/>
        </p:nvSpPr>
        <p:spPr>
          <a:xfrm>
            <a:off x="548640" y="5358384"/>
            <a:ext cx="6583680" cy="813816"/>
          </a:xfrm>
          <a:prstGeom prst="roundRect">
            <a:avLst>
              <a:gd name="adj" fmla="val 13483"/>
            </a:avLst>
          </a:prstGeom>
          <a:solidFill>
            <a:schemeClr val="bg2"/>
          </a:solidFill>
          <a:ln/>
        </p:spPr>
      </p:sp>
      <p:sp>
        <p:nvSpPr>
          <p:cNvPr id="25" name="lingkaran server"/>
          <p:cNvSpPr/>
          <p:nvPr/>
        </p:nvSpPr>
        <p:spPr>
          <a:xfrm>
            <a:off x="731520" y="5445252"/>
            <a:ext cx="640080" cy="640080"/>
          </a:xfrm>
          <a:prstGeom prst="ellipse">
            <a:avLst/>
          </a:prstGeom>
          <a:solidFill>
            <a:schemeClr val="tx2"/>
          </a:solidFill>
          <a:ln/>
        </p:spPr>
      </p:sp>
      <p:pic>
        <p:nvPicPr>
          <p:cNvPr id="26" name="Image 4" descr="server">    </p:cNvPr>
          <p:cNvPicPr>
            <a:picLocks noChangeAspect="1"/>
          </p:cNvPicPr>
          <p:nvPr/>
        </p:nvPicPr>
        <p:blipFill>
          <a:blip r:embed="rId5"/>
          <a:stretch>
            <a:fillRect/>
          </a:stretch>
        </p:blipFill>
        <p:spPr>
          <a:xfrm>
            <a:off x="872338" y="5586070"/>
            <a:ext cx="358445" cy="358445"/>
          </a:xfrm>
          <a:prstGeom prst="rect">
            <a:avLst/>
          </a:prstGeom>
        </p:spPr>
      </p:pic>
      <p:sp>
        <p:nvSpPr>
          <p:cNvPr id="27" name="Text 19"/>
          <p:cNvSpPr txBox="1"/>
          <p:nvPr/>
        </p:nvSpPr>
        <p:spPr>
          <a:xfrm>
            <a:off x="1554480" y="5358384"/>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Server (REST API)</a:t>
            </a:r>
            <a:endParaRPr lang="en-US" sz="1800" dirty="0"/>
          </a:p>
          <a:p>
            <a:pPr indent="0" marL="0">
              <a:buNone/>
            </a:pPr>
            <a:r>
              <a:rPr lang="en-US" sz="1500" dirty="0">
                <a:solidFill>
                  <a:schemeClr val="tx1"/>
                </a:solidFill>
              </a:rPr>
              <a:t>DummyJSON, Open-Meteo, API kampus, ...</a:t>
            </a:r>
            <a:endParaRPr lang="en-US" sz="1800" dirty="0"/>
          </a:p>
        </p:txBody>
      </p:sp>
      <p:sp>
        <p:nvSpPr>
          <p:cNvPr id="28"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Analogi restoran P9 berlanjut: repository = bagian pembelian bahan.</a:t>
            </a:r>
            <a:endParaRPr lang="en-US" sz="1800" dirty="0"/>
          </a:p>
          <a:p>
            <a:pPr marL="228600" indent="-228600">
              <a:spcAft>
                <a:spcPts val="800"/>
              </a:spcAft>
              <a:buSzPct val="100000"/>
              <a:buChar char="•"/>
            </a:pPr>
            <a:r>
              <a:rPr lang="en-US" sz="1800" dirty="0">
                <a:solidFill>
                  <a:schemeClr val="tx1"/>
                </a:solidFill>
              </a:rPr>
              <a:t>Layanan = KURIR ke pasar: tahu cara pergi, membeli, dan membawa pulang.</a:t>
            </a:r>
            <a:endParaRPr lang="en-US" sz="1800" dirty="0"/>
          </a:p>
          <a:p>
            <a:pPr marL="228600" indent="-228600">
              <a:spcAft>
                <a:spcPts val="800"/>
              </a:spcAft>
              <a:buSzPct val="100000"/>
              <a:buChar char="•"/>
            </a:pPr>
            <a:r>
              <a:rPr lang="en-US" sz="1800" dirty="0">
                <a:solidFill>
                  <a:schemeClr val="tx1"/>
                </a:solidFill>
              </a:rPr>
              <a:t>Kurir tidak memutuskan menu apa yang dimasak.</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Layanan: Satu Tempat untuk Urusan HTTP</a:t>
            </a:r>
            <a:endParaRPr lang="en-US" sz="3200" dirty="0"/>
          </a:p>
        </p:txBody>
      </p:sp>
      <p:sp>
        <p:nvSpPr>
          <p:cNvPr id="4" name="kotak kode"/>
          <p:cNvSpPr txBox="1"/>
          <p:nvPr/>
        </p:nvSpPr>
        <p:spPr>
          <a:xfrm>
            <a:off x="548640" y="1371600"/>
            <a:ext cx="676656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LayananDummyJson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LayananDummyJson</a:t>
            </a:r>
            <a:r>
              <a:rPr lang="en-US" sz="1100" dirty="0">
                <a:solidFill>
                  <a:srgbClr val="E6EDF3"/>
                </a:solidFill>
                <a:latin typeface="Consolas" pitchFamily="34" charset="0"/>
                <a:ea typeface="Consolas" pitchFamily="34" charset="-122"/>
                <a:cs typeface="Consolas" pitchFamily="34" charset="-120"/>
              </a:rPr>
              <a:t>({http.</a:t>
            </a:r>
            <a:r>
              <a:rPr lang="en-US" sz="1100" dirty="0">
                <a:solidFill>
                  <a:srgbClr val="FFCB6B"/>
                </a:solidFill>
                <a:latin typeface="Consolas" pitchFamily="34" charset="0"/>
                <a:ea typeface="Consolas" pitchFamily="34" charset="-122"/>
                <a:cs typeface="Consolas" pitchFamily="34" charset="-120"/>
              </a:rPr>
              <a:t>Client</a:t>
            </a:r>
            <a:r>
              <a:rPr lang="en-US" sz="1100" dirty="0">
                <a:solidFill>
                  <a:srgbClr val="E6EDF3"/>
                </a:solidFill>
                <a:latin typeface="Consolas" pitchFamily="34" charset="0"/>
                <a:ea typeface="Consolas" pitchFamily="34" charset="-122"/>
                <a:cs typeface="Consolas" pitchFamily="34" charset="-120"/>
              </a:rPr>
              <a:t>? klien})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_klien = klien ?? http.</a:t>
            </a:r>
            <a:r>
              <a:rPr lang="en-US" sz="1100" dirty="0">
                <a:solidFill>
                  <a:srgbClr val="FFCB6B"/>
                </a:solidFill>
                <a:latin typeface="Consolas" pitchFamily="34" charset="0"/>
                <a:ea typeface="Consolas" pitchFamily="34" charset="-122"/>
                <a:cs typeface="Consolas" pitchFamily="34" charset="-120"/>
              </a:rPr>
              <a:t>Client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static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_host = </a:t>
            </a:r>
            <a:r>
              <a:rPr lang="en-US" sz="1100" dirty="0">
                <a:solidFill>
                  <a:srgbClr val="C3E88D"/>
                </a:solidFill>
                <a:latin typeface="Consolas" pitchFamily="34" charset="0"/>
                <a:ea typeface="Consolas" pitchFamily="34" charset="-122"/>
                <a:cs typeface="Consolas" pitchFamily="34" charset="-120"/>
              </a:rPr>
              <a:t>'dummyjson.com'</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Client</a:t>
            </a:r>
            <a:r>
              <a:rPr lang="en-US" sz="1100" dirty="0">
                <a:solidFill>
                  <a:srgbClr val="E6EDF3"/>
                </a:solidFill>
                <a:latin typeface="Consolas" pitchFamily="34" charset="0"/>
                <a:ea typeface="Consolas" pitchFamily="34" charset="-122"/>
                <a:cs typeface="Consolas" pitchFamily="34" charset="-120"/>
              </a:rPr>
              <a:t> _klien;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&gt;&gt; ambilJson(</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jalur,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&gt;? query})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Uri</a:t>
            </a:r>
            <a:r>
              <a:rPr lang="en-US" sz="1100" dirty="0">
                <a:solidFill>
                  <a:srgbClr val="E6EDF3"/>
                </a:solidFill>
                <a:latin typeface="Consolas" pitchFamily="34" charset="0"/>
                <a:ea typeface="Consolas" pitchFamily="34" charset="-122"/>
                <a:cs typeface="Consolas" pitchFamily="34" charset="-120"/>
              </a:rPr>
              <a:t> alamat = </a:t>
            </a:r>
            <a:r>
              <a:rPr lang="en-US" sz="1100" dirty="0">
                <a:solidFill>
                  <a:srgbClr val="FFCB6B"/>
                </a:solidFill>
                <a:latin typeface="Consolas" pitchFamily="34" charset="0"/>
                <a:ea typeface="Consolas" pitchFamily="34" charset="-122"/>
                <a:cs typeface="Consolas" pitchFamily="34" charset="-120"/>
              </a:rPr>
              <a:t>Uri</a:t>
            </a:r>
            <a:r>
              <a:rPr lang="en-US" sz="1100" dirty="0">
                <a:solidFill>
                  <a:srgbClr val="E6EDF3"/>
                </a:solidFill>
                <a:latin typeface="Consolas" pitchFamily="34" charset="0"/>
                <a:ea typeface="Consolas" pitchFamily="34" charset="-122"/>
                <a:cs typeface="Consolas" pitchFamily="34" charset="-120"/>
              </a:rPr>
              <a:t>.https(_host, jalur, query);</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Response</a:t>
            </a:r>
            <a:r>
              <a:rPr lang="en-US" sz="1100" dirty="0">
                <a:solidFill>
                  <a:srgbClr val="E6EDF3"/>
                </a:solidFill>
                <a:latin typeface="Consolas" pitchFamily="34" charset="0"/>
                <a:ea typeface="Consolas" pitchFamily="34" charset="-122"/>
                <a:cs typeface="Consolas" pitchFamily="34" charset="-120"/>
              </a:rPr>
              <a:t> respons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_klien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(alamat, headers: {</a:t>
            </a:r>
            <a:r>
              <a:rPr lang="en-US" sz="1100" dirty="0">
                <a:solidFill>
                  <a:srgbClr val="C3E88D"/>
                </a:solidFill>
                <a:latin typeface="Consolas" pitchFamily="34" charset="0"/>
                <a:ea typeface="Consolas" pitchFamily="34" charset="-122"/>
                <a:cs typeface="Consolas" pitchFamily="34" charset="-120"/>
              </a:rPr>
              <a:t>'Accept'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'application/json'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.timeout(_batasWaktu);</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(respons.statusCode != </a:t>
            </a:r>
            <a:r>
              <a:rPr lang="en-US" sz="1100" dirty="0">
                <a:solidFill>
                  <a:srgbClr val="F78C6C"/>
                </a:solidFill>
                <a:latin typeface="Consolas" pitchFamily="34" charset="0"/>
                <a:ea typeface="Consolas" pitchFamily="34" charset="-122"/>
                <a:cs typeface="Consolas" pitchFamily="34" charset="-120"/>
              </a:rPr>
              <a:t>200</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throw</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ApiException</a:t>
            </a:r>
            <a:r>
              <a:rPr lang="en-US" sz="1100" dirty="0">
                <a:solidFill>
                  <a:srgbClr val="E6EDF3"/>
                </a:solidFill>
                <a:latin typeface="Consolas" pitchFamily="34" charset="0"/>
                <a:ea typeface="Consolas" pitchFamily="34" charset="-122"/>
                <a:cs typeface="Consolas" pitchFamily="34" charset="-120"/>
              </a:rPr>
              <a:t>(respons.statusCode);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(jsonDecode(utf8.decode(respons.bodyBytes)))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 data =&gt; data,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 =&gt; </a:t>
            </a:r>
            <a:r>
              <a:rPr lang="en-US" sz="1100" dirty="0">
                <a:solidFill>
                  <a:srgbClr val="C792EA"/>
                </a:solidFill>
                <a:latin typeface="Consolas" pitchFamily="34" charset="0"/>
                <a:ea typeface="Consolas" pitchFamily="34" charset="-122"/>
                <a:cs typeface="Consolas" pitchFamily="34" charset="-120"/>
              </a:rPr>
              <a:t>throw</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FormatException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 tutup() =&gt; _klien.close();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0_async_dan_rest_api/kode/contoh_06_layanan_dan_repository.dart"/>
          </p:cNvPr>
          <p:cNvSpPr txBox="1"/>
          <p:nvPr/>
        </p:nvSpPr>
        <p:spPr>
          <a:xfrm>
            <a:off x="548640" y="5806440"/>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contoh_06_layanan_dan_repository.dart</a:t>
            </a:r>
            <a:endParaRPr lang="en-US" sz="1300" dirty="0"/>
          </a:p>
        </p:txBody>
      </p:sp>
      <p:pic>
        <p:nvPicPr>
          <p:cNvPr id="6" name="Image 0" descr="ikon tautan">
            <a:hlinkClick r:id="rId3" tooltip="https://github.com/antonprafanto/mobile2026/blob/main/pertemuan_10_async_dan_rest_api/kode/contoh_06_layanan_dan_repository.dart"/>
          </p:cNvPr>
          <p:cNvPicPr>
            <a:picLocks noChangeAspect="1"/>
          </p:cNvPicPr>
          <p:nvPr/>
        </p:nvPicPr>
        <p:blipFill>
          <a:blip r:embed="rId2"/>
          <a:stretch>
            <a:fillRect/>
          </a:stretch>
        </p:blipFill>
        <p:spPr>
          <a:xfrm>
            <a:off x="694944" y="5897880"/>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http.Client: satu "saluran" untuk banyak permintaan; WAJIB ditutup.</a:t>
            </a:r>
            <a:endParaRPr lang="en-US" sz="1700" dirty="0"/>
          </a:p>
          <a:p>
            <a:pPr marL="228600" indent="-228600">
              <a:spcAft>
                <a:spcPts val="800"/>
              </a:spcAft>
              <a:buSzPct val="100000"/>
              <a:buChar char="•"/>
            </a:pPr>
            <a:r>
              <a:rPr lang="en-US" sz="1700" dirty="0">
                <a:solidFill>
                  <a:schemeClr val="tx1"/>
                </a:solidFill>
              </a:rPr>
              <a:t>Diterima lewat constructor → bisa diganti server tiruan (Bagian 12).</a:t>
            </a:r>
            <a:endParaRPr lang="en-US" sz="1700" dirty="0"/>
          </a:p>
          <a:p>
            <a:pPr marL="228600" indent="-228600">
              <a:spcAft>
                <a:spcPts val="800"/>
              </a:spcAft>
              <a:buSzPct val="100000"/>
              <a:buChar char="•"/>
            </a:pPr>
            <a:r>
              <a:rPr lang="en-US" sz="1700" dirty="0">
                <a:solidFill>
                  <a:schemeClr val="tx1"/>
                </a:solidFill>
              </a:rPr>
              <a:t>Uri.https: alamat aman dari potongan-potongannya.</a:t>
            </a:r>
            <a:endParaRPr lang="en-US" sz="1700" dirty="0"/>
          </a:p>
          <a:p>
            <a:pPr marL="228600" indent="-228600">
              <a:spcAft>
                <a:spcPts val="800"/>
              </a:spcAft>
              <a:buSzPct val="100000"/>
              <a:buChar char="•"/>
            </a:pPr>
            <a:r>
              <a:rPr lang="en-US" sz="1700" dirty="0">
                <a:solidFill>
                  <a:schemeClr val="tx1"/>
                </a:solidFill>
              </a:rPr>
              <a:t>utf8.decode(bodyBytes): huruf é atau ° tidak menjadi Ã©.</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Repository: JSON Menjadi Model</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6.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403854"/>
          </a:xfrm>
          <a:prstGeom prst="roundRect">
            <a:avLst>
              <a:gd name="adj" fmla="val 268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RepositoriPengumumanApi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RepositoriPengumuman</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89DDFF"/>
                </a:solidFill>
                <a:latin typeface="Consolas" pitchFamily="34" charset="0"/>
                <a:ea typeface="Consolas" pitchFamily="34" charset="-122"/>
                <a:cs typeface="Consolas" pitchFamily="34" charset="-120"/>
              </a:rPr>
              <a:t>@override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Pengumuman</a:t>
            </a:r>
            <a:r>
              <a:rPr lang="en-US" sz="1100" dirty="0">
                <a:solidFill>
                  <a:srgbClr val="E6EDF3"/>
                </a:solidFill>
                <a:latin typeface="Consolas" pitchFamily="34" charset="0"/>
                <a:ea typeface="Consolas" pitchFamily="34" charset="-122"/>
                <a:cs typeface="Consolas" pitchFamily="34" charset="-120"/>
              </a:rPr>
              <a:t>&gt;&gt; ambilSemua()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 json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_layanan.ambilJson(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'/posts'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query: {</a:t>
            </a:r>
            <a:r>
              <a:rPr lang="en-US" sz="1100" dirty="0">
                <a:solidFill>
                  <a:srgbClr val="C3E88D"/>
                </a:solidFill>
                <a:latin typeface="Consolas" pitchFamily="34" charset="0"/>
                <a:ea typeface="Consolas" pitchFamily="34" charset="-122"/>
                <a:cs typeface="Consolas" pitchFamily="34" charset="-120"/>
              </a:rPr>
              <a:t>'limit'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'10'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'select'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'title,body,views'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(json)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'posts'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 isi} =&gt;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isi.map(_dariJson).toList(),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 =&gt; </a:t>
            </a:r>
            <a:r>
              <a:rPr lang="en-US" sz="1100" dirty="0">
                <a:solidFill>
                  <a:srgbClr val="C792EA"/>
                </a:solidFill>
                <a:latin typeface="Consolas" pitchFamily="34" charset="0"/>
                <a:ea typeface="Consolas" pitchFamily="34" charset="-122"/>
                <a:cs typeface="Consolas" pitchFamily="34" charset="-120"/>
              </a:rPr>
              <a:t>throw</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FormatException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7" name="tombol tautan">
            <a:hlinkClick r:id="rId2" tooltip="https://github.com/antonprafanto/mobile2026/blob/main/pertemuan_10_async_dan_rest_api/kode/contoh_06_layanan_dan_repository.dart"/>
          </p:cNvPr>
          <p:cNvSpPr txBox="1"/>
          <p:nvPr/>
        </p:nvSpPr>
        <p:spPr>
          <a:xfrm>
            <a:off x="548640" y="495833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contoh_06_layanan_dan_repository.dart</a:t>
            </a:r>
            <a:endParaRPr lang="en-US" sz="1300" dirty="0"/>
          </a:p>
        </p:txBody>
      </p:sp>
      <p:pic>
        <p:nvPicPr>
          <p:cNvPr id="8" name="Image 1" descr="ikon tautan">
            <a:hlinkClick r:id="rId4" tooltip="https://github.com/antonprafanto/mobile2026/blob/main/pertemuan_10_async_dan_rest_api/kode/contoh_06_layanan_dan_repository.dart"/>
          </p:cNvPr>
          <p:cNvPicPr>
            <a:picLocks noChangeAspect="1"/>
          </p:cNvPicPr>
          <p:nvPr/>
        </p:nvPicPr>
        <p:blipFill>
          <a:blip r:embed="rId3"/>
          <a:stretch>
            <a:fillRect/>
          </a:stretch>
        </p:blipFill>
        <p:spPr>
          <a:xfrm>
            <a:off x="694944" y="5049774"/>
            <a:ext cx="274320" cy="274320"/>
          </a:xfrm>
          <a:prstGeom prst="rect">
            <a:avLst/>
          </a:prstGeom>
        </p:spPr>
      </p:pic>
      <p:sp>
        <p:nvSpPr>
          <p:cNvPr id="9" name="daftar poin"/>
          <p:cNvSpPr txBox="1"/>
          <p:nvPr/>
        </p:nvSpPr>
        <p:spPr>
          <a:xfrm>
            <a:off x="548640" y="5689854"/>
            <a:ext cx="7608319" cy="52806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Kontrak, ViewModel, dan View SAMA PERSIS dengan Contoh 08 Pertemuan 9.</a:t>
            </a:r>
            <a:endParaRPr lang="en-US" sz="1500" dirty="0"/>
          </a:p>
          <a:p>
            <a:pPr marL="228600" indent="-228600">
              <a:spcAft>
                <a:spcPts val="800"/>
              </a:spcAft>
              <a:buSzPct val="100000"/>
              <a:buChar char="•"/>
            </a:pPr>
            <a:r>
              <a:rPr lang="en-US" sz="1500" dirty="0">
                <a:solidFill>
                  <a:schemeClr val="tx1"/>
                </a:solidFill>
              </a:rPr>
              <a:t>Yang berubah hanya satu baris create di main: Palsu → Api.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Parameter Query, Pencarian, dan Muat Lebih Banyak</a:t>
            </a:r>
            <a:endParaRPr lang="en-US" sz="4000" dirty="0"/>
          </a:p>
        </p:txBody>
      </p:sp>
      <p:sp>
        <p:nvSpPr>
          <p:cNvPr id="5" name="lingkaran cari"/>
          <p:cNvSpPr/>
          <p:nvPr/>
        </p:nvSpPr>
        <p:spPr>
          <a:xfrm>
            <a:off x="1097280" y="2148840"/>
            <a:ext cx="2011680" cy="2011680"/>
          </a:xfrm>
          <a:prstGeom prst="ellipse">
            <a:avLst/>
          </a:prstGeom>
          <a:solidFill>
            <a:schemeClr val="accent1"/>
          </a:solidFill>
          <a:ln/>
        </p:spPr>
      </p:sp>
      <p:pic>
        <p:nvPicPr>
          <p:cNvPr id="6" name="Image 0" descr="car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Uri.https dan Halaman demi Halaman</a:t>
            </a:r>
            <a:endParaRPr lang="en-US" sz="3200" dirty="0"/>
          </a:p>
        </p:txBody>
      </p:sp>
      <p:sp>
        <p:nvSpPr>
          <p:cNvPr id="4" name="kotak kode"/>
          <p:cNvSpPr txBox="1"/>
          <p:nvPr/>
        </p:nvSpPr>
        <p:spPr>
          <a:xfrm>
            <a:off x="548640" y="1371600"/>
            <a:ext cx="6217920"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Uri</a:t>
            </a:r>
            <a:r>
              <a:rPr lang="en-US" sz="1400" dirty="0">
                <a:solidFill>
                  <a:srgbClr val="E6EDF3"/>
                </a:solidFill>
                <a:latin typeface="Consolas" pitchFamily="34" charset="0"/>
                <a:ea typeface="Consolas" pitchFamily="34" charset="-122"/>
                <a:cs typeface="Consolas" pitchFamily="34" charset="-120"/>
              </a:rPr>
              <a:t> alamat = </a:t>
            </a:r>
            <a:r>
              <a:rPr lang="en-US" sz="1400" dirty="0">
                <a:solidFill>
                  <a:srgbClr val="FFCB6B"/>
                </a:solidFill>
                <a:latin typeface="Consolas" pitchFamily="34" charset="0"/>
                <a:ea typeface="Consolas" pitchFamily="34" charset="-122"/>
                <a:cs typeface="Consolas" pitchFamily="34" charset="-120"/>
              </a:rPr>
              <a:t>Uri</a:t>
            </a:r>
            <a:r>
              <a:rPr lang="en-US" sz="1400" dirty="0">
                <a:solidFill>
                  <a:srgbClr val="E6EDF3"/>
                </a:solidFill>
                <a:latin typeface="Consolas" pitchFamily="34" charset="0"/>
                <a:ea typeface="Consolas" pitchFamily="34" charset="-122"/>
                <a:cs typeface="Consolas" pitchFamily="34" charset="-120"/>
              </a:rPr>
              <a:t>.https(</a:t>
            </a:r>
            <a:r>
              <a:rPr lang="en-US" sz="1400" dirty="0">
                <a:solidFill>
                  <a:srgbClr val="C3E88D"/>
                </a:solidFill>
                <a:latin typeface="Consolas" pitchFamily="34" charset="0"/>
                <a:ea typeface="Consolas" pitchFamily="34" charset="-122"/>
                <a:cs typeface="Consolas" pitchFamily="34" charset="-120"/>
              </a:rPr>
              <a:t>'dummyjson.com'</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'/products/search'</a:t>
            </a: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'q'</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'gaming laptop'</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'limit'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'10'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'skip'</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https://dummyjson.com/products/search</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?q=gaming+laptop&amp;limit=10&amp;skip=0</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Jawaban juga berisi total:</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bool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get</a:t>
            </a:r>
            <a:r>
              <a:rPr lang="en-US" sz="1400" dirty="0">
                <a:solidFill>
                  <a:srgbClr val="E6EDF3"/>
                </a:solidFill>
                <a:latin typeface="Consolas" pitchFamily="34" charset="0"/>
                <a:ea typeface="Consolas" pitchFamily="34" charset="-122"/>
                <a:cs typeface="Consolas" pitchFamily="34" charset="-120"/>
              </a:rPr>
              <a:t> masihAda =&gt; _produk.length &lt; _total;</a:t>
            </a:r>
            <a:endParaRPr lang="en-US" sz="1400" dirty="0"/>
          </a:p>
        </p:txBody>
      </p:sp>
      <p:sp>
        <p:nvSpPr>
          <p:cNvPr id="5" name="tombol tautan">
            <a:hlinkClick r:id="rId1" tooltip="https://github.com/antonprafanto/mobile2026/blob/main/pertemuan_10_async_dan_rest_api/kode/contoh_07_pencarian_dan_muat_lagi.dart"/>
          </p:cNvPr>
          <p:cNvSpPr txBox="1"/>
          <p:nvPr/>
        </p:nvSpPr>
        <p:spPr>
          <a:xfrm>
            <a:off x="548640" y="4475988"/>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contoh_07_pencarian_dan_muat_lagi.dart</a:t>
            </a:r>
            <a:endParaRPr lang="en-US" sz="1300" dirty="0"/>
          </a:p>
        </p:txBody>
      </p:sp>
      <p:pic>
        <p:nvPicPr>
          <p:cNvPr id="6" name="Image 0" descr="ikon tautan">
            <a:hlinkClick r:id="rId3" tooltip="https://github.com/antonprafanto/mobile2026/blob/main/pertemuan_10_async_dan_rest_api/kode/contoh_07_pencarian_dan_muat_lagi.dart"/>
          </p:cNvPr>
          <p:cNvPicPr>
            <a:picLocks noChangeAspect="1"/>
          </p:cNvPicPr>
          <p:nvPr/>
        </p:nvPicPr>
        <p:blipFill>
          <a:blip r:embed="rId2"/>
          <a:stretch>
            <a:fillRect/>
          </a:stretch>
        </p:blipFill>
        <p:spPr>
          <a:xfrm>
            <a:off x="694944" y="4567428"/>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Jangan menyambung teks sendiri: spasi, &amp;, ?, # punya arti khusus dan harus dikodekan.</a:t>
            </a:r>
            <a:endParaRPr lang="en-US" sz="1700" dirty="0"/>
          </a:p>
          <a:p>
            <a:pPr marL="228600" indent="-228600">
              <a:spcAft>
                <a:spcPts val="800"/>
              </a:spcAft>
              <a:buSzPct val="100000"/>
              <a:buChar char="•"/>
            </a:pPr>
            <a:r>
              <a:rPr lang="en-US" sz="1700" dirty="0">
                <a:solidFill>
                  <a:schemeClr val="tx1"/>
                </a:solidFill>
              </a:rPr>
              <a:t>Semua nilai query berupa String: tulis '$jumlah'.</a:t>
            </a:r>
            <a:endParaRPr lang="en-US" sz="1700" dirty="0"/>
          </a:p>
          <a:p>
            <a:pPr marL="228600" indent="-228600">
              <a:spcAft>
                <a:spcPts val="800"/>
              </a:spcAft>
              <a:buSzPct val="100000"/>
              <a:buChar char="•"/>
            </a:pPr>
            <a:r>
              <a:rPr lang="en-US" sz="1700" dirty="0">
                <a:solidFill>
                  <a:schemeClr val="tx1"/>
                </a:solidFill>
              </a:rPr>
              <a:t>limit=10&amp;skip=0 → halaman 1; skip=10 → halaman 2; skip=20 → halaman 3.</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Debounce dan Jawaban yang Datang Terlambat</a:t>
            </a:r>
            <a:endParaRPr lang="en-US" sz="3200" dirty="0"/>
          </a:p>
        </p:txBody>
      </p:sp>
      <p:sp>
        <p:nvSpPr>
          <p:cNvPr id="4" name="kotak kode"/>
          <p:cNvSpPr txBox="1"/>
          <p:nvPr/>
        </p:nvSpPr>
        <p:spPr>
          <a:xfrm>
            <a:off x="548640" y="1371600"/>
            <a:ext cx="621792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cari(</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teks)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_kataKunci = teks.trim();</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_penunda?.cancel(); </a:t>
            </a:r>
            <a:r>
              <a:rPr lang="en-US" sz="1300" i="1" dirty="0">
                <a:solidFill>
                  <a:srgbClr val="8FA3BC"/>
                </a:solidFill>
                <a:latin typeface="Consolas" pitchFamily="34" charset="0"/>
                <a:ea typeface="Consolas" pitchFamily="34" charset="-122"/>
                <a:cs typeface="Consolas" pitchFamily="34" charset="-120"/>
              </a:rPr>
              <a:t>// batalkan penunda lama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_penunda = </a:t>
            </a:r>
            <a:r>
              <a:rPr lang="en-US" sz="1300" dirty="0">
                <a:solidFill>
                  <a:srgbClr val="FFCB6B"/>
                </a:solidFill>
                <a:latin typeface="Consolas" pitchFamily="34" charset="0"/>
                <a:ea typeface="Consolas" pitchFamily="34" charset="-122"/>
                <a:cs typeface="Consolas" pitchFamily="34" charset="-120"/>
              </a:rPr>
              <a:t>Timer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Duration</a:t>
            </a:r>
            <a:r>
              <a:rPr lang="en-US" sz="1300" dirty="0">
                <a:solidFill>
                  <a:srgbClr val="E6EDF3"/>
                </a:solidFill>
                <a:latin typeface="Consolas" pitchFamily="34" charset="0"/>
                <a:ea typeface="Consolas" pitchFamily="34" charset="-122"/>
                <a:cs typeface="Consolas" pitchFamily="34" charset="-120"/>
              </a:rPr>
              <a:t>(milliseconds: </a:t>
            </a:r>
            <a:r>
              <a:rPr lang="en-US" sz="1300" dirty="0">
                <a:solidFill>
                  <a:srgbClr val="F78C6C"/>
                </a:solidFill>
                <a:latin typeface="Consolas" pitchFamily="34" charset="0"/>
                <a:ea typeface="Consolas" pitchFamily="34" charset="-122"/>
                <a:cs typeface="Consolas" pitchFamily="34" charset="-120"/>
              </a:rPr>
              <a:t>400</a:t>
            </a:r>
            <a:r>
              <a:rPr lang="en-US" sz="1300" dirty="0">
                <a:solidFill>
                  <a:srgbClr val="E6EDF3"/>
                </a:solidFill>
                <a:latin typeface="Consolas" pitchFamily="34" charset="0"/>
                <a:ea typeface="Consolas" pitchFamily="34" charset="-122"/>
                <a:cs typeface="Consolas" pitchFamily="34" charset="-120"/>
              </a:rPr>
              <a:t>), muat);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&gt; muat()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nomor = ++_nomorPermintaan;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 tunggu jawaban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(_sudahDibuang || nomor != _nomorPermintaan)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jawaban terlambat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 tampilkan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0_async_dan_rest_api/kode/contoh_07_pencarian_dan_muat_lagi.dart"/>
          </p:cNvPr>
          <p:cNvSpPr txBox="1"/>
          <p:nvPr/>
        </p:nvSpPr>
        <p:spPr>
          <a:xfrm>
            <a:off x="548640" y="5132070"/>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contoh_07_pencarian_dan_muat_lagi.dart</a:t>
            </a:r>
            <a:endParaRPr lang="en-US" sz="1300" dirty="0"/>
          </a:p>
        </p:txBody>
      </p:sp>
      <p:pic>
        <p:nvPicPr>
          <p:cNvPr id="6" name="Image 0" descr="ikon tautan">
            <a:hlinkClick r:id="rId3" tooltip="https://github.com/antonprafanto/mobile2026/blob/main/pertemuan_10_async_dan_rest_api/kode/contoh_07_pencarian_dan_muat_lagi.dart"/>
          </p:cNvPr>
          <p:cNvPicPr>
            <a:picLocks noChangeAspect="1"/>
          </p:cNvPicPr>
          <p:nvPr/>
        </p:nvPicPr>
        <p:blipFill>
          <a:blip r:embed="rId2"/>
          <a:stretch>
            <a:fillRect/>
          </a:stretch>
        </p:blipFill>
        <p:spPr>
          <a:xfrm>
            <a:off x="694944" y="5223510"/>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Debounce: kirim hanya setelah pengguna berhenti mengetik 400 ms (seperti lift menunggu orang terakhir masuk).</a:t>
            </a:r>
            <a:endParaRPr lang="en-US" sz="1700" dirty="0"/>
          </a:p>
          <a:p>
            <a:pPr marL="228600" indent="-228600">
              <a:spcAft>
                <a:spcPts val="800"/>
              </a:spcAft>
              <a:buSzPct val="100000"/>
              <a:buChar char="•"/>
            </a:pPr>
            <a:r>
              <a:rPr lang="en-US" sz="1700" dirty="0">
                <a:solidFill>
                  <a:schemeClr val="tx1"/>
                </a:solidFill>
              </a:rPr>
              <a:t>Tanpa debounce, mengetik "laptop" = enam permintaan.</a:t>
            </a:r>
            <a:endParaRPr lang="en-US" sz="1700" dirty="0"/>
          </a:p>
          <a:p>
            <a:pPr marL="228600" indent="-228600">
              <a:spcAft>
                <a:spcPts val="800"/>
              </a:spcAft>
              <a:buSzPct val="100000"/>
              <a:buChar char="•"/>
            </a:pPr>
            <a:r>
              <a:rPr lang="en-US" sz="1700" dirty="0">
                <a:solidFill>
                  <a:schemeClr val="tx1"/>
                </a:solidFill>
              </a:rPr>
              <a:t>Nomor permintaan: jawaban milik pencarian lama diabaikan.</a:t>
            </a:r>
            <a:endParaRPr lang="en-US" sz="1700" dirty="0"/>
          </a:p>
          <a:p>
            <a:pPr marL="228600" indent="-228600">
              <a:spcAft>
                <a:spcPts val="800"/>
              </a:spcAft>
              <a:buSzPct val="100000"/>
              <a:buChar char="•"/>
            </a:pPr>
            <a:r>
              <a:rPr lang="en-US" sz="1700" dirty="0">
                <a:solidFill>
                  <a:schemeClr val="tx1"/>
                </a:solidFill>
              </a:rPr>
              <a:t>Batalkan Timer di dispose ViewModel.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Gambar dari Internet: Image.network</a:t>
            </a:r>
            <a:endParaRPr lang="en-US" sz="3200" dirty="0"/>
          </a:p>
        </p:txBody>
      </p:sp>
      <p:sp>
        <p:nvSpPr>
          <p:cNvPr id="4" name="bingkai layar 1"/>
          <p:cNvSpPr/>
          <p:nvPr/>
        </p:nvSpPr>
        <p:spPr>
          <a:xfrm>
            <a:off x="6101791" y="1316736"/>
            <a:ext cx="2715768" cy="4161454"/>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6156655" y="1371600"/>
            <a:ext cx="2606040" cy="4051726"/>
          </a:xfrm>
          <a:prstGeom prst="rect">
            <a:avLst/>
          </a:prstGeom>
        </p:spPr>
      </p:pic>
      <p:sp>
        <p:nvSpPr>
          <p:cNvPr id="6" name="bingkai layar 2"/>
          <p:cNvSpPr/>
          <p:nvPr/>
        </p:nvSpPr>
        <p:spPr>
          <a:xfrm>
            <a:off x="8982151" y="1316736"/>
            <a:ext cx="2715768" cy="4161454"/>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9037015" y="1371600"/>
            <a:ext cx="2606040" cy="4051726"/>
          </a:xfrm>
          <a:prstGeom prst="rect">
            <a:avLst/>
          </a:prstGeom>
        </p:spPr>
      </p:pic>
      <p:sp>
        <p:nvSpPr>
          <p:cNvPr id="8" name="kotak kode"/>
          <p:cNvSpPr txBox="1"/>
          <p:nvPr/>
        </p:nvSpPr>
        <p:spPr>
          <a:xfrm>
            <a:off x="548640" y="1371600"/>
            <a:ext cx="515081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Image</a:t>
            </a:r>
            <a:r>
              <a:rPr lang="en-US" sz="1200" dirty="0">
                <a:solidFill>
                  <a:srgbClr val="E6EDF3"/>
                </a:solidFill>
                <a:latin typeface="Consolas" pitchFamily="34" charset="0"/>
                <a:ea typeface="Consolas" pitchFamily="34" charset="-122"/>
                <a:cs typeface="Consolas" pitchFamily="34" charset="-120"/>
              </a:rPr>
              <a:t>.network(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alamat,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fit: </a:t>
            </a:r>
            <a:r>
              <a:rPr lang="en-US" sz="1200" dirty="0">
                <a:solidFill>
                  <a:srgbClr val="FFCB6B"/>
                </a:solidFill>
                <a:latin typeface="Consolas" pitchFamily="34" charset="0"/>
                <a:ea typeface="Consolas" pitchFamily="34" charset="-122"/>
                <a:cs typeface="Consolas" pitchFamily="34" charset="-120"/>
              </a:rPr>
              <a:t>BoxFit</a:t>
            </a:r>
            <a:r>
              <a:rPr lang="en-US" sz="1200" dirty="0">
                <a:solidFill>
                  <a:srgbClr val="E6EDF3"/>
                </a:solidFill>
                <a:latin typeface="Consolas" pitchFamily="34" charset="0"/>
                <a:ea typeface="Consolas" pitchFamily="34" charset="-122"/>
                <a:cs typeface="Consolas" pitchFamily="34" charset="-120"/>
              </a:rPr>
              <a:t>.cover,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loadingBuilder: (context, child, proses)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(proses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child;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CircularProgressIndicator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strokeWidth: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errorBuilder: (context, galat, jejak)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Icon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Icons</a:t>
            </a:r>
            <a:r>
              <a:rPr lang="en-US" sz="1200" dirty="0">
                <a:solidFill>
                  <a:srgbClr val="E6EDF3"/>
                </a:solidFill>
                <a:latin typeface="Consolas" pitchFamily="34" charset="0"/>
                <a:ea typeface="Consolas" pitchFamily="34" charset="-122"/>
                <a:cs typeface="Consolas" pitchFamily="34" charset="-120"/>
              </a:rPr>
              <a:t>.broken_image_outlined),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10_async_dan_rest_api/kode/contoh_07_pencarian_dan_muat_lagi.dart"/>
          </p:cNvPr>
          <p:cNvSpPr txBox="1"/>
          <p:nvPr/>
        </p:nvSpPr>
        <p:spPr>
          <a:xfrm>
            <a:off x="548640" y="4078224"/>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contoh_07_pencarian_dan_muat_lagi.dart</a:t>
            </a:r>
            <a:endParaRPr lang="en-US" sz="1300" dirty="0"/>
          </a:p>
        </p:txBody>
      </p:sp>
      <p:pic>
        <p:nvPicPr>
          <p:cNvPr id="10" name="Image 2" descr="ikon tautan">
            <a:hlinkClick r:id="rId5" tooltip="https://github.com/antonprafanto/mobile2026/blob/main/pertemuan_10_async_dan_rest_api/kode/contoh_07_pencarian_dan_muat_lagi.dart"/>
          </p:cNvPr>
          <p:cNvPicPr>
            <a:picLocks noChangeAspect="1"/>
          </p:cNvPicPr>
          <p:nvPr/>
        </p:nvPicPr>
        <p:blipFill>
          <a:blip r:embed="rId4"/>
          <a:stretch>
            <a:fillRect/>
          </a:stretch>
        </p:blipFill>
        <p:spPr>
          <a:xfrm>
            <a:off x="694944" y="4169664"/>
            <a:ext cx="274320" cy="274320"/>
          </a:xfrm>
          <a:prstGeom prst="rect">
            <a:avLst/>
          </a:prstGeom>
        </p:spPr>
      </p:pic>
      <p:sp>
        <p:nvSpPr>
          <p:cNvPr id="11" name="daftar poin"/>
          <p:cNvSpPr txBox="1"/>
          <p:nvPr/>
        </p:nvSpPr>
        <p:spPr>
          <a:xfrm>
            <a:off x="548640" y="4809744"/>
            <a:ext cx="5150815" cy="14081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Tampilan saat mengunduh dan saat gagal.</a:t>
            </a:r>
            <a:endParaRPr lang="en-US" sz="1500" dirty="0"/>
          </a:p>
          <a:p>
            <a:pPr marL="228600" indent="-228600">
              <a:spcAft>
                <a:spcPts val="800"/>
              </a:spcAft>
              <a:buSzPct val="100000"/>
              <a:buChar char="•"/>
            </a:pPr>
            <a:r>
              <a:rPr lang="en-US" sz="1500" dirty="0">
                <a:solidFill>
                  <a:schemeClr val="tx1"/>
                </a:solidFill>
              </a:rPr>
              <a:t>Gambar yang sudah diunduh disimpan sementara di memori.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Mengirim Data: POST, PATCH, dan DELETE</a:t>
            </a:r>
            <a:endParaRPr lang="en-US" sz="4000" dirty="0"/>
          </a:p>
        </p:txBody>
      </p:sp>
      <p:sp>
        <p:nvSpPr>
          <p:cNvPr id="5" name="lingkaran kirim"/>
          <p:cNvSpPr/>
          <p:nvPr/>
        </p:nvSpPr>
        <p:spPr>
          <a:xfrm>
            <a:off x="1097280" y="2148840"/>
            <a:ext cx="2011680" cy="2011680"/>
          </a:xfrm>
          <a:prstGeom prst="ellipse">
            <a:avLst/>
          </a:prstGeom>
          <a:solidFill>
            <a:schemeClr val="accent1"/>
          </a:solidFill>
          <a:ln/>
        </p:spPr>
      </p:sp>
      <p:pic>
        <p:nvPicPr>
          <p:cNvPr id="6" name="Image 0" descr="kirim">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POST: Menambah Data Baru</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8.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Response</a:t>
            </a:r>
            <a:r>
              <a:rPr lang="en-US" sz="1200" dirty="0">
                <a:solidFill>
                  <a:srgbClr val="E6EDF3"/>
                </a:solidFill>
                <a:latin typeface="Consolas" pitchFamily="34" charset="0"/>
                <a:ea typeface="Consolas" pitchFamily="34" charset="-122"/>
                <a:cs typeface="Consolas" pitchFamily="34" charset="-120"/>
              </a:rPr>
              <a:t> respons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http.post(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Uri</a:t>
            </a:r>
            <a:r>
              <a:rPr lang="en-US" sz="1200" dirty="0">
                <a:solidFill>
                  <a:srgbClr val="E6EDF3"/>
                </a:solidFill>
                <a:latin typeface="Consolas" pitchFamily="34" charset="0"/>
                <a:ea typeface="Consolas" pitchFamily="34" charset="-122"/>
                <a:cs typeface="Consolas" pitchFamily="34" charset="-120"/>
              </a:rPr>
              <a:t>.parse(</a:t>
            </a:r>
            <a:r>
              <a:rPr lang="en-US" sz="1200" dirty="0">
                <a:solidFill>
                  <a:srgbClr val="C3E88D"/>
                </a:solidFill>
                <a:latin typeface="Consolas" pitchFamily="34" charset="0"/>
                <a:ea typeface="Consolas" pitchFamily="34" charset="-122"/>
                <a:cs typeface="Consolas" pitchFamily="34" charset="-120"/>
              </a:rPr>
              <a:t>'https://dummyjson.com/todos/add'</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headers: {</a:t>
            </a:r>
            <a:r>
              <a:rPr lang="en-US" sz="1200" dirty="0">
                <a:solidFill>
                  <a:srgbClr val="C3E88D"/>
                </a:solidFill>
                <a:latin typeface="Consolas" pitchFamily="34" charset="0"/>
                <a:ea typeface="Consolas" pitchFamily="34" charset="-122"/>
                <a:cs typeface="Consolas" pitchFamily="34" charset="-120"/>
              </a:rPr>
              <a:t>'Content-Type'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'application/json'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body: jsonEncode({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'todo'</a:t>
            </a:r>
            <a:r>
              <a:rPr lang="en-US" sz="1200" dirty="0">
                <a:solidFill>
                  <a:srgbClr val="E6EDF3"/>
                </a:solidFill>
                <a:latin typeface="Consolas" pitchFamily="34" charset="0"/>
                <a:ea typeface="Consolas" pitchFamily="34" charset="-122"/>
                <a:cs typeface="Consolas" pitchFamily="34" charset="-120"/>
              </a:rPr>
              <a:t>: judul, </a:t>
            </a:r>
            <a:r>
              <a:rPr lang="en-US" sz="1200" dirty="0">
                <a:solidFill>
                  <a:srgbClr val="C3E88D"/>
                </a:solidFill>
                <a:latin typeface="Consolas" pitchFamily="34" charset="0"/>
                <a:ea typeface="Consolas" pitchFamily="34" charset="-122"/>
                <a:cs typeface="Consolas" pitchFamily="34" charset="-120"/>
              </a:rPr>
              <a:t>'completed'</a:t>
            </a:r>
            <a:r>
              <a:rPr lang="en-US" sz="1200" dirty="0">
                <a:solidFill>
                  <a:srgbClr val="E6EDF3"/>
                </a:solidFill>
                <a:latin typeface="Consolas" pitchFamily="34" charset="0"/>
                <a:ea typeface="Consolas" pitchFamily="34" charset="-122"/>
                <a:cs typeface="Consolas" pitchFamily="34" charset="-120"/>
              </a:rPr>
              <a:t>: selesai, </a:t>
            </a:r>
            <a:r>
              <a:rPr lang="en-US" sz="1200" dirty="0">
                <a:solidFill>
                  <a:srgbClr val="C3E88D"/>
                </a:solidFill>
                <a:latin typeface="Consolas" pitchFamily="34" charset="0"/>
                <a:ea typeface="Consolas" pitchFamily="34" charset="-122"/>
                <a:cs typeface="Consolas" pitchFamily="34" charset="-120"/>
              </a:rPr>
              <a:t>'userId'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).timeout(</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(seconds: </a:t>
            </a:r>
            <a:r>
              <a:rPr lang="en-US" sz="1200" dirty="0">
                <a:solidFill>
                  <a:srgbClr val="F78C6C"/>
                </a:solidFill>
                <a:latin typeface="Consolas" pitchFamily="34" charset="0"/>
                <a:ea typeface="Consolas" pitchFamily="34" charset="-122"/>
                <a:cs typeface="Consolas" pitchFamily="34" charset="-120"/>
              </a:rPr>
              <a:t>10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(respons.statusCode &lt; </a:t>
            </a:r>
            <a:r>
              <a:rPr lang="en-US" sz="1200" dirty="0">
                <a:solidFill>
                  <a:srgbClr val="F78C6C"/>
                </a:solidFill>
                <a:latin typeface="Consolas" pitchFamily="34" charset="0"/>
                <a:ea typeface="Consolas" pitchFamily="34" charset="-122"/>
                <a:cs typeface="Consolas" pitchFamily="34" charset="-120"/>
              </a:rPr>
              <a:t>200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respons.statusCode &gt;= </a:t>
            </a:r>
            <a:r>
              <a:rPr lang="en-US" sz="1200" dirty="0">
                <a:solidFill>
                  <a:srgbClr val="F78C6C"/>
                </a:solidFill>
                <a:latin typeface="Consolas" pitchFamily="34" charset="0"/>
                <a:ea typeface="Consolas" pitchFamily="34" charset="-122"/>
                <a:cs typeface="Consolas" pitchFamily="34" charset="-120"/>
              </a:rPr>
              <a:t>300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ApiException</a:t>
            </a:r>
            <a:r>
              <a:rPr lang="en-US" sz="1200" dirty="0">
                <a:solidFill>
                  <a:srgbClr val="E6EDF3"/>
                </a:solidFill>
                <a:latin typeface="Consolas" pitchFamily="34" charset="0"/>
                <a:ea typeface="Consolas" pitchFamily="34" charset="-122"/>
                <a:cs typeface="Consolas" pitchFamily="34" charset="-120"/>
              </a:rPr>
              <a:t>(respons.statusCode);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10_async_dan_rest_api/kode/contoh_08_mengirim_data_post.dart"/>
          </p:cNvPr>
          <p:cNvSpPr txBox="1"/>
          <p:nvPr/>
        </p:nvSpPr>
        <p:spPr>
          <a:xfrm>
            <a:off x="548640" y="427024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contoh_08_mengirim_data_post.dart</a:t>
            </a:r>
            <a:endParaRPr lang="en-US" sz="1300" dirty="0"/>
          </a:p>
        </p:txBody>
      </p:sp>
      <p:pic>
        <p:nvPicPr>
          <p:cNvPr id="8" name="Image 1" descr="ikon tautan">
            <a:hlinkClick r:id="rId4" tooltip="https://github.com/antonprafanto/mobile2026/blob/main/pertemuan_10_async_dan_rest_api/kode/contoh_08_mengirim_data_post.dart"/>
          </p:cNvPr>
          <p:cNvPicPr>
            <a:picLocks noChangeAspect="1"/>
          </p:cNvPicPr>
          <p:nvPr/>
        </p:nvPicPr>
        <p:blipFill>
          <a:blip r:embed="rId3"/>
          <a:stretch>
            <a:fillRect/>
          </a:stretch>
        </p:blipFill>
        <p:spPr>
          <a:xfrm>
            <a:off x="694944" y="4361688"/>
            <a:ext cx="274320" cy="274320"/>
          </a:xfrm>
          <a:prstGeom prst="rect">
            <a:avLst/>
          </a:prstGeom>
        </p:spPr>
      </p:pic>
      <p:sp>
        <p:nvSpPr>
          <p:cNvPr id="9" name="daftar poin"/>
          <p:cNvSpPr txBox="1"/>
          <p:nvPr/>
        </p:nvSpPr>
        <p:spPr>
          <a:xfrm>
            <a:off x="548640" y="5001768"/>
            <a:ext cx="7608319"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Content-Type: tanpa ini, banyak server tidak bisa membaca datanya.</a:t>
            </a:r>
            <a:endParaRPr lang="en-US" sz="1500" dirty="0"/>
          </a:p>
          <a:p>
            <a:pPr marL="228600" indent="-228600">
              <a:spcAft>
                <a:spcPts val="800"/>
              </a:spcAft>
              <a:buSzPct val="100000"/>
              <a:buChar char="•"/>
            </a:pPr>
            <a:r>
              <a:rPr lang="en-US" sz="1500" dirty="0">
                <a:solidFill>
                  <a:schemeClr val="tx1"/>
                </a:solidFill>
              </a:rPr>
              <a:t>Data baru dijawab 201 → periksa KELOMPOK 2xx.</a:t>
            </a:r>
            <a:endParaRPr lang="en-US" sz="1500" dirty="0"/>
          </a:p>
          <a:p>
            <a:pPr marL="228600" indent="-228600">
              <a:spcAft>
                <a:spcPts val="800"/>
              </a:spcAft>
              <a:buSzPct val="100000"/>
              <a:buChar char="•"/>
            </a:pPr>
            <a:r>
              <a:rPr lang="en-US" sz="1500" dirty="0">
                <a:solidFill>
                  <a:schemeClr val="tx1"/>
                </a:solidFill>
              </a:rPr>
              <a:t>DummyJSON hanya BERPURA-PURA menyimpan: id selalu sama.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PATCH dan DELETE: Ubah Tampilan Setelah Server Setuju</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9.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699766"/>
          </a:xfrm>
          <a:prstGeom prst="roundRect">
            <a:avLst>
              <a:gd name="adj" fmla="val 3387"/>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PATCH: kirim HANYA kolom yang berubah.</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http.patch(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Uri</a:t>
            </a:r>
            <a:r>
              <a:rPr lang="en-US" sz="1100" dirty="0">
                <a:solidFill>
                  <a:srgbClr val="E6EDF3"/>
                </a:solidFill>
                <a:latin typeface="Consolas" pitchFamily="34" charset="0"/>
                <a:ea typeface="Consolas" pitchFamily="34" charset="-122"/>
                <a:cs typeface="Consolas" pitchFamily="34" charset="-120"/>
              </a:rPr>
              <a:t>.https(_host, </a:t>
            </a:r>
            <a:r>
              <a:rPr lang="en-US" sz="1100" dirty="0">
                <a:solidFill>
                  <a:srgbClr val="C3E88D"/>
                </a:solidFill>
                <a:latin typeface="Consolas" pitchFamily="34" charset="0"/>
                <a:ea typeface="Consolas" pitchFamily="34" charset="-122"/>
                <a:cs typeface="Consolas" pitchFamily="34" charset="-120"/>
              </a:rPr>
              <a:t>'/todos/$id'</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headers: _header,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body: jsonEncode({</a:t>
            </a:r>
            <a:r>
              <a:rPr lang="en-US" sz="1100" dirty="0">
                <a:solidFill>
                  <a:srgbClr val="C3E88D"/>
                </a:solidFill>
                <a:latin typeface="Consolas" pitchFamily="34" charset="0"/>
                <a:ea typeface="Consolas" pitchFamily="34" charset="-122"/>
                <a:cs typeface="Consolas" pitchFamily="34" charset="-120"/>
              </a:rPr>
              <a:t>'completed'</a:t>
            </a:r>
            <a:r>
              <a:rPr lang="en-US" sz="1100" dirty="0">
                <a:solidFill>
                  <a:srgbClr val="E6EDF3"/>
                </a:solidFill>
                <a:latin typeface="Consolas" pitchFamily="34" charset="0"/>
                <a:ea typeface="Consolas" pitchFamily="34" charset="-122"/>
                <a:cs typeface="Consolas" pitchFamily="34" charset="-120"/>
              </a:rPr>
              <a:t>: selesai}),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DELETE: jawaban berisi isDeleted.</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dynamic</a:t>
            </a:r>
            <a:r>
              <a:rPr lang="en-US" sz="1100" dirty="0">
                <a:solidFill>
                  <a:srgbClr val="E6EDF3"/>
                </a:solidFill>
                <a:latin typeface="Consolas" pitchFamily="34" charset="0"/>
                <a:ea typeface="Consolas" pitchFamily="34" charset="-122"/>
                <a:cs typeface="Consolas" pitchFamily="34" charset="-120"/>
              </a:rPr>
              <a:t>&gt; json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_baca(</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http.delete(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Uri</a:t>
            </a:r>
            <a:r>
              <a:rPr lang="en-US" sz="1100" dirty="0">
                <a:solidFill>
                  <a:srgbClr val="E6EDF3"/>
                </a:solidFill>
                <a:latin typeface="Consolas" pitchFamily="34" charset="0"/>
                <a:ea typeface="Consolas" pitchFamily="34" charset="-122"/>
                <a:cs typeface="Consolas" pitchFamily="34" charset="-120"/>
              </a:rPr>
              <a:t>.https(_host, </a:t>
            </a:r>
            <a:r>
              <a:rPr lang="en-US" sz="1100" dirty="0">
                <a:solidFill>
                  <a:srgbClr val="C3E88D"/>
                </a:solidFill>
                <a:latin typeface="Consolas" pitchFamily="34" charset="0"/>
                <a:ea typeface="Consolas" pitchFamily="34" charset="-122"/>
                <a:cs typeface="Consolas" pitchFamily="34" charset="-120"/>
              </a:rPr>
              <a:t>'/todos/$id'</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headers: _header));</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(json[</a:t>
            </a:r>
            <a:r>
              <a:rPr lang="en-US" sz="1100" dirty="0">
                <a:solidFill>
                  <a:srgbClr val="C3E88D"/>
                </a:solidFill>
                <a:latin typeface="Consolas" pitchFamily="34" charset="0"/>
                <a:ea typeface="Consolas" pitchFamily="34" charset="-122"/>
                <a:cs typeface="Consolas" pitchFamily="34" charset="-120"/>
              </a:rPr>
              <a:t>'isDeleted'</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 { </a:t>
            </a:r>
            <a:r>
              <a:rPr lang="en-US" sz="1100" i="1" dirty="0">
                <a:solidFill>
                  <a:srgbClr val="8FA3BC"/>
                </a:solidFill>
                <a:latin typeface="Consolas" pitchFamily="34" charset="0"/>
                <a:ea typeface="Consolas" pitchFamily="34" charset="-122"/>
                <a:cs typeface="Consolas" pitchFamily="34" charset="-120"/>
              </a:rPr>
              <a:t>/* gagal */</a:t>
            </a:r>
            <a:r>
              <a:rPr lang="en-US" sz="1100" dirty="0">
                <a:solidFill>
                  <a:srgbClr val="E6EDF3"/>
                </a:solidFill>
                <a:latin typeface="Consolas" pitchFamily="34" charset="0"/>
                <a:ea typeface="Consolas" pitchFamily="34" charset="-122"/>
                <a:cs typeface="Consolas" pitchFamily="34" charset="-120"/>
              </a:rPr>
              <a:t> }</a:t>
            </a:r>
            <a:endParaRPr lang="en-US" sz="1100" dirty="0"/>
          </a:p>
        </p:txBody>
      </p:sp>
      <p:sp>
        <p:nvSpPr>
          <p:cNvPr id="7" name="tombol tautan">
            <a:hlinkClick r:id="rId2" tooltip="https://github.com/antonprafanto/mobile2026/blob/main/pertemuan_10_async_dan_rest_api/kode/contoh_09_ubah_dan_hapus.dart"/>
          </p:cNvPr>
          <p:cNvSpPr txBox="1"/>
          <p:nvPr/>
        </p:nvSpPr>
        <p:spPr>
          <a:xfrm>
            <a:off x="548640" y="4254246"/>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contoh_09_ubah_dan_hapus.dart</a:t>
            </a:r>
            <a:endParaRPr lang="en-US" sz="1300" dirty="0"/>
          </a:p>
        </p:txBody>
      </p:sp>
      <p:pic>
        <p:nvPicPr>
          <p:cNvPr id="8" name="Image 1" descr="ikon tautan">
            <a:hlinkClick r:id="rId4" tooltip="https://github.com/antonprafanto/mobile2026/blob/main/pertemuan_10_async_dan_rest_api/kode/contoh_09_ubah_dan_hapus.dart"/>
          </p:cNvPr>
          <p:cNvPicPr>
            <a:picLocks noChangeAspect="1"/>
          </p:cNvPicPr>
          <p:nvPr/>
        </p:nvPicPr>
        <p:blipFill>
          <a:blip r:embed="rId3"/>
          <a:stretch>
            <a:fillRect/>
          </a:stretch>
        </p:blipFill>
        <p:spPr>
          <a:xfrm>
            <a:off x="694944" y="4345686"/>
            <a:ext cx="274320" cy="274320"/>
          </a:xfrm>
          <a:prstGeom prst="rect">
            <a:avLst/>
          </a:prstGeom>
        </p:spPr>
      </p:pic>
      <p:sp>
        <p:nvSpPr>
          <p:cNvPr id="9" name="daftar poin"/>
          <p:cNvSpPr txBox="1"/>
          <p:nvPr/>
        </p:nvSpPr>
        <p:spPr>
          <a:xfrm>
            <a:off x="548640" y="4985766"/>
            <a:ext cx="7608319" cy="1232154"/>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1. Saat dicentang: baris menampilkan lingkaran kecil, tidak bisa diketuk.</a:t>
            </a:r>
            <a:endParaRPr lang="en-US" sz="1500" dirty="0"/>
          </a:p>
          <a:p>
            <a:pPr marL="228600" indent="-228600">
              <a:spcAft>
                <a:spcPts val="800"/>
              </a:spcAft>
              <a:buSzPct val="100000"/>
              <a:buChar char="•"/>
            </a:pPr>
            <a:r>
              <a:rPr lang="en-US" sz="1500" dirty="0">
                <a:solidFill>
                  <a:schemeClr val="tx1"/>
                </a:solidFill>
              </a:rPr>
              <a:t>2. Server menjawab berhasil → baru tanda centang berubah + SnackBar.</a:t>
            </a:r>
            <a:endParaRPr lang="en-US" sz="1500" dirty="0"/>
          </a:p>
          <a:p>
            <a:pPr marL="228600" indent="-228600">
              <a:spcAft>
                <a:spcPts val="800"/>
              </a:spcAft>
              <a:buSzPct val="100000"/>
              <a:buChar char="•"/>
            </a:pPr>
            <a:r>
              <a:rPr lang="en-US" sz="1500" dirty="0">
                <a:solidFill>
                  <a:schemeClr val="tx1"/>
                </a:solidFill>
              </a:rPr>
              <a:t>3. Gagal → tampilan tidak berubah, SnackBar memberi tahu.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Tanpa Internet dengan MockClient</a:t>
            </a:r>
            <a:endParaRPr lang="en-US" sz="4000" dirty="0"/>
          </a:p>
        </p:txBody>
      </p:sp>
      <p:sp>
        <p:nvSpPr>
          <p:cNvPr id="5" name="lingkaran uji"/>
          <p:cNvSpPr/>
          <p:nvPr/>
        </p:nvSpPr>
        <p:spPr>
          <a:xfrm>
            <a:off x="1097280" y="2148840"/>
            <a:ext cx="2011680" cy="2011680"/>
          </a:xfrm>
          <a:prstGeom prst="ellipse">
            <a:avLst/>
          </a:prstGeom>
          <a:solidFill>
            <a:schemeClr val="accent1"/>
          </a:solidFill>
          <a:ln/>
        </p:spPr>
      </p:sp>
      <p:pic>
        <p:nvPicPr>
          <p:cNvPr id="6" name="Image 0" descr="uj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MockClient: Server Tiruan</a:t>
            </a:r>
            <a:endParaRPr lang="en-US" sz="3200" dirty="0"/>
          </a:p>
        </p:txBody>
      </p:sp>
      <p:sp>
        <p:nvSpPr>
          <p:cNvPr id="4" name="kotak kode"/>
          <p:cNvSpPr txBox="1"/>
          <p:nvPr/>
        </p:nvSpPr>
        <p:spPr>
          <a:xfrm>
            <a:off x="548640" y="1371600"/>
            <a:ext cx="640080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import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'package:http/testing.dart'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http.</a:t>
            </a:r>
            <a:r>
              <a:rPr lang="en-US" sz="1300" dirty="0">
                <a:solidFill>
                  <a:srgbClr val="FFCB6B"/>
                </a:solidFill>
                <a:latin typeface="Consolas" pitchFamily="34" charset="0"/>
                <a:ea typeface="Consolas" pitchFamily="34" charset="-122"/>
                <a:cs typeface="Consolas" pitchFamily="34" charset="-120"/>
              </a:rPr>
              <a:t>Request</a:t>
            </a:r>
            <a:r>
              <a:rPr lang="en-US" sz="1300" dirty="0">
                <a:solidFill>
                  <a:srgbClr val="E6EDF3"/>
                </a:solidFill>
                <a:latin typeface="Consolas" pitchFamily="34" charset="0"/>
                <a:ea typeface="Consolas" pitchFamily="34" charset="-122"/>
                <a:cs typeface="Consolas" pitchFamily="34" charset="-120"/>
              </a:rPr>
              <a:t>? terakhir;</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MockClient</a:t>
            </a:r>
            <a:r>
              <a:rPr lang="en-US" sz="1300" dirty="0">
                <a:solidFill>
                  <a:srgbClr val="E6EDF3"/>
                </a:solidFill>
                <a:latin typeface="Consolas" pitchFamily="34" charset="0"/>
                <a:ea typeface="Consolas" pitchFamily="34" charset="-122"/>
                <a:cs typeface="Consolas" pitchFamily="34" charset="-120"/>
              </a:rPr>
              <a:t> serverBaik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MockClient</a:t>
            </a:r>
            <a:r>
              <a:rPr lang="en-US" sz="1300" dirty="0">
                <a:solidFill>
                  <a:srgbClr val="E6EDF3"/>
                </a:solidFill>
                <a:latin typeface="Consolas" pitchFamily="34" charset="0"/>
                <a:ea typeface="Consolas" pitchFamily="34" charset="-122"/>
                <a:cs typeface="Consolas" pitchFamily="34" charset="-120"/>
              </a:rPr>
              <a:t>((http.</a:t>
            </a:r>
            <a:r>
              <a:rPr lang="en-US" sz="1300" dirty="0">
                <a:solidFill>
                  <a:srgbClr val="FFCB6B"/>
                </a:solidFill>
                <a:latin typeface="Consolas" pitchFamily="34" charset="0"/>
                <a:ea typeface="Consolas" pitchFamily="34" charset="-122"/>
                <a:cs typeface="Consolas" pitchFamily="34" charset="-120"/>
              </a:rPr>
              <a:t>Request</a:t>
            </a:r>
            <a:r>
              <a:rPr lang="en-US" sz="1300" dirty="0">
                <a:solidFill>
                  <a:srgbClr val="E6EDF3"/>
                </a:solidFill>
                <a:latin typeface="Consolas" pitchFamily="34" charset="0"/>
                <a:ea typeface="Consolas" pitchFamily="34" charset="-122"/>
                <a:cs typeface="Consolas" pitchFamily="34" charset="-120"/>
              </a:rPr>
              <a:t> permintaan)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terakhir = permintaan; </a:t>
            </a:r>
            <a:r>
              <a:rPr lang="en-US" sz="1300" i="1" dirty="0">
                <a:solidFill>
                  <a:srgbClr val="8FA3BC"/>
                </a:solidFill>
                <a:latin typeface="Consolas" pitchFamily="34" charset="0"/>
                <a:ea typeface="Consolas" pitchFamily="34" charset="-122"/>
                <a:cs typeface="Consolas" pitchFamily="34" charset="-120"/>
              </a:rPr>
              <a:t>// catat permintaan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http.</a:t>
            </a:r>
            <a:r>
              <a:rPr lang="en-US" sz="1300" dirty="0">
                <a:solidFill>
                  <a:srgbClr val="FFCB6B"/>
                </a:solidFill>
                <a:latin typeface="Consolas" pitchFamily="34" charset="0"/>
                <a:ea typeface="Consolas" pitchFamily="34" charset="-122"/>
                <a:cs typeface="Consolas" pitchFamily="34" charset="-120"/>
              </a:rPr>
              <a:t>Response</a:t>
            </a:r>
            <a:r>
              <a:rPr lang="en-US" sz="1300" dirty="0">
                <a:solidFill>
                  <a:srgbClr val="E6EDF3"/>
                </a:solidFill>
                <a:latin typeface="Consolas" pitchFamily="34" charset="0"/>
                <a:ea typeface="Consolas" pitchFamily="34" charset="-122"/>
                <a:cs typeface="Consolas" pitchFamily="34" charset="-120"/>
              </a:rPr>
              <a:t>(jsonDuaProduk, </a:t>
            </a:r>
            <a:r>
              <a:rPr lang="en-US" sz="1300" dirty="0">
                <a:solidFill>
                  <a:srgbClr val="F78C6C"/>
                </a:solidFill>
                <a:latin typeface="Consolas" pitchFamily="34" charset="0"/>
                <a:ea typeface="Consolas" pitchFamily="34" charset="-122"/>
                <a:cs typeface="Consolas" pitchFamily="34" charset="-120"/>
              </a:rPr>
              <a:t>200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RepositoriProdukApi</a:t>
            </a:r>
            <a:r>
              <a:rPr lang="en-US" sz="1300" dirty="0">
                <a:solidFill>
                  <a:srgbClr val="E6EDF3"/>
                </a:solidFill>
                <a:latin typeface="Consolas" pitchFamily="34" charset="0"/>
                <a:ea typeface="Consolas" pitchFamily="34" charset="-122"/>
                <a:cs typeface="Consolas" pitchFamily="34" charset="-120"/>
              </a:rPr>
              <a:t> repo = </a:t>
            </a:r>
            <a:r>
              <a:rPr lang="en-US" sz="1300" dirty="0">
                <a:solidFill>
                  <a:srgbClr val="FFCB6B"/>
                </a:solidFill>
                <a:latin typeface="Consolas" pitchFamily="34" charset="0"/>
                <a:ea typeface="Consolas" pitchFamily="34" charset="-122"/>
                <a:cs typeface="Consolas" pitchFamily="34" charset="-120"/>
              </a:rPr>
              <a:t>RepositoriProdukApi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layanan: </a:t>
            </a:r>
            <a:r>
              <a:rPr lang="en-US" sz="1300" dirty="0">
                <a:solidFill>
                  <a:srgbClr val="FFCB6B"/>
                </a:solidFill>
                <a:latin typeface="Consolas" pitchFamily="34" charset="0"/>
                <a:ea typeface="Consolas" pitchFamily="34" charset="-122"/>
                <a:cs typeface="Consolas" pitchFamily="34" charset="-120"/>
              </a:rPr>
              <a:t>LayananDummyJson</a:t>
            </a:r>
            <a:r>
              <a:rPr lang="en-US" sz="1300" dirty="0">
                <a:solidFill>
                  <a:srgbClr val="E6EDF3"/>
                </a:solidFill>
                <a:latin typeface="Consolas" pitchFamily="34" charset="0"/>
                <a:ea typeface="Consolas" pitchFamily="34" charset="-122"/>
                <a:cs typeface="Consolas" pitchFamily="34" charset="-120"/>
              </a:rPr>
              <a:t>(klien: serverBaik),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0_async_dan_rest_api/kode/contoh_10_menguji_dengan_mockclient.dart"/>
          </p:cNvPr>
          <p:cNvSpPr txBox="1"/>
          <p:nvPr/>
        </p:nvSpPr>
        <p:spPr>
          <a:xfrm>
            <a:off x="548640" y="4507992"/>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contoh_10_menguji_dengan_mockclient.dart</a:t>
            </a:r>
            <a:endParaRPr lang="en-US" sz="1300" dirty="0"/>
          </a:p>
        </p:txBody>
      </p:sp>
      <p:pic>
        <p:nvPicPr>
          <p:cNvPr id="6" name="Image 0" descr="ikon tautan">
            <a:hlinkClick r:id="rId3" tooltip="https://github.com/antonprafanto/mobile2026/blob/main/pertemuan_10_async_dan_rest_api/kode/contoh_10_menguji_dengan_mockclient.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Server sungguhan: butuh internet, hasil berubah, sulit memaksa 404 atau jawaban lambat.</a:t>
            </a:r>
            <a:endParaRPr lang="en-US" sz="1700" dirty="0"/>
          </a:p>
          <a:p>
            <a:pPr marL="228600" indent="-228600">
              <a:spcAft>
                <a:spcPts val="800"/>
              </a:spcAft>
              <a:buSzPct val="100000"/>
              <a:buChar char="•"/>
            </a:pPr>
            <a:r>
              <a:rPr lang="en-US" sz="1700" dirty="0">
                <a:solidFill>
                  <a:schemeClr val="tx1"/>
                </a:solidFill>
              </a:rPr>
              <a:t>MockClient adalah http.Client palsu.</a:t>
            </a:r>
            <a:endParaRPr lang="en-US" sz="1700" dirty="0"/>
          </a:p>
          <a:p>
            <a:pPr marL="228600" indent="-228600">
              <a:spcAft>
                <a:spcPts val="800"/>
              </a:spcAft>
              <a:buSzPct val="100000"/>
              <a:buChar char="•"/>
            </a:pPr>
            <a:r>
              <a:rPr lang="en-US" sz="1700" dirty="0">
                <a:solidFill>
                  <a:schemeClr val="tx1"/>
                </a:solidFill>
              </a:rPr>
              <a:t>Bisa dipakai karena layanan menerima http.Client lewat constructor (dependency injection).</a:t>
            </a:r>
            <a:endParaRPr lang="en-US" sz="1700" dirty="0"/>
          </a:p>
          <a:p>
            <a:pPr marL="228600" indent="-228600">
              <a:spcAft>
                <a:spcPts val="800"/>
              </a:spcAft>
              <a:buSzPct val="100000"/>
              <a:buChar char="•"/>
            </a:pPr>
            <a:r>
              <a:rPr lang="en-US" sz="1700" dirty="0">
                <a:solidFill>
                  <a:schemeClr val="tx1"/>
                </a:solidFill>
              </a:rPr>
              <a:t>Server lambat: Future.delayed di dalam MockClient + batas waktu pendek.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10: Pengujian Menemukan Bug</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10.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galatDari(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Object</a:t>
            </a:r>
            <a:r>
              <a:rPr lang="en-US" sz="1200" dirty="0">
                <a:solidFill>
                  <a:srgbClr val="E6EDF3"/>
                </a:solidFill>
                <a:latin typeface="Consolas" pitchFamily="34" charset="0"/>
                <a:ea typeface="Consolas" pitchFamily="34" charset="-122"/>
                <a:cs typeface="Consolas" pitchFamily="34" charset="-120"/>
              </a:rPr>
              <a:t>?&gt; </a:t>
            </a:r>
            <a:r>
              <a:rPr lang="en-US" sz="1200" dirty="0">
                <a:solidFill>
                  <a:srgbClr val="FFCB6B"/>
                </a:solidFill>
                <a:latin typeface="Consolas" pitchFamily="34" charset="0"/>
                <a:ea typeface="Consolas" pitchFamily="34" charset="-122"/>
                <a:cs typeface="Consolas" pitchFamily="34" charset="-120"/>
              </a:rPr>
              <a:t>Function</a:t>
            </a:r>
            <a:r>
              <a:rPr lang="en-US" sz="1200" dirty="0">
                <a:solidFill>
                  <a:srgbClr val="E6EDF3"/>
                </a:solidFill>
                <a:latin typeface="Consolas" pitchFamily="34" charset="0"/>
                <a:ea typeface="Consolas" pitchFamily="34" charset="-122"/>
                <a:cs typeface="Consolas" pitchFamily="34" charset="-120"/>
              </a:rPr>
              <a:t>() aksi)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aksi();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'tidak ada galat'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ApiException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catch</a:t>
            </a:r>
            <a:r>
              <a:rPr lang="en-US" sz="1200" dirty="0">
                <a:solidFill>
                  <a:srgbClr val="E6EDF3"/>
                </a:solidFill>
                <a:latin typeface="Consolas" pitchFamily="34" charset="0"/>
                <a:ea typeface="Consolas" pitchFamily="34" charset="-122"/>
                <a:cs typeface="Consolas" pitchFamily="34" charset="-120"/>
              </a:rPr>
              <a:t> (galat)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'ApiException ${galat.kodeStatus}'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TimeoutException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'TimeoutException'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10_async_dan_rest_api/kode/contoh_10_menguji_dengan_mockclient.dart"/>
          </p:cNvPr>
          <p:cNvSpPr txBox="1"/>
          <p:nvPr/>
        </p:nvSpPr>
        <p:spPr>
          <a:xfrm>
            <a:off x="548640" y="4462272"/>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contoh_10_menguji_dengan_mockclient.dart</a:t>
            </a:r>
            <a:endParaRPr lang="en-US" sz="1300" dirty="0"/>
          </a:p>
        </p:txBody>
      </p:sp>
      <p:pic>
        <p:nvPicPr>
          <p:cNvPr id="8" name="Image 1" descr="ikon tautan">
            <a:hlinkClick r:id="rId4" tooltip="https://github.com/antonprafanto/mobile2026/blob/main/pertemuan_10_async_dan_rest_api/kode/contoh_10_menguji_dengan_mockclient.dart"/>
          </p:cNvPr>
          <p:cNvPicPr>
            <a:picLocks noChangeAspect="1"/>
          </p:cNvPicPr>
          <p:nvPr/>
        </p:nvPicPr>
        <p:blipFill>
          <a:blip r:embed="rId3"/>
          <a:stretch>
            <a:fillRect/>
          </a:stretch>
        </p:blipFill>
        <p:spPr>
          <a:xfrm>
            <a:off x="694944" y="4553712"/>
            <a:ext cx="274320" cy="274320"/>
          </a:xfrm>
          <a:prstGeom prst="rect">
            <a:avLst/>
          </a:prstGeom>
        </p:spPr>
      </p:pic>
      <p:sp>
        <p:nvSpPr>
          <p:cNvPr id="9" name="daftar poin"/>
          <p:cNvSpPr txBox="1"/>
          <p:nvPr/>
        </p:nvSpPr>
        <p:spPr>
          <a:xfrm>
            <a:off x="548640" y="5193792"/>
            <a:ext cx="7608319"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Hasil: 8 dari 9 uji lulus.</a:t>
            </a:r>
            <a:endParaRPr lang="en-US" sz="1500" dirty="0"/>
          </a:p>
          <a:p>
            <a:pPr marL="228600" indent="-228600">
              <a:spcAft>
                <a:spcPts val="800"/>
              </a:spcAft>
              <a:buSzPct val="100000"/>
              <a:buChar char="•"/>
            </a:pPr>
            <a:r>
              <a:rPr lang="en-US" sz="1500" dirty="0">
                <a:solidFill>
                  <a:schemeClr val="tx1"/>
                </a:solidFill>
              </a:rPr>
              <a:t>"Halaman ketiga: skip=20 — Diharapkan 20, tetapi hasilnya 10".</a:t>
            </a:r>
            <a:endParaRPr lang="en-US" sz="1500" dirty="0"/>
          </a:p>
          <a:p>
            <a:pPr marL="228600" indent="-228600">
              <a:spcAft>
                <a:spcPts val="800"/>
              </a:spcAft>
              <a:buSzPct val="100000"/>
              <a:buChar char="•"/>
            </a:pPr>
            <a:r>
              <a:rPr lang="en-US" sz="1500" dirty="0">
                <a:solidFill>
                  <a:schemeClr val="tx1"/>
                </a:solidFill>
              </a:rPr>
              <a:t>Cari penyebabnya di RepositoriProdukApi.cari: nilai apa yang dikirim untuk skip?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Cuaca Kampus</a:t>
            </a:r>
            <a:endParaRPr lang="en-US" sz="4000" dirty="0"/>
          </a:p>
        </p:txBody>
      </p:sp>
      <p:sp>
        <p:nvSpPr>
          <p:cNvPr id="5" name="lingkaran cuaca"/>
          <p:cNvSpPr/>
          <p:nvPr/>
        </p:nvSpPr>
        <p:spPr>
          <a:xfrm>
            <a:off x="1097280" y="2148840"/>
            <a:ext cx="2011680" cy="2011680"/>
          </a:xfrm>
          <a:prstGeom prst="ellipse">
            <a:avLst/>
          </a:prstGeom>
          <a:solidFill>
            <a:schemeClr val="accent1"/>
          </a:solidFill>
          <a:ln/>
        </p:spPr>
      </p:sp>
      <p:pic>
        <p:nvPicPr>
          <p:cNvPr id="6" name="Image 0" descr="cuac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Cuaca Kampus: Fitur dan Sumber Data</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Data dari Open-Meteo: gratis tanpa kunci API untuk keperluan nonkomersial, berlisensi CC BY 4.0 (wajib menyebut sumber).</a:t>
            </a:r>
            <a:endParaRPr lang="en-US" sz="1800" dirty="0"/>
          </a:p>
        </p:txBody>
      </p:sp>
      <p:sp>
        <p:nvSpPr>
          <p:cNvPr id="5" name="kartu 1"/>
          <p:cNvSpPr/>
          <p:nvPr/>
        </p:nvSpPr>
        <p:spPr>
          <a:xfrm>
            <a:off x="548640" y="2011680"/>
            <a:ext cx="5387188" cy="1965960"/>
          </a:xfrm>
          <a:prstGeom prst="roundRect">
            <a:avLst>
              <a:gd name="adj" fmla="val 5581"/>
            </a:avLst>
          </a:prstGeom>
          <a:solidFill>
            <a:schemeClr val="bg2"/>
          </a:solidFill>
          <a:ln/>
        </p:spPr>
      </p:sp>
      <p:sp>
        <p:nvSpPr>
          <p:cNvPr id="6" name="lingkaran rute"/>
          <p:cNvSpPr/>
          <p:nvPr/>
        </p:nvSpPr>
        <p:spPr>
          <a:xfrm>
            <a:off x="777240" y="2240280"/>
            <a:ext cx="685800" cy="685800"/>
          </a:xfrm>
          <a:prstGeom prst="ellipse">
            <a:avLst/>
          </a:prstGeom>
          <a:solidFill>
            <a:schemeClr val="accent1"/>
          </a:solidFill>
          <a:ln/>
        </p:spPr>
      </p:sp>
      <p:pic>
        <p:nvPicPr>
          <p:cNvPr id="7" name="Image 0" descr="rute">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Pilihan kota</a:t>
            </a:r>
            <a:endParaRPr lang="en-US" sz="1800" dirty="0"/>
          </a:p>
        </p:txBody>
      </p:sp>
      <p:sp>
        <p:nvSpPr>
          <p:cNvPr id="9" name="Text 5"/>
          <p:cNvSpPr txBox="1"/>
          <p:nvPr/>
        </p:nvSpPr>
        <p:spPr>
          <a:xfrm>
            <a:off x="777240" y="3063240"/>
            <a:ext cx="4929988" cy="777240"/>
          </a:xfrm>
          <a:prstGeom prst="rect">
            <a:avLst/>
          </a:prstGeom>
          <a:noFill/>
          <a:ln/>
        </p:spPr>
        <p:txBody>
          <a:bodyPr wrap="square" lIns="0" tIns="0" rIns="0" bIns="0" rtlCol="0" anchor="t"/>
          <a:lstStyle/>
          <a:p>
            <a:pPr indent="0" marL="0">
              <a:buNone/>
            </a:pPr>
            <a:r>
              <a:rPr lang="en-US" sz="1500" dirty="0">
                <a:solidFill>
                  <a:schemeClr val="tx1"/>
                </a:solidFill>
              </a:rPr>
              <a:t>Chip Jakarta, Bandung, Yogyakarta, Surabaya, Denpasar, Samarinda, Makassar, Medan.</a:t>
            </a:r>
            <a:endParaRPr lang="en-US" sz="1500" dirty="0"/>
          </a:p>
        </p:txBody>
      </p:sp>
      <p:sp>
        <p:nvSpPr>
          <p:cNvPr id="10" name="kartu 2"/>
          <p:cNvSpPr/>
          <p:nvPr/>
        </p:nvSpPr>
        <p:spPr>
          <a:xfrm>
            <a:off x="6255868" y="2011680"/>
            <a:ext cx="5387188" cy="1965960"/>
          </a:xfrm>
          <a:prstGeom prst="roundRect">
            <a:avLst>
              <a:gd name="adj" fmla="val 5581"/>
            </a:avLst>
          </a:prstGeom>
          <a:solidFill>
            <a:schemeClr val="bg2"/>
          </a:solidFill>
          <a:ln/>
        </p:spPr>
      </p:sp>
      <p:sp>
        <p:nvSpPr>
          <p:cNvPr id="11" name="lingkaran cuaca"/>
          <p:cNvSpPr/>
          <p:nvPr/>
        </p:nvSpPr>
        <p:spPr>
          <a:xfrm>
            <a:off x="6484468" y="2240280"/>
            <a:ext cx="685800" cy="685800"/>
          </a:xfrm>
          <a:prstGeom prst="ellipse">
            <a:avLst/>
          </a:prstGeom>
          <a:solidFill>
            <a:schemeClr val="accent1"/>
          </a:solidFill>
          <a:ln/>
        </p:spPr>
      </p:sp>
      <p:pic>
        <p:nvPicPr>
          <p:cNvPr id="12" name="Image 1" descr="cuaca">    </p:cNvPr>
          <p:cNvPicPr>
            <a:picLocks noChangeAspect="1"/>
          </p:cNvPicPr>
          <p:nvPr/>
        </p:nvPicPr>
        <p:blipFill>
          <a:blip r:embed="rId2"/>
          <a:stretch>
            <a:fillRect/>
          </a:stretch>
        </p:blipFill>
        <p:spPr>
          <a:xfrm>
            <a:off x="6635344" y="2391156"/>
            <a:ext cx="384048" cy="384048"/>
          </a:xfrm>
          <a:prstGeom prst="rect">
            <a:avLst/>
          </a:prstGeom>
        </p:spPr>
      </p:pic>
      <p:sp>
        <p:nvSpPr>
          <p:cNvPr id="13" name="Text 8"/>
          <p:cNvSpPr txBox="1"/>
          <p:nvPr/>
        </p:nvSpPr>
        <p:spPr>
          <a:xfrm>
            <a:off x="7307428" y="221284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Cuaca saat ini</a:t>
            </a:r>
            <a:endParaRPr lang="en-US" sz="1800" dirty="0"/>
          </a:p>
        </p:txBody>
      </p:sp>
      <p:sp>
        <p:nvSpPr>
          <p:cNvPr id="14" name="Text 9"/>
          <p:cNvSpPr txBox="1"/>
          <p:nvPr/>
        </p:nvSpPr>
        <p:spPr>
          <a:xfrm>
            <a:off x="6484468" y="3063240"/>
            <a:ext cx="4929988" cy="777240"/>
          </a:xfrm>
          <a:prstGeom prst="rect">
            <a:avLst/>
          </a:prstGeom>
          <a:noFill/>
          <a:ln/>
        </p:spPr>
        <p:txBody>
          <a:bodyPr wrap="square" lIns="0" tIns="0" rIns="0" bIns="0" rtlCol="0" anchor="t"/>
          <a:lstStyle/>
          <a:p>
            <a:pPr indent="0" marL="0">
              <a:buNone/>
            </a:pPr>
            <a:r>
              <a:rPr lang="en-US" sz="1500" dirty="0">
                <a:solidFill>
                  <a:schemeClr val="tx1"/>
                </a:solidFill>
              </a:rPr>
              <a:t>Suhu, kondisi, kelembapan, angin, dan jam diperbarui.</a:t>
            </a:r>
            <a:endParaRPr lang="en-US" sz="1500" dirty="0"/>
          </a:p>
        </p:txBody>
      </p:sp>
      <p:sp>
        <p:nvSpPr>
          <p:cNvPr id="15" name="kartu 3"/>
          <p:cNvSpPr/>
          <p:nvPr/>
        </p:nvSpPr>
        <p:spPr>
          <a:xfrm>
            <a:off x="548640" y="4251960"/>
            <a:ext cx="5387188" cy="1965960"/>
          </a:xfrm>
          <a:prstGeom prst="roundRect">
            <a:avLst>
              <a:gd name="adj" fmla="val 5581"/>
            </a:avLst>
          </a:prstGeom>
          <a:solidFill>
            <a:schemeClr val="bg2"/>
          </a:solidFill>
          <a:ln/>
        </p:spPr>
      </p:sp>
      <p:sp>
        <p:nvSpPr>
          <p:cNvPr id="16" name="lingkaran jam"/>
          <p:cNvSpPr/>
          <p:nvPr/>
        </p:nvSpPr>
        <p:spPr>
          <a:xfrm>
            <a:off x="777240" y="4480560"/>
            <a:ext cx="685800" cy="685800"/>
          </a:xfrm>
          <a:prstGeom prst="ellipse">
            <a:avLst/>
          </a:prstGeom>
          <a:solidFill>
            <a:schemeClr val="accent1"/>
          </a:solidFill>
          <a:ln/>
        </p:spPr>
      </p:sp>
      <p:pic>
        <p:nvPicPr>
          <p:cNvPr id="17" name="Image 2" descr="jam">    </p:cNvPr>
          <p:cNvPicPr>
            <a:picLocks noChangeAspect="1"/>
          </p:cNvPicPr>
          <p:nvPr/>
        </p:nvPicPr>
        <p:blipFill>
          <a:blip r:embed="rId3"/>
          <a:stretch>
            <a:fillRect/>
          </a:stretch>
        </p:blipFill>
        <p:spPr>
          <a:xfrm>
            <a:off x="928116" y="4631436"/>
            <a:ext cx="384048" cy="384048"/>
          </a:xfrm>
          <a:prstGeom prst="rect">
            <a:avLst/>
          </a:prstGeom>
        </p:spPr>
      </p:pic>
      <p:sp>
        <p:nvSpPr>
          <p:cNvPr id="18" name="Text 12"/>
          <p:cNvSpPr txBox="1"/>
          <p:nvPr/>
        </p:nvSpPr>
        <p:spPr>
          <a:xfrm>
            <a:off x="1600200" y="445312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Prakiraan 7 hari</a:t>
            </a:r>
            <a:endParaRPr lang="en-US" sz="1800" dirty="0"/>
          </a:p>
        </p:txBody>
      </p:sp>
      <p:sp>
        <p:nvSpPr>
          <p:cNvPr id="19" name="Text 13"/>
          <p:cNvSpPr txBox="1"/>
          <p:nvPr/>
        </p:nvSpPr>
        <p:spPr>
          <a:xfrm>
            <a:off x="777240" y="5303520"/>
            <a:ext cx="4929988" cy="777240"/>
          </a:xfrm>
          <a:prstGeom prst="rect">
            <a:avLst/>
          </a:prstGeom>
          <a:noFill/>
          <a:ln/>
        </p:spPr>
        <p:txBody>
          <a:bodyPr wrap="square" lIns="0" tIns="0" rIns="0" bIns="0" rtlCol="0" anchor="t"/>
          <a:lstStyle/>
          <a:p>
            <a:pPr indent="0" marL="0">
              <a:buNone/>
            </a:pPr>
            <a:r>
              <a:rPr lang="en-US" sz="1500" dirty="0">
                <a:solidFill>
                  <a:schemeClr val="tx1"/>
                </a:solidFill>
              </a:rPr>
              <a:t>Kondisi, suhu tertinggi dan terendah, peluang hujan.</a:t>
            </a:r>
            <a:endParaRPr lang="en-US" sz="1500" dirty="0"/>
          </a:p>
        </p:txBody>
      </p:sp>
      <p:sp>
        <p:nvSpPr>
          <p:cNvPr id="20" name="kartu 4"/>
          <p:cNvSpPr/>
          <p:nvPr/>
        </p:nvSpPr>
        <p:spPr>
          <a:xfrm>
            <a:off x="6255868" y="4251960"/>
            <a:ext cx="5387188" cy="1965960"/>
          </a:xfrm>
          <a:prstGeom prst="roundRect">
            <a:avLst>
              <a:gd name="adj" fmla="val 5581"/>
            </a:avLst>
          </a:prstGeom>
          <a:solidFill>
            <a:schemeClr val="bg2"/>
          </a:solidFill>
          <a:ln/>
        </p:spPr>
      </p:sp>
      <p:sp>
        <p:nvSpPr>
          <p:cNvPr id="21" name="lingkaran ulang"/>
          <p:cNvSpPr/>
          <p:nvPr/>
        </p:nvSpPr>
        <p:spPr>
          <a:xfrm>
            <a:off x="6484468" y="4480560"/>
            <a:ext cx="685800" cy="685800"/>
          </a:xfrm>
          <a:prstGeom prst="ellipse">
            <a:avLst/>
          </a:prstGeom>
          <a:solidFill>
            <a:schemeClr val="accent1"/>
          </a:solidFill>
          <a:ln/>
        </p:spPr>
      </p:sp>
      <p:pic>
        <p:nvPicPr>
          <p:cNvPr id="22" name="Image 3" descr="ulang">    </p:cNvPr>
          <p:cNvPicPr>
            <a:picLocks noChangeAspect="1"/>
          </p:cNvPicPr>
          <p:nvPr/>
        </p:nvPicPr>
        <p:blipFill>
          <a:blip r:embed="rId4"/>
          <a:stretch>
            <a:fillRect/>
          </a:stretch>
        </p:blipFill>
        <p:spPr>
          <a:xfrm>
            <a:off x="6635344" y="4631436"/>
            <a:ext cx="384048" cy="384048"/>
          </a:xfrm>
          <a:prstGeom prst="rect">
            <a:avLst/>
          </a:prstGeom>
        </p:spPr>
      </p:pic>
      <p:sp>
        <p:nvSpPr>
          <p:cNvPr id="23" name="Text 16"/>
          <p:cNvSpPr txBox="1"/>
          <p:nvPr/>
        </p:nvSpPr>
        <p:spPr>
          <a:xfrm>
            <a:off x="7307428" y="445312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Interaksi</a:t>
            </a:r>
            <a:endParaRPr lang="en-US" sz="1800" dirty="0"/>
          </a:p>
        </p:txBody>
      </p:sp>
      <p:sp>
        <p:nvSpPr>
          <p:cNvPr id="24" name="Text 17"/>
          <p:cNvSpPr txBox="1"/>
          <p:nvPr/>
        </p:nvSpPr>
        <p:spPr>
          <a:xfrm>
            <a:off x="6484468" y="5303520"/>
            <a:ext cx="4929988" cy="777240"/>
          </a:xfrm>
          <a:prstGeom prst="rect">
            <a:avLst/>
          </a:prstGeom>
          <a:noFill/>
          <a:ln/>
        </p:spPr>
        <p:txBody>
          <a:bodyPr wrap="square" lIns="0" tIns="0" rIns="0" bIns="0" rtlCol="0" anchor="t"/>
          <a:lstStyle/>
          <a:p>
            <a:pPr indent="0" marL="0">
              <a:buNone/>
            </a:pPr>
            <a:r>
              <a:rPr lang="en-US" sz="1500" dirty="0">
                <a:solidFill>
                  <a:schemeClr val="tx1"/>
                </a:solidFill>
              </a:rPr>
              <a:t>Tarik untuk menyegarkan; Coba lagi saat gagal.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Repository: Menyatukan Larik Sejajar</a:t>
            </a:r>
            <a:endParaRPr lang="en-US" sz="3200" dirty="0"/>
          </a:p>
        </p:txBody>
      </p:sp>
      <p:sp>
        <p:nvSpPr>
          <p:cNvPr id="4" name="kotak kode"/>
          <p:cNvSpPr txBox="1"/>
          <p:nvPr/>
        </p:nvSpPr>
        <p:spPr>
          <a:xfrm>
            <a:off x="548640" y="1371600"/>
            <a:ext cx="676656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(json </a:t>
            </a:r>
            <a:r>
              <a:rPr lang="en-US" sz="1200" dirty="0">
                <a:solidFill>
                  <a:srgbClr val="C792EA"/>
                </a:solidFill>
                <a:latin typeface="Consolas" pitchFamily="34" charset="0"/>
                <a:ea typeface="Consolas" pitchFamily="34" charset="-122"/>
                <a:cs typeface="Consolas" pitchFamily="34" charset="-120"/>
              </a:rPr>
              <a:t>case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'time'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tanggal,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'weather_code'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kode,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'temperature_2m_max'</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maks,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min dan peluang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periksa: semua larik sama panjang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i &lt; tanggal.length; 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PrakiraanHarian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tanggal: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.parse(tanggal[i]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kondisi: </a:t>
            </a:r>
            <a:r>
              <a:rPr lang="en-US" sz="1200" dirty="0">
                <a:solidFill>
                  <a:srgbClr val="FFCB6B"/>
                </a:solidFill>
                <a:latin typeface="Consolas" pitchFamily="34" charset="0"/>
                <a:ea typeface="Consolas" pitchFamily="34" charset="-122"/>
                <a:cs typeface="Consolas" pitchFamily="34" charset="-120"/>
              </a:rPr>
              <a:t>Kondisi</a:t>
            </a:r>
            <a:r>
              <a:rPr lang="en-US" sz="1200" dirty="0">
                <a:solidFill>
                  <a:srgbClr val="E6EDF3"/>
                </a:solidFill>
                <a:latin typeface="Consolas" pitchFamily="34" charset="0"/>
                <a:ea typeface="Consolas" pitchFamily="34" charset="-122"/>
                <a:cs typeface="Consolas" pitchFamily="34" charset="-120"/>
              </a:rPr>
              <a:t>.dariKode((kode[i]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).toInt()),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suhuMaks: (maks[i]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).toDouble(),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peluangHujan: (peluang[i] </a:t>
            </a:r>
            <a:r>
              <a:rPr lang="en-US" sz="1200" dirty="0">
                <a:solidFill>
                  <a:srgbClr val="C792EA"/>
                </a:solidFill>
                <a:latin typeface="Consolas" pitchFamily="34" charset="0"/>
                <a:ea typeface="Consolas" pitchFamily="34" charset="-122"/>
                <a:cs typeface="Consolas" pitchFamily="34" charset="-120"/>
              </a:rPr>
              <a:t>as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?)?.round(),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0_async_dan_rest_api/kode/contoh_11_studi_kasus_cuaca_kampus.dart"/>
          </p:cNvPr>
          <p:cNvSpPr txBox="1"/>
          <p:nvPr/>
        </p:nvSpPr>
        <p:spPr>
          <a:xfrm>
            <a:off x="548640" y="5276088"/>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contoh_11_studi_kasus_cuaca_kampus.dart</a:t>
            </a:r>
            <a:endParaRPr lang="en-US" sz="1300" dirty="0"/>
          </a:p>
        </p:txBody>
      </p:sp>
      <p:pic>
        <p:nvPicPr>
          <p:cNvPr id="6" name="Image 0" descr="ikon tautan">
            <a:hlinkClick r:id="rId3" tooltip="https://github.com/antonprafanto/mobile2026/blob/main/pertemuan_10_async_dan_rest_api/kode/contoh_11_studi_kasus_cuaca_kampus.dart"/>
          </p:cNvPr>
          <p:cNvPicPr>
            <a:picLocks noChangeAspect="1"/>
          </p:cNvPicPr>
          <p:nvPr/>
        </p:nvPicPr>
        <p:blipFill>
          <a:blip r:embed="rId2"/>
          <a:stretch>
            <a:fillRect/>
          </a:stretch>
        </p:blipFill>
        <p:spPr>
          <a:xfrm>
            <a:off x="694944" y="5367528"/>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daily bukan daftar objek, melainkan beberapa LARIK SEJAJAR: unsur ke-i milik hari ke-i.</a:t>
            </a:r>
            <a:endParaRPr lang="en-US" sz="1700" dirty="0"/>
          </a:p>
          <a:p>
            <a:pPr marL="228600" indent="-228600">
              <a:spcAft>
                <a:spcPts val="800"/>
              </a:spcAft>
              <a:buSzPct val="100000"/>
              <a:buChar char="•"/>
            </a:pPr>
            <a:r>
              <a:rPr lang="en-US" sz="1700" dirty="0">
                <a:solidFill>
                  <a:schemeClr val="tx1"/>
                </a:solidFill>
              </a:rPr>
              <a:t>if-case: seperti switch, tetapi satu pola.</a:t>
            </a:r>
            <a:endParaRPr lang="en-US" sz="1700" dirty="0"/>
          </a:p>
          <a:p>
            <a:pPr marL="228600" indent="-228600">
              <a:spcAft>
                <a:spcPts val="800"/>
              </a:spcAft>
              <a:buSzPct val="100000"/>
              <a:buChar char="•"/>
            </a:pPr>
            <a:r>
              <a:rPr lang="en-US" sz="1700" dirty="0">
                <a:solidFill>
                  <a:schemeClr val="tx1"/>
                </a:solidFill>
              </a:rPr>
              <a:t>Data nyata tidak rapi: nilai bisa null, angka bisa 31 atau 32.1.</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Cuaca WMO Menjadi Kondisi</a:t>
            </a:r>
            <a:endParaRPr lang="en-US" sz="3200" dirty="0"/>
          </a:p>
        </p:txBody>
      </p:sp>
      <p:sp>
        <p:nvSpPr>
          <p:cNvPr id="4" name="kotak kode"/>
          <p:cNvSpPr txBox="1"/>
          <p:nvPr/>
        </p:nvSpPr>
        <p:spPr>
          <a:xfrm>
            <a:off x="548640" y="1371600"/>
            <a:ext cx="621792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static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 dariKode(</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kode)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switch</a:t>
            </a:r>
            <a:r>
              <a:rPr lang="en-US" sz="1300" dirty="0">
                <a:solidFill>
                  <a:srgbClr val="E6EDF3"/>
                </a:solidFill>
                <a:latin typeface="Consolas" pitchFamily="34" charset="0"/>
                <a:ea typeface="Consolas" pitchFamily="34" charset="-122"/>
                <a:cs typeface="Consolas" pitchFamily="34" charset="-120"/>
              </a:rPr>
              <a:t> (kode)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.cerah,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.cerahBerawan,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.berawan,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45</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48</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.berkabut,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78C6C"/>
                </a:solidFill>
                <a:latin typeface="Consolas" pitchFamily="34" charset="0"/>
                <a:ea typeface="Consolas" pitchFamily="34" charset="-122"/>
                <a:cs typeface="Consolas" pitchFamily="34" charset="-120"/>
              </a:rPr>
              <a:t>51</a:t>
            </a:r>
            <a:r>
              <a:rPr lang="en-US" sz="1300" dirty="0">
                <a:solidFill>
                  <a:srgbClr val="E6EDF3"/>
                </a:solidFill>
                <a:latin typeface="Consolas" pitchFamily="34" charset="0"/>
                <a:ea typeface="Consolas" pitchFamily="34" charset="-122"/>
                <a:cs typeface="Consolas" pitchFamily="34" charset="-120"/>
              </a:rPr>
              <a:t> &amp;&amp; &lt;= </a:t>
            </a:r>
            <a:r>
              <a:rPr lang="en-US" sz="1300" dirty="0">
                <a:solidFill>
                  <a:srgbClr val="F78C6C"/>
                </a:solidFill>
                <a:latin typeface="Consolas" pitchFamily="34" charset="0"/>
                <a:ea typeface="Consolas" pitchFamily="34" charset="-122"/>
                <a:cs typeface="Consolas" pitchFamily="34" charset="-120"/>
              </a:rPr>
              <a:t>57</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.gerimis,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61</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80</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.hujanRingan,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63</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66</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81</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.hujan,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65</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67</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82</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.hujanLebat,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78C6C"/>
                </a:solidFill>
                <a:latin typeface="Consolas" pitchFamily="34" charset="0"/>
                <a:ea typeface="Consolas" pitchFamily="34" charset="-122"/>
                <a:cs typeface="Consolas" pitchFamily="34" charset="-120"/>
              </a:rPr>
              <a:t>71</a:t>
            </a:r>
            <a:r>
              <a:rPr lang="en-US" sz="1300" dirty="0">
                <a:solidFill>
                  <a:srgbClr val="E6EDF3"/>
                </a:solidFill>
                <a:latin typeface="Consolas" pitchFamily="34" charset="0"/>
                <a:ea typeface="Consolas" pitchFamily="34" charset="-122"/>
                <a:cs typeface="Consolas" pitchFamily="34" charset="-120"/>
              </a:rPr>
              <a:t> &amp;&amp; &lt;= </a:t>
            </a:r>
            <a:r>
              <a:rPr lang="en-US" sz="1300" dirty="0">
                <a:solidFill>
                  <a:srgbClr val="F78C6C"/>
                </a:solidFill>
                <a:latin typeface="Consolas" pitchFamily="34" charset="0"/>
                <a:ea typeface="Consolas" pitchFamily="34" charset="-122"/>
                <a:cs typeface="Consolas" pitchFamily="34" charset="-120"/>
              </a:rPr>
              <a:t>77</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85</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86</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.salju,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78C6C"/>
                </a:solidFill>
                <a:latin typeface="Consolas" pitchFamily="34" charset="0"/>
                <a:ea typeface="Consolas" pitchFamily="34" charset="-122"/>
                <a:cs typeface="Consolas" pitchFamily="34" charset="-120"/>
              </a:rPr>
              <a:t>95</a:t>
            </a:r>
            <a:r>
              <a:rPr lang="en-US" sz="1300" dirty="0">
                <a:solidFill>
                  <a:srgbClr val="E6EDF3"/>
                </a:solidFill>
                <a:latin typeface="Consolas" pitchFamily="34" charset="0"/>
                <a:ea typeface="Consolas" pitchFamily="34" charset="-122"/>
                <a:cs typeface="Consolas" pitchFamily="34" charset="-120"/>
              </a:rPr>
              <a:t> &amp;&amp; &lt;= </a:t>
            </a:r>
            <a:r>
              <a:rPr lang="en-US" sz="1300" dirty="0">
                <a:solidFill>
                  <a:srgbClr val="F78C6C"/>
                </a:solidFill>
                <a:latin typeface="Consolas" pitchFamily="34" charset="0"/>
                <a:ea typeface="Consolas" pitchFamily="34" charset="-122"/>
                <a:cs typeface="Consolas" pitchFamily="34" charset="-120"/>
              </a:rPr>
              <a:t>99</a:t>
            </a:r>
            <a:r>
              <a:rPr lang="en-US" sz="1300" dirty="0">
                <a:solidFill>
                  <a:srgbClr val="E6EDF3"/>
                </a:solidFill>
                <a:latin typeface="Consolas" pitchFamily="34" charset="0"/>
                <a:ea typeface="Consolas" pitchFamily="34" charset="-122"/>
                <a:cs typeface="Consolas" pitchFamily="34" charset="-120"/>
              </a:rPr>
              <a:t>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.badaiPetir,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 =&gt; </a:t>
            </a:r>
            <a:r>
              <a:rPr lang="en-US" sz="1300" dirty="0">
                <a:solidFill>
                  <a:srgbClr val="FFCB6B"/>
                </a:solidFill>
                <a:latin typeface="Consolas" pitchFamily="34" charset="0"/>
                <a:ea typeface="Consolas" pitchFamily="34" charset="-122"/>
                <a:cs typeface="Consolas" pitchFamily="34" charset="-120"/>
              </a:rPr>
              <a:t>Kondisi</a:t>
            </a:r>
            <a:r>
              <a:rPr lang="en-US" sz="1300" dirty="0">
                <a:solidFill>
                  <a:srgbClr val="E6EDF3"/>
                </a:solidFill>
                <a:latin typeface="Consolas" pitchFamily="34" charset="0"/>
                <a:ea typeface="Consolas" pitchFamily="34" charset="-122"/>
                <a:cs typeface="Consolas" pitchFamily="34" charset="-120"/>
              </a:rPr>
              <a:t>.tidakDiketahui,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0_async_dan_rest_api/kode/contoh_11_studi_kasus_cuaca_kampus.dart"/>
          </p:cNvPr>
          <p:cNvSpPr txBox="1"/>
          <p:nvPr/>
        </p:nvSpPr>
        <p:spPr>
          <a:xfrm>
            <a:off x="548640" y="5132070"/>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contoh_11_studi_kasus_cuaca_kampus.dart</a:t>
            </a:r>
            <a:endParaRPr lang="en-US" sz="1300" dirty="0"/>
          </a:p>
        </p:txBody>
      </p:sp>
      <p:pic>
        <p:nvPicPr>
          <p:cNvPr id="6" name="Image 0" descr="ikon tautan">
            <a:hlinkClick r:id="rId3" tooltip="https://github.com/antonprafanto/mobile2026/blob/main/pertemuan_10_async_dan_rest_api/kode/contoh_11_studi_kasus_cuaca_kampus.dart"/>
          </p:cNvPr>
          <p:cNvPicPr>
            <a:picLocks noChangeAspect="1"/>
          </p:cNvPicPr>
          <p:nvPr/>
        </p:nvPicPr>
        <p:blipFill>
          <a:blip r:embed="rId2"/>
          <a:stretch>
            <a:fillRect/>
          </a:stretch>
        </p:blipFill>
        <p:spPr>
          <a:xfrm>
            <a:off x="694944" y="5223510"/>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1 || 2: pola "atau".</a:t>
            </a:r>
            <a:endParaRPr lang="en-US" sz="1700" dirty="0"/>
          </a:p>
          <a:p>
            <a:pPr marL="228600" indent="-228600">
              <a:spcAft>
                <a:spcPts val="800"/>
              </a:spcAft>
              <a:buSzPct val="100000"/>
              <a:buChar char="•"/>
            </a:pPr>
            <a:r>
              <a:rPr lang="en-US" sz="1700" dirty="0">
                <a:solidFill>
                  <a:schemeClr val="tx1"/>
                </a:solidFill>
              </a:rPr>
              <a:t>&gt;= 51 &amp;&amp; &lt;= 57: pola "dan" dengan relasional.</a:t>
            </a:r>
            <a:endParaRPr lang="en-US" sz="1700" dirty="0"/>
          </a:p>
          <a:p>
            <a:pPr marL="228600" indent="-228600">
              <a:spcAft>
                <a:spcPts val="800"/>
              </a:spcAft>
              <a:buSzPct val="100000"/>
              <a:buChar char="•"/>
            </a:pPr>
            <a:r>
              <a:rPr lang="en-US" sz="1700" dirty="0">
                <a:solidFill>
                  <a:schemeClr val="tx1"/>
                </a:solidFill>
              </a:rPr>
              <a:t>_: kode yang tidak dikenal tetap ditangani, bukan error.</a:t>
            </a:r>
            <a:endParaRPr lang="en-US" sz="1700" dirty="0"/>
          </a:p>
          <a:p>
            <a:pPr marL="228600" indent="-228600">
              <a:spcAft>
                <a:spcPts val="800"/>
              </a:spcAft>
              <a:buSzPct val="100000"/>
              <a:buChar char="•"/>
            </a:pPr>
            <a:r>
              <a:rPr lang="en-US" sz="1700" dirty="0">
                <a:solidFill>
                  <a:schemeClr val="tx1"/>
                </a:solidFill>
              </a:rPr>
              <a:t>enum Kondisi menyimpan label dan ikonnya.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ViewModel: Semua Pola dalam Satu Tempat</a:t>
            </a:r>
            <a:endParaRPr lang="en-US" sz="3200" dirty="0"/>
          </a:p>
        </p:txBody>
      </p:sp>
      <p:sp>
        <p:nvSpPr>
          <p:cNvPr id="4" name="kotak kode"/>
          <p:cNvSpPr txBox="1"/>
          <p:nvPr/>
        </p:nvSpPr>
        <p:spPr>
          <a:xfrm>
            <a:off x="548640" y="1371600"/>
            <a:ext cx="6949440" cy="3931920"/>
          </a:xfrm>
          <a:prstGeom prst="roundRect">
            <a:avLst>
              <a:gd name="adj" fmla="val 23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muat({</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tampilkanMemuat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nomor = ++_nomorPermintaan;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(tampilkanMemuat)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_status = </a:t>
            </a:r>
            <a:r>
              <a:rPr lang="en-US" sz="1100" dirty="0">
                <a:solidFill>
                  <a:srgbClr val="FFCB6B"/>
                </a:solidFill>
                <a:latin typeface="Consolas" pitchFamily="34" charset="0"/>
                <a:ea typeface="Consolas" pitchFamily="34" charset="-122"/>
                <a:cs typeface="Consolas" pitchFamily="34" charset="-120"/>
              </a:rPr>
              <a:t>StatusMuat</a:t>
            </a:r>
            <a:r>
              <a:rPr lang="en-US" sz="1100" dirty="0">
                <a:solidFill>
                  <a:srgbClr val="E6EDF3"/>
                </a:solidFill>
                <a:latin typeface="Consolas" pitchFamily="34" charset="0"/>
                <a:ea typeface="Consolas" pitchFamily="34" charset="-122"/>
                <a:cs typeface="Consolas" pitchFamily="34" charset="-120"/>
              </a:rPr>
              <a:t>.memuat;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notifyListeners();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Cuaca</a:t>
            </a:r>
            <a:r>
              <a:rPr lang="en-US" sz="1100" dirty="0">
                <a:solidFill>
                  <a:srgbClr val="E6EDF3"/>
                </a:solidFill>
                <a:latin typeface="Consolas" pitchFamily="34" charset="0"/>
                <a:ea typeface="Consolas" pitchFamily="34" charset="-122"/>
                <a:cs typeface="Consolas" pitchFamily="34" charset="-120"/>
              </a:rPr>
              <a:t> cuaca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_repositori.ambil(_kota);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(_sudahDibuang || nomor != _nomorPermintaan)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_cuaca = cuaca;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_status = </a:t>
            </a:r>
            <a:r>
              <a:rPr lang="en-US" sz="1100" dirty="0">
                <a:solidFill>
                  <a:srgbClr val="FFCB6B"/>
                </a:solidFill>
                <a:latin typeface="Consolas" pitchFamily="34" charset="0"/>
                <a:ea typeface="Consolas" pitchFamily="34" charset="-122"/>
                <a:cs typeface="Consolas" pitchFamily="34" charset="-120"/>
              </a:rPr>
              <a:t>StatusMuat</a:t>
            </a:r>
            <a:r>
              <a:rPr lang="en-US" sz="1100" dirty="0">
                <a:solidFill>
                  <a:srgbClr val="E6EDF3"/>
                </a:solidFill>
                <a:latin typeface="Consolas" pitchFamily="34" charset="0"/>
                <a:ea typeface="Consolas" pitchFamily="34" charset="-122"/>
                <a:cs typeface="Consolas" pitchFamily="34" charset="-120"/>
              </a:rPr>
              <a:t>.berhasil;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catch</a:t>
            </a:r>
            <a:r>
              <a:rPr lang="en-US" sz="1100" dirty="0">
                <a:solidFill>
                  <a:srgbClr val="E6EDF3"/>
                </a:solidFill>
                <a:latin typeface="Consolas" pitchFamily="34" charset="0"/>
                <a:ea typeface="Consolas" pitchFamily="34" charset="-122"/>
                <a:cs typeface="Consolas" pitchFamily="34" charset="-120"/>
              </a:rPr>
              <a:t> (galat)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(_sudahDibuang || nomor != _nomorPermintaan)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debugPrint(</a:t>
            </a:r>
            <a:r>
              <a:rPr lang="en-US" sz="1100" dirty="0">
                <a:solidFill>
                  <a:srgbClr val="C3E88D"/>
                </a:solidFill>
                <a:latin typeface="Consolas" pitchFamily="34" charset="0"/>
                <a:ea typeface="Consolas" pitchFamily="34" charset="-122"/>
                <a:cs typeface="Consolas" pitchFamily="34" charset="-120"/>
              </a:rPr>
              <a:t>'Galat saat memuat cuaca: $galat'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_pesanGalat = pesanRamah(galat);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_status = </a:t>
            </a:r>
            <a:r>
              <a:rPr lang="en-US" sz="1100" dirty="0">
                <a:solidFill>
                  <a:srgbClr val="FFCB6B"/>
                </a:solidFill>
                <a:latin typeface="Consolas" pitchFamily="34" charset="0"/>
                <a:ea typeface="Consolas" pitchFamily="34" charset="-122"/>
                <a:cs typeface="Consolas" pitchFamily="34" charset="-120"/>
              </a:rPr>
              <a:t>StatusMuat</a:t>
            </a:r>
            <a:r>
              <a:rPr lang="en-US" sz="1100" dirty="0">
                <a:solidFill>
                  <a:srgbClr val="E6EDF3"/>
                </a:solidFill>
                <a:latin typeface="Consolas" pitchFamily="34" charset="0"/>
                <a:ea typeface="Consolas" pitchFamily="34" charset="-122"/>
                <a:cs typeface="Consolas" pitchFamily="34" charset="-120"/>
              </a:rPr>
              <a:t>.gagal;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notifyListeners();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segarkan() =&gt; muat(tampilkanMemuat: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0_async_dan_rest_api/kode/contoh_11_studi_kasus_cuaca_kampus.dart"/>
          </p:cNvPr>
          <p:cNvSpPr txBox="1"/>
          <p:nvPr/>
        </p:nvSpPr>
        <p:spPr>
          <a:xfrm>
            <a:off x="548640" y="5532120"/>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contoh_11_studi_kasus_cuaca_kampus.dart</a:t>
            </a:r>
            <a:endParaRPr lang="en-US" sz="1300" dirty="0"/>
          </a:p>
        </p:txBody>
      </p:sp>
      <p:pic>
        <p:nvPicPr>
          <p:cNvPr id="6" name="Image 0" descr="ikon tautan">
            <a:hlinkClick r:id="rId3" tooltip="https://github.com/antonprafanto/mobile2026/blob/main/pertemuan_10_async_dan_rest_api/kode/contoh_11_studi_kasus_cuaca_kampus.dart"/>
          </p:cNvPr>
          <p:cNvPicPr>
            <a:picLocks noChangeAspect="1"/>
          </p:cNvPicPr>
          <p:nvPr/>
        </p:nvPicPr>
        <p:blipFill>
          <a:blip r:embed="rId2"/>
          <a:stretch>
            <a:fillRect/>
          </a:stretch>
        </p:blipFill>
        <p:spPr>
          <a:xfrm>
            <a:off x="694944" y="5623560"/>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Status, pesanRamah, nomor permintaan, _sudahDibuang.</a:t>
            </a:r>
            <a:endParaRPr lang="en-US" sz="1700" dirty="0"/>
          </a:p>
          <a:p>
            <a:pPr marL="228600" indent="-228600">
              <a:spcAft>
                <a:spcPts val="800"/>
              </a:spcAft>
              <a:buSzPct val="100000"/>
              <a:buChar char="•"/>
            </a:pPr>
            <a:r>
              <a:rPr lang="en-US" sz="1700" dirty="0">
                <a:solidFill>
                  <a:schemeClr val="tx1"/>
                </a:solidFill>
              </a:rPr>
              <a:t>segarkan: data lama tetap terlihat; RefreshIndicator punya lingkarannya sendiri.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Pemeriksaan Sebelum Aplikasi Tampil</a:t>
            </a:r>
            <a:endParaRPr lang="en-US" sz="3200" dirty="0"/>
          </a:p>
        </p:txBody>
      </p:sp>
      <p:sp>
        <p:nvSpPr>
          <p:cNvPr id="4" name="kotak kode"/>
          <p:cNvSpPr txBox="1"/>
          <p:nvPr/>
        </p:nvSpPr>
        <p:spPr>
          <a:xfrm>
            <a:off x="548640" y="1371600"/>
            <a:ext cx="713232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GET https://api.open-meteo.com/v1/forecast?latitude=-</a:t>
            </a:r>
            <a:r>
              <a:rPr lang="en-US" sz="1200" dirty="0">
                <a:solidFill>
                  <a:srgbClr val="F78C6C"/>
                </a:solidFill>
                <a:latin typeface="Consolas" pitchFamily="34" charset="0"/>
                <a:ea typeface="Consolas" pitchFamily="34" charset="-122"/>
                <a:cs typeface="Consolas" pitchFamily="34" charset="-120"/>
              </a:rPr>
              <a:t>0.5</a:t>
            </a:r>
            <a:r>
              <a:rPr lang="en-US" sz="1200" dirty="0">
                <a:solidFill>
                  <a:srgbClr val="E6EDF3"/>
                </a:solidFill>
                <a:latin typeface="Consolas" pitchFamily="34" charset="0"/>
                <a:ea typeface="Consolas" pitchFamily="34" charset="-122"/>
                <a:cs typeface="Consolas" pitchFamily="34" charset="-120"/>
              </a:rPr>
              <a:t>&amp;...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Alamat memakai lintang 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Kode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 Berawan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Suhu saat ini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Tiga hari prakiraan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Hari kedua badai petir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Suhu maks </a:t>
            </a:r>
            <a:r>
              <a:rPr lang="en-US" sz="1200" dirty="0">
                <a:solidFill>
                  <a:srgbClr val="F78C6C"/>
                </a:solidFill>
                <a:latin typeface="Consolas" pitchFamily="34" charset="0"/>
                <a:ea typeface="Consolas" pitchFamily="34" charset="-122"/>
                <a:cs typeface="Consolas" pitchFamily="34" charset="-120"/>
              </a:rPr>
              <a:t>31</a:t>
            </a:r>
            <a:r>
              <a:rPr lang="en-US" sz="1200" dirty="0">
                <a:solidFill>
                  <a:srgbClr val="E6EDF3"/>
                </a:solidFill>
                <a:latin typeface="Consolas" pitchFamily="34" charset="0"/>
                <a:ea typeface="Consolas" pitchFamily="34" charset="-122"/>
                <a:cs typeface="Consolas" pitchFamily="34" charset="-120"/>
              </a:rPr>
              <a:t> terbaca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Peluang hujan kosong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Kode </a:t>
            </a:r>
            <a:r>
              <a:rPr lang="en-US" sz="1200" dirty="0">
                <a:solidFill>
                  <a:srgbClr val="F78C6C"/>
                </a:solidFill>
                <a:latin typeface="Consolas" pitchFamily="34" charset="0"/>
                <a:ea typeface="Consolas" pitchFamily="34" charset="-122"/>
                <a:cs typeface="Consolas" pitchFamily="34" charset="-120"/>
              </a:rPr>
              <a:t>42</a:t>
            </a:r>
            <a:r>
              <a:rPr lang="en-US" sz="1200" dirty="0">
                <a:solidFill>
                  <a:srgbClr val="E6EDF3"/>
                </a:solidFill>
                <a:latin typeface="Consolas" pitchFamily="34" charset="0"/>
                <a:ea typeface="Consolas" pitchFamily="34" charset="-122"/>
                <a:cs typeface="Consolas" pitchFamily="34" charset="-120"/>
              </a:rPr>
              <a:t> tidak dikenal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GET https://api.open-meteo.com/v1/forecast?latitude=-</a:t>
            </a:r>
            <a:r>
              <a:rPr lang="en-US" sz="1200" dirty="0">
                <a:solidFill>
                  <a:srgbClr val="F78C6C"/>
                </a:solidFill>
                <a:latin typeface="Consolas" pitchFamily="34" charset="0"/>
                <a:ea typeface="Consolas" pitchFamily="34" charset="-122"/>
                <a:cs typeface="Consolas" pitchFamily="34" charset="-120"/>
              </a:rPr>
              <a:t>6.2</a:t>
            </a:r>
            <a:r>
              <a:rPr lang="en-US" sz="1200" dirty="0">
                <a:solidFill>
                  <a:srgbClr val="E6EDF3"/>
                </a:solidFill>
                <a:latin typeface="Consolas" pitchFamily="34" charset="0"/>
                <a:ea typeface="Consolas" pitchFamily="34" charset="-122"/>
                <a:cs typeface="Consolas" pitchFamily="34" charset="-120"/>
              </a:rPr>
              <a:t>&amp;...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Galat saat memuat cuaca: ApiException: kode status </a:t>
            </a:r>
            <a:r>
              <a:rPr lang="en-US" sz="1200" dirty="0">
                <a:solidFill>
                  <a:srgbClr val="F78C6C"/>
                </a:solidFill>
                <a:latin typeface="Consolas" pitchFamily="34" charset="0"/>
                <a:ea typeface="Consolas" pitchFamily="34" charset="-122"/>
                <a:cs typeface="Consolas" pitchFamily="34" charset="-120"/>
              </a:rPr>
              <a:t>500</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Kode </a:t>
            </a:r>
            <a:r>
              <a:rPr lang="en-US" sz="1200" dirty="0">
                <a:solidFill>
                  <a:srgbClr val="F78C6C"/>
                </a:solidFill>
                <a:latin typeface="Consolas" pitchFamily="34" charset="0"/>
                <a:ea typeface="Consolas" pitchFamily="34" charset="-122"/>
                <a:cs typeface="Consolas" pitchFamily="34" charset="-120"/>
              </a:rPr>
              <a:t>500</a:t>
            </a:r>
            <a:r>
              <a:rPr lang="en-US" sz="1200" dirty="0">
                <a:solidFill>
                  <a:srgbClr val="E6EDF3"/>
                </a:solidFill>
                <a:latin typeface="Consolas" pitchFamily="34" charset="0"/>
                <a:ea typeface="Consolas" pitchFamily="34" charset="-122"/>
                <a:cs typeface="Consolas" pitchFamily="34" charset="-120"/>
              </a:rPr>
              <a:t>: status gagal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Kode </a:t>
            </a:r>
            <a:r>
              <a:rPr lang="en-US" sz="1200" dirty="0">
                <a:solidFill>
                  <a:srgbClr val="F78C6C"/>
                </a:solidFill>
                <a:latin typeface="Consolas" pitchFamily="34" charset="0"/>
                <a:ea typeface="Consolas" pitchFamily="34" charset="-122"/>
                <a:cs typeface="Consolas" pitchFamily="34" charset="-120"/>
              </a:rPr>
              <a:t>500</a:t>
            </a:r>
            <a:r>
              <a:rPr lang="en-US" sz="1200" dirty="0">
                <a:solidFill>
                  <a:srgbClr val="E6EDF3"/>
                </a:solidFill>
                <a:latin typeface="Consolas" pitchFamily="34" charset="0"/>
                <a:ea typeface="Consolas" pitchFamily="34" charset="-122"/>
                <a:cs typeface="Consolas" pitchFamily="34" charset="-120"/>
              </a:rPr>
              <a:t>: pesan ramah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GET https://api.open-meteo.com/v1/forecast?latitude=-</a:t>
            </a:r>
            <a:r>
              <a:rPr lang="en-US" sz="1200" dirty="0">
                <a:solidFill>
                  <a:srgbClr val="F78C6C"/>
                </a:solidFill>
                <a:latin typeface="Consolas" pitchFamily="34" charset="0"/>
                <a:ea typeface="Consolas" pitchFamily="34" charset="-122"/>
                <a:cs typeface="Consolas" pitchFamily="34" charset="-120"/>
              </a:rPr>
              <a:t>6.2</a:t>
            </a:r>
            <a:r>
              <a:rPr lang="en-US" sz="1200" dirty="0">
                <a:solidFill>
                  <a:srgbClr val="E6EDF3"/>
                </a:solidFill>
                <a:latin typeface="Consolas" pitchFamily="34" charset="0"/>
                <a:ea typeface="Consolas" pitchFamily="34" charset="-122"/>
                <a:cs typeface="Consolas" pitchFamily="34" charset="-120"/>
              </a:rPr>
              <a:t>&amp;...</a:t>
            </a:r>
            <a:endParaRPr lang="en-US" sz="1200" dirty="0"/>
          </a:p>
        </p:txBody>
      </p:sp>
      <p:sp>
        <p:nvSpPr>
          <p:cNvPr id="5" name="tombol tautan">
            <a:hlinkClick r:id="rId1" tooltip="https://github.com/antonprafanto/mobile2026/blob/main/pertemuan_10_async_dan_rest_api/kode/contoh_11_studi_kasus_cuaca_kampus.dart"/>
          </p:cNvPr>
          <p:cNvSpPr txBox="1"/>
          <p:nvPr/>
        </p:nvSpPr>
        <p:spPr>
          <a:xfrm>
            <a:off x="548640" y="4700016"/>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contoh_11_studi_kasus_cuaca_kampus.dart</a:t>
            </a:r>
            <a:endParaRPr lang="en-US" sz="1300" dirty="0"/>
          </a:p>
        </p:txBody>
      </p:sp>
      <p:pic>
        <p:nvPicPr>
          <p:cNvPr id="6" name="Image 0" descr="ikon tautan">
            <a:hlinkClick r:id="rId3" tooltip="https://github.com/antonprafanto/mobile2026/blob/main/pertemuan_10_async_dan_rest_api/kode/contoh_11_studi_kasus_cuaca_kampus.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GET ...: alamat dibuat sungguhan, yang menjawab MockClient.</a:t>
            </a:r>
            <a:endParaRPr lang="en-US" sz="1700" dirty="0"/>
          </a:p>
          <a:p>
            <a:pPr marL="228600" indent="-228600">
              <a:spcAft>
                <a:spcPts val="800"/>
              </a:spcAft>
              <a:buSzPct val="100000"/>
              <a:buChar char="•"/>
            </a:pPr>
            <a:r>
              <a:rPr lang="en-US" sz="1700" dirty="0">
                <a:solidFill>
                  <a:schemeClr val="tx1"/>
                </a:solidFill>
              </a:rPr>
              <a:t>Baris Galat memang diharapkan (uji kode 500).</a:t>
            </a:r>
            <a:endParaRPr lang="en-US" sz="1700" dirty="0"/>
          </a:p>
          <a:p>
            <a:pPr marL="228600" indent="-228600">
              <a:spcAft>
                <a:spcPts val="800"/>
              </a:spcAft>
              <a:buSzPct val="100000"/>
              <a:buChar char="•"/>
            </a:pPr>
            <a:r>
              <a:rPr lang="en-US" sz="1700" dirty="0">
                <a:solidFill>
                  <a:schemeClr val="tx1"/>
                </a:solidFill>
              </a:rPr>
              <a:t>GET terakhir: permintaan sungguhan saat aplikasi tampil (Jakarta).</a:t>
            </a:r>
            <a:endParaRPr lang="en-US" sz="1700" dirty="0"/>
          </a:p>
          <a:p>
            <a:pPr marL="228600" indent="-228600">
              <a:spcAft>
                <a:spcPts val="800"/>
              </a:spcAft>
              <a:buSzPct val="100000"/>
              <a:buChar char="•"/>
            </a:pPr>
            <a:r>
              <a:rPr lang="en-US" sz="1700" dirty="0">
                <a:solidFill>
                  <a:schemeClr val="tx1"/>
                </a:solidFill>
              </a:rPr>
              <a:t>Koma ditulis %2C: Uri.https mengodekannya.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Cuaca Kampus Berjalan</a:t>
            </a:r>
            <a:endParaRPr lang="en-US" sz="3200" dirty="0"/>
          </a:p>
        </p:txBody>
      </p:sp>
      <p:sp>
        <p:nvSpPr>
          <p:cNvPr id="4" name="bingkai layar 1"/>
          <p:cNvSpPr/>
          <p:nvPr/>
        </p:nvSpPr>
        <p:spPr>
          <a:xfrm>
            <a:off x="4638751" y="1316736"/>
            <a:ext cx="2243328" cy="3426931"/>
          </a:xfrm>
          <a:prstGeom prst="roundRect">
            <a:avLst>
              <a:gd name="adj" fmla="val 4076"/>
            </a:avLst>
          </a:prstGeom>
          <a:solidFill>
            <a:srgbClr val="FFFFFF"/>
          </a:solidFill>
          <a:ln w="12700">
            <a:solidFill>
              <a:srgbClr val="C9D3E0"/>
            </a:solidFill>
            <a:prstDash val="solid"/>
          </a:ln>
        </p:spPr>
      </p:sp>
      <p:pic>
        <p:nvPicPr>
          <p:cNvPr id="5" name="layar 1" descr="Tangkapan layar aplikasi (hasil_contoh_11a.jpg)">    </p:cNvPr>
          <p:cNvPicPr>
            <a:picLocks noChangeAspect="1"/>
          </p:cNvPicPr>
          <p:nvPr/>
        </p:nvPicPr>
        <p:blipFill>
          <a:blip r:embed="rId1"/>
          <a:stretch>
            <a:fillRect/>
          </a:stretch>
        </p:blipFill>
        <p:spPr>
          <a:xfrm>
            <a:off x="4693615" y="1371600"/>
            <a:ext cx="2133600" cy="3317203"/>
          </a:xfrm>
          <a:prstGeom prst="rect">
            <a:avLst/>
          </a:prstGeom>
        </p:spPr>
      </p:pic>
      <p:sp>
        <p:nvSpPr>
          <p:cNvPr id="6" name="bingkai layar 2"/>
          <p:cNvSpPr/>
          <p:nvPr/>
        </p:nvSpPr>
        <p:spPr>
          <a:xfrm>
            <a:off x="7046671" y="1316736"/>
            <a:ext cx="2243328" cy="3426931"/>
          </a:xfrm>
          <a:prstGeom prst="roundRect">
            <a:avLst>
              <a:gd name="adj" fmla="val 4076"/>
            </a:avLst>
          </a:prstGeom>
          <a:solidFill>
            <a:srgbClr val="FFFFFF"/>
          </a:solidFill>
          <a:ln w="12700">
            <a:solidFill>
              <a:srgbClr val="C9D3E0"/>
            </a:solidFill>
            <a:prstDash val="solid"/>
          </a:ln>
        </p:spPr>
      </p:sp>
      <p:pic>
        <p:nvPicPr>
          <p:cNvPr id="7" name="layar 2" descr="Tangkapan layar aplikasi (hasil_contoh_11b.jpg)">    </p:cNvPr>
          <p:cNvPicPr>
            <a:picLocks noChangeAspect="1"/>
          </p:cNvPicPr>
          <p:nvPr/>
        </p:nvPicPr>
        <p:blipFill>
          <a:blip r:embed="rId2"/>
          <a:stretch>
            <a:fillRect/>
          </a:stretch>
        </p:blipFill>
        <p:spPr>
          <a:xfrm>
            <a:off x="7101535" y="1371600"/>
            <a:ext cx="2133600" cy="3317203"/>
          </a:xfrm>
          <a:prstGeom prst="rect">
            <a:avLst/>
          </a:prstGeom>
        </p:spPr>
      </p:pic>
      <p:sp>
        <p:nvSpPr>
          <p:cNvPr id="8" name="bingkai layar 3"/>
          <p:cNvSpPr/>
          <p:nvPr/>
        </p:nvSpPr>
        <p:spPr>
          <a:xfrm>
            <a:off x="9454591" y="1316736"/>
            <a:ext cx="2243328" cy="3426931"/>
          </a:xfrm>
          <a:prstGeom prst="roundRect">
            <a:avLst>
              <a:gd name="adj" fmla="val 4076"/>
            </a:avLst>
          </a:prstGeom>
          <a:solidFill>
            <a:srgbClr val="FFFFFF"/>
          </a:solidFill>
          <a:ln w="12700">
            <a:solidFill>
              <a:srgbClr val="C9D3E0"/>
            </a:solidFill>
            <a:prstDash val="solid"/>
          </a:ln>
        </p:spPr>
      </p:sp>
      <p:pic>
        <p:nvPicPr>
          <p:cNvPr id="9" name="layar 3" descr="Tangkapan layar aplikasi (hasil_contoh_11c.jpg)">    </p:cNvPr>
          <p:cNvPicPr>
            <a:picLocks noChangeAspect="1"/>
          </p:cNvPicPr>
          <p:nvPr/>
        </p:nvPicPr>
        <p:blipFill>
          <a:blip r:embed="rId3"/>
          <a:stretch>
            <a:fillRect/>
          </a:stretch>
        </p:blipFill>
        <p:spPr>
          <a:xfrm>
            <a:off x="9509455" y="1371600"/>
            <a:ext cx="2133600" cy="3317203"/>
          </a:xfrm>
          <a:prstGeom prst="rect">
            <a:avLst/>
          </a:prstGeom>
        </p:spPr>
      </p:pic>
      <p:sp>
        <p:nvSpPr>
          <p:cNvPr id="10" name="tombol tautan">
            <a:hlinkClick r:id="rId4" tooltip="https://github.com/antonprafanto/mobile2026/blob/main/pertemuan_10_async_dan_rest_api/kode/contoh_11_studi_kasus_cuaca_kampus.dart"/>
          </p:cNvPr>
          <p:cNvSpPr txBox="1"/>
          <p:nvPr/>
        </p:nvSpPr>
        <p:spPr>
          <a:xfrm>
            <a:off x="548640" y="1371600"/>
            <a:ext cx="36877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50" b="1" dirty="0">
                <a:solidFill>
                  <a:schemeClr val="bg1"/>
                </a:solidFill>
              </a:rPr>
              <a:t>Kode di GitHub  ·  contoh_11_studi_kasus_cuaca_kampus.dart</a:t>
            </a:r>
            <a:endParaRPr lang="en-US" sz="1250" dirty="0"/>
          </a:p>
        </p:txBody>
      </p:sp>
      <p:pic>
        <p:nvPicPr>
          <p:cNvPr id="11" name="Image 3" descr="ikon tautan">
            <a:hlinkClick r:id="rId6" tooltip="https://github.com/antonprafanto/mobile2026/blob/main/pertemuan_10_async_dan_rest_api/kode/contoh_11_studi_kasus_cuaca_kampus.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6877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Memilih dua kota dengan sangat cepat: cuaca kota PERTAMA tidak pernah tampil.</a:t>
            </a:r>
            <a:endParaRPr lang="en-US" sz="1500" dirty="0"/>
          </a:p>
          <a:p>
            <a:pPr marL="228600" indent="-228600">
              <a:spcAft>
                <a:spcPts val="800"/>
              </a:spcAft>
              <a:buSzPct val="100000"/>
              <a:buChar char="•"/>
            </a:pPr>
            <a:r>
              <a:rPr lang="en-US" sz="1500" dirty="0">
                <a:solidFill>
                  <a:schemeClr val="tx1"/>
                </a:solidFill>
              </a:rPr>
              <a:t>Tarik ke bawah: jam "Diperbarui pukul" berubah.</a:t>
            </a:r>
            <a:endParaRPr lang="en-US" sz="1500" dirty="0"/>
          </a:p>
          <a:p>
            <a:pPr marL="228600" indent="-228600">
              <a:spcAft>
                <a:spcPts val="800"/>
              </a:spcAft>
              <a:buSzPct val="100000"/>
              <a:buChar char="•"/>
            </a:pPr>
            <a:r>
              <a:rPr lang="en-US" sz="1500" dirty="0">
                <a:solidFill>
                  <a:schemeClr val="tx1"/>
                </a:solidFill>
              </a:rPr>
              <a:t>Mode pesawat lalu ganti kota: pesan ramah + Coba lagi.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Menjalankan di Web dan di Android</a:t>
            </a:r>
            <a:endParaRPr lang="en-US" sz="4000" dirty="0"/>
          </a:p>
        </p:txBody>
      </p:sp>
      <p:sp>
        <p:nvSpPr>
          <p:cNvPr id="5" name="lingkaran perangkat"/>
          <p:cNvSpPr/>
          <p:nvPr/>
        </p:nvSpPr>
        <p:spPr>
          <a:xfrm>
            <a:off x="1097280" y="2148840"/>
            <a:ext cx="2011680" cy="2011680"/>
          </a:xfrm>
          <a:prstGeom prst="ellipse">
            <a:avLst/>
          </a:prstGeom>
          <a:solidFill>
            <a:schemeClr val="accent1"/>
          </a:solidFill>
          <a:ln/>
        </p:spPr>
      </p:sp>
      <p:pic>
        <p:nvPicPr>
          <p:cNvPr id="6" name="Image 0" descr="perangk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CORS di Web, Izin Internet di Android</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web"/>
          <p:cNvSpPr/>
          <p:nvPr/>
        </p:nvSpPr>
        <p:spPr>
          <a:xfrm>
            <a:off x="777240" y="1600200"/>
            <a:ext cx="685800" cy="685800"/>
          </a:xfrm>
          <a:prstGeom prst="ellipse">
            <a:avLst/>
          </a:prstGeom>
          <a:solidFill>
            <a:schemeClr val="accent1"/>
          </a:solidFill>
          <a:ln/>
        </p:spPr>
      </p:sp>
      <p:pic>
        <p:nvPicPr>
          <p:cNvPr id="6" name="Image 0" descr="web">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Web (Chrome, DartPad)</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CORS</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Browser hanya mengizinkan mengambil data dari server lain yang secara tegas mengizinkannya</a:t>
            </a:r>
            <a:endParaRPr lang="en-US" sz="1600" dirty="0"/>
          </a:p>
          <a:p>
            <a:pPr marL="228600" indent="-228600">
              <a:spcAft>
                <a:spcPts val="800"/>
              </a:spcAft>
              <a:buSzPct val="100000"/>
              <a:buChar char="•"/>
            </a:pPr>
            <a:r>
              <a:rPr lang="en-US" sz="1600" dirty="0">
                <a:solidFill>
                  <a:schemeClr val="tx1"/>
                </a:solidFill>
              </a:rPr>
              <a:t>Lancar di Android tetapi ClientException di Chrome → CORS</a:t>
            </a:r>
            <a:endParaRPr lang="en-US" sz="1600" dirty="0"/>
          </a:p>
          <a:p>
            <a:pPr marL="228600" indent="-228600">
              <a:spcAft>
                <a:spcPts val="800"/>
              </a:spcAft>
              <a:buSzPct val="100000"/>
              <a:buChar char="•"/>
            </a:pPr>
            <a:r>
              <a:rPr lang="en-US" sz="1600" dirty="0">
                <a:solidFill>
                  <a:schemeClr val="tx1"/>
                </a:solidFill>
              </a:rPr>
              <a:t>DummyJSON dan Open-Meteo mengizinkan dipanggil dari browser</a:t>
            </a:r>
            <a:endParaRPr lang="en-US" sz="1600" dirty="0"/>
          </a:p>
          <a:p>
            <a:pPr marL="228600" indent="-228600">
              <a:spcAft>
                <a:spcPts val="800"/>
              </a:spcAft>
              <a:buSzPct val="100000"/>
              <a:buChar char="•"/>
            </a:pPr>
            <a:r>
              <a:rPr lang="en-US" sz="1600" dirty="0">
                <a:solidFill>
                  <a:schemeClr val="tx1"/>
                </a:solidFill>
              </a:rPr>
              <a:t>Uji API proyek akhir di Chrome sejak awal</a:t>
            </a:r>
            <a:endParaRPr lang="en-US" sz="16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hp"/>
          <p:cNvSpPr/>
          <p:nvPr/>
        </p:nvSpPr>
        <p:spPr>
          <a:xfrm>
            <a:off x="6484468" y="1600200"/>
            <a:ext cx="685800" cy="685800"/>
          </a:xfrm>
          <a:prstGeom prst="ellipse">
            <a:avLst/>
          </a:prstGeom>
          <a:solidFill>
            <a:schemeClr val="accent6"/>
          </a:solidFill>
          <a:ln/>
        </p:spPr>
      </p:sp>
      <p:pic>
        <p:nvPicPr>
          <p:cNvPr id="12" name="Image 1" descr="hp">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Android</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Izin internet</a:t>
            </a:r>
            <a:endParaRPr lang="en-US" sz="1400" dirty="0"/>
          </a:p>
        </p:txBody>
      </p:sp>
      <p:sp>
        <p:nvSpPr>
          <p:cNvPr id="15" name="daftar poin"/>
          <p:cNvSpPr txBox="1"/>
          <p:nvPr/>
        </p:nvSpPr>
        <p:spPr>
          <a:xfrm>
            <a:off x="6484468" y="2926080"/>
            <a:ext cx="4929988" cy="128930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flutter run (debug): izin sudah ada otomatis</a:t>
            </a:r>
            <a:endParaRPr lang="en-US" sz="1600" dirty="0"/>
          </a:p>
          <a:p>
            <a:pPr marL="228600" indent="-228600">
              <a:spcAft>
                <a:spcPts val="800"/>
              </a:spcAft>
              <a:buSzPct val="100000"/>
              <a:buChar char="•"/>
            </a:pPr>
            <a:r>
              <a:rPr lang="en-US" sz="1600" dirty="0">
                <a:solidFill>
                  <a:schemeClr val="tx1"/>
                </a:solidFill>
              </a:rPr>
              <a:t>APK rilis (P15): hanya jika baris ini ada di AndroidManifest.xml</a:t>
            </a:r>
            <a:endParaRPr lang="en-US" sz="1600" dirty="0"/>
          </a:p>
          <a:p>
            <a:pPr marL="228600" indent="-228600">
              <a:spcAft>
                <a:spcPts val="800"/>
              </a:spcAft>
              <a:buSzPct val="100000"/>
              <a:buChar char="•"/>
            </a:pPr>
            <a:r>
              <a:rPr lang="en-US" sz="1600" dirty="0">
                <a:solidFill>
                  <a:schemeClr val="tx1"/>
                </a:solidFill>
              </a:rPr>
              <a:t>Pakai https; localhost laptop dari emulator = 10.0.2.2</a:t>
            </a:r>
            <a:endParaRPr lang="en-US" sz="1600" dirty="0"/>
          </a:p>
        </p:txBody>
      </p:sp>
      <p:sp>
        <p:nvSpPr>
          <p:cNvPr id="16" name="kotak kode"/>
          <p:cNvSpPr txBox="1"/>
          <p:nvPr/>
        </p:nvSpPr>
        <p:spPr>
          <a:xfrm>
            <a:off x="6438748" y="4169664"/>
            <a:ext cx="5021428" cy="950976"/>
          </a:xfrm>
          <a:prstGeom prst="roundRect">
            <a:avLst>
              <a:gd name="adj" fmla="val 961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&lt;uses-permission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android:name=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"android.permission.INTERNET"</a:t>
            </a:r>
            <a:r>
              <a:rPr lang="en-US" sz="1200" dirty="0">
                <a:solidFill>
                  <a:srgbClr val="E6EDF3"/>
                </a:solidFill>
                <a:latin typeface="Consolas" pitchFamily="34" charset="0"/>
                <a:ea typeface="Consolas" pitchFamily="34" charset="-122"/>
                <a:cs typeface="Consolas" pitchFamily="34" charset="-120"/>
              </a:rPr>
              <a:t> /&gt;</a:t>
            </a:r>
            <a:endParaRPr lang="en-US" sz="1200" dirty="0"/>
          </a:p>
        </p:txBody>
      </p:sp>
      <p:sp>
        <p:nvSpPr>
          <p:cNvPr id="17" name="lingkaran lampu"/>
          <p:cNvSpPr/>
          <p:nvPr/>
        </p:nvSpPr>
        <p:spPr>
          <a:xfrm>
            <a:off x="548640" y="5532120"/>
            <a:ext cx="548640" cy="548640"/>
          </a:xfrm>
          <a:prstGeom prst="ellipse">
            <a:avLst/>
          </a:prstGeom>
          <a:solidFill>
            <a:schemeClr val="accent3"/>
          </a:solidFill>
          <a:ln/>
        </p:spPr>
      </p:sp>
      <p:pic>
        <p:nvPicPr>
          <p:cNvPr id="18"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9" name="Text 13"/>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Jangan mengakali CORS dengan proxy gratis yang tidak jelas pemiliknya: semua data yang lewat, termasuk token pengguna, bisa dibaca pemiliknya.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121057"/>
                <a:gridCol w="4973359"/>
              </a:tblGrid>
              <a:tr h="5303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Gejala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Solusi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30352">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The argument type 'String' can't be assigned to the parameter type 'Uri'</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Uri.parse(...) atau Uri.https(...)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Data kosong atau null saat server menjawab 404/500</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Periksa statusCode sebelum membaca body</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type 'List&lt;dynamic&gt;' is not a subtype of type 'Map&lt;String, dynamic&gt;'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Lihat bentuk JSON-nya di browser dulu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Lingkaran memuat muncul terus, permintaan berulang-ulang</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Future di initState, bukan di build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Hasil pencarian lama menimpa yang baru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Nomor permintaan (Bagian 10.4)</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Server menolak POST (400) atau data tidak terbaca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jsonEncode + 'Content-Type': 'application/json'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Huruf aneh seperti Ã© atau Â°</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utf8.decode(respons.bodyBytes)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Pesan galat teknis tampil ke pengguna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Terjemahkan dengan pesanRamah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Kebutuhan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Pakai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Coba-coba satu permintaan di halaman sederhana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http.get + setState (Contoh 01)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Menampilkan hasil satu Future tanpa banyak aturan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FutureBuilder dengan Future dari initState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Pencarian, saringan, muat lebih banyak, kirim data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ViewModel + repository + layanan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Banyak permintaan ke server yang sama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Satu http.Client di layanan, ditutup saat selesai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Menguji tanpa internet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MockClient dari package:http/testing.dart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Mulailah dari yang paling sederhana yang mencukupi.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Klien meminta data ke server lewat REST API: alamat + metode.</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Kode status: 2xx berhasil, 4xx salah di aplikasi, 5xx salah di server.</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jsonDecode + pola map di fromJson; angka JSON dibaca dengan num.</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Kode 404/500 BUKAN exception; exception = tidak ada jawaban.</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FutureBuilder: Future dibuat sekali di initState.</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Empat galat: ClientException, TimeoutException, ApiException, FormatException → pesan ramah.</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Layanan (HTTP + JSON) dan repository (JSON → Model); ViewModel tidak tahu asal datanya.</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Uri.https, debounce, limit/skip/total, nomor permintaan, MockClient.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10 (lima praktikum + tugas Formulir Alamat Pendaftaran), lalu uji diri di Latihan. Untuk proyek akhir: buat layanan dan repository untuk API pilihan tim, lalu uji dengan MockClient. Pertemuan berikutnya: penyimpanan lokal.</a:t>
            </a:r>
            <a:endParaRPr lang="en-US" sz="2000" dirty="0"/>
          </a:p>
        </p:txBody>
      </p:sp>
      <p:sp>
        <p:nvSpPr>
          <p:cNvPr id="5" name="tombol tautan">
            <a:hlinkClick r:id="rId1" tooltip="https://github.com/antonprafanto/mobile2026/blob/main/pertemuan_10_async_dan_rest_api/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P10</a:t>
            </a:r>
            <a:endParaRPr lang="en-US" sz="1600" dirty="0"/>
          </a:p>
        </p:txBody>
      </p:sp>
      <p:pic>
        <p:nvPicPr>
          <p:cNvPr id="6" name="Image 0" descr="ikon tautan">
            <a:hlinkClick r:id="rId3" tooltip="https://github.com/antonprafanto/mobile2026/blob/main/pertemuan_10_async_dan_rest_api/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0_async_dan_rest_api/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P10</a:t>
            </a:r>
            <a:endParaRPr lang="en-US" sz="1600" dirty="0"/>
          </a:p>
        </p:txBody>
      </p:sp>
      <p:pic>
        <p:nvPicPr>
          <p:cNvPr id="8" name="Image 1" descr="ikon tautan">
            <a:hlinkClick r:id="rId6" tooltip="https://github.com/antonprafanto/mobile2026/blob/main/pertemuan_10_async_dan_rest_api/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10 - Asinkron &amp; REST API</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2026-10-15T18:45:25Z</dcterms:created>
  <dcterms:modified xsi:type="dcterms:W3CDTF">2026-10-15T18:45:25Z</dcterms:modified>
</cp:coreProperties>
</file>