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5_material3_dan_responsive/slide_02_tools_dan_preview_responsif.dar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5_material3_dan_responsive/slide_03_filosofi_material3.dar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5_material3_dan_responsive/slide_04_color_scheme_seed.dar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5_material3_dan_responsive/slide_05_typography_text_theme.dar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5_material3_dan_responsive/slide_06_dynamic_theme_light_dark.dart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5_material3_dan_responsive/slide_07_mediaquery_dimensions.dar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5_material3_dan_responsive/slide_08_layoutbuilder_constraints.dart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5_material3_dan_responsive/slide_09_breakpoints_helper.dar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5_material3_dan_responsive/slide_10_orientation_builder.dart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5_material3_dan_responsive/slide_11_adaptive_navigation.dart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5_material3_dan_responsive/slide_12_responsive_grid_layout.dart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5_material3_dan_responsive/slide_13_master_detail_pattern.dart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5_material3_dan_responsive/slide_14_adaptive_widgets_native.dart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5_material3_dan_responsive/slide_15_reusable_component_kit.dart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5_material3_dan_responsive/slide_16_fittedbox_scaling.dar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5_material3_dan_responsive/slide_17_checklist_responsive_ui.dart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5_material3_dan_responsive/slide_18_lab_quest_dashboard_responsif.dar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896112"/>
            <a:ext cx="10545775" cy="5212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822960"/>
            <a:ext cx="10545775" cy="52120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✦ IF3205 • PEMROGRAMAN PIRANTI BERGERAK • PERTEMUAN 05 ✦</a:t>
            </a:r>
          </a:p>
          <a:p>
            <a:pPr>
              <a:spcAft>
                <a:spcPts val="1400"/>
              </a:spcAft>
              <a:defRPr sz="3000" b="1">
                <a:solidFill>
                  <a:srgbClr val="000000"/>
                </a:solidFill>
                <a:latin typeface="Segoe UI"/>
              </a:defRPr>
            </a:pPr>
            <a:r>
              <a:t>Material Design 3 &amp; Antarmuka Responsif Lintas Platform</a:t>
            </a:r>
          </a:p>
          <a:p>
            <a:pPr>
              <a:spcAft>
                <a:spcPts val="3800"/>
              </a:spcAft>
              <a:defRPr sz="1500">
                <a:solidFill>
                  <a:srgbClr val="3C3C3C"/>
                </a:solidFill>
                <a:latin typeface="Segoe UI"/>
              </a:defRPr>
            </a:pPr>
            <a:r>
              <a:t>Membangun Desain Adaptif yang Menyesuaikan Diri Otomatis pada Ponsel, Tablet, dan Desktop Menggunakan ColorScheme Seed &amp; Breakpoints Modern.</a:t>
            </a:r>
          </a:p>
          <a:p>
            <a:pPr>
              <a:defRPr sz="1200" b="1">
                <a:solidFill>
                  <a:srgbClr val="000000"/>
                </a:solidFill>
                <a:latin typeface="Segoe UI"/>
              </a:defRPr>
            </a:pPr>
            <a:r>
              <a:t>■  TIM DOSEN PEMROGRAMAN PIRANTI BERGERAK  ■  OUTCOME-BASED EDUCATION (OBE) • SUB-CPMK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377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3774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SETUP &amp; ALAT UJI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Menguji UI Responsif di Chrome (Hemat RAM &amp; Anti-Lag)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💡 Analogi Simulator: Emulator Android Studio di PC lab sering berat seperti helikopter. Gunakan Chrome sebagai simulator super ringan!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🚀 Cukup jalankan: 'flutter run -d chrome'. Konsumsi RAM di bawah 150MB sehingga perangkat laboratorium dengan spesifikasi standar tetap bekerja optimal.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↔️ Efek Karet Gelang: Cukup tarik tepi jendela Chrome untuk menyimulasikan layar ponsel (&lt;600dp), tablet (600-840dp), hingga laptop (&gt;840dp).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⚡ Fitur Hot Reload instan (&lt;1 detik) membuat Anda bisa melihat adaptasi tata letak secara langsung tanpa perlu restart.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Tarik pinggir jendela Chrome untuk menguji responsivitas tanpa perlu emulator berat!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responsive_tools.dart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Membaca lebar layar peramban saat di-resize:</a:t>
            </a:r>
            <a:br/>
            <a:r>
              <a:t>final screenWidth = MediaQuery.sizeOf(context).width;</a:t>
            </a:r>
            <a:br/>
            <a:br/>
            <a:r>
              <a:t>// Deteksi sederhana jenis perangkat:</a:t>
            </a:r>
            <a:br/>
            <a:r>
              <a:t>final isMobile = screenWidth &lt; 600;</a:t>
            </a:r>
            <a:br/>
            <a:br/>
            <a:r>
              <a:t>print(isMobile ? 'Tampilan: Ponsel' : 'Tampilan: Tablet/PC');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(slide_02_tools_dan_preview_responsif.dart)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377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3774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DESAIN SISTEM M3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Filosofi Material 3: Sudut Alami, Tombol, &amp; 3 Varian Kartu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🛋️ Analogi Furnitur Modern: M3 hadir layaknya sofa Skandinavia minimalis—tanpa sudut tajam menusuk, bayangan lembut, dan warna menyejukkan.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🔘 Tombol Modern: Gunakan 'FilledButton' (aksi utama kontras), 'FilledButton.tonal' (aksi sekunder lembut), dan 'OutlinedButton'.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🃏 3 Varian Kartu M3: 'Card()' (elevated/melayang halus), 'Card.filled()' (rata warna tonal), dan 'Card.outlined()' (garis tepi halus).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⚙️ Syarat Wajib: Selalu pasang 'useMaterial3: true' di dalam ThemeData agar komponen otomatis beralih ke standar modern 2026.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Gunakan Card.outlined untuk tampilan bersih dan FilledButton untuk tombol aksi utama!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material3_philosophy.dart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MaterialApp(</a:t>
            </a:r>
            <a:br/>
            <a:r>
              <a:t>  theme: ThemeData(</a:t>
            </a:r>
            <a:br/>
            <a:r>
              <a:t>    useMaterial3: true, // Wajib diaktifkan!</a:t>
            </a:r>
            <a:br/>
            <a:r>
              <a:t>    colorSchemeSeed: Colors.indigo,</a:t>
            </a:r>
            <a:br/>
            <a:r>
              <a:t>  ),</a:t>
            </a:r>
            <a:br/>
            <a:r>
              <a:t>  home: Scaffold(</a:t>
            </a:r>
            <a:br/>
            <a:r>
              <a:t>    body: Column(</a:t>
            </a:r>
            <a:br/>
            <a:r>
              <a:t>      children: [</a:t>
            </a:r>
            <a:br/>
            <a:r>
              <a:t>        FilledButton(onPressed: (){}, child: Text('Aksi')),</a:t>
            </a:r>
            <a:br/>
            <a:r>
              <a:t>        Card(child: Text('Card Elevated')),</a:t>
            </a:r>
            <a:br/>
            <a:r>
              <a:t>        Card.outlined(child: Text('Card Outlined')),</a:t>
            </a:r>
            <a:br/>
            <a:r>
              <a:t>      ],</a:t>
            </a:r>
            <a:br/>
            <a:r>
              <a:t>    ),</a:t>
            </a:r>
            <a:br/>
            <a:r>
              <a:t>  ),</a:t>
            </a:r>
            <a:br/>
            <a: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(slide_03_filosofi_material3.dart)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7203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7203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7203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PALET WARNA DINAMIS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ColorScheme Seed: Pohon Warna Harmonis &amp; Aturan Kaus-Sablon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🌱 Analogi Pohon Warna: Anda tanam 1 biji benih ('colorSchemeSeed: Colors.teal'), Google menumbuhkan 30+ warna daun &amp; bunga harmonis otomatis!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👕 Aturan Kaus &amp; Sablon (Prefix 'on'): Jika kaus berwarna gelap ('primary'), tinta tulisan di atasnya wajib ('onPrimary'). Jangan sablon gelap di atas gelap!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📦 Pasangan Kontainer: Gunakan 'primaryContainer' (warna wadah kotak) dipadukan dengan 'onPrimaryContainer' (warna teks di dalamnya).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🎯 Cara Memanggil: Ambil seluruh palet warna aktif di widget mana saja melalui: 'Theme.of(context).colorScheme'.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Hukum Emas Kontras: Wadah 'xyzContainer' WAJIB dipasangkan dengan teks 'onXyzContainer'!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color_scheme_seed.dart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Mengambil palet warna aktif di widget:</a:t>
            </a:r>
            <a:br/>
            <a:r>
              <a:t>final colors = Theme.of(context).colorScheme;</a:t>
            </a:r>
            <a:br/>
            <a:br/>
            <a:r>
              <a:t>Card(</a:t>
            </a:r>
            <a:br/>
            <a:r>
              <a:t>  color: colors.primaryContainer, // Warna kotak kaus</a:t>
            </a:r>
            <a:br/>
            <a:r>
              <a:t>  child: Text(</a:t>
            </a:r>
            <a:br/>
            <a:r>
              <a:t>    'Teks Kontras Otomatis',</a:t>
            </a:r>
            <a:br/>
            <a:r>
              <a:t>    style: TextStyle(color: colors.onPrimaryContainer), // Warna sablon</a:t>
            </a:r>
            <a:br/>
            <a:r>
              <a:t>  ),</a:t>
            </a:r>
            <a:br/>
            <a: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(slide_04_color_scheme_seed.dart)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491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HIRARKI TIPOGRAFI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Skala Tipografi M3: Hirarki Koran &amp; Majalah (Anti-Hardcode)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📰 Analogi Koran &amp; Majalah: Desain punya susunan rapi—Display (baliho), Headline (judul bab), Title (judul kartu), Body (isi bacaan).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🚫 Dilarang Keras: Hindari menulis 'fontSize: 24' manual! Ukuran kaku membuat teks tidak fleksibel terhadap setelan HP pengguna.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👓 Peduli Lansia: Saat kakek/nenek memperbesar ukuran huruf sistem di HP (150%), 'TextTheme' otomatis menyesuaikan diri tanpa merusak mata.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📖 Standar Default: Standar paragraf utama aplikasi Flutter adalah 'bodyMedium' (14sp), nyaman dibaca di segala kerapatan layar.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Gunakan TextTheme agar aplikasi Anda otomatis mematuhi aksesibilitas pembesaran font!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typography_hierarchy.dart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final textTheme = Theme.of(context).textTheme;</a:t>
            </a:r>
            <a:br/>
            <a:br/>
            <a:r>
              <a:t>Text('Judul Halaman', style: textTheme.titleLarge);</a:t>
            </a:r>
            <a:br/>
            <a:r>
              <a:t>Text('Judul Kartu', style: textTheme.titleMedium);</a:t>
            </a:r>
            <a:br/>
            <a:r>
              <a:t>Text('Paragraf Artikel', style: textTheme.bodyMedium);</a:t>
            </a:r>
            <a:br/>
            <a:r>
              <a:t>Text('Keterangan Kecil', style: textTheme.labelSmall);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(slide_05_typography_text_theme.dart)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16916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16916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THEME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Tema Dinamis: Kacamata Hitam Transitions (Light, Dark, System)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🕶️ Analogi Lensa Transitions: Bening saat di dalam ruangan, otomatis gelap sejuk saat di luar terik matahari. Begitu pula tema terang dan gelap.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🌙 Manfaat Mode Gelap: Mengistirahatkan mata pengguna di malam hari dan menghemat baterai layar OLED/AMOLED smartphone secara signifikan.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⚙️ Tiga Pasak Utama: MaterialApp memiliki properti 'theme' (terang), 'darkTheme' (gelap), dan pengatur saklar 'themeMode'.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🔄 Ikut Setelan HP: 'ThemeMode.system' akan otomatis mendeteksi apakah smartphone pengguna sedang mode gelap tanpa perlu tombol manual.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Gunakan SegmentedButton untuk memberi opsi ganti tema Terang, Gelap, atau Ikut Sistem!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dynamic_theme.dart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MaterialApp(</a:t>
            </a:r>
            <a:br/>
            <a:r>
              <a:t>  theme: ThemeData(</a:t>
            </a:r>
            <a:br/>
            <a:r>
              <a:t>    useMaterial3: true,</a:t>
            </a:r>
            <a:br/>
            <a:r>
              <a:t>    colorSchemeSeed: Colors.indigo,</a:t>
            </a:r>
            <a:br/>
            <a:r>
              <a:t>    brightness: Brightness.light, // Terang</a:t>
            </a:r>
            <a:br/>
            <a:r>
              <a:t>  ),</a:t>
            </a:r>
            <a:br/>
            <a:r>
              <a:t>  darkTheme: ThemeData(</a:t>
            </a:r>
            <a:br/>
            <a:r>
              <a:t>    useMaterial3: true,</a:t>
            </a:r>
            <a:br/>
            <a:r>
              <a:t>    colorSchemeSeed: Colors.indigo,</a:t>
            </a:r>
            <a:br/>
            <a:r>
              <a:t>    brightness: Brightness.dark,  // Gelap</a:t>
            </a:r>
            <a:br/>
            <a:r>
              <a:t>  ),</a:t>
            </a:r>
            <a:br/>
            <a:r>
              <a:t>  themeMode: _isDark ? ThemeMode.dark : ThemeMode.light,</a:t>
            </a:r>
            <a:br/>
            <a: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(slide_06_dynamic_theme_light_dark.dart)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18059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18059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8059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RESPONSIF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MediaQuery: Sertifikat Luas Tanah Seluruh Layar HP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📐 Analogi Luas Tanah Rumah: MediaQuery mengukur luas total seluruh bentang kaca layar HP dari ujung kiri atas ke kanan bawah.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📏 Membaca Dimensi: 'MediaQuery.sizeOf(context).width' dan '.height' mengembalikan lebar &amp; tinggi total dalam satuan dp.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📱 Deteksi Poni &amp; Keyboard: MediaQuery juga mengetahui area terpotong kamera depan (Safe Area / paddingOf) dan munculnya keyboard.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⚠️ Batasan: MediaQuery mengukur SELURUH layar fisik, bukan ruang sempit di dalam kartu atau dialog pop-up split-view.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Gunakan MediaQuery.sizeOf(context) alih-alih MediaQuery.of(context).size untuk efisiensi rebuild!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mediaquery_screen.dart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Membaca ukuran layar total:</a:t>
            </a:r>
            <a:br/>
            <a:r>
              <a:t>final size = MediaQuery.sizeOf(context);</a:t>
            </a:r>
            <a:br/>
            <a:br/>
            <a:r>
              <a:t>// Deteksi orientasi tegak vs miring:</a:t>
            </a:r>
            <a:br/>
            <a:r>
              <a:t>final isPortrait = MediaQuery.orientationOf(context) </a:t>
            </a:r>
            <a:br/>
            <a:r>
              <a:t>    == Orientation.portrait;</a:t>
            </a:r>
            <a:br/>
            <a:br/>
            <a:r>
              <a:t>print('Lebar Layar Total: ${size.width} dp');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(slide_07_mediaquery_dimensions.dart)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18059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18059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8059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RESPONSIF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LayoutBuilder: Ruang Kosong Sudut Kamar untuk Lemari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🚪 Analogi Lemari Sudut Kamar: Lemari tidak peduli luas seluruh rumah (MediaQuery), yang penting berapa ruang kosong di sudut kamar!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📦 BoxConstraints: LayoutBuilder memberikan 'constraints.maxWidth'—lebar maksimum yang disiapkan oleh widget induk (*parent*).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🧩 Senjata Komponen Modular: Satu kartu yang sama bisa otomatis tampil vertikal (Column) jika sempit, atau horizontal (Row) jika lapang.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👑 Hukum Emas Widget: Jika Anda membangun widget modular/reusable, selalu gunakan LayoutBuilder, BUKAN MediaQuery!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LayoutBuilder membuat widget Anda fleksibel tampil di HP penuh, tablet split-pane, maupun pop-up!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layout_builder_demo.dart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LayoutBuilder(</a:t>
            </a:r>
            <a:br/>
            <a:r>
              <a:t>  builder: (context, constraints) {</a:t>
            </a:r>
            <a:br/>
            <a:r>
              <a:t>    // Membaca ruang yang diizinkan oleh parent:</a:t>
            </a:r>
            <a:br/>
            <a:r>
              <a:t>    if (constraints.maxWidth &lt; 500) {</a:t>
            </a:r>
            <a:br/>
            <a:r>
              <a:t>      return const Column(children: [...]); // Vertikal</a:t>
            </a:r>
            <a:br/>
            <a:r>
              <a:t>    } else {</a:t>
            </a:r>
            <a:br/>
            <a:r>
              <a:t>      return const Row(children: [...]);    // Horizontal</a:t>
            </a:r>
            <a:br/>
            <a:r>
              <a:t>    }</a:t>
            </a:r>
            <a:br/>
            <a:r>
              <a:t>  },</a:t>
            </a:r>
            <a:br/>
            <a: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(slide_08_layoutbuilder_constraints.dart)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18059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18059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8059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BREAKPOINTS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Standar Breakpoints Google: Ukuran Baju S, M, L Layar Digital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👕 Analogi Ukuran Baju: Tubuh punya ukuran baju S, M, L. Layar digital pun memiliki 3 klasifikasi standar industri resmi Google: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📱 S - Compact (&lt; 600 dp): Mayoritas smartphone posisi tegak (*portrait*). Tata letak 1 kolom sederhana.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📖 M - Medium (600 s.d. 840 dp): Tablet kecil, HP lipat (*foldable*), atau HP miring (*landscape*). Tata letak 2 kolom.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🖥️ L - Expanded (&gt; 840 dp): Tablet besar, laptop, dan monitor desktop. Tata letak multi-kolom berdampingan.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Nilai ambang batas (threshold) standar: 600 dp adalah garis pemisah antara tata letak Ponsel dan Tablet!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breakpoints_helper.dart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enum WindowSize { compact, medium, expanded }</a:t>
            </a:r>
            <a:br/>
            <a:br/>
            <a:r>
              <a:t>WindowSize getSizeClass(double width) {</a:t>
            </a:r>
            <a:br/>
            <a:r>
              <a:t>  if (width &lt; 600) return WindowSize.compact;  // Ukuran S (HP)</a:t>
            </a:r>
            <a:br/>
            <a:r>
              <a:t>  if (width &lt; 840) return WindowSize.medium;   // Ukuran M (Tablet)</a:t>
            </a:r>
            <a:br/>
            <a:r>
              <a:t>  return WindowSize.expanded;                  // Ukuran L (Desktop)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(slide_09_breakpoints_helper.dart)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263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ORIENTASI LAYAR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OrientationBuilder: Memutar Buku Sketsa (Tegak vs Miring)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🎨 Analogi Buku Gambar: Saat buku tegak kita menggambar ke bawah; saat dimiringkan kita menggambar melebar ke samping.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🔄 Reaksi Rotasi Layar: 'OrientationBuilder' mendengarkan perputaran HP secara instan dan membangun ulang antarmuka yang cocok.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📊 Adaptasi Grid Cerdas: Ubah daftar dari 2 kolom (saat portrait) menjadi 4 kolom (saat landscape) agar ruang tidak terbuang sia-sia.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⌨️ Anti-Terpotong Keyboard: Pada posisi landscape, tinggi layar sangat terbatas, pastikan elemen formulir dapat di-scroll vertikal.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Uji rotasi layar dengan shortcut Ctrl+F11 di emulator atau ubah rasio jendela Chrome!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orientation_builder.dart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OrientationBuilder(</a:t>
            </a:r>
            <a:br/>
            <a:r>
              <a:t>  builder: (context, orientation) {</a:t>
            </a:r>
            <a:br/>
            <a:r>
              <a:t>    final isPortrait = orientation == Orientation.portrait;</a:t>
            </a:r>
            <a:br/>
            <a:r>
              <a:t>    return GridView.count(</a:t>
            </a:r>
            <a:br/>
            <a:r>
              <a:t>      // 2 kolom saat tegak, 4 kolom saat miring:</a:t>
            </a:r>
            <a:br/>
            <a:r>
              <a:t>      crossAxisCount: isPortrait ? 2 : 4,</a:t>
            </a:r>
            <a:br/>
            <a:r>
              <a:t>      children: [...],</a:t>
            </a:r>
            <a:br/>
            <a:r>
              <a:t>    );</a:t>
            </a:r>
            <a:br/>
            <a:r>
              <a:t>  },</a:t>
            </a:r>
            <a:br/>
            <a: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(slide_10_orientation_builder.dart)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377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3774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NAVIGASI ADAPTIF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Navigasi Adaptif: Ergonomi Jangkauan Jempol Tangan Manusia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👍 Analogi Jangkauan Jempol: Saat memegang HP satu tangan, jempol berada di bawah. Saat pegang tablet dua tangan di pinggir, jempol berada di sisi layar!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📱 Layar Ponsel (&lt;600dp): Gunakan 'NavigationBar' di dasar layar agar navigasi mudah dijangkau satu tangan pengguna.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🖥️ Layar Tablet (&gt;=600dp): Pindahkan ke 'NavigationRail' di sisi kiri layar untuk menghemat ruang vertikal yang sangat berharga.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🤝 Berbagi Halaman: Keduanya berbagi 'selectedIndex' dan daftar tujuan yang sama sehingga logika navigasi tidak perlu ditulis ulang.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NavigationRail di sisi kiri membuat antarmuka tablet terlihat elegan dan berkelas profesional!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adaptive_navigation.dart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Scaffold(</a:t>
            </a:r>
            <a:br/>
            <a:r>
              <a:t>  body: Row(</a:t>
            </a:r>
            <a:br/>
            <a:r>
              <a:t>    children: [</a:t>
            </a:r>
            <a:br/>
            <a:r>
              <a:t>      if (isTablet)</a:t>
            </a:r>
            <a:br/>
            <a:r>
              <a:t>        NavigationRail( // Samping kiri di tablet</a:t>
            </a:r>
            <a:br/>
            <a:r>
              <a:t>          selectedIndex: _idx,</a:t>
            </a:r>
            <a:br/>
            <a:r>
              <a:t>          destinations: [...],</a:t>
            </a:r>
            <a:br/>
            <a:r>
              <a:t>        ),</a:t>
            </a:r>
            <a:br/>
            <a:r>
              <a:t>      Expanded(child: _pages[_idx]),</a:t>
            </a:r>
            <a:br/>
            <a:r>
              <a:t>    ],</a:t>
            </a:r>
            <a:br/>
            <a:r>
              <a:t>  ),</a:t>
            </a:r>
            <a:br/>
            <a:r>
              <a:t>  bottomNavigationBar: isTablet ? null : NavigationBar(...), // Bawah di HP</a:t>
            </a:r>
            <a:br/>
            <a: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(slide_11_adaptive_navigation.dart)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18059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18059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8059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LAYOUT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Grid Responsif Dinamis: Rak Pajangan Toko Fleksibel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🏪 Analogi Rak Toko: Rak sempit memuat 2 produk, rak lebar memuat 4 hingga 6 produk tanpa membuat kemasan produk melar gepeng.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🚫 Jebakan Desain (Anti-Pattern): Menulis 'crossAxisCount: 2' statis. Pada layar tablet yang lebar, kartu produk akan meregang secara tidak proporsional!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🧮 Solusi Rumus Adaptif: Tentukan jumlah kolom lewat rumus lebar: lebar &lt;600 (1-2 kolom), &lt;900 (3 kolom), &gt;900 (4-6 kolom).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✨ Opsi Otomatis: Atau gunakan 'SliverGridDelegateWithMaxCrossAxisExtent(maxCrossAxisExtent: 220)'—Flutter yang menghitungkan kolomnya!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Gunakan maxCrossAxisExtent jika Anda ingin ukuran kartu selalu konsisten di segala resolusi layar!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responsive_grid.dart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int calculateColumns(double width) {</a:t>
            </a:r>
            <a:br/>
            <a:r>
              <a:t>  if (width &lt; 600) return 1; // Ponsel (1 kolom)</a:t>
            </a:r>
            <a:br/>
            <a:r>
              <a:t>  if (width &lt; 900) return 2; // Tablet (2 kolom)</a:t>
            </a:r>
            <a:br/>
            <a:r>
              <a:t>  return 3;                  // Desktop (3 kolom)</a:t>
            </a:r>
            <a:br/>
            <a:r>
              <a:t>}</a:t>
            </a:r>
            <a:br/>
            <a:br/>
            <a:r>
              <a:t>GridView.builder(</a:t>
            </a:r>
            <a:br/>
            <a:r>
              <a:t>  gridDelegate: SliverGridDelegateWithFixedCrossAxisCount(</a:t>
            </a:r>
            <a:br/>
            <a:r>
              <a:t>    crossAxisCount: calculateColumns(constraints.maxWidth),</a:t>
            </a:r>
            <a:br/>
            <a:r>
              <a:t>  ),</a:t>
            </a:r>
            <a:br/>
            <a:r>
              <a:t>  itemBuilder: (ctx, i) =&gt; Card(...),</a:t>
            </a:r>
            <a:br/>
            <a: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(slide_12_responsive_grid_layout.dart)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6060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POLA ARSITEKTUR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Pola Master-Detail: WhatsApp di HP vs WhatsApp Web di Komputer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💬 Analogi WhatsApp &amp; Gmail: Di HP, kita ketuk kontak -&gt; tumpukan layar ganti ke chat -&gt; tekan tombol Back untuk kembali.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💻 Di Laptop/Tablet: Daftar kontak (Master) di sisi kiri dan obrolan pesan (Detail) di sisi kanan tampil berdampingan dalam satu layar.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⚡ Efisiensi 2x Lipat: Pengguna tablet tidak perlu lelah bolak-balik menekan tombol 'Back' hanya untuk membaca rincian data.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🏛️ Standar Industri: Pola arsitektur wajib untuk aplikasi e-commerce, portal berita, email, dan catatan medis rumah sakit.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Pola Master-Detail meningkatkan produktivitas pengguna tablet hingga dua kali lipat!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master_detail_pattern.dart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if (isTablet)</a:t>
            </a:r>
            <a:br/>
            <a:r>
              <a:t>  Row(</a:t>
            </a:r>
            <a:br/>
            <a:r>
              <a:t>    children: [</a:t>
            </a:r>
            <a:br/>
            <a:r>
              <a:t>      SizedBox(width: 300, child: MasterList()), // Kiri: Daftar</a:t>
            </a:r>
            <a:br/>
            <a:r>
              <a:t>      Expanded(child: DetailView(selectedItem)),  // Kanan: Rincian</a:t>
            </a:r>
            <a:br/>
            <a:r>
              <a:t>    ],</a:t>
            </a:r>
            <a:br/>
            <a:r>
              <a:t>  )</a:t>
            </a:r>
            <a:br/>
            <a:r>
              <a:t>else</a:t>
            </a:r>
            <a:br/>
            <a:r>
              <a:t>  MasterList(); // Di ponsel: push() ke layar rincian baru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(slide_13_master_detail_pattern.dart)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148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WIDGET ADAPTIF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Widget Adaptif: Colokan Adaptor Universal Internasional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🔌 Analogi Steker Adaptor: Satu colokan charger yang otomatis cocok di stopkontak Indonesia maupun stopkontak luar negeri tanpa adaptor tambahan.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🔄 Konstruktor '.adaptive()': Flutter menyediakan komponen yang otomatis berubah bentuk mengikuti gaya asli sistem operasi perangkat.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🟢 Switch.adaptive(): Tampil saklar Material 3 di Android/Web, dan saklar bulat hijau lonjong khas iOS di perangkat iPhone/iPad.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⏳ CircularProgressIndicator.adaptive(): Berputar gaya Material di Android dan animasi pemintal abu-abu khas Cupertino di iOS.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Gunakan Switch.adaptive() dan Slider.adaptive() agar aplikasi Anda berasa native di Android dan iPhone!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adaptive_widgets.dart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Saklar otomatis menyesuaikan Android / iOS:</a:t>
            </a:r>
            <a:br/>
            <a:r>
              <a:t>Switch.adaptive(</a:t>
            </a:r>
            <a:br/>
            <a:r>
              <a:t>  value: _isActive,</a:t>
            </a:r>
            <a:br/>
            <a:r>
              <a:t>  onChanged: (val) =&gt; setState(() =&gt; _isActive = val),</a:t>
            </a:r>
            <a:br/>
            <a:r>
              <a:t>);</a:t>
            </a:r>
            <a:br/>
            <a:br/>
            <a:r>
              <a:t>// Loading spinner otomatis bergaya native OS:</a:t>
            </a:r>
            <a:br/>
            <a:r>
              <a:t>CircularProgressIndicator.adaptive();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(slide_14_adaptive_widgets_native.dart)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6060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REUSABLE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Reusable Component Kit: Balok LEGO Standar Berkualitas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🧱 Analogi Balok LEGO: Membangun istana megah dari balok LEGO standar yang rapi, bukan mencetak ulang cetakan plastik dari nol setiap saat!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🚫 Prinsip DRY (Don't Repeat Yourself): Jangan menduplikasi kode kartu statistik berulang kali di berbagai berkas layar.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📦 Buat Widget Kustom: Bungkus pola UI yang sering dipakai ke dalam StatelessWidget tersendiri (misal: 'StatCard').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🎨 Desain Token Terpusat: Selalu ambil warna dari 'Theme.of(context).colorScheme' agar kartu otomatis berubah saat tema berganti.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Komponen reusable yang bersih memudahkan pembagian tugas antar anggota kelompok proyek!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stat_card_component.dart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class StatCard extends StatelessWidget {</a:t>
            </a:r>
            <a:br/>
            <a:r>
              <a:t>  final String title;</a:t>
            </a:r>
            <a:br/>
            <a:r>
              <a:t>  final String value;</a:t>
            </a:r>
            <a:br/>
            <a:r>
              <a:t>  final IconData icon;</a:t>
            </a:r>
            <a:br/>
            <a:br/>
            <a:r>
              <a:t>  const StatCard({</a:t>
            </a:r>
            <a:br/>
            <a:r>
              <a:t>    super.key,</a:t>
            </a:r>
            <a:br/>
            <a:r>
              <a:t>    required this.title,</a:t>
            </a:r>
            <a:br/>
            <a:r>
              <a:t>    required this.value,</a:t>
            </a:r>
            <a:br/>
            <a:r>
              <a:t>    required this.icon,</a:t>
            </a:r>
            <a:br/>
            <a:r>
              <a:t>  });</a:t>
            </a:r>
            <a:br/>
            <a:br/>
            <a:r>
              <a:t>  @override</a:t>
            </a:r>
            <a:br/>
            <a:r>
              <a:t>  Widget build(BuildContext context) {</a:t>
            </a:r>
            <a:br/>
            <a:r>
              <a:t>    return Card(child: ListTile(...));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(slide_15_reusable_component_kit.dart)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8346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8346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AKSESIBILITAS &amp; FONT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FittedBox Scaling: Koper Pakaian Berkemasan Vakum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🧳 Analogi Koper Vakum: Saat baju terlalu tebal, kantong vakum mengempiskannya agar tetap muat rapi di dalam koper tanpa merusak resleting.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💥 Masalah Nyata: Kakek/nenek menyetel pembesaran font HP 150% -&gt; angka saldo bank 'Rp 999.999.999,-' meledak memicu overflow garis kuning-hitam!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🛡️ Solusi Anggun: Bungkus teks dengan widget protektif: 'FittedBox(fit: BoxFit.scaleDown)'.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✨ Menyusut Otomatis: Teks akan otomatis menyusut anggun jika ruang terbatas, dan tetap berukuran normal jika ruang tersedia cukup.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Wajib pasang FittedBox pada label harga, saldo dompet, nomor rekening, dan kartu identitas!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fitted_box_scaling.dart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Container(</a:t>
            </a:r>
            <a:br/>
            <a:r>
              <a:t>  width: 200,</a:t>
            </a:r>
            <a:br/>
            <a:r>
              <a:t>  child: FittedBox(</a:t>
            </a:r>
            <a:br/>
            <a:r>
              <a:t>    fit: BoxFit.scaleDown, // Otomatis menyusut jika kepanjangan</a:t>
            </a:r>
            <a:br/>
            <a:r>
              <a:t>    child: Text(</a:t>
            </a:r>
            <a:br/>
            <a:r>
              <a:t>      'Rp 999.999.999,-',</a:t>
            </a:r>
            <a:br/>
            <a:r>
              <a:t>      style: TextStyle(fontSize: 32),</a:t>
            </a:r>
            <a:br/>
            <a:r>
              <a:t>    ),</a:t>
            </a:r>
            <a:br/>
            <a:r>
              <a:t>  ),</a:t>
            </a:r>
            <a:br/>
            <a: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(slide_16_fittedbox_scaling.dart)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6060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CHECKLIST PRODUKSI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5 Aturan Emas Desain UI Responsif (Checklist Penilaian UTS)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1. Dilarang Hardcode Dimensi: Hindari menulis 'width: 380', gunakan Expanded, Flexible, atau LayoutBuilder.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2. Hormati Breakpoint Sakral 600dp: Bedakan tata letak 1 kolom untuk ponsel dan multi-kolom untuk tablet.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3. Navigasi Adaptif Ergonomis: Bottom NavigationBar di ponsel, Side NavigationRail di tablet.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4. Lolos Uji Rotasi Layar: Pastikan antarmuka tidak terpotong saat layar dimiringkan horizontal.</a:t>
            </a:r>
          </a:p>
          <a:p>
            <a:pPr>
              <a:spcAft>
                <a:spcPts val="500"/>
              </a:spcAft>
              <a:defRPr sz="1060">
                <a:solidFill>
                  <a:srgbClr val="141414"/>
                </a:solidFill>
                <a:latin typeface="Segoe UI"/>
              </a:defRPr>
            </a:pPr>
            <a:r>
              <a:t>■  5. Kontras Warna Sempurna: Pastikan teks terbaca jelas di Tema Terang maupun Tema Gelap.</a:t>
            </a:r>
          </a:p>
          <a:p>
            <a:pPr>
              <a:defRPr sz="1019" b="1">
                <a:solidFill>
                  <a:srgbClr val="000000"/>
                </a:solidFill>
                <a:latin typeface="Segoe UI"/>
              </a:defRPr>
            </a:pPr>
            <a:r>
              <a:t>💡 Tips Praktis: Jadikan kelima checklist ini sebagai acuan penilaian proyek UTS kelompok Anda agar meraih nilai A!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checklist_responsive.dart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Checklist Uji Praktikum Responsif Standar 2026:</a:t>
            </a:r>
            <a:br/>
            <a:r>
              <a:t>// [✓] Tampilan bebas dari overflow garis kuning-hitam</a:t>
            </a:r>
            <a:br/>
            <a:r>
              <a:t>// [✓] Navigasi pindah ke samping saat layar melebihi 600dp</a:t>
            </a:r>
            <a:br/>
            <a:r>
              <a:t>// [✓] Tombol dan kartu menggunakan token warna Material 3</a:t>
            </a:r>
            <a:br/>
            <a:r>
              <a:t>// [✓] Berjalan mulus di Chrome Web &amp; Smartphone Fisik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(slide_17_checklist_responsive_ui.dart)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491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LAB QUEST MANDIRI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Pertemuan 05: Dashboard Akademik Responsif Multi-Platform &amp; Dynamic Theme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1054577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10545775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10545775" cy="475488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91640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00000"/>
                </a:solidFill>
                <a:latin typeface="Segoe UI"/>
              </a:defRPr>
            </a:pPr>
            <a:r>
              <a:t>⏱️ ALOKASI: 60 MENIT  ■  TARGET UJI: BROWSER CHROME ATAU SMARTPHONE FISIK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94560"/>
            <a:ext cx="9784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LANGKAH KERJA &amp; SPESIFIKASI TUGAS: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Bangun aplikasi Dashboard Mahasiswa yang adaptif terhadap perubahan ukuran layar ponsel (&lt;600dp) dan tablet (&gt;=600dp).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Terapkan Navigasi Adaptif: Di layar ponsel tampilkan 'NavigationBar' di bawah, di layar tablet tampilkan 'NavigationRail' di samping kiri.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Sediakan tombol di AppBar untuk beralih antara Tema Terang (Light Mode) dan Tema Gelap (Dark Mode) secara instan.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Gunakan 'GridView' adaptif untuk menu akademik (KRS, Nilai, Jadwal, Presensi): 2 kolom di ponsel, 4 kolom di tablet.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Tampilkan informasi dimensi layar saat ini (dalam dp) secara dinamis menggunakan 'MediaQuery.sizeOf(context)'.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Target Pengujian: Jalankan di browser Chrome ('flutter run -d chrome') lalu tarik lebar jendela untuk membuktikan adaptasi antarmuka!</a:t>
            </a:r>
          </a:p>
          <a:p>
            <a:pPr>
              <a:defRPr sz="1080" b="1">
                <a:solidFill>
                  <a:srgbClr val="0A6428"/>
                </a:solidFill>
                <a:latin typeface="Segoe UI"/>
              </a:defRPr>
            </a:pPr>
            <a:r>
              <a:t>🎯 TARGET SELESAI: Dashboard bertransisi otomatis antara BottomNav dan NavRail saat ditarik melintasi batas 600dp, dan warna tema berganti rapi.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5296" y="5632704"/>
            <a:ext cx="9784080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88720" y="5596128"/>
            <a:ext cx="9784080" cy="566928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5623560"/>
            <a:ext cx="9564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0000"/>
                </a:solidFill>
                <a:latin typeface="Segoe UI"/>
                <a:hlinkClick r:id="rId2"/>
              </a:rPr>
              <a:t>▶ BUKA KODE LENGKAP LAB QUEST DI GITHUB (slide_18_lab_quest_dashboard_responsif.dart)</a:t>
            </a:r>
          </a:p>
          <a:p>
            <a:pPr>
              <a:defRPr sz="830">
                <a:solidFill>
                  <a:srgbClr val="323232"/>
                </a:solidFill>
                <a:latin typeface="Segoe UI"/>
              </a:defRPr>
            </a:pPr>
            <a:r>
              <a:t>💡 Buka di browser: Kode lengkap Dashboard Mahasiswa Adaptif (Mobile &amp; Tablet) + Toggle Tema di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