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02_persiapan_tools_dan_gorouter.dar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03_textfield_vs_textformfield.dar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04_controller_lifecycle.dar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05_input_decoration_ux.dar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06_password_toggle_demo.dar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07_keyboard_focus_control.dar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08_dropdown_form_field.dar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09_form_architecture.dar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10_validator_regex.dar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11_snackbar_feedback.dar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12_inkwell_gestures.dar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13_why_gorouter.dar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14_app_router_config.dar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15_navigation_actions.dar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16_path_parameters.dar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17_query_and_extra.dar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18_nested_and_shell_routes.dar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4_form_dan_gorouter/slide_19_lab_quest_portal_ktm.dar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896112"/>
            <a:ext cx="10545775" cy="5212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22960"/>
            <a:ext cx="10545775" cy="5212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✦ IF3205 • PEMROGRAMAN PIRANTI BERGERAK • PERTEMUAN 04 ✦</a:t>
            </a:r>
          </a:p>
          <a:p>
            <a:pPr>
              <a:spcAft>
                <a:spcPts val="1400"/>
              </a:spcAft>
              <a:defRPr sz="3000" b="1">
                <a:solidFill>
                  <a:srgbClr val="000000"/>
                </a:solidFill>
                <a:latin typeface="Segoe UI"/>
              </a:defRPr>
            </a:pPr>
            <a:r>
              <a:t>Form Handling, Input Validation, &amp; Navigasi Deklaratif GoRouter</a:t>
            </a:r>
          </a:p>
          <a:p>
            <a:pPr>
              <a:spcAft>
                <a:spcPts val="3800"/>
              </a:spcAft>
              <a:defRPr sz="1500">
                <a:solidFill>
                  <a:srgbClr val="3C3C3C"/>
                </a:solidFill>
                <a:latin typeface="Segoe UI"/>
              </a:defRPr>
            </a:pPr>
            <a:r>
              <a:t>Membangun Formulir Interaktif Bebas Kebocoran Memori, Validasi Regex Otomatis, dan Navigasi URL Modern Standar Industri 2026.</a:t>
            </a:r>
          </a:p>
          <a:p>
            <a:pPr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■  TIM DOSEN PEMROGRAMAN PIRANTI BERGERAK  ■  OUTCOME-BASED EDUCATION (OBE) • SUB-CPMK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0345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0345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0345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SETUP &amp;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Persiapan Uji Cepat Hari Ini: Terminal VS Code &amp; Chrome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Sebelum mulai ngoding: Buka terminal terintegrasi di VS Code dengan shortcut 'Ctrl + ~' (Control + Backtick).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Pasang library navigasi resmi: Jalankan perintah 'flutter pub add go_router'. Pustaka terpasang otomatis tanpa risiko salah indentasi di pubspec.yaml!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Target Pengujian Cepat: Ketik 'flutter run -d chrome' untuk menjalankan di peramban web Chrome (hemat RAM lab &amp; instan 5 detik).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Pilihan Smartphone: Hubungkan kabel USB ponsel fisik dan buka software 'scrcpy' untuk sensasi papan ketik HP asli.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Gunakan 'flutter pub add' di terminal agar berkas pubspec.yaml Anda tidak rusak akibat salah spasi!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terminal_setup.sh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# 1. Buka terminal di VS Code (tekan Ctrl + ~)</a:t>
            </a:r>
            <a:br/>
            <a:br/>
            <a:r>
              <a:t># 2. Pasang library GoRouter versi resmi terbaru:</a:t>
            </a:r>
            <a:br/>
            <a:r>
              <a:t>flutter pub add go_router</a:t>
            </a:r>
            <a:br/>
            <a:br/>
            <a:r>
              <a:t># 3. Jalankan aplikasi di browser Chrome (Paling ringan lab PC):</a:t>
            </a:r>
            <a:br/>
            <a:r>
              <a:t>flutter run -d chrome</a:t>
            </a:r>
            <a:br/>
            <a:br/>
            <a:r>
              <a:t># Hasil otomatis di berkas 'pubspec.yaml':</a:t>
            </a:r>
            <a:br/>
            <a:r>
              <a:t># dependencies:</a:t>
            </a:r>
            <a:br/>
            <a:r>
              <a:t>#   flutter:</a:t>
            </a:r>
            <a:br/>
            <a:r>
              <a:t>#     sdk: flutter</a:t>
            </a:r>
            <a:br/>
            <a:r>
              <a:t>#   go_router: ^14.8.0  # Terpasang otomatis rapi!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(slide_02_persiapan_tools_dan_gorouter.dart)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148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KOMPONEN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Dua Jenis Input Teks: TextField vs TextFormField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Kapan memakai TextField biasa? Sangat cocok untuk input mandiri tanpa form terikat (misal: kolom pencarian 'Search Bar' di AppBar).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Kapan memakai TextFormField? Wajib digunakan di dalam formulir pendaftaran, login, transaksi, atau survei.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TextFormField adalah TextField pintar yang terintegrasi ke ekosistem Form, mendukung properti 'validator', 'onSaved', dan pesan galat otomatis.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Sitasi Resmi: Flutter Cookbook - Build a form with validation (docs.flutter.dev/cookbook/forms/validation).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Jika ada tombol Submit/Kirim data, SELALU gunakan TextFormField!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text_field_comparison.dart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1. TextField Sederhana (Untuk Kolom Pencarian):</a:t>
            </a:r>
            <a:br/>
            <a:r>
              <a:t>TextField(</a:t>
            </a:r>
            <a:br/>
            <a:r>
              <a:t>  decoration: const InputDecoration(</a:t>
            </a:r>
            <a:br/>
            <a:r>
              <a:t>    hintText: 'Cari nama mahasiswa...',</a:t>
            </a:r>
            <a:br/>
            <a:r>
              <a:t>    prefixIcon: Icon(Icons.search),</a:t>
            </a:r>
            <a:br/>
            <a:r>
              <a:t>  ),</a:t>
            </a:r>
            <a:br/>
            <a:r>
              <a:t>  onChanged: (text) =&gt; print('Mencari: $text'),</a:t>
            </a:r>
            <a:br/>
            <a:r>
              <a:t>);</a:t>
            </a:r>
            <a:br/>
            <a:br/>
            <a:r>
              <a:t>// 2. TextFormField Cerdas (Untuk Formulir Validasi):</a:t>
            </a:r>
            <a:br/>
            <a:r>
              <a:t>TextFormField(</a:t>
            </a:r>
            <a:br/>
            <a:r>
              <a:t>  decoration: const InputDecoration(labelText: 'Email Kampus'),</a:t>
            </a:r>
            <a:br/>
            <a:r>
              <a:t>  validator: (val) {</a:t>
            </a:r>
            <a:br/>
            <a:r>
              <a:t>    if (val == null || val.isEmpty) return 'Email wajib diisi!';</a:t>
            </a:r>
            <a:br/>
            <a:r>
              <a:t>    return null; // Valid!</a:t>
            </a:r>
            <a:br/>
            <a:r>
              <a:t>  },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(slide_03_textfield_vs_textformfield.dart)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0345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0345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0345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KENDALI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Membaca &amp; Membersihkan Input: TextEditingController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TextEditingController bertindak sebagai remote pengendali kolom input: membaca isi teks (_ctrl.text), mengubah teks, atau mengosongkan kolom (_ctrl.clear()).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Wajib diletakkan di dalam StatefulWidget pada variabel kelas State.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⚠️ Peringatan Kritis Mahasiswa Awam: Controller WAJIB dimatikan menggunakan method '_ctrl.dispose()' di dalam blok dispose().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Jika lupa di-dispose, objek controller akan terus tertinggal di RAM dan memicu kebocoran memori (Memory Leak)!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Hafalkan aturan emas: Setiap TextEditingController yang Anda buat WAJIB di-dispose()!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controller_lifecycle.dart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class InputDemoState extends State&lt;InputDemo&gt; {</a:t>
            </a:r>
            <a:br/>
            <a:r>
              <a:t>  // 1. Deklarasi Controller di awal kelas State:</a:t>
            </a:r>
            <a:br/>
            <a:r>
              <a:t>  final _namaCtrl = TextEditingController();</a:t>
            </a:r>
            <a:br/>
            <a:br/>
            <a:r>
              <a:t>  @override</a:t>
            </a:r>
            <a:br/>
            <a:r>
              <a:t>  void dispose() {</a:t>
            </a:r>
            <a:br/>
            <a:r>
              <a:t>    // 2. WAJIB dibersihkan saat halaman ditutup:</a:t>
            </a:r>
            <a:br/>
            <a:r>
              <a:t>    _namaCtrl.dispose();</a:t>
            </a:r>
            <a:br/>
            <a:r>
              <a:t>    super.dispose();</a:t>
            </a:r>
            <a:br/>
            <a:r>
              <a:t>  }</a:t>
            </a:r>
            <a:br/>
            <a:br/>
            <a:r>
              <a:t>  void _bacaInput() {</a:t>
            </a:r>
            <a:br/>
            <a:r>
              <a:t>    // 3. Baca teks yang diketik pengguna:</a:t>
            </a:r>
            <a:br/>
            <a:r>
              <a:t>    print('Nama yang diketik: ${_namaCtrl.text}');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(slide_04_controller_lifecycle.dart)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1775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DESAIN PENGALAMAN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Mempercantik Input: InputDecoration &amp; Tipe Keyboard HP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labelText: Label teks mengambang yang naik ke atas saat pengguna mulai mengetik.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hintText: Contoh isian samar penunjuk format (misal: 'nama@mhs.kampus.ac.id').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prefixIcon: Ikon pemanis di awal kolom (amplop untuk email, gembok untuk sandi).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border: OutlineInputBorder() untuk memberi batas kotak tegas bergaya modern.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keyboardType: Menyesuaikan papan ketik HP pengguna (angka murni, email dengan tombol '@', atau telepon).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Mengatur keyboardType secara tepat menghindarkan pengguna HP dari kerumitan mencari simbol '@'!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input_decoration_ux.dart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TextFormField(</a:t>
            </a:r>
            <a:br/>
            <a:r>
              <a:t>  controller: _emailCtrl,</a:t>
            </a:r>
            <a:br/>
            <a:r>
              <a:t>  keyboardType: TextInputType.emailAddress, // Papan ketik ber-simbol @</a:t>
            </a:r>
            <a:br/>
            <a:r>
              <a:t>  decoration: const InputDecoration(</a:t>
            </a:r>
            <a:br/>
            <a:r>
              <a:t>    labelText: 'Email Mahasiswa',</a:t>
            </a:r>
            <a:br/>
            <a:r>
              <a:t>    hintText: 'nama@mhs.kampus.ac.id',</a:t>
            </a:r>
            <a:br/>
            <a:r>
              <a:t>    prefixIcon: Icon(Icons.email_outlined),</a:t>
            </a:r>
            <a:br/>
            <a:r>
              <a:t>    border: OutlineInputBorder(), // Border kotak tegas</a:t>
            </a:r>
            <a:br/>
            <a:r>
              <a:t>  ),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(slide_05_input_decoration_ux.dart)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FITUR KEAMANAN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Toggle Sandi: Membuat Tombol Intip Password yang Berfungsi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Masalah Pemula: Tahu obscureText: true, tapi bingung cara membuat ikon mata bisa diklik untuk melihat sandi.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Solusi Mudah: Buat variabel boolean '_isObscure = true' di kelas State.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Pasang IconButton pada 'suffixIcon' dengan ikon kondisional: jika true tampilkan mata terbuka, jika false tampilkan mata dicoret.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Panggil 'setState(() =&gt; _isObscure = !_isObscure)' saat ikon ditekan!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Fitur toggle intip sandi adalah standar wajib pada semua formulir login komersial modern!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password_toggle_demo.dart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class _PasswordInputState extends State&lt;PasswordInput&gt; {</a:t>
            </a:r>
            <a:br/>
            <a:r>
              <a:t>  bool _isObscure = true; // Status awal tersembunyi</a:t>
            </a:r>
            <a:br/>
            <a:br/>
            <a:r>
              <a:t>  @override</a:t>
            </a:r>
            <a:br/>
            <a:r>
              <a:t>  Widget build(BuildContext context) {</a:t>
            </a:r>
            <a:br/>
            <a:r>
              <a:t>    return TextFormField(</a:t>
            </a:r>
            <a:br/>
            <a:r>
              <a:t>      obscureText: _isObscure, // Dikendalikan boolean</a:t>
            </a:r>
            <a:br/>
            <a:r>
              <a:t>      decoration: InputDecoration(</a:t>
            </a:r>
            <a:br/>
            <a:r>
              <a:t>        labelText: 'Kata Sandi',</a:t>
            </a:r>
            <a:br/>
            <a:r>
              <a:t>        prefixIcon: const Icon(Icons.lock_outline),</a:t>
            </a:r>
            <a:br/>
            <a:r>
              <a:t>        suffixIcon: IconButton(</a:t>
            </a:r>
            <a:br/>
            <a:r>
              <a:t>          icon: Icon(_isObscure ? Icons.visibility : Icons.visibility_off),</a:t>
            </a:r>
            <a:br/>
            <a:r>
              <a:t>          onPressed: () {</a:t>
            </a:r>
            <a:br/>
            <a:r>
              <a:t>            setState(() =&gt; _isObscure = !_isObscure); // Toggle bolak-balik</a:t>
            </a:r>
            <a:br/>
            <a:r>
              <a:t>          },</a:t>
            </a:r>
            <a:br/>
            <a:r>
              <a:t>        ),</a:t>
            </a:r>
            <a:br/>
            <a:r>
              <a:t>      ),</a:t>
            </a:r>
            <a:br/>
            <a:r>
              <a:t>    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(slide_06_password_toggle_demo.dart)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7203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KENDALI KEYBOARD 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Menutup Keyboard HP &amp; Pindah Kolom Otomatis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Keluhan Populer Mahasiswa: 'Pak, setelah klik Submit, kenapa keyboard virtual HP tetap muncul dan menutupi tombol?'.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Solusi Menutup Keyboard: Panggil 'FocusScope.of(context).unfocus()' tepat sebelum aksi submit.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textInputAction: TextInputAction.next: Mengubah tombol pojok kanan keyboard HP menjadi panah 'Next' untuk langsung pindah ke kolom berikutnya.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Mencegah frustrasi pengguna smartphone berlayar kecil!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Selalu panggil 'FocusScope.of(context).unfocus()' agar SnackBar dan tombol tidak terhalang keyboard!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keyboard_focus_control.dart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1. Pindah otomatis ke kolom berikutnya saat tekan Enter HP:</a:t>
            </a:r>
            <a:br/>
            <a:r>
              <a:t>TextFormField(</a:t>
            </a:r>
            <a:br/>
            <a:r>
              <a:t>  textInputAction: TextInputAction.next, // Ikon 'Next'</a:t>
            </a:r>
            <a:br/>
            <a:r>
              <a:t>  decoration: const InputDecoration(labelText: 'Nama Lengkap'),</a:t>
            </a:r>
            <a:br/>
            <a:r>
              <a:t>);</a:t>
            </a:r>
            <a:br/>
            <a:br/>
            <a:r>
              <a:t>// 2. Tutup keyboard saat tombol Submit ditekan:</a:t>
            </a:r>
            <a:br/>
            <a:r>
              <a:t>void _onSubmit() {</a:t>
            </a:r>
            <a:br/>
            <a:r>
              <a:t>  // Sembunyikan keyboard virtual seketika:</a:t>
            </a:r>
            <a:br/>
            <a:r>
              <a:t>  FocusScope.of(context).unfocus();</a:t>
            </a:r>
            <a:br/>
            <a:br/>
            <a:r>
              <a:t>  if (_formKey.currentState!.validate()) {</a:t>
            </a:r>
            <a:br/>
            <a:r>
              <a:t>    // Lanjutkan proses pendaftaran...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(slide_07_keyboard_focus_control.dart)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0345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0345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0345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INPUT PILIHAN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Pilihan Terintegrasi Form: DropdownButtonFormField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Formulir pendaftaran tidak hanya berisi teks, tapi juga pilihan pasti (misal: Program Studi, Jenis Kelamin).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DropdownButtonFormField: Widget dropdown bawaan Flutter yang sudah terintegrasi langsung dengan ekosistem validasi Form!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Mendukung properti 'validator' layaknya TextFormField biasa.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Menghindarkan pengguna dari salah ketik nama jurusan/program studi.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DropdownButtonFormField otomatis menampilkan garis merah galat jika mahasiswa belum memilih opsi!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dropdown_form_field.dart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String? _selectedProdi;</a:t>
            </a:r>
            <a:br/>
            <a:r>
              <a:t>final List&lt;String&gt; _daftarProdi = ['Informatika', 'Sistem Informasi', 'Teknik Komputer'];</a:t>
            </a:r>
            <a:br/>
            <a:br/>
            <a:r>
              <a:t>DropdownButtonFormField&lt;String&gt;(</a:t>
            </a:r>
            <a:br/>
            <a:r>
              <a:t>  value: _selectedProdi,</a:t>
            </a:r>
            <a:br/>
            <a:r>
              <a:t>  decoration: const InputDecoration(labelText: 'Program Studi'),</a:t>
            </a:r>
            <a:br/>
            <a:r>
              <a:t>  items: _daftarProdi.map((p) =&gt; DropdownMenuItem(value: p, child: Text(p))).toList(),</a:t>
            </a:r>
            <a:br/>
            <a:r>
              <a:t>  onChanged: (val) =&gt; setState(() =&gt; _selectedProdi = val),</a:t>
            </a:r>
            <a:br/>
            <a:r>
              <a:t>  validator: (val) {</a:t>
            </a:r>
            <a:br/>
            <a:r>
              <a:t>    if (val == null || val.isEmpty) return 'Pilih Program Studi Anda!';</a:t>
            </a:r>
            <a:br/>
            <a:r>
              <a:t>    return null; // Valid!</a:t>
            </a:r>
            <a:br/>
            <a:r>
              <a:t>  },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(slide_08_dropdown_form_field.dart)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VALIDASI TERPUSAT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Arsitektur Form: Analogi Map Berkas &amp; Stempel Legalisir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Analogi: Bayangkan widget Form adalah Map Berkas yang menampung seluruh formulir kertas.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GlobalKey&lt;FormState&gt; adalah Stempel Legalisir di Meja Registrasi.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Hanya dengan 1 perintah: '_formKey.currentState!.validate()', Flutter secara otomatis memeriksa SELURUH kolom di dalam map berkas sekaligus!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Jika ada satu saja kolom yang salah atau kosong, proses submit ditolak dan pesan teks merah otomatis muncul di bawah kolom tersebut.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Selalu simpan GlobalKey&lt;FormState&gt; sebagai variabel final di kelas State!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form_architecture.dart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class RegistrasiPage extends StatefulWidget { ... }</a:t>
            </a:r>
            <a:br/>
            <a:r>
              <a:t>class _RegistrasiPageState extends State&lt;RegistrasiPage&gt; {</a:t>
            </a:r>
            <a:br/>
            <a:r>
              <a:t>  // Stempel Kunci Form Terpusat:</a:t>
            </a:r>
            <a:br/>
            <a:r>
              <a:t>  final _formKey = GlobalKey&lt;FormState&gt;();</a:t>
            </a:r>
            <a:br/>
            <a:br/>
            <a:r>
              <a:t>  void _kirimFormulir() {</a:t>
            </a:r>
            <a:br/>
            <a:r>
              <a:t>    // Periksa keabsahan seluruh kolom sekaligus:</a:t>
            </a:r>
            <a:br/>
            <a:r>
              <a:t>    if (_formKey.currentState!.validate()) {</a:t>
            </a:r>
            <a:br/>
            <a:r>
              <a:t>      print('Formulir LULUS validasi! Siap kirim ke server.');</a:t>
            </a:r>
            <a:br/>
            <a:r>
              <a:t>    }</a:t>
            </a:r>
            <a:br/>
            <a:r>
              <a:t>  }</a:t>
            </a:r>
            <a:br/>
            <a:br/>
            <a:r>
              <a:t>  @override</a:t>
            </a:r>
            <a:br/>
            <a:r>
              <a:t>  Widget build(BuildContext context) {</a:t>
            </a:r>
            <a:br/>
            <a:r>
              <a:t>    return Form(</a:t>
            </a:r>
            <a:br/>
            <a:r>
              <a:t>      key: _formKey, // Pasang kunci stempel di sini</a:t>
            </a:r>
            <a:br/>
            <a:r>
              <a:t>      child: Column(children: [ ... ]),</a:t>
            </a:r>
            <a:br/>
            <a:r>
              <a:t>    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(slide_09_form_architecture.dart)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LOGIKA VALIDASI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Aturan Validator: Nilai null vs Pesan Error String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Cara kerja fungsi validator: Menerima masukan teks yang sedang diketik '(String? value)'.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Jika masukan VALID: Fungsi WAJIB mengembalikan nilai 'null' (artinya: tidak ada galat, hijau!).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Jika masukan SALAH: Fungsi mengembalikan 'String' berisi pesan teguran yang otomatis tampil merah di bawah kolom.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Ekspresi Reguler (Regex): Digunakan untuk menyaring pola email resmi kampus dan kekuatan sandi.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Gunakan method .trim() sebelum validasi agar spasi yang tidak sengaja tertekan tidak merusak data!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validator_regex.dart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TextFormField(</a:t>
            </a:r>
            <a:br/>
            <a:r>
              <a:t>  controller: _emailCtrl,</a:t>
            </a:r>
            <a:br/>
            <a:r>
              <a:t>  decoration: const InputDecoration(labelText: 'Email Kampus'),</a:t>
            </a:r>
            <a:br/>
            <a:r>
              <a:t>  validator: (value) {</a:t>
            </a:r>
            <a:br/>
            <a:r>
              <a:t>    if (value == null || value.trim().isEmpty) {</a:t>
            </a:r>
            <a:br/>
            <a:r>
              <a:t>      return 'Email tidak boleh kosong!';</a:t>
            </a:r>
            <a:br/>
            <a:r>
              <a:t>    }</a:t>
            </a:r>
            <a:br/>
            <a:r>
              <a:t>    // Regex pola email resmi mahasiswa kampus:</a:t>
            </a:r>
            <a:br/>
            <a:r>
              <a:t>    final regex = RegExp(r'^[\w\.-]+@mhs\.kampus\.ac\.id$');</a:t>
            </a:r>
            <a:br/>
            <a:r>
              <a:t>    if (!regex.hasMatch(value.trim())) {</a:t>
            </a:r>
            <a:br/>
            <a:r>
              <a:t>      return 'Gunakan domain resmi: @mhs.kampus.ac.id';</a:t>
            </a:r>
            <a:br/>
            <a:r>
              <a:t>    }</a:t>
            </a:r>
            <a:br/>
            <a:r>
              <a:t>    return null; // LULUS VALIDASI!</a:t>
            </a:r>
            <a:br/>
            <a:r>
              <a:t>  },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(slide_10_validator_regex.dart)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8346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8346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UMPAN BALIK PENGGUNA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Memberi Kabar: Menampilkan SnackBar Mengambang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Prinsip UX: Jangan pernah membiarkan pengguna bengong tanpa kejelasan setelah memencet tombol submit!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ScaffoldMessenger.of(context).showSnackBar(): Menampilkan bilah notifikasi melayang di dasar layar ponsel.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Gunakan durasi proporsional: 'Duration(seconds: 2)' agar pengguna sempat membaca tanpa merasa terganggu.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Warna komunikatif: Hijau Mint untuk aksi sukses, dan Merah Coral untuk kegagalan koneksi.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Pasang properti 'behavior: SnackBarBehavior.floating' agar SnackBar melayang rapi di atas bilah bawah!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snackbar_feedback.dart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void tampilkanSukses(BuildContext context, String nama) {</a:t>
            </a:r>
            <a:br/>
            <a:r>
              <a:t>  ScaffoldMessenger.of(context).showSnackBar(</a:t>
            </a:r>
            <a:br/>
            <a:r>
              <a:t>    SnackBar(</a:t>
            </a:r>
            <a:br/>
            <a:r>
              <a:t>      content: Row(</a:t>
            </a:r>
            <a:br/>
            <a:r>
              <a:t>        children: [</a:t>
            </a:r>
            <a:br/>
            <a:r>
              <a:t>          const Icon(Icons.check_circle, color: Colors.black),</a:t>
            </a:r>
            <a:br/>
            <a:r>
              <a:t>          const SizedBox(width: 10),</a:t>
            </a:r>
            <a:br/>
            <a:r>
              <a:t>          Text('Selamat Datang, $nama!',</a:t>
            </a:r>
            <a:br/>
            <a:r>
              <a:t>            style: const TextStyle(color: Colors.black, fontWeight: FontWeight.bold)),</a:t>
            </a:r>
            <a:br/>
            <a:r>
              <a:t>        ],</a:t>
            </a:r>
            <a:br/>
            <a:r>
              <a:t>      ),</a:t>
            </a:r>
            <a:br/>
            <a:r>
              <a:t>      backgroundColor: const Color(0xFF4ADE80), // Hijau Mint Neo-Brutal</a:t>
            </a:r>
            <a:br/>
            <a:r>
              <a:t>      behavior: SnackBarBehavior.floating,</a:t>
            </a:r>
            <a:br/>
            <a:r>
              <a:t>      duration: const Duration(seconds: 2),</a:t>
            </a:r>
            <a:br/>
            <a:r>
              <a:t>    ),</a:t>
            </a:r>
            <a:br/>
            <a:r>
              <a:t>  );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(slide_11_snackbar_feedback.dart)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GESTUR &amp; SENTUHAN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Membuat Elemen Bisa Diklik: GestureDetector vs InkWell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GestureDetector: Pendeteksi sentuhan serba guna (tap, double tap, drag, long press), namun bekerja secara mentah TANPA animasi visual bawaan.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InkWell: Pendeteksi sentuhan khas Material Design yang memancarkan animasi riak air (Ripple Splash Effect).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Syarat Wajib InkWell: Harus berada di atas widget Material agar efek cipratan tintanya terlihat nyata di layar.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Sangat ideal untuk membuat kartu menu kustom berdesain Neo-Brutalism!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Selalu utamakan InkWell pada tombol dan kartu agar pengguna merasakan umpan balik sentuhan yang nyata!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inkwell_gestures.dart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Kartu Interaktif Berdesain Neo-Brutalism:</a:t>
            </a:r>
            <a:br/>
            <a:r>
              <a:t>Material(</a:t>
            </a:r>
            <a:br/>
            <a:r>
              <a:t>  color: const Color(0xFFFFE600), // Kuning Canary</a:t>
            </a:r>
            <a:br/>
            <a:r>
              <a:t>  child: InkWell(</a:t>
            </a:r>
            <a:br/>
            <a:r>
              <a:t>    onTap: () {</a:t>
            </a:r>
            <a:br/>
            <a:r>
              <a:t>      print('Kartu pendaftaran diklik!');</a:t>
            </a:r>
            <a:br/>
            <a:r>
              <a:t>    },</a:t>
            </a:r>
            <a:br/>
            <a:r>
              <a:t>    splashColor: Colors.black26, // Efek riak air</a:t>
            </a:r>
            <a:br/>
            <a:r>
              <a:t>    child: const Padding(</a:t>
            </a:r>
            <a:br/>
            <a:r>
              <a:t>      padding: EdgeInsets.symmetric(horizontal: 24, vertical: 16),</a:t>
            </a:r>
            <a:br/>
            <a:r>
              <a:t>      child: Text(</a:t>
            </a:r>
            <a:br/>
            <a:r>
              <a:t>        'SUBMIT PENDAFTARAN',</a:t>
            </a:r>
            <a:br/>
            <a:r>
              <a:t>        style: TextStyle(fontWeight: FontWeight.bold, fontSize: 16),</a:t>
            </a:r>
            <a:br/>
            <a:r>
              <a:t>      ),</a:t>
            </a:r>
            <a:br/>
            <a:r>
              <a:t>    ),</a:t>
            </a:r>
            <a:br/>
            <a:r>
              <a:t>  ),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(slide_12_inkwell_gestures.dart)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7203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ARSITEKTUR NAVIGASI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Mengapa Kita Butuh GoRouter? (Imperative vs Declarative)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Kelemahan Navigator 1.0 (Kuno): 'Navigator.push()' bekerja seperti tumpukan kartu buta (Black Box Stack). Sulit sinkron dengan URL browser web, tombol 'Back' HP sering bentrok, dan mustahil menangani Deep Linking promosi.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Solusi GoRouter (Standar Industri 2026): Navigasi deklaratif berbasis URL yang terpusat ('/', '/login', '/buku/:id').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Satu basis kode navigasi bekerja serentak di Android, iOS, Web, dan Desktop.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Sitasi Resmi: Google Flutter Navigation Guide (docs.flutter.dev/ui/navigation).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GoRouter adalah paket navigasi deklaratif resmi yang dikelola langsung oleh tim internal Flutter!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why_gorouter.dart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CARA LAMA (NAVIGATOR 1.0 - IMPERATIF):</a:t>
            </a:r>
            <a:br/>
            <a:r>
              <a:t>// Navigator.push(context, MaterialPageRoute(builder: (ctx) =&gt; DetailPage()));</a:t>
            </a:r>
            <a:br/>
            <a:r>
              <a:t>// Kelemahan: URL web tidak sinkron, sulit Deep Linking!</a:t>
            </a:r>
            <a:br/>
            <a:br/>
            <a:r>
              <a:t>// CARA MODERN 2026 (GOROUTER - DEKLARATIF):</a:t>
            </a:r>
            <a:br/>
            <a:r>
              <a:t>// Rute didefinisikan terpusat berbasis alamat URL:</a:t>
            </a:r>
            <a:br/>
            <a:r>
              <a:t>// /           -&gt; Beranda</a:t>
            </a:r>
            <a:br/>
            <a:r>
              <a:t>// /login      -&gt; Halaman Masuk</a:t>
            </a:r>
            <a:br/>
            <a:r>
              <a:t>// /buku/:id   -&gt; Detail Buku Spesifik</a:t>
            </a:r>
            <a:br/>
            <a:br/>
            <a:r>
              <a:t>// Berpindah semudah:</a:t>
            </a:r>
            <a:br/>
            <a:r>
              <a:t>context.go('/login'); // URL otomatis sinkron di browser!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(slide_13_why_gorouter.dart)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6060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SETUP ROUTER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Menghubungkan GoRouter ke Gerbang Aplikasi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1. Deklarasikan konfigurasi rute terpusat: 'final GoRouter appRouter = GoRouter(...)'.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2. initialLocation: Alamat URL awal saat aplikasi pertama kali dibuka (biasanya '/').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3. routes: Daftar pasangan alamat 'path' dengan widget tampilan 'builder'.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4. MaterialApp.router: Pasang 'routerConfig: appRouter' menggantikan properti 'home:' lama.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5. errorBuilder: Halaman penyelamat 404 jika pengguna membuka rute yang tidak terdaftar.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Halaman errorBuilder wajib dipasang agar aplikasi tidak mengalami layar abu-abu crash saat salah URL!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app_router_config.dart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final appRouter = GoRouter(</a:t>
            </a:r>
            <a:br/>
            <a:r>
              <a:t>  initialLocation: '/',</a:t>
            </a:r>
            <a:br/>
            <a:r>
              <a:t>  routes: [</a:t>
            </a:r>
            <a:br/>
            <a:r>
              <a:t>    GoRoute(path: '/', builder: (context, state) =&gt; const HomePage()),</a:t>
            </a:r>
            <a:br/>
            <a:r>
              <a:t>    GoRoute(path: '/daftar', builder: (context, state) =&gt; const FormPage()),</a:t>
            </a:r>
            <a:br/>
            <a:r>
              <a:t>  ],</a:t>
            </a:r>
            <a:br/>
            <a:r>
              <a:t>  // Penanganan Galat Halaman 404 Ramah Awam:</a:t>
            </a:r>
            <a:br/>
            <a:r>
              <a:t>  errorBuilder: (context, state) =&gt; Scaffold(</a:t>
            </a:r>
            <a:br/>
            <a:r>
              <a:t>    body: Center(child: Text('404: Rute ${state.uri} Tidak Ditemukan!')),</a:t>
            </a:r>
            <a:br/>
            <a:r>
              <a:t>  ),</a:t>
            </a:r>
            <a:br/>
            <a:r>
              <a:t>);</a:t>
            </a:r>
            <a:br/>
            <a:br/>
            <a:r>
              <a:t>void main() {</a:t>
            </a:r>
            <a:br/>
            <a:r>
              <a:t>  // Hubungkan router ke aplikasi utama:</a:t>
            </a:r>
            <a:br/>
            <a:r>
              <a:t>  runApp(MaterialApp.router(routerConfig: appRouter));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(slide_14_app_router_config.dart)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6060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METODE PINDAH RUTE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Jangan Tertukar: Kapan Memakai .go() vs .push()?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context.go('/rute'): Mengarahkan langsung ke URL tujuan dan merombak tumpukan rute (Cocok untuk: Selesai Login -&gt; Masuk Beranda, atau Ganti Tab Menu Bawah).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context.push('/rute'): Menumpuk layar baru di atas layar saat ini (Cocok untuk: Buka Detail Transaksi atau Form Edit). Tombol panah kembali (Back) di AppBar otomatis aktif!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context.pop(): Menutup layar aktif dan kembali ke layar sebelumnya.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Ingat rumus mudahnya: Ingin ada tombol panah 'Back' otomatis di pojok kiri atas? Gunakan context.push()!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navigation_actions.dart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Kasus 1: Selesai Login -&gt; Masuk Beranda (Ganti Rute):</a:t>
            </a:r>
            <a:br/>
            <a:r>
              <a:t>void masukBeranda(BuildContext context) {</a:t>
            </a:r>
            <a:br/>
            <a:r>
              <a:t>  context.go('/dashboard'); // Tidak bisa tekan 'Back' ke Login!</a:t>
            </a:r>
            <a:br/>
            <a:r>
              <a:t>}</a:t>
            </a:r>
            <a:br/>
            <a:br/>
            <a:r>
              <a:t>// Kasus 2: Klik Produk -&gt; Buka Detail (Menumpuk Layar):</a:t>
            </a:r>
            <a:br/>
            <a:r>
              <a:t>void bukaDetail(BuildContext context) {</a:t>
            </a:r>
            <a:br/>
            <a:r>
              <a:t>  context.push('/detail'); // Ada tombol panah 'Back' di AppBar</a:t>
            </a:r>
            <a:br/>
            <a:r>
              <a:t>}</a:t>
            </a:r>
            <a:br/>
            <a:br/>
            <a:r>
              <a:t>// Kasus 3: Tombol Tutup / Selesai:</a:t>
            </a:r>
            <a:br/>
            <a:r>
              <a:t>void kembali(BuildContext context) {</a:t>
            </a:r>
            <a:br/>
            <a:r>
              <a:t>  context.pop(); // Menutup layar aktif saat ini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(slide_15_navigation_actions.dart)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PENGIRIMAN DATA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Mengirim ID Spesifik Menggunakan Path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Format URL RESTful: Gunakan tanda titik dua '/:id' pada path rute (contoh: '/buku/:id').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Cara Berpindah: Panggil 'context.push("/buku/42")'.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Cara Membaca di Layar Tujuan: Ambil nilai ID melalui 'state.pathParameters["id"]!'.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Nilai yang diterima selalu bertipe String. Jika butuh angka, gunakan 'int.parse()'.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Path Parameters sangat ideal untuk identifier unik seperti NIM, ID Produk, atau Nomor Transaksi!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path_parameters.dart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1. Daftarkan rute dengan placeholder ':id':</a:t>
            </a:r>
            <a:br/>
            <a:r>
              <a:t>GoRoute(</a:t>
            </a:r>
            <a:br/>
            <a:r>
              <a:t>  path: '/buku/:id',</a:t>
            </a:r>
            <a:br/>
            <a:r>
              <a:t>  builder: (context, state) {</a:t>
            </a:r>
            <a:br/>
            <a:r>
              <a:t>    // Ambil ID dari URL:</a:t>
            </a:r>
            <a:br/>
            <a:r>
              <a:t>    final bookId = state.pathParameters['id']!;</a:t>
            </a:r>
            <a:br/>
            <a:r>
              <a:t>    return DetailBukuScreen(idBuku: bookId);</a:t>
            </a:r>
            <a:br/>
            <a:r>
              <a:t>  },</a:t>
            </a:r>
            <a:br/>
            <a:r>
              <a:t>);</a:t>
            </a:r>
            <a:br/>
            <a:br/>
            <a:r>
              <a:t>// 2. Berpindah dari layar katalog buku:</a:t>
            </a:r>
            <a:br/>
            <a:r>
              <a:t>void pilihBuku(BuildContext context, String id) {</a:t>
            </a:r>
            <a:br/>
            <a:r>
              <a:t>  context.push('/buku/$id'); // Menuju '/buku/101'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(slide_16_path_parameters.dart)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PENGIRIMAN DATA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Kueri Filter (?q=) &amp; Mengirim Objek Kompleks (Extra)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Query Parameters: Menyematkan filter pencarian opsional pada URL (misal: '/cari?keyword=flutter'). Dibaca lewat 'state.uri.queryParameters["keyword"]'.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Extra Object (extra): Mengirim objek class Dart utuh (misal: objek Mahasiswa dengan 10 atribut) tanpa repot dipecah menjadi string URL!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Dibaca di halaman tujuan dengan: 'state.extra as NamaModel'.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Gunakan 'extra' saat Anda ingin mengirim objek data kompleks tanpa mengotori alamat URL browser!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query_and_extra.dart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Mengirim objek Mahasiswa secara utuh:</a:t>
            </a:r>
            <a:br/>
            <a:r>
              <a:t>context.push(</a:t>
            </a:r>
            <a:br/>
            <a:r>
              <a:t>  '/profil',</a:t>
            </a:r>
            <a:br/>
            <a:r>
              <a:t>  extra: Mahasiswa(nim: '23001', nama: 'Adit', ipk: 3.85),</a:t>
            </a:r>
            <a:br/>
            <a:r>
              <a:t>);</a:t>
            </a:r>
            <a:br/>
            <a:br/>
            <a:r>
              <a:t>// Membaca objek di definisi rute GoRouter:</a:t>
            </a:r>
            <a:br/>
            <a:r>
              <a:t>GoRoute(</a:t>
            </a:r>
            <a:br/>
            <a:r>
              <a:t>  path: '/profil',</a:t>
            </a:r>
            <a:br/>
            <a:r>
              <a:t>  builder: (context, state) {</a:t>
            </a:r>
            <a:br/>
            <a:r>
              <a:t>    final mhs = state.extra as Mahasiswa;</a:t>
            </a:r>
            <a:br/>
            <a:r>
              <a:t>    return ProfilScreen(mahasiswa: mhs);</a:t>
            </a:r>
            <a:br/>
            <a:r>
              <a:t>  },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(slide_17_query_and_extra.dart)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063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RUTE BERSARANG &amp; 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Rute Sub-Halaman &amp; Navigasi Tab Bottom Navigation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Rute Bersarang (Nested Routes): Menempatkan sub-rute di dalam parent GoRoute ('/katalog' -&gt; 'detail').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URL otomatis menjadi hierarkis: '/katalog/detail'. Sangat teratur dan bersih.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StatefulShellRoute.indexedStack(): Menjaga status tumpukan memori masing-masing tab Bottom Navigation Bar agar tidak ter-reset saat berpindah.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Standar emas arsitektur navigasi aplikasi mobile skala besar 2026.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Gunakan nested routes agar struktur alamat URL aplikasi Anda mencerminkan hierarki menu secara akurat!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nested_and_shell_routes.dart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1. Rute Bersarang (Sub-Routes):</a:t>
            </a:r>
            <a:br/>
            <a:r>
              <a:t>GoRoute(</a:t>
            </a:r>
            <a:br/>
            <a:r>
              <a:t>  path: '/katalog',</a:t>
            </a:r>
            <a:br/>
            <a:r>
              <a:t>  builder: (ctx, state) =&gt; const KatalogScreen(),</a:t>
            </a:r>
            <a:br/>
            <a:r>
              <a:t>  routes: [</a:t>
            </a:r>
            <a:br/>
            <a:r>
              <a:t>    GoRoute(</a:t>
            </a:r>
            <a:br/>
            <a:r>
              <a:t>      path: 'detail/:id', // Menjadi '/katalog/detail/42'</a:t>
            </a:r>
            <a:br/>
            <a:r>
              <a:t>      builder: (ctx, state) =&gt; DetailScreen(id: state.pathParameters['id']!),</a:t>
            </a:r>
            <a:br/>
            <a:r>
              <a:t>    ),</a:t>
            </a:r>
            <a:br/>
            <a:r>
              <a:t>  ],</a:t>
            </a:r>
            <a:br/>
            <a:r>
              <a:t>);</a:t>
            </a:r>
            <a:br/>
            <a:br/>
            <a:r>
              <a:t>// 2. Tab Bawah Modern: StatefulShellRoute.indexedStack(...)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(slide_18_nested_and_shell_routes.dart)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LAB QUEST MANDIRI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Pertemuan 04: Portal Registrasi Mahasiswa &amp; Detail KTM Ber-GoRouter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1054577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10545775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10545775" cy="475488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00000"/>
                </a:solidFill>
                <a:latin typeface="Segoe UI"/>
              </a:defRPr>
            </a:pPr>
            <a:r>
              <a:t>⏱️ ALOKASI: 60 MENIT  ■  TARGET UJI: BROWSER CHROME ATAU SMARTPHONE FISIK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9784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LANGKAH KERJA &amp; SPESIFIKASI TUGAS: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Buka terminal terintegrasi di VS Code dan pasang pustaka: 'flutter pub add go_router'.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Buat Halaman Formulir Registrasi (/daftar) yang dibungkus widget 'Form' dan 'GlobalKey&lt;FormState&gt;'.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Sediakan kolom: Nama Lengkap, Email Kampus (@mhs.kampus.ac.id), Sandi dengan toggle intip mata, dan Dropdown Program Studi.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Gunakan 'TextEditingController' dan pastikan seluruh controller dibersihkan pada method 'dispose()'.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Tutup keyboard virtual dengan 'FocusScope.of(context).unfocus()' saat tombol submit ditekan.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Ketika submit sukses: Tampilkan SnackBar hijau dan navigasi ke '/ktm/:nim' menggunakan 'context.push()' dengan membawa parameter NIM dan extra objek Mahasiswa.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Halaman KTM (/ktm/:nim): Menampilkan kartu KTM digital bergaya Neo-Brutalism dengan tombol 'Kembali' menggunakan 'context.pop()'.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Tantangan Tambahan: Tambahkan halaman 'errorBuilder' 404 jika ada URL yang sengaja diketik salah!</a:t>
            </a:r>
          </a:p>
          <a:p>
            <a:pPr>
              <a:defRPr sz="1080" b="1">
                <a:solidFill>
                  <a:srgbClr val="0A6428"/>
                </a:solidFill>
                <a:latin typeface="Segoe UI"/>
              </a:defRPr>
            </a:pPr>
            <a:r>
              <a:t>🎯 TARGET SELESAI: Alur pendaftaran berjalan mulus dari form ke kartu KTM, tervalidasi regex, bebas kebocoran memori (dispose aktif), keyboard menutup anggun, dan navigasi GoRouter bekerja sempurna di browser Chrome atau Smartphone!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5296" y="5632704"/>
            <a:ext cx="9784080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5596128"/>
            <a:ext cx="9784080" cy="566928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5623560"/>
            <a:ext cx="9564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0000"/>
                </a:solidFill>
                <a:latin typeface="Segoe UI"/>
                <a:hlinkClick r:id="rId2"/>
              </a:rPr>
              <a:t>▶ BUKA KODE LENGKAP LAB QUEST DI GITHUB (slide_19_lab_quest_portal_ktm.dart)</a:t>
            </a:r>
          </a:p>
          <a:p>
            <a:pPr>
              <a:defRPr sz="830">
                <a:solidFill>
                  <a:srgbClr val="323232"/>
                </a:solidFill>
                <a:latin typeface="Segoe UI"/>
              </a:defRPr>
            </a:pPr>
            <a:r>
              <a:t>💡 Buka di browser: Kode lengkap Form Registrasi, Validasi Regex, Unfocus Keyboard, &amp; KTM Digital di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