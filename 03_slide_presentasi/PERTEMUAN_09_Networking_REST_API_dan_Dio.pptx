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914400"/>
            <a:ext cx="10728655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463040"/>
            <a:ext cx="9418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0EA5E9"/>
                </a:solidFill>
                <a:latin typeface="Segoe UI"/>
              </a:defRPr>
            </a:pPr>
            <a:r>
              <a:t>IF3205 • PEMROGRAMAN PIRANTI BERGERAK • PERTEMUAN 09</a:t>
            </a:r>
          </a:p>
          <a:p>
            <a:pPr>
              <a:spcAft>
                <a:spcPts val="1600"/>
              </a:spcAft>
              <a:defRPr sz="3600" b="1">
                <a:solidFill>
                  <a:srgbClr val="F8FAFC"/>
                </a:solidFill>
                <a:latin typeface="Segoe UI"/>
              </a:defRPr>
            </a:pPr>
            <a:r>
              <a:t>Connecting to the Real World:</a:t>
            </a:r>
            <a:br/>
            <a:r>
              <a:t>RESTful API &amp; Network Architecture with Dio</a:t>
            </a:r>
          </a:p>
          <a:p>
            <a:pPr>
              <a:spcAft>
                <a:spcPts val="36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Membangun arsitektur komunikasi data client-server yang tangguh, interceptors token, dan serialisasi JSON type-safe.</a:t>
            </a:r>
          </a:p>
          <a:p>
            <a:pPr>
              <a:defRPr sz="1200">
                <a:solidFill>
                  <a:srgbClr val="6366F1"/>
                </a:solidFill>
                <a:latin typeface="Segoe UI"/>
              </a:defRPr>
            </a:pPr>
            <a:r>
              <a:t>Teknik Informatika • Outcome-Based Education • Standar Rekayasa Industri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Segoe UI"/>
              </a:defRPr>
            </a:pPr>
            <a:r>
              <a:t>NETWORKING FRICTION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Mengapa 'http' Bawaan Kurang Cukup untuk Skala Enterprise?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621792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F43F5E"/>
                </a:solidFill>
                <a:latin typeface="Segoe UI"/>
              </a:defRPr>
            </a:pPr>
            <a:r>
              <a:t>🔥 Masalah Nyata: Bagaimana menyisipkan token Bearer JWT otomatis di 40 endpoint tanpa duplikasi kode?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  <a:latin typeface="Segoe UI"/>
              </a:defRPr>
            </a:pPr>
            <a:r>
              <a:t>• Menulis headers Authorization manual di setiap pemanggilan API rawan human-error.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  <a:latin typeface="Segoe UI"/>
              </a:defRPr>
            </a:pPr>
            <a:r>
              <a:t>• Penanganan timeout koneksi lambat sangat berbelit-belit.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  <a:latin typeface="Segoe UI"/>
              </a:defRPr>
            </a:pPr>
            <a:r>
              <a:t>• Typo pada parsing json['user_name'] memicu NoSuchMethodError saat runtime.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  <a:latin typeface="Segoe UI"/>
              </a:defRPr>
            </a:pPr>
            <a:r>
              <a:t>• Sulit membatalkan request saat pengguna cepat-cepat menekan tombol Back.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23760" y="1645920"/>
            <a:ext cx="42062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79" y="182880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EA5E9"/>
                </a:solidFill>
                <a:latin typeface="Segoe UI"/>
              </a:defRPr>
            </a:pPr>
            <a:r>
              <a:t>💡 Studi Kasus Industri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Di perbankan dan fintech, library Dio menjadi standar wajib karena mendukung Interceptors, auto-retry saat koneksi putus, dan SSL pinning protection.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Segoe UI"/>
              </a:defRPr>
            </a:pPr>
            <a:r>
              <a:t>ARSITEKTUR CLIENT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Komponen Inti Dio Networking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87121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EA5E9"/>
                </a:solidFill>
                <a:latin typeface="Segoe UI"/>
              </a:defRPr>
            </a:pPr>
            <a:r>
              <a:t>SECURITY &amp; AUTH</a:t>
            </a:r>
          </a:p>
          <a:p>
            <a:pPr>
              <a:spcAft>
                <a:spcPts val="1200"/>
              </a:spcAft>
              <a:defRPr sz="1800" b="1">
                <a:solidFill>
                  <a:srgbClr val="F8FAFC"/>
                </a:solidFill>
                <a:latin typeface="Segoe UI"/>
              </a:defRPr>
            </a:pPr>
            <a:r>
              <a:t>Interceptors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  <a:latin typeface="Segoe UI"/>
              </a:defRPr>
            </a:pPr>
            <a:r>
              <a:t>• Menyadap request &amp; response.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  <a:latin typeface="Segoe UI"/>
              </a:defRPr>
            </a:pPr>
            <a:r>
              <a:t>• Otomatis menyuntikkan JWT token.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  <a:latin typeface="Segoe UI"/>
              </a:defRPr>
            </a:pPr>
            <a:r>
              <a:t>• Logging request ke konsol debug.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  <a:latin typeface="Segoe UI"/>
              </a:defRPr>
            </a:pPr>
            <a:r>
              <a:t>• Refresh token otomatis jika 401.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645920"/>
            <a:ext cx="3328416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54296" y="1828800"/>
            <a:ext cx="287121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EA5E9"/>
                </a:solidFill>
                <a:latin typeface="Segoe UI"/>
              </a:defRPr>
            </a:pPr>
            <a:r>
              <a:t>TYPE SAFETY</a:t>
            </a:r>
          </a:p>
          <a:p>
            <a:pPr>
              <a:spcAft>
                <a:spcPts val="1200"/>
              </a:spcAft>
              <a:defRPr sz="1800" b="1">
                <a:solidFill>
                  <a:srgbClr val="F8FAFC"/>
                </a:solidFill>
                <a:latin typeface="Segoe UI"/>
              </a:defRPr>
            </a:pPr>
            <a:r>
              <a:t>JSON Serialization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  <a:latin typeface="Segoe UI"/>
              </a:defRPr>
            </a:pPr>
            <a:r>
              <a:t>• Memakai json_serializable / freezed.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  <a:latin typeface="Segoe UI"/>
              </a:defRPr>
            </a:pPr>
            <a:r>
              <a:t>• Model immutable dengan fromJson.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  <a:latin typeface="Segoe UI"/>
              </a:defRPr>
            </a:pPr>
            <a:r>
              <a:t>• Mencegah typo field JSON.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  <a:latin typeface="Segoe UI"/>
              </a:defRPr>
            </a:pPr>
            <a:r>
              <a:t>• Menjamin compile-time safety.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645920"/>
            <a:ext cx="3328416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48472" y="1828800"/>
            <a:ext cx="287121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EA5E9"/>
                </a:solidFill>
                <a:latin typeface="Segoe UI"/>
              </a:defRPr>
            </a:pPr>
            <a:r>
              <a:t>RESILIENCE</a:t>
            </a:r>
          </a:p>
          <a:p>
            <a:pPr>
              <a:spcAft>
                <a:spcPts val="1200"/>
              </a:spcAft>
              <a:defRPr sz="1800" b="1">
                <a:solidFill>
                  <a:srgbClr val="F8FAFC"/>
                </a:solidFill>
                <a:latin typeface="Segoe UI"/>
              </a:defRPr>
            </a:pPr>
            <a:r>
              <a:t>Error Handling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  <a:latin typeface="Segoe UI"/>
              </a:defRPr>
            </a:pPr>
            <a:r>
              <a:t>• Batas waktu connect &amp; receive.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  <a:latin typeface="Segoe UI"/>
              </a:defRPr>
            </a:pPr>
            <a:r>
              <a:t>• Peta error ramah pengguna.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  <a:latin typeface="Segoe UI"/>
              </a:defRPr>
            </a:pPr>
            <a:r>
              <a:t>• Handling 404, 500, &amp; offline.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  <a:latin typeface="Segoe UI"/>
              </a:defRPr>
            </a:pPr>
            <a:r>
              <a:t>• Tombol Retry terstandarisasi.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Segoe UI"/>
              </a:defRPr>
            </a:pPr>
            <a:r>
              <a:t>INTERCEPTOR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Injeksi Token JWT Otomatis Menggunakan Dio Interceptors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457200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023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EA5E9"/>
                </a:solidFill>
                <a:latin typeface="Segoe UI"/>
              </a:defRPr>
            </a:pPr>
            <a:r>
              <a:t>🎯 Panduan Arsitektur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t>• onRequest: Membaca token dari FlutterSecureStorage dan menyuntikkan ke Header Authorization.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t>• onError: Jika menerima 401 Unauthorized, otomatis redirect ke halaman Login.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77840" y="1645920"/>
            <a:ext cx="5882335" cy="4572000"/>
          </a:xfrm>
          <a:prstGeom prst="roundRect">
            <a:avLst/>
          </a:prstGeom>
          <a:solidFill>
            <a:srgbClr val="020617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0" y="18288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59E0B"/>
                </a:solidFill>
                <a:latin typeface="Segoe UI"/>
              </a:defRPr>
            </a:pPr>
            <a:r>
              <a:t>💻 Dio Auth Interceptor Snippet</a:t>
            </a:r>
          </a:p>
          <a:p>
            <a:pPr>
              <a:defRPr sz="1050">
                <a:solidFill>
                  <a:srgbClr val="A7F3D0"/>
                </a:solidFill>
                <a:latin typeface="Consolas"/>
              </a:defRPr>
            </a:pPr>
            <a:r>
              <a:t>dio.interceptors.add(</a:t>
            </a:r>
            <a:br/>
            <a:r>
              <a:t>  InterceptorsWrapper(</a:t>
            </a:r>
            <a:br/>
            <a:r>
              <a:t>    onRequest: (options, handler) async {</a:t>
            </a:r>
            <a:br/>
            <a:r>
              <a:t>      final token = await storage.read(key: 'jwt_token');</a:t>
            </a:r>
            <a:br/>
            <a:r>
              <a:t>      if (token != null) {</a:t>
            </a:r>
            <a:br/>
            <a:r>
              <a:t>        options.headers['Authorization'] = 'Bearer $token';</a:t>
            </a:r>
            <a:br/>
            <a:r>
              <a:t>      }</a:t>
            </a:r>
            <a:br/>
            <a:r>
              <a:t>      return handler.next(options);</a:t>
            </a:r>
            <a:br/>
            <a:r>
              <a:t>    },</a:t>
            </a:r>
            <a:br/>
            <a:r>
              <a:t>    onError: (DioException e, handler) {</a:t>
            </a:r>
            <a:br/>
            <a:r>
              <a:t>      if (e.response?.statusCode == 401) {</a:t>
            </a:r>
            <a:br/>
            <a:r>
              <a:t>        // Sesi habis, alihkan user ke login</a:t>
            </a:r>
            <a:br/>
            <a:r>
              <a:t>        router.go('/login');</a:t>
            </a:r>
            <a:br/>
            <a:r>
              <a:t>      }</a:t>
            </a:r>
            <a:br/>
            <a:r>
              <a:t>      return handler.next(e);</a:t>
            </a:r>
            <a:br/>
            <a:r>
              <a:t>    },</a:t>
            </a:r>
            <a:br/>
            <a:r>
              <a:t>  ),</a:t>
            </a:r>
            <a:br/>
            <a:r>
              <a:t>);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Segoe UI"/>
              </a:defRPr>
            </a:pPr>
            <a:r>
              <a:t>HANDS-ON LAB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Lab Quest Pertemuan 09: Integrasi API Publik &amp; Pola 4 UI States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45720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9966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F59E0B"/>
                </a:solidFill>
                <a:latin typeface="Segoe UI"/>
              </a:defRPr>
            </a:pPr>
            <a:r>
              <a:t>⏱️ ESTIMASI WAKTU: 60 MENIT • KERJAKAN DI SMARTPHONE / LAB PC</a:t>
            </a:r>
          </a:p>
          <a:p>
            <a:pPr>
              <a:spcAft>
                <a:spcPts val="800"/>
              </a:spcAft>
              <a:defRPr sz="1600" b="1">
                <a:solidFill>
                  <a:srgbClr val="F8FAFC"/>
                </a:solidFill>
                <a:latin typeface="Segoe UI"/>
              </a:defRPr>
            </a:pPr>
            <a:r>
              <a:t>Spesifikasi Tugas Mandiri: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Segoe UI"/>
              </a:defRPr>
            </a:pPr>
            <a:r>
              <a:t>  [ ]  Konsumsi API produk publik menggunakan Dio BaseOptions.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Segoe UI"/>
              </a:defRPr>
            </a:pPr>
            <a:r>
              <a:t>  [ ]  Buat model Produk dengan factory fromJson.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Segoe UI"/>
              </a:defRPr>
            </a:pPr>
            <a:r>
              <a:t>  [ ]  Terapkan 4 UI States: Initial, Loading (Shimmer), Success (Grid Produk), dan Error (Tombol Coba Lagi).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Segoe UI"/>
              </a:defRPr>
            </a:pPr>
            <a:r>
              <a:t>  [ ]  Pasang Pull-to-Refresh menggunakan RefreshIndicator.</a:t>
            </a:r>
          </a:p>
          <a:p>
            <a:br/>
            <a:pPr>
              <a:defRPr sz="1200" b="1">
                <a:solidFill>
                  <a:srgbClr val="10B981"/>
                </a:solidFill>
                <a:latin typeface="Consolas"/>
              </a:defRPr>
            </a:pPr>
            <a:r>
              <a:t>📦 Pengumpulan Git: git commit -m 'feat: implement dio api client with 4 ui states'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