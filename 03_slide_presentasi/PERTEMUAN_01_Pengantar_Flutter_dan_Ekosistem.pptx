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896112"/>
            <a:ext cx="10545775" cy="521208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822960"/>
            <a:ext cx="10545775" cy="521208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1188720"/>
            <a:ext cx="9601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1200" b="1">
                <a:solidFill>
                  <a:srgbClr val="000000"/>
                </a:solidFill>
                <a:latin typeface="Segoe UI"/>
              </a:defRPr>
            </a:pPr>
            <a:r>
              <a:t>✦ IF3205 • PEMROGRAMAN PIRANTI BERGERAK • PERTEMUAN 01 ✦</a:t>
            </a:r>
          </a:p>
          <a:p>
            <a:pPr>
              <a:spcAft>
                <a:spcPts val="1400"/>
              </a:spcAft>
              <a:defRPr sz="3100" b="1">
                <a:solidFill>
                  <a:srgbClr val="000000"/>
                </a:solidFill>
                <a:latin typeface="Segoe UI"/>
              </a:defRPr>
            </a:pPr>
            <a:r>
              <a:t>Pengantar Pemrograman Piranti Bergerak</a:t>
            </a:r>
            <a:br/>
            <a:r>
              <a:t>&amp; Ekosistem Flutter Modern</a:t>
            </a:r>
          </a:p>
          <a:p>
            <a:pPr>
              <a:spcAft>
                <a:spcPts val="4000"/>
              </a:spcAft>
              <a:defRPr sz="1500">
                <a:solidFill>
                  <a:srgbClr val="3C3C3C"/>
                </a:solidFill>
                <a:latin typeface="Segoe UI"/>
              </a:defRPr>
            </a:pPr>
            <a:r>
              <a:t>Fondasi arsitektur mobile, revolusi single-codebase, konfigurasi alat kerja lab, dan langkah perdana menjadi mobile software engineer profesional.</a:t>
            </a:r>
          </a:p>
          <a:p>
            <a:pPr>
              <a:defRPr sz="1200" b="1">
                <a:solidFill>
                  <a:srgbClr val="000000"/>
                </a:solidFill>
                <a:latin typeface="Segoe UI"/>
              </a:defRPr>
            </a:pPr>
            <a:r>
              <a:t>■  Program Studi Teknik Informatika  ■  OUTCOME-BASED EDUCATION (OBE)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7203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720340" cy="36576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7203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ROADMAP PERKULIAHAN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Apa Saja yang Akan Kita Bangun Semester Ini?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CARA KERJA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Fase 1 (Minggu 1–5): Fondasi Dart, Rekayasa Layout UI, Navigasi GoRouter, &amp; Standar Material 3.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Fase 2 (Minggu 6–8): State Management BLoC/Cubit, Arsitektur Bersih (Clean Architecture), &amp; Ujian Tengah Semester (UTS).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Fase 3 (Minggu 9–12): Jaringan RESTful API (Dio), Database Luring (Offline-First), Cloud BaaS Firebase, &amp; Fitur Hardware (Kamera/GPS).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Fase 4 (Minggu 13–16): Keamanan Kunci Rahasia, AI On-Device, Pengujian Otomatis (Unit Testing), &amp; Demo Day UAS Expo!</a:t>
            </a:r>
          </a:p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Tips Praktik: Fokuslah pada pemahaman pola arsitektur, bukan sekadar menghafal sintaks!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roadmap_overview.dart  |  KODE / TERMINAL BERSIH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76272"/>
            <a:ext cx="548640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80">
                <a:solidFill>
                  <a:srgbClr val="F5F5F5"/>
                </a:solidFill>
                <a:latin typeface="Consolas"/>
              </a:defRPr>
            </a:pPr>
            <a:r>
              <a:t>// STRUKTUR TARGET CAPAIAN SEMESTER:</a:t>
            </a:r>
            <a:br/>
            <a:r>
              <a:t>final roadmapSemester = {</a:t>
            </a:r>
            <a:br/>
            <a:r>
              <a:t>  'Sprint 1': 'UI/UX &amp; GoRouter Navigation',</a:t>
            </a:r>
            <a:br/>
            <a:r>
              <a:t>  'Sprint 2': 'Cubit State &amp; Clean Architecture (UTS)',</a:t>
            </a:r>
            <a:br/>
            <a:r>
              <a:t>  'Sprint 3': 'Dio REST API &amp; Offline Database',</a:t>
            </a:r>
            <a:br/>
            <a:r>
              <a:t>  'Sprint 4': 'Hardware Sensor, Security &amp; Cloud',</a:t>
            </a:r>
            <a:br/>
            <a:r>
              <a:t>  'Final': 'Mobile App Expo / Demo Day (UAS)',</a:t>
            </a:r>
            <a:br/>
            <a:r>
              <a:t>};</a:t>
            </a:r>
            <a:br/>
            <a:br/>
            <a:r>
              <a:t>// Setiap mahasiswa akan memiliki portofolio</a:t>
            </a:r>
            <a:br/>
            <a:r>
              <a:t>// aplikasi nyata di GitHub yang siap dipamerkan!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6060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6060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606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RELEVANSI INDUSTRI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Mengapa Mempelajari Mobile App Development?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CARA KERJA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Era Mobile-First: Lebih dari 70% aktivitas internet global diakses melalui layar sentuh smartphone.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Efisiensi Single Codebase: Satu tim rekayasa menghasilkan aplikasi Android, iOS, Web, dan Desktop sekaligus.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Pemangkasan Biaya: Menghemat 50% waktu rilis dan anggaran pengembangan dibanding membangun dua aplikasi native terpisah.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Karier Mobile Engineer: Kebutuhan konsisten tinggi di industri teknologi perbankan, e-commerce, dan startup unicorn.</a:t>
            </a:r>
          </a:p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Tips Praktik: Perusahaan startup lebih memilih Flutter karena 'Time-to-Market' yang sangat cepat!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industri_komparasi.dart  |  KODE / TERMINAL BERSIH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76272"/>
            <a:ext cx="548640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80">
                <a:solidFill>
                  <a:srgbClr val="F5F5F5"/>
                </a:solidFill>
                <a:latin typeface="Consolas"/>
              </a:defRPr>
            </a:pPr>
            <a:r>
              <a:t>// PERBANDINGAN BIAYA &amp; SUMBER DAYA:</a:t>
            </a:r>
            <a:br/>
            <a:r>
              <a:t>// ❌ CARA LAMA (2 Tim Terpisah):</a:t>
            </a:r>
            <a:br/>
            <a:r>
              <a:t>// Tim Android (Kotlin) -&gt; Butuh 3 Engineer</a:t>
            </a:r>
            <a:br/>
            <a:r>
              <a:t>// Tim iOS (Swift)      -&gt; Butuh 3 Engineer</a:t>
            </a:r>
            <a:br/>
            <a:r>
              <a:t>// Total Biaya: 2x Lipat, Waktu Rilis Tidak Sinkron</a:t>
            </a:r>
            <a:br/>
            <a:br/>
            <a:r>
              <a:t>// ✅ CARA MODERN (Flutter Single Codebase):</a:t>
            </a:r>
            <a:br/>
            <a:r>
              <a:t>// 1 Tim Flutter (Dart) -&gt; Cukup 3 Engineer</a:t>
            </a:r>
            <a:br/>
            <a:r>
              <a:t>// Output: Rilis serentak di Android &amp; App Store!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19202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1920240" cy="365760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1920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KONSEP DASAR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Memahami Perbedaan: Apa Itu Dart &amp; Flutter?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CARA KERJA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Banyak pemula mengira Dart dan Flutter adalah benda yang sama!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Dart (Bahan Baku / Bahasa): Bahasa pemrograman OOP buatan Google dengan fitur Sound Null Safety untuk menulis logika.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Flutter (Kotak Perkakas / Framework): Kumpulan komponen visual (tombol, teks, slider) dan mesin gambar kanvas.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Analogi: Dart adalah 'Mesin &amp; Kabel Listrik Mobil', sedangkan Flutter adalah 'Bodi Mengkilap, Setir, &amp; Dashboard-nya'.</a:t>
            </a:r>
          </a:p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Tips Praktik: Anda mengetik kode menggunakan bahasa Dart, untuk memanggil widget buatan Flutter!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dart_vs_flutter.dart  |  KODE / TERMINAL BERSIH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76272"/>
            <a:ext cx="548640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80">
                <a:solidFill>
                  <a:srgbClr val="F5F5F5"/>
                </a:solidFill>
                <a:latin typeface="Consolas"/>
              </a:defRPr>
            </a:pPr>
            <a:r>
              <a:t>// 1. DART (Bahasa &amp; Logika Otak):</a:t>
            </a:r>
            <a:br/>
            <a:r>
              <a:t>class Mobil {</a:t>
            </a:r>
            <a:br/>
            <a:r>
              <a:t>  final String merk;</a:t>
            </a:r>
            <a:br/>
            <a:r>
              <a:t>  Mobil({required this.merk});</a:t>
            </a:r>
            <a:br/>
            <a:r>
              <a:t>  void klakson() =&gt; print('Tin tin!');</a:t>
            </a:r>
            <a:br/>
            <a:r>
              <a:t>}</a:t>
            </a:r>
            <a:br/>
            <a:br/>
            <a:r>
              <a:t>// 2. FLUTTER (Komponen Visual UI di Layar):</a:t>
            </a:r>
            <a:br/>
            <a:r>
              <a:t>ElevatedButton(</a:t>
            </a:r>
            <a:br/>
            <a:r>
              <a:t>  onPressed: () =&gt; Mobil(merk: 'Tesla').klakson(),</a:t>
            </a:r>
            <a:br/>
            <a:r>
              <a:t>  child: const Text('Bunyikan Klakson'),</a:t>
            </a:r>
            <a:br/>
            <a:r>
              <a:t>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4917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491740" cy="365760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4917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EVOLUSI TEKNOLOGI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Tiga Cara Membangun Aplikasi Mobile Modern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CARA KERJA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1. Native Murni (Kotlin / Swift): Sangat cepat, namun wajib menulis kode dua kali secara terpisah.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2. Hybrid WebView (Cordova / Ionic): Membungkus website HTML/CSS ke dalam aplikasi HP. Terasa berat dan patah-patah.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3. Canvas Engine (Flutter): Menggambar setiap piksel langsung ke layar GPU menggunakan mesin grafis mandiri.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Hasil Flutter: Tampilan 100% identik di semua merek HP dengan performa mulus 60–120 FPS!</a:t>
            </a:r>
          </a:p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Tips Praktik: Karena menggambar sendiri pikselnya, Flutter bebas dari bug perbedaan OS Android antar vendor!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arsitektur_grafis.dart  |  KODE / TERMINAL BERSIH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76272"/>
            <a:ext cx="548640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80">
                <a:solidFill>
                  <a:srgbClr val="F5F5F5"/>
                </a:solidFill>
                <a:latin typeface="Consolas"/>
              </a:defRPr>
            </a:pPr>
            <a:r>
              <a:t>// MENGAPA FLUTTER BEGITU MULUS?</a:t>
            </a:r>
            <a:br/>
            <a:r>
              <a:t>// Pendekatan Lain (React Native / Hybrid):</a:t>
            </a:r>
            <a:br/>
            <a:r>
              <a:t>// Dart/JS Code -&gt; [JavaScript Bridge] -&gt; Native OS OEM Widget</a:t>
            </a:r>
            <a:br/>
            <a:r>
              <a:t>// (Jembatan penerjemah sering memicu bottleneck)</a:t>
            </a:r>
            <a:br/>
            <a:br/>
            <a:r>
              <a:t>// Pendekatan Flutter:</a:t>
            </a:r>
            <a:br/>
            <a:r>
              <a:t>// Dart Code -&gt; Flutter Engine (Impeller) -&gt; Skia/GPU Canvas</a:t>
            </a:r>
            <a:br/>
            <a:r>
              <a:t>// (Bebas jembatan, digambar langsung ke GPU layar!)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4917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491740" cy="365760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4917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ARSITEKTUR ENGINE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Impeller: Rahasia Bebas Patah-Patah (Shader Jank)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CARA KERJA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Flutter bekerja layaknya Game Engine modern (seperti Unity).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Dulu (Mesin Skia): Animasi pertama kali kadang tersendat (*jank*) karena shader grafis baru dikompilasi saat aplikasi berjalan.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Sekarang (Mesin Impeller 2026): Semua efek grafis di-precompile sebelum aplikasi dibuka pengguna.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Hasil: Scroll super licin, transisi bayangan mulus, dan konsumsi daya baterai jauh lebih hemat!</a:t>
            </a:r>
          </a:p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Tips Praktik: Impeller adalah alasan mengapa aplikasi perbankan modern beralih ke Flutter!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impeller_status.sh  |  KODE / TERMINAL BERSIH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76272"/>
            <a:ext cx="548640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80">
                <a:solidFill>
                  <a:srgbClr val="F5F5F5"/>
                </a:solidFill>
                <a:latin typeface="Consolas"/>
              </a:defRPr>
            </a:pPr>
            <a:r>
              <a:t># Memeriksa engine grafis yang aktif di terminal:</a:t>
            </a:r>
            <a:br/>
            <a:r>
              <a:t>flutter doctor -v</a:t>
            </a:r>
            <a:br/>
            <a:br/>
            <a:r>
              <a:t># Impeller kini aktif secara default pada:</a:t>
            </a:r>
            <a:br/>
            <a:r>
              <a:t># - iOS &amp; iPadOS (Metal backend)</a:t>
            </a:r>
            <a:br/>
            <a:r>
              <a:t># - Android modern (Vulkan backend)</a:t>
            </a:r>
            <a:br/>
            <a:br/>
            <a:r>
              <a:t># Menghasilkan pengalaman pengguna (UX) 120 FPS</a:t>
            </a:r>
            <a:br/>
            <a:r>
              <a:t># setara dengan aplikasi native kelas atas!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1488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148840" cy="36576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148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DIAGNOSTIK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Langkah Awal: Membaca Hasil 'flutter doctor'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CARA KERJA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Perintah Wajib: Jalankan 'flutter doctor -v' untuk memeriksa kesehatan instalasi SDK di komputer Anda.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Tanda [✓]: Komponen terpasang sempurna dan siap digunakan.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Tanda [!]: Ada lisensi Android yang belum disetujui (cukup jalankan perintah lisensi).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Tanda [✗]: SDK atau ekstensi belum terpasang (harus diinstal terlebih dahulu).</a:t>
            </a:r>
          </a:p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Tips Praktik: Jangan panik jika Android Studio silang merah, asalkan Chrome dan VS Code bertanda centang hijau!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flutter_doctor.sh  |  KODE / TERMINAL BERSIH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76272"/>
            <a:ext cx="548640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80">
                <a:solidFill>
                  <a:srgbClr val="F5F5F5"/>
                </a:solidFill>
                <a:latin typeface="Consolas"/>
              </a:defRPr>
            </a:pPr>
            <a:r>
              <a:t># 1. Jalankan diagnosa kesehatan Flutter:</a:t>
            </a:r>
            <a:br/>
            <a:r>
              <a:t>flutter doctor</a:t>
            </a:r>
            <a:br/>
            <a:br/>
            <a:r>
              <a:t># 2. Jika muncul peringatan lisensi Android:</a:t>
            </a:r>
            <a:br/>
            <a:r>
              <a:t>flutter doctor --android-licenses</a:t>
            </a:r>
            <a:br/>
            <a:r>
              <a:t># (Ketik huruf 'y' lalu tekan Enter untuk setiap persetujuan)</a:t>
            </a:r>
            <a:br/>
            <a:br/>
            <a:r>
              <a:t># 3. Target minimal praktikum lab hari ini:</a:t>
            </a:r>
            <a:br/>
            <a:r>
              <a:t># [✓] Flutter SDK (Channel stable)</a:t>
            </a:r>
            <a:br/>
            <a:r>
              <a:t># [✓] Chrome - develop for the web</a:t>
            </a:r>
            <a:br/>
            <a:r>
              <a:t># [✓] VS Code (version 1.9x)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1488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1488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148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MEMBUAT PROYEK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Perintah 'flutter create' &amp; Aturan Penamaan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CARA KERJA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Buka Terminal di folder kerja Anda (misal: C:\KuliahMobile\).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Aturan Penamaan Proyek Flutter: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HANYA boleh menggunakan huruf kecil (lowercase), angka, dan garis bawah (_).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DILARANG memakai spasi, huruf kapital, atau strip (-)! Contoh salah: 'Tugas-1', contoh benar: 'tugas_pertemuan_01'.</a:t>
            </a:r>
          </a:p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Tips Praktik: Selalu gunakan huruf kecil dan underscore agar tidak memicu galat kompilator Dart!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create_project.sh  |  KODE / TERMINAL BERSIH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76272"/>
            <a:ext cx="548640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80">
                <a:solidFill>
                  <a:srgbClr val="F5F5F5"/>
                </a:solidFill>
                <a:latin typeface="Consolas"/>
              </a:defRPr>
            </a:pPr>
            <a:r>
              <a:t># 1. Buka folder kerja di terminal:</a:t>
            </a:r>
            <a:br/>
            <a:r>
              <a:t>cd C:\Users\Mahasiswa\FlutterProjects</a:t>
            </a:r>
            <a:br/>
            <a:br/>
            <a:r>
              <a:t># 2. Buat proyek Flutter perdana:</a:t>
            </a:r>
            <a:br/>
            <a:r>
              <a:t>flutter create halo_flutter</a:t>
            </a:r>
            <a:br/>
            <a:br/>
            <a:r>
              <a:t># 3. Masuk ke dalam folder proyek:</a:t>
            </a:r>
            <a:br/>
            <a:r>
              <a:t>cd halo_flutter</a:t>
            </a:r>
            <a:br/>
            <a:br/>
            <a:r>
              <a:t># 4. Buka proyek tersebut di VS Code:</a:t>
            </a:r>
            <a:br/>
            <a:r>
              <a:t>code 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2631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263140" cy="365760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2631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STRUKTUR PROYEK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Jangan Pusing! Pahami 3 Folder Utama Ini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CARA KERJA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Saat proyek dibuat, ada puluhan folder otomatis. Bagi pemula, abaikan yang tidak perlu!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1. folder 'lib/' (RUMAH UTAMA): 99% waktu ngoding Anda ada di sini. Berkas pintu gerbang utama adalah 'lib/main.dart'.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2. berkas 'pubspec.yaml': 'KTP' aplikasi dan daftar belanja pustaka/aset gambar.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3. folder 'android/' &amp; 'ios/': Pembungkus native (jangan diubah-ubah jika belum mahir).</a:t>
            </a:r>
          </a:p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Tips Praktik: Fokuskan perhatian Anda 100% hanya pada folder 'lib/' dan berkas 'pubspec.yaml'!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struktur_folder.txt  |  KODE / TERMINAL BERSIH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76272"/>
            <a:ext cx="548640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80">
                <a:solidFill>
                  <a:srgbClr val="F5F5F5"/>
                </a:solidFill>
                <a:latin typeface="Consolas"/>
              </a:defRPr>
            </a:pPr>
            <a:r>
              <a:t>halo_flutter/</a:t>
            </a:r>
            <a:br/>
            <a:r>
              <a:t>├── android/          &lt;- Folder native Android (jangan diubah)</a:t>
            </a:r>
            <a:br/>
            <a:r>
              <a:t>├── ios/              &lt;- Folder native iOS (jangan diubah)</a:t>
            </a:r>
            <a:br/>
            <a:r>
              <a:t>├── web/              &lt;- Folder untuk target browser</a:t>
            </a:r>
            <a:br/>
            <a:r>
              <a:t>├── lib/              &lt;- 🌟 TEMPAT KITA NGODING SEHARI-HARI!</a:t>
            </a:r>
            <a:br/>
            <a:r>
              <a:t>│   └── main.dart     &lt;- Titik awal aplikasi dimulai</a:t>
            </a:r>
            <a:br/>
            <a:r>
              <a:t>├── test/             &lt;- Berkas pengujian unit testing</a:t>
            </a:r>
            <a:br/>
            <a:r>
              <a:t>└── pubspec.yaml      &lt;- 📜 KTP &amp; Daftar paket pustaka/gambar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2631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263140" cy="365760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2631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MANAJEMEN PAKET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pubspec.yaml: KTP &amp; Daftar Belanja Aplikasi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CARA KERJA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Fungsi Berkas: Menyimpan identitas nama aplikasi, versi rilis, pustaka eksternal (packages), dan aset gambar/font.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Jebakan Klasik Pemula: Format YAML SANGAT SENSITIF terhadap spasi!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Gunakan TEPAT 2 SPASI untuk indentasi. Jangan pernah memakai tombol TAB, karena akan membuat kompilasi error.</a:t>
            </a:r>
          </a:p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Tips Praktik: Jika pubspec error merah, periksa apakah Anda tidak sengaja menekan tombol Tab!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pubspec.yaml  |  KODE / TERMINAL BERSIH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76272"/>
            <a:ext cx="548640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80">
                <a:solidFill>
                  <a:srgbClr val="F5F5F5"/>
                </a:solidFill>
                <a:latin typeface="Consolas"/>
              </a:defRPr>
            </a:pPr>
            <a:r>
              <a:t>name: halo_flutter</a:t>
            </a:r>
            <a:br/>
            <a:r>
              <a:t>description: "Aplikasi mobile perdana mahasiswa Informatika"</a:t>
            </a:r>
            <a:br/>
            <a:r>
              <a:t>version: 1.0.0+1</a:t>
            </a:r>
            <a:br/>
            <a:br/>
            <a:r>
              <a:t>environment:</a:t>
            </a:r>
            <a:br/>
            <a:r>
              <a:t>  sdk: ^3.5.0</a:t>
            </a:r>
            <a:br/>
            <a:br/>
            <a:r>
              <a:t>dependencies:</a:t>
            </a:r>
            <a:br/>
            <a:r>
              <a:t>  flutter:</a:t>
            </a:r>
            <a:br/>
            <a:r>
              <a:t>    sdk: flutter</a:t>
            </a:r>
            <a:br/>
            <a:r>
              <a:t>  # Tambahkan paket baru dengan indentasi 2 spasi:</a:t>
            </a:r>
            <a:br/>
            <a:r>
              <a:t>  google_fonts: ^6.2.1</a:t>
            </a:r>
            <a:br/>
            <a:br/>
            <a:r>
              <a:t>flutter:</a:t>
            </a:r>
            <a:br/>
            <a:r>
              <a:t>  uses-material-design: true</a:t>
            </a:r>
            <a:br/>
            <a:r>
              <a:t>  # Daftarkan gambar lokal di sini:</a:t>
            </a:r>
            <a:br/>
            <a:r>
              <a:t>  # assets:</a:t>
            </a:r>
            <a:br/>
            <a:r>
              <a:t>  #   - assets/images/logo.png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8346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834640" cy="36576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PRODUKTIVITAS KODING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Sihir: Hot Reload vs Hot Restart vs Full Build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CARA KERJA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1. Hot Reload (Tekan 'Ctrl+S' atau huruf 'r'): Memperbarui antarmuka visual dalam hitungan milidetik (&lt;1 detik) tanpa mereset data angka di layar.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2. Hot Restart (Tekan huruf 'R'): Menyetel ulang aplikasi dari nol dalam 1–2 detik (mereset state).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3. Full Build (Hentikan &amp; jalankan ulang): Hanya diperlukan jika Anda mengubah berkas 'pubspec.yaml' atau kode native Android.</a:t>
            </a:r>
          </a:p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Tips Praktik: Hot Reload adalah fitur terbaik Flutter yang membuat ngoding terasa seperti mengedit dokumen live!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cheat_sheet_reload.txt  |  KODE / TERMINAL BERSIH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76272"/>
            <a:ext cx="548640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80">
                <a:solidFill>
                  <a:srgbClr val="F5F5F5"/>
                </a:solidFill>
                <a:latin typeface="Consolas"/>
              </a:defRPr>
            </a:pPr>
            <a:r>
              <a:t>// TABEL PERBANDINGAN TIGA AKSI:</a:t>
            </a:r>
            <a:br/>
            <a:r>
              <a:t>// --------------------------------------------------------</a:t>
            </a:r>
            <a:br/>
            <a:r>
              <a:t>// AKSI          | WAKTU       | RESET STATE? | KAPAN PAKAI?</a:t>
            </a:r>
            <a:br/>
            <a:r>
              <a:t>// --------------------------------------------------------</a:t>
            </a:r>
            <a:br/>
            <a:r>
              <a:t>// Hot Reload    | &lt; 1 Detik   | TIDAK        | Ganti warna, teks, layout</a:t>
            </a:r>
            <a:br/>
            <a:r>
              <a:t>// Hot Restart   | 1-2 Detik   | YA           | Ubah initState/logika</a:t>
            </a:r>
            <a:br/>
            <a:r>
              <a:t>// Full Build    | 1-2 Menit   | DARI AWAL    | Tambah paket pubspec</a:t>
            </a:r>
            <a:br/>
            <a:br/>
            <a:r>
              <a:t>// Di terminal VS Code yang sedang berjalan:</a:t>
            </a:r>
            <a:br/>
            <a:r>
              <a:t>// Tekan 'r' -&gt; Hot Reload</a:t>
            </a:r>
            <a:br/>
            <a:r>
              <a:t>// Tekan 'R' -&gt; Hot Restart</a:t>
            </a:r>
            <a:br/>
            <a:r>
              <a:t>// Tekan 'q' -&gt; Keluar (Quit)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6060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6060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606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ANATOMI KODE DASAR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Membaca Berkas 'lib/main.dart' Pertama Anda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CARA KERJA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void main(): Fungsi pertama yang dieksekusi komputer saat aplikasi menyala.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runApp(): Menempelkan widget utama ke layar smartphone.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MaterialApp: Membungkus aplikasi dengan tema Material Design standar Google.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Scaffold: Kanvas dasar penyedia struktur AppBar dan Body.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Center &amp; Text: Meletakkan tulisan tepat di tengah layar.</a:t>
            </a:r>
          </a:p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Tips Praktik: Setiap tampilan di Flutter tersusun dari widget yang saling membungkus!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main_minimal.dart  |  KODE / TERMINAL BERSIH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76272"/>
            <a:ext cx="548640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80">
                <a:solidFill>
                  <a:srgbClr val="F5F5F5"/>
                </a:solidFill>
                <a:latin typeface="Consolas"/>
              </a:defRPr>
            </a:pPr>
            <a:r>
              <a:t>import 'package:flutter/material.dart';</a:t>
            </a:r>
            <a:br/>
            <a:br/>
            <a:r>
              <a:t>// 1. Titik masuk utama program</a:t>
            </a:r>
            <a:br/>
            <a:r>
              <a:t>void main() {</a:t>
            </a:r>
            <a:br/>
            <a:r>
              <a:t>  runApp(const AplikasiPerdana());</a:t>
            </a:r>
            <a:br/>
            <a:r>
              <a:t>}</a:t>
            </a:r>
            <a:br/>
            <a:br/>
            <a:r>
              <a:t>// 2. Widget induk aplikasi kita</a:t>
            </a:r>
            <a:br/>
            <a:r>
              <a:t>class AplikasiPerdana extends StatelessWidget {</a:t>
            </a:r>
            <a:br/>
            <a:r>
              <a:t>  const AplikasiPerdana({super.key});</a:t>
            </a:r>
            <a:br/>
            <a:br/>
            <a:r>
              <a:t>  @override</a:t>
            </a:r>
            <a:br/>
            <a:r>
              <a:t>  Widget build(BuildContext context) {</a:t>
            </a:r>
            <a:br/>
            <a:r>
              <a:t>    return const MaterialApp(</a:t>
            </a:r>
            <a:br/>
            <a:r>
              <a:t>      home: Scaffold(</a:t>
            </a:r>
            <a:br/>
            <a:r>
              <a:t>        body: Center(</a:t>
            </a:r>
            <a:br/>
            <a:r>
              <a:t>          child: Text(</a:t>
            </a:r>
            <a:br/>
            <a:r>
              <a:t>            'Halo Teknik Informatika 2026!',</a:t>
            </a:r>
            <a:br/>
            <a:r>
              <a:t>            style: TextStyle(fontSize: 22, fontWeight: FontWeight.bold),</a:t>
            </a:r>
            <a:br/>
            <a:r>
              <a:t>          ),</a:t>
            </a:r>
            <a:br/>
            <a:r>
              <a:t>        ),</a:t>
            </a:r>
            <a:br/>
            <a:r>
              <a:t>      ),</a:t>
            </a:r>
            <a:br/>
            <a:r>
              <a:t>    );</a:t>
            </a:r>
            <a:br/>
            <a:r>
              <a:t>  }</a:t>
            </a:r>
            <a:br/>
            <a:r>
              <a:t>}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2631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263140" cy="365760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2631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BEDAH KODE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Mengapa Tombol '+' Bisa Menambah Angka?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CARA KERJA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Saat proyek dibuat, Flutter menyediakan kode demo tombol hitung (+).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Variabel State: 'int _counter = 0;' menyimpan angka hitungan.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Fungsi setState(): Memberi tahu Flutter 'Eh, angkanya sudah berubah, tolong gambar ulang angka di layar!'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FloatingActionButton: Tombol bundar yang melayang di pojok kanan bawah.</a:t>
            </a:r>
          </a:p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Tips Praktik: Fungsi setState() adalah fondasi paling awal dari aplikasi yang interaktif dan dinamis!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counter_logic.dart  |  KODE / TERMINAL BERSIH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76272"/>
            <a:ext cx="548640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80">
                <a:solidFill>
                  <a:srgbClr val="F5F5F5"/>
                </a:solidFill>
                <a:latin typeface="Consolas"/>
              </a:defRPr>
            </a:pPr>
            <a:r>
              <a:t>int _counter = 0;</a:t>
            </a:r>
            <a:br/>
            <a:br/>
            <a:r>
              <a:t>void _incrementCounter() {</a:t>
            </a:r>
            <a:br/>
            <a:r>
              <a:t>  setState(() {</a:t>
            </a:r>
            <a:br/>
            <a:r>
              <a:t>    // 1. Naikkan angka hitungan</a:t>
            </a:r>
            <a:br/>
            <a:r>
              <a:t>    _counter++;</a:t>
            </a:r>
            <a:br/>
            <a:r>
              <a:t>  }); // 2. Layar otomatis ter-update seketika!</a:t>
            </a:r>
            <a:br/>
            <a:r>
              <a:t>}</a:t>
            </a:r>
            <a:br/>
            <a:br/>
            <a:r>
              <a:t>// Di bagian build():</a:t>
            </a:r>
            <a:br/>
            <a:r>
              <a:t>Text(</a:t>
            </a:r>
            <a:br/>
            <a:r>
              <a:t>  '$_counter',</a:t>
            </a:r>
            <a:br/>
            <a:r>
              <a:t>  style: Theme.of(context).textTheme.headlineMedium,</a:t>
            </a:r>
            <a:br/>
            <a:r>
              <a:t>);</a:t>
            </a:r>
            <a:br/>
            <a:br/>
            <a:r>
              <a:t>// Tombol melayang di pojok:</a:t>
            </a:r>
            <a:br/>
            <a:r>
              <a:t>FloatingActionButton(</a:t>
            </a:r>
            <a:br/>
            <a:r>
              <a:t>  onPressed: _incrementCounter,</a:t>
            </a:r>
            <a:br/>
            <a:r>
              <a:t>  child: const Icon(Icons.add),</a:t>
            </a:r>
            <a:br/>
            <a:r>
              <a:t>);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0632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063240" cy="365760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063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SOLUSI SPESIFIKASI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Kompilasi Kilat via Google Chrome (Hemat RAM)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CARA KERJA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Kendala Komputer Lab RAM 8GB: Menjalankan Android Emulator memakan 4–6GB RAM -&gt; PC langsung macet/freeze!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Solusi Cerdas: Arahkan target kompilasi ke browser Google Chrome.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Kompilasi hanya butuh 5–10 detik, memori RAM yang dipakai hanya ~150MB, dan fitur Hot Reload tetap berfungsi 100% normal.</a:t>
            </a:r>
          </a:p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Tips Praktik: Gunakan Chrome untuk belajar tata letak UI agar laptop Anda tetap dingin dan baterai awet!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run_chrome.sh  |  KODE / TERMINAL BERSIH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76272"/>
            <a:ext cx="548640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80">
                <a:solidFill>
                  <a:srgbClr val="F5F5F5"/>
                </a:solidFill>
                <a:latin typeface="Consolas"/>
              </a:defRPr>
            </a:pPr>
            <a:r>
              <a:t># 1. Pastikan Anda berada di folder proyek</a:t>
            </a:r>
            <a:br/>
            <a:r>
              <a:t>cd halo_flutter</a:t>
            </a:r>
            <a:br/>
            <a:br/>
            <a:r>
              <a:t># 2. Jalankan target browser Chrome:</a:t>
            </a:r>
            <a:br/>
            <a:r>
              <a:t>flutter run -d chrome</a:t>
            </a:r>
            <a:br/>
            <a:br/>
            <a:r>
              <a:t># Jendela browser akan terbuka otomatis menampilkan</a:t>
            </a:r>
            <a:br/>
            <a:r>
              <a:t># aplikasi mobile Anda dalam rasio responsif web!</a:t>
            </a:r>
            <a:br/>
            <a:br/>
            <a:r>
              <a:t># Tips Shortcut jika ingin memilih target interaktif:</a:t>
            </a:r>
            <a:br/>
            <a:r>
              <a:t># Tekan F5 di VS Code -&gt; Pilih browser 'Chrome'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3774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377440" cy="365760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SMARTPHONE NYATA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Uji Coba di HP Fisik Menggunakan Scrcpy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CARA KERJA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Sensasi Sentuhan Jari Nyata: Paling memuaskan menguji aplikasi langsung di smartphone fisik Anda.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Langkah 1: Aktifkan 'USB Debugging' di Developer Options HP Anda.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Langkah 2: Sambungkan kabel data USB ke PC lab/laptop.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Langkah 3: Jalankan program gratis 'Scrcpy' di terminal untuk memproyeksikan layar HP ke monitor komputer (RAM &lt; 80MB).</a:t>
            </a:r>
          </a:p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Tips Praktik: Pastikan kabel USB adalah kabel data, bukan hanya kabel charger pengisi daya saja!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setup_scrcpy.sh  |  KODE / TERMINAL BERSIH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76272"/>
            <a:ext cx="548640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80">
                <a:solidFill>
                  <a:srgbClr val="F5F5F5"/>
                </a:solidFill>
                <a:latin typeface="Consolas"/>
              </a:defRPr>
            </a:pPr>
            <a:r>
              <a:t># 1. Pastikan smartphone terdeteksi:</a:t>
            </a:r>
            <a:br/>
            <a:r>
              <a:t>adb devices</a:t>
            </a:r>
            <a:br/>
            <a:br/>
            <a:r>
              <a:t># 2. Tampilkan cermin layar smartphone di monitor PC:</a:t>
            </a:r>
            <a:br/>
            <a:r>
              <a:t>scrcpy</a:t>
            </a:r>
            <a:br/>
            <a:br/>
            <a:r>
              <a:t># 3. Jalankan aplikasi Flutter ke smartphone fisik:</a:t>
            </a:r>
            <a:br/>
            <a:r>
              <a:t>flutter run</a:t>
            </a:r>
            <a:br/>
            <a:br/>
            <a:r>
              <a:t># Sekarang Anda bisa mengontrol HP menggunakan</a:t>
            </a:r>
            <a:br/>
            <a:r>
              <a:t># mouse &amp; keyboard komputer sambil merasakan performa asli!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8346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834640" cy="36576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ALAT KERJA PRODUKTIF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Ekstensi &amp; Shortcut Wajib di VS Code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CARA KERJA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Ekstensi Wajib 1: 'Flutter' &amp; 'Dart' (resmi dari Dart Code).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Ekstensi Pendukung: 'Material Icon Theme' &amp; 'Error Lens' untuk melihat pesan galat langsung di baris kode.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Shortcut Sakti: 'Ctrl + `' untuk buka terminal, 'Ctrl + P' untuk cari berkas kilat, dan 'Alt + Enter' untuk bantuan refactor kode otomatis.</a:t>
            </a:r>
          </a:p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Tips Praktik: Aktifkan formatOnSave agar kode Anda langsung rapi setiap kali menekan Ctrl + S!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settings.json  |  KODE / TERMINAL BERSIH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76272"/>
            <a:ext cx="548640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80">
                <a:solidFill>
                  <a:srgbClr val="F5F5F5"/>
                </a:solidFill>
                <a:latin typeface="Consolas"/>
              </a:defRPr>
            </a:pPr>
            <a:r>
              <a:t>// SETELAN TERBAIK VS CODE (settings.json):</a:t>
            </a:r>
            <a:br/>
            <a:r>
              <a:t>{</a:t>
            </a:r>
            <a:br/>
            <a:r>
              <a:t>  // Otomatis rapikan kode setiap kali menekan Ctrl + S:</a:t>
            </a:r>
            <a:br/>
            <a:r>
              <a:t>  "editor.formatOnSave": true,</a:t>
            </a:r>
            <a:br/>
            <a:r>
              <a:t>  </a:t>
            </a:r>
            <a:br/>
            <a:r>
              <a:t>  // Tampilkan garis bantu hierarki pohon widget:</a:t>
            </a:r>
            <a:br/>
            <a:r>
              <a:t>  "dart.previewFlutterUiGuides": true,</a:t>
            </a:r>
            <a:br/>
            <a:r>
              <a:t>  </a:t>
            </a:r>
            <a:br/>
            <a:r>
              <a:t>  // Rekomendasi otomatis penambahan koma:</a:t>
            </a:r>
            <a:br/>
            <a:r>
              <a:t>  "editor.codeActionsOnSave": {</a:t>
            </a:r>
            <a:br/>
            <a:r>
              <a:t>    "source.fixAll": "always"</a:t>
            </a:r>
            <a:br/>
            <a:r>
              <a:t>  }</a:t>
            </a:r>
            <a:br/>
            <a:r>
              <a:t>}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4917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4917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4917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LAB QUEST MANDIRI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Pertemuan 01: Hello Flutter &amp; The First Hot Reload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1054577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10545775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10545775" cy="475488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1691640"/>
            <a:ext cx="9966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000000"/>
                </a:solidFill>
                <a:latin typeface="Segoe UI"/>
              </a:defRPr>
            </a:pPr>
            <a:r>
              <a:t>⏱️ ALOKASI: 45 MENIT  ■  TARGET UJI: SMARTPHONE FISIK VIA USB / BROWSER CHROME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240280"/>
            <a:ext cx="97840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450" b="1">
                <a:solidFill>
                  <a:srgbClr val="000000"/>
                </a:solidFill>
                <a:latin typeface="Segoe UI"/>
              </a:defRPr>
            </a:pPr>
            <a:r>
              <a:t>Checklist Langkah Praktikum di Lab:</a:t>
            </a:r>
          </a:p>
          <a:p>
            <a:pPr>
              <a:spcAft>
                <a:spcPts val="300"/>
              </a:spcAft>
              <a:defRPr sz="1100">
                <a:solidFill>
                  <a:srgbClr val="1E1E1E"/>
                </a:solidFill>
                <a:latin typeface="Segoe UI"/>
              </a:defRPr>
            </a:pPr>
            <a:r>
              <a:t>  [  ]   Buka terminal VS Code dan jalankan 'flutter doctor' untuk memverifikasi kesiapan lingkungan kerja.</a:t>
            </a:r>
          </a:p>
          <a:p>
            <a:pPr>
              <a:spcAft>
                <a:spcPts val="300"/>
              </a:spcAft>
              <a:defRPr sz="1100">
                <a:solidFill>
                  <a:srgbClr val="1E1E1E"/>
                </a:solidFill>
                <a:latin typeface="Segoe UI"/>
              </a:defRPr>
            </a:pPr>
            <a:r>
              <a:t>  [  ]   Buat proyek baru menggunakan perintah 'flutter create tugas_pertemuan_01'.</a:t>
            </a:r>
          </a:p>
          <a:p>
            <a:pPr>
              <a:spcAft>
                <a:spcPts val="300"/>
              </a:spcAft>
              <a:defRPr sz="1100">
                <a:solidFill>
                  <a:srgbClr val="1E1E1E"/>
                </a:solidFill>
                <a:latin typeface="Segoe UI"/>
              </a:defRPr>
            </a:pPr>
            <a:r>
              <a:t>  [  ]   Jalankan aplikasi ke target Google Chrome ('flutter run -d chrome') atau smartphone fisik via USB.</a:t>
            </a:r>
          </a:p>
          <a:p>
            <a:pPr>
              <a:spcAft>
                <a:spcPts val="300"/>
              </a:spcAft>
              <a:defRPr sz="1100">
                <a:solidFill>
                  <a:srgbClr val="1E1E1E"/>
                </a:solidFill>
                <a:latin typeface="Segoe UI"/>
              </a:defRPr>
            </a:pPr>
            <a:r>
              <a:t>  [  ]   Buka berkas 'lib/main.dart', lalu ubah teks judul AppBar menjadi: 'Praktikum Mobile - [Nama Anda]'.</a:t>
            </a:r>
          </a:p>
          <a:p>
            <a:pPr>
              <a:spcAft>
                <a:spcPts val="300"/>
              </a:spcAft>
              <a:defRPr sz="1100">
                <a:solidFill>
                  <a:srgbClr val="1E1E1E"/>
                </a:solidFill>
                <a:latin typeface="Segoe UI"/>
              </a:defRPr>
            </a:pPr>
            <a:r>
              <a:t>  [  ]   Ubah teks di tengah layar menampilkan: 'Nama Lengkap Mahasiswa' dan 'NIM'.</a:t>
            </a:r>
          </a:p>
          <a:p>
            <a:pPr>
              <a:spcAft>
                <a:spcPts val="300"/>
              </a:spcAft>
              <a:defRPr sz="1100">
                <a:solidFill>
                  <a:srgbClr val="1E1E1E"/>
                </a:solidFill>
                <a:latin typeface="Segoe UI"/>
              </a:defRPr>
            </a:pPr>
            <a:r>
              <a:t>  [  ]   Ganti warna tema utama (seedColor) menjadi warna favorit Anda (misal: Colors.teal atau Colors.amber).</a:t>
            </a:r>
          </a:p>
          <a:p>
            <a:pPr>
              <a:spcAft>
                <a:spcPts val="300"/>
              </a:spcAft>
              <a:defRPr sz="1100">
                <a:solidFill>
                  <a:srgbClr val="1E1E1E"/>
                </a:solidFill>
                <a:latin typeface="Segoe UI"/>
              </a:defRPr>
            </a:pPr>
            <a:r>
              <a:t>  [  ]   Tekan 'Ctrl + S' (Hot Reload) dan buktikan layar aplikasi langsung berubah dalam sekejap tanpa restart!</a:t>
            </a:r>
          </a:p>
          <a:p>
            <a:br/>
            <a:pPr>
              <a:defRPr sz="1150" b="1">
                <a:solidFill>
                  <a:srgbClr val="00823C"/>
                </a:solidFill>
                <a:latin typeface="Segoe UI"/>
              </a:defRPr>
            </a:pPr>
            <a:r>
              <a:t>✔ Kriteria Keberhasilan (Tunjukkan ke Dosen/Asisten Lab):</a:t>
            </a:r>
            <a:br/>
            <a:r>
              <a:t>Tunjukkan layar aplikasi yang menampilkan Nama, NIM, dan perubahan warna tema kepada Dosen atau Asisten Lab untuk mendapatkan checklist nilai modul 1.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6060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6060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606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LANGKAH BERIKUTNYA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Persiapan Pertemuan 02: Deep Dive Dart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CARA KERJA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Hari ini Anda telah sukses menyiapkan lingkungan kerja dan merasakan sihir Hot Reload pertama kali.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Tantangan Minggu Depan (Pertemuan 02): Membedah mesin bahasa pemrograman modern Dart!</a:t>
            </a:r>
          </a:p>
          <a:p>
            <a:pPr>
              <a:spcAft>
                <a:spcPts val="600"/>
              </a:spcAft>
              <a:defRPr sz="1100">
                <a:solidFill>
                  <a:srgbClr val="141414"/>
                </a:solidFill>
                <a:latin typeface="Segoe UI"/>
              </a:defRPr>
            </a:pPr>
            <a:r>
              <a:t>■  Materi Inti: Sound Null Safety (bebas galat null pointer), Collections (List, Map), OOP Constructor, dan Asynchronous (Future, async/await, Streams).</a:t>
            </a:r>
          </a:p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Tips Praktik: Buka dartpad.dev di rumah untuk mulai mencicipi sintaks Dart tanpa perlu instalasi tambahan!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preview_pertemuan_02.dart  |  KODE / TERMINAL BERSIH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76272"/>
            <a:ext cx="548640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80">
                <a:solidFill>
                  <a:srgbClr val="F5F5F5"/>
                </a:solidFill>
                <a:latin typeface="Consolas"/>
              </a:defRPr>
            </a:pPr>
            <a:r>
              <a:t>// BOCORAN MATERI PERTEMUAN 02 (SOUND NULL SAFETY):</a:t>
            </a:r>
            <a:br/>
            <a:r>
              <a:t>String namaWajib = 'Ahmad';   // Wajib ada isinya</a:t>
            </a:r>
            <a:br/>
            <a:r>
              <a:t>String? catatanOpsional;      // Boleh null / kosong</a:t>
            </a:r>
            <a:br/>
            <a:br/>
            <a:r>
              <a:t>// Operator Penjinak Null:</a:t>
            </a:r>
            <a:br/>
            <a:r>
              <a:t>String status = catatanOpsional ?? 'Tidak ada catatan';</a:t>
            </a:r>
            <a:br/>
            <a:br/>
            <a:r>
              <a:t>// Asinkronus Masa Depan:</a:t>
            </a:r>
            <a:br/>
            <a:r>
              <a:t>Future&lt;String&gt; ambilDataInternet() async {</a:t>
            </a:r>
            <a:br/>
            <a:r>
              <a:t>  await Future.delayed(const Duration(seconds: 2));</a:t>
            </a:r>
            <a:br/>
            <a:r>
              <a:t>  return 'Data Berhasil Diterima!';</a:t>
            </a:r>
            <a:br/>
            <a:r>
              <a:t>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