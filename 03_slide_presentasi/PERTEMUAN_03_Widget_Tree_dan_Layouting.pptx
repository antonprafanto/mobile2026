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3_widget_dan_layouting/slide_02_panduan_tools_dan_workflow.dart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3_widget_dan_layouting/slide_03_filosofi_everything_is_widget.dart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3_widget_dan_layouting/slide_04_materialapp_dan_scaffold.dart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3_widget_dan_layouting/slide_05_arsitektur_the_three_trees.dart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3_widget_dan_layouting/slide_06_stateless_vs_stateful.dart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3_widget_dan_layouting/slide_07_siklus_hidup_stateful.dart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3_widget_dan_layouting/slide_08_hukum_box_constraints.dart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3_widget_dan_layouting/slide_09_penyelamat_layar_safearea.dart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3_widget_dan_layouting/slide_10_single_child_layout.dart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3_widget_dan_layouting/slide_11_jebakan_color_vs_decoration.dart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3_widget_dan_layouting/slide_12_multi_child_row_column.dart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3_widget_dan_layouting/slide_13_trik_spasi_sizedbox_spacer.dart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3_widget_dan_layouting/slide_14_flexible_vs_expanded.dart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3_widget_dan_layouting/slide_15_layout_menumpuk_stack.dart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3_widget_dan_layouting/slide_16_penyelamat_kategori_wrap.dart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3_widget_dan_layouting/slide_17_scrollable_singlechildscrollview.dart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3_widget_dan_layouting/slide_18_scrollable_listview_builder.dart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3_widget_dan_layouting/slide_19_scrollable_gridview_builder.dart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3_widget_dan_layouting/slide_20_solusi_renderflex_overflow.dart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3_widget_dan_layouting/slide_21_solusi_unbounded_height.dart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3_widget_dan_layouting/slide_22_trik_koma_ajaib_trailing.dart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3_widget_dan_layouting/slide_23_shortcut_refactor_inspector.dart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3_widget_dan_layouting/slide_24_lab_quest_dashboard_profil.dart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896112"/>
            <a:ext cx="10545775" cy="52120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822960"/>
            <a:ext cx="10545775" cy="521208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1188720"/>
            <a:ext cx="9601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200" b="1">
                <a:solidFill>
                  <a:srgbClr val="000000"/>
                </a:solidFill>
                <a:latin typeface="Segoe UI"/>
              </a:defRPr>
            </a:pPr>
            <a:r>
              <a:t>✦ IF3205 • PEMROGRAMAN PIRANTI BERGERAK • PERTEMUAN 03 ✦</a:t>
            </a:r>
          </a:p>
          <a:p>
            <a:pPr>
              <a:spcAft>
                <a:spcPts val="1400"/>
              </a:spcAft>
              <a:defRPr sz="3000" b="1">
                <a:solidFill>
                  <a:srgbClr val="000000"/>
                </a:solidFill>
                <a:latin typeface="Segoe UI"/>
              </a:defRPr>
            </a:pPr>
            <a:r>
              <a:t>Everything is a Widget:</a:t>
            </a:r>
            <a:br/>
            <a:r>
              <a:t>Mastering Layout &amp; Tiga Pohon Flutter</a:t>
            </a:r>
          </a:p>
          <a:p>
            <a:pPr>
              <a:spcAft>
                <a:spcPts val="3800"/>
              </a:spcAft>
              <a:defRPr sz="1500">
                <a:solidFill>
                  <a:srgbClr val="3C3C3C"/>
                </a:solidFill>
                <a:latin typeface="Segoe UI"/>
              </a:defRPr>
            </a:pPr>
            <a:r>
              <a:t>Membedah anatomi kanvas mobile, hierarki widget, box constraints, dan jurus membasmi galat overflow selamanya demi aplikasi responsif 120 FPS.</a:t>
            </a:r>
          </a:p>
          <a:p>
            <a:pPr>
              <a:defRPr sz="1200" b="1">
                <a:solidFill>
                  <a:srgbClr val="000000"/>
                </a:solidFill>
                <a:latin typeface="Segoe UI"/>
              </a:defRPr>
            </a:pPr>
            <a:r>
              <a:t>■  Program Studi Teknik Informatika  ■  OUTCOME-BASED EDUCATION (OBE) • SUB-CPMK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263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PANDUAN PRAKTIK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Di Mana Kita Menguji Tampilan Hari Ini?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Opsi Terbaik Lab (Hemat RAM): Gunakan browser Chrome. Kompilasi kilat 5-10 detik tanpa beban emulator berat!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Opsi Smartphone Fisik: Hubungkan kabel data USB dan jalankan Scrcpy untuk interaksi sentuhan jari nyata.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Sihir Hot Reload: Cukup ubah angka atau warna di file kode, lalu simpan (Ctrl+S). Layar langsung ter-update seketika!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Gunakan Chrome saat mendesain tampilan awal agar laptop tidak panas dan baterai awet!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terminal_workflow.sh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# 1. Buka Terminal terintegrasi di VS Code (Ctrl + `)</a:t>
            </a:r>
            <a:br/>
            <a:br/>
            <a:r>
              <a:t># 2. Opsi A: Jalankan di Google Chrome (Ringan)</a:t>
            </a:r>
            <a:br/>
            <a:r>
              <a:t>flutter run -d chrome</a:t>
            </a:r>
            <a:br/>
            <a:br/>
            <a:r>
              <a:t># 3. Opsi B: Jalankan di Smartphone Fisik via USB</a:t>
            </a:r>
            <a:br/>
            <a:r>
              <a:t>scrcpy</a:t>
            </a:r>
            <a:br/>
            <a:r>
              <a:t>flutter run</a:t>
            </a:r>
            <a:br/>
            <a:br/>
            <a:r>
              <a:t># 4. Saat kode diubah:</a:t>
            </a:r>
            <a:br/>
            <a:r>
              <a:t># Cukup simpan file (Ctrl + S) atau</a:t>
            </a:r>
            <a:br/>
            <a:r>
              <a:t># tekan huruf 'r' pada terminal untuk Hot Reload!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(slide_02_panduan_tools_dan_workflow.dart)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263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FILOSOFI DESAIN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Konsep Inti: 'Everything is a Widget'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Di Flutter, hampir SEMUA hal adalah WIDGET: teks, tombol, gambar, bahkan jarak spasi dan perataan layar.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Widget Kasat Mata: Text, ElevatedButton, Icon, Image.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Widget Tata Letak: Padding (jarak tepi), Center (ke tengah), SizedBox (kotak jarak).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Analogi Lego: Antarmuka aplikasi dirakit dengan menumpuk dan membungkus balok-balok kecil secara hierarkis.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Perhatikan bagaimana Center membungkus Padding, dan Padding membungkus Tombol!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balok_widget.dart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Contoh menyusun balok widget bertingkat:</a:t>
            </a:r>
            <a:br/>
            <a:r>
              <a:t>Widget build(BuildContext context) {</a:t>
            </a:r>
            <a:br/>
            <a:r>
              <a:t>  return Center(</a:t>
            </a:r>
            <a:br/>
            <a:r>
              <a:t>    child: Padding(</a:t>
            </a:r>
            <a:br/>
            <a:r>
              <a:t>      padding: const EdgeInsets.all(16.0),</a:t>
            </a:r>
            <a:br/>
            <a:r>
              <a:t>      child: ElevatedButton(</a:t>
            </a:r>
            <a:br/>
            <a:r>
              <a:t>        onPressed: () {},</a:t>
            </a:r>
            <a:br/>
            <a:r>
              <a:t>        child: const Text('Saya Adalah Balok Widget!'),</a:t>
            </a:r>
            <a:br/>
            <a:r>
              <a:t>      ),</a:t>
            </a:r>
            <a:br/>
            <a:r>
              <a:t>    ),</a:t>
            </a:r>
            <a:br/>
            <a:r>
              <a:t>  );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(slide_03_filosofi_everything_is_widget.dart)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1488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PONDASI KANVAS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Mengapa Wajib Ada MaterialApp &amp; Scaffold?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Karakteristik Kanvas: Jika menulis Text() tanpa pembungkus Scaffold/Material, teks akan bergaris bawah kuning ganda tanpa tema bawaan!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MaterialApp: Widget gerbang utama penyetel tema Material Design, arah teks (LTR), dan rute navigasi.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Scaffold: Kanvas dasar putih standar HP yang menyediakan slot AppBar, Body, FloatingActionButton, dan Drawer.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Anggap Scaffold seperti tiang tenda. Tanpa Scaffold, atap antarmuka Anda akan roboh!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main_scaffold.dart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import 'package:flutter/material.dart';</a:t>
            </a:r>
            <a:br/>
            <a:br/>
            <a:r>
              <a:t>void main() =&gt; runApp(const MyApp());</a:t>
            </a:r>
            <a:br/>
            <a:br/>
            <a:r>
              <a:t>class MyApp extends StatelessWidget {</a:t>
            </a:r>
            <a:br/>
            <a:r>
              <a:t>  const MyApp({super.key});</a:t>
            </a:r>
            <a:br/>
            <a:br/>
            <a:r>
              <a:t>  @override</a:t>
            </a:r>
            <a:br/>
            <a:r>
              <a:t>  Widget build(BuildContext context) {</a:t>
            </a:r>
            <a:br/>
            <a:r>
              <a:t>    return MaterialApp(</a:t>
            </a:r>
            <a:br/>
            <a:r>
              <a:t>      home: Scaffold(</a:t>
            </a:r>
            <a:br/>
            <a:r>
              <a:t>        appBar: AppBar(title: const Text('Beranda Kampus')),</a:t>
            </a:r>
            <a:br/>
            <a:r>
              <a:t>        body: const Center(child: Text('Halo Mahasiswa!')),</a:t>
            </a:r>
            <a:br/>
            <a:r>
              <a:t>      ),</a:t>
            </a:r>
            <a:br/>
            <a:r>
              <a:t>    );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(slide_04_materialapp_dan_scaffold.dart)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3774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3774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ARSITEKTUR RESMI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The Three Trees: Mengapa Hot Reload Sangat Cepat?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1. Widget Tree (Cetak Biru): Struktur konfigurasi deklaratif yang kita ketik. Sangat murah dan ringan dibuat ulang.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2. Element Tree (Manajer): Mempertahankan struktur pohon di memori dan mengikat state ke layar fisik.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3. RenderObject Tree (Tukang Gambar): Menghitung ukuran piksel fisik (layout) dan melukis warna ke kanvas GPU (paint).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Sitasi Resmi: flutter.dev/docs/resources/architectural-overview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Flutter hanya melukis ulang piksel yang berubah, bukan merombak seluruh layar ponsel!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arsitektur_tiga_pohon.dart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1. Yang kita tulis (Widget Tree - Sangat Ringan):</a:t>
            </a:r>
            <a:br/>
            <a:r>
              <a:t>Container(</a:t>
            </a:r>
            <a:br/>
            <a:r>
              <a:t>  width: 100,</a:t>
            </a:r>
            <a:br/>
            <a:r>
              <a:t>  height: 100,</a:t>
            </a:r>
            <a:br/>
            <a:r>
              <a:t>  color: Colors.amber,</a:t>
            </a:r>
            <a:br/>
            <a:r>
              <a:t>)</a:t>
            </a:r>
            <a:br/>
            <a:br/>
            <a:r>
              <a:t>// 2. Di belakang layar (Element Tree):</a:t>
            </a:r>
            <a:br/>
            <a:r>
              <a:t>// SingleChildRenderObjectElement menjaga siklus hidup.</a:t>
            </a:r>
            <a:br/>
            <a:br/>
            <a:r>
              <a:t>// 3. Di GPU fisik (RenderObject Tree):</a:t>
            </a:r>
            <a:br/>
            <a:r>
              <a:t>// RenderBox mengukur koordinat piksel &amp; melukis warna.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(slide_05_arsitektur_the_three_trees.dart)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6060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KLASIFIKASI WIDGET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Kapan Pakai Stateless vs Stateful?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StatelessWidget (Komponen Diam / Statis):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TIDAK PERNAH berubah tampilan setelah selesai digambar. Contoh: kartu profil statis, judul label, ikon. Sangat hemat baterai &amp; RAM!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StatefulWidget (Komponen Interaktif / Dinamis):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Bisa berubah wujud ketika pengguna menekan tombol, mengetik teks, atau data tiba dari server internet. Menggunakan setState().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Gunakan StatelessWidget secara default. Ubah ke Stateful HANYA jika datanya berubah di layar!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stateless_demo.dart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Contoh StatelessWidget (Statis &amp; Ringan):</a:t>
            </a:r>
            <a:br/>
            <a:r>
              <a:t>class KartuMahasiswa extends StatelessWidget {</a:t>
            </a:r>
            <a:br/>
            <a:r>
              <a:t>  final String nama;</a:t>
            </a:r>
            <a:br/>
            <a:r>
              <a:t>  final String nim;</a:t>
            </a:r>
            <a:br/>
            <a:r>
              <a:t>  const KartuMahasiswa({super.key, required this.nama, required this.nim});</a:t>
            </a:r>
            <a:br/>
            <a:br/>
            <a:r>
              <a:t>  @override</a:t>
            </a:r>
            <a:br/>
            <a:r>
              <a:t>  Widget build(BuildContext context) {</a:t>
            </a:r>
            <a:br/>
            <a:r>
              <a:t>    return Card(</a:t>
            </a:r>
            <a:br/>
            <a:r>
              <a:t>      child: ListTile(</a:t>
            </a:r>
            <a:br/>
            <a:r>
              <a:t>        leading: const Icon(Icons.badge),</a:t>
            </a:r>
            <a:br/>
            <a:r>
              <a:t>        title: Text(nama),</a:t>
            </a:r>
            <a:br/>
            <a:r>
              <a:t>        subtitle: Text(nim),</a:t>
            </a:r>
            <a:br/>
            <a:r>
              <a:t>      ),</a:t>
            </a:r>
            <a:br/>
            <a:r>
              <a:t>    );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(slide_06_stateless_vs_stateful.dart)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19202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19202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SIKLUS HIDUP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Tiga Fase Krusial Siklus Hidup StatefulWidget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1. initState(): Berjalan tepat 1 kali saat widget lahir. Tempat inisialisasi controller, timer, atau fetch data awal.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2. build(): Berjalan berulang kali setiap kali setState() dipanggil. Tugasnya murni merender tampilan visual.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3. dispose(): Berjalan saat halaman ditutup. Wajib membersihkan controller agar RAM HP tidak bocor (memory leak)!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Jangan pernah memanggil request API di method build(), selalu taruh di initState()!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lifecycle_demo.dart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class _FormPageState extends State&lt;FormPage&gt; {</a:t>
            </a:r>
            <a:br/>
            <a:r>
              <a:t>  late TextEditingController _namaCtrl;</a:t>
            </a:r>
            <a:br/>
            <a:br/>
            <a:r>
              <a:t>  @override</a:t>
            </a:r>
            <a:br/>
            <a:r>
              <a:t>  void initState() {</a:t>
            </a:r>
            <a:br/>
            <a:r>
              <a:t>    super.initState();</a:t>
            </a:r>
            <a:br/>
            <a:r>
              <a:t>    _namaCtrl = TextEditingController(); // 1. Lahir</a:t>
            </a:r>
            <a:br/>
            <a:r>
              <a:t>  }</a:t>
            </a:r>
            <a:br/>
            <a:br/>
            <a:r>
              <a:t>  @override</a:t>
            </a:r>
            <a:br/>
            <a:r>
              <a:t>  Widget build(BuildContext context) {</a:t>
            </a:r>
            <a:br/>
            <a:r>
              <a:t>    return TextField(controller: _namaCtrl); // 2. Tampil</a:t>
            </a:r>
            <a:br/>
            <a:r>
              <a:t>  }</a:t>
            </a:r>
            <a:br/>
            <a:br/>
            <a:r>
              <a:t>  @override</a:t>
            </a:r>
            <a:br/>
            <a:r>
              <a:t>  void dispose() {</a:t>
            </a:r>
            <a:br/>
            <a:r>
              <a:t>    _namaCtrl.dispose(); // 3. Bersihkan memori!</a:t>
            </a:r>
            <a:br/>
            <a:r>
              <a:t>    super.dispose();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(slide_07_siklus_hidup_stateful.dart)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3774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3774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HUKUM TATA LETAK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Hukum Emas: 'Constraints Down, Sizes Up'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Aturan Baku Mesin Tata Letak Flutter: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1. Batasan (Constraints) turun dari Induk ke Anak: Induk memberi tahu batas min/max lebar dan tinggi.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2. Ukuran (Sizes) naik dari Anak ke Induk: Anak memutuskan ukuran dirinya sendiri dalam koridor batas tersebut.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3. Induk menentukan Posisi (Position) Anak di bidang layar.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Jika sebuah tombol melebar memenuhi layar, periksa batasan yang diberikan oleh induknya!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box_constraints.dart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Induk (SizedBox) membatasi lebar MAKSIMAL 220px:</a:t>
            </a:r>
            <a:br/>
            <a:r>
              <a:t>SizedBox(</a:t>
            </a:r>
            <a:br/>
            <a:r>
              <a:t>  width: 220,</a:t>
            </a:r>
            <a:br/>
            <a:r>
              <a:t>  height: 50,</a:t>
            </a:r>
            <a:br/>
            <a:r>
              <a:t>  child: ElevatedButton(</a:t>
            </a:r>
            <a:br/>
            <a:r>
              <a:t>    onPressed: () {},</a:t>
            </a:r>
            <a:br/>
            <a:r>
              <a:t>    // Anak otomatis menyesuaikan ukuran dengan batas induk:</a:t>
            </a:r>
            <a:br/>
            <a:r>
              <a:t>    child: const Text('Tombol Pas 220px'),</a:t>
            </a:r>
            <a:br/>
            <a:r>
              <a:t>  ),</a:t>
            </a:r>
            <a:br/>
            <a:r>
              <a:t>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(slide_08_hukum_box_constraints.dart)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6060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ADAPTASI PERANGKAT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Penyelamat Layar Berponi: Widget 'SafeArea'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Smartphone modern memiliki kamera tompel (punch-hole), poni atas (notch), dan bilah navigasi gesture di bagian bawah.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Tanpa SafeArea, teks judul di pojok atas akan tertembus lensa kamera depan atau tertutup jam OS!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SafeArea secara pintar mendeteksi batas fisik layar ponsel dan otomatis menyisipkan bantalan (padding) pelindung.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Selalu bungkus konten body dengan SafeArea jika Anda tidak menggunakan AppBar bawaan!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safe_area_demo.dart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class LayarUtama extends StatelessWidget {</a:t>
            </a:r>
            <a:br/>
            <a:r>
              <a:t>  const LayarUtama({super.key});</a:t>
            </a:r>
            <a:br/>
            <a:br/>
            <a:r>
              <a:t>  @override</a:t>
            </a:r>
            <a:br/>
            <a:r>
              <a:t>  Widget build(BuildContext context) {</a:t>
            </a:r>
            <a:br/>
            <a:r>
              <a:t>    return const Scaffold(</a:t>
            </a:r>
            <a:br/>
            <a:r>
              <a:t>      // Bungkus body dengan SafeArea agar aman dari poni HP:</a:t>
            </a:r>
            <a:br/>
            <a:r>
              <a:t>      body: SafeArea(</a:t>
            </a:r>
            <a:br/>
            <a:r>
              <a:t>        child: Text(</a:t>
            </a:r>
            <a:br/>
            <a:r>
              <a:t>          'Teks ini aman dari lubang kamera!',</a:t>
            </a:r>
            <a:br/>
            <a:r>
              <a:t>          style: TextStyle(fontSize: 18),</a:t>
            </a:r>
            <a:br/>
            <a:r>
              <a:t>        ),</a:t>
            </a:r>
            <a:br/>
            <a:r>
              <a:t>      ),</a:t>
            </a:r>
            <a:br/>
            <a:r>
              <a:t>    );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(slide_09_penyelamat_layar_safearea.dart)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7203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7203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7203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SINGLE-CHILD LAYOUT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Container, Padding, &amp; Center: Kapan Dipakai?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Center: Menaruh widget anak tepat di titik tengah ruang yang tersedia.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Padding: Hanya memberi jarak rongga tepi tanpa dekorasi tambahan (lebih hemat komputasi dibanding Container).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Container: Kotak bungkus multifungsi untuk memberi margin, padding, warna latar, border tebal, dan bayangan.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Jangan gunakan Container jika Anda hanya butuh jarak spasi kosong, gunakan Padding atau SizedBox!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single_child_demo.dart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Gunakan Padding jika hanya butuh jarak tepi:</a:t>
            </a:r>
            <a:br/>
            <a:r>
              <a:t>const Padding(</a:t>
            </a:r>
            <a:br/>
            <a:r>
              <a:t>  padding: EdgeInsets.symmetric(horizontal: 16.0),</a:t>
            </a:r>
            <a:br/>
            <a:r>
              <a:t>  child: Text('Teks dengan margin samping'),</a:t>
            </a:r>
            <a:br/>
            <a:r>
              <a:t>);</a:t>
            </a:r>
            <a:br/>
            <a:br/>
            <a:r>
              <a:t>// Gunakan Container jika butuh dekorasi fisik:</a:t>
            </a:r>
            <a:br/>
            <a:r>
              <a:t>Container(</a:t>
            </a:r>
            <a:br/>
            <a:r>
              <a:t>  padding: const EdgeInsets.all(12),</a:t>
            </a:r>
            <a:br/>
            <a:r>
              <a:t>  decoration: BoxDecoration(</a:t>
            </a:r>
            <a:br/>
            <a:r>
              <a:t>    color: Colors.white,</a:t>
            </a:r>
            <a:br/>
            <a:r>
              <a:t>    border: Border.all(color: Colors.black, width: 2),</a:t>
            </a:r>
            <a:br/>
            <a:r>
              <a:t>  ),</a:t>
            </a:r>
            <a:br/>
            <a:r>
              <a:t>  child: const Text('Kotak Berbingkai'),</a:t>
            </a:r>
            <a:br/>
            <a:r>
              <a:t>);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(slide_10_single_child_layout.dart)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1775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1775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1775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ANALISIS KESALAHAN UMUM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Kesalahan Umum: 'Cannot provide both a color and a decoration'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Penyebab Galat Tata Letak Paling Sering Terjadi di Praktikum!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Penyebab: Menulis properti 'color:' langsung di Container SEKALIGUS memakai 'decoration: BoxDecoration()'.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Aturan Emas: Jika Anda menggunakan BoxDecoration, properti warna WAJIB dipindahkan ke dalam BoxDecoration(color: ...).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Ingat rumusnya: Begitu ada BoxDecoration, warna di luar wajib dicoret dan dipindah ke dalam!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box_decoration_fix.dart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❌ SALAH (CRASH LAYAR MERAH):</a:t>
            </a:r>
            <a:br/>
            <a:r>
              <a:t>// Container(</a:t>
            </a:r>
            <a:br/>
            <a:r>
              <a:t>//   color: Colors.amber,</a:t>
            </a:r>
            <a:br/>
            <a:r>
              <a:t>//   decoration: BoxDecoration(border: Border.all()),</a:t>
            </a:r>
            <a:br/>
            <a:r>
              <a:t>// )</a:t>
            </a:r>
            <a:br/>
            <a:br/>
            <a:r>
              <a:t>// ✅ BENAR (GAYA NEO-BRUTALISM RAPI):</a:t>
            </a:r>
            <a:br/>
            <a:r>
              <a:t>Container(</a:t>
            </a:r>
            <a:br/>
            <a:r>
              <a:t>  padding: const EdgeInsets.all(16),</a:t>
            </a:r>
            <a:br/>
            <a:r>
              <a:t>  decoration: BoxDecoration(</a:t>
            </a:r>
            <a:br/>
            <a:r>
              <a:t>    color: const Color(0xFFFFE600), // Warna DI DALAM!</a:t>
            </a:r>
            <a:br/>
            <a:r>
              <a:t>    border: Border.all(color: Colors.black, width: 2.5),</a:t>
            </a:r>
            <a:br/>
            <a:r>
              <a:t>  ),</a:t>
            </a:r>
            <a:br/>
            <a:r>
              <a:t>  child: const Text('Kotak Siku Neo-Brutalism Bersih!'),</a:t>
            </a:r>
            <a:br/>
            <a:r>
              <a:t>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(slide_11_jebakan_color_vs_decoration.dart)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6060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MULTI-CHILD LAYOUT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Row (Mendatar) vs Column (Menurun)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Row: Menyusun daftar widget secara mendatar ke samping (sumbu utama = X horizontal).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Column: Menyusun daftar widget secara menurun ke bawah (sumbu utama = Y vertikal).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MainAxisAlignment: Mengatur jarak distribusi di sumbu utama (start, center, spaceBetween).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CrossAxisAlignment: Mengatur perataan di sumbu silang (start, center, stretch).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Gunakan MainAxisAlignment.spaceBetween untuk memisahkan judul di kiri dan aksi di kanan!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row_column_demo.dart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Baris profil: Ikon di kiri, Teks di tengah, Tombol di kanan</a:t>
            </a:r>
            <a:br/>
            <a:r>
              <a:t>Row(</a:t>
            </a:r>
            <a:br/>
            <a:r>
              <a:t>  mainAxisAlignment: MainAxisAlignment.spaceBetween,</a:t>
            </a:r>
            <a:br/>
            <a:r>
              <a:t>  crossAxisAlignment: CrossAxisAlignment.center,</a:t>
            </a:r>
            <a:br/>
            <a:r>
              <a:t>  children: const [</a:t>
            </a:r>
            <a:br/>
            <a:r>
              <a:t>    Icon(Icons.account_circle, size: 40),</a:t>
            </a:r>
            <a:br/>
            <a:r>
              <a:t>    Text('Ahmad Fauzi', style: TextStyle(fontSize: 16)),</a:t>
            </a:r>
            <a:br/>
            <a:r>
              <a:t>    Icon(Icons.chevron_right),</a:t>
            </a:r>
            <a:br/>
            <a:r>
              <a:t>  ],</a:t>
            </a:r>
            <a:br/>
            <a:r>
              <a:t>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(slide_12_multi_child_row_column.dart)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263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MANAJEMEN SPASI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Tiga Saudara Spasi: Kapan Memakai yang Mana?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1. SizedBox(width/height: 12): Memberikan jarak renggang statis tetap (ibarat ketukan spasi biasa).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2. Spacer(): Pegas pendorong kosong yang memisahkan widget hingga ke ujung berlawanan.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3. Expanded(child: ...): BUKAN ruang kosong, melainkan MEMBUNGKUS WIDGET agar ukurannya lentur mengisi sisa ruang.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Gunakan Spacer() saat Anda butuh tombol 'Lihat Semua' menempel tepat di pojok kanan layar!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spasi_demo.dart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Row(</a:t>
            </a:r>
            <a:br/>
            <a:r>
              <a:t>  children: const [</a:t>
            </a:r>
            <a:br/>
            <a:r>
              <a:t>    Text('Saldo Dompet'),</a:t>
            </a:r>
            <a:br/>
            <a:r>
              <a:t>    SizedBox(width: 8), // 1. Jarak statis 8px</a:t>
            </a:r>
            <a:br/>
            <a:r>
              <a:t>    Icon(Icons.wallet, color: Colors.green),</a:t>
            </a:r>
            <a:br/>
            <a:r>
              <a:t>    Spacer(),           // 2. Pegas dorong ke ujung kanan!</a:t>
            </a:r>
            <a:br/>
            <a:r>
              <a:t>    Text('Rp 150.000', style: TextStyle(fontWeight: FontWeight.bold)),</a:t>
            </a:r>
            <a:br/>
            <a:r>
              <a:t>  ],</a:t>
            </a:r>
            <a:br/>
            <a:r>
              <a:t>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(slide_13_trik_spasi_sizedbox_spacer.dart)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8346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8346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FLEKSIBILITAS UKURAN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Flexible vs Expanded: Ketat vs Longgar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Banyak mahasiswa bingung membedakan Flexible dan Expanded.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Expanded (Ketat / Tight): Memaksa widget anak MENGISI SELURUH sisa ruang yang ada tanpa ampun.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Flexible (Longgar / Loose): Mengizinkan widget anak menyesuaikan diri sesuai ukuran aslinya, maksimal sebesar sisa ruang.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Fakta Menarik: Expanded sejatinya adalah Flexible(fit: FlexFit.tight).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Gunakan Expanded jika Anda ingin tombol atau kartu memenuhi seluruh lebar yang tersisa!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flexible_vs_expanded.dart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Row(</a:t>
            </a:r>
            <a:br/>
            <a:r>
              <a:t>  children: [</a:t>
            </a:r>
            <a:br/>
            <a:r>
              <a:t>    // 1. Flexible: Kotak hanya selebar teksnya saja</a:t>
            </a:r>
            <a:br/>
            <a:r>
              <a:t>    Flexible(</a:t>
            </a:r>
            <a:br/>
            <a:r>
              <a:t>      fit: FlexFit.loose,</a:t>
            </a:r>
            <a:br/>
            <a:r>
              <a:t>      child: Container(color: Colors.blue, child: const Text('Pendek')),</a:t>
            </a:r>
            <a:br/>
            <a:r>
              <a:t>    ),</a:t>
            </a:r>
            <a:br/>
            <a:r>
              <a:t>    // 2. Expanded: Kotak mengisi seluruh sisa layar yang ada!</a:t>
            </a:r>
            <a:br/>
            <a:r>
              <a:t>    Expanded(</a:t>
            </a:r>
            <a:br/>
            <a:r>
              <a:t>      child: Container(color: Colors.green, child: const Text('Penuh')),</a:t>
            </a:r>
            <a:br/>
            <a:r>
              <a:t>    ),</a:t>
            </a:r>
            <a:br/>
            <a:r>
              <a:t>  ],</a:t>
            </a:r>
            <a:br/>
            <a:r>
              <a:t>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(slide_14_flexible_vs_expanded.dart)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7203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7203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7203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TATA LETAK MENUMPUK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Stack &amp; Positioned: Layering Ala Photoshop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Row dan Column menyusun elemen bersebelahan (tidak bisa saling menindih).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Stack menyusun widget secara bertumpuk dari lapisan paling belakang ke paling depan.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Widget Positioned: Menempelkan elemen anak persis pada koordinat piksel tertentu (top, right, bottom, left) di dalam Stack.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Sangat ideal untuk membuat badge diskon toko online atau avatar dengan lampu hijau status online!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stack_positioned_demo.dart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Stack(</a:t>
            </a:r>
            <a:br/>
            <a:r>
              <a:t>  children: [</a:t>
            </a:r>
            <a:br/>
            <a:r>
              <a:t>    // Lapisan 1 (Bawah): Ikon Lonceng</a:t>
            </a:r>
            <a:br/>
            <a:r>
              <a:t>    IconButton(icon: const Icon(Icons.notifications, size: 36), onPressed: () {}),</a:t>
            </a:r>
            <a:br/>
            <a:r>
              <a:t>    // Lapisan 2 (Atas): Stiker Merah Menempel di Pojok Kanan</a:t>
            </a:r>
            <a:br/>
            <a:r>
              <a:t>    Positioned(</a:t>
            </a:r>
            <a:br/>
            <a:r>
              <a:t>      top: 4,</a:t>
            </a:r>
            <a:br/>
            <a:r>
              <a:t>      right: 4,</a:t>
            </a:r>
            <a:br/>
            <a:r>
              <a:t>      child: Container(</a:t>
            </a:r>
            <a:br/>
            <a:r>
              <a:t>        padding: const EdgeInsets.symmetric(horizontal: 5, vertical: 2),</a:t>
            </a:r>
            <a:br/>
            <a:r>
              <a:t>        color: Colors.red,</a:t>
            </a:r>
            <a:br/>
            <a:r>
              <a:t>        child: const Text('9+', style: TextStyle(color: Colors.white, fontSize: 10)),</a:t>
            </a:r>
            <a:br/>
            <a:r>
              <a:t>      ),</a:t>
            </a:r>
            <a:br/>
            <a:r>
              <a:t>    ),</a:t>
            </a:r>
            <a:br/>
            <a:r>
              <a:t>  ],</a:t>
            </a:r>
            <a:br/>
            <a:r>
              <a:t>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(slide_15_layout_menumpuk_stack.dart)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0632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0632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063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PEMECAH BARIS OTOMATIS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Widget 'Wrap': Penyelamat Tag &amp; Kategori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Masalah: Anda memiliki 6 tombol filter kategori. Jika ditaruh di dalam Row, layar pasti overflow ke kanan!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Solusi: Gunakan widget Wrap.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Wrap otomatis menurunkan elemen ke baris baru di bawahnya jika sudah tidak muat di layar (seperti teks di Word).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spacing: Jarak mendatar antar chip. runSpacing: Jarak vertikal antar baris.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Gunakan Wrap saat membuat tag topik, hashtag, atau filter kategori yang jumlahnya tidak pasti!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wrap_chip_demo.dart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Wrap(</a:t>
            </a:r>
            <a:br/>
            <a:r>
              <a:t>  spacing: 8.0,     // Jarak horizontal antar tag</a:t>
            </a:r>
            <a:br/>
            <a:r>
              <a:t>  runSpacing: 4.0,  // Jarak vertikal jika ganti baris</a:t>
            </a:r>
            <a:br/>
            <a:r>
              <a:t>  children: const [</a:t>
            </a:r>
            <a:br/>
            <a:r>
              <a:t>    Chip(label: Text('Flutter')),</a:t>
            </a:r>
            <a:br/>
            <a:r>
              <a:t>    Chip(label: Text('Dart')),</a:t>
            </a:r>
            <a:br/>
            <a:r>
              <a:t>    Chip(label: Text('Clean Architecture')),</a:t>
            </a:r>
            <a:br/>
            <a:r>
              <a:t>    Chip(label: Text('State Management')),</a:t>
            </a:r>
            <a:br/>
            <a:r>
              <a:t>    Chip(label: Text('Material 3')),</a:t>
            </a:r>
            <a:br/>
            <a:r>
              <a:t>  ],</a:t>
            </a:r>
            <a:br/>
            <a:r>
              <a:t>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(slide_16_penyelamat_kategori_wrap.dart)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263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HALAMAN GULIR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SingleChildScrollView: Anti Layar Macet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Secara bawaan, Column TIDAK BISA DIGULIR (statis). Jika isi formulir melebihi panjang layar, aplikasi akan langsung error!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Saat keyboard virtual HP muncul untuk mengetik, tinggi layar menyusut drastis.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Solusi Mudah: Bungkus Column Anda dengan SingleChildScrollView agar layar dapat digeser naik-turun dengan mulus.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Selalu bungkus halaman formulir input dengan SingleChildScrollView!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scrollview_form.dart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class FormPendaftaran extends StatelessWidget {</a:t>
            </a:r>
            <a:br/>
            <a:r>
              <a:t>  const FormPendaftaran({super.key});</a:t>
            </a:r>
            <a:br/>
            <a:br/>
            <a:r>
              <a:t>  @override</a:t>
            </a:r>
            <a:br/>
            <a:r>
              <a:t>  Widget build(BuildContext context) {</a:t>
            </a:r>
            <a:br/>
            <a:r>
              <a:t>    return Scaffold(</a:t>
            </a:r>
            <a:br/>
            <a:r>
              <a:t>      // Bungkus Column agar aman saat keyboard HP muncul:</a:t>
            </a:r>
            <a:br/>
            <a:r>
              <a:t>      body: SingleChildScrollView(</a:t>
            </a:r>
            <a:br/>
            <a:r>
              <a:t>        padding: const EdgeInsets.all(16),</a:t>
            </a:r>
            <a:br/>
            <a:r>
              <a:t>        child: Column(</a:t>
            </a:r>
            <a:br/>
            <a:r>
              <a:t>          children: const [</a:t>
            </a:r>
            <a:br/>
            <a:r>
              <a:t>            TextField(decoration: InputDecoration(labelText: 'Nama')),</a:t>
            </a:r>
            <a:br/>
            <a:r>
              <a:t>            SizedBox(height: 16),</a:t>
            </a:r>
            <a:br/>
            <a:r>
              <a:t>            TextField(decoration: InputDecoration(labelText: 'NIM')),</a:t>
            </a:r>
            <a:br/>
            <a:r>
              <a:t>            SizedBox(height: 16),</a:t>
            </a:r>
            <a:br/>
            <a:r>
              <a:t>            TextField(decoration: InputDecoration(labelText: 'Alamat')),</a:t>
            </a:r>
            <a:br/>
            <a:r>
              <a:t>          ],</a:t>
            </a:r>
            <a:br/>
            <a:r>
              <a:t>        ),</a:t>
            </a:r>
            <a:br/>
            <a:r>
              <a:t>      ),</a:t>
            </a:r>
            <a:br/>
            <a:r>
              <a:t>    );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(slide_17_scrollable_singlechildscrollview.dart)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263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HALAMAN GULIR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ListView.builder: Rahasia Performa 10.000 Data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Bahaya Column / ListView biasa: Me-render SEMUA data sekaligus ke memori RAM -&gt; HP panas dan seketika crash (Out Of Memory)!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ListView.builder menerapkan 'Lazy Loading' (Hanya Menggambar yang Tampak).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Item yang digulir keluar layar akan dihancurkan, dan widget baru dirakit secara *on-demand*. RAM tetap dingin di 60-120 FPS!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Gunakan ListTile di dalam ListView.builder untuk membuat baris daftar berstandar industri!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listview_builder_demo.dart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Ringan dan hemat memori meski ada 10.000 baris data:</a:t>
            </a:r>
            <a:br/>
            <a:r>
              <a:t>ListView.builder(</a:t>
            </a:r>
            <a:br/>
            <a:r>
              <a:t>  itemCount: 10000,</a:t>
            </a:r>
            <a:br/>
            <a:r>
              <a:t>  itemBuilder: (context, index) {</a:t>
            </a:r>
            <a:br/>
            <a:r>
              <a:t>    return ListTile(</a:t>
            </a:r>
            <a:br/>
            <a:r>
              <a:t>      leading: CircleAvatar(child: Text('${index + 1}')),</a:t>
            </a:r>
            <a:br/>
            <a:r>
              <a:t>      title: Text('Data Mahasiswa #${index + 1}'),</a:t>
            </a:r>
            <a:br/>
            <a:r>
              <a:t>      subtitle: const Text('Teknik Informatika angkatan 2026'),</a:t>
            </a:r>
            <a:br/>
            <a:r>
              <a:t>      trailing: const Icon(Icons.verified, color: Colors.blue),</a:t>
            </a:r>
            <a:br/>
            <a:r>
              <a:t>    );</a:t>
            </a:r>
            <a:br/>
            <a:r>
              <a:t>  },</a:t>
            </a:r>
            <a:br/>
            <a:r>
              <a:t>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(slide_18_scrollable_listview_builder.dart)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263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HALAMAN GULIR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GridView.builder: Katalog Produk Multi-Kolom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Bagaimana membuat katalog produk atau menu ubin 2 kolom ala e-commerce?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Gunakan GridView.builder dengan SliverGridDelegateWithFixedCrossAxisCount.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crossAxisCount: Jumlah kolom (misal: 2 kolom).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crossAxisSpacing &amp; mainAxisSpacing: Jarak celah antar ubin kotak.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childAspectRatio: Rasio lebar banding tinggi (misal 0.85 untuk proporsi kartu rapi).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Jangan menghitung lebar kotak secara manual dengan MediaQuery jika bisa pakai GridView!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gridview_builder_demo.dart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GridView.builder(</a:t>
            </a:r>
            <a:br/>
            <a:r>
              <a:t>  itemCount: 20,</a:t>
            </a:r>
            <a:br/>
            <a:r>
              <a:t>  gridDelegate: const SliverGridDelegateWithFixedCrossAxisCount(</a:t>
            </a:r>
            <a:br/>
            <a:r>
              <a:t>    crossAxisCount: 2,        // 2 Kolom sejajar</a:t>
            </a:r>
            <a:br/>
            <a:r>
              <a:t>    crossAxisSpacing: 10,     // Celah horizontal</a:t>
            </a:r>
            <a:br/>
            <a:r>
              <a:t>    mainAxisSpacing: 10,      // Celah vertikal</a:t>
            </a:r>
            <a:br/>
            <a:r>
              <a:t>    childAspectRatio: 0.85,   // Proporsi kartu</a:t>
            </a:r>
            <a:br/>
            <a:r>
              <a:t>  ),</a:t>
            </a:r>
            <a:br/>
            <a:r>
              <a:t>  itemBuilder: (context, index) {</a:t>
            </a:r>
            <a:br/>
            <a:r>
              <a:t>    return Card(</a:t>
            </a:r>
            <a:br/>
            <a:r>
              <a:t>      color: Colors.amber[100],</a:t>
            </a:r>
            <a:br/>
            <a:r>
              <a:t>      child: Center(child: Text('Produk #${index + 1}')),</a:t>
            </a:r>
            <a:br/>
            <a:r>
              <a:t>    );</a:t>
            </a:r>
            <a:br/>
            <a:r>
              <a:t>  },</a:t>
            </a:r>
            <a:br/>
            <a:r>
              <a:t>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(slide_19_scrollable_gridview_builder.dart)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7203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7203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7203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PEMECAHAN MASALAH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Mengatasi Galat Tampilan Garis Kuning-Hitam (Overflow)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Pernah melihat garis polisi belang kuning-hitam bertuliskan 'A RenderFlex overflowed by 48 pixels'?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Penyebab: Teks atau gambar di dalam Row/Column melebihi batas piksel fisik layar ponsel pengguna.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Jurus Penyelamat: Bungkus widget teks dengan Expanded() dan pasang overflow: TextOverflow.ellipsis.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Di dalam Row, jangan biarkan Text berdiri sendiri tanpa perlindungan Expanded jika isinya dinamis!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solusi_overflow.dart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Row(</a:t>
            </a:r>
            <a:br/>
            <a:r>
              <a:t>  children: const [</a:t>
            </a:r>
            <a:br/>
            <a:r>
              <a:t>    Icon(Icons.announcement, color: Colors.red),</a:t>
            </a:r>
            <a:br/>
            <a:r>
              <a:t>    SizedBox(width: 8),</a:t>
            </a:r>
            <a:br/>
            <a:r>
              <a:t>    // Expanded memastikan teks panjang tidak menabrak batas layar:</a:t>
            </a:r>
            <a:br/>
            <a:r>
              <a:t>    Expanded(</a:t>
            </a:r>
            <a:br/>
            <a:r>
              <a:t>      child: Text(</a:t>
            </a:r>
            <a:br/>
            <a:r>
              <a:t>        'Pengumuman Beasiswa Prestasi Mahasiswa Informatika 2026',</a:t>
            </a:r>
            <a:br/>
            <a:r>
              <a:t>        maxLines: 1,</a:t>
            </a:r>
            <a:br/>
            <a:r>
              <a:t>        overflow: TextOverflow.ellipsis, // Terpotong anggun '...'</a:t>
            </a:r>
            <a:br/>
            <a:r>
              <a:t>      ),</a:t>
            </a:r>
            <a:br/>
            <a:r>
              <a:t>    ),</a:t>
            </a:r>
            <a:br/>
            <a:r>
              <a:t>  ],</a:t>
            </a:r>
            <a:br/>
            <a:r>
              <a:t>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(slide_20_solusi_renderflex_overflow.dart)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7203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7203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7203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PEMECAHAN MASALAH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Mengatasi Galat: 'Vertical viewport was given unbounded height'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Penyebab: Memasukkan ListView langsung ke dalam Column tanpa batas tinggi yang jelas.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Mengapa Crash? Column ingin tahu tinggi pasti anaknya, sedangkan ListView ingin memanjang tanpa batas hingga tak terhingga!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Solusi Jurus 1: Bungkus ListView dengan Expanded() agar ia mengisi sisa ruang yang tersedia di layar.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Solusi Jurus 2: Tambahkan shrinkWrap: true jika datanya hanya sedikit.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Ingat rumusnya: ListView di dalam Column WAJIB dibungkus Expanded!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unbounded_height_fix.dart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Column(</a:t>
            </a:r>
            <a:br/>
            <a:r>
              <a:t>  children: [</a:t>
            </a:r>
            <a:br/>
            <a:r>
              <a:t>    const Text('Daftar Mahasiswa Berprestasi', style: TextStyle(fontSize: 20)),</a:t>
            </a:r>
            <a:br/>
            <a:r>
              <a:t>    const Divider(),</a:t>
            </a:r>
            <a:br/>
            <a:r>
              <a:t>    // ❌ ListView tanpa pembungkus di dalam Column = CRASH!</a:t>
            </a:r>
            <a:br/>
            <a:r>
              <a:t>    // ✅ BUNGKUS DENGAN EXPANDED:</a:t>
            </a:r>
            <a:br/>
            <a:r>
              <a:t>    Expanded(</a:t>
            </a:r>
            <a:br/>
            <a:r>
              <a:t>      child: ListView.builder(</a:t>
            </a:r>
            <a:br/>
            <a:r>
              <a:t>        itemCount: 10,</a:t>
            </a:r>
            <a:br/>
            <a:r>
              <a:t>        itemBuilder: (context, i) =&gt; ListTile(title: Text('Juara ${i + 1}')),</a:t>
            </a:r>
            <a:br/>
            <a:r>
              <a:t>      ),</a:t>
            </a:r>
            <a:br/>
            <a:r>
              <a:t>    ),</a:t>
            </a:r>
            <a:br/>
            <a:r>
              <a:t>  ],</a:t>
            </a:r>
            <a:br/>
            <a:r>
              <a:t>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(slide_21_solusi_unbounded_height.dart)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0632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0632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063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RAHASIA KODING CEPAT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Standar Format Kode: 'Trailing Comma' &amp; Auto-Format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Apakah kode Flutter Anda sering memanjang ke kanan dan sulit dibaca dalam satu baris?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Rahasia Senior Flutter: Selalu akhiri setiap kurung tutup dengan TANDA KOMA ','.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Setelah pasang koma, cukup tekan Ctrl + S (Save). VS Code akan seketika merapikan kode secara vertikal berjenjang yang sangat indah!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Struktur hierarki pohon widget menjadi rapi otomatis tanpa perlu mencari kurung penutup secara manual.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Pasang koma di ujung widget, lalu tekan Ctrl + S. Kode Anda langsung rapi otomatis!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trailing_comma_demo.dart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❌ KODE KOTOR TANPA KOMA (SULIT DIBACA):</a:t>
            </a:r>
            <a:br/>
            <a:r>
              <a:t>// Center(child: Padding(padding: EdgeInsets.all(8), child: Text('Halo')));</a:t>
            </a:r>
            <a:br/>
            <a:br/>
            <a:r>
              <a:t>// ✅ DENGAN KOMA DI SETIAP UJUNG + SIMPAN (Ctrl + S):</a:t>
            </a:r>
            <a:br/>
            <a:r>
              <a:t>Center(</a:t>
            </a:r>
            <a:br/>
            <a:r>
              <a:t>  child: Padding(</a:t>
            </a:r>
            <a:br/>
            <a:r>
              <a:t>    padding: const EdgeInsets.all(8.0),</a:t>
            </a:r>
            <a:br/>
            <a:r>
              <a:t>    child: const Text(</a:t>
            </a:r>
            <a:br/>
            <a:r>
              <a:t>      'Halo Mahasiswa Informatika!',</a:t>
            </a:r>
            <a:br/>
            <a:r>
              <a:t>      style: TextStyle(fontSize: 16),</a:t>
            </a:r>
            <a:br/>
            <a:r>
              <a:t>    ), // &lt;- Ada koma</a:t>
            </a:r>
            <a:br/>
            <a:r>
              <a:t>  ), // &lt;- Ada koma</a:t>
            </a:r>
            <a:br/>
            <a:r>
              <a:t>) // &lt;- Ada koma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(slide_22_trik_koma_ajaib_trailing.dart)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0632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0632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063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RAHASIA KODING CEPAT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Pintasan Produktivitas: Alt + Enter &amp; Flutter Inspector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1. Shortcut 'Alt + Enter' (Quick Assist): Klik nama widget, tekan Alt + Enter, pilih 'Wrap with Padding' atau 'Wrap with Column'.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2. Flutter Inspector (Penglihatan X-Ray): Buka tab Flutter Inspector di VS Code.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Klik tombol 'Toggle Debug Paint' untuk melihat garis tepi biru dan padding hijau langsung di layar smartphone Anda!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Klik elemen di layar HP, VS Code akan otomatis melompat ke baris kode terkait.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Gunakan 'Toggle Debug Paint' di Flutter Inspector saat mencari letak sumber overflow!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shortcut_refactor.dart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Sebelum refactor:</a:t>
            </a:r>
            <a:br/>
            <a:r>
              <a:t>Text('Halo Mahasiswa Informatika');</a:t>
            </a:r>
            <a:br/>
            <a:br/>
            <a:r>
              <a:t>// Langkah:</a:t>
            </a:r>
            <a:br/>
            <a:r>
              <a:t>// 1. Klik kata 'Text'</a:t>
            </a:r>
            <a:br/>
            <a:r>
              <a:t>// 2. Tekan Alt + Enter (atau Cmd + . di MacOS)</a:t>
            </a:r>
            <a:br/>
            <a:r>
              <a:t>// 3. Pilih 'Wrap with Padding'</a:t>
            </a:r>
            <a:br/>
            <a:br/>
            <a:r>
              <a:t>// Hasil instan dalam 0.2 detik tanpa salah kurung:</a:t>
            </a:r>
            <a:br/>
            <a:r>
              <a:t>Padding(</a:t>
            </a:r>
            <a:br/>
            <a:r>
              <a:t>  padding: const EdgeInsets.all(8.0),</a:t>
            </a:r>
            <a:br/>
            <a:r>
              <a:t>  child: Text('Halo Mahasiswa Informatika'),</a:t>
            </a:r>
            <a:br/>
            <a:r>
              <a:t>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(slide_23_shortcut_refactor_inspector.dart)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491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LAB QUEST MANDIRI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Pertemuan 03: Membangun KTM Digital &amp; Grid Menu Kampus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1054577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10545775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10545775" cy="475488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691640"/>
            <a:ext cx="9966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000000"/>
                </a:solidFill>
                <a:latin typeface="Segoe UI"/>
              </a:defRPr>
            </a:pPr>
            <a:r>
              <a:t>⏱️ ALOKASI: 60 MENIT  ■  TARGET UJI: BROWSER CHROME ATAU SMARTPHONE FISIK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194560"/>
            <a:ext cx="9784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00000"/>
                </a:solidFill>
                <a:latin typeface="Segoe UI"/>
              </a:defRPr>
            </a:pPr>
            <a:r>
              <a:t>LANGKAH KERJA &amp; SPESIFIKASI TUGAS: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Buka proyek Flutter di VS Code dan jalankan target Google Chrome ('flutter run -d chrome') atau smartphone via USB.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Gunakan 'SafeArea' pada body Scaffold agar antarmuka tidak terpotong lubang kamera ponsel.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Buat Kartu KTM Digital menggunakan Container berlatar warna kuning (#FFE600), border hitam 2.5px siku-siku, dan avatar foto.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Gunakan 'Stack &amp; Positioned' untuk menaruh badge stiker: 'AKTIF 2026' di pojok kanan atas kartu KTM.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Bungkus nama mahasiswa dengan 'Expanded' + 'TextOverflow.ellipsis' agar nama panjang tidak memicu garis belang overflow!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Gunakan 'Wrap' untuk menampilkan daftar 3 keahlian minat (Skill Chips) di bawah nama mahasiswa.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Di bawah KTM, gunakan 'GridView.builder' (2 kolom) untuk menampilkan 4 ubin menu: KHS, KRS, Jadwal, dan Presensi.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Praktikkan trik 'Trailing Comma' dan shortcut 'Alt + Enter' di VS Code agar kode bersih tanpa bracket hell.</a:t>
            </a:r>
          </a:p>
          <a:p>
            <a:pPr>
              <a:defRPr sz="1080" b="1">
                <a:solidFill>
                  <a:srgbClr val="0A6428"/>
                </a:solidFill>
                <a:latin typeface="Segoe UI"/>
              </a:defRPr>
            </a:pPr>
            <a:r>
              <a:t>🎯 TARGET SELESAI: Tunjukkan kartu KTM Digital + Grid Menu di layar monitor/HP. Bebas 100% dari garis belang overflow dan rapi di bawah SafeArea!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25296" y="5632704"/>
            <a:ext cx="9784080" cy="56692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88720" y="5596128"/>
            <a:ext cx="9784080" cy="566928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5623560"/>
            <a:ext cx="956462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00000"/>
                </a:solidFill>
                <a:latin typeface="Segoe UI"/>
                <a:hlinkClick r:id="rId2"/>
              </a:rPr>
              <a:t>▶ BUKA KODE SOLUSI LENGKAP LAB QUEST DI GITHUB (slide_24_lab_quest_dashboard_profil.dart)</a:t>
            </a:r>
          </a:p>
          <a:p>
            <a:pPr>
              <a:defRPr sz="830">
                <a:solidFill>
                  <a:srgbClr val="323232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