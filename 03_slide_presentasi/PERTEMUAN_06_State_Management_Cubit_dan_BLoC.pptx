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10728655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18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EA5E9"/>
                </a:solidFill>
                <a:latin typeface="Segoe UI"/>
              </a:defRPr>
            </a:pPr>
            <a:r>
              <a:t>IF3205 • PEMROGRAMAN PIRANTI BERGERAK • PERTEMUAN 06</a:t>
            </a:r>
          </a:p>
          <a:p>
            <a:pPr>
              <a:spcAft>
                <a:spcPts val="1600"/>
              </a:spcAft>
              <a:defRPr sz="3600" b="1">
                <a:solidFill>
                  <a:srgbClr val="F8FAFC"/>
                </a:solidFill>
                <a:latin typeface="Segoe UI"/>
              </a:defRPr>
            </a:pPr>
            <a:r>
              <a:t>Mastering State in Flutter:</a:t>
            </a:r>
            <a:br/>
            <a:r>
              <a:t>From setState to Scalable Cubit Architecture</a:t>
            </a:r>
          </a:p>
          <a:p>
            <a:pPr>
              <a:spcAft>
                <a:spcPts val="36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Membedah kelemahan prop-drilling, konsep pemrograman reaktif, dan implementasi state management standar enterprise.</a:t>
            </a:r>
          </a:p>
          <a:p>
            <a:pPr>
              <a:defRPr sz="1200">
                <a:solidFill>
                  <a:srgbClr val="6366F1"/>
                </a:solidFill>
                <a:latin typeface="Segoe UI"/>
              </a:defRPr>
            </a:pPr>
            <a:r>
              <a:t>Teknik Informatika • Outcome-Based Education • Standar Rekayasa Industri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STATE DILEMA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Mengapa 'setState()' Menjadi Musuh Utama Aplikasi Berskala Besar?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621792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43F5E"/>
                </a:solidFill>
                <a:latin typeface="Segoe UI"/>
              </a:defRPr>
            </a:pPr>
            <a:r>
              <a:t>🔥 Masalah Nyata: Bagaimana mengupdate angka badge keranjang belanja di AppBar saat tombol ditekan di halaman detail?</a:t>
            </a:r>
          </a:p>
          <a:p>
            <a:pPr>
              <a:spcAft>
                <a:spcPts val="10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Prop Drilling: Harus mengoper fungsi callback melewati 6 tingkatan widget pohon.</a:t>
            </a:r>
          </a:p>
          <a:p>
            <a:pPr>
              <a:spcAft>
                <a:spcPts val="10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Performance Degradation: Memanggil setState() di parent widget me-rebuild seluruh layar secara boros.</a:t>
            </a:r>
          </a:p>
          <a:p>
            <a:pPr>
              <a:spcAft>
                <a:spcPts val="10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Spaghetti Logic: Kalkulasi diskon dan validasi transaksi bercampur baur di file UI.</a:t>
            </a:r>
          </a:p>
          <a:p>
            <a:pPr>
              <a:spcAft>
                <a:spcPts val="1000"/>
              </a:spcAft>
              <a:defRPr sz="1400">
                <a:solidFill>
                  <a:srgbClr val="F8FAFC"/>
                </a:solidFill>
                <a:latin typeface="Segoe UI"/>
              </a:defRPr>
            </a:pPr>
            <a:r>
              <a:t>• Zero Testability: Logika bisnis tidak bisa diuji dengan Unit Test karena terikat erat ke BuildContext.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645920"/>
            <a:ext cx="42062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82880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EA5E9"/>
                </a:solidFill>
                <a:latin typeface="Segoe UI"/>
              </a:defRPr>
            </a:pPr>
            <a:r>
              <a:t>💡 Studi Kasus Industri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Di aplikasi e-commerce seperti Tokopedia atau Shopee, keranjang belanja, status saldo wallet, dan notifikasi harus tersinkronisasi seketika di puluhan halaman tanpa harus me-rebuild seluruh antarmuka.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TAKSONOMI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Membedakan Ephemeral State vs Application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7121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EA5E9"/>
                </a:solidFill>
                <a:latin typeface="Segoe UI"/>
              </a:defRPr>
            </a:pPr>
            <a:r>
              <a:t>LOCAL / EPHEMERAL</a:t>
            </a:r>
          </a:p>
          <a:p>
            <a:pPr>
              <a:spcAft>
                <a:spcPts val="1200"/>
              </a:spcAft>
              <a:defRPr sz="1800" b="1">
                <a:solidFill>
                  <a:srgbClr val="F8FAFC"/>
                </a:solidFill>
                <a:latin typeface="Segoe UI"/>
              </a:defRPr>
            </a:pPr>
            <a:r>
              <a:t>Ephemeral State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• State yang hanya hidup di 1 widget.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• Contoh: Status tab aktif, animasi form berputar.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• Cukup dikelola dengan StatefulWidget / setState lokal sederhana.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645920"/>
            <a:ext cx="3328416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54296" y="1828800"/>
            <a:ext cx="287121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EA5E9"/>
                </a:solidFill>
                <a:latin typeface="Segoe UI"/>
              </a:defRPr>
            </a:pPr>
            <a:r>
              <a:t>GLOBAL / SHARED</a:t>
            </a:r>
          </a:p>
          <a:p>
            <a:pPr>
              <a:spcAft>
                <a:spcPts val="1200"/>
              </a:spcAft>
              <a:defRPr sz="1800" b="1">
                <a:solidFill>
                  <a:srgbClr val="F8FAFC"/>
                </a:solidFill>
                <a:latin typeface="Segoe UI"/>
              </a:defRPr>
            </a:pPr>
            <a:r>
              <a:t>Application State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• Data yang dipakai bersama di banyak halaman.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• Contoh: Status login user, isi keranjang belanja, preferensi dark mode.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• Wajib menggunakan State Manager (BLoC / Cubit).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645920"/>
            <a:ext cx="3328416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48472" y="1828800"/>
            <a:ext cx="287121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EA5E9"/>
                </a:solidFill>
                <a:latin typeface="Segoe UI"/>
              </a:defRPr>
            </a:pPr>
            <a:r>
              <a:t>REACTIVE STREAMS</a:t>
            </a:r>
          </a:p>
          <a:p>
            <a:pPr>
              <a:spcAft>
                <a:spcPts val="1200"/>
              </a:spcAft>
              <a:defRPr sz="1800" b="1">
                <a:solidFill>
                  <a:srgbClr val="F8FAFC"/>
                </a:solidFill>
                <a:latin typeface="Segoe UI"/>
              </a:defRPr>
            </a:pPr>
            <a:r>
              <a:t>Aliran Reaktif (BLoC)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• Single Source of Truth.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• UI hanya menjadi konsumen pasif.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• State berubah -&gt; UI otomatis render.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• Arsitektur terprediksi &amp; mudah di-debug.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ARSITEKTUR PERBANDINGAN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Side-by-Side: setState() vs Clean Cubit Separation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59E0B"/>
                </a:solidFill>
                <a:latin typeface="Segoe UI"/>
              </a:defRPr>
            </a:pPr>
            <a:r>
              <a:t>📌 Dengan Cubit, logika penambahan harga tidak tahu apa-apa tentang tombol atau teks. Logika dapat diuji dalam 5 milidetik di Unit Test.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75504" cy="4297680"/>
          </a:xfrm>
          <a:prstGeom prst="roundRect">
            <a:avLst/>
          </a:prstGeom>
          <a:solidFill>
            <a:srgbClr val="020617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462686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43F5E"/>
                </a:solidFill>
                <a:latin typeface="Segoe UI"/>
              </a:defRPr>
            </a:pPr>
            <a:r>
              <a:t>❌ Tightly-Coupled (setState)</a:t>
            </a:r>
          </a:p>
          <a:p>
            <a:pPr>
              <a:defRPr sz="1100">
                <a:solidFill>
                  <a:srgbClr val="94A3B8"/>
                </a:solidFill>
                <a:latin typeface="Consolas"/>
              </a:defRPr>
            </a:pPr>
            <a:r>
              <a:t>// Logika dan UI tercampur baur!</a:t>
            </a:r>
            <a:br/>
            <a:r>
              <a:t>class _CartPageState extends State&lt;CartPage&gt; {</a:t>
            </a:r>
            <a:br/>
            <a:r>
              <a:t>  int total = 0;</a:t>
            </a:r>
            <a:br/>
            <a:r>
              <a:t>  void addItem() {</a:t>
            </a:r>
            <a:br/>
            <a:r>
              <a:t>    setState(() {</a:t>
            </a:r>
            <a:br/>
            <a:r>
              <a:t>      total += 50000;</a:t>
            </a:r>
            <a:br/>
            <a:r>
              <a:t>    });</a:t>
            </a:r>
            <a:br/>
            <a:r>
              <a:t>  }</a:t>
            </a:r>
            <a:br/>
            <a:r>
              <a:t>  // Tidak bisa diuji dengan Unit Test!</a:t>
            </a:r>
            <a:br/>
            <a: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920240"/>
            <a:ext cx="5175504" cy="4297680"/>
          </a:xfrm>
          <a:prstGeom prst="roundRect">
            <a:avLst/>
          </a:prstGeom>
          <a:solidFill>
            <a:srgbClr val="02061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47104" y="2057400"/>
            <a:ext cx="462686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0B981"/>
                </a:solidFill>
                <a:latin typeface="Segoe UI"/>
              </a:defRPr>
            </a:pPr>
            <a:r>
              <a:t>✅ Clean Separation (Cubit + BlocConsumer)</a:t>
            </a:r>
          </a:p>
          <a:p>
            <a:pPr>
              <a:defRPr sz="1100">
                <a:solidFill>
                  <a:srgbClr val="A7F3D0"/>
                </a:solidFill>
                <a:latin typeface="Consolas"/>
              </a:defRPr>
            </a:pPr>
            <a:r>
              <a:t>// 1. Logika murni Dart (100% testable)</a:t>
            </a:r>
            <a:br/>
            <a:r>
              <a:t>class CartCubit extends Cubit&lt;int&gt; {</a:t>
            </a:r>
            <a:br/>
            <a:r>
              <a:t>  CartCubit() : super(0);</a:t>
            </a:r>
            <a:br/>
            <a:r>
              <a:t>  void addItem() =&gt; emit(state + 50000);</a:t>
            </a:r>
            <a:br/>
            <a:r>
              <a:t>}</a:t>
            </a:r>
            <a:br/>
            <a:br/>
            <a:r>
              <a:t>// 2. UI hanya mendengarkan state</a:t>
            </a:r>
            <a:br/>
            <a:r>
              <a:t>BlocBuilder&lt;CartCubit, int&gt;(</a:t>
            </a:r>
            <a:br/>
            <a:r>
              <a:t>  builder: (context, total) =&gt; Text('Rp $total'),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BLOC COMPONENT TRIO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Tiga Serangkai Komponen UI: Builder, Listener, &amp; Consumer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57200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023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EA5E9"/>
                </a:solidFill>
                <a:latin typeface="Segoe UI"/>
              </a:defRPr>
            </a:pPr>
            <a:r>
              <a:t>🎯 Panduan Arsitektur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BlocBuilder: KHUSUS menggambar ulang widget visual. Dilarang memicu dialog atau SnackBar di sini!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BlocListener: KHUSUS menangani efek samping (Side Effects) satu kali, seperti navigasi rute atau popup notifikasi error.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BlocConsumer: Menggabungkan Builder dan Listener dalam satu tempat yang bersih dan efisien.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7840" y="1645920"/>
            <a:ext cx="5882335" cy="4572000"/>
          </a:xfrm>
          <a:prstGeom prst="roundRect">
            <a:avLst/>
          </a:prstGeom>
          <a:solidFill>
            <a:srgbClr val="020617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💻 BlocConsumer Production Pattern</a:t>
            </a:r>
          </a:p>
          <a:p>
            <a:pPr>
              <a:defRPr sz="1050">
                <a:solidFill>
                  <a:srgbClr val="A7F3D0"/>
                </a:solidFill>
                <a:latin typeface="Consolas"/>
              </a:defRPr>
            </a:pPr>
            <a:r>
              <a:t>BlocConsumer&lt;CartCubit, CartState&gt;(</a:t>
            </a:r>
            <a:br/>
            <a:r>
              <a:t>  listener: (context, state) {</a:t>
            </a:r>
            <a:br/>
            <a:r>
              <a:t>    if (state.status == CartStatus.error) {</a:t>
            </a:r>
            <a:br/>
            <a:r>
              <a:t>      ScaffoldMessenger.of(context).showSnackBar(</a:t>
            </a:r>
            <a:br/>
            <a:r>
              <a:t>        SnackBar(content: Text(state.errorMessage!)),</a:t>
            </a:r>
            <a:br/>
            <a:r>
              <a:t>      );</a:t>
            </a:r>
            <a:br/>
            <a:r>
              <a:t>    }</a:t>
            </a:r>
            <a:br/>
            <a:r>
              <a:t>  },</a:t>
            </a:r>
            <a:br/>
            <a:r>
              <a:t>  builder: (context, state) {</a:t>
            </a:r>
            <a:br/>
            <a:r>
              <a:t>    if (state.status == CartStatus.loading) {</a:t>
            </a:r>
            <a:br/>
            <a:r>
              <a:t>      return const CircularProgressIndicator();</a:t>
            </a:r>
            <a:br/>
            <a:r>
              <a:t>    }</a:t>
            </a:r>
            <a:br/>
            <a:r>
              <a:t>    return Text('Total Belanja: Rp ${state.totalPrice}');</a:t>
            </a:r>
            <a:br/>
            <a:r>
              <a:t>  },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HANDS-ON LAB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Lab Quest Pertemuan 06: Refactoring Counter/Cart Menjadi Reactive Cubit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5720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9966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⏱️ ESTIMASI WAKTU: 60 MENIT • KERJAKAN DI SMARTPHONE / LAB PC</a:t>
            </a:r>
          </a:p>
          <a:p>
            <a:pPr>
              <a:spcAft>
                <a:spcPts val="800"/>
              </a:spcAft>
              <a:defRPr sz="1600" b="1">
                <a:solidFill>
                  <a:srgbClr val="F8FAFC"/>
                </a:solidFill>
                <a:latin typeface="Segoe UI"/>
              </a:defRPr>
            </a:pPr>
            <a:r>
              <a:t>Spesifikasi Tugas Mandiri: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  [ ]  Buat CartState menggunakan package Equatable dengan field: items, totalPrice, dan status.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  [ ]  Buat CartCubit dengan method addItem(), removeItem(), dan applyPromoCode().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  [ ]  Pasang AppBlocObserver untuk mencatat seluruh mutasi transisi state di konsol debug.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  [ ]  Buktikan bahwa tombol Add to Cart di halaman Detail dapat memperbarui angka badge di AppBar halaman Home secara reaktif!</a:t>
            </a:r>
          </a:p>
          <a:p>
            <a:br/>
            <a:pPr>
              <a:defRPr sz="1200" b="1">
                <a:solidFill>
                  <a:srgbClr val="10B981"/>
                </a:solidFill>
                <a:latin typeface="Consolas"/>
              </a:defRPr>
            </a:pPr>
            <a:r>
              <a:t>📦 Pengumpulan Git: git commit -m 'feat: implement reactive cart cubit with bloc consumer'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