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2_tools_dan_setup_bloc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3_ephemeral_vs_app_state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5_keterbatasan_setstate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7_mental_model_cubit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9_immutability_equatable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0_anatomi_cubit_emit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2_bloc_provider_context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4_bloc_builder_buildwhen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5_bloc_listener_side_effects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6_bloc_consumer_duo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7_bloc_selector_opt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8_arsitektur_4_status_ui.d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9_bloc_concurrency.dart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21_multi_bloc_provider.dart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22_bloc_observer_cctv.dart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23_refactoring_setstate_cubit.dart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25_checklist_state_management.dart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26_lab_quest_cart_cubit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9418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6B7280"/>
                </a:solidFill>
                <a:latin typeface="Segoe UI"/>
              </a:defRPr>
            </a:pPr>
            <a:r>
              <a:t>IF3205 • PEMROGRAMAN PIRANTI BERGERAK  •  PERTEMUAN 06</a:t>
            </a:r>
          </a:p>
          <a:p>
            <a:pPr>
              <a:spcAft>
                <a:spcPts val="1200"/>
              </a:spcAft>
              <a:defRPr sz="3000" b="1">
                <a:solidFill>
                  <a:srgbClr val="111827"/>
                </a:solidFill>
                <a:latin typeface="Segoe UI"/>
              </a:defRPr>
            </a:pPr>
            <a:r>
              <a:t>State Management Reaktif: Cubit &amp; BLoC Pattern</a:t>
            </a:r>
          </a:p>
          <a:p>
            <a:pPr>
              <a:spcAft>
                <a:spcPts val="4000"/>
              </a:spcAft>
              <a:defRPr sz="1400">
                <a:solidFill>
                  <a:srgbClr val="4B5563"/>
                </a:solidFill>
                <a:latin typeface="Segoe UI"/>
              </a:defRPr>
            </a:pPr>
            <a:r>
              <a:t>Pemisahan Logika Bisnis, Immutability, dan Pola Arsitektur Terkelola pada Flutter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B7280"/>
                </a:solidFill>
                <a:latin typeface="Segoe UI"/>
              </a:defRPr>
            </a:pPr>
            <a:r>
              <a:t>MODUL PERKULIAHAN</a:t>
            </a:r>
          </a:p>
          <a:p>
            <a:pPr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Pertemuan 06 • State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470916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B7280"/>
                </a:solidFill>
                <a:latin typeface="Segoe UI"/>
              </a:defRPr>
            </a:pPr>
            <a:r>
              <a:t>CAPAIAN PEMBELAJARAN</a:t>
            </a:r>
          </a:p>
          <a:p>
            <a:pPr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Sub-CPMK 06: Reactive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470916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6B7280"/>
                </a:solidFill>
                <a:latin typeface="Segoe UI"/>
              </a:defRPr>
            </a:pPr>
            <a:r>
              <a:t>PENGAMPU</a:t>
            </a:r>
          </a:p>
          <a:p>
            <a:pPr>
              <a:defRPr sz="1100" b="1">
                <a:solidFill>
                  <a:srgbClr val="111827"/>
                </a:solidFill>
                <a:latin typeface="Segoe UI"/>
              </a:defRPr>
            </a:pPr>
            <a:r>
              <a:t>Tim Dosen Pemrograman Piranti Bergerak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267712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2677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SETUP &amp; ALAT BANTU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Konfigurasi Dependensi: flutter_bloc &amp; Ekstensi 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Analogi Sistem:</a:t>
            </a:r>
            <a:r>
              <a:rPr sz="1000">
                <a:solidFill>
                  <a:srgbClr val="4B5563"/>
                </a:solidFill>
                <a:latin typeface="Segoe UI"/>
              </a:rPr>
              <a:t> Memasang mesin terintegrasi di bengkel agar tidak merakit komponen mekanis secara manual.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Perintah Terminal:</a:t>
            </a:r>
            <a:r>
              <a:rPr sz="1000">
                <a:solidFill>
                  <a:srgbClr val="4B5563"/>
                </a:solidFill>
                <a:latin typeface="Segoe UI"/>
              </a:rPr>
              <a:t> Jalankan 'flutter pub add flutter_bloc equatable' di direktori proyek Flutter.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Ekstensi VS Code:</a:t>
            </a:r>
            <a:r>
              <a:rPr sz="1000">
                <a:solidFill>
                  <a:srgbClr val="4B5563"/>
                </a:solidFill>
                <a:latin typeface="Segoe UI"/>
              </a:rPr>
              <a:t> Pasang ekstensi 'Bloc' oleh Felix Angelov untuk membuat class Cubit dan State secara otomatis.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Pintasan IDE:</a:t>
            </a:r>
            <a:r>
              <a:rPr sz="1000">
                <a:solidFill>
                  <a:srgbClr val="4B5563"/>
                </a:solidFill>
                <a:latin typeface="Segoe UI"/>
              </a:rPr>
              <a:t> Tekan Alt + Enter pada widget, lalu pilih 'Wrap with BlocBuilder' atau 'Wrap with BlocListener'.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Ekstensi Bloc mengotomatisasi pembuatan berkas boilerplate dan struktur folder fitur dalam hitungan detik.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setup_bloc_tools.dart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// Menambahkan dependensi di pubspec.yaml:</a:t>
            </a:r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flutter_bloc: ^8.1.6</a:t>
            </a:r>
            <a:br/>
            <a:r>
              <a:t>  equatable: ^2.0.5</a:t>
            </a:r>
            <a:br/>
            <a:br/>
            <a:r>
              <a:t>// Impor resmi di berkas Dart:</a:t>
            </a:r>
            <a:br/>
            <a:r>
              <a:t>import 'package:flutter_bloc/flutter_bloc.dart';</a:t>
            </a:r>
            <a:br/>
            <a:r>
              <a:t>import 'package:equatable/equatable.dart';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(slide_02_tools_dan_setup_bloc.dart)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167128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1671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THE STATE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Klasifikasi State: Ephemeral State vs App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Karakteristik Data:</a:t>
            </a:r>
            <a:r>
              <a:rPr sz="1000">
                <a:solidFill>
                  <a:srgbClr val="4B5563"/>
                </a:solidFill>
                <a:latin typeface="Segoe UI"/>
              </a:rPr>
              <a:t> Ephemeral State hanya digunakan oleh 1 widget lokal; App State dibagikan ke banyak layar.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Ephemeral State:</a:t>
            </a:r>
            <a:r>
              <a:rPr sz="1000">
                <a:solidFill>
                  <a:srgbClr val="4B5563"/>
                </a:solidFill>
                <a:latin typeface="Segoe UI"/>
              </a:rPr>
              <a:t> Data sementara lokal widget (contoh: status ekspansi accordion, visibilitas input password).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App State:</a:t>
            </a:r>
            <a:r>
              <a:rPr sz="1000">
                <a:solidFill>
                  <a:srgbClr val="4B5563"/>
                </a:solidFill>
                <a:latin typeface="Segoe UI"/>
              </a:rPr>
              <a:t> Data global aplikasi yang persisten (contoh: item keranjang belanja, token sesi pengguna, tema).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Aturan Rekayasa:</a:t>
            </a:r>
            <a:r>
              <a:rPr sz="1000">
                <a:solidFill>
                  <a:srgbClr val="4B5563"/>
                </a:solidFill>
                <a:latin typeface="Segoe UI"/>
              </a:rPr>
              <a:t> Gunakan setState() untuk Ephemeral State, dan gunakan Cubit/BLoC untuk App State.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Hindari over-engineering menggunakan BLoC untuk status lokal sederhana seperti animasi tombol; gunakan BLoC untuk data lintas halaman.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state_category.dart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// 1. Ephemeral State: Cukup setState lokal</a:t>
            </a:r>
            <a:br/>
            <a:r>
              <a:t>bool _isCardExpanded = false;</a:t>
            </a:r>
            <a:br/>
            <a:br/>
            <a:r>
              <a:t>// 2. App State: Wajib dikelola Cubit</a:t>
            </a:r>
            <a:br/>
            <a:r>
              <a:t>class CartCubit extends Cubit&lt;int&gt; {</a:t>
            </a:r>
            <a:br/>
            <a:r>
              <a:t>  CartCubit() : super(0);</a:t>
            </a:r>
            <a:br/>
            <a:r>
              <a:t>  void tambahBarang() =&gt; emit(state + 1);</a:t>
            </a:r>
            <a:br/>
            <a:r>
              <a:t>}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(slide_03_ephemeral_vs_app_state.dart)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DIAGRAM ARSITEKTUR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Spektrum Pengelolaan State: Ephemeral State vs App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10545775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te-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782367"/>
            <a:ext cx="10326319" cy="340299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5532120"/>
            <a:ext cx="1054577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5532120"/>
            <a:ext cx="219456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76072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PANDUAN ARSITEKTUR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05272"/>
            <a:ext cx="7985455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Kapan menggunakan setState()? Cukup untuk status lokal sementara di dalam 1 widget (misal: toggle password, animasi kursor).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Kapan menggunakan Cubit/BLoC? Wajib untuk data lintas halaman yang digunakan bersama (misal: keranjang, sesi login, tema).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Pedoman Praktikum: Jangan membagikan setState() melewati lebih dari 2 level widget turunan; beralihlah ke Cubit.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167128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1671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LIMITASI SETSTATE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Keterbatasan setState(): Masalah Prop Drilling &amp; Rebuild Mubazir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Analogi Distribusi:</a:t>
            </a:r>
            <a:r>
              <a:rPr sz="1000">
                <a:solidFill>
                  <a:srgbClr val="4B5563"/>
                </a:solidFill>
                <a:latin typeface="Segoe UI"/>
              </a:rPr>
              <a:t> Menitipkan paket melalui banyak kurir perantara yang sebenarnya tidak memerlukan paket tersebut.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Prop Drilling:</a:t>
            </a:r>
            <a:r>
              <a:rPr sz="1000">
                <a:solidFill>
                  <a:srgbClr val="4B5563"/>
                </a:solidFill>
                <a:latin typeface="Segoe UI"/>
              </a:rPr>
              <a:t> Mengoper variabel data dan callback function melewati ranting widget bertingkat.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Efisiensi Performa:</a:t>
            </a:r>
            <a:r>
              <a:rPr sz="1000">
                <a:solidFill>
                  <a:srgbClr val="4B5563"/>
                </a:solidFill>
                <a:latin typeface="Segoe UI"/>
              </a:rPr>
              <a:t> Memanggil setState() di widget induk memaksa seluruh sub-pohon widget di-rebuild.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Testabilitas Logika:</a:t>
            </a:r>
            <a:r>
              <a:rPr sz="1000">
                <a:solidFill>
                  <a:srgbClr val="4B5563"/>
                </a:solidFill>
                <a:latin typeface="Segoe UI"/>
              </a:rPr>
              <a:t> Logika perhitungan bisnis terkunci di dalam komponen UI sehingga sulit diuji unit test.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Prop drilling membuat struktur kode rapuh; perubahan tanda tangan konstruktor perantara akan merusak rantai 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prop_drilling_problem.dart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// Prop drilling: Mengoper parameter melewati perantara</a:t>
            </a:r>
            <a:br/>
            <a:r>
              <a:t>LevelKakek(</a:t>
            </a:r>
            <a:br/>
            <a:r>
              <a:t>  child: LevelAyah(</a:t>
            </a:r>
            <a:br/>
            <a:r>
              <a:t>    counter: _counter,       // Parameter titipan</a:t>
            </a:r>
            <a:br/>
            <a:r>
              <a:t>    onIncrement: _increment, // Callback titipan</a:t>
            </a:r>
            <a:br/>
            <a:r>
              <a:t>    child: LevelCucu(...),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(slide_05_keterbatasan_setstate.dart)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DIAGRAM ARSITEKTUR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Bahaya Prop Drilling vs Distribusi Terpusat (BlocProvider)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10545775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p-drilling-vs-pro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352" y="1682496"/>
            <a:ext cx="9206989" cy="36027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5532120"/>
            <a:ext cx="1054577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5532120"/>
            <a:ext cx="219456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76072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PANDUAN ARSITEKTUR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05272"/>
            <a:ext cx="7985455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Masalah Prop Drilling: Parameter dititipkan paksa melewati widget perantara yang tidak berkepentingan pada data tersebut.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Solusi BlocProvider: Menyediakan state secara terpusat di atas pohon widget; widget target langsung membaca via context.read().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Pedoman Praktikum: Jika parameter yang sama diteruskan melewati 2 widget atau lebih, segera refactor menggunakan Cubit.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167128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1671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ARSITEKTUR LOGIKA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Mental Model Cubit: Pemancar Data &amp; Stream Reaktif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Analogi Sistem:</a:t>
            </a:r>
            <a:r>
              <a:rPr sz="1000">
                <a:solidFill>
                  <a:srgbClr val="4B5563"/>
                </a:solidFill>
                <a:latin typeface="Segoe UI"/>
              </a:rPr>
              <a:t> Cubit bertindak sebagai pemancar data; widget UI berfungsi sebagai penerima yang mendengarkan siaran.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Konsep Stream:</a:t>
            </a:r>
            <a:r>
              <a:rPr sz="1000">
                <a:solidFill>
                  <a:srgbClr val="4B5563"/>
                </a:solidFill>
                <a:latin typeface="Segoe UI"/>
              </a:rPr>
              <a:t> Di balik layar, Cubit memanfaatkan Stream. Setiap emit() mengalirkan state baru ke UI secara reaktif.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Cubit vs BLoC:</a:t>
            </a:r>
            <a:r>
              <a:rPr sz="1000">
                <a:solidFill>
                  <a:srgbClr val="4B5563"/>
                </a:solidFill>
                <a:latin typeface="Segoe UI"/>
              </a:rPr>
              <a:t> Cubit menggunakan pemanggilan method langsung (ringkas untuk 90% kasus); BLoC berbasis Event.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Pemisahan Tanggung Jawab:</a:t>
            </a:r>
            <a:r>
              <a:rPr sz="1000">
                <a:solidFill>
                  <a:srgbClr val="4B5563"/>
                </a:solidFill>
                <a:latin typeface="Segoe UI"/>
              </a:rPr>
              <a:t> Cubit murni berisi logika Dart tanpa widget; UI murni bertugas merender antarmuka.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Gunakan Cubit untuk sebagian besar kebutuhan aplikasi; beralihlah ke BLoC penuh hanya jika memerlukan transformer event seperti debounce.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mental_model_cubit.dart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// Logika bisnis terisolasi tanpa dependensi UI Flutter:</a:t>
            </a:r>
            <a:br/>
            <a:r>
              <a:t>class CounterCubit extends Cubit&lt;int&gt; {</a:t>
            </a:r>
            <a:br/>
            <a:r>
              <a:t>  CounterCubit() : super(0); // State awal</a:t>
            </a:r>
            <a:br/>
            <a:br/>
            <a:r>
              <a:t>  void tambah() =&gt; emit(state + 1); // Memancarkan state baru</a:t>
            </a:r>
            <a:br/>
            <a:r>
              <a:t>  void kurang() =&gt; emit(state - 1);</a:t>
            </a:r>
            <a:br/>
            <a:r>
              <a:t>}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(slide_07_mental_model_cubit.dart)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DIAGRAM ARSITEKTUR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Perbandingan Alur Kerja: Cubit (Method-Driven) vs BLoC (Event-Driven)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10545775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ubit-vs-b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352" y="1682496"/>
            <a:ext cx="9206989" cy="36027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5532120"/>
            <a:ext cx="1054577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5532120"/>
            <a:ext cx="219456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76072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PANDUAN ARSITEKTUR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05272"/>
            <a:ext cx="7985455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Alur Cubit: UI memanggil fungsi cubit.tambah() -&gt; emit(state baru) -&gt; UI me-rebuild tampilan. Ringkas dan minim boilerplate.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Alur BLoC: UI mengirimkan Event add(SearchEvent) -&gt; transformer memproses konkurensi -&gt; emit(State) -&gt; UI me-rebuild tampilan.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Pedoman Praktikum: Mulailah perancangan fitur dengan Cubit; gunakan BLoC hanya jika ada kebutuhan kontrol antrean event.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1965960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9659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IMMUTABLE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Prinsip Immutability &amp; Peran Library Equatable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Konsep Immutability:</a:t>
            </a:r>
            <a:r>
              <a:rPr sz="1000">
                <a:solidFill>
                  <a:srgbClr val="4B5563"/>
                </a:solidFill>
                <a:latin typeface="Segoe UI"/>
              </a:rPr>
              <a:t> Objek state tidak boleh dimutasi secara langsung; selalu buat instansiasi objek baru.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Larangan Mutasi:</a:t>
            </a:r>
            <a:r>
              <a:rPr sz="1000">
                <a:solidFill>
                  <a:srgbClr val="4B5563"/>
                </a:solidFill>
                <a:latin typeface="Segoe UI"/>
              </a:rPr>
              <a:t> Mengubah 'state.poin = 100' secara langsung tidak akan memicu re-render karena referensi memori tidak berubah.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Method copyWith():</a:t>
            </a:r>
            <a:r>
              <a:rPr sz="1000">
                <a:solidFill>
                  <a:srgbClr val="4B5563"/>
                </a:solidFill>
                <a:latin typeface="Segoe UI"/>
              </a:rPr>
              <a:t> Standar pembuatan salinan objek baru dengan memperbarui properti yang ditentukan.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Peran Equatable:</a:t>
            </a:r>
            <a:r>
              <a:rPr sz="1000">
                <a:solidFill>
                  <a:srgbClr val="4B5563"/>
                </a:solidFill>
                <a:latin typeface="Segoe UI"/>
              </a:rPr>
              <a:t> Membandingkan kesamaan nilai properti objek (value equality), bukan referensi memori (reference equality).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Selalu extends Equatable pada class State agar BLoC dapat mendeteksi perubahan nilai secara presisi dan mencegah rebuild redundant.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equatable_state.dart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class UserState extends Equatable {</a:t>
            </a:r>
            <a:br/>
            <a:r>
              <a:t>  final String nama;</a:t>
            </a:r>
            <a:br/>
            <a:r>
              <a:t>  final int poin;</a:t>
            </a:r>
            <a:br/>
            <a:br/>
            <a:r>
              <a:t>  const UserState({required this.nama, required this.poin});</a:t>
            </a:r>
            <a:br/>
            <a:br/>
            <a:r>
              <a:t>  UserState copyWith({String? nama, int? poin}) {</a:t>
            </a:r>
            <a:br/>
            <a:r>
              <a:t>    return UserState(</a:t>
            </a:r>
            <a:br/>
            <a:r>
              <a:t>      nama: nama ?? this.nama,</a:t>
            </a:r>
            <a:br/>
            <a:r>
              <a:t>      poin: poin ?? this.poin,</a:t>
            </a:r>
            <a:br/>
            <a:r>
              <a:t>    );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List&lt;Object?&gt; get props =&gt; [nama, poin];</a:t>
            </a:r>
            <a:br/>
            <a:r>
              <a:t>}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(slide_09_immutability_equatable.dart)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1764792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7647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ANATOMI CUBIT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Anatomi Kelas Cubit: Inisialisasi State &amp; Mekanisme emit()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Pewarisan Kelas:</a:t>
            </a:r>
            <a:r>
              <a:rPr sz="1000">
                <a:solidFill>
                  <a:srgbClr val="4B5563"/>
                </a:solidFill>
                <a:latin typeface="Segoe UI"/>
              </a:rPr>
              <a:t> Kelas Cubit meng-extends 'Cubit&lt;TState&gt;' dan menginisialisasi 'super(initialState)'.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Mekanisme emit():</a:t>
            </a:r>
            <a:r>
              <a:rPr sz="1000">
                <a:solidFill>
                  <a:srgbClr val="4B5563"/>
                </a:solidFill>
                <a:latin typeface="Segoe UI"/>
              </a:rPr>
              <a:t> Method internal untuk memperbarui state dan mengalirkan data baru ke subscriber.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Proteksi Method:</a:t>
            </a:r>
            <a:r>
              <a:rPr sz="1000">
                <a:solidFill>
                  <a:srgbClr val="4B5563"/>
                </a:solidFill>
                <a:latin typeface="Segoe UI"/>
              </a:rPr>
              <a:t> Method emit() berstatus protected dan hanya boleh dipanggil dari dalam method internal Cubit.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Operasi Asinkron:</a:t>
            </a:r>
            <a:r>
              <a:rPr sz="1000">
                <a:solidFill>
                  <a:srgbClr val="4B5563"/>
                </a:solidFill>
                <a:latin typeface="Segoe UI"/>
              </a:rPr>
              <a:t> Selalu lakukan validasi 'if (!isClosed)' sebelum memanggil emit() pada operasi asynchronous.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Jangan memanggil emit() dengan nilai yang identik, dan selalu pastikan Cubit belum di-close sebelum emit pada operasi async.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anatomi_cubit.dart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class CartCubit extends Cubit&lt;CartState&gt; {</a:t>
            </a:r>
            <a:br/>
            <a:r>
              <a:t>  CartCubit() : super(const CartState(total: 0));</a:t>
            </a:r>
            <a:br/>
            <a:br/>
            <a:r>
              <a:t>  void beliBarang(int harga) {</a:t>
            </a:r>
            <a:br/>
            <a:r>
              <a:t>    // Memancarkan state baru ke subscriber:</a:t>
            </a:r>
            <a:br/>
            <a:r>
              <a:t>    emit(state.copyWith(total: state.total + harga));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(slide_10_anatomi_cubit_emit.dart)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DIAGRAM ARSITEKTUR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Siklus Tertutup Unidirectional Data Flow (UDF)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10545775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loc-udf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782367"/>
            <a:ext cx="10326319" cy="340299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5532120"/>
            <a:ext cx="1054577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5532120"/>
            <a:ext cx="219456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76072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PANDUAN ARSITEKTUR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05272"/>
            <a:ext cx="7985455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Alur Satu Arah: UI menembakkan Event/Method -&gt; BLoC/Cubit memproses logika bisnis -&gt; emit(State) -&gt; Widget merender ulang.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Pemisahan Ketat: UI dilarang melakukan kalkulasi bisnis; Cubit dilarang mengimpor library UI (misal: package:flutter/material.dart).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Pedoman Praktikum: Siklus satu arah menjamin integritas data dan mempermudah pelacakan sumber perubahan state.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267712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2677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INJEKSI DEPENDENSI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Injeksi Dependensi: BlocProvider, context.read, &amp; context.watch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Peran BlocProvider:</a:t>
            </a:r>
            <a:r>
              <a:rPr sz="1000">
                <a:solidFill>
                  <a:srgbClr val="4B5563"/>
                </a:solidFill>
                <a:latin typeface="Segoe UI"/>
              </a:rPr>
              <a:t> Menyediakan instansiasi Cubit ke widget sub-pohon melalui mekanisme InheritedWidget.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Manajemen Lifecycle:</a:t>
            </a:r>
            <a:r>
              <a:rPr sz="1000">
                <a:solidFill>
                  <a:srgbClr val="4B5563"/>
                </a:solidFill>
                <a:latin typeface="Segoe UI"/>
              </a:rPr>
              <a:t> BlocProvider otomatis membuat Cubit (create) dan membersihkannya dari memori saat widget di-dispose.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context.read&lt;T&gt;():</a:t>
            </a:r>
            <a:r>
              <a:rPr sz="1000">
                <a:solidFill>
                  <a:srgbClr val="4B5563"/>
                </a:solidFill>
                <a:latin typeface="Segoe UI"/>
              </a:rPr>
              <a:t> Digunakan di dalam callback event (seperti onPressed) untuk memanggil method Cubit tanpa me-rebuild.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context.watch&lt;T&gt;():</a:t>
            </a:r>
            <a:r>
              <a:rPr sz="1000">
                <a:solidFill>
                  <a:srgbClr val="4B5563"/>
                </a:solidFill>
                <a:latin typeface="Segoe UI"/>
              </a:rPr>
              <a:t> Digunakan di dalam method build() untuk mendengarkan perubahan state dan me-rebuild tampilan.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Gunakan context.read() di dalam callback event, dan gunakan context.watch() hanya di dalam method build().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bloc_provider_usage.dart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// 1. Menyediakan Cubit ke sub-pohon widget:</a:t>
            </a:r>
            <a:br/>
            <a:r>
              <a:t>BlocProvider(</a:t>
            </a:r>
            <a:br/>
            <a:r>
              <a:t>  create: (context) =&gt; CounterCubit(),</a:t>
            </a:r>
            <a:br/>
            <a:r>
              <a:t>  child: const CounterPage(),</a:t>
            </a:r>
            <a:br/>
            <a:r>
              <a:t>);</a:t>
            </a:r>
            <a:br/>
            <a:br/>
            <a:r>
              <a:t>// 2. Mengeksekusi aksi dari tombol:</a:t>
            </a:r>
            <a:br/>
            <a:r>
              <a:t>FilledButton(</a:t>
            </a:r>
            <a:br/>
            <a:r>
              <a:t>  onPressed: () =&gt; context.read&lt;CounterCubit&gt;().tambah(),</a:t>
            </a:r>
            <a:br/>
            <a:r>
              <a:t>  child: const Icon(Icons.add),</a:t>
            </a:r>
            <a:br/>
            <a:r>
              <a:t>);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(slide_12_bloc_provider_context.dart)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DIAGRAM ARSITEKTUR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Kuadran Keputusan 4 Widget Konsumsi Utama BLoC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10545775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loc-widgets-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352" y="1682496"/>
            <a:ext cx="9206989" cy="36027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5532120"/>
            <a:ext cx="1054577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5532120"/>
            <a:ext cx="219456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76072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PANDUAN ARSITEKTUR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05272"/>
            <a:ext cx="7985455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BlocBuilder vs BlocListener: Builder HANYA untuk merender antarmuka; Listener HANYA untuk efek samping 1 kali (SnackBar, Dialog, Navigasi).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BlocConsumer &amp; BlocSelector: Consumer menggabungkan render dan aksi; Selector menyaring perubahan properti spesifik.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Pedoman Praktikum: Jangan pernah memicu SnackBar atau dialog navigasi di dalam BlocBuilder; gunakan BlocListener.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1764792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7647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KONSUMSI UI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BlocBuilder: Rendering Reaktif &amp; Filter Optimasi buildWhen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Fungsi BlocBuilder:</a:t>
            </a:r>
            <a:r>
              <a:rPr sz="1000">
                <a:solidFill>
                  <a:srgbClr val="4B5563"/>
                </a:solidFill>
                <a:latin typeface="Segoe UI"/>
              </a:rPr>
              <a:t> Menangani penggambaran ulang komponen visual setiap kali Cubit memancarkan state baru.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Filter buildWhen:</a:t>
            </a:r>
            <a:r>
              <a:rPr sz="1000">
                <a:solidFill>
                  <a:srgbClr val="4B5563"/>
                </a:solidFill>
                <a:latin typeface="Segoe UI"/>
              </a:rPr>
              <a:t> Menerima callback '(previous, current)' untuk menentukan apakah widget perlu di-rebuild.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Efisiensi Render:</a:t>
            </a:r>
            <a:r>
              <a:rPr sz="1000">
                <a:solidFill>
                  <a:srgbClr val="4B5563"/>
                </a:solidFill>
                <a:latin typeface="Segoe UI"/>
              </a:rPr>
              <a:t> Mencegah rebuild yang tidak perlu jika perubahan state tidak memengaruhi bagian tampilan terkait.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Batasan Desain:</a:t>
            </a:r>
            <a:r>
              <a:rPr sz="1000">
                <a:solidFill>
                  <a:srgbClr val="4B5563"/>
                </a:solidFill>
                <a:latin typeface="Segoe UI"/>
              </a:rPr>
              <a:t> Dilarang memicu dialog, notifikasi, atau navigasi rute di dalam builder.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Bungkus hanya komponen widget terkecil yang memerlukan pembaruan data, bukan seluruh Scaffold.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bloc_builder_filter.dart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BlocBuilder&lt;StepCubit, int&gt;(</a:t>
            </a:r>
            <a:br/>
            <a:r>
              <a:t>  // Rebuild hanya jika nilai step merupakan kelipatan 5:</a:t>
            </a:r>
            <a:br/>
            <a:r>
              <a:t>  buildWhen: (previous, current) =&gt; current % 5 == 0,</a:t>
            </a:r>
            <a:br/>
            <a:r>
              <a:t>  builder: (context, step) {</a:t>
            </a:r>
            <a:br/>
            <a:r>
              <a:t>    return Text(</a:t>
            </a:r>
            <a:br/>
            <a:r>
              <a:t>      'Milestone: $step',</a:t>
            </a:r>
            <a:br/>
            <a:r>
              <a:t>      style: const TextStyle(fontWeight: FontWeight.bold),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(slide_14_bloc_builder_buildwhen.dart)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1764792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7647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KONSUMSI UI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BlocListener: Manajemen Efek Samping (Side Effects)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Fungsi BlocListener:</a:t>
            </a:r>
            <a:r>
              <a:rPr sz="1000">
                <a:solidFill>
                  <a:srgbClr val="4B5563"/>
                </a:solidFill>
                <a:latin typeface="Segoe UI"/>
              </a:rPr>
              <a:t> Menangani aksi satu kali seperti menampilkan SnackBar, AlertDialog, atau navigasi halaman.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Bebas Duplikasi:</a:t>
            </a:r>
            <a:r>
              <a:rPr sz="1000">
                <a:solidFill>
                  <a:srgbClr val="4B5563"/>
                </a:solidFill>
                <a:latin typeface="Segoe UI"/>
              </a:rPr>
              <a:t> Berbeda dari builder yang dapat dipanggil berkali-kali oleh framework, listener dieksekusi tepat 1 kali per transisi.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Filter listenWhen:</a:t>
            </a:r>
            <a:r>
              <a:rPr sz="1000">
                <a:solidFill>
                  <a:srgbClr val="4B5563"/>
                </a:solidFill>
                <a:latin typeface="Segoe UI"/>
              </a:rPr>
              <a:t> Mengontrol kapan listener harus dipicu berdasarkan perbandingan state sebelumnya dan state saat ini.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Pemisahan Logika UI:</a:t>
            </a:r>
            <a:r>
              <a:rPr sz="1000">
                <a:solidFill>
                  <a:srgbClr val="4B5563"/>
                </a:solidFill>
                <a:latin typeface="Segoe UI"/>
              </a:rPr>
              <a:t> Memisahkan tampilan pasif dari aksi interaktif pengguna secara terstruktur.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Gunakan BlocListener untuk penanganan respon API sukses/gagal dan perpindahan rute navigasi (context.go).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bloc_listener_side_effects.dart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BlocListener&lt;FormCubit, int&gt;(</a:t>
            </a:r>
            <a:br/>
            <a:r>
              <a:t>  listenWhen: (prev, curr) =&gt; curr == 200,</a:t>
            </a:r>
            <a:br/>
            <a:r>
              <a:t>  listener: (context, code) {</a:t>
            </a:r>
            <a:br/>
            <a:r>
              <a:t>    ScaffoldMessenger.of(context).showSnackBar(</a:t>
            </a:r>
            <a:br/>
            <a:r>
              <a:t>      const SnackBar(content: Text('Operasi Berhasil Diproses')),</a:t>
            </a:r>
            <a:br/>
            <a:r>
              <a:t>    );</a:t>
            </a:r>
            <a:br/>
            <a:r>
              <a:t>  },</a:t>
            </a:r>
            <a:br/>
            <a:r>
              <a:t>  child: const MyFormWidget(),</a:t>
            </a:r>
            <a:br/>
            <a:r>
              <a:t>);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(slide_15_bloc_listener_side_effects.dart)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1764792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76479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KONSUMSI UI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BlocConsumer: Integrasi Builder dan Listener dalam Satu Widget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Fungsi Terpadu:</a:t>
            </a:r>
            <a:r>
              <a:rPr sz="1000">
                <a:solidFill>
                  <a:srgbClr val="4B5563"/>
                </a:solidFill>
                <a:latin typeface="Segoe UI"/>
              </a:rPr>
              <a:t> Menggabungkan BlocBuilder dan BlocListener untuk menyederhanakan widget tree tanpa nesting berlebihan.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Parameter 'listener':</a:t>
            </a:r>
            <a:r>
              <a:rPr sz="1000">
                <a:solidFill>
                  <a:srgbClr val="4B5563"/>
                </a:solidFill>
                <a:latin typeface="Segoe UI"/>
              </a:rPr>
              <a:t> Menangani aksi umpan balik visual seperti SnackBar atau perpindahan halaman.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Parameter 'builder':</a:t>
            </a:r>
            <a:r>
              <a:rPr sz="1000">
                <a:solidFill>
                  <a:srgbClr val="4B5563"/>
                </a:solidFill>
                <a:latin typeface="Segoe UI"/>
              </a:rPr>
              <a:t> Mengembalikan widget tree untuk penggambaran antarmuka pengguna.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Penggunaan Ideal:</a:t>
            </a:r>
            <a:r>
              <a:rPr sz="1000">
                <a:solidFill>
                  <a:srgbClr val="4B5563"/>
                </a:solidFill>
                <a:latin typeface="Segoe UI"/>
              </a:rPr>
              <a:t> Sangat cocok untuk komponen formulir login, transaksi pembayaran, atau tombol submit.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Gunakan BlocConsumer untuk menyederhanakan kode saat sebuah widget membutuhkan rendering visual sekaligus umpan balik notifikasi.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bloc_consumer_duo.dart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BlocConsumer&lt;LoginCubit, bool&gt;(</a:t>
            </a:r>
            <a:br/>
            <a:r>
              <a:t>  listener: (context, isLoggedIn) {</a:t>
            </a:r>
            <a:br/>
            <a:r>
              <a:t>    if (isLoggedIn) {</a:t>
            </a:r>
            <a:br/>
            <a:r>
              <a:t>      ScaffoldMessenger.of(context).showSnackBar(</a:t>
            </a:r>
            <a:br/>
            <a:r>
              <a:t>        const SnackBar(content: Text('Autentikasi Berhasil')),</a:t>
            </a:r>
            <a:br/>
            <a:r>
              <a:t>      );</a:t>
            </a:r>
            <a:br/>
            <a:r>
              <a:t>    }</a:t>
            </a:r>
            <a:br/>
            <a:r>
              <a:t>  },</a:t>
            </a:r>
            <a:br/>
            <a:r>
              <a:t>  builder: (context, isLoggedIn) {</a:t>
            </a:r>
            <a:br/>
            <a:r>
              <a:t>    return FilledButton(</a:t>
            </a:r>
            <a:br/>
            <a:r>
              <a:t>      onPressed: () =&gt; context.read&lt;LoginCubit&gt;().toggle(),</a:t>
            </a:r>
            <a:br/>
            <a:r>
              <a:t>      child: Text(isLoggedIn ? 'Keluar' : 'Masuk'),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(slide_16_bloc_consumer_duo.dart)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066543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066543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OPTIMASI REBUILD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BlocSelector: Isolasi Rebuild Berdasarkan Nilai Properti Spesifik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Tujuan Optimasi:</a:t>
            </a:r>
            <a:r>
              <a:rPr sz="1000">
                <a:solidFill>
                  <a:srgbClr val="4B5563"/>
                </a:solidFill>
                <a:latin typeface="Segoe UI"/>
              </a:rPr>
              <a:t> Memilih satu properti tertentu dari objek state yang kompleks untuk dipantau secara terisolasi.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Eliminasi Rebuild:</a:t>
            </a:r>
            <a:r>
              <a:rPr sz="1000">
                <a:solidFill>
                  <a:srgbClr val="4B5563"/>
                </a:solidFill>
                <a:latin typeface="Segoe UI"/>
              </a:rPr>
              <a:t> Widget hanya akan me-rebuild jika nilai properti yang dipilih (selected) mengalami perubahan.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Efisiensi Aplikasi Skala Besar:</a:t>
            </a:r>
            <a:r>
              <a:rPr sz="1000">
                <a:solidFill>
                  <a:srgbClr val="4B5563"/>
                </a:solidFill>
                <a:latin typeface="Segoe UI"/>
              </a:rPr>
              <a:t> Mencegah penurunan frame rate (jank) pada form formulir berukuran besar.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Kepatuhan Arsitektur:</a:t>
            </a:r>
            <a:r>
              <a:rPr sz="1000">
                <a:solidFill>
                  <a:srgbClr val="4B5563"/>
                </a:solidFill>
                <a:latin typeface="Segoe UI"/>
              </a:rPr>
              <a:t> Menjaga konsistensi performa pada tingkat 60-120 FPS di perangkat mobile.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BlocSelector adalah solusi optimal saat satu state object memuat banyak data namun widget hanya memerlukan satu field spesifik.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bloc_selector_opt.dart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BlocSelector&lt;ProfilCubit, ProfilData, String&gt;(</a:t>
            </a:r>
            <a:br/>
            <a:r>
              <a:t>  selector: (state) =&gt; state.nama, // Hanya memantau field 'nama'</a:t>
            </a:r>
            <a:br/>
            <a:r>
              <a:t>  builder: (context, nama) {</a:t>
            </a:r>
            <a:br/>
            <a:r>
              <a:t>    return Text('Pengguna: $nama');</a:t>
            </a:r>
            <a:br/>
            <a:r>
              <a:t>    // Tidak akan di-rebuild jika field lain (misal: umur) berubah!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(slide_17_bloc_selector_opt.dart)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1865376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86537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POLA STATUS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Pemodelan 4 Status UI: Initial, Loading, Success, dan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Standar Industri:</a:t>
            </a:r>
            <a:r>
              <a:rPr sz="1000">
                <a:solidFill>
                  <a:srgbClr val="4B5563"/>
                </a:solidFill>
                <a:latin typeface="Segoe UI"/>
              </a:rPr>
              <a:t> Setiap alur interaksi data asinkron wajib dimodelkan ke dalam 4 status state yang tegas.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Pemanfaatan Sealed Class:</a:t>
            </a:r>
            <a:r>
              <a:rPr sz="1000">
                <a:solidFill>
                  <a:srgbClr val="4B5563"/>
                </a:solidFill>
                <a:latin typeface="Segoe UI"/>
              </a:rPr>
              <a:t> Memastikan seluruh status tertangani secara komprehensif saat menggunakan switch pattern matching.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Initial &amp; Loading:</a:t>
            </a:r>
            <a:r>
              <a:rPr sz="1000">
                <a:solidFill>
                  <a:srgbClr val="4B5563"/>
                </a:solidFill>
                <a:latin typeface="Segoe UI"/>
              </a:rPr>
              <a:t> Menampilkan panduan awal atau indikator progres tanpa menampilkan layar kosong.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Success &amp; Error:</a:t>
            </a:r>
            <a:r>
              <a:rPr sz="1000">
                <a:solidFill>
                  <a:srgbClr val="4B5563"/>
                </a:solidFill>
                <a:latin typeface="Segoe UI"/>
              </a:rPr>
              <a:t> Menyajikan data hasil pemrosesan atau pesan galat yang informatif kepada pengguna.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Pola sealed class dengan pattern matching switch memastikan kompilator memvalidasi seluruh status ter-handle tanpa celah bug.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four_ui_states.dart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sealed class DataState extends Equatable {}</a:t>
            </a:r>
            <a:br/>
            <a:br/>
            <a:r>
              <a:t>class DataInitial extends DataState { ... }</a:t>
            </a:r>
            <a:br/>
            <a:r>
              <a:t>class DataLoading extends DataState { ... }</a:t>
            </a:r>
            <a:br/>
            <a:r>
              <a:t>class DataSuccess extends DataState { final List items; ... }</a:t>
            </a:r>
            <a:br/>
            <a:r>
              <a:t>class DataError extends DataState { final String pesan; ... }</a:t>
            </a:r>
            <a:br/>
            <a:br/>
            <a:r>
              <a:t>// Penanganan di antarmuka menggunakan pattern matching:</a:t>
            </a:r>
            <a:br/>
            <a:r>
              <a:t>return switch (state) {</a:t>
            </a:r>
            <a:br/>
            <a:r>
              <a:t>  DataInitial() =&gt; const Text('Tekan Tombol untuk Memuat'),</a:t>
            </a:r>
            <a:br/>
            <a:r>
              <a:t>  DataLoading() =&gt; const CircularProgressIndicator.adaptive(),</a:t>
            </a:r>
            <a:br/>
            <a:r>
              <a:t>  DataSuccess(:final items) =&gt; ListView(...),</a:t>
            </a:r>
            <a:br/>
            <a:r>
              <a:t>  DataError(:final pesan) =&gt; Text('Terjadi Galat: $pesan'),</a:t>
            </a:r>
            <a:br/>
            <a:r>
              <a:t>};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(slide_18_arsitektur_4_status_ui.dart)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1965960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96596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MODE KONKURENSI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Manajemen Konkurensi Event: Proteksi Dobel Klik &amp; Debounce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Masalah Konkurensi:</a:t>
            </a:r>
            <a:r>
              <a:rPr sz="1000">
                <a:solidFill>
                  <a:srgbClr val="4B5563"/>
                </a:solidFill>
                <a:latin typeface="Segoe UI"/>
              </a:rPr>
              <a:t> Pengguna menekan tombol transaksi berkali-kali secara cepat, berpotensi memicu request duplikat.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Transformer droppable():</a:t>
            </a:r>
            <a:r>
              <a:rPr sz="1000">
                <a:solidFill>
                  <a:srgbClr val="4B5563"/>
                </a:solidFill>
                <a:latin typeface="Segoe UI"/>
              </a:rPr>
              <a:t> Mengabaikan event baru yang masuk selama event sebelumnya masih dalam proses pengerjaan.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Transformer restartable():</a:t>
            </a:r>
            <a:r>
              <a:rPr sz="1000">
                <a:solidFill>
                  <a:srgbClr val="4B5563"/>
                </a:solidFill>
                <a:latin typeface="Segoe UI"/>
              </a:rPr>
              <a:t> Membatalkan proses yang sedang berjalan dan segera memulai proses terbaru (debounce live search).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Paket Resmi:</a:t>
            </a:r>
            <a:r>
              <a:rPr sz="1000">
                <a:solidFill>
                  <a:srgbClr val="4B5563"/>
                </a:solidFill>
                <a:latin typeface="Segoe UI"/>
              </a:rPr>
              <a:t> Tersedia melalui pustaka resmi 'bloc_concurrency' oleh tim pengembang BLoC.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Terapkan transformer droppable() pada operasi transaksi keuangan untuk menjamin integritas data dan mencegah duplikasi order.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bloc_concurrency_modes.dart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import 'package:bloc_concurrency/bloc_concurrency.dart';</a:t>
            </a:r>
            <a:br/>
            <a:br/>
            <a:r>
              <a:t>class SearchBloc extends Bloc&lt;SearchEvent, SearchState&gt; {</a:t>
            </a:r>
            <a:br/>
            <a:r>
              <a:t>  SearchBloc() : super(SearchInitial()) {</a:t>
            </a:r>
            <a:br/>
            <a:r>
              <a:t>    // 1. Debounce live search: batalkan proses sebelumnya</a:t>
            </a:r>
            <a:br/>
            <a:r>
              <a:t>    on&lt;QueryChanged&gt;(_onSearch, transformer: restartable());</a:t>
            </a:r>
            <a:br/>
            <a:br/>
            <a:r>
              <a:t>    // 2. Proteksi transaksi pembayaran: abaikan klik kedua</a:t>
            </a:r>
            <a:br/>
            <a:r>
              <a:t>    on&lt;PayPressed&gt;(_onCheckout, transformer: droppable());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(slide_19_bloc_concurrency.dart)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DIAGRAM ARSITEKTUR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Mode Konkurensi Event: Perilaku droppable() vs restartable()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10545775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loc-concurrency-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352" y="1682496"/>
            <a:ext cx="9206989" cy="36027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5532120"/>
            <a:ext cx="1054577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5532120"/>
            <a:ext cx="219456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76072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PANDUAN ARSITEKTUR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05272"/>
            <a:ext cx="7985455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droppable() (Proteksi Transaksi): Mengabaikan event susulan jika proses aktif belum tuntas. Wajib untuk checkout dan transfer bank.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restartable() (Live Search): Membatalkan event yang sedang berjalan dan segera memproses input karakter terakhir dari pengguna.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Pedoman Praktikum: Pengelolaan konkurensi adalah standar kualitas wajib pada aplikasi berskala enterprise.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1865376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865376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MULTI-PROVIDER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MultiBlocProvider: Manajemen Banyak State Provider pada Root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Kebutuhan Aplikasi Skala Menengah:</a:t>
            </a:r>
            <a:r>
              <a:rPr sz="1000">
                <a:solidFill>
                  <a:srgbClr val="4B5563"/>
                </a:solidFill>
                <a:latin typeface="Segoe UI"/>
              </a:rPr>
              <a:t> Aplikasi riil membutuhkan banyak instansiasi Cubit (Auth, Cart, Theme, Notification).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Eliminasi Nesting:</a:t>
            </a:r>
            <a:r>
              <a:rPr sz="1000">
                <a:solidFill>
                  <a:srgbClr val="4B5563"/>
                </a:solidFill>
                <a:latin typeface="Segoe UI"/>
              </a:rPr>
              <a:t> Menghindari piramida hierarki bersarang (BlocProvider di dalam BlocProvider bertingkat).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Penempatan Terpusat:</a:t>
            </a:r>
            <a:r>
              <a:rPr sz="1000">
                <a:solidFill>
                  <a:srgbClr val="4B5563"/>
                </a:solidFill>
                <a:latin typeface="Segoe UI"/>
              </a:rPr>
              <a:t> Ditempatkan di root aplikasi (di atas MaterialApp) untuk menyediakan state global secara terorganisir.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Keterbacaan Kode:</a:t>
            </a:r>
            <a:r>
              <a:rPr sz="1000">
                <a:solidFill>
                  <a:srgbClr val="4B5563"/>
                </a:solidFill>
                <a:latin typeface="Segoe UI"/>
              </a:rPr>
              <a:t> Memudahkan pemeliharaan daftar provider yang aktif di seluruh siklus hidup aplikasi.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Daftarkan seluruh Cubit global di MultiBlocProvider pada file main.dart untuk aksesibilitas lintas rute aplikasi.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multi_bloc_provider.dart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MultiBlocProvider(</a:t>
            </a:r>
            <a:br/>
            <a:r>
              <a:t>  providers: [</a:t>
            </a:r>
            <a:br/>
            <a:r>
              <a:t>    BlocProvider&lt;AuthCubit&gt;(create: (ctx) =&gt; AuthCubit()),</a:t>
            </a:r>
            <a:br/>
            <a:r>
              <a:t>    BlocProvider&lt;CartCubit&gt;(create: (ctx) =&gt; CartCubit()),</a:t>
            </a:r>
            <a:br/>
            <a:r>
              <a:t>    BlocProvider&lt;ThemeCubit&gt;(create: (ctx) =&gt; ThemeCubit()),</a:t>
            </a:r>
            <a:br/>
            <a:r>
              <a:t>  ],</a:t>
            </a:r>
            <a:br/>
            <a:r>
              <a:t>  child: const MainApp(),</a:t>
            </a:r>
            <a:br/>
            <a:r>
              <a:t>);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(slide_21_multi_bloc_provider.dart)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167128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1671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GLOBAL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BlocObserver: Pemantauan Sentral Transisi State dan Logging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Fungsi Monitoring:</a:t>
            </a:r>
            <a:r>
              <a:rPr sz="1000">
                <a:solidFill>
                  <a:srgbClr val="4B5563"/>
                </a:solidFill>
                <a:latin typeface="Segoe UI"/>
              </a:rPr>
              <a:t> Mengamati setiap transisi perubahan state dan event yang terjadi di seluruh aplikasi secara tersentral.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Otomasi Audit Trail:</a:t>
            </a:r>
            <a:r>
              <a:rPr sz="1000">
                <a:solidFill>
                  <a:srgbClr val="4B5563"/>
                </a:solidFill>
                <a:latin typeface="Segoe UI"/>
              </a:rPr>
              <a:t> Mencatat transisi state sebelumnya ke state berikutnya tanpa perlu menyisipkan debugPrint di setiap class.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Penanganan Error Global:</a:t>
            </a:r>
            <a:r>
              <a:rPr sz="1000">
                <a:solidFill>
                  <a:srgbClr val="4B5563"/>
                </a:solidFill>
                <a:latin typeface="Segoe UI"/>
              </a:rPr>
              <a:t> Method onError() menangkap unhandled exceptions sebelum menimbulkan crash pada aplikasi.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Kemudahan Debugging:</a:t>
            </a:r>
            <a:r>
              <a:rPr sz="1000">
                <a:solidFill>
                  <a:srgbClr val="4B5563"/>
                </a:solidFill>
                <a:latin typeface="Segoe UI"/>
              </a:rPr>
              <a:t> Mempercepat pelacakan sumber kesalahan logika bisnis selama masa pengembangan dan pengujian.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Manfaatkan BlocObserver untuk mencatat jejak transisi data dan mendiagnosis perubahan state yang tidak terduga.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bloc_observer_cctv.dart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class AppBlocObserver extends BlocObserver {</a:t>
            </a:r>
            <a:br/>
            <a:r>
              <a:t>  @override</a:t>
            </a:r>
            <a:br/>
            <a:r>
              <a:t>  void onChange(BlocBase&lt;dynamic&gt; bloc, Change&lt;dynamic&gt; change) {</a:t>
            </a:r>
            <a:br/>
            <a:r>
              <a:t>    super.onChange(bloc, change);</a:t>
            </a:r>
            <a:br/>
            <a:r>
              <a:t>    debugPrint('[BLOC] ${bloc.runtimeType}: '</a:t>
            </a:r>
            <a:br/>
            <a:r>
              <a:t>        '${change.currentState} -&gt; ${change.nextState}');</a:t>
            </a:r>
            <a:br/>
            <a:r>
              <a:t>  }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Bloc.observer = AppBlocObserver(); // Registrasi observer</a:t>
            </a:r>
            <a:br/>
            <a:r>
              <a:t>  runApp(const MyApp());</a:t>
            </a:r>
            <a:br/>
            <a:r>
              <a:t>}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(slide_22_bloc_observer_cctv.dart)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468880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468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STUDI KASUS REFACTOR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Refactoring Nyata: Migrasi dari setState() ke Cubit Modular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Pemisahan Kode:</a:t>
            </a:r>
            <a:r>
              <a:rPr sz="1000">
                <a:solidFill>
                  <a:srgbClr val="4B5563"/>
                </a:solidFill>
                <a:latin typeface="Segoe UI"/>
              </a:rPr>
              <a:t> Mengisolasi variabel data dan fungsi manipulasi dari class widget ke class Cubit mandiri.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Transformasi Widget:</a:t>
            </a:r>
            <a:r>
              <a:rPr sz="1000">
                <a:solidFill>
                  <a:srgbClr val="4B5563"/>
                </a:solidFill>
                <a:latin typeface="Segoe UI"/>
              </a:rPr>
              <a:t> Mengubah StatefulWidget menjadi StatelessWidget yang bersih dan bertugas menggambar antarmuka.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Enkapsulasi State:</a:t>
            </a:r>
            <a:r>
              <a:rPr sz="1000">
                <a:solidFill>
                  <a:srgbClr val="4B5563"/>
                </a:solidFill>
                <a:latin typeface="Segoe UI"/>
              </a:rPr>
              <a:t> Memindahkan koleksi data (misal: Set&lt;String&gt; wishlist) dan method mutasi ke dalam WishlistCubit.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Hasil Arsitektur:</a:t>
            </a:r>
            <a:r>
              <a:rPr sz="1000">
                <a:solidFill>
                  <a:srgbClr val="4B5563"/>
                </a:solidFill>
                <a:latin typeface="Segoe UI"/>
              </a:rPr>
              <a:t> Komponen tampilan menjadi modular, mudah dipelihara, dan dapat diuji secara terpisah.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Proses refactoring memisahkan logika dari antarmuka adalah kompetensi utama evaluasi arsitektur perangkat lunak pada proyek UTS.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refactoring_setstate_cubit.dart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// SEBELUM (Logika bisnis tercampur di dalam UI):</a:t>
            </a:r>
            <a:br/>
            <a:r>
              <a:t>void _toggle(String id) {</a:t>
            </a:r>
            <a:br/>
            <a:r>
              <a:t>  setState(() =&gt; _items.contains(id) ? _items.remove(id) : _items.add(id));</a:t>
            </a:r>
            <a:br/>
            <a:r>
              <a:t>}</a:t>
            </a:r>
            <a:br/>
            <a:br/>
            <a:r>
              <a:t>// SESUDAH (Cubit terisolasi dan modular):</a:t>
            </a:r>
            <a:br/>
            <a:r>
              <a:t>class WishlistCubit extends Cubit&lt;Set&lt;String&gt;&gt; {</a:t>
            </a:r>
            <a:br/>
            <a:r>
              <a:t>  WishlistCubit() : super({});</a:t>
            </a:r>
            <a:br/>
            <a:r>
              <a:t>  void toggle(String id) {</a:t>
            </a:r>
            <a:br/>
            <a:r>
              <a:t>    final updated = Set&lt;String&gt;.from(state);</a:t>
            </a:r>
            <a:br/>
            <a:r>
              <a:t>    updated.contains(id) ? updated.remove(id) : updated.add(id);</a:t>
            </a:r>
            <a:br/>
            <a:r>
              <a:t>    emit(updated);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(slide_23_refactoring_setstate_cubit.dart)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DIAGRAM ARSITEKTUR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Matriks Keputusan Industri: Provider vs Riverpod 2.x vs BLoC / Cubit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10545775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mparison-matrix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782367"/>
            <a:ext cx="10326319" cy="340299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" y="5532120"/>
            <a:ext cx="1054577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5532120"/>
            <a:ext cx="2194560" cy="9601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76072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PANDUAN ARSITEKTUR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05272"/>
            <a:ext cx="7985455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Provider: Cocok untuk mempelajari fondasi InheritedWidget, namun rentan terhadap ketergantungan BuildContext.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Riverpod 2.x: Pilihan modern untuk startup dengan fitur compile-safe, dependency caching, dan otomatisasi AsyncValue.</a:t>
            </a:r>
          </a:p>
          <a:p>
            <a:pPr>
              <a:spcAft>
                <a:spcPts val="200"/>
              </a:spcAft>
              <a:defRPr sz="950">
                <a:solidFill>
                  <a:srgbClr val="4B5563"/>
                </a:solidFill>
                <a:latin typeface="Segoe UI"/>
              </a:defRPr>
            </a:pPr>
            <a:r>
              <a:t>•  BLoC / Cubit: Standar utama industri perbankan dan fintech berkat audit trail (BlocObserver) dan determinisme UDF.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267712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26771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5 Aturan Emas Tata Kelola State Produksi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493776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1. Immutability Mutlak:</a:t>
            </a:r>
            <a:r>
              <a:rPr sz="1000">
                <a:solidFill>
                  <a:srgbClr val="4B5563"/>
                </a:solidFill>
                <a:latin typeface="Segoe UI"/>
              </a:rPr>
              <a:t> Selalu extends Equatable dan gunakan method copyWith() untuk memancarkan data baru.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2. Larangan Efek Samping di Builder:</a:t>
            </a:r>
            <a:r>
              <a:rPr sz="1000">
                <a:solidFill>
                  <a:srgbClr val="4B5563"/>
                </a:solidFill>
                <a:latin typeface="Segoe UI"/>
              </a:rPr>
              <a:t> Gunakan BlocListener secara khusus untuk SnackBar, dialog, dan navigasi.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3. Penggunaan Context Tepat Guna:</a:t>
            </a:r>
            <a:r>
              <a:rPr sz="1000">
                <a:solidFill>
                  <a:srgbClr val="4B5563"/>
                </a:solidFill>
                <a:latin typeface="Segoe UI"/>
              </a:rPr>
              <a:t> Gunakan context.read() pada callback tombol, dan context.watch() hanya pada builder.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4. Implementasi BlocObserver:</a:t>
            </a:r>
            <a:r>
              <a:rPr sz="1000">
                <a:solidFill>
                  <a:srgbClr val="4B5563"/>
                </a:solidFill>
                <a:latin typeface="Segoe UI"/>
              </a:rPr>
              <a:t> Pasang observer pada root main.dart untuk pemantauan jejak audit data.</a:t>
            </a:r>
          </a:p>
          <a:p>
            <a:pPr>
              <a:spcAft>
                <a:spcPts val="900"/>
              </a:spcAft>
            </a:pPr>
            <a:r>
              <a:rPr sz="1019" b="1">
                <a:solidFill>
                  <a:srgbClr val="111827"/>
                </a:solidFill>
                <a:latin typeface="Segoe UI"/>
              </a:rPr>
              <a:t>5. Pemisahan Berkas Modular:</a:t>
            </a:r>
            <a:r>
              <a:rPr sz="1000">
                <a:solidFill>
                  <a:srgbClr val="4B5563"/>
                </a:solidFill>
                <a:latin typeface="Segoe UI"/>
              </a:rPr>
              <a:t> Satu fitur wajib memiliki berkas state dan cubit terisolasi dalam struktur direktori mandiri.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4983480"/>
            <a:ext cx="4572000" cy="132588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074920"/>
            <a:ext cx="4297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 b="1">
                <a:solidFill>
                  <a:srgbClr val="6B7280"/>
                </a:solidFill>
                <a:latin typeface="Segoe UI"/>
              </a:defRPr>
            </a:pPr>
            <a:r>
              <a:t>CATATAN TEKNIS</a:t>
            </a:r>
          </a:p>
          <a:p>
            <a:pPr>
              <a:defRPr sz="930">
                <a:solidFill>
                  <a:srgbClr val="111827"/>
                </a:solidFill>
                <a:latin typeface="Segoe UI"/>
              </a:defRPr>
            </a:pPr>
            <a:r>
              <a:t>Gunakan kelima kriteria kepatuhan ini sebagai acuan evaluasi arsitektur pada pengerjaan proyek kelompok UTS.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72768"/>
            <a:ext cx="5379415" cy="489204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379415" cy="384048"/>
          </a:xfrm>
          <a:prstGeom prst="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53912" y="1691640"/>
            <a:ext cx="82296" cy="82296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691640"/>
            <a:ext cx="82296" cy="82296"/>
          </a:xfrm>
          <a:prstGeom prst="ellipse">
            <a:avLst/>
          </a:prstGeom>
          <a:solidFill>
            <a:srgbClr val="5252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1691640"/>
            <a:ext cx="82296" cy="82296"/>
          </a:xfrm>
          <a:prstGeom prst="ellipse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600200"/>
            <a:ext cx="45564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4D4D8"/>
                </a:solidFill>
                <a:latin typeface="Consolas"/>
              </a:defRPr>
            </a:pPr>
            <a:r>
              <a:t>checklist_state_management.dart  •  Dart 3.x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48256"/>
            <a:ext cx="50136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F4F5"/>
                </a:solidFill>
                <a:latin typeface="Consolas"/>
              </a:defRPr>
            </a:pPr>
            <a:r>
              <a:t>// Checklist Kepatuhan Arsitektur State Management 2026:</a:t>
            </a:r>
            <a:br/>
            <a:r>
              <a:t>// [1] Seluruh App State dikelola Cubit (Bebas setState lintas widget)</a:t>
            </a:r>
            <a:br/>
            <a:r>
              <a:t>// [2] BlocBuilder tidak memicu SnackBar atau dialog navigasi</a:t>
            </a:r>
            <a:br/>
            <a:r>
              <a:t>// [3] Equatable mencegah proses rebuild jika nilai data tidak berubah</a:t>
            </a:r>
            <a:br/>
            <a:r>
              <a:t>// [4] Log transisi tercatat rapi di konsol terminal via BlocObserver</a:t>
            </a:r>
            <a:br/>
            <a:r>
              <a:t>// [5] Struktur berkas mematuhi pemisahan domain dan presentation</a:t>
            </a:r>
          </a:p>
        </p:txBody>
      </p:sp>
      <p:sp>
        <p:nvSpPr>
          <p:cNvPr id="18" name="Rectangle 17">
            <a:hlinkClick r:id="rId2"/>
          </p:cNvPr>
          <p:cNvSpPr/>
          <p:nvPr/>
        </p:nvSpPr>
        <p:spPr>
          <a:xfrm>
            <a:off x="6172200" y="5779008"/>
            <a:ext cx="5013655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54864" rIns="164592" bIns="54864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Buka Kode Lengkap di GitHub (slide_25_checklist_state_management.dart)</a:t>
            </a:r>
          </a:p>
          <a:p>
            <a:r>
              <a:rPr sz="750">
                <a:solidFill>
                  <a:srgbClr val="A1A1AA"/>
                </a:solidFill>
                <a:latin typeface="Segoe UI"/>
              </a:rPr>
              <a:t>Repositori: github.com/antonprafanto/mobile2026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2569464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F2937"/>
                </a:solidFill>
                <a:latin typeface="Segoe UI"/>
              </a:defRPr>
            </a:pPr>
            <a:r>
              <a:t>STUDI KASUS PRAKTIKUM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54577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Segoe UI"/>
              </a:defRPr>
            </a:pPr>
            <a:r>
              <a:t>Lab Quest 06: Mini E-Commerce Multi-Bloc (Cart &amp; Wishlist Reaktif)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89888"/>
            <a:ext cx="10545775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72768"/>
            <a:ext cx="10545775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572768"/>
            <a:ext cx="10545775" cy="4572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27632"/>
            <a:ext cx="9875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B7280"/>
                </a:solidFill>
                <a:latin typeface="Segoe UI"/>
              </a:defRPr>
            </a:pPr>
            <a:r>
              <a:t>TARGET WAKTU PENYELESAIAN: 60 MENIT  •  PENILAIAN BERBASIS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14884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111827"/>
                </a:solidFill>
                <a:latin typeface="Segoe UI"/>
              </a:defRPr>
            </a:pPr>
            <a:r>
              <a:t>SPESIFIKASI DAN KEBUTUHAN SISTEM: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1.  Bangun aplikasi e-commerce dengan logika state management Cubit yang terpisah dari antarmuka UI.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2.  Definisikan class CartCubit dan CartItemState berbasis Equatable untuk mencatat daftar produk dan kuantitas.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3.  Implementasikan Badge reaktif pada AppBar yang menghitung jumlah total item belanjaan secara otomatis.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4.  Gunakan BlocListener untuk menampilkan SnackBar konfirmasi setiap kali item baru berhasil ditambahkan ke keranjang.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5.  Sediakan BottomBar yang menghitung kalkulasi total harga belanjaan secara reaktif serta tombol checkout.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Segoe UI"/>
              </a:defRPr>
            </a:pPr>
            <a:r>
              <a:t>6.  Verifikasi di browser: buktikan pembaruan data berjalan secara instan tanpa hambatan performa.</a:t>
            </a:r>
          </a:p>
          <a:p>
            <a:pPr>
              <a:defRPr sz="1019" b="1">
                <a:solidFill>
                  <a:srgbClr val="111827"/>
                </a:solidFill>
                <a:latin typeface="Segoe UI"/>
              </a:defRPr>
            </a:pPr>
            <a:r>
              <a:t>Kriteria Evaluasi: Keranjang belanja bertambah secara reaktif, badge AppBar terupdate otomatis, SnackBar terpicu via BlocListener, dan total harga akurat.</a:t>
            </a:r>
          </a:p>
        </p:txBody>
      </p:sp>
      <p:sp>
        <p:nvSpPr>
          <p:cNvPr id="11" name="Rectangle 10">
            <a:hlinkClick r:id="rId2"/>
          </p:cNvPr>
          <p:cNvSpPr/>
          <p:nvPr/>
        </p:nvSpPr>
        <p:spPr>
          <a:xfrm>
            <a:off x="1188720" y="5715000"/>
            <a:ext cx="9784080" cy="502920"/>
          </a:xfrm>
          <a:prstGeom prst="rect">
            <a:avLst/>
          </a:prstGeom>
          <a:solidFill>
            <a:srgbClr val="18181B"/>
          </a:solidFill>
          <a:ln w="1270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54864" rIns="182880" bIns="54864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Buka Solusi Lengkap Lab Quest di GitHub (slide_26_lab_quest_cart_cubit.dart)</a:t>
            </a:r>
          </a:p>
          <a:p>
            <a:r>
              <a:rPr sz="780">
                <a:solidFill>
                  <a:srgbClr val="A1A1AA"/>
                </a:solidFill>
                <a:latin typeface="Segoe UI"/>
              </a:rPr>
              <a:t>Repositori Resmi: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