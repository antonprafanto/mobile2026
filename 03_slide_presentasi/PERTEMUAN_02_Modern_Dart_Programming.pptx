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IF3205 • PEMROGRAMAN PIRANTI BERGERAK • PERTEMUAN 02 ✦</a:t>
            </a:r>
          </a:p>
          <a:p>
            <a:pPr>
              <a:spcAft>
                <a:spcPts val="1400"/>
              </a:spcAft>
              <a:defRPr sz="3100" b="1">
                <a:solidFill>
                  <a:srgbClr val="000000"/>
                </a:solidFill>
                <a:latin typeface="Segoe UI"/>
              </a:defRPr>
            </a:pPr>
            <a:r>
              <a:t>Pemrograman Modern Dart:</a:t>
            </a:r>
            <a:br/>
            <a:r>
              <a:t>Logika, Null Safety, &amp; Asinkron</a:t>
            </a:r>
          </a:p>
          <a:p>
            <a:pPr>
              <a:spcAft>
                <a:spcPts val="4000"/>
              </a:spcAft>
              <a:defRPr sz="1500">
                <a:solidFill>
                  <a:srgbClr val="3C3C3C"/>
                </a:solidFill>
                <a:latin typeface="Segoe UI"/>
              </a:defRPr>
            </a:pPr>
            <a:r>
              <a:t>Menyelami bahasa di balik Flutter: sistem tipe data modern, menjinakkan galat null pointer, rekayasa OOP konstruktor, dan aliran data reaktif Future &amp; Stream.</a:t>
            </a:r>
          </a:p>
          <a:p>
            <a:pPr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■  Program Studi Teknik Informatika  ■  OUTCOME-BASED EDUCATION (OBE)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PANDUAN PRAKTIK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Di Mana Kita Mengetik &amp; Menguji Kode Hari Ini?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Opsi 1 (Paling Ringan &amp; Instan): Buka browser dan kunjungi dartpad.dev. Bisa langsung ngoding dan tekan tombol 'Run' tanpa instalasi!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Opsi 2 (Lokal di Laptop): Buat berkas 'latihan.dart' di VS Code, buka terminal (Ctrl + `), lalu ketik 'dart run latihan.dart'.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Tips Dosen: Pasang ekstensi 'Dart' di VS Code. Tombol 'Run' kecil akan otomatis muncul di atas fungsi void main()!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DartPad jika laptop lab sedang lemot atau belum terpasang Flutter SDK!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terminal_dartpad.sh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Buka https://dartpad.dev di browser Anda,</a:t>
            </a:r>
            <a:br/>
            <a:r>
              <a:t>// atau buat file 'latihan.dart' di VS Code:</a:t>
            </a:r>
            <a:br/>
            <a:br/>
            <a:r>
              <a:t>void main() {</a:t>
            </a:r>
            <a:br/>
            <a:r>
              <a:t>  print('Halo Dart 2026!');</a:t>
            </a:r>
            <a:br/>
            <a:r>
              <a:t>  print('Siap belajar logika pemrograman modern!');</a:t>
            </a:r>
            <a:br/>
            <a:r>
              <a:t>}</a:t>
            </a:r>
            <a:br/>
            <a:br/>
            <a:r>
              <a:t>// Cara menjalankan di terminal lokal:</a:t>
            </a:r>
            <a:br/>
            <a:r>
              <a:t>// $ dart run latihan.dart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MINDSET PEMULA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Mengapa Kita Wajib Memahami Dart Terlebih Dahulu?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Banyak mahasiswa langsung ingin bikin UI warna-warni tanpa paham logika Dart.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Analogi Kendaraan: Flutter adalah bodi mobil, jok empuk, dan warna cat menawan. Dart adalah mesin bensin, aki, dan kabel transmisinya.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Fakta Industri: Lebih dari 90% bug aplikasi mobile bukan karena salah memilih tombol, melainkan karena salah mengolah data logika!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Dart dibuat oleh Google khusus untuk antarmuka pengguna yang cepat dan reaktif.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Logika Dart yang kuat akan membuat Anda sangat mudah menguasai State Management di Minggu ke-6!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mindset_dart.dart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Tanpa logika Dart, tombol UI hanyalah pajangan mati:</a:t>
            </a:r>
            <a:br/>
            <a:r>
              <a:t>void main() {</a:t>
            </a:r>
            <a:br/>
            <a:r>
              <a:t>  final hargaBarang = 50000;</a:t>
            </a:r>
            <a:br/>
            <a:r>
              <a:t>  final diskon = 0.20; // 20%</a:t>
            </a:r>
            <a:br/>
            <a:r>
              <a:t>  </a:t>
            </a:r>
            <a:br/>
            <a:r>
              <a:t>  // Logika perhitungan harga akhir:</a:t>
            </a:r>
            <a:br/>
            <a:r>
              <a:t>  final totalBayar = hargaBarang - (hargaBarang * diskon);</a:t>
            </a:r>
            <a:br/>
            <a:r>
              <a:t>  </a:t>
            </a:r>
            <a:br/>
            <a:r>
              <a:t>  print('Total bayar di kasir: Rp $totalBayar');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920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9202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DASAR BAHASA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Variabel &amp; Tipe Data: var, final, dan const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Tipe Data Utama: int (bilangan bulat), double (desimal), String (teks), dan bool (true/false).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Kata Kunci var: Dart otomatis menebak tipe datanya (Type Inference).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final vs const (Krusial di Flutter!):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- final: Nilainya dikunci satu kali saat program berjalan / runtime (misal: waktu saat ini atau data API).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- const: Nilainya sudah mutlak pasti sejak sebelum program dikompilasi (misal: nilai Pi = 3.14).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Di Flutter, selalu pasang 'const' pada widget statis agar performa aplikasi sangat hemat RAM!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variabel_dasar.dart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void main() {</a:t>
            </a:r>
            <a:br/>
            <a:r>
              <a:t>  String nama = 'Kopi Kampus';</a:t>
            </a:r>
            <a:br/>
            <a:r>
              <a:t>  var harga = 18000;      // otomatis int</a:t>
            </a:r>
            <a:br/>
            <a:r>
              <a:t>  var rating = 4.8;       // otomatis double</a:t>
            </a:r>
            <a:br/>
            <a:r>
              <a:t>  var isBuka = true;      // otomatis bool</a:t>
            </a:r>
            <a:br/>
            <a:br/>
            <a:r>
              <a:t>  // final vs const:</a:t>
            </a:r>
            <a:br/>
            <a:r>
              <a:t>  final jamOrder = DateTime.now(); // ditaksir saat runtime</a:t>
            </a:r>
            <a:br/>
            <a:r>
              <a:t>  const double pajak = 0.11;       // mutlak 11% selamanya</a:t>
            </a:r>
            <a:br/>
            <a:br/>
            <a:r>
              <a:t>  print('$nama - Rp $harga (Pajak: $pajak) @ $jamOrder');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034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KEAMANAN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Sound Null Safety: Analogi Kotak Kado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Tony Hoare (1965) menyebut nilai null tanpa pengaman sebagai 'Billion-Dollar Mistake' karena memicu jutaan aplikasi crash.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Non-nullable (Bawaan): Variabel WAJIB ada isinya. Kompilator menolak keras nilai null.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Nullable (Tanda Tanya ?): Kotak yang BOLEH kosong/null.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Analogi: Non-nullable adalah kotak makan siang yang wajib ada nasinya; Nullable adalah kotak bekal yang wajar jika kosong.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tanda tanya (?) hanya pada data yang memang wajar jika tidak diisi oleh pengguna!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null_safety_intro.dart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void main() {</a:t>
            </a:r>
            <a:br/>
            <a:r>
              <a:t>  // 1. Non-nullable: Wajib ada isinya!</a:t>
            </a:r>
            <a:br/>
            <a:r>
              <a:t>  String namaMahasiswa = 'Rian Syah';</a:t>
            </a:r>
            <a:br/>
            <a:r>
              <a:t>  // namaMahasiswa = null; // ❌ ERROR KOMPILATOR!</a:t>
            </a:r>
            <a:br/>
            <a:br/>
            <a:r>
              <a:t>  // 2. Nullable (?): Boleh bernilai null</a:t>
            </a:r>
            <a:br/>
            <a:r>
              <a:t>  String? catatanDiet; // default bernilai null</a:t>
            </a:r>
            <a:br/>
            <a:r>
              <a:t>  print('Catatan awal: $catatanDiet'); // null</a:t>
            </a:r>
            <a:br/>
            <a:br/>
            <a:r>
              <a:t>  catatanDiet = 'Kurangi gula dan es batu';</a:t>
            </a:r>
            <a:br/>
            <a:r>
              <a:t>  print('Catatan baru: $catatanDiet');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OPERATOR PENJINAK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Empat Operator Sakti Pengaman Data Kosong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Operator ?. (Safe Navigation): Akses properti hanya jika datanya tidak null (tidak akan crash!).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Operator ?? (Default Fallback): Berikan nilai pengganti cadangan jika datanya null.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Operator ! (Force Unwrap): Memaksa program percaya data ada. AWAS: Rawan crash jika ternyata null!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4. Kata Kunci late: Janji kepada Dart bahwa variabel akan diisi nilainya sebelum dipanggil.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Hindari memakai tanda seru (!) jika Anda tidak 100% yakin datanya pasti ada!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null_operators.dart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void main() {</a:t>
            </a:r>
            <a:br/>
            <a:r>
              <a:t>  String? emailUser; // bernilai null</a:t>
            </a:r>
            <a:br/>
            <a:br/>
            <a:r>
              <a:t>  // 1. Safe Navigation (?.)</a:t>
            </a:r>
            <a:br/>
            <a:r>
              <a:t>  print('Panjang email: ${emailUser?.length}'); // null (aman!)</a:t>
            </a:r>
            <a:br/>
            <a:br/>
            <a:r>
              <a:t>  // 2. Default Fallback (??)</a:t>
            </a:r>
            <a:br/>
            <a:r>
              <a:t>  String tampilan = emailUser ?? 'email.belum@disetel.com';</a:t>
            </a:r>
            <a:br/>
            <a:r>
              <a:t>  print('Email tampil: $tampilan');</a:t>
            </a:r>
            <a:br/>
            <a:br/>
            <a:r>
              <a:t>  // 3. late keyword</a:t>
            </a:r>
            <a:br/>
            <a:r>
              <a:t>  late String tokenRahasia;</a:t>
            </a:r>
            <a:br/>
            <a:r>
              <a:t>  tokenRahasia = 'XYZ-998877'; // diisi nanti</a:t>
            </a:r>
            <a:br/>
            <a:r>
              <a:t>  print('Token: $tokenRahasia');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SINTAKS ELEGAN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Fat Arrow Functions (=&gt;): Ringkas 1 Baris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Flutter, Anda akan melihat tanda panah tebal '=&gt;' di hampir semua berkas kode.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Tanda panah fat arrow '=&gt;' adalah singkatan resmi dari kurung kurawal '{ return ...; }'.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Hanya boleh digunakan untuk fungsi yang memiliki TEPAT SATU ekspresi baris perintah.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Membuat kode Anda sangat bersih, mudah dibaca, dan tidak penuh dengan kurung kurawal bersarang.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fat arrow '=&gt;' untuk fungsi sederhana agar kode Flutter Anda terlihat profesional!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fat_arrow_demo.dart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Cara Konvensional (Panjang &amp; Berbelit):</a:t>
            </a:r>
            <a:br/>
            <a:r>
              <a:t>int kaliDuaTradisional(int x) {</a:t>
            </a:r>
            <a:br/>
            <a:r>
              <a:t>  return x * 2;</a:t>
            </a:r>
            <a:br/>
            <a:r>
              <a:t>}</a:t>
            </a:r>
            <a:br/>
            <a:br/>
            <a:r>
              <a:t>// Cara Modern Dart (Fat Arrow =&gt;):</a:t>
            </a:r>
            <a:br/>
            <a:r>
              <a:t>int kaliDua(int x) =&gt; x * 2;</a:t>
            </a:r>
            <a:br/>
            <a:br/>
            <a:r>
              <a:t>// Sangat populer di fungsi main Flutter:</a:t>
            </a:r>
            <a:br/>
            <a:r>
              <a:t>void main() =&gt; print('Hasil 10 x 2 = ${kaliDua(10)}');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1577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15773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1577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OOP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Class, Constructor, &amp; Named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Mengapa Named Parameters ({ }) Sangat Penting di Flutter?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bahasa C++/Java: Mahasiswa('Budi', 20, true). Urutan angka dan boolean sangat mudah tertukar dan memicu bug!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Dart: Kita bungkus parameter dengan kurung kurawal {required this.nama, this.usia}.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Pemanggilan menjadi: Mahasiswa(nama: 'Budi', usia: 20). Inilah gaya penulisan 100% widget Flutter!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Semua widget seperti Text(data), Container(padding: ...), Row(children: ...) memakai named parameters!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oop_named_params.dart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class ProdukKatalog {</a:t>
            </a:r>
            <a:br/>
            <a:r>
              <a:t>  final String nama;</a:t>
            </a:r>
            <a:br/>
            <a:r>
              <a:t>  final int harga;</a:t>
            </a:r>
            <a:br/>
            <a:r>
              <a:t>  final bool isTersedia;</a:t>
            </a:r>
            <a:br/>
            <a:br/>
            <a:r>
              <a:t>  // Constructor modern dengan named parameters</a:t>
            </a:r>
            <a:br/>
            <a:r>
              <a:t>  ProdukKatalog({</a:t>
            </a:r>
            <a:br/>
            <a:r>
              <a:t>    required this.nama,</a:t>
            </a:r>
            <a:br/>
            <a:r>
              <a:t>    required this.harga,</a:t>
            </a:r>
            <a:br/>
            <a:r>
              <a:t>    this.isTersedia = true, // default value</a:t>
            </a:r>
            <a:br/>
            <a:r>
              <a:t>  });</a:t>
            </a:r>
            <a:br/>
            <a:r>
              <a:t>}</a:t>
            </a:r>
            <a:br/>
            <a:br/>
            <a:r>
              <a:t>void main() {</a:t>
            </a:r>
            <a:br/>
            <a:r>
              <a:t>  // Sangat mudah dibaca &amp; parameter tidak mungkin tertukar!</a:t>
            </a:r>
            <a:br/>
            <a:r>
              <a:t>  final kopi = ProdukKatalog(nama: 'Kopi Espresso', harga: 22000);</a:t>
            </a:r>
            <a:br/>
            <a:r>
              <a:t>  print('${kopi.nama} - Rp ${kopi.harga} (Ready: ${kopi.isTersedia})');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OOP LANJUTAN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Mixins ('with'): Menambah Kemampuan Tanpa Warisan Kaku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Masalah Pewarisan Klasik: Bahasa Dart tidak mendukung *multiple inheritance* (1 anak punya 2 bapak class).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 Cerdas: Gunakan 'mixin'.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Mixin adalah sekeranjang kemampuan/fitur tambahan yang bisa ditempelkan ke class mana pun menggunakan kata kunci 'with'.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Flutter: Wajib dipakai saat membuat animasi (SingleTickerProviderStateMixin).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Anggap mixin seperti ransel perkakas: class Anda bisa memakai ransel itu kapan saja dibutuhkan!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mixins_demo.dart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Sekeranjang kemampuan mencatat log:</a:t>
            </a:r>
            <a:br/>
            <a:r>
              <a:t>mixin PencatatLog {</a:t>
            </a:r>
            <a:br/>
            <a:r>
              <a:t>  void rekam(String pesan) =&gt; print('📝 LOG AKTIVITAS: $pesan');</a:t>
            </a:r>
            <a:br/>
            <a:r>
              <a:t>}</a:t>
            </a:r>
            <a:br/>
            <a:br/>
            <a:r>
              <a:t>class KasirPembayaran with PencatatLog {</a:t>
            </a:r>
            <a:br/>
            <a:r>
              <a:t>  void bayar(int nominal) {</a:t>
            </a:r>
            <a:br/>
            <a:r>
              <a:t>    rekam('Transaksi berhasil senilai Rp $nominal');</a:t>
            </a:r>
            <a:br/>
            <a:r>
              <a:t>  }</a:t>
            </a:r>
            <a:br/>
            <a:r>
              <a:t>}</a:t>
            </a:r>
            <a:br/>
            <a:br/>
            <a:r>
              <a:t>void main() {</a:t>
            </a:r>
            <a:br/>
            <a:r>
              <a:t>  final kasir = KasirPembayaran();</a:t>
            </a:r>
            <a:br/>
            <a:r>
              <a:t>  kasir.bayar(75000); // Memiliki method dari mixin!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OOP LANJUTAN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Extension Methods: Menambah Fitur ke Class Orang Lain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Pernahkah Anda ingin tipe bawaan 'String' punya fungsi buatan Anda sendiri (misal: ubah ke format Rupiah)?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Dart, kita bisa menambah method baru ke class yang sudah ada tanpa perlu mengubah kode sumber aslinya!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Gunakan sintaks: extension NamaEkstensi on TipeTarget { ... }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Sangat populer di Flutter untuk membuat shortcut seperti 'context.lebarLayar'.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Extension method membuat kode aplikasi Anda sangat rapi dan mudah dibaca!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extension_methods.dart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Menambah fungsi baru ke tipe data bawaan int:</a:t>
            </a:r>
            <a:br/>
            <a:r>
              <a:t>extension FormatUang on int {</a:t>
            </a:r>
            <a:br/>
            <a:r>
              <a:t>  String toRupiah() =&gt; 'Rp ${this.toString().replaceAllMapped(</a:t>
            </a:r>
            <a:br/>
            <a:r>
              <a:t>    RegExp(r'(\d{1,3})(?=(\d{3})+(?!\d))'),</a:t>
            </a:r>
            <a:br/>
            <a:r>
              <a:t>    (Match m) =&gt; '${m[1]}.',</a:t>
            </a:r>
            <a:br/>
            <a:r>
              <a:t>  )}';</a:t>
            </a:r>
            <a:br/>
            <a:r>
              <a:t>}</a:t>
            </a:r>
            <a:br/>
            <a:br/>
            <a:r>
              <a:t>void main() {</a:t>
            </a:r>
            <a:br/>
            <a:r>
              <a:t>  int saldo = 1500000;</a:t>
            </a:r>
            <a:br/>
            <a:r>
              <a:t>  // Langsung panggil method ekstensi seolah milik int asli:</a:t>
            </a:r>
            <a:br/>
            <a:r>
              <a:t>  print('Saldo rekening: ${saldo.toRupiah()}'); // Rp 1.500.000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034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034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STRUKTUR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Tiga Koleksi Utama: List, Map, dan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1. List&lt;T&gt;: Daftar berurutan dan boleh ada duplikat (ibarat keranjang belanja atau riwayat chat).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2. Map&lt;K, V&gt;: Pasangan Kunci &amp; Nilai (Key-Value), format standar saat menerima data JSON dari server internet.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3. Set&lt;T&gt;: Kumpulan data yang DIJAMIN UNIK tanpa duplikasi (sangat cocok untuk tag terpilih atau ID favorit).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Gunakan Map untuk menampung respon JSON dari REST API!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collections_demo.dart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void main() {</a:t>
            </a:r>
            <a:br/>
            <a:r>
              <a:t>  // 1. List (Berurutan)</a:t>
            </a:r>
            <a:br/>
            <a:r>
              <a:t>  final List&lt;String&gt; hobi = ['Ngoding', 'Membaca', 'Ngoding'];</a:t>
            </a:r>
            <a:br/>
            <a:r>
              <a:t>  print('List: $hobi (Panjang: ${hobi.length})'); // ada duplikat</a:t>
            </a:r>
            <a:br/>
            <a:br/>
            <a:r>
              <a:t>  // 2. Set (Unik &amp; Otomatis Buang Duplikat)</a:t>
            </a:r>
            <a:br/>
            <a:r>
              <a:t>  final Set&lt;String&gt; tagUnik = {'Flutter', 'Dart', 'Flutter'};</a:t>
            </a:r>
            <a:br/>
            <a:r>
              <a:t>  print('Set unik: $tagUnik'); // {'Flutter', 'Dart'}</a:t>
            </a:r>
            <a:br/>
            <a:br/>
            <a:r>
              <a:t>  // 3. Map (Key-Value ala JSON)</a:t>
            </a:r>
            <a:br/>
            <a:r>
              <a:t>  final Map&lt;String, dynamic&gt; user = {'nama': 'Rina', 'skor': 95};</a:t>
            </a:r>
            <a:br/>
            <a:r>
              <a:t>  print('Pengguna: ${user["nama"]}, Nilai: ${user["skor"]}');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263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263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MANIPULASI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Operasi Reaktif: .map() dan .where()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Tinggalkan perulangan for loop manual kuno!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Metode .where(): Menyaring (filter) data sesuai kriteria kondisi (misal: hanya ambil produk diskon).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Metode .map(): Mengubah setiap item menjadi bentuk baru secara instan.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Di Pertemuan 3: Kita akan menggunakan .map() untuk mengubah daftar data menjadi daftar Widget visual di layar!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Rangkaian .where() dan .map() adalah teknik standar industri dalam mengolah data di Flutter!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reactive_collections.dart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void main() {</a:t>
            </a:r>
            <a:br/>
            <a:r>
              <a:t>  final List&lt;int&gt; daftarHarga = [15000, 25000, 8000, 32000, 12000];</a:t>
            </a:r>
            <a:br/>
            <a:br/>
            <a:r>
              <a:t>  // 1. Filter: Hanya yang murah (&lt; Rp 20.000)</a:t>
            </a:r>
            <a:br/>
            <a:r>
              <a:t>  final murah = daftarHarga.where((h) =&gt; h &lt; 20000).toList();</a:t>
            </a:r>
            <a:br/>
            <a:r>
              <a:t>  print('Menu hemat: $murah'); // [15000, 8000, 12000]</a:t>
            </a:r>
            <a:br/>
            <a:br/>
            <a:r>
              <a:t>  // 2. Transformasi: Ubah angka menjadi teks berlabel</a:t>
            </a:r>
            <a:br/>
            <a:r>
              <a:t>  final labelHarga = murah.map((h) =&gt; 'Rp $h,-').toList();</a:t>
            </a:r>
            <a:br/>
            <a:r>
              <a:t>  print('Daftar label: $labelHarga');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6060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PARADIGMA EKSEKUSI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Sinkron vs Asinkron: Mengapa UI Tidak Boleh Beku?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Masalah Sinkron: Kasir melayani Pelanggan A, lalu kasir DIAM mematung selama 3 menit menunggu kopi matang.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Akibat di HP: Layar ponsel macet total (*freeze*), tombol tidak bisa ditekan, dan OS memunculkan popup 'Application Not Responding' (ANR).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Solusi Asinkron: Kasir mencatat pesanan, memberi karcis nomor antrean (di Dart disebut 'Future'), lalu langsung melayani pelanggan berikutnya.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Pengguna HP tetap bisa scroll lancar selagi data diunduh di latar belakang!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Semua proses jaringan internet, database, dan GPS di mobile WAJIB berjalan secara asinkron!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sync_vs_async.dart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EKSEKUSI SINKRON (MEMBEKUKAN LAYAR):</a:t>
            </a:r>
            <a:br/>
            <a:r>
              <a:t>// kasirMelayani(); // Diam 3 detik -&gt; Layar HP freeze!</a:t>
            </a:r>
            <a:br/>
            <a:br/>
            <a:r>
              <a:t>// EKSEKUSI ASINKRON (APLIKASI TETAP 120 FPS):</a:t>
            </a:r>
            <a:br/>
            <a:r>
              <a:t>void main() {</a:t>
            </a:r>
            <a:br/>
            <a:r>
              <a:t>  print('1. Pelanggan pesan kopi');</a:t>
            </a:r>
            <a:br/>
            <a:r>
              <a:t>  // Memproses di background tanpa membekukan thread utama:</a:t>
            </a:r>
            <a:br/>
            <a:r>
              <a:t>  Future.delayed(const Duration(seconds: 2), () {</a:t>
            </a:r>
            <a:br/>
            <a:r>
              <a:t>    print('3. Kopi matang di dapur!');</a:t>
            </a:r>
            <a:br/>
            <a:r>
              <a:t>  });</a:t>
            </a:r>
            <a:br/>
            <a:r>
              <a:t>  print('2. Kasir langsung melayani antrean berikutnya');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148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ASINKRON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Mengambil Data Server: Future &amp; async / await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Future&lt;T&gt;: Janji tertulis bahwa data bertipe T akan selesai dikirim beberapa detik ke depan.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Kata kunci async: Menandai fungsi yang memuat proses jeda waktu tunggu.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Kata kunci await: Menunggu proses Future selesai di latar belakang tanpa membekukan thread antarmuka.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Blok try-catch: Wajib dipasang untuk menangkap galat jika koneksi internet tiba-tiba terputus.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Konsep 'async/await' adalah standar emas saat kita menghubungkan Flutter ke REST API di Minggu ke-9!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async_await_demo.dart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Simulasi mengambil status pesanan dari cloud server</a:t>
            </a:r>
            <a:br/>
            <a:r>
              <a:t>Future&lt;String&gt; cekPesananServer(int id) async {</a:t>
            </a:r>
            <a:br/>
            <a:r>
              <a:t>  // Simulasi latensi sinyal internet 2 detik</a:t>
            </a:r>
            <a:br/>
            <a:r>
              <a:t>  await Future.delayed(const Duration(seconds: 2));</a:t>
            </a:r>
            <a:br/>
            <a:r>
              <a:t>  return 'Pesanan #$id Selesai Dipanggang!';</a:t>
            </a:r>
            <a:br/>
            <a:r>
              <a:t>}</a:t>
            </a:r>
            <a:br/>
            <a:br/>
            <a:r>
              <a:t>Future&lt;void&gt; main() async {</a:t>
            </a:r>
            <a:br/>
            <a:r>
              <a:t>  print('Mengirim permintaan ke cloud...');</a:t>
            </a:r>
            <a:br/>
            <a:r>
              <a:t>  try {</a:t>
            </a:r>
            <a:br/>
            <a:r>
              <a:t>    final status = await cekPesananServer(42);</a:t>
            </a:r>
            <a:br/>
            <a:r>
              <a:t>    print('Hasil server: $status');</a:t>
            </a:r>
            <a:br/>
            <a:r>
              <a:t>  } catch (e) {</a:t>
            </a:r>
            <a:br/>
            <a:r>
              <a:t>    print('Koneksi internet terputus: $e');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7203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7203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ALIRAN DATA REAKTIF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Stream: Aliran Data Tanpa Henti (Live 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CARA KERJA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Perbedaan Krusial Future vs Stream: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Future (Kurir Paket): Datang 1 kali membawa data, lalu tugasnya selesai (misal: tombol login).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Stream (Air Keran / Radio FM): Data mengalir terus-menerus berkali-kali sepanjang waktu (misal: sensor GPS mobil berjalan, chat masuk, atau detak jantung smartwatch).</a:t>
            </a:r>
          </a:p>
          <a:p>
            <a:pPr>
              <a:spcAft>
                <a:spcPts val="600"/>
              </a:spcAft>
              <a:defRPr sz="1100">
                <a:solidFill>
                  <a:srgbClr val="141414"/>
                </a:solidFill>
                <a:latin typeface="Segoe UI"/>
              </a:defRPr>
            </a:pPr>
            <a:r>
              <a:t>■  Kata kunci: Gunakan async* dan 'yield' untuk mengalirkan data.</a:t>
            </a:r>
          </a:p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💡 Tips Praktik: Stream adalah fondasi utama dari arsitektur reaktif BLoC yang akan kita pakai di aplikasi skala besar!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645920"/>
            <a:ext cx="5882335" cy="43891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70078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Consolas"/>
              </a:defRPr>
            </a:pPr>
            <a:r>
              <a:t>stream_demo.dart  |  DART CODE RUNNABLE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5486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F5F5F5"/>
                </a:solidFill>
                <a:latin typeface="Consolas"/>
              </a:defRPr>
            </a:pPr>
            <a:r>
              <a:t>// Fungsi penghitung mundur waktu secara reaktif (Stream):</a:t>
            </a:r>
            <a:br/>
            <a:r>
              <a:t>Stream&lt;int&gt; hitungMundur(int mulai) async* {</a:t>
            </a:r>
            <a:br/>
            <a:r>
              <a:t>  for (int i = mulai; i &gt;= 1; i--) {</a:t>
            </a:r>
            <a:br/>
            <a:r>
              <a:t>    await Future.delayed(const Duration(seconds: 1));</a:t>
            </a:r>
            <a:br/>
            <a:r>
              <a:t>    yield i; // Alirkan data angka tiap 1 detik!</a:t>
            </a:r>
            <a:br/>
            <a:r>
              <a:t>  }</a:t>
            </a:r>
            <a:br/>
            <a:r>
              <a:t>}</a:t>
            </a:r>
            <a:br/>
            <a:br/>
            <a:r>
              <a:t>Future&lt;void&gt; main() async {</a:t>
            </a:r>
            <a:br/>
            <a:r>
              <a:t>  print('Roket meluncur dalam:');</a:t>
            </a:r>
            <a:br/>
            <a:r>
              <a:t>  await for (int detik in hitungMundur(3)) {</a:t>
            </a:r>
            <a:br/>
            <a:r>
              <a:t>    print('Hitungan: $detik...');</a:t>
            </a:r>
            <a:br/>
            <a:r>
              <a:t>  }</a:t>
            </a:r>
            <a:br/>
            <a:r>
              <a:t>  print('🚀 MELUNCUR!');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491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491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LAB QUEST MANDIRI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Pertemuan 02: Simulasi Antrean Cerdas Kafe Kampus &amp; Stream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1054577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10545775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10545775" cy="475488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⏱️ ALOKASI: 45 MENIT  ■  TARGET UJI: DARTPAD (BROWSER) ATAU VS CODE 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80"/>
            <a:ext cx="9784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000000"/>
                </a:solidFill>
                <a:latin typeface="Segoe UI"/>
              </a:defRPr>
            </a:pPr>
            <a:r>
              <a:t>Checklist Langkah Praktikum di Lab: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  <a:latin typeface="Segoe UI"/>
              </a:defRPr>
            </a:pPr>
            <a:r>
              <a:t>  [  ]   Buka browser dan akses DartPad (dartpad.dev) atau buat berkas 'tugas2.dart' di VS Code.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  <a:latin typeface="Segoe UI"/>
              </a:defRPr>
            </a:pPr>
            <a:r>
              <a:t>  [  ]   Buat Class 'Pesanan' dengan named parameters: namaPemesan (String), namaKopi (String), harga (int), dan catatan (String? nullable).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  <a:latin typeface="Segoe UI"/>
              </a:defRPr>
            </a:pPr>
            <a:r>
              <a:t>  [  ]   Terapkan operator fallback (??) agar jika catatan null, otomatis tertulis: 'Standar Normal'.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  <a:latin typeface="Segoe UI"/>
              </a:defRPr>
            </a:pPr>
            <a:r>
              <a:t>  [  ]   Buat fungsi asinkron 'ambilResep(Pesanan p)' yang menggunakan Future.delayed selama 2 detik.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  <a:latin typeface="Segoe UI"/>
              </a:defRPr>
            </a:pPr>
            <a:r>
              <a:t>  [  ]   Jika harga pesanan &lt;= 0, lemparkan pesan galat (Exception: 'Harga tidak valid!') dan tangkap dengan blok try-catch.</a:t>
            </a:r>
          </a:p>
          <a:p>
            <a:pPr>
              <a:spcAft>
                <a:spcPts val="300"/>
              </a:spcAft>
              <a:defRPr sz="1100">
                <a:solidFill>
                  <a:srgbClr val="1E1E1E"/>
                </a:solidFill>
                <a:latin typeface="Segoe UI"/>
              </a:defRPr>
            </a:pPr>
            <a:r>
              <a:t>  [  ]   Tantangan Bonus: Buat fungsi Stream 'lacakPembuatan()' yang mengalirkan status: '1. Menggiling Biji' -&gt; '2. Menyeduh Air' -&gt; '3. Kopi Siap!'.</a:t>
            </a:r>
          </a:p>
          <a:p>
            <a:br/>
            <a:pPr>
              <a:defRPr sz="1150" b="1">
                <a:solidFill>
                  <a:srgbClr val="00823C"/>
                </a:solidFill>
                <a:latin typeface="Segoe UI"/>
              </a:defRPr>
            </a:pPr>
            <a:r>
              <a:t>✔ Kriteria Keberhasilan (Tunjukkan ke Dosen/Asisten Lab):</a:t>
            </a:r>
            <a:br/>
            <a:r>
              <a:t>Tunjukkan hasil eksekusi terminal di DartPad/VS Code kepada Dosen atau Asisten Lab untuk mendapatkan checklist nilai modul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