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7_clean_architecture/slide_02_tools_dan_setup_di.dart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7_clean_architecture/slide_03_separation_of_concerns.dart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7_clean_architecture/slide_04_tiga_lapisan_clean_arch.dart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7_clean_architecture/slide_05_feature_first_structure.dart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7_clean_architecture/slide_06_domain_entity.dart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7_clean_architecture/slide_07_domain_repository_contract.dart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7_clean_architecture/slide_08_domain_usecase.dart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7_clean_architecture/slide_09_data_model_dto.dart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7_clean_architecture/slide_10_data_sources.dart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7_clean_architecture/slide_11_data_repository_impl.dart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7_clean_architecture/slide_12_dependency_inversion.dart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7_clean_architecture/slide_13_get_it_service_locator.dart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7_clean_architecture/slide_14_factory_vs_singleton.dart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7_clean_architecture/slide_15_presentation_cubit_usecase.dart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7_clean_architecture/slide_16_end_to_end_clean_flow.dart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7_clean_architecture/slide_17_checklist_clean_architecture.dart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7_clean_architecture/slide_18_lab_quest_clean_architecture.dart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0432" y="987552"/>
            <a:ext cx="9997135" cy="5029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914400"/>
            <a:ext cx="9997135" cy="502920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914400"/>
            <a:ext cx="9997135" cy="54864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005840"/>
            <a:ext cx="9418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IF3205 • PEMROGRAMAN PIRANTI BERGERAK  ■  MODUL AJAR STANDAR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1828800"/>
            <a:ext cx="2560320" cy="502920"/>
          </a:xfrm>
          <a:prstGeom prst="rect">
            <a:avLst/>
          </a:prstGeom>
          <a:solidFill>
            <a:srgbClr val="38BDF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874519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Segoe UI"/>
              </a:defRPr>
            </a:pPr>
            <a:r>
              <a:t>PERTEMUAN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46888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Segoe UI"/>
              </a:defRPr>
            </a:pPr>
            <a:r>
              <a:t>Clean Architecture &amp; Enterprise Project Structure</a:t>
            </a:r>
          </a:p>
          <a:p>
            <a:pPr>
              <a:spcBef>
                <a:spcPts val="1000"/>
              </a:spcBef>
              <a:defRPr sz="1250">
                <a:solidFill>
                  <a:srgbClr val="3C3C3C"/>
                </a:solidFill>
                <a:latin typeface="Segoe UI"/>
              </a:defRPr>
            </a:pPr>
            <a:r>
              <a:t>Membangun Fondasi Perangkat Lunak Skala Besar: Separation of Concerns, Domain-Driven Design, dan Dependency Injection dengan GetIt.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49377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👨‍🏫 Pengampu: TIM DOSEN PEMROGRAMAN PIRANTI BERGERAK  •  Teknik Informatika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6464"/>
                </a:solidFill>
                <a:latin typeface="Segoe UI"/>
              </a:defRPr>
            </a:pPr>
            <a:r>
              <a:t>IF3205 • PEMROGRAMAN PIRANTI BERGERAK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58368"/>
            <a:ext cx="2926080" cy="384048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SETUP &amp; ALAT BANTU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5457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Segoe UI"/>
              </a:defRPr>
            </a:pPr>
            <a:r>
              <a:t>Menyiapkan Fondasi Arsitektur: get_it &amp; Equatable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38912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38912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645920"/>
            <a:ext cx="4389120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00784"/>
            <a:ext cx="4023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KONSEP INTI &amp; ANALOGI AWAM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57984"/>
            <a:ext cx="4023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💡 Analogi Kotak Perkakas: Menyiapkan kotak perkakas mekanik standar agar seluruh tim tahu di mana mengambil obeng dan kunci pas.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📦 Perintah Terminal: Jalankan 'flutter pub add get_it equatable flutter_bloc' di root proyek Anda.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⚡ Peran GetIt: Service Locator resmi Flutter untuk menyediakan instance kelas secara terpusat tanpa 'Prop Drilling'.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🚫 Aturan Emas: Widget UI dilarang keras membuat objek Repository atau Data Source dengan kata kunci 'new / ()'!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5047488"/>
            <a:ext cx="4114800" cy="105156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074920"/>
            <a:ext cx="402336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000000"/>
                </a:solidFill>
                <a:latin typeface="Segoe UI"/>
              </a:defRPr>
            </a:pPr>
            <a:r>
              <a:t>💡 TIPS PRAKTIKUM &amp; PEDOMAN:</a:t>
            </a:r>
            <a:br/>
            <a:r>
              <a:t>Gunakan get_it sebagai Service Locator terpusat agar kode Anda sangat mudah diuji (testable)!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setup_di_tools.dart  |  KODE IMPLEMENTASI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// Menambahkan paket resmi di pubspec.yaml:</a:t>
            </a:r>
            <a:br/>
            <a:r>
              <a:t>dependencies:</a:t>
            </a:r>
            <a:br/>
            <a:r>
              <a:t>  flutter:</a:t>
            </a:r>
            <a:br/>
            <a:r>
              <a:t>    sdk: flutter</a:t>
            </a:r>
            <a:br/>
            <a:r>
              <a:t>  get_it: ^7.7.0</a:t>
            </a:r>
            <a:br/>
            <a:r>
              <a:t>  equatable: ^2.0.5</a:t>
            </a:r>
            <a:br/>
            <a:r>
              <a:t>  flutter_bloc: ^8.1.6</a:t>
            </a:r>
            <a:br/>
            <a:br/>
            <a:r>
              <a:t>// Impor resmi Service Locator:</a:t>
            </a:r>
            <a:br/>
            <a:r>
              <a:t>import 'package:get_it/get_it.dart';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(slide_02_tools_dan_setup_di.dart)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6464"/>
                </a:solidFill>
                <a:latin typeface="Segoe UI"/>
              </a:defRPr>
            </a:pPr>
            <a:r>
              <a:t>IF3205 • PEMROGRAMAN PIRANTI BERGERAK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58368"/>
            <a:ext cx="2926080" cy="384048"/>
          </a:xfrm>
          <a:prstGeom prst="rect">
            <a:avLst/>
          </a:prstGeom>
          <a:solidFill>
            <a:srgbClr val="38BDF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PRINSIP UTAMA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5457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Segoe UI"/>
              </a:defRPr>
            </a:pPr>
            <a:r>
              <a:t>Separation of Concerns: Pabrik Mobil dengan Departemen Mandiri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38912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38912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645920"/>
            <a:ext cx="4389120" cy="438912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00784"/>
            <a:ext cx="4023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KONSEP INTI &amp; ANALOGI AWAM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57984"/>
            <a:ext cx="4023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🚗 Analogi Pabrik Mobil: Departemen Desain Bodi (UI) tidak boleh mencampur tugasnya dengan Divisi Perakitan Mesin (Bisnis) atau Pemasok Baut (Data).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🍝 Bahaya Spaghetti Code: Menulis pemanggilan API Dio langsung di dalam tombol `onPressed` membuat kode mustahil di-test.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🛡️ Tanggung Jawab Tunggal: Pisahkan kode ke dalam tugas murni: Menggambar Antarmuka, Mengolah Aturan Bisnis, dan Mengambil Data.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✨ Keuntungan: Sekali tim backend mengganti database dari Firebase ke PostgreSQL, kode UI Anda 0% berubah!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5047488"/>
            <a:ext cx="4114800" cy="105156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074920"/>
            <a:ext cx="402336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000000"/>
                </a:solidFill>
                <a:latin typeface="Segoe UI"/>
              </a:defRPr>
            </a:pPr>
            <a:r>
              <a:t>💡 TIPS PRAKTIKUM &amp; PEDOMAN:</a:t>
            </a:r>
            <a:br/>
            <a:r>
              <a:t>Jangan pernah meletakkan rumus perhitungan bisnis rumit di dalam widget build()!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separation_of_concerns.dart  |  KODE IMPLEMENTASI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// SEBELUM (Campur Aduk):</a:t>
            </a:r>
            <a:br/>
            <a:r>
              <a:t>onPressed: () async {</a:t>
            </a:r>
            <a:br/>
            <a:r>
              <a:t>  final res = await dio.get('https://api.com/tax');</a:t>
            </a:r>
            <a:br/>
            <a:r>
              <a:t>  setState(() =&gt; _tax = res.data * 0.11);</a:t>
            </a:r>
            <a:br/>
            <a:r>
              <a:t>}</a:t>
            </a:r>
            <a:br/>
            <a:br/>
            <a:r>
              <a:t>// SESUDAH (Separation of Concerns):</a:t>
            </a:r>
            <a:br/>
            <a:r>
              <a:t>// UI hanya meminta hasil ke kalkulator terpisah:</a:t>
            </a:r>
            <a:br/>
            <a:r>
              <a:t>final ppn = taxCalculator.hitungPpn(hargaBarang);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(slide_03_separation_of_concerns.dart)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6464"/>
                </a:solidFill>
                <a:latin typeface="Segoe UI"/>
              </a:defRPr>
            </a:pPr>
            <a:r>
              <a:t>IF3205 • PEMROGRAMAN PIRANTI BERGERAK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58368"/>
            <a:ext cx="2926080" cy="384048"/>
          </a:xfrm>
          <a:prstGeom prst="rect">
            <a:avLst/>
          </a:prstGeom>
          <a:solidFill>
            <a:srgbClr val="FB7185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ARSITEKTUR BAWANG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5457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Segoe UI"/>
              </a:defRPr>
            </a:pPr>
            <a:r>
              <a:t>Model 3 Lapisan: Kulit Luar, Daging Buah, &amp; Biji Inti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38912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38912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645920"/>
            <a:ext cx="4389120" cy="438912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00784"/>
            <a:ext cx="4023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KONSEP INTI &amp; ANALOGI AWAM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57984"/>
            <a:ext cx="4023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🧅 Analogi Bawang Bombay: Berlapis-lapis rapi. Kulit luar melindungi daging, dan daging membungkus biji inti di tengah.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🎨 1. Presentation Layer (Luar): UI Screens, Widgets, BLoC/Cubit, State. Sangat bergantung pada Flutter framework.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🧠 2. Domain Layer (Inti Paling Dalam): Entities, Use Cases, Repository Contracts. 100% Pure Dart tanpa embel-embel Flutter!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💾 3. Data Layer (Infrastruktur): Data Sources (Dio API, SharedPreferences, Isar), Models (DTO), Repository Impl.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5047488"/>
            <a:ext cx="4114800" cy="105156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074920"/>
            <a:ext cx="402336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000000"/>
                </a:solidFill>
                <a:latin typeface="Segoe UI"/>
              </a:defRPr>
            </a:pPr>
            <a:r>
              <a:t>💡 TIPS PRAKTIKUM &amp; PEDOMAN:</a:t>
            </a:r>
            <a:br/>
            <a:r>
              <a:t>Hukum Utama: Lapisan dalam sama sekali tidak boleh mengenal atau mengimpor lapisan luar!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three_layers_clean_arch.dart  |  KODE IMPLEMENTASI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// Arah Ketergantungan (Dependency Rule):</a:t>
            </a:r>
            <a:br/>
            <a:r>
              <a:t>// Presentation Layer ──► Domain Layer ◄── Data Layer</a:t>
            </a:r>
            <a:br/>
            <a:r>
              <a:t>//</a:t>
            </a:r>
            <a:br/>
            <a:r>
              <a:t>// Domain Layer adalah RAJA! </a:t>
            </a:r>
            <a:br/>
            <a:r>
              <a:t>// Domain sama sekali TIDAK BOLEH mengimpor</a:t>
            </a:r>
            <a:br/>
            <a:r>
              <a:t>// package:flutter atau package:dio!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(slide_04_tiga_lapisan_clean_arch.dart)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6464"/>
                </a:solidFill>
                <a:latin typeface="Segoe UI"/>
              </a:defRPr>
            </a:pPr>
            <a:r>
              <a:t>IF3205 • PEMROGRAMAN PIRANTI BERGERAK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58368"/>
            <a:ext cx="2926080" cy="384048"/>
          </a:xfrm>
          <a:prstGeom prst="rect">
            <a:avLst/>
          </a:prstGeom>
          <a:solidFill>
            <a:srgbClr val="C084F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STRUKTUR FOLDER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5457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Segoe UI"/>
              </a:defRPr>
            </a:pPr>
            <a:r>
              <a:t>Feature-First Structure: Kamar Kos Mandiri vs Lemari Sekompleks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38912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38912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645920"/>
            <a:ext cx="4389120" cy="438912"/>
          </a:xfrm>
          <a:prstGeom prst="rect">
            <a:avLst/>
          </a:prstGeom>
          <a:solidFill>
            <a:srgbClr val="C084FC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00784"/>
            <a:ext cx="4023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KONSEP INTI &amp; ANALOGI AWAM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57984"/>
            <a:ext cx="4023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🏢 Analogi Kamar Kos: Kamar kos mandiri memiliki kasur, meja, dan kamar mandi di dalam 1 kamar (Feature-First).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🚫 Masalah Layer-First: Menaruh semua file Screen di satu folder raksasa, semua BLoC di folder lain. Sangat sulit mencari berkas terkait!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⚡ Feature-First Enterprise: Setiap fitur (`features/auth/`, `features/product/`, `features/cart/`) memiliki 3 lapisannya sendiri.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🤝 Anti-Merge Conflict: Anggota kelompok proyek bisa bekerja di fitur berbeda tanpa pernah bertabrakan di Git!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5047488"/>
            <a:ext cx="4114800" cy="105156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074920"/>
            <a:ext cx="402336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000000"/>
                </a:solidFill>
                <a:latin typeface="Segoe UI"/>
              </a:defRPr>
            </a:pPr>
            <a:r>
              <a:t>💡 TIPS PRAKTIKUM &amp; PEDOMAN:</a:t>
            </a:r>
            <a:br/>
            <a:r>
              <a:t>Gunakan struktur Feature-First pada proyek kelompok UTS Anda agar pembagian tugas tim berjalan mulus!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C084FC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feature_first_structure.dart  |  KODE IMPLEMENTASI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lib/</a:t>
            </a:r>
            <a:br/>
            <a:r>
              <a:t>├── core/              # Util, Network, DI Terpusat</a:t>
            </a:r>
            <a:br/>
            <a:r>
              <a:t>└── features/</a:t>
            </a:r>
            <a:br/>
            <a:r>
              <a:t>    ├── auth/          # Fitur Autentikasi Mandiri</a:t>
            </a:r>
            <a:br/>
            <a:r>
              <a:t>    │   ├── data/</a:t>
            </a:r>
            <a:br/>
            <a:r>
              <a:t>    │   ├── domain/</a:t>
            </a:r>
            <a:br/>
            <a:r>
              <a:t>    │   └── presentation/</a:t>
            </a:r>
            <a:br/>
            <a:r>
              <a:t>    └── product/       # Fitur Katalog Mandiri</a:t>
            </a:r>
            <a:br/>
            <a:r>
              <a:t>        ├── data/</a:t>
            </a:r>
            <a:br/>
            <a:r>
              <a:t>        ├── domain/</a:t>
            </a:r>
            <a:br/>
            <a:r>
              <a:t>        └── presentation/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(slide_05_feature_first_structure.dart)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6464"/>
                </a:solidFill>
                <a:latin typeface="Segoe UI"/>
              </a:defRPr>
            </a:pPr>
            <a:r>
              <a:t>IF3205 • PEMROGRAMAN PIRANTI BERGERAK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58368"/>
            <a:ext cx="2926080" cy="384048"/>
          </a:xfrm>
          <a:prstGeom prst="rect">
            <a:avLst/>
          </a:prstGeom>
          <a:solidFill>
            <a:srgbClr val="4ADE8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DOMAIN LAYER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5457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Segoe UI"/>
              </a:defRPr>
            </a:pPr>
            <a:r>
              <a:t>Entity: Emas Murni 24 Karat Tanpa Campuran Karat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38912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38912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645920"/>
            <a:ext cx="4389120" cy="438912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00784"/>
            <a:ext cx="4023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KONSEP INTI &amp; ANALOGI AWAM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57984"/>
            <a:ext cx="4023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🥇 Analogi Emas Murni: Batangan emas murni yang bernilai tetap, tidak peduli dimasukkan ke dalam brankas besi atau tas kain.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🛡️ Objek Bisnis Murni: Entity mewakili model data sesungguhnya yang dibutuhkan oleh sistem (misal: `ProductEntity`).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🚫 Bersih dari JSON: Entity dilarang keras memiliki method `fromJson` atau `toJson`! Itu adalah urusan Data Layer.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⚖️ Warisi Equatable: Memastikan dua objek entity dengan isi ID dan data yang sama dianggap identik.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5047488"/>
            <a:ext cx="4114800" cy="105156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074920"/>
            <a:ext cx="402336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000000"/>
                </a:solidFill>
                <a:latin typeface="Segoe UI"/>
              </a:defRPr>
            </a:pPr>
            <a:r>
              <a:t>💡 TIPS PRAKTIKUM &amp; PEDOMAN:</a:t>
            </a:r>
            <a:br/>
            <a:r>
              <a:t>Entity adalah jantung aplikasi. Jika backend API mengubah format JSON dari snake_case ke camelCase, Entity Anda tetap utuh!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domain_entity.dart  |  KODE IMPLEMENTASI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class ProductEntity extends Equatable {</a:t>
            </a:r>
            <a:br/>
            <a:r>
              <a:t>  final String id;</a:t>
            </a:r>
            <a:br/>
            <a:r>
              <a:t>  final String name;</a:t>
            </a:r>
            <a:br/>
            <a:r>
              <a:t>  final int price;</a:t>
            </a:r>
            <a:br/>
            <a:br/>
            <a:r>
              <a:t>  const ProductEntity({</a:t>
            </a:r>
            <a:br/>
            <a:r>
              <a:t>    required this.id,</a:t>
            </a:r>
            <a:br/>
            <a:r>
              <a:t>    required this.name,</a:t>
            </a:r>
            <a:br/>
            <a:r>
              <a:t>    required this.price,</a:t>
            </a:r>
            <a:br/>
            <a:r>
              <a:t>  });</a:t>
            </a:r>
            <a:br/>
            <a:br/>
            <a:r>
              <a:t>  bool get isPremium =&gt; price &gt;= 1000000;</a:t>
            </a:r>
            <a:br/>
            <a:br/>
            <a:r>
              <a:t>  @override</a:t>
            </a:r>
            <a:br/>
            <a:r>
              <a:t>  List&lt;Object?&gt; get props =&gt; [id, name, price];</a:t>
            </a:r>
            <a:br/>
            <a:r>
              <a:t>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(slide_06_domain_entity.dart)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6464"/>
                </a:solidFill>
                <a:latin typeface="Segoe UI"/>
              </a:defRPr>
            </a:pPr>
            <a:r>
              <a:t>IF3205 • PEMROGRAMAN PIRANTI BERGERAK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58368"/>
            <a:ext cx="2926080" cy="384048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DOMAIN LAYER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5457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Segoe UI"/>
              </a:defRPr>
            </a:pPr>
            <a:r>
              <a:t>Repository Interface: Surat Perjanjian Kontrak Notaris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38912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38912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645920"/>
            <a:ext cx="4389120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00784"/>
            <a:ext cx="4023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KONSEP INTI &amp; ANALOGI AWAM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57984"/>
            <a:ext cx="4023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📜 Analogi Surat Kontrak: Notaris menulis pasal: 'Pihak kedua wajib menyerahkan daftar produk'. Notaris tidak peduli produk dikirim naik truk atau kapal laut.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🏛️ Kelas Abstrak: Domain mendefinisikan apa yang dibutuhkan oleh aplikasi lewat `abstract class BookRepository`.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🔒 Perlindungan Domain: Domain tidak peduli apakah data diambil dari server AWS, Firebase, atau sekadar data palsu (mock testing).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✨ Fleksibilitas Tinggi: Memungkinkan developer mengerjakan tampilan UI secara paralel meskipun server API backend belum selesai dibuat!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5047488"/>
            <a:ext cx="4114800" cy="105156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074920"/>
            <a:ext cx="402336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000000"/>
                </a:solidFill>
                <a:latin typeface="Segoe UI"/>
              </a:defRPr>
            </a:pPr>
            <a:r>
              <a:t>💡 TIPS PRAKTIKUM &amp; PEDOMAN:</a:t>
            </a:r>
            <a:br/>
            <a:r>
              <a:t>Gunakan abstract class pada Domain Layer agar Anda bisa melakukan mocking data instan saat presentasi!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domain_repo_contract.dart  |  KODE IMPLEMENTASI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// Kontrak murni di Domain Layer:</a:t>
            </a:r>
            <a:br/>
            <a:r>
              <a:t>abstract class BookRepository {</a:t>
            </a:r>
            <a:br/>
            <a:r>
              <a:t>  Future&lt;List&lt;BookEntity&gt;&gt; getBooks();</a:t>
            </a:r>
            <a:br/>
            <a:r>
              <a:t>}</a:t>
            </a:r>
            <a:br/>
            <a:br/>
            <a:r>
              <a:t>// Data Layer yang WAJIB tunduk pada kontrak ini:</a:t>
            </a:r>
            <a:br/>
            <a:r>
              <a:t>class BookRepositoryImpl implements BookRepository {</a:t>
            </a:r>
            <a:br/>
            <a:r>
              <a:t>  @override</a:t>
            </a:r>
            <a:br/>
            <a:r>
              <a:t>  Future&lt;List&lt;BookEntity&gt;&gt; getBooks() async { ... }</a:t>
            </a:r>
            <a:br/>
            <a:r>
              <a:t>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(slide_07_domain_repository_contract.dart)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6464"/>
                </a:solidFill>
                <a:latin typeface="Segoe UI"/>
              </a:defRPr>
            </a:pPr>
            <a:r>
              <a:t>IF3205 • PEMROGRAMAN PIRANTI BERGERAK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58368"/>
            <a:ext cx="2926080" cy="384048"/>
          </a:xfrm>
          <a:prstGeom prst="rect">
            <a:avLst/>
          </a:prstGeom>
          <a:solidFill>
            <a:srgbClr val="38BDF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DOMAIN LAYER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5457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Segoe UI"/>
              </a:defRPr>
            </a:pPr>
            <a:r>
              <a:t>Use Case: Satu Tombol Khusus Pada Mesin ATM Pintar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38912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38912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645920"/>
            <a:ext cx="4389120" cy="438912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00784"/>
            <a:ext cx="4023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KONSEP INTI &amp; ANALOGI AWAM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57984"/>
            <a:ext cx="4023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🏧 Analogi Tombol ATM: Satu tombol khusus 'Tarik Tunai 100rb', tombol lain 'Cek Saldo'. Setiap tombol hanya memiliki satu tugas spesifik.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🎯 Single Responsibility Principle (SRP): Satu kelas Use Case hanya menjalankan satu aksi bisnis spesifik (misal: `GetLuckyNumberUseCase`).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🧩 Dapat Digunakan Kembali: Satu Use Case yang sama bisa dipanggil oleh Mobile App, Tablet View, maupun Web tanpa duplikasi kode.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🧪 Uji Cepat: Logika bisnis di Use Case dapat diuji secara terisolasi via Unit Test murni tanpa perlu menyalakan emulator.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5047488"/>
            <a:ext cx="4114800" cy="105156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074920"/>
            <a:ext cx="402336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000000"/>
                </a:solidFill>
                <a:latin typeface="Segoe UI"/>
              </a:defRPr>
            </a:pPr>
            <a:r>
              <a:t>💡 TIPS PRAKTIKUM &amp; PEDOMAN:</a:t>
            </a:r>
            <a:br/>
            <a:r>
              <a:t>Beri nama Use Case dengan kata kerja aktif spesifik: LoginUser, GetCartItems, CheckoutOrder!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domain_usecase.dart  |  KODE IMPLEMENTASI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class GetLuckyNumberUseCase {</a:t>
            </a:r>
            <a:br/>
            <a:r>
              <a:t>  final NumberRepository repository;</a:t>
            </a:r>
            <a:br/>
            <a:br/>
            <a:r>
              <a:t>  GetLuckyNumberUseCase(this.repository);</a:t>
            </a:r>
            <a:br/>
            <a:br/>
            <a:r>
              <a:t>  int execute() {</a:t>
            </a:r>
            <a:br/>
            <a:r>
              <a:t>    // Sisipkan aturan bisnis validasi di sini jika perlu:</a:t>
            </a:r>
            <a:br/>
            <a:r>
              <a:t>    return repository.getRandomNumber();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(slide_08_domain_usecase.dart)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6464"/>
                </a:solidFill>
                <a:latin typeface="Segoe UI"/>
              </a:defRPr>
            </a:pPr>
            <a:r>
              <a:t>IF3205 • PEMROGRAMAN PIRANTI BERGERAK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58368"/>
            <a:ext cx="2926080" cy="384048"/>
          </a:xfrm>
          <a:prstGeom prst="rect">
            <a:avLst/>
          </a:prstGeom>
          <a:solidFill>
            <a:srgbClr val="FB7185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DATA LAYER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5457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Segoe UI"/>
              </a:defRPr>
            </a:pPr>
            <a:r>
              <a:t>Model DTO: Baju Dalam Kardus Ekspedisi Pengiriman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38912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38912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645920"/>
            <a:ext cx="4389120" cy="438912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00784"/>
            <a:ext cx="4023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KONSEP INTI &amp; ANALOGI AWAM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57984"/>
            <a:ext cx="4023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📦 Analogi Kardus Ekspedisi: Baju dibungkus kardus berlabel alamat (DTO) selama perjalanan truk, lalu dikeluarkan untuk dipakai rapi oleh manusia (Entity).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🚚 Data Transfer Object (DTO): Kelas Model di Data Layer bertugas mem-parsing format mentah API lewat `fromJson` dan `toJson`.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🧬 Pewarisan Hubungan: `class UserModel extends UserEntity`. Model adalah turunan dari Entity yang diberi keahlian membaca JSON.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🛡️ Tameng Pelindung: Jika API backend mengirim data `null` atau tipe string aneh, konversi dilakukan di Model tanpa mencemari Entity.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5047488"/>
            <a:ext cx="4114800" cy="105156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074920"/>
            <a:ext cx="402336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000000"/>
                </a:solidFill>
                <a:latin typeface="Segoe UI"/>
              </a:defRPr>
            </a:pPr>
            <a:r>
              <a:t>💡 TIPS PRAKTIKUM &amp; PEDOMAN:</a:t>
            </a:r>
            <a:br/>
            <a:r>
              <a:t>Jangan pernah menggunakan UserModel di Presentation Layer; gunakan tipe UserEntity agar arsitektur tetap bersih!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data_model_dto.dart  |  KODE IMPLEMENTASI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// Model di Data Layer mewarisi Entity di Domain:</a:t>
            </a:r>
            <a:br/>
            <a:r>
              <a:t>class UserModel extends UserEntity {</a:t>
            </a:r>
            <a:br/>
            <a:r>
              <a:t>  const UserModel({required super.id, required super.name});</a:t>
            </a:r>
            <a:br/>
            <a:br/>
            <a:r>
              <a:t>  factory UserModel.fromJson(Map&lt;String, dynamic&gt; json) {</a:t>
            </a:r>
            <a:br/>
            <a:r>
              <a:t>    return UserModel(</a:t>
            </a:r>
            <a:br/>
            <a:r>
              <a:t>      id: json['id'] as int,</a:t>
            </a:r>
            <a:br/>
            <a:r>
              <a:t>      name: json['name'] as String,</a:t>
            </a:r>
            <a:br/>
            <a:r>
              <a:t>    );</a:t>
            </a:r>
            <a:br/>
            <a:r>
              <a:t>  }</a:t>
            </a:r>
            <a:br/>
            <a:br/>
            <a:r>
              <a:t>  Map&lt;String, dynamic&gt; toJson() =&gt; {'id': id, 'name': name};</a:t>
            </a:r>
            <a:br/>
            <a:r>
              <a:t>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(slide_09_data_model_dto.dart)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6464"/>
                </a:solidFill>
                <a:latin typeface="Segoe UI"/>
              </a:defRPr>
            </a:pPr>
            <a:r>
              <a:t>IF3205 • PEMROGRAMAN PIRANTI BERGERAK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58368"/>
            <a:ext cx="2926080" cy="384048"/>
          </a:xfrm>
          <a:prstGeom prst="rect">
            <a:avLst/>
          </a:prstGeom>
          <a:solidFill>
            <a:srgbClr val="C084F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DATA LAYER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5457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Segoe UI"/>
              </a:defRPr>
            </a:pPr>
            <a:r>
              <a:t>Data Sources: Kran Air PAM vs Sumur Bor Pribadi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38912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38912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645920"/>
            <a:ext cx="4389120" cy="438912"/>
          </a:xfrm>
          <a:prstGeom prst="rect">
            <a:avLst/>
          </a:prstGeom>
          <a:solidFill>
            <a:srgbClr val="C084FC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00784"/>
            <a:ext cx="4023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KONSEP INTI &amp; ANALOGI AWAM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57984"/>
            <a:ext cx="4023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🚰 Analogi Kran Air: Remote Data Source seperti air PAM pipa pusat (Internet). Local Data Source seperti sumur cadangan di rumah (Cache/SQLite).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🌐 RemoteDataSource: Tempat resmi memanggil HTTP client (Dio / HTTP) dan menerima respon status kode 200, 404, atau 500.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💾 LocalDataSource: Tempat resmi membaca dan menulis data ke SharedPreferences, SecureStorage, atau Isar Database luring.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🧱 Pemisahan Tingkat Rendah: Mengisolasi komunikasi mentah perangkat keras agar tidak menyentuh logika Repository.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5047488"/>
            <a:ext cx="4114800" cy="105156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074920"/>
            <a:ext cx="402336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000000"/>
                </a:solidFill>
                <a:latin typeface="Segoe UI"/>
              </a:defRPr>
            </a:pPr>
            <a:r>
              <a:t>💡 TIPS PRAKTIKUM &amp; PEDOMAN:</a:t>
            </a:r>
            <a:br/>
            <a:r>
              <a:t>Data Source hanya mengembalikan Map&lt;String, dynamic&gt; atau melemparkan ServerException jika jaringan gagal!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C084FC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data_sources.dart  |  KODE IMPLEMENTASI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abstract class UserRemoteDataSource {</a:t>
            </a:r>
            <a:br/>
            <a:r>
              <a:t>  Future&lt;Map&lt;String, dynamic&gt;&gt; fetchUserRaw(int id);</a:t>
            </a:r>
            <a:br/>
            <a:r>
              <a:t>}</a:t>
            </a:r>
            <a:br/>
            <a:br/>
            <a:r>
              <a:t>class UserRemoteDataSourceImpl implements UserRemoteDataSource {</a:t>
            </a:r>
            <a:br/>
            <a:r>
              <a:t>  @override</a:t>
            </a:r>
            <a:br/>
            <a:r>
              <a:t>  Future&lt;Map&lt;String, dynamic&gt;&gt; fetchUserRaw(int id) async {</a:t>
            </a:r>
            <a:br/>
            <a:r>
              <a:t>    // Memanggil Dio client atau REST API:</a:t>
            </a:r>
            <a:br/>
            <a:r>
              <a:t>    return {'id': id, 'name': 'Siti Aminah', 'role': 'Engineer'};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(slide_10_data_sources.dart)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6464"/>
                </a:solidFill>
                <a:latin typeface="Segoe UI"/>
              </a:defRPr>
            </a:pPr>
            <a:r>
              <a:t>IF3205 • PEMROGRAMAN PIRANTI BERGERAK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58368"/>
            <a:ext cx="2926080" cy="384048"/>
          </a:xfrm>
          <a:prstGeom prst="rect">
            <a:avLst/>
          </a:prstGeom>
          <a:solidFill>
            <a:srgbClr val="4ADE8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DATA LAYER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5457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Segoe UI"/>
              </a:defRPr>
            </a:pPr>
            <a:r>
              <a:t>Repository Implementation: Manajer Logistik Cerdas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38912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38912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645920"/>
            <a:ext cx="4389120" cy="438912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00784"/>
            <a:ext cx="4023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KONSEP INTI &amp; ANALOGI AWAM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57984"/>
            <a:ext cx="4023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📋 Analogi Manajer Logistik: Manajer yang memutuskan: 'Cek stok gudang lokal dulu. Jika kosong, baru pesan ke pabrik pusat via kurir.'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🤝 Menepati Kontrak Domain: Kelas ini wajib mengimplementasikan interface `ProfileRepository` yang sudah disepakati di Domain Layer.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🔄 Orkestrasi Data: Memanggil `RemoteDataSource`, mem-parsing ke `ProfileModel`, lalu mengembalikannya sebagai `Profile` Entity murni.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🚨 Penanganan Galat: Tempat resmi menangkap `ServerException` jaringan dan menerjemahkannya menjadi kegagalan yang dipahami pengguna.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5047488"/>
            <a:ext cx="4114800" cy="105156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074920"/>
            <a:ext cx="402336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000000"/>
                </a:solidFill>
                <a:latin typeface="Segoe UI"/>
              </a:defRPr>
            </a:pPr>
            <a:r>
              <a:t>💡 TIPS PRAKTIKUM &amp; PEDOMAN:</a:t>
            </a:r>
            <a:br/>
            <a:r>
              <a:t>Repository Implementation adalah satu-satunya jembatan penghubung antara dunia luar (Data) dengan dunia inti (Domain)!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repo_implementation.dart  |  KODE IMPLEMENTASI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class ProfileRepositoryImpl implements ProfileRepository {</a:t>
            </a:r>
            <a:br/>
            <a:r>
              <a:t>  @override</a:t>
            </a:r>
            <a:br/>
            <a:r>
              <a:t>  Future&lt;Profile&gt; getProfile() async {</a:t>
            </a:r>
            <a:br/>
            <a:r>
              <a:t>    // 1. Panggil Remote Data Source</a:t>
            </a:r>
            <a:br/>
            <a:r>
              <a:t>    final raw = await remoteDataSource.fetchRaw();</a:t>
            </a:r>
            <a:br/>
            <a:r>
              <a:t>    // 2. Parse ke Model DTO</a:t>
            </a:r>
            <a:br/>
            <a:r>
              <a:t>    final model = ProfileModel.fromJson(raw);</a:t>
            </a:r>
            <a:br/>
            <a:r>
              <a:t>    // 3. Kembalikan sebagai Entity Domain murni:</a:t>
            </a:r>
            <a:br/>
            <a:r>
              <a:t>    return model;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(slide_11_data_repository_impl.dart)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6464"/>
                </a:solidFill>
                <a:latin typeface="Segoe UI"/>
              </a:defRPr>
            </a:pPr>
            <a:r>
              <a:t>IF3205 • PEMROGRAMAN PIRANTI BERGERAK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58368"/>
            <a:ext cx="2926080" cy="384048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PRINSIP SOLID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5457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Segoe UI"/>
              </a:defRPr>
            </a:pPr>
            <a:r>
              <a:t>Dependency Inversion: Steker Listrik Standar Stopkontak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38912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38912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645920"/>
            <a:ext cx="4389120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00784"/>
            <a:ext cx="4023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KONSEP INTI &amp; ANALOGI AWAM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57984"/>
            <a:ext cx="4023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🔌 Analogi Steker Standar: Kipas angin tidak boleh disolder mati ke kabel tiang listrik PLN; kipas angin dan PLN sama-sama sepakat memakai stopkontak.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🏛️ Aturan DIP: Modul tingkat tinggi (Presentation/Domain) tidak boleh bergantung langsung pada modul tingkat rendah (Data/API).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🎯 Keduanya Bergantung pada Abstraksi: Baik Presenter maupun Repository Impl sama-sama bergantung pada interface kontrak abstrak.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🧪 Kekuatan Mocking: Anda bisa mengganti pengiriman SMS dengan WhatsApp Notifier dalam 1 detik tanpa mengubah 1 baris pun kode pemanggil!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5047488"/>
            <a:ext cx="4114800" cy="105156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074920"/>
            <a:ext cx="402336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000000"/>
                </a:solidFill>
                <a:latin typeface="Segoe UI"/>
              </a:defRPr>
            </a:pPr>
            <a:r>
              <a:t>💡 TIPS PRAKTIKUM &amp; PEDOMAN:</a:t>
            </a:r>
            <a:br/>
            <a:r>
              <a:t>DIP adalah rahasia terbesar mengapa aplikasi enterprise dunia bisa diuji otomatis tanpa internet!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dependency_inversion.dart  |  KODE IMPLEMENTASI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// NotifierService adalah colokan standar universal:</a:t>
            </a:r>
            <a:br/>
            <a:r>
              <a:t>abstract class NotifierService {</a:t>
            </a:r>
            <a:br/>
            <a:r>
              <a:t>  String send(String message);</a:t>
            </a:r>
            <a:br/>
            <a:r>
              <a:t>}</a:t>
            </a:r>
            <a:br/>
            <a:br/>
            <a:r>
              <a:t>// Konsumen hanya kenal colokan, tidak peduli merk kabelnya:</a:t>
            </a:r>
            <a:br/>
            <a:r>
              <a:t>class OrderManager {</a:t>
            </a:r>
            <a:br/>
            <a:r>
              <a:t>  final NotifierService service;</a:t>
            </a:r>
            <a:br/>
            <a:r>
              <a:t>  OrderManager(this.service); // Injeksi lewat konstruktor</a:t>
            </a:r>
            <a:br/>
            <a:r>
              <a:t>  void finish() =&gt; service.send('Pesanan Siap!');</a:t>
            </a:r>
            <a:br/>
            <a:r>
              <a:t>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(slide_12_dependency_inversion.dart)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6464"/>
                </a:solidFill>
                <a:latin typeface="Segoe UI"/>
              </a:defRPr>
            </a:pPr>
            <a:r>
              <a:t>IF3205 • PEMROGRAMAN PIRANTI BERGERAK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58368"/>
            <a:ext cx="2926080" cy="384048"/>
          </a:xfrm>
          <a:prstGeom prst="rect">
            <a:avLst/>
          </a:prstGeom>
          <a:solidFill>
            <a:srgbClr val="38BDF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INJEKSI DEPENDENSI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5457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Segoe UI"/>
              </a:defRPr>
            </a:pPr>
            <a:r>
              <a:t>GetIt: Meja Resepsionis Hotel Bintang Lima Terpusat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38912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38912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645920"/>
            <a:ext cx="4389120" cy="438912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00784"/>
            <a:ext cx="4023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KONSEP INTI &amp; ANALOGI AWAM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57984"/>
            <a:ext cx="4023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🛎️ Analogi Resepsionis Hotel: Tamu tidak perlu keliling mencari sopir taksi atau koki; cukup hubungi meja resepsionis 'sl&lt;T&gt;()' di lobi.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🌐 Service Locator Global: `final sl = GetIt.instance` menyimpan seluruh resep pembuatan objek di satu titik terpusat.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🚫 Bebas Oper Parameter: Widget anak tidak perlu lagi mengoper variabel `repository` melewati 10 anak tangga widget tree.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📍 File Registrasi: Seluruh dependensi didaftarkan di satu berkas resmi: `core/di/injection_container.dart`.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5047488"/>
            <a:ext cx="4114800" cy="105156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074920"/>
            <a:ext cx="402336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000000"/>
                </a:solidFill>
                <a:latin typeface="Segoe UI"/>
              </a:defRPr>
            </a:pPr>
            <a:r>
              <a:t>💡 TIPS PRAKTIKUM &amp; PEDOMAN:</a:t>
            </a:r>
            <a:br/>
            <a:r>
              <a:t>Panggil setupLocator() di dalam void main() sebelum fungsi runApp() dijalankan!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get_it_service_locator.dart  |  KODE IMPLEMENTASI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final sl = GetIt.instance; // Service Locator Global</a:t>
            </a:r>
            <a:br/>
            <a:br/>
            <a:r>
              <a:t>void setupLocator() {</a:t>
            </a:r>
            <a:br/>
            <a:r>
              <a:t>  // Daftarkan layanan ke resepsionis:</a:t>
            </a:r>
            <a:br/>
            <a:r>
              <a:t>  sl.registerSingleton&lt;AppConfigService&gt;(AppConfigService());</a:t>
            </a:r>
            <a:br/>
            <a:r>
              <a:t>}</a:t>
            </a:r>
            <a:br/>
            <a:br/>
            <a:r>
              <a:t>// Ambil kapan saja di mana saja:</a:t>
            </a:r>
            <a:br/>
            <a:r>
              <a:t>final config = sl&lt;AppConfigService&gt;();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(slide_13_get_it_service_locator.dart)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6464"/>
                </a:solidFill>
                <a:latin typeface="Segoe UI"/>
              </a:defRPr>
            </a:pPr>
            <a:r>
              <a:t>IF3205 • PEMROGRAMAN PIRANTI BERGERAK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58368"/>
            <a:ext cx="2926080" cy="384048"/>
          </a:xfrm>
          <a:prstGeom prst="rect">
            <a:avLst/>
          </a:prstGeom>
          <a:solidFill>
            <a:srgbClr val="FB7185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INJEKSI DEPENDENSI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5457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Segoe UI"/>
              </a:defRPr>
            </a:pPr>
            <a:r>
              <a:t>Factory vs Singleton: Karcis Parkir vs Generator Listrik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38912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38912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645920"/>
            <a:ext cx="4389120" cy="438912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00784"/>
            <a:ext cx="4023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KONSEP INTI &amp; ANALOGI AWAM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57984"/>
            <a:ext cx="4023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🎫 Analogi Karcis Parkir: Setiap mobil masuk dicetak karcis baru (Factory). Generator listrik gedung hanya ada satu dipakai bersama (Singleton).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🏢 registerLazySingleton: Objek dibuat HANYA 1 kali saat pertama kali diminta, lalu dipakai bersama selamanya (Cocok untuk Repository, Dio, Database).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🔄 registerFactory: Objek baru selalu dicetak ulang setiap kali dipanggil (Cocok untuk Cubit / BLoC agar state kembali segar saat buka halaman baru).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⚡ Hemat Memori: 'Lazy' berarti objek tidak memakan RAM sebelum ada halaman yang benar-benar memanggilnya.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5047488"/>
            <a:ext cx="4114800" cy="105156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074920"/>
            <a:ext cx="402336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000000"/>
                </a:solidFill>
                <a:latin typeface="Segoe UI"/>
              </a:defRPr>
            </a:pPr>
            <a:r>
              <a:t>💡 TIPS PRAKTIKUM &amp; PEDOMAN:</a:t>
            </a:r>
            <a:br/>
            <a:r>
              <a:t>Aturan Emas GetIt: Repository &amp; Data Source daftar sebagai LazySingleton, sedangkan Cubit daftar sebagai Factory!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factory_vs_singleton.dart  |  KODE IMPLEMENTASI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void initDI() {</a:t>
            </a:r>
            <a:br/>
            <a:r>
              <a:t>  // 1. Repository: Singleton (1 objek untuk seluruh aplikasi)</a:t>
            </a:r>
            <a:br/>
            <a:r>
              <a:t>  sl.registerLazySingleton&lt;ProductRepository&gt;(</a:t>
            </a:r>
            <a:br/>
            <a:r>
              <a:t>    () =&gt; ProductRepositoryImpl(),</a:t>
            </a:r>
            <a:br/>
            <a:r>
              <a:t>  );</a:t>
            </a:r>
            <a:br/>
            <a:br/>
            <a:r>
              <a:t>  // 2. Cubit: Factory (Objek baru setiap kali halaman dibuka)</a:t>
            </a:r>
            <a:br/>
            <a:r>
              <a:t>  sl.registerFactory&lt;ProductCubit&gt;(</a:t>
            </a:r>
            <a:br/>
            <a:r>
              <a:t>    () =&gt; ProductCubit(sl()),</a:t>
            </a:r>
            <a:br/>
            <a:r>
              <a:t>  );</a:t>
            </a:r>
            <a:br/>
            <a:r>
              <a:t>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(slide_14_factory_vs_singleton.dart)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6464"/>
                </a:solidFill>
                <a:latin typeface="Segoe UI"/>
              </a:defRPr>
            </a:pPr>
            <a:r>
              <a:t>IF3205 • PEMROGRAMAN PIRANTI BERGERAK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58368"/>
            <a:ext cx="2926080" cy="384048"/>
          </a:xfrm>
          <a:prstGeom prst="rect">
            <a:avLst/>
          </a:prstGeom>
          <a:solidFill>
            <a:srgbClr val="C084F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KONSUMSI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5457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Segoe UI"/>
              </a:defRPr>
            </a:pPr>
            <a:r>
              <a:t>Presentation Layer: Kasir Meneruskan Pesanan ke Koki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38912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38912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645920"/>
            <a:ext cx="4389120" cy="438912"/>
          </a:xfrm>
          <a:prstGeom prst="rect">
            <a:avLst/>
          </a:prstGeom>
          <a:solidFill>
            <a:srgbClr val="C084FC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00784"/>
            <a:ext cx="4023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KONSEP INTI &amp; ANALOGI AWAM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57984"/>
            <a:ext cx="4023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👨‍🍳 Analogi Dapur Restoran: Kasir di depan (Cubit) menerima pesanan pembeli, lalu meneruskannya ke koki spesialis soto (Use Case).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🎯 Cubit Tidak Boleh Sentuh Repo: Cubit hanya boleh memanggil Use Case, bukan memanggil Repository secara langsung!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🧱 Modularitas Tinggi: Jika alur verifikasi login berubah, perubahannya cukup di `LoginUseCase`, file Cubit dan UI tidak perlu disentuh.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✨ State Reaktif: Cubit menerima hasil kembalian dari Use Case, lalu memancarkan status `ProductLoaded` ke widget tampilan.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5047488"/>
            <a:ext cx="4114800" cy="105156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074920"/>
            <a:ext cx="402336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000000"/>
                </a:solidFill>
                <a:latin typeface="Segoe UI"/>
              </a:defRPr>
            </a:pPr>
            <a:r>
              <a:t>💡 TIPS PRAKTIKUM &amp; PEDOMAN:</a:t>
            </a:r>
            <a:br/>
            <a:r>
              <a:t>Injeksi Use Case ke dalam konstruktor Cubit menggunakan GetIt: sl&lt;MyCubit&gt;() otomatis mengisi Use Case-nya!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C084FC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cubit_usecase.dart  |  KODE IMPLEMENTASI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class GreetingCubit extends Cubit&lt;String&gt; {</a:t>
            </a:r>
            <a:br/>
            <a:r>
              <a:t>  final GetGreetingUseCase useCase; // Panggil Use Case!</a:t>
            </a:r>
            <a:br/>
            <a:r>
              <a:t>  GreetingCubit(this.useCase) : super('Menunggu');</a:t>
            </a:r>
            <a:br/>
            <a:br/>
            <a:r>
              <a:t>  void greet(String name) {</a:t>
            </a:r>
            <a:br/>
            <a:r>
              <a:t>    // Menjalankan tugas bisnis murni:</a:t>
            </a:r>
            <a:br/>
            <a:r>
              <a:t>    final pesan = useCase.execute(name);</a:t>
            </a:r>
            <a:br/>
            <a:r>
              <a:t>    emit(pesan);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(slide_15_presentation_cubit_usecase.dart)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6464"/>
                </a:solidFill>
                <a:latin typeface="Segoe UI"/>
              </a:defRPr>
            </a:pPr>
            <a:r>
              <a:t>IF3205 • PEMROGRAMAN PIRANTI BERGERAK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58368"/>
            <a:ext cx="2926080" cy="384048"/>
          </a:xfrm>
          <a:prstGeom prst="rect">
            <a:avLst/>
          </a:prstGeom>
          <a:solidFill>
            <a:srgbClr val="4ADE8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ALUR DATA UTUH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5457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Segoe UI"/>
              </a:defRPr>
            </a:pPr>
            <a:r>
              <a:t>Alur Data End-to-End: Ekspedisi Paket Pos Hingga Tangan Pembeli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38912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38912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645920"/>
            <a:ext cx="4389120" cy="438912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00784"/>
            <a:ext cx="4023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KONSEP INTI &amp; ANALOGI AWAM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57984"/>
            <a:ext cx="4023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🚚 Alur Distribusi: Pembeli klik tombol (UI) -&gt; Kasir input resi (Cubit) -&gt; Manajer gudang proses nota (Use Case) -&gt; Kurir jemput paket (Repo) -&gt; Pabrik kirim barang (API).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1. UI: `context.read&lt;ItemCubit&gt;().load()` dipicu saat tombol diklik.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2. Cubit: Memancarkan state `Loading`, lalu memanggil `getItemUseCase()`.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3. Use Case: Meminta data ke `ItemRepository` (Kontrak Abstrak).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4. Repo Impl: Mengambil data dari `RemoteDataSource`, parse Model, kembalikan Entity murni ke UI!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5047488"/>
            <a:ext cx="4114800" cy="105156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074920"/>
            <a:ext cx="402336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000000"/>
                </a:solidFill>
                <a:latin typeface="Segoe UI"/>
              </a:defRPr>
            </a:pPr>
            <a:r>
              <a:t>💡 TIPS PRAKTIKUM &amp; PEDOMAN:</a:t>
            </a:r>
            <a:br/>
            <a:r>
              <a:t>Pahami rantai alur ini di luar kepala; ini adalah pertanyaan wajib saat wawancara kerja Mobile Engineer!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end_to_end_flow.dart  |  KODE IMPLEMENTASI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// Rantai Pemanggilan Berkelas Enterprise:</a:t>
            </a:r>
            <a:br/>
            <a:r>
              <a:t>UI (Screen / Button)</a:t>
            </a:r>
            <a:br/>
            <a:r>
              <a:t>   ▼ context.read&lt;ItemCubit&gt;().load()</a:t>
            </a:r>
            <a:br/>
            <a:r>
              <a:t>Presentation (Cubit)</a:t>
            </a:r>
            <a:br/>
            <a:r>
              <a:t>   ▼ getItemUseCase()</a:t>
            </a:r>
            <a:br/>
            <a:r>
              <a:t>Domain (Use Case)</a:t>
            </a:r>
            <a:br/>
            <a:r>
              <a:t>   ▼ repository.fetchItem()</a:t>
            </a:r>
            <a:br/>
            <a:r>
              <a:t>Data (Repository Impl)</a:t>
            </a:r>
            <a:br/>
            <a:r>
              <a:t>   ▼ remoteDataSource.fetch()</a:t>
            </a:r>
            <a:br/>
            <a:r>
              <a:t>Infrastructure (HTTP / API Server)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(slide_16_end_to_end_clean_flow.dart)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6464"/>
                </a:solidFill>
                <a:latin typeface="Segoe UI"/>
              </a:defRPr>
            </a:pPr>
            <a:r>
              <a:t>IF3205 • PEMROGRAMAN PIRANTI BERGERAK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58368"/>
            <a:ext cx="2926080" cy="384048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CHECKLIST PRODUKSI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5457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Segoe UI"/>
              </a:defRPr>
            </a:pPr>
            <a:r>
              <a:t>5 Aturan Emas Clean Architecture (Pedoman Penilaian UTS)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38912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38912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645920"/>
            <a:ext cx="4389120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00784"/>
            <a:ext cx="4023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KONSEP INTI &amp; ANALOGI AWAM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57984"/>
            <a:ext cx="4023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1. Domain Layer Bebas dari Flutter: Folder domain murni berisi kode Dart murni tanpa `package:flutter`.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2. Satu Use Case Satu Tugas: Gunakan kelas spesifik (LoginUseCase, GetProductsUseCase), bukan Use Case sapu jagat.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3. Cubit Dilarang Sentuh Repository: Presentation Layer wajib memanggil Use Case sebagai perantara logika.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4. Model Mewarisi Entity: `class ProductModel extends Product` di Data Layer untuk mengisolasi format JSON.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5. Pendaftaran Terpusat di GetIt: Seluruh instansiasi objek dikumpulkan di `injection_container.dart`.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5047488"/>
            <a:ext cx="4114800" cy="105156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074920"/>
            <a:ext cx="402336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000000"/>
                </a:solidFill>
                <a:latin typeface="Segoe UI"/>
              </a:defRPr>
            </a:pPr>
            <a:r>
              <a:t>💡 TIPS PRAKTIKUM &amp; PEDOMAN:</a:t>
            </a:r>
            <a:br/>
            <a:r>
              <a:t>Gunakan kelima checklist ini untuk memastikan repositori kelompok Anda meraih skor maksimal 100 pada UTS!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checklist_clean_arch.dart  |  KODE IMPLEMENTASI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// Checklist Uji Praktikum Arsitektur Standar 2026:</a:t>
            </a:r>
            <a:br/>
            <a:r>
              <a:t>// [✓] Struktur proyek tersusun rapi Feature-First</a:t>
            </a:r>
            <a:br/>
            <a:r>
              <a:t>// [✓] Domain Layer 100% bebas error saat diuji tanpa Flutter UI</a:t>
            </a:r>
            <a:br/>
            <a:r>
              <a:t>// [✓] Semua dependensi diinjeksi via Service Locator GetIt</a:t>
            </a:r>
            <a:br/>
            <a:r>
              <a:t>// [✓] Lolos audit linting 'dart analyze' dengan 0 issue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(slide_17_checklist_clean_architecture.dart)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6464"/>
                </a:solidFill>
                <a:latin typeface="Segoe UI"/>
              </a:defRPr>
            </a:pPr>
            <a:r>
              <a:t>IF3205 • PEMROGRAMAN PIRANTI BERGERAK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58368"/>
            <a:ext cx="2926080" cy="384048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LAB QUEST MANDIRI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5457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Segoe UI"/>
              </a:defRPr>
            </a:pPr>
            <a:r>
              <a:t>Pertemuan 07: Implementasi Penuh Katalog E-Commerce dengan Clean Architecture &amp; GetIt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1054577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10545775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645920"/>
            <a:ext cx="10545775" cy="475488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91640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00000"/>
                </a:solidFill>
                <a:latin typeface="Segoe UI"/>
              </a:defRPr>
            </a:pPr>
            <a:r>
              <a:t>⏱️ ALOKASI: 60 MENIT  ■  TARGET UJI: BROWSER CHROME ATAU SMARTPHONE FISIK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94560"/>
            <a:ext cx="9784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00000"/>
                </a:solidFill>
                <a:latin typeface="Segoe UI"/>
              </a:defRPr>
            </a:pPr>
            <a:r>
              <a:t>LANGKAH KERJA &amp; SPESIFIKASI TUGAS:</a:t>
            </a:r>
          </a:p>
          <a:p>
            <a:pPr>
              <a:spcAft>
                <a:spcPts val="400"/>
              </a:spcAft>
              <a:defRPr sz="1040">
                <a:solidFill>
                  <a:srgbClr val="1E1E1E"/>
                </a:solidFill>
                <a:latin typeface="Segoe UI"/>
              </a:defRPr>
            </a:pPr>
            <a:r>
              <a:t>✔  Bangun aplikasi Katalog Gadget 2026 menggunakan pemisahan 3 layer Clean Architecture murni.</a:t>
            </a:r>
          </a:p>
          <a:p>
            <a:pPr>
              <a:spcAft>
                <a:spcPts val="400"/>
              </a:spcAft>
              <a:defRPr sz="1040">
                <a:solidFill>
                  <a:srgbClr val="1E1E1E"/>
                </a:solidFill>
                <a:latin typeface="Segoe UI"/>
              </a:defRPr>
            </a:pPr>
            <a:r>
              <a:t>✔  Definisikan 'Product' Entity di Domain Layer dan 'ProductModel' di Data Layer dengan fromJson parser.</a:t>
            </a:r>
          </a:p>
          <a:p>
            <a:pPr>
              <a:spcAft>
                <a:spcPts val="400"/>
              </a:spcAft>
              <a:defRPr sz="1040">
                <a:solidFill>
                  <a:srgbClr val="1E1E1E"/>
                </a:solidFill>
                <a:latin typeface="Segoe UI"/>
              </a:defRPr>
            </a:pPr>
            <a:r>
              <a:t>✔  Buat 'GetProductsUseCase' yang memanggil interface abstrak 'ProductRepository'.</a:t>
            </a:r>
          </a:p>
          <a:p>
            <a:pPr>
              <a:spcAft>
                <a:spcPts val="400"/>
              </a:spcAft>
              <a:defRPr sz="1040">
                <a:solidFill>
                  <a:srgbClr val="1E1E1E"/>
                </a:solidFill>
                <a:latin typeface="Segoe UI"/>
              </a:defRPr>
            </a:pPr>
            <a:r>
              <a:t>✔  Implementasikan 'ProductRepositoryImpl' yang mensimulasikan pemanggilan data asinkron dari server.</a:t>
            </a:r>
          </a:p>
          <a:p>
            <a:pPr>
              <a:spcAft>
                <a:spcPts val="400"/>
              </a:spcAft>
              <a:defRPr sz="1040">
                <a:solidFill>
                  <a:srgbClr val="1E1E1E"/>
                </a:solidFill>
                <a:latin typeface="Segoe UI"/>
              </a:defRPr>
            </a:pPr>
            <a:r>
              <a:t>✔  Daftarkan Repository (LazySingleton), UseCase (LazySingleton), dan ProductCubit (Factory) di GetIt Service Locator.</a:t>
            </a:r>
          </a:p>
          <a:p>
            <a:pPr>
              <a:spcAft>
                <a:spcPts val="400"/>
              </a:spcAft>
              <a:defRPr sz="1040">
                <a:solidFill>
                  <a:srgbClr val="1E1E1E"/>
                </a:solidFill>
                <a:latin typeface="Segoe UI"/>
              </a:defRPr>
            </a:pPr>
            <a:r>
              <a:t>✔  Terapkan 4 Status UI (Initial, Loading, Loaded, Error) secara reaktif dengan tombol muat ulang dan simulasi error server!</a:t>
            </a:r>
          </a:p>
          <a:p>
            <a:pPr>
              <a:spcAft>
                <a:spcPts val="400"/>
              </a:spcAft>
              <a:defRPr sz="1040">
                <a:solidFill>
                  <a:srgbClr val="1E1E1E"/>
                </a:solidFill>
                <a:latin typeface="Segoe UI"/>
              </a:defRPr>
            </a:pPr>
            <a:r>
              <a:t>✔  Target Pengujian: Jalankan di browser Chrome ('flutter run -d chrome') dan buktikan seluruh alur terisolasi rapi!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43584" y="5358384"/>
            <a:ext cx="9784080" cy="7772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88720" y="5303520"/>
            <a:ext cx="9784080" cy="7772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8448" y="5330952"/>
            <a:ext cx="9564624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0000"/>
                </a:solidFill>
                <a:latin typeface="Segoe UI"/>
                <a:hlinkClick r:id="rId2"/>
              </a:rPr>
              <a:t>▶ BUKA KODE LENGKAP LAB QUEST DI GITHUB (slide_18_lab_quest_clean_architecture.dart)</a:t>
            </a:r>
          </a:p>
          <a:p>
            <a:pPr>
              <a:defRPr sz="830">
                <a:solidFill>
                  <a:srgbClr val="323232"/>
                </a:solidFill>
                <a:latin typeface="Segoe UI"/>
              </a:defRPr>
            </a:pPr>
            <a:r>
              <a:t>💡 Buka di browser: Solusi lengkap Mini E-Commerce Produk dengan Clean Arch &amp; GetIt di GitHub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