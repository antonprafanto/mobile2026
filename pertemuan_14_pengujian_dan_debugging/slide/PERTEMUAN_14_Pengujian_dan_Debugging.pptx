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Lst>
  <p:notesMasterIdLst>
    <p:notesMasterId r:id="rId8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5d72fb26-07fe-36e3-bbda-3c2616bf5f2a}">
          <p14:sldIdLst>
            <p14:sldId id="256"/>
            <p14:sldId id="257"/>
            <p14:sldId id="258"/>
            <p14:sldId id="259"/>
          </p14:sldIdLst>
        </p14:section>
        <p14:section name="Mengapa Perlu Menguji?" id="{0f60d05a-3fbc-1e9f-8b8c-bf5569267ea1}">
          <p14:sldIdLst>
            <p14:sldId id="260"/>
            <p14:sldId id="261"/>
            <p14:sldId id="262"/>
            <p14:sldId id="263"/>
            <p14:sldId id="264"/>
          </p14:sldIdLst>
        </p14:section>
        <p14:section name="Tes Unit Pertama" id="{d9690a8a-11ca-8012-3572-c89416e06bb4}">
          <p14:sldIdLst>
            <p14:sldId id="265"/>
            <p14:sldId id="266"/>
            <p14:sldId id="267"/>
            <p14:sldId id="268"/>
            <p14:sldId id="269"/>
            <p14:sldId id="270"/>
            <p14:sldId id="271"/>
          </p14:sldIdLst>
        </p14:section>
        <p14:section name="Matcher, Pengecualian, setUp, dan group" id="{18345ca9-d5ea-9446-7c13-8e732081fcd4}">
          <p14:sldIdLst>
            <p14:sldId id="272"/>
            <p14:sldId id="273"/>
            <p14:sldId id="274"/>
            <p14:sldId id="275"/>
            <p14:sldId id="276"/>
          </p14:sldIdLst>
        </p14:section>
        <p14:section name="Menguji Kode Asinkron" id="{8ee8ea9e-f420-4f5f-9c52-b8cf67484f24}">
          <p14:sldIdLst>
            <p14:sldId id="277"/>
            <p14:sldId id="278"/>
            <p14:sldId id="279"/>
            <p14:sldId id="280"/>
            <p14:sldId id="281"/>
          </p14:sldIdLst>
        </p14:section>
        <p14:section name="Menguji ViewModel dengan Data Palsu" id="{99afa282-abf9-e664-3476-34e3deb0500e}">
          <p14:sldIdLst>
            <p14:sldId id="282"/>
            <p14:sldId id="283"/>
            <p14:sldId id="284"/>
            <p14:sldId id="285"/>
            <p14:sldId id="286"/>
          </p14:sldIdLst>
        </p14:section>
        <p14:section name="Tes Widget Pertama" id="{b331839a-49c7-7721-1c68-8a3a0ce02751}">
          <p14:sldIdLst>
            <p14:sldId id="287"/>
            <p14:sldId id="288"/>
            <p14:sldId id="289"/>
            <p14:sldId id="290"/>
            <p14:sldId id="291"/>
            <p14:sldId id="292"/>
          </p14:sldIdLst>
        </p14:section>
        <p14:section name="Tes Widget dengan ViewModel" id="{eb3995cb-fbbf-a7eb-36b3-f8009ecdb5ae}">
          <p14:sldIdLst>
            <p14:sldId id="293"/>
            <p14:sldId id="294"/>
            <p14:sldId id="295"/>
            <p14:sldId id="296"/>
            <p14:sldId id="297"/>
            <p14:sldId id="298"/>
          </p14:sldIdLst>
        </p14:section>
        <p14:section name="Menguji Kode yang Memakai Plugin" id="{910f6626-dfcc-bc9c-4220-b112a5318ca4}">
          <p14:sldIdLst>
            <p14:sldId id="299"/>
            <p14:sldId id="300"/>
            <p14:sldId id="301"/>
            <p14:sldId id="302"/>
            <p14:sldId id="303"/>
            <p14:sldId id="304"/>
            <p14:sldId id="305"/>
          </p14:sldIdLst>
        </p14:section>
        <p14:section name="Studi Kasus: Menguji &quot;Pinjam Ruang Kampus&quot;" id="{716ef872-a403-e3b5-088c-5993e1e70f4d}">
          <p14:sldIdLst>
            <p14:sldId id="306"/>
            <p14:sldId id="307"/>
            <p14:sldId id="308"/>
            <p14:sldId id="309"/>
            <p14:sldId id="310"/>
            <p14:sldId id="311"/>
            <p14:sldId id="312"/>
          </p14:sldIdLst>
        </p14:section>
        <p14:section name="Debugging (1): Membaca Pesan Galat" id="{2fe0cd85-4f4b-0b43-447d-5a3d130e85ea}">
          <p14:sldIdLst>
            <p14:sldId id="313"/>
            <p14:sldId id="314"/>
            <p14:sldId id="315"/>
            <p14:sldId id="316"/>
            <p14:sldId id="317"/>
          </p14:sldIdLst>
        </p14:section>
        <p14:section name="Debugger VS Code dan Flutter DevTools" id="{1492f4c0-099d-adf4-c0fc-d85a01ed32ac}">
          <p14:sldIdLst>
            <p14:sldId id="318"/>
            <p14:sldId id="319"/>
            <p14:sldId id="320"/>
            <p14:sldId id="321"/>
            <p14:sldId id="322"/>
            <p14:sldId id="323"/>
            <p14:sldId id="324"/>
          </p14:sldIdLst>
        </p14:section>
        <p14:section name="Galat Tata Letak yang Paling Sering" id="{546071f7-4799-2805-9188-a797a3b7395c}">
          <p14:sldIdLst>
            <p14:sldId id="325"/>
            <p14:sldId id="326"/>
            <p14:sldId id="327"/>
            <p14:sldId id="328"/>
            <p14:sldId id="329"/>
            <p14:sldId id="330"/>
          </p14:sldIdLst>
        </p14:section>
        <p14:section name="Cakupan, CI, Jenis Tes Lain, dan Proyek Akhir" id="{7abb3881-da63-35a8-20b0-cb79ad52247d}">
          <p14:sldIdLst>
            <p14:sldId id="331"/>
            <p14:sldId id="332"/>
            <p14:sldId id="333"/>
            <p14:sldId id="334"/>
            <p14:sldId id="335"/>
            <p14:sldId id="336"/>
            <p14:sldId id="337"/>
            <p14:sldId id="338"/>
            <p14:sldId id="339"/>
            <p14:sldId id="340"/>
            <p14:sldId id="34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notesMaster" Target="notesMasters/notesMaster1.xml"/><Relationship Id="rId89" Type="http://schemas.openxmlformats.org/officeDocument/2006/relationships/presProps" Target="presProps.xml"/><Relationship Id="rId90" Type="http://schemas.openxmlformats.org/officeDocument/2006/relationships/viewProps" Target="viewProps.xml"/><Relationship Id="rId91" Type="http://schemas.openxmlformats.org/officeDocument/2006/relationships/theme" Target="theme/theme1.xml"/><Relationship Id="rId9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 ini kita menguji aplikasi dengan tangan: jalankan, ketik, ketuk, lalu lihat. Hari ini kita menulis kode kecil yang memeriksa kode lain, lalu belajar mencari penyebab bug tanpa menebak-nebak. Bekal: fungsi (P2); Future, async/await, Stream (P3); MVVM, ChangeNotifier, provider (P9); http dan MockClient (P10); kontrak, Hasil dan Kegagalan, data palsu, Perintah (P12 dan P13). Laptop RAM 8 GB cukup: flutter test tidak membutuhkan emulator, HP, maupun Chrome. Contoh 01–04 (tes unit) bahkan bisa langsung dicoba di DartPad.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akhir hari ini: Anda mampu menulis tes unit dan tes widget, menjalankannya dengan satu perintah (di laptop maupun otomatis di GitHub), lalu menemukan penyebab bug dengan pesan galat, debugger VS Code, dan Flutter DevTools. Tes unit dijalankan di DartPad, terminal (flutter test), dan VS Code; tes widget dengan flutter test. Tes widget juga diperiksa di layar sempit, huruf besar, mode gelap, dan pedoman aksesibilitas. Tes integrasi diperkenalkan singkat di Bagian 14.3.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A: mengapa kode yang "sudah jalan" tetap perlu diuji, dan tes apa saja yang ada. Bagian B: menulis dan menjalankan tes untuk fungsi, kelas, kode asinkron, dan ViewModel. Bagian C: menguji tampilan seperti pengguna memakainya: mengetik, mengetuk, lalu melihat layar. Bagian D: menguji kode yang memakai kamera atau GPS, lalu menguji satu aplikasi utuh lapis demi lapis. Bagian E: saat aplikasi bermasalah, menemukan penyebabnya dengan cepat, bukan menebak-nebak. Bagian F: tes yang berjalan otomatis di GitHub, seberapa banyak kode yang sudah teruji, dan persiapan proyek 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Nama berkas tes WAJIB berakhiran _test.dart: itulah tanda bagi flutter test bahwa berkas itu berisi tes. Contoh 09 dan 10 bukan berkas tes, jadi namanya tidak berakhiran _test. Contoh 01–04 (tes unit) berjalan di DartPad. Contoh 05–08 (tes widget dan tes yang memakai plugin) dijalankan dengan flutter test di laptop; Contoh 07 dan 08 mengimpor studi kasus Pertemuan 13 dan 12. Contoh 09 dan 10 adalah aplikasi yang sengaja berisi bug: gejalanya terlihat di DartPad, tetapi debugger dengan breakpoint membutuhkan VS Code. Contoh 02 lengkapnya: matcher, exception, setUp, group, dan tabel kasus.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"Programnya jalan" tidak sama dengan "programnya benar". Program yang jalan hanya membuktikan bahwa data yang kita coba memberi hasil yang benar.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Kode ini berasal dari studi kasus Pertemuan 2 (contoh_13_studi_kasus_rekap_nilai.dart). Tanyakan dulu kepada mahasiswa: adakah yang salah dengan fungsi ini? Slide berikutnya menunjukkan data yang membuatnya salah.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Mahasiswa yang protes akan dianggap salah lihat, karena layar menulis 55.0. Penyebabnya (bilangan desimal disimpan sedikit meleset dalam biner) dan perbaikannya dibahas di Bagian 2.6. Pelajaran pertama hari ini: "programnya jalan" tidak sama dengan "programnya benar".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Menguji dengan tangan tetap perlu, tetapi lambat, mudah lupa (setelah mengubah fitur B, siapa yang ingat mencoba ulang fitur A?), dan tidak bisa diulang persis sama. Bayangkan daftar periksa pilot: pilot yang sudah ribuan jam terbang pun tetap memeriksa setiap butir. Tes yang memastikan fitur lama TETAP benar setelah kode diubah disebut tes regresi (regression test): manfaat terbesar tes otomatis, karena kita berani mengubah kode tanpa takut merusak yang sudah jalan. Hari ini fokus pada tes unit dan tes widget; tes integrasi diperkenalkan singkat di Bagian 14.3.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Beberapa pertemuan terakhir sudah menyiapkan kode agar BISA diuji; hari ini janji-janji itu kita tepati. Bedakan juga pengujian dan debugging: tes menjawab "apakah ada yang salah?" (tes merah), sedangkan debugging menjawab "di baris mana, dan mengapa?". Setelah penyebabnya ditemukan dan diperbaiki, tes kembali hijau. Alat-alat debugging dibahas di Bagian 10–13.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 unit memeriksa satu fungsi, method, atau kelas: paling murah dan paling cepat. Kita mulai dari fungsi nilai akhir Pertemuan 2 (Contoh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flutter_test berisi semua yang kita butuhkan hari ini: test, expect, group, setUp, testWidgets, dan kawan-kawan. Proyek baru sudah berisi test/widget_test.dart yang menguji aplikasi penghitung bawaan, jadi tes itu pasti gagal setelah main.dart Anda ganti. Berkas contoh di repositori ini diletakkan di folder kode/, bukan test/, agar mudah ditemukan bersama modulnya. Judul // ===== BERKAS: ... ===== di dalamnya menunjukkan DI MANA setiap bagian berada pada proyek sungguhan, misalnya Contoh 01 berisi lib/nilai.dart (kode yang diuji) dan test/nilai_test.dart (tesnya).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Kalimat di test(...) itulah yang tampil saat tes gagal; kalimat yang jelas langsung menjelaskan aturan mana yang dilanggar. Jika urutan argumen expect tertukar, pesan gagalnya ikut tertukar dan membingungkan. Di proyek sungguhan, berkas tes juga mengimpor kode yang diuji dari folder lib/, misalnya import 'package:nama_proyek/nilai.dart';.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 A dan B di kotak kode ditambahkan untuk slide, dan komentar perintah ketiga dipindah ke poin agar muat. Untuk berkas contoh di repositori ini, sebutkan jalurnya dari folder utama repositori, misalnya flutter test pertemuan_14_pengujian_dan_debugging/kode/contoh_01_tes_unit_pertama_test.dart, atau folder kode/ untuk semua contoh tes Pertemuan 14. VS Code hanya mengenali berkas tes di folder test/; untuk folder kode/ repositori ini, nyalakan setelan Dart: Allow Tests Outside Test Folder (dart.allowTestsOutsideTestFolder). Di VS Code, tes yang lulus diberi centang hijau, yang gagal tanda silang merah. Kesimpulan akhir laporan: All tests passed! atau Some tests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Cara melihatnya: kembalikan hitungNilaiAkhir ke versi Pertemuan 2 (hapus pembulatannya), lalu jalankan lagi. Tes yang gagal bukan bencana: justru itulah tugasnya, berteriak SEBELUM pengguna menemukan masalahnya. Urutan yang dianjurkan setelah menemukan bug: (1) tulis tes yang membuktikan bug itu ada, jalankan, dan pastikan MERAH (jika hijau, tesnya belum menangkap bug itu); (2) perbaiki kodenya; (3) jalankan lagi sampai hijau, begitu pula semua tes lama. Tes ini sekaligus menjadi tes regresi: jika suatu hari pembulatannya terhapus, tes langsung merah lagi.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Selisihnya sangat kecil, sekitar 0,000000000000007, tetapi cukup untuk membuat 55 menjadi 54.99999999999999, dan 54.99999999999999 &gt;= 55 bernilai false. Setelah dibulatkan, ke-214 kombinasi yang tadinya salah menjadi benar semua: satu tes yang ditulis di nilai yang tepat menyelamatkan ratusan mahasiswa. Keranjang Kantin di Contoh 02 menyimpan harga sebagai 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Pembagian huruf: E di bawah 40, D 40–54,9, C 55–69,9, B 70–84,9, A mulai 85. Data Andi, Budi, Citra, dan Dewi jauh dari garis pemisah, sehingga bug Pertemuan 2 tidak tertangkap: bug semacam ini hanya muncul TEPAT di garis. Kiat: untuk setiap aturan berbentuk "minimal", "maksimal", "mulai", atau "paling lambat", tulis dua tes: tepat di batas dan satu langkah di luar batas. Contoh 01 menguji keempat batas: 85, 70, 55, dan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02 menguji "Keranjang Kantin": menu bisa ditambah dan dikurangi, belanja mulai Rp50.000 mendapat diskon 10%, dan satu menu paling banyak 10 porsi.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Argumen kedua expect adalah matcher, yaitu "aturan pencocokan"; menulis nilai biasa seperti 'A' sama dengan menulis equals('A'). Dibandingkan expect(keranjang.rincian.length == 1, true), bentuk expect(keranjang.rincian, hasLength(1)) memberi pesan gagal yang jauh lebih jelas: Expected: an object with length of &lt;1&gt;, Actual: ['3 x Nasi goreng = Rp36.000', '1 x Es teh = Rp4.000'], Which: has length of &lt;2&gt;. isA&lt;T&gt;() bisa dilanjutkan dengan .having(...) untuk memeriksa isinya sekaligus (slide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Penolakan juga perilaku yang harus diuji. Tanpa pembungkus () =&gt;, exception dilempar SEBELUM expect sempat bekerja, dan tesnya gagal. Ada juga throwsFormatException untuk teks yang tidak sesuai format. Di Keranjang, tambah() melempar ArgumentError.value(jumlah, 'jumlah', 'minimal 1') untuk jumlah di bawah 1, dan StateError('Paling banyak $maksimalPorsi porsi ${menu.nama} sekali pesan.') jika porsinya melebihi 10. Pola .having(ambil bagian yang diperiksa, namanya untuk pesan gagal, harapannya) juga dipakai untuk memeriksa kodeStatus ServerBermasalah di Contoh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Baris late Keranjang keranjang; berasal dari modul Bagian 3.3, kelompoknya dari Bagian 3.4; isi tes ditulis { ... } di modul. Mengapa tidak satu keranjang untuk semua tes? Jika tes kedua bergantung pada isi keranjang dari tes pertama, ia gagal saat dijalankan sendirian, atau saat urutannya berubah. tearDown cocok untuk membereskan, misalnya vm.dispose(). group boleh bersarang: setUp di kelompok luar dijalankan lebih dulu, baru setUp di kelompok dalam. Contoh baris laporan: 00:00 +13: Keranjang diskon 10% mulai Rp50.000 tepat Rp50.000 mendapat diskon Rp5.000.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Rata-rata harga per porsi untuk 1 nasi goreng (Rp12.000) dan 2 es teh (Rp4.000) adalah 20.000 / 3 = 6666,666…. Contoh 02 berjalan di DartPad: 17 tes, diakhiri 00:00 +17: All tests passed!. Coba rusak kodenya dengan sengaja: ubah subtotal &gt;= batasDiskon menjadi subtotal &gt; batasDiskon. Tes mana yang menjadi merah? Inilah gunanya menguji tepat di batas (Rp49.000 belum mendapat diskon, tepat Rp50.000 mendapat diskon Rp5.000).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03 menguji "Bus Kampus": jadwal bus diambil dari server, lalu posisi bus diikuti lewat Stream. Semuanya berjalan tanpa internet dan selesai dalam sekejap.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sederhana: jika memanggil sesuatu yang mengembalikan Future, tulis await di depannya. Tanpa await, galatnya juga bisa muncul di tes lain yang tidak bersalah. Server sungguhan membuat hasil tes berubah saat server sibuk atau Wi-Fi mati; karena itu LayananBus menerima klien dari luar: aplikasi memberi http.Client(), tes memberi MockClient, server palsu yang jawabannya kita tentukan sendiri (Pertemuan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Dengan MockClient, SETIAP kemungkinan kegagalan diuji dalam sekejap, tanpa menunggu server benar-benar rusak. Tabel lengkap di modul Bagian 4.2: http.Response(jsonContoh, 200) → Berhasil berisi 2 jadwal; http.Response('Galat server', 500) → Gagal(ServerBermasalah(500)); throw http.ClientException('Terputus') → Gagal(TanpaKoneksi()); throw TimeoutException('Terlalu lama') → Gagal(WaktuHabis()); http.Response('&lt;html&gt;Perbaikan&lt;/html&gt;', 200) dan http.Response('{"data": []}', 200) → Gagal(DataRusak()). Karena polanya berulang, Contoh 03 membuat fungsi pembantu kegagalanDari. Server palsu juga bisa MENCATAT permintaan yang diterimanya: expect(tercatat.single.method, 'GET') dan expect(tercatat.single.url.path, '/bus/jadwal').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Perbedaannya dengan expect: expectLater mengembalikan Future yang selesai setelah pemeriksaannya selesai. Karena itu ia harus di-await. Di Contoh 03, LayananBus melempar ApiException jika kode status bukan 200; tes "kode 404 dilempar sebagai ApiException" memeriksa kodeStatus-nya dengan .having(...).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statusKedatangan() mengubah aliran "sisa halte" menjadi kalimat untuk penumpang, lalu berhenti setelah bus tiba. Contoh 03 juga menguji bahwa aliran berhenti walaupun data masih datang ([1, 0, 5]), dan bahwa angka negatif menjadi galat di dalam aliran ([2, -1] → emitsError(isArgumentError)). Contoh 03 berjalan di DartPad (paket http tersedia di sana): 12 tes, selesai dalam sekejap tanpa internet sama sekali.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04 menguji "Antrean Konsultasi Dosen": mahasiswa melihat daftar antrean, lalu mengambil nomor. ViewModel-nya mengikuti pola Pertemuan 9 dan 12: memuat dari repository, menyimpan status (memuat, berhasil, gagal), menolak isian yang tidak wajar, dan menjaga agar ketukan ganda tidak mengirim dua kali.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alasan Pertemuan 9 memisahkan logika dari tampilan: buat ViewModel dengan repository palsu, panggil method-nya, lalu periksa isinya. Panduan arsitektur resmi Flutter memakai data palsu untuk repository, dan kita mengikutinya.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Potongan dari Contoh 04 (modul Bagian 5.3). Bagian yang dilewati di slide (// ...): daftar _menunggu, method lepaskan(), dan _mungkinDitahan(), yang dibahas di slide berikutnya. Tes bisa mengatur ketiga "tombol" ini kapan saja. Data palsu yang sama dipakai lagi oleh tes widget di Contoh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 di modul Bagian 5.4 ikut mendengarkan ViewModel: final List&lt;StatusMuat&gt; tercatat = []; vm.addListener(() =&gt; tercatat.add(vm.status)); await vm.muat(); expect(tercatat, [StatusMuat.memuat, StatusMuat.berhasil]);. Jika suatu hari ada yang lupa memanggil notifyListeners(), layar tidak berubah; tes ini menangkap kesalahan itu TANPA menjalankan aplikasi. lepaskan() memanggil complete() pada setiap Completer di _menunggu, lalu mengosongkannya.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 "nama kosong ditolak SEBELUM menghubungi server" memanggil vm.ambilNomor(nama: '   ', keperluan: 'Konsultasi judul skripsi'), lalu memeriksa berhasil isFalse, vm.pesanKirim 'Nama wajib diisi.', dan repositori.jumlahMengambil 0: mata-mata membuktikan server tidak dihubungi. Tanpa penjaga _sudahDibuang, ViewModel memanggil notifyListeners() setelah dispose(), dan Flutter melempar galat "A AntreanViewModel was used after being disposed.". Contoh 04 berjalan di DartPad: 12 tes (00:00 +12: All tests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 widget memeriksa TAMPILAN, dengan cara yang mirip pengguna memakainya: membangun layar, mengetik, mengetuk, lalu melihat apa yang muncul. Semuanya terjadi di lingkungan uji di dalam memori komputer: tidak ada HP, emulator, atau jendela yang terbuka, sehingga tes widget tetap berjalan cepat.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05 menguji aplikasi kecil "Cek Nilai Akhir": tiga isian (Tugas, UTS, UAS), tombol Hitung, dan kartu hasil yang menampilkan nilai akhir, huruf, serta "Lulus" atau "Mengulang". Fungsi perhitungannya sama dengan Contoh 01. Fungsi testWidgets selalu async. MaterialApp dibutuhkan karena TextField, Scaffold, tema, dan arah teks membutuhkannya. Untuk menguji satu widget kecil, bungkus seperti ini: await tester.pumpWidget(const MaterialApp(home: Scaffold(body: KartuHasil(...))));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Pilih finder yang mencerminkan cara pengguna melihat layar: tulisan (find.text), tooltip, atau label. Key adalah "papan nama" untuk widget: gunakan untuk widget yang tidak punya tulisan unik, misalnya beberapa isian yang mirip atau kartu hasil. Di Contoh 05, ketiga isian dibuat oleh fungsi pembantu _isian(const Key('isian_tugas'), 'Tugas (30%)', _tugas), dan TextFormField di dalamnya diberi key: kunci, papan nama yang dicari tes. find.text juga menemukan isian yang bertulisan persis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aplikasi sungguhan, Flutter menggambar ulang layar sendiri sekitar 60 kali per detik; di lingkungan uji, tidak. Contoh dari Contoh 05: await tester.tap(find.text('Hitung')); // tap() hanya mengetuk. Layar baru berubah setelah pump(). Lalu await tester.pump(); dan expect(find.text('Wajib diisi'), findsNWidgets(3));. Lupa pump() adalah penyebab umum "setelah tap, expect tidak menemukan perubahan".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Bayangkan film animasi yang dibuat gambar demi gambar: di lingkungan uji, jam dan gambar sama-sama dikendalikan tes. Aturan praktis: setelah tap atau enterText biasa → pump(). Setelah membuka halaman, dialog, atau lembar bawah (ada animasi) → pumpAndSettle(). Ada lingkaran memuat → pump(), atau buat datanya selesai lebih dulu (Bagian 7.2); pumpAndSettle() gagal setelah 10 menit menurut jam palsu. Karena jamnya palsu, pump(const Duration(seconds: 2)) selesai seketika, tidak benar-benar menunggu 2 detik.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 unit (test) tidak membutuhkan apa-apa selain Dart, sehingga berjalan baik di DartPad. Tes widget (testWidgets) membutuhkan lingkungan uji khusus yang disiapkan flutter test; DartPad menjalankan kode sebagai halaman web, dan pesan-pesan sistem milik halaman web ikut tercampur, sehingga tes widget bisa gagal walaupun kodenya benar. Huruf kotak membuat hasil tes sama di Windows, macOS, dan Linux; akibatnya lebar teks di tes tidak sama dengan di HP. Ingin MELIHAT aplikasinya di DartPad? Ganti nama main() milik tes menjadi mainTes(), lalu tambahkan void main() =&gt; runApp(const AplikasiCekNilai());. Tes '60, 82, 31 menghasilkan 55.0 dengan huruf C' memastikan perbaikan bug Bagian 2 juga terlihat benar DI LAYAR.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06 menguji TAMPILAN "Antrean Konsultasi Dosen" dari Contoh 04. Tampilan mendengarkan ViewModel, dan ViewModel memakai repository. Di tes, hanya repository yang diganti versi palsu; tampilan dan ViewModel-nya tetap yang asli.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Alurnya: tes mengetuk dan mengetik pada tampilan (asli); tampilan memanggil ViewModel (asli); ViewModel memakai repository PALSU yang diatur tes (tahan, lepaskan, pura-pura gagal). Setiap layar yang memuat data punya beberapa keadaan, dan SEMUANYA harus diuji, bukan hanya keadaan "berhasil" (modul Bagian 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Potongan tes "gagal" dari modul Bagian 7.2: repositori.gagalSaatMemuat = null; // koneksi kembali, lalu await tester.tap(find.text('Coba lagi')); await tester.pumpAndSettle(); expect(find.text('Rina'), findsOneWidget); expect(repositori.jumlahMemuat, 2); // dimuat dua kali. Tes "kosong" memasang RepositoriAntreanPalsu() tanpa isi dan mencari ajakan "Belum ada antrean. Jadilah yang pertama!".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FilledButton.icon(...) sebenarnya membuat kelas TURUNAN dari FilledButton, sehingga find.byType(FilledButton) tidak menemukannya. Cari dengan Key, dengan tulisannya, atau dengan predikat find.byWidgetPredicate((Widget w) =&gt; w is ButtonStyleButton) seperti di Contoh 08. Formulir ambil nomor muncul di lembar bawah (showModalBottomSheet); karena muncul dengan animasi, tes membukanya dengan pumpAndSettle() (fungsi bukaFormulir). Setelah nomor didapat, lembar tertutup dan SnackBar muncul; keduanya diperiksa seperti widget biasa: expect(find.text('Nomor antrean Anda: 3'), findsOneWidget) dan expect(find.byType(LembarAmbilNomor), findsNothing).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Pertemuan 7 mengingatkan bahwa pengguna memakai HP berlayar sempit dan sering memperbesar huruf. Tes ini menjaga tampilan tetap aman di layar kecil. Di Contoh 06, tes ini juga membuka formulir dan mengetuk Kirim, lalu memeriksa pesan 'Nama wajib diisi.' (bagian yang dilewati // ...). Kesalahan umum: lupa addTearDown(tester.view.reset), sehingga tes berikutnya ikut memakai layar 320 piksel.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 gelap: kecerahan platform diatur gelap, lalu aplikasi dipasang dan digambar dengan pasangAplikasi dan pumpAndSettle() (baris yang dilewati // ...). AplikasiAntrean punya theme dan darkTheme, jadi di titik teks Rina tema yang dipakai harus gelap. Pemeriksaan aksesibilitas membutuhkan pohon semantics, yaitu informasi yang dibaca pembaca layar seperti TalkBack; untuk iOS ada iOSTapTargetGuideline (44 × 44). Contoh 06: 8 tes (00:04 +8: All tests passed!). Coba rusak tampilannya dengan sengaja: hapus tooltip: pada salah satu IconButton, atau buat sebuah Text panjang tanpa Expanded, lalu baca pesan gagalnya.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Pertemuan 13, kamera dan GPS diakses lewat plugin image_picker dan geolocator. Plugin terdiri atas kode Dart dan KODE ASLI untuk Android, iOS, dan web. Saat tes dijalankan dengan flutter test, yang ada hanya Dart.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Pesan MissingPluginException artinya "tidak ada yang menjawab di seberang". Ini bukan bug aplikasi: tes memang tidak boleh bergantung pada kamera sungguhan. Urutan ini disarankan panduan resmi Flutter "Plugins in Flutter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Constructor di atas berasal dari studi kasus Pertemuan 13; ImagePickerPalsu dari Contoh 07 (modul Bagian 8.3 dan 8.4). Bagian yang dilewati (// ...): supportsImageSource (true untuk galeri, atau jika kameraAda) dan pickImage, yang mencatat argumen ke mata-mata (sumber, kameraDipilih, lebarMaksimal, kualitas), melempar galat jika diatur, lalu mengembalikan hasil. implements ImagePicker membuatnya bisa dipakai di mana pun ImagePicker dibutuhkan; hasil, galat, dan kameraAda adalah "remote control" yang diatur 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fotoPalsu() membuat XFile tiga bita bernama selfie.jpg (XFile.fromData). Contoh 07 juga memeriksa bahwa galeri memakai ImageSource.gallery, dan bahwa metadata lengkap tidak diminta. Di Pertemuan 13, foto presensi diambil dengan kamera depan, maxWidth 720, dan imageQuality 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07 menyusun tabel kasus Map&lt;String, Matcher&gt;: setiap kode PlatformException dipasangkan dengan matcher isA&lt;...&gt;().having(...), lalu forEach membuat satu tes per baris, misalnya test('PlatformException "$kode" diterjemahkan', ...). Polanya sama dengan tabel kasus rupiah() di Bagian 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Pembulatan bilangan desimal lagi, seperti di Bagian 2.6! Untuk batas yang dihitung dengan bilangan desimal, uji nilai yang jelas di dalam dan jelas di luar. Di Contoh 07, posisi uji dibuat dengan menggeser lintang sejauh sekian meter ke utara laboratorium (fungsi berjarak(meter)).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CatatPresensi diuji dengan data palsu Pertemuan 13 (LayananLokasiPalsu, RepositoriPresensiMemori) ditambah jam tetap. Tes ini membuktikan URUTAN pemeriksaan di use case. Tes yang memakai DateTime.now() hasilnya bisa berbeda tergantung hari dan jam dijalankannya; inilah alasan Pertemuan 12 dan 13 menyuntikkan jam ke use case. Contoh 07 memakai image_picker dan MENGIMPOR studi kasus Pertemuan 13, persis seperti folder test/ mengimpor folder lib/, sehingga dijalankan dari folder utama repositori: flutter test pertemuan_14_pengujian_dan_debugging/kode/contoh_07_menguji_kode_plugin_test.dart → 00:07 +18: All tests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Pertemuan 12, studi kasus Pinjam Ruang Kampus memeriksa dirinya sendiri dengan jalankanUji() yang mencetak LULUS atau GAGAL. Contoh 08 memindahkan semua pemeriksaan itu ke flutter test, lalu melengkapinya dengan tes widget yang dijanjikan.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proyek sungguhan, Contoh 08 terpecah menjadi beberapa berkas (lihat judul // ===== BERKAS: ... ===== di dalamnya): test/domain/models/rentang_waktu_test.dart dan aturan_peminjaman_test.dart, test/domain/use_cases/ajukan_peminjaman_test.dart, test/data/repositories/repositori_ruang_server_test.dart, test/ui/... untuk halaman daftar ruang, ViewModel dan halaman jadwal ruang, serta alur_pinjam_ruang_test.dart; ditambah testing/data_uji.dart (jam tetap, pengguna, ruang contoh) dan testing/fakes/repositori_uji.dart (data palsu khusus tes). testing/ berada di luar test/ karena isinya bukan tes, melainkan BAHAN yang dipakai banyak tes; susunan ini mengikuti aplikasi contoh resmi Flutter.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baris expect paling bawah adalah contoh pemakaian dari modul Bagian 9.3. Di Contoh 08, kedua fungsi ini berada di bagian testing/data_uji.dart, bersama jamTetap() (Rabu, 14 Oktober 2026 pukul 10.00), budi, dan ruangDiskusi.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AjukanPeminjaman diuji dengan RepositoriPeminjamanMemori dari Pertemuan 12 dan RepositoriRuangUji. Repository server diuji dengan "server" yang diatur dari dalam tes: setUp menyimpan jawaban, kodeStatus, dan galat di variabel, lalu MockClient mencatat permintaan dan menjawab sesuai variabel itu; setiap tes cukup mengubah satu variabel, misalnya kodeStatus = 500. ViewModel diuji tanpa layar: JadwalRuangViewModel langsung memuat jadwal di constructor-nya, jadi setUp menunggu dengan await pumpEventQueue(), yang memberi kesempatan semua Future yang sedang antre untuk selesai.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Polanya sama dengan tahan dan lepaskan di Contoh 04, tetapi kali ini hanya simpan() yang ditahan. Data palsu ini dipakai tes ViewModel ("ketukan ganda: Perintah hanya menyimpan sekali") dan tes widget di 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Baris pertama ditulis dalam tiga baris seperti di berkas Contoh 08. Bagian yang dilewati (// ...): expect(find.descendant(of: tombol('Ajukan'), matching: find.byType(CircularProgressIndicator)), findsOneWidget), yaitu lingkaran memuat di dalam tombol. Jebakan yang ditemui modul saat menulis tes ini: versi pertama memakai RepositoriRuangMemori(jeda: Duration.zero), dan tesnya gagal karena jumlahSimpan masih 0. Repository itu tetap menunggu Future.delayed(jeda) walaupun jedanya nol; Future.delayed memakai timer, dan timer baru berjalan jika jam palsu dimajukan. pump() tanpa durasi tidak memajukan jam, sehingga use case masih tertahan dan simpan() belum terpanggil. Dua jalan keluar: data palsu TANPA jeda (RepositoriRuangUji, pilihan Contoh 08), atau await tester.pump(Duration.zero).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Tanpa pumpAndSettle() setelah scrollUntilVisible, tes gagal dengan peringatan "derived an Offset ... that would not hit test on the specified widget": guliran terakhir belum digambar, sehingga ketukan mendarat di posisi lama yang ternyata tertutup bilah navigasi bawah. Jalankan: flutter test pertemuan_14_pengujian_dan_debugging/kode/contoh_08_studi_kasus_menguji_pinjam_ruang_test.dart → 00:13 +34: All tests passed!. Hanya ingin menjalankan satu kelompok? Gunakan --plain-name, misalnya flutter test --plain-name "aturan peminjaman" .... Setiap kali kode Pinjam Ruang diubah, cukup jalankan perintah ini untuk tahu apakah ada yang rusak.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 memberi tahu ADA yang salah. Sekarang kita belajar mencari DI MANA dan MENGAPA. Contoh 09 adalah aplikasi "Kasir Kantin" yang SENGAJA berisi tiga bug, satu untuk setiap wajah bug yang paling sering ditemui.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 kedua dan ketiga paling berbahaya: aplikasinya tampak baik-baik saja, padahal hasilnya salah. Langkah menyiapkan (modul Bagian 10.2): buka folder kasir_kantin di VS Code (File → Open Folder), ganti seluruh isi lib/main.dart dengan Contoh 09 lalu simpan, hapus test/widget_test.dart (berkas itu menguji aplikasi bawaan), pilih perangkat di pojok kanan bawah VS Code (Chrome atau emulator Android), lalu tekan F5 (Run → Start Debugging). Tanpa VS Code? Tempel Contoh 09 di DartPad untuk MELIHAT gejalanya; pesan galat juga tampil di panel Console DartPad. Yang tidak ada di DartPad hanyalah breakpoint.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Ketuk tombol + di samping Nasi Goreng: seluruh layar berubah merah dengan tulisan kuning. Inilah ErrorWidget: Flutter menggantikan widget yang gagal dibangun dengan kotak merah berisi pesan galatnya, hanya saat pengembangan (debug mode). Di aplikasi yang sudah dirilis, kotaknya abu-abu polos, sehingga pengguna hanya melihat layar kosong tanpa penjelasan. Jangan panik dan jangan langsung menebak: pesan lengkapnya ada di Debug Console VS Code (atau panel Console DartPad). Baca dari atas ke bawah dengan empat pertanyaan: bagian Flutter mana yang menangkap galatnya? apa jenis galatnya, dan saat membangun widget apa? apa isi galatnya? jalan mana yang ditempuh program? Di slide, baris kedua pesan dipecah dua agar muat. Nomor baris dan kode #a41e2 di komputer Anda bisa sedikit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 trace adalah daftar fungsi yang sedang berjalan saat galat terjadi, dari yang paling dalam (#0) sampai yang paling luar. Bayangkan tumpukan piring: piring paling atas (#0) adalah fungsi terakhir yang dipanggil. Satu kesalahan sering memicu galat lanjutan, yang di Debug Console ditulis singkat, misalnya Another exception was thrown: RenderBox was not laid out: RenderViewport#4c2a1 NEEDS-PAINT. Pemula sering membaca galat TERAKHIR di layar, padahal galat lanjutan hanyalah akibat; gulir ke atas dan baca galat PERTAMA yang dicetak lengkap dengan garis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Kesalahan "lebih satu" ini sangat umum, sampai punya nama sendiri: off-by-one error. Setelah disimpan, VS Code melakukan hot reload, dan layar merah langsung hilang tanpa memulai ulang aplikasi. Untuk mengetahui apakah sebuah baris dijalankan, kita juga bisa mencatat ke konsol: print (paling sederhana, tetapi linter memberi peringatan avoid_print; cocok untuk percobaan sesaat, lalu dihapus), debugPrint dari package:flutter/foundation.dart (tidak memotong pesan panjang di Android; tetap tercetak di aplikasi rilis kecuali dibungkus if (kDebugMode)), atau developer.log('pesan', name: 'kasir') dari dart:developer, yang diberi nama kategori dan bisa disaring di tab Logging DevTools. Contoh 09 memakai developer.log di _tambah(); di DartPad, catatannya tidak tampil di panel Console. Bagian 11 memperkenalkan logpoint: catatan yang sama tanpa mengubah kode.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Debugger adalah alat untuk MENGHENTIKAN aplikasi di baris tertentu, lalu melihat isi semua variabel pada saat itu, dan menjalankan kode baris demi baris. Bayangkan menonton video pertandingan dengan tombol pause dan putar-lambat: kita bisa berhenti tepat sebelum gol, lalu memeriksa posisi setiap pemain.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Run and Debug (ikon segitiga dengan serangga di bilah kiri) berisi beberapa bagian: Variables (semua variabel di fungsi yang sedang berhenti, termasuk isi objek this), Watch (ekspresi pilihan Anda yang selalu dihitung ulang, misalnya _pesanan.length), Call Stack (stack trace versi hidup: klik sebuah baris untuk melihat variabel di fungsi pemanggilnya), dan Breakpoints (daftar semua breakpoint, plus kotak centang Uncaught Exceptions dan All Exceptions).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Baris 178: final int subtotal = _subtotal;. Selama aplikasi berhenti di breakpoint, aplikasinya memang tidak bisa diketuk; itu normal, tekan F5 (Continue) untuk melanjutkan. Langkah 5 (Gejala 1 dengan debugger, modul Bagian 11.3): jika Gejala 1 belum diperbaiki, pastikan Uncaught Exceptions tercentang di panel Breakpoints (biasanya sudah), lalu ketuk +. Kali ini aplikasi tidak langsung merah: VS Code BERHENTI SENDIRI di baris yang melempar galat, final BarisPesanan baris = _pesanan[i];, dengan kotak keterangan RangeError. Panel Variables menunjukkan i bernilai 1, sedangkan _pesanan hanya berisi 1 anggota: penyebabnya terlihat tanpa menebak. Jika yang tersorot justru berkas milik Dart atau Flutter, lihat panel Call Stack dan klik baris teratas yang berasal dari main.dart.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Penanda // ← baris 65 ditambahkan di slide. Pesan 2 Nasi Goreng: subtotal Rp50.000, tetapi diskonnya Rp0, tanpa pesan galat apa pun; kecurigaan pertama jatuh pada fungsi hitungDiskon. Dengan breakpoint bersyarat, aplikasi baru berhenti saat subtotal TEPAT Rp50.000 (ketuk + pada Nasi Goreng dua kali), tidak saat subtotal masih Rp25.000 yang tidak menarik. Arahkan kursor: subtotal bernilai 50000, batasDiskon juga 50000. Aturannya "diskon mulai Rp50.000", tetapi kodenya memakai &gt;, yang berarti "lebih dari Rp50.000". Tes regresi di bawah kode diambil dari modul Bagian 11.4: jalankan SEBELUM memperbaiki kodenya, dan pastikan merah dulu (Bagian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Ketik 100000 di isian Uang dibayar: kembaliannya tetap "-". Lalu ketuk + pada Es Teh: kembaliannya TIBA-TIBA berubah. Pertanyaannya: apakah kode di onChanged dijalankan saat kita mengetik? Teks di dalam { } pada logpoint dihitung sebagai ekspresi. Ingat Pertemuan 5: layar hanya digambar ulang jika perubahan dibungkus setState. Ketuk + "memperbaiki" layar karena _tambah memanggil setState, yang ikut membangun ulang seluruh halaman beserta kembaliannya; bug semacam ini sering membuat pemula bingung karena muncul-hilang. Label // SALAH, // BENAR, dan penanda baris ditambahkan di slide. Mencatat ke konsol juga berguna, tetapi mengubah kode dan harus diingat untuk dihapus; logpoint memberi catatan yang sama tanpa mengubah satu baris kode pun.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Alat secanggih apa pun tidak membantu tanpa cara berpikir yang runtut. Debugger untuk tes: tes berhenti di breakpoint, dan semua panel di atas bisa dipakai seperti biasa. Buntu? Coba jelaskan kodenya baris demi baris kepada teman, atau kepada boneka bebek di meja; sering kali bug-nya ketemu di tengah penjelasan. Teknik ini dikenal sebagai rubber duck debugging.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DevTools ikut terpasang bersama Flutter SDK. Dari terminal, flutter run mencetak alamat DevTools, misalnya http://127.0.0.1:9100?uri=...; buka alamat itu di Chrome. Select Widget Mode adalah cara tercepat menjawab "kotak ini sebenarnya widget apa?". Flex explorer muncul saat yang dipilih adalah Row atau Column; nilai mainAxisAlignment atau flex bisa dicoba langsung. Inspector paling berguna untuk galat tata letak di Bagian 13: pilih Row yang meluap, lalu lihat di Flex explorer anak mana yang terlalu lebar. Alat lain (modul Bagian 12.3): Performance mencari bagian yang tersendat (jank), diukur dengan profile mode, bukan debug mode (untuk web pakai tab Performance di Chrome DevTools); CPU Profiler: fungsi mana yang paling menyita waktu; Memory: mencari kebocoran memori; Network: permintaan HTTP yang dikirim aplikasi (untuk web pakai tab Network di Chrome DevTools, F12); Logging: membaca developer.log, debugPrint, dan catatan Flutter, bisa disaring berdasarkan nama kategori. Tab Debugger disembunyikan karena VS Code sudah punya debugger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Hampir semua galat tata letak berasal dari satu aturan. Contoh 10 "Info Kegiatan Kampus" berisi tiga kasus; setiap kasus dibuka di halamannya sendiri, dan sakelar Perbaiki di AppBar menukar versi bermasalah dengan versi yang benar.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Bayangkan orang tua dan anak memilih kamar. Masalah muncul saat batasannya tidak terbatas: Row memberi anak-anaknya lebar tidak terbatas ("silakan selebar yang kamu mau"), dan Column memberi tinggi tidak terbatas. Kebanyakan widget tidak keberatan, tetapi widget yang terlalu lebar untuk ruang yang tersedia (teks panjang) akan MELUAP, dan widget yang ingin seluas ruang yang tersedia (ListView, TextField) menghasilkan GALAT. Di Contoh 10, isi setiap halaman dibatasi selebar ponsel (360 piksel), agar galatnya juga muncul di jendela Chrome yang lebar. Cara mencoba Contoh 10: tempel di DartPad atau lib/main.dart proyek baru; untuk setiap kasus, amati gejalanya, baca galat pertama di panel Console DartPad atau Debug Console VS Code, buka Inspector dan Flex explorer (VS Code), lalu nyalakan sakelar Perbaiki dan bandingkan dengan kodenya.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Pesan lengkapnya di Debug Console (modul Bagian 13.2): Exception caught by rendering library; The following assertion was thrown during layout: A RenderFlex overflowed by 306 pixels on the right. The relevant error-causing widget was: Row ...main.dart:164:24. ... Consider applying a flex factor (e.g. using an Expanded widget) to force the children of the RenderFlex to fit within the available space instead of being sized to their natural size. ... constraints: BoxConstraints(0.0&lt;=w&lt;=296.0, 0.0&lt;=h&lt;=440.0). RenderFlex adalah nama "mesin" di balik Row dan Column. Angka-angkanya bisa sedikit berbeda di layar Anda. Jika teksnya harus tetap satu baris, tambahkan maxLines: 1 dan overflow: TextOverflow.ellipsis pada Text, sehingga ujungnya diganti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Viewport adalah "jendela" milik ListView, dan ia ingin setinggi ruang yang tersedia. Column memberinya tinggi tak terbatas, sehingga ListView tidak tahu harus setinggi apa. Galat pertamanya: The following assertion was thrown during performResize(): Vertical viewport was given unbounded height. ... This situation typically happens when a scrollable widget is nested inside another scrollable widget. Sesudahnya menyusul galat lanjutan, misalnya Another exception was thrown: RenderBox was not laid out: RenderViewport#.... Dalam percobaan modul, satu kesalahan ini menghasilkan belasan galat; yang perlu dibaca hanya yang pertama (Bagian 10.6).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TextField ingin selebar ruang yang tersedia, padahal Row memberinya lebar tak terbatas. Galat pertamanya: The following assertion was thrown during performLayout(): An InputDecorator, which is typically created by a TextField, cannot have an unbounded width. This happens when the parent widget does not provide a finite width constraint. For example, if the InputDecorator is contained by a Row, then its width must be constrained. An Expanded widget or a SizedBox can be used to constrain the width of the InputDecorator or the TextField that contains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Solusi lengkap dari modul Bagian 13.5: overflow di bawah → bungkus isi halaman dengan SingleChildScrollView, atau pakai ListView. ParentDataWidget → pindahkan Expanded agar menjadi anak langsung Row/Column. setState during build → panggil dari callback tombol, atau setelah gambar selesai dengan WidgetsBinding.instance.addPostFrameCallback. Ingat Bagian 7.5: tes widget di layar sempit dengan huruf 200% menangkap galat overflow secara otomatis, SEBELUM pengguna melihat pita kuning-hitam.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Melangkah lebih jauh: seberapa banyak kode yang sudah teruji, tes yang berjalan otomatis setiap push, dan jenis tes lain. Lalu kesalahan umum pemula, dan apa yang perlu disiapkan untuk proyek 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Cakupan kode menjawab pertanyaan: "baris kode mana saja yang pernah dijalankan oleh tes?". flutter test --coverage menghasilkan berkas coverage/lcov.info, daftar setiap baris di lib/ beserta berapa kali baris itu dijalankan. Cara termudah membacanya adalah VS Code: buka panel Testing, lalu pilih Run Tests with Coverage; persentase cakupan setiap berkas ikut ditampilkan. Cakupan 100% TIDAK berarti bebas bug: baris yang "dijalankan" belum tentu "diperiksa". Gunakan cakupan untuk menemukan bagian yang belum diuji, bukan sebagai target angka semata.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menyediakan CI lewat GitHub Actions, gratis untuk repositori publik. Jika ada tes yang merah, semua anggota tim langsung tahu, sebelum kesalahan menumpuk. Klik tanda di samping commit untuk membaca laporannya, persis seperti di terminal. Di slide, baris kosong pemisah antarbagian YAML dihapus agar muat. Repositori mata kuliah ini juga punya pemeriksaan otomatis yang menjalankan dart format, flutter analyze, dan flutter test untuk semua contoh tes Pertemuan 14 setiap ada perubahan.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Paket integration_test ikut Flutter SDK. Tes ditulis dengan testWidgets yang sudah Anda kenal, tetapi aplikasinya benar-benar dijalankan di perangkat. Dua keterbatasan yang perlu diketahui: tes integrasi di Chrome membutuhkan chromedriver dan perintah flutter drive, dan tes integrasi tidak bisa mengetuk tampilan asli sistem operasi seperti dialog izin; untuk kebutuhan itu ada paket pihak ketiga seperti patrol.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mocktail tidak memakai pembangkit kode; mockito memakai. Contoh di modul Bagian 14.4: class RepositoriAntreanTiruan extends Mock implements RepositoriAntrean {}, lalu di dalam tes when(...).thenAnswer(...) mengatur jawaban, AntreanViewModel dibuat dan muat() dipanggil (baris yang dilewati // ...), dan verify(...).called(1) memeriksa bahwa semua() dipanggil satu kali. Paketnya dipasang dengan flutter pub add dev:mocktail. Untuk repository yang dipakai banyak tes, data palsu biasanya lebih mudah dibaca dan dirawat: itulah pilihan panduan arsitektur resmi Flutter, dan pilihan modul ini. Golden test cocok untuk menjaga tampilan yang tidak boleh berubah tanpa sengaja; flutter test (tanpa pilihan) membandingkan dengan gambar acuan. Ingat, di lingkungan uji hurufnya kotak (Bagian 6.7), dan gambar bisa sedikit berbeda antara Windows, macOS, dan Linux.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lengkap (17 baris) ada di modul Bagian 15, termasuk: test/widget_test.dart gagal setelah main.dart diganti (hapus berkas itu atau ganti isinya); tes gagal saat internet mati (pakai MockClient atau data palsu); kode setelah Future.delayed tidak pernah jalan di tes widget (pump(durasi) atau data palsu tanpa jeda); peringatan "would not hit test on the specified widget" (scrollUntilVisible lalu pumpAndSettle); tes berikutnya ikut memakai layar 320 piksel (addTearDown(tester.view.reset)); memperbaiki bug dengan menebak lalu muncul bug baru (ulangi bug, buat dugaan, buktikan dengan debugger, lalu kunci dengan tes); dan peringatan avoid_print (pakai debugPrint atau developer.log).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Panduan Proyek Akhir mewajibkan minimal tiga tes unit yang bermakna dan lulus, termasuk menguji nilai batas. Contoh tes bermakna menurut tema (modul Bagian 16): pencatat keuangan mahasiswa → saldo setelah pemasukan dan pengeluaran, pengeluaran melebihi saldo ditolak, batas anggaran bulanan tepat tercapai; katalog produk UMKM → harga setelah diskon, stok 0 tidak bisa dipesan, jumlah pesanan maksimal; presensi kegiatan organisasi → jam buka dan tutup presensi, presensi ganda ditolak; informasi jadwal kuliah → jadwal bentrok terdeteksi, kelas berikutnya dihitung dari jam sekarang yang disuntikkan.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lengkap di modul Bagian 17 juga memuat: membandingkan bilangan desimal → closeTo(nilai, toleransi); objek baru untuk setiap tes → setUp (dan tearDown untuk membereskan); repository palsu → data palsu yang memenuhi kontrak; mencari penyebab galat → galat pertama, stack trace, debugger. Minta mahasiswa memetakan proyek akhirnya ke tabel ini: bagian mana yang paling berisiko rusak, dan alat apa yang akan dipakai untuk mengujinya (Refleksi 3 di Jobsheet).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mahasiswa menjelaskan dengan kata-kata sendiri: mengapa tes harus dilihat merah dulu sebelum hijau, dan apa bedanya pump() dengan pumpAndSettle().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Praktikum 1–4 membangun satu aplikasi secara bertahap: aturan kas (Praktikum 1) → ViewModel dan data palsu (Praktikum 2) → tampilan dan tes widget (Praktikum 3) → memburu bug kiriman teman (Praktikum 4). Praktikum 5 kembali ke proyek "Tugas Kuliahku" yang beristirahat sejak Pertemuan 12. Padanan di modul: Praktikum 1 ↔ Contoh 01 dan 02, Praktikum 2 ↔ Contoh 04, Praktikum 3 ↔ Contoh 05 dan 06, Praktikum 4 ↔ Contoh 09 dan 10, Praktikum 5 ↔ Contoh 08. Aturan hari ini: nama setiap tes berupa kalimat; lihat merah dulu, baru hijau; jika tes merah, perbaiki kodenya, bukan tesnya; setiap bug dikunci dengan tes regresi. Tugas mandiri juga meminta laporan cakupan lib/main.dart, workflow .github/workflows/tes.yml, dan CATATAN_DEBUGGING.md.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akhir: tulis minimal tiga tes unit yang bermakna untuk aturan terpenting aplikasi Anda, lengkap dengan nilai batas (Bagian 16). Pertemuan 15 membahas build, rilis, dan finalisasi proyek: identitas aplikasi, ikon, berkas rilis APK/AAB dan web, serta daftar periksa sebelum aplikasi sampai ke tangan pengguna. Tes yang Anda tulis hari ini menjadi pemeriksaan terakhir sebelum rilis.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8412480" y="2926080"/>
            <a:ext cx="5669280" cy="5669280"/>
          </a:xfrm>
          <a:prstGeom prst="ellipse">
            <a:avLst/>
          </a:prstGeom>
          <a:solidFill>
            <a:schemeClr val="accent1">
              <a:alpha val="30000"/>
            </a:schemeClr>
          </a:solidFill>
          <a:ln/>
        </p:spPr>
        <p:txBody>
          <a:bodyPr wrap="square" rtlCol="0" anchor="ctr"/>
          <a:lstStyle/>
          <a:p>
            <a:pPr indent="0" marL="0">
              <a:buNone/>
            </a:pPr>
            <a:endParaRPr lang="en-US" dirty="0"/>
          </a:p>
        </p:txBody>
      </p:sp>
      <p:sp>
        <p:nvSpPr>
          <p:cNvPr id="3" name="Text 1"/>
          <p:cNvSpPr/>
          <p:nvPr/>
        </p:nvSpPr>
        <p:spPr>
          <a:xfrm>
            <a:off x="9692640" y="-1280160"/>
            <a:ext cx="3291840" cy="3291840"/>
          </a:xfrm>
          <a:prstGeom prst="ellipse">
            <a:avLst/>
          </a:prstGeom>
          <a:solidFill>
            <a:schemeClr val="accent2">
              <a:alpha val="20000"/>
            </a:schemeClr>
          </a:solidFill>
          <a:ln/>
        </p:spPr>
        <p:txBody>
          <a:bodyPr wrap="square" rtlCol="0" anchor="ctr"/>
          <a:lstStyle/>
          <a:p>
            <a:pPr indent="0" marL="0">
              <a:buNone/>
            </a:pPr>
            <a:endParaRPr lang="en-US" dirty="0"/>
          </a:p>
        </p:txBody>
      </p:sp>
      <p:sp>
        <p:nvSpPr>
          <p:cNvPr id="4" name="Text 2"/>
          <p:cNvSpPr/>
          <p:nvPr/>
        </p:nvSpPr>
        <p:spPr>
          <a:xfrm>
            <a:off x="731520" y="1005840"/>
            <a:ext cx="82296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PEMROGRAMAN PIRANTI BERGERAK  ·  INFORMATIKA S1</a:t>
            </a:r>
            <a:endParaRPr lang="en-US" sz="1400" dirty="0"/>
          </a:p>
        </p:txBody>
      </p:sp>
      <p:sp>
        <p:nvSpPr>
          <p:cNvPr id="5" name="Text 3"/>
          <p:cNvSpPr/>
          <p:nvPr/>
        </p:nvSpPr>
        <p:spPr>
          <a:xfrm>
            <a:off x="731520" y="5989320"/>
            <a:ext cx="7315200" cy="320040"/>
          </a:xfrm>
          <a:prstGeom prst="rect">
            <a:avLst/>
          </a:prstGeom>
          <a:noFill/>
          <a:ln/>
        </p:spPr>
        <p:txBody>
          <a:bodyPr wrap="square" lIns="0" tIns="0" rIns="0" bIns="0" rtlCol="0" anchor="ctr"/>
          <a:lstStyle/>
          <a:p>
            <a:pPr indent="0" marL="0">
              <a:buNone/>
            </a:pPr>
            <a:r>
              <a:rPr lang="en-US" sz="1300" dirty="0">
                <a:solidFill>
                  <a:schemeClr val="bg2"/>
                </a:solidFill>
              </a:rPr>
              <a:t>github.com/antonprafanto/mobile2026</a:t>
            </a:r>
            <a:endParaRPr lang="en-US" sz="1300" dirty="0"/>
          </a:p>
        </p:txBody>
      </p:sp>
      <p:sp>
        <p:nvSpPr>
          <p:cNvPr id="6" name="Text 4"/>
          <p:cNvSpPr/>
          <p:nvPr>
            <p:ph idx="104" type="title" hasCustomPrompt="1"/>
          </p:nvPr>
        </p:nvSpPr>
        <p:spPr>
          <a:xfrm>
            <a:off x="731520" y="1554480"/>
            <a:ext cx="877824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7" name="Text 4"/>
          <p:cNvSpPr/>
          <p:nvPr>
            <p:ph idx="105" type="body" hasCustomPrompt="1"/>
          </p:nvPr>
        </p:nvSpPr>
        <p:spPr>
          <a:xfrm>
            <a:off x="731520" y="3840480"/>
            <a:ext cx="841248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1645920" y="4023360"/>
            <a:ext cx="4572000" cy="4572000"/>
          </a:xfrm>
          <a:prstGeom prst="ellipse">
            <a:avLst/>
          </a:prstGeom>
          <a:solidFill>
            <a:schemeClr val="accent1">
              <a:alpha val="25000"/>
            </a:schemeClr>
          </a:solidFill>
          <a:ln/>
        </p:spPr>
        <p:txBody>
          <a:bodyPr wrap="square" rtlCol="0" anchor="ctr"/>
          <a:lstStyle/>
          <a:p>
            <a:pPr indent="0" marL="0">
              <a:buNone/>
            </a:pPr>
            <a:endParaRPr lang="en-US" dirty="0"/>
          </a:p>
        </p:txBody>
      </p:sp>
      <p:sp>
        <p:nvSpPr>
          <p:cNvPr id="3" name="Text 1"/>
          <p:cNvSpPr/>
          <p:nvPr>
            <p:ph idx="101" type="body" hasCustomPrompt="1"/>
          </p:nvPr>
        </p:nvSpPr>
        <p:spPr>
          <a:xfrm>
            <a:off x="3840480" y="2103120"/>
            <a:ext cx="7680960" cy="457200"/>
          </a:xfrm>
          <a:prstGeom prst="rect">
            <a:avLst/>
          </a:prstGeom>
          <a:noFill/>
          <a:ln/>
        </p:spPr>
        <p:txBody>
          <a:bodyPr wrap="square" rtlCol="0"/>
          <a:lstStyle>
            <a:lvl1pPr indent="0" marL="0">
              <a:buNone/>
              <a:defRPr lang="en-US" sz="1800" b="1" spc="200" kern="0" dirty="0">
                <a:solidFill>
                  <a:schemeClr val="accent2"/>
                </a:solidFill>
              </a:defRPr>
            </a:lvl1pPr>
          </a:lstStyle>
          <a:p>
            <a:pPr indent="0" marL="0">
              <a:buNone/>
            </a:pP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5" name="Text 1"/>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bg2"/>
                </a:solidFill>
              </a:rPr>
              <a:t>Pemrograman Piranti Bergerak  ·  Pertemuan 14  ·  Pengujian &amp; Debugging</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ONTE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6B7A90"/>
                </a:solidFill>
              </a:rPr>
              <a:t>Pemrograman Piranti Bergerak  ·  Pertemuan 14  ·  Pengujian &amp; Debugging</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image" Target="../media/image-2-1.png"/><Relationship Id="rId7" Type="http://schemas.openxmlformats.org/officeDocument/2006/relationships/image" Target="../media/image-2-1.png"/><Relationship Id="rId8" Type="http://schemas.openxmlformats.org/officeDocument/2006/relationships/image" Target="../media/image-2-1.png"/><Relationship Id="rId9" Type="http://schemas.openxmlformats.org/officeDocument/2006/relationships/image" Target="../media/image-2-1.png"/><Relationship Id="rId10" Type="http://schemas.openxmlformats.org/officeDocument/2006/relationships/image" Target="../media/image-2-1.png"/><Relationship Id="rId11" Type="http://schemas.openxmlformats.org/officeDocument/2006/relationships/slideLayout" Target="../slideLayouts/slideLayout4.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1_tes_unit_pertama_test.dart" TargetMode="External"/><Relationship Id="rId3" Type="http://schemas.openxmlformats.org/officeDocument/2006/relationships/hyperlink" Target="https://github.com/antonprafanto/mobile2026/blob/main/pertemuan_14_pengujian_dan_debugging/kode/contoh_01_tes_unit_pertama_test.dart" TargetMode="External"/><Relationship Id="rId2" Type="http://schemas.openxmlformats.org/officeDocument/2006/relationships/image" Target="../media/image-12-1.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1_tes_unit_pertama_test.dart" TargetMode="External"/><Relationship Id="rId3" Type="http://schemas.openxmlformats.org/officeDocument/2006/relationships/hyperlink" Target="https://github.com/antonprafanto/mobile2026/blob/main/pertemuan_14_pengujian_dan_debugging/kode/contoh_01_tes_unit_pertama_test.dart" TargetMode="External"/><Relationship Id="rId2" Type="http://schemas.openxmlformats.org/officeDocument/2006/relationships/image" Target="../media/image-13-1.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1_tes_unit_pertama_test.dart" TargetMode="External"/><Relationship Id="rId3" Type="http://schemas.openxmlformats.org/officeDocument/2006/relationships/hyperlink" Target="https://github.com/antonprafanto/mobile2026/blob/main/pertemuan_14_pengujian_dan_debugging/kode/contoh_01_tes_unit_pertama_test.dart" TargetMode="External"/><Relationship Id="rId2" Type="http://schemas.openxmlformats.org/officeDocument/2006/relationships/image" Target="../media/image-14-1.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1_tes_unit_pertama_test.dart" TargetMode="External"/><Relationship Id="rId3" Type="http://schemas.openxmlformats.org/officeDocument/2006/relationships/hyperlink" Target="https://github.com/antonprafanto/mobile2026/blob/main/pertemuan_14_pengujian_dan_debugging/kode/contoh_01_tes_unit_pertama_test.dart" TargetMode="External"/><Relationship Id="rId2" Type="http://schemas.openxmlformats.org/officeDocument/2006/relationships/image" Target="../media/image-16-1.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2_matcher_setup_dan_group_test.dart" TargetMode="External"/><Relationship Id="rId3" Type="http://schemas.openxmlformats.org/officeDocument/2006/relationships/hyperlink" Target="https://github.com/antonprafanto/mobile2026/blob/main/pertemuan_14_pengujian_dan_debugging/kode/contoh_02_matcher_setup_dan_group_test.dart" TargetMode="External"/><Relationship Id="rId2" Type="http://schemas.openxmlformats.org/officeDocument/2006/relationships/image" Target="../media/image-19-1.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2_matcher_setup_dan_group_test.dart" TargetMode="External"/><Relationship Id="rId3" Type="http://schemas.openxmlformats.org/officeDocument/2006/relationships/hyperlink" Target="https://github.com/antonprafanto/mobile2026/blob/main/pertemuan_14_pengujian_dan_debugging/kode/contoh_02_matcher_setup_dan_group_test.dart" TargetMode="External"/><Relationship Id="rId2" Type="http://schemas.openxmlformats.org/officeDocument/2006/relationships/image" Target="../media/image-20-1.png"/><Relationship Id="rId4" Type="http://schemas.openxmlformats.org/officeDocument/2006/relationships/slideLayout" Target="../slideLayouts/slideLayout4.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2_matcher_setup_dan_group_test.dart" TargetMode="External"/><Relationship Id="rId3" Type="http://schemas.openxmlformats.org/officeDocument/2006/relationships/hyperlink" Target="https://github.com/antonprafanto/mobile2026/blob/main/pertemuan_14_pengujian_dan_debugging/kode/contoh_02_matcher_setup_dan_group_test.dart" TargetMode="External"/><Relationship Id="rId2" Type="http://schemas.openxmlformats.org/officeDocument/2006/relationships/image" Target="../media/image-21-1.png"/><Relationship Id="rId4" Type="http://schemas.openxmlformats.org/officeDocument/2006/relationships/slideLayout" Target="../slideLayouts/slideLayout4.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3_menguji_kode_asinkron_test.dart" TargetMode="External"/><Relationship Id="rId3" Type="http://schemas.openxmlformats.org/officeDocument/2006/relationships/hyperlink" Target="https://github.com/antonprafanto/mobile2026/blob/main/pertemuan_14_pengujian_dan_debugging/kode/contoh_03_menguji_kode_asinkron_test.dart" TargetMode="External"/><Relationship Id="rId2" Type="http://schemas.openxmlformats.org/officeDocument/2006/relationships/image" Target="../media/image-23-1.png"/><Relationship Id="rId4" Type="http://schemas.openxmlformats.org/officeDocument/2006/relationships/slideLayout" Target="../slideLayouts/slideLayout4.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3_menguji_kode_asinkron_test.dart" TargetMode="External"/><Relationship Id="rId3" Type="http://schemas.openxmlformats.org/officeDocument/2006/relationships/hyperlink" Target="https://github.com/antonprafanto/mobile2026/blob/main/pertemuan_14_pengujian_dan_debugging/kode/contoh_03_menguji_kode_asinkron_test.dart" TargetMode="External"/><Relationship Id="rId2" Type="http://schemas.openxmlformats.org/officeDocument/2006/relationships/image" Target="../media/image-24-1.png"/><Relationship Id="rId4" Type="http://schemas.openxmlformats.org/officeDocument/2006/relationships/slideLayout" Target="../slideLayouts/slideLayout4.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3_menguji_kode_asinkron_test.dart" TargetMode="External"/><Relationship Id="rId3" Type="http://schemas.openxmlformats.org/officeDocument/2006/relationships/hyperlink" Target="https://github.com/antonprafanto/mobile2026/blob/main/pertemuan_14_pengujian_dan_debugging/kode/contoh_03_menguji_kode_asinkron_test.dart" TargetMode="External"/><Relationship Id="rId2" Type="http://schemas.openxmlformats.org/officeDocument/2006/relationships/image" Target="../media/image-25-1.pn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3_menguji_kode_asinkron_test.dart" TargetMode="External"/><Relationship Id="rId3" Type="http://schemas.openxmlformats.org/officeDocument/2006/relationships/hyperlink" Target="https://github.com/antonprafanto/mobile2026/blob/main/pertemuan_14_pengujian_dan_debugging/kode/contoh_03_menguji_kode_asinkron_test.dart" TargetMode="External"/><Relationship Id="rId2" Type="http://schemas.openxmlformats.org/officeDocument/2006/relationships/image" Target="../media/image-26-1.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4_menguji_viewmodel_test.dart" TargetMode="External"/><Relationship Id="rId3" Type="http://schemas.openxmlformats.org/officeDocument/2006/relationships/hyperlink" Target="https://github.com/antonprafanto/mobile2026/blob/main/pertemuan_14_pengujian_dan_debugging/kode/contoh_04_menguji_viewmodel_test.dart" TargetMode="External"/><Relationship Id="rId2" Type="http://schemas.openxmlformats.org/officeDocument/2006/relationships/image" Target="../media/image-29-1.png"/><Relationship Id="rId4" Type="http://schemas.openxmlformats.org/officeDocument/2006/relationships/slideLayout" Target="../slideLayouts/slideLayout4.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4_menguji_viewmodel_test.dart" TargetMode="External"/><Relationship Id="rId3" Type="http://schemas.openxmlformats.org/officeDocument/2006/relationships/hyperlink" Target="https://github.com/antonprafanto/mobile2026/blob/main/pertemuan_14_pengujian_dan_debugging/kode/contoh_04_menguji_viewmodel_test.dart" TargetMode="External"/><Relationship Id="rId2" Type="http://schemas.openxmlformats.org/officeDocument/2006/relationships/image" Target="../media/image-30-1.png"/><Relationship Id="rId4" Type="http://schemas.openxmlformats.org/officeDocument/2006/relationships/slideLayout" Target="../slideLayouts/slideLayout4.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4_menguji_viewmodel_test.dart" TargetMode="External"/><Relationship Id="rId3" Type="http://schemas.openxmlformats.org/officeDocument/2006/relationships/hyperlink" Target="https://github.com/antonprafanto/mobile2026/blob/main/pertemuan_14_pengujian_dan_debugging/kode/contoh_04_menguji_viewmodel_test.dart" TargetMode="External"/><Relationship Id="rId2" Type="http://schemas.openxmlformats.org/officeDocument/2006/relationships/image" Target="../media/image-31-1.png"/><Relationship Id="rId4" Type="http://schemas.openxmlformats.org/officeDocument/2006/relationships/slideLayout" Target="../slideLayouts/slideLayout4.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5_widget_test_pertama_test.dart" TargetMode="External"/><Relationship Id="rId3" Type="http://schemas.openxmlformats.org/officeDocument/2006/relationships/hyperlink" Target="https://github.com/antonprafanto/mobile2026/blob/main/pertemuan_14_pengujian_dan_debugging/kode/contoh_05_widget_test_pertama_test.dart" TargetMode="External"/><Relationship Id="rId2" Type="http://schemas.openxmlformats.org/officeDocument/2006/relationships/image" Target="../media/image-33-1.png"/><Relationship Id="rId4" Type="http://schemas.openxmlformats.org/officeDocument/2006/relationships/slideLayout" Target="../slideLayouts/slideLayout4.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4.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6_widget_test_dengan_viewmodel_test.dart" TargetMode="External"/><Relationship Id="rId3" Type="http://schemas.openxmlformats.org/officeDocument/2006/relationships/hyperlink" Target="https://github.com/antonprafanto/mobile2026/blob/main/pertemuan_14_pengujian_dan_debugging/kode/contoh_06_widget_test_dengan_viewmodel_test.dart" TargetMode="External"/><Relationship Id="rId2" Type="http://schemas.openxmlformats.org/officeDocument/2006/relationships/image" Target="../media/image-39-1.png"/><Relationship Id="rId4" Type="http://schemas.openxmlformats.org/officeDocument/2006/relationships/slideLayout" Target="../slideLayouts/slideLayout4.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6_widget_test_dengan_viewmodel_test.dart" TargetMode="External"/><Relationship Id="rId3" Type="http://schemas.openxmlformats.org/officeDocument/2006/relationships/hyperlink" Target="https://github.com/antonprafanto/mobile2026/blob/main/pertemuan_14_pengujian_dan_debugging/kode/contoh_06_widget_test_dengan_viewmodel_test.dart" TargetMode="External"/><Relationship Id="rId2" Type="http://schemas.openxmlformats.org/officeDocument/2006/relationships/image" Target="../media/image-40-1.png"/><Relationship Id="rId4" Type="http://schemas.openxmlformats.org/officeDocument/2006/relationships/slideLayout" Target="../slideLayouts/slideLayout4.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6_widget_test_dengan_viewmodel_test.dart" TargetMode="External"/><Relationship Id="rId3" Type="http://schemas.openxmlformats.org/officeDocument/2006/relationships/hyperlink" Target="https://github.com/antonprafanto/mobile2026/blob/main/pertemuan_14_pengujian_dan_debugging/kode/contoh_06_widget_test_dengan_viewmodel_test.dart" TargetMode="External"/><Relationship Id="rId2" Type="http://schemas.openxmlformats.org/officeDocument/2006/relationships/image" Target="../media/image-41-1.png"/><Relationship Id="rId4" Type="http://schemas.openxmlformats.org/officeDocument/2006/relationships/slideLayout" Target="../slideLayouts/slideLayout4.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6_widget_test_dengan_viewmodel_test.dart" TargetMode="External"/><Relationship Id="rId3" Type="http://schemas.openxmlformats.org/officeDocument/2006/relationships/hyperlink" Target="https://github.com/antonprafanto/mobile2026/blob/main/pertemuan_14_pengujian_dan_debugging/kode/contoh_06_widget_test_dengan_viewmodel_test.dart" TargetMode="External"/><Relationship Id="rId2" Type="http://schemas.openxmlformats.org/officeDocument/2006/relationships/image" Target="../media/image-42-1.png"/><Relationship Id="rId4" Type="http://schemas.openxmlformats.org/officeDocument/2006/relationships/slideLayout" Target="../slideLayouts/slideLayout4.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6_widget_test_dengan_viewmodel_test.dart" TargetMode="External"/><Relationship Id="rId3" Type="http://schemas.openxmlformats.org/officeDocument/2006/relationships/hyperlink" Target="https://github.com/antonprafanto/mobile2026/blob/main/pertemuan_14_pengujian_dan_debugging/kode/contoh_06_widget_test_dengan_viewmodel_test.dart" TargetMode="External"/><Relationship Id="rId2" Type="http://schemas.openxmlformats.org/officeDocument/2006/relationships/image" Target="../media/image-43-1.png"/><Relationship Id="rId4" Type="http://schemas.openxmlformats.org/officeDocument/2006/relationships/slideLayout" Target="../slideLayouts/slideLayout4.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4.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7_menguji_kode_plugin_test.dart" TargetMode="External"/><Relationship Id="rId3" Type="http://schemas.openxmlformats.org/officeDocument/2006/relationships/hyperlink" Target="https://github.com/antonprafanto/mobile2026/blob/main/pertemuan_14_pengujian_dan_debugging/kode/contoh_07_menguji_kode_plugin_test.dart" TargetMode="External"/><Relationship Id="rId2" Type="http://schemas.openxmlformats.org/officeDocument/2006/relationships/image" Target="../media/image-46-1.png"/><Relationship Id="rId4" Type="http://schemas.openxmlformats.org/officeDocument/2006/relationships/slideLayout" Target="../slideLayouts/slideLayout4.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7_menguji_kode_plugin_test.dart" TargetMode="External"/><Relationship Id="rId3" Type="http://schemas.openxmlformats.org/officeDocument/2006/relationships/hyperlink" Target="https://github.com/antonprafanto/mobile2026/blob/main/pertemuan_14_pengujian_dan_debugging/kode/contoh_07_menguji_kode_plugin_test.dart" TargetMode="External"/><Relationship Id="rId2" Type="http://schemas.openxmlformats.org/officeDocument/2006/relationships/image" Target="../media/image-47-1.png"/><Relationship Id="rId4" Type="http://schemas.openxmlformats.org/officeDocument/2006/relationships/slideLayout" Target="../slideLayouts/slideLayout4.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4.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4.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7_menguji_kode_plugin_test.dart" TargetMode="External"/><Relationship Id="rId3" Type="http://schemas.openxmlformats.org/officeDocument/2006/relationships/hyperlink" Target="https://github.com/antonprafanto/mobile2026/blob/main/pertemuan_14_pengujian_dan_debugging/kode/contoh_07_menguji_kode_plugin_test.dart" TargetMode="External"/><Relationship Id="rId2" Type="http://schemas.openxmlformats.org/officeDocument/2006/relationships/image" Target="../media/image-50-1.png"/><Relationship Id="rId4" Type="http://schemas.openxmlformats.org/officeDocument/2006/relationships/slideLayout" Target="../slideLayouts/slideLayout4.xml"/><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8_studi_kasus_menguji_pinjam_ruang_test.dart" TargetMode="External"/><Relationship Id="rId3" Type="http://schemas.openxmlformats.org/officeDocument/2006/relationships/hyperlink" Target="https://github.com/antonprafanto/mobile2026/blob/main/pertemuan_14_pengujian_dan_debugging/kode/contoh_08_studi_kasus_menguji_pinjam_ruang_test.dart" TargetMode="External"/><Relationship Id="rId2" Type="http://schemas.openxmlformats.org/officeDocument/2006/relationships/image" Target="../media/image-53-1.png"/><Relationship Id="rId4" Type="http://schemas.openxmlformats.org/officeDocument/2006/relationships/slideLayout" Target="../slideLayouts/slideLayout4.xml"/><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8_studi_kasus_menguji_pinjam_ruang_test.dart" TargetMode="External"/><Relationship Id="rId3" Type="http://schemas.openxmlformats.org/officeDocument/2006/relationships/hyperlink" Target="https://github.com/antonprafanto/mobile2026/blob/main/pertemuan_14_pengujian_dan_debugging/kode/contoh_08_studi_kasus_menguji_pinjam_ruang_test.dart" TargetMode="External"/><Relationship Id="rId2" Type="http://schemas.openxmlformats.org/officeDocument/2006/relationships/image" Target="../media/image-54-1.png"/><Relationship Id="rId4" Type="http://schemas.openxmlformats.org/officeDocument/2006/relationships/slideLayout" Target="../slideLayouts/slideLayout4.xm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8_studi_kasus_menguji_pinjam_ruang_test.dart" TargetMode="External"/><Relationship Id="rId3" Type="http://schemas.openxmlformats.org/officeDocument/2006/relationships/hyperlink" Target="https://github.com/antonprafanto/mobile2026/blob/main/pertemuan_14_pengujian_dan_debugging/kode/contoh_08_studi_kasus_menguji_pinjam_ruang_test.dart" TargetMode="External"/><Relationship Id="rId2" Type="http://schemas.openxmlformats.org/officeDocument/2006/relationships/image" Target="../media/image-55-1.png"/><Relationship Id="rId4" Type="http://schemas.openxmlformats.org/officeDocument/2006/relationships/slideLayout" Target="../slideLayouts/slideLayout4.xml"/><Relationship Id="rId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8_studi_kasus_menguji_pinjam_ruang_test.dart" TargetMode="External"/><Relationship Id="rId3" Type="http://schemas.openxmlformats.org/officeDocument/2006/relationships/hyperlink" Target="https://github.com/antonprafanto/mobile2026/blob/main/pertemuan_14_pengujian_dan_debugging/kode/contoh_08_studi_kasus_menguji_pinjam_ruang_test.dart" TargetMode="External"/><Relationship Id="rId2" Type="http://schemas.openxmlformats.org/officeDocument/2006/relationships/image" Target="../media/image-56-1.png"/><Relationship Id="rId4" Type="http://schemas.openxmlformats.org/officeDocument/2006/relationships/slideLayout" Target="../slideLayouts/slideLayout4.xm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8_studi_kasus_menguji_pinjam_ruang_test.dart" TargetMode="External"/><Relationship Id="rId3" Type="http://schemas.openxmlformats.org/officeDocument/2006/relationships/hyperlink" Target="https://github.com/antonprafanto/mobile2026/blob/main/pertemuan_14_pengujian_dan_debugging/kode/contoh_08_studi_kasus_menguji_pinjam_ruang_test.dart" TargetMode="External"/><Relationship Id="rId2" Type="http://schemas.openxmlformats.org/officeDocument/2006/relationships/image" Target="../media/image-57-1.png"/><Relationship Id="rId4" Type="http://schemas.openxmlformats.org/officeDocument/2006/relationships/slideLayout" Target="../slideLayouts/slideLayout4.xml"/><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4.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9_mencari_bug_dengan_debugger.dart" TargetMode="External"/><Relationship Id="rId3" Type="http://schemas.openxmlformats.org/officeDocument/2006/relationships/hyperlink" Target="https://github.com/antonprafanto/mobile2026/blob/main/pertemuan_14_pengujian_dan_debugging/kode/contoh_09_mencari_bug_dengan_debugger.dart" TargetMode="External"/><Relationship Id="rId2" Type="http://schemas.openxmlformats.org/officeDocument/2006/relationships/image" Target="../media/image-60-1.png"/><Relationship Id="rId4" Type="http://schemas.openxmlformats.org/officeDocument/2006/relationships/slideLayout" Target="../slideLayouts/slideLayout4.xml"/><Relationship Id="rId5"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9_mencari_bug_dengan_debugger.dart" TargetMode="External"/><Relationship Id="rId3" Type="http://schemas.openxmlformats.org/officeDocument/2006/relationships/hyperlink" Target="https://github.com/antonprafanto/mobile2026/blob/main/pertemuan_14_pengujian_dan_debugging/kode/contoh_09_mencari_bug_dengan_debugger.dart" TargetMode="External"/><Relationship Id="rId2" Type="http://schemas.openxmlformats.org/officeDocument/2006/relationships/image" Target="../media/image-61-1.png"/><Relationship Id="rId4" Type="http://schemas.openxmlformats.org/officeDocument/2006/relationships/slideLayout" Target="../slideLayouts/slideLayout4.xm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9_mencari_bug_dengan_debugger.dart" TargetMode="External"/><Relationship Id="rId3" Type="http://schemas.openxmlformats.org/officeDocument/2006/relationships/hyperlink" Target="https://github.com/antonprafanto/mobile2026/blob/main/pertemuan_14_pengujian_dan_debugging/kode/contoh_09_mencari_bug_dengan_debugger.dart" TargetMode="External"/><Relationship Id="rId2" Type="http://schemas.openxmlformats.org/officeDocument/2006/relationships/image" Target="../media/image-62-1.png"/><Relationship Id="rId4" Type="http://schemas.openxmlformats.org/officeDocument/2006/relationships/slideLayout" Target="../slideLayouts/slideLayout4.xml"/><Relationship Id="rId5"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image" Target="../media/image-65-4.png"/><Relationship Id="rId5" Type="http://schemas.openxmlformats.org/officeDocument/2006/relationships/image" Target="../media/image-65-5.png"/><Relationship Id="rId6" Type="http://schemas.openxmlformats.org/officeDocument/2006/relationships/slideLayout" Target="../slideLayouts/slideLayout4.xml"/><Relationship Id="rId7"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9_mencari_bug_dengan_debugger.dart" TargetMode="External"/><Relationship Id="rId3" Type="http://schemas.openxmlformats.org/officeDocument/2006/relationships/hyperlink" Target="https://github.com/antonprafanto/mobile2026/blob/main/pertemuan_14_pengujian_dan_debugging/kode/contoh_09_mencari_bug_dengan_debugger.dart" TargetMode="External"/><Relationship Id="rId2" Type="http://schemas.openxmlformats.org/officeDocument/2006/relationships/image" Target="../media/image-66-1.png"/><Relationship Id="rId4" Type="http://schemas.openxmlformats.org/officeDocument/2006/relationships/slideLayout" Target="../slideLayouts/slideLayout4.xml"/><Relationship Id="rId5"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09_mencari_bug_dengan_debugger.dart" TargetMode="External"/><Relationship Id="rId3" Type="http://schemas.openxmlformats.org/officeDocument/2006/relationships/hyperlink" Target="https://github.com/antonprafanto/mobile2026/blob/main/pertemuan_14_pengujian_dan_debugging/kode/contoh_09_mencari_bug_dengan_debugger.dart" TargetMode="External"/><Relationship Id="rId2" Type="http://schemas.openxmlformats.org/officeDocument/2006/relationships/image" Target="../media/image-67-1.png"/><Relationship Id="rId4" Type="http://schemas.openxmlformats.org/officeDocument/2006/relationships/slideLayout" Target="../slideLayouts/slideLayout4.xml"/><Relationship Id="rId5"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image" Target="../media/image-68-3.png"/><Relationship Id="rId4" Type="http://schemas.openxmlformats.org/officeDocument/2006/relationships/image" Target="../media/image-68-4.png"/><Relationship Id="rId5" Type="http://schemas.openxmlformats.org/officeDocument/2006/relationships/image" Target="../media/image-68-5.png"/><Relationship Id="rId6" Type="http://schemas.openxmlformats.org/officeDocument/2006/relationships/slideLayout" Target="../slideLayouts/slideLayout4.xml"/><Relationship Id="rId7"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4.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image" Target="../media/image-71-3.png"/><Relationship Id="rId4" Type="http://schemas.openxmlformats.org/officeDocument/2006/relationships/image" Target="../media/image-71-4.png"/><Relationship Id="rId5" Type="http://schemas.openxmlformats.org/officeDocument/2006/relationships/image" Target="../media/image-71-5.png"/><Relationship Id="rId6" Type="http://schemas.openxmlformats.org/officeDocument/2006/relationships/slideLayout" Target="../slideLayouts/slideLayout4.xml"/><Relationship Id="rId7"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slideLayout" Target="../slideLayouts/slideLayout4.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slideLayout" Target="../slideLayouts/slideLayout4.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kode/contoh_10_memperbaiki_tata_letak.dart" TargetMode="External"/><Relationship Id="rId3" Type="http://schemas.openxmlformats.org/officeDocument/2006/relationships/hyperlink" Target="https://github.com/antonprafanto/mobile2026/blob/main/pertemuan_14_pengujian_dan_debugging/kode/contoh_10_memperbaiki_tata_letak.dart" TargetMode="External"/><Relationship Id="rId2" Type="http://schemas.openxmlformats.org/officeDocument/2006/relationships/image" Target="../media/image-74-1.png"/><Relationship Id="rId4" Type="http://schemas.openxmlformats.org/officeDocument/2006/relationships/slideLayout" Target="../slideLayouts/slideLayout4.xml"/><Relationship Id="rId5"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image" Target="../media/image-77-3.png"/><Relationship Id="rId4" Type="http://schemas.openxmlformats.org/officeDocument/2006/relationships/image" Target="../media/image-77-4.png"/><Relationship Id="rId5" Type="http://schemas.openxmlformats.org/officeDocument/2006/relationships/image" Target="../media/image-77-5.png"/><Relationship Id="rId6" Type="http://schemas.openxmlformats.org/officeDocument/2006/relationships/image" Target="../media/image-77-6.png"/><Relationship Id="rId7" Type="http://schemas.openxmlformats.org/officeDocument/2006/relationships/slideLayout" Target="../slideLayouts/slideLayout4.xml"/><Relationship Id="rId8"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slideLayout" Target="../slideLayouts/slideLayout4.xml"/><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image" Target="../media/image-82-3.png"/><Relationship Id="rId4" Type="http://schemas.openxmlformats.org/officeDocument/2006/relationships/slideLayout" Target="../slideLayouts/slideLayout4.xml"/><Relationship Id="rId5"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hyperlink" Target="https://github.com/antonprafanto/mobile2026/blob/main/pertemuan_14_pengujian_dan_debugging/JOBSHEET.md" TargetMode="External"/><Relationship Id="rId3" Type="http://schemas.openxmlformats.org/officeDocument/2006/relationships/hyperlink" Target="https://github.com/antonprafanto/mobile2026/blob/main/pertemuan_14_pengujian_dan_debugging/JOBSHEET.md" TargetMode="External"/><Relationship Id="rId4" Type="http://schemas.openxmlformats.org/officeDocument/2006/relationships/hyperlink" Target="https://github.com/antonprafanto/mobile2026/blob/main/pertemuan_14_pengujian_dan_debugging/LATIHAN.md" TargetMode="External"/><Relationship Id="rId6" Type="http://schemas.openxmlformats.org/officeDocument/2006/relationships/hyperlink" Target="https://github.com/antonprafanto/mobile2026/blob/main/pertemuan_14_pengujian_dan_debugging/LATIHAN.md" TargetMode="External"/><Relationship Id="rId7" Type="http://schemas.openxmlformats.org/officeDocument/2006/relationships/hyperlink" Target="https://github.com/antonprafanto/mobile2026/blob/main/panduan/05_proyek_akhir.md" TargetMode="External"/><Relationship Id="rId9" Type="http://schemas.openxmlformats.org/officeDocument/2006/relationships/hyperlink" Target="https://github.com/antonprafanto/mobile2026/blob/main/panduan/05_proyek_akhir.md" TargetMode="External"/><Relationship Id="rId2" Type="http://schemas.openxmlformats.org/officeDocument/2006/relationships/image" Target="../media/image-86-1.png"/><Relationship Id="rId5" Type="http://schemas.openxmlformats.org/officeDocument/2006/relationships/image" Target="../media/image-86-2.png"/><Relationship Id="rId8" Type="http://schemas.openxmlformats.org/officeDocument/2006/relationships/image" Target="../media/image-86-3.png"/><Relationship Id="rId10" Type="http://schemas.openxmlformats.org/officeDocument/2006/relationships/image" Target="../media/image-86-3.png"/><Relationship Id="rId11" Type="http://schemas.openxmlformats.org/officeDocument/2006/relationships/slideLayout" Target="../slideLayouts/slideLayout2.xml"/><Relationship Id="rId12" Type="http://schemas.openxmlformats.org/officeDocument/2006/relationships/notesSlide" Target="../notesSlides/notesSlide8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4"/>
          <p:cNvSpPr/>
          <p:nvPr>
            <p:ph idx="104" type="title" hasCustomPrompt="1"/>
          </p:nvPr>
        </p:nvSpPr>
        <p:spPr>
          <a:xfrm>
            <a:off x="731520" y="1554480"/>
            <a:ext cx="8778240" cy="2103120"/>
          </a:xfrm>
          <a:prstGeom prst="rect">
            <a:avLst/>
          </a:prstGeom>
          <a:noFill/>
          <a:ln/>
        </p:spPr>
        <p:txBody>
          <a:bodyPr wrap="square" lIns="0" tIns="0" rIns="0" bIns="0" rtlCol="0" anchor="b"/>
          <a:lstStyle/>
          <a:p>
            <a:pPr algn="l" indent="0" marL="0">
              <a:buNone/>
            </a:pPr>
            <a:r>
              <a:rPr lang="en-US" sz="4400" b="1" dirty="0">
                <a:solidFill>
                  <a:schemeClr val="bg1"/>
                </a:solidFill>
              </a:rPr>
              <a:t>Pengujian &amp; Debugging</a:t>
            </a:r>
            <a:endParaRPr lang="en-US" sz="4400" dirty="0"/>
          </a:p>
        </p:txBody>
      </p:sp>
      <p:sp>
        <p:nvSpPr>
          <p:cNvPr id="4" name="Text 4"/>
          <p:cNvSpPr/>
          <p:nvPr>
            <p:ph idx="105" type="body" hasCustomPrompt="1"/>
          </p:nvPr>
        </p:nvSpPr>
        <p:spPr>
          <a:xfrm>
            <a:off x="731520" y="3840480"/>
            <a:ext cx="8412480" cy="1280160"/>
          </a:xfrm>
          <a:prstGeom prst="rect">
            <a:avLst/>
          </a:prstGeom>
          <a:noFill/>
          <a:ln/>
        </p:spPr>
        <p:txBody>
          <a:bodyPr wrap="square" lIns="0" tIns="0" rIns="0" bIns="0" rtlCol="0" anchor="t"/>
          <a:lstStyle/>
          <a:p>
            <a:pPr algn="l" indent="0" marL="0">
              <a:buNone/>
            </a:pPr>
            <a:r>
              <a:rPr lang="en-US" sz="2000" dirty="0">
                <a:solidFill>
                  <a:schemeClr val="bg2"/>
                </a:solidFill>
              </a:rPr>
              <a:t>Pertemuan 14  ·  tes unit, matcher, dan kode asinkron; ViewModel dengan data palsu; tes widget; plugin di tes; studi kasus Pinjam Ruang Kampus; pesan galat, debugger VS Code, dan DevTools; galat tata letak; cakupan dan CI</a:t>
            </a:r>
            <a:endParaRPr lang="en-US" sz="2000" dirty="0"/>
          </a:p>
        </p:txBody>
      </p:sp>
      <p:sp>
        <p:nvSpPr>
          <p:cNvPr id="5" name="lingkaran hp"/>
          <p:cNvSpPr/>
          <p:nvPr/>
        </p:nvSpPr>
        <p:spPr>
          <a:xfrm>
            <a:off x="9646920" y="1828800"/>
            <a:ext cx="1737360" cy="1737360"/>
          </a:xfrm>
          <a:prstGeom prst="ellipse">
            <a:avLst/>
          </a:prstGeom>
          <a:solidFill>
            <a:schemeClr val="accent1"/>
          </a:solidFill>
          <a:ln/>
        </p:spPr>
      </p:sp>
      <p:pic>
        <p:nvPicPr>
          <p:cNvPr id="6" name="Image 0" descr="hp">    </p:cNvPr>
          <p:cNvPicPr>
            <a:picLocks noChangeAspect="1"/>
          </p:cNvPicPr>
          <p:nvPr/>
        </p:nvPicPr>
        <p:blipFill>
          <a:blip r:embed="rId1"/>
          <a:stretch>
            <a:fillRect/>
          </a:stretch>
        </p:blipFill>
        <p:spPr>
          <a:xfrm>
            <a:off x="10029139" y="2211019"/>
            <a:ext cx="972922" cy="9729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Tujuan Pembelajaran</a:t>
            </a:r>
            <a:endParaRPr lang="en-US" sz="3200" dirty="0"/>
          </a:p>
        </p:txBody>
      </p:sp>
      <p:sp>
        <p:nvSpPr>
          <p:cNvPr id="4" name="Text 1"/>
          <p:cNvSpPr txBox="1"/>
          <p:nvPr/>
        </p:nvSpPr>
        <p:spPr>
          <a:xfrm>
            <a:off x="548640" y="1325880"/>
            <a:ext cx="11094415" cy="411480"/>
          </a:xfrm>
          <a:prstGeom prst="rect">
            <a:avLst/>
          </a:prstGeom>
          <a:noFill/>
          <a:ln/>
        </p:spPr>
        <p:txBody>
          <a:bodyPr wrap="square" lIns="0" tIns="0" rIns="0" bIns="0" rtlCol="0" anchor="ctr"/>
          <a:lstStyle/>
          <a:p>
            <a:pPr indent="0" marL="0">
              <a:buNone/>
            </a:pPr>
            <a:r>
              <a:rPr lang="en-US" sz="1800" i="1" dirty="0">
                <a:solidFill>
                  <a:srgbClr val="4A5870"/>
                </a:solidFill>
              </a:rPr>
              <a:t>Setelah pertemuan ini, Anda mampu:</a:t>
            </a:r>
            <a:endParaRPr lang="en-US" sz="1800" dirty="0"/>
          </a:p>
        </p:txBody>
      </p:sp>
      <p:sp>
        <p:nvSpPr>
          <p:cNvPr id="5" name="lingkaran centang"/>
          <p:cNvSpPr/>
          <p:nvPr/>
        </p:nvSpPr>
        <p:spPr>
          <a:xfrm>
            <a:off x="548640" y="2011680"/>
            <a:ext cx="594360" cy="594360"/>
          </a:xfrm>
          <a:prstGeom prst="ellipse">
            <a:avLst/>
          </a:prstGeom>
          <a:solidFill>
            <a:schemeClr val="accent4"/>
          </a:solidFill>
          <a:ln/>
        </p:spPr>
      </p:sp>
      <p:pic>
        <p:nvPicPr>
          <p:cNvPr id="6" name="Image 0" descr="centang">    </p:cNvPr>
          <p:cNvPicPr>
            <a:picLocks noChangeAspect="1"/>
          </p:cNvPicPr>
          <p:nvPr/>
        </p:nvPicPr>
        <p:blipFill>
          <a:blip r:embed="rId1"/>
          <a:stretch>
            <a:fillRect/>
          </a:stretch>
        </p:blipFill>
        <p:spPr>
          <a:xfrm>
            <a:off x="679399" y="2142439"/>
            <a:ext cx="332842" cy="332842"/>
          </a:xfrm>
          <a:prstGeom prst="rect">
            <a:avLst/>
          </a:prstGeom>
        </p:spPr>
      </p:pic>
      <p:sp>
        <p:nvSpPr>
          <p:cNvPr id="7" name="Text 3"/>
          <p:cNvSpPr txBox="1"/>
          <p:nvPr/>
        </p:nvSpPr>
        <p:spPr>
          <a:xfrm>
            <a:off x="1325880" y="192024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Menjelaskan perlunya tes otomatis dan beda tes unit, widget, integrasi</a:t>
            </a:r>
            <a:endParaRPr lang="en-US" sz="1900" dirty="0"/>
          </a:p>
        </p:txBody>
      </p:sp>
      <p:sp>
        <p:nvSpPr>
          <p:cNvPr id="8" name="lingkaran centang"/>
          <p:cNvSpPr/>
          <p:nvPr/>
        </p:nvSpPr>
        <p:spPr>
          <a:xfrm>
            <a:off x="548640" y="2871216"/>
            <a:ext cx="594360" cy="594360"/>
          </a:xfrm>
          <a:prstGeom prst="ellipse">
            <a:avLst/>
          </a:prstGeom>
          <a:solidFill>
            <a:schemeClr val="accent4"/>
          </a:solidFill>
          <a:ln/>
        </p:spPr>
      </p:sp>
      <p:pic>
        <p:nvPicPr>
          <p:cNvPr id="9" name="Image 1" descr="centang">    </p:cNvPr>
          <p:cNvPicPr>
            <a:picLocks noChangeAspect="1"/>
          </p:cNvPicPr>
          <p:nvPr/>
        </p:nvPicPr>
        <p:blipFill>
          <a:blip r:embed="rId2"/>
          <a:stretch>
            <a:fillRect/>
          </a:stretch>
        </p:blipFill>
        <p:spPr>
          <a:xfrm>
            <a:off x="679399" y="3001975"/>
            <a:ext cx="332842" cy="332842"/>
          </a:xfrm>
          <a:prstGeom prst="rect">
            <a:avLst/>
          </a:prstGeom>
        </p:spPr>
      </p:pic>
      <p:sp>
        <p:nvSpPr>
          <p:cNvPr id="10" name="Text 5"/>
          <p:cNvSpPr txBox="1"/>
          <p:nvPr/>
        </p:nvSpPr>
        <p:spPr>
          <a:xfrm>
            <a:off x="1325880" y="2779776"/>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Menulis tes unit (siapkan → lakukan → periksa) dan menjalankannya</a:t>
            </a:r>
            <a:endParaRPr lang="en-US" sz="1900" dirty="0"/>
          </a:p>
        </p:txBody>
      </p:sp>
      <p:sp>
        <p:nvSpPr>
          <p:cNvPr id="11" name="lingkaran centang"/>
          <p:cNvSpPr/>
          <p:nvPr/>
        </p:nvSpPr>
        <p:spPr>
          <a:xfrm>
            <a:off x="548640" y="3730752"/>
            <a:ext cx="594360" cy="594360"/>
          </a:xfrm>
          <a:prstGeom prst="ellipse">
            <a:avLst/>
          </a:prstGeom>
          <a:solidFill>
            <a:schemeClr val="accent4"/>
          </a:solidFill>
          <a:ln/>
        </p:spPr>
      </p:sp>
      <p:pic>
        <p:nvPicPr>
          <p:cNvPr id="12" name="Image 2" descr="centang">    </p:cNvPr>
          <p:cNvPicPr>
            <a:picLocks noChangeAspect="1"/>
          </p:cNvPicPr>
          <p:nvPr/>
        </p:nvPicPr>
        <p:blipFill>
          <a:blip r:embed="rId3"/>
          <a:stretch>
            <a:fillRect/>
          </a:stretch>
        </p:blipFill>
        <p:spPr>
          <a:xfrm>
            <a:off x="679399" y="3861511"/>
            <a:ext cx="332842" cy="332842"/>
          </a:xfrm>
          <a:prstGeom prst="rect">
            <a:avLst/>
          </a:prstGeom>
        </p:spPr>
      </p:pic>
      <p:sp>
        <p:nvSpPr>
          <p:cNvPr id="13" name="Text 7"/>
          <p:cNvSpPr txBox="1"/>
          <p:nvPr/>
        </p:nvSpPr>
        <p:spPr>
          <a:xfrm>
            <a:off x="1325880" y="3639312"/>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Memakai matcher, menguji exception, setUp/tearDown/group, dan nilai batas</a:t>
            </a:r>
            <a:endParaRPr lang="en-US" sz="1900" dirty="0"/>
          </a:p>
        </p:txBody>
      </p:sp>
      <p:sp>
        <p:nvSpPr>
          <p:cNvPr id="14" name="lingkaran centang"/>
          <p:cNvSpPr/>
          <p:nvPr/>
        </p:nvSpPr>
        <p:spPr>
          <a:xfrm>
            <a:off x="548640" y="4590288"/>
            <a:ext cx="594360" cy="594360"/>
          </a:xfrm>
          <a:prstGeom prst="ellipse">
            <a:avLst/>
          </a:prstGeom>
          <a:solidFill>
            <a:schemeClr val="accent4"/>
          </a:solidFill>
          <a:ln/>
        </p:spPr>
      </p:sp>
      <p:pic>
        <p:nvPicPr>
          <p:cNvPr id="15" name="Image 3" descr="centang">    </p:cNvPr>
          <p:cNvPicPr>
            <a:picLocks noChangeAspect="1"/>
          </p:cNvPicPr>
          <p:nvPr/>
        </p:nvPicPr>
        <p:blipFill>
          <a:blip r:embed="rId4"/>
          <a:stretch>
            <a:fillRect/>
          </a:stretch>
        </p:blipFill>
        <p:spPr>
          <a:xfrm>
            <a:off x="679399" y="4721047"/>
            <a:ext cx="332842" cy="332842"/>
          </a:xfrm>
          <a:prstGeom prst="rect">
            <a:avLst/>
          </a:prstGeom>
        </p:spPr>
      </p:pic>
      <p:sp>
        <p:nvSpPr>
          <p:cNvPr id="16" name="Text 9"/>
          <p:cNvSpPr txBox="1"/>
          <p:nvPr/>
        </p:nvSpPr>
        <p:spPr>
          <a:xfrm>
            <a:off x="1325880" y="4498848"/>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Menguji Future dan Stream, serta kode yang menghubungi server (MockClient)</a:t>
            </a:r>
            <a:endParaRPr lang="en-US" sz="1900" dirty="0"/>
          </a:p>
        </p:txBody>
      </p:sp>
      <p:sp>
        <p:nvSpPr>
          <p:cNvPr id="17" name="lingkaran centang"/>
          <p:cNvSpPr/>
          <p:nvPr/>
        </p:nvSpPr>
        <p:spPr>
          <a:xfrm>
            <a:off x="548640" y="5449824"/>
            <a:ext cx="594360" cy="594360"/>
          </a:xfrm>
          <a:prstGeom prst="ellipse">
            <a:avLst/>
          </a:prstGeom>
          <a:solidFill>
            <a:schemeClr val="accent4"/>
          </a:solidFill>
          <a:ln/>
        </p:spPr>
      </p:sp>
      <p:pic>
        <p:nvPicPr>
          <p:cNvPr id="18" name="Image 4" descr="centang">    </p:cNvPr>
          <p:cNvPicPr>
            <a:picLocks noChangeAspect="1"/>
          </p:cNvPicPr>
          <p:nvPr/>
        </p:nvPicPr>
        <p:blipFill>
          <a:blip r:embed="rId5"/>
          <a:stretch>
            <a:fillRect/>
          </a:stretch>
        </p:blipFill>
        <p:spPr>
          <a:xfrm>
            <a:off x="679399" y="5580583"/>
            <a:ext cx="332842" cy="332842"/>
          </a:xfrm>
          <a:prstGeom prst="rect">
            <a:avLst/>
          </a:prstGeom>
        </p:spPr>
      </p:pic>
      <p:sp>
        <p:nvSpPr>
          <p:cNvPr id="19" name="Text 11"/>
          <p:cNvSpPr txBox="1"/>
          <p:nvPr/>
        </p:nvSpPr>
        <p:spPr>
          <a:xfrm>
            <a:off x="1325880" y="5358384"/>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Menguji ViewModel dengan data palsu yang bisa gagal, menghitung, dan ditahan</a:t>
            </a:r>
            <a:endParaRPr lang="en-US" sz="1900" dirty="0"/>
          </a:p>
        </p:txBody>
      </p:sp>
      <p:sp>
        <p:nvSpPr>
          <p:cNvPr id="20" name="lingkaran centang"/>
          <p:cNvSpPr/>
          <p:nvPr/>
        </p:nvSpPr>
        <p:spPr>
          <a:xfrm>
            <a:off x="6278728" y="2011680"/>
            <a:ext cx="594360" cy="594360"/>
          </a:xfrm>
          <a:prstGeom prst="ellipse">
            <a:avLst/>
          </a:prstGeom>
          <a:solidFill>
            <a:schemeClr val="accent4"/>
          </a:solidFill>
          <a:ln/>
        </p:spPr>
      </p:sp>
      <p:pic>
        <p:nvPicPr>
          <p:cNvPr id="21" name="Image 5" descr="centang">    </p:cNvPr>
          <p:cNvPicPr>
            <a:picLocks noChangeAspect="1"/>
          </p:cNvPicPr>
          <p:nvPr/>
        </p:nvPicPr>
        <p:blipFill>
          <a:blip r:embed="rId6"/>
          <a:stretch>
            <a:fillRect/>
          </a:stretch>
        </p:blipFill>
        <p:spPr>
          <a:xfrm>
            <a:off x="6409487" y="2142439"/>
            <a:ext cx="332842" cy="332842"/>
          </a:xfrm>
          <a:prstGeom prst="rect">
            <a:avLst/>
          </a:prstGeom>
        </p:spPr>
      </p:pic>
      <p:sp>
        <p:nvSpPr>
          <p:cNvPr id="22" name="Text 13"/>
          <p:cNvSpPr txBox="1"/>
          <p:nvPr/>
        </p:nvSpPr>
        <p:spPr>
          <a:xfrm>
            <a:off x="7055968" y="192024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Menulis tes widget: pumpWidget, finder, ketik, ketuk, lalu periksa layarnya</a:t>
            </a:r>
            <a:endParaRPr lang="en-US" sz="1900" dirty="0"/>
          </a:p>
        </p:txBody>
      </p:sp>
      <p:sp>
        <p:nvSpPr>
          <p:cNvPr id="23" name="lingkaran centang"/>
          <p:cNvSpPr/>
          <p:nvPr/>
        </p:nvSpPr>
        <p:spPr>
          <a:xfrm>
            <a:off x="6278728" y="2871216"/>
            <a:ext cx="594360" cy="594360"/>
          </a:xfrm>
          <a:prstGeom prst="ellipse">
            <a:avLst/>
          </a:prstGeom>
          <a:solidFill>
            <a:schemeClr val="accent4"/>
          </a:solidFill>
          <a:ln/>
        </p:spPr>
      </p:sp>
      <p:pic>
        <p:nvPicPr>
          <p:cNvPr id="24" name="Image 6" descr="centang">    </p:cNvPr>
          <p:cNvPicPr>
            <a:picLocks noChangeAspect="1"/>
          </p:cNvPicPr>
          <p:nvPr/>
        </p:nvPicPr>
        <p:blipFill>
          <a:blip r:embed="rId7"/>
          <a:stretch>
            <a:fillRect/>
          </a:stretch>
        </p:blipFill>
        <p:spPr>
          <a:xfrm>
            <a:off x="6409487" y="3001975"/>
            <a:ext cx="332842" cy="332842"/>
          </a:xfrm>
          <a:prstGeom prst="rect">
            <a:avLst/>
          </a:prstGeom>
        </p:spPr>
      </p:pic>
      <p:sp>
        <p:nvSpPr>
          <p:cNvPr id="25" name="Text 15"/>
          <p:cNvSpPr txBox="1"/>
          <p:nvPr/>
        </p:nvSpPr>
        <p:spPr>
          <a:xfrm>
            <a:off x="7055968" y="2779776"/>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Menguji kode yang memakai plugin tanpa HP: kontrak atau Fake</a:t>
            </a:r>
            <a:endParaRPr lang="en-US" sz="1900" dirty="0"/>
          </a:p>
        </p:txBody>
      </p:sp>
      <p:sp>
        <p:nvSpPr>
          <p:cNvPr id="26" name="lingkaran centang"/>
          <p:cNvSpPr/>
          <p:nvPr/>
        </p:nvSpPr>
        <p:spPr>
          <a:xfrm>
            <a:off x="6278728" y="3730752"/>
            <a:ext cx="594360" cy="594360"/>
          </a:xfrm>
          <a:prstGeom prst="ellipse">
            <a:avLst/>
          </a:prstGeom>
          <a:solidFill>
            <a:schemeClr val="accent4"/>
          </a:solidFill>
          <a:ln/>
        </p:spPr>
      </p:sp>
      <p:pic>
        <p:nvPicPr>
          <p:cNvPr id="27" name="Image 7" descr="centang">    </p:cNvPr>
          <p:cNvPicPr>
            <a:picLocks noChangeAspect="1"/>
          </p:cNvPicPr>
          <p:nvPr/>
        </p:nvPicPr>
        <p:blipFill>
          <a:blip r:embed="rId8"/>
          <a:stretch>
            <a:fillRect/>
          </a:stretch>
        </p:blipFill>
        <p:spPr>
          <a:xfrm>
            <a:off x="6409487" y="3861511"/>
            <a:ext cx="332842" cy="332842"/>
          </a:xfrm>
          <a:prstGeom prst="rect">
            <a:avLst/>
          </a:prstGeom>
        </p:spPr>
      </p:pic>
      <p:sp>
        <p:nvSpPr>
          <p:cNvPr id="28" name="Text 17"/>
          <p:cNvSpPr txBox="1"/>
          <p:nvPr/>
        </p:nvSpPr>
        <p:spPr>
          <a:xfrm>
            <a:off x="7055968" y="3639312"/>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Membaca pesan galat dan stack trace; memakai debugger VS Code dan DevTools</a:t>
            </a:r>
            <a:endParaRPr lang="en-US" sz="1900" dirty="0"/>
          </a:p>
        </p:txBody>
      </p:sp>
      <p:sp>
        <p:nvSpPr>
          <p:cNvPr id="29" name="lingkaran centang"/>
          <p:cNvSpPr/>
          <p:nvPr/>
        </p:nvSpPr>
        <p:spPr>
          <a:xfrm>
            <a:off x="6278728" y="4590288"/>
            <a:ext cx="594360" cy="594360"/>
          </a:xfrm>
          <a:prstGeom prst="ellipse">
            <a:avLst/>
          </a:prstGeom>
          <a:solidFill>
            <a:schemeClr val="accent4"/>
          </a:solidFill>
          <a:ln/>
        </p:spPr>
      </p:sp>
      <p:pic>
        <p:nvPicPr>
          <p:cNvPr id="30" name="Image 8" descr="centang">    </p:cNvPr>
          <p:cNvPicPr>
            <a:picLocks noChangeAspect="1"/>
          </p:cNvPicPr>
          <p:nvPr/>
        </p:nvPicPr>
        <p:blipFill>
          <a:blip r:embed="rId9"/>
          <a:stretch>
            <a:fillRect/>
          </a:stretch>
        </p:blipFill>
        <p:spPr>
          <a:xfrm>
            <a:off x="6409487" y="4721047"/>
            <a:ext cx="332842" cy="332842"/>
          </a:xfrm>
          <a:prstGeom prst="rect">
            <a:avLst/>
          </a:prstGeom>
        </p:spPr>
      </p:pic>
      <p:sp>
        <p:nvSpPr>
          <p:cNvPr id="31" name="Text 19"/>
          <p:cNvSpPr txBox="1"/>
          <p:nvPr/>
        </p:nvSpPr>
        <p:spPr>
          <a:xfrm>
            <a:off x="7055968" y="4498848"/>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Memperbaiki galat tata letak: overflow, ListView di Column, TextField di Row</a:t>
            </a:r>
            <a:endParaRPr lang="en-US" sz="1900" dirty="0"/>
          </a:p>
        </p:txBody>
      </p:sp>
      <p:sp>
        <p:nvSpPr>
          <p:cNvPr id="32" name="lingkaran centang"/>
          <p:cNvSpPr/>
          <p:nvPr/>
        </p:nvSpPr>
        <p:spPr>
          <a:xfrm>
            <a:off x="6278728" y="5449824"/>
            <a:ext cx="594360" cy="594360"/>
          </a:xfrm>
          <a:prstGeom prst="ellipse">
            <a:avLst/>
          </a:prstGeom>
          <a:solidFill>
            <a:schemeClr val="accent4"/>
          </a:solidFill>
          <a:ln/>
        </p:spPr>
      </p:sp>
      <p:pic>
        <p:nvPicPr>
          <p:cNvPr id="33" name="Image 9" descr="centang">    </p:cNvPr>
          <p:cNvPicPr>
            <a:picLocks noChangeAspect="1"/>
          </p:cNvPicPr>
          <p:nvPr/>
        </p:nvPicPr>
        <p:blipFill>
          <a:blip r:embed="rId10"/>
          <a:stretch>
            <a:fillRect/>
          </a:stretch>
        </p:blipFill>
        <p:spPr>
          <a:xfrm>
            <a:off x="6409487" y="5580583"/>
            <a:ext cx="332842" cy="332842"/>
          </a:xfrm>
          <a:prstGeom prst="rect">
            <a:avLst/>
          </a:prstGeom>
        </p:spPr>
      </p:pic>
      <p:sp>
        <p:nvSpPr>
          <p:cNvPr id="34" name="Text 21"/>
          <p:cNvSpPr txBox="1"/>
          <p:nvPr/>
        </p:nvSpPr>
        <p:spPr>
          <a:xfrm>
            <a:off x="7055968" y="5358384"/>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Menjalankan tes otomatis setiap push (CI) dan membaca cakupan kode</a:t>
            </a:r>
            <a:endParaRPr lang="en-US" sz="19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Peta Materi Hari Ini</a:t>
            </a:r>
            <a:endParaRPr lang="en-US" sz="3200" dirty="0"/>
          </a:p>
        </p:txBody>
      </p:sp>
      <p:sp>
        <p:nvSpPr>
          <p:cNvPr id="4" name="langkah 1"/>
          <p:cNvSpPr/>
          <p:nvPr/>
        </p:nvSpPr>
        <p:spPr>
          <a:xfrm>
            <a:off x="548640" y="1828800"/>
            <a:ext cx="1582369" cy="3566160"/>
          </a:xfrm>
          <a:prstGeom prst="roundRect">
            <a:avLst>
              <a:gd name="adj" fmla="val 8668"/>
            </a:avLst>
          </a:prstGeom>
          <a:solidFill>
            <a:schemeClr val="bg2"/>
          </a:solidFill>
          <a:ln/>
        </p:spPr>
      </p:sp>
      <p:sp>
        <p:nvSpPr>
          <p:cNvPr id="5" name="lingkaran tanya"/>
          <p:cNvSpPr/>
          <p:nvPr/>
        </p:nvSpPr>
        <p:spPr>
          <a:xfrm>
            <a:off x="905485" y="2103120"/>
            <a:ext cx="868680" cy="868680"/>
          </a:xfrm>
          <a:prstGeom prst="ellipse">
            <a:avLst/>
          </a:prstGeom>
          <a:solidFill>
            <a:schemeClr val="accent1"/>
          </a:solidFill>
          <a:ln/>
        </p:spPr>
      </p:sp>
      <p:pic>
        <p:nvPicPr>
          <p:cNvPr id="6" name="Image 0" descr="tanya">    </p:cNvPr>
          <p:cNvPicPr>
            <a:picLocks noChangeAspect="1"/>
          </p:cNvPicPr>
          <p:nvPr/>
        </p:nvPicPr>
        <p:blipFill>
          <a:blip r:embed="rId1"/>
          <a:stretch>
            <a:fillRect/>
          </a:stretch>
        </p:blipFill>
        <p:spPr>
          <a:xfrm>
            <a:off x="1096594" y="2294230"/>
            <a:ext cx="486461" cy="486461"/>
          </a:xfrm>
          <a:prstGeom prst="rect">
            <a:avLst/>
          </a:prstGeom>
        </p:spPr>
      </p:pic>
      <p:sp>
        <p:nvSpPr>
          <p:cNvPr id="7" name="Text 3"/>
          <p:cNvSpPr txBox="1"/>
          <p:nvPr/>
        </p:nvSpPr>
        <p:spPr>
          <a:xfrm>
            <a:off x="658368"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8" name="Text 4"/>
          <p:cNvSpPr txBox="1"/>
          <p:nvPr/>
        </p:nvSpPr>
        <p:spPr>
          <a:xfrm>
            <a:off x="685800"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A. Mengapa menguji?</a:t>
            </a:r>
            <a:endParaRPr lang="en-US" sz="1700" dirty="0"/>
          </a:p>
        </p:txBody>
      </p:sp>
      <p:sp>
        <p:nvSpPr>
          <p:cNvPr id="9" name="Text 5"/>
          <p:cNvSpPr txBox="1"/>
          <p:nvPr/>
        </p:nvSpPr>
        <p:spPr>
          <a:xfrm>
            <a:off x="685800"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Bug tersembunyi dan tiga jenis tes (Bagian 1)</a:t>
            </a:r>
            <a:endParaRPr lang="en-US" sz="1400" dirty="0"/>
          </a:p>
        </p:txBody>
      </p:sp>
      <p:sp>
        <p:nvSpPr>
          <p:cNvPr id="10" name="Shape 6"/>
          <p:cNvSpPr/>
          <p:nvPr/>
        </p:nvSpPr>
        <p:spPr>
          <a:xfrm>
            <a:off x="2167585" y="2395728"/>
            <a:ext cx="246888" cy="274320"/>
          </a:xfrm>
          <a:prstGeom prst="rightArrow">
            <a:avLst/>
          </a:prstGeom>
          <a:solidFill>
            <a:schemeClr val="accent2"/>
          </a:solidFill>
          <a:ln/>
        </p:spPr>
      </p:sp>
      <p:sp>
        <p:nvSpPr>
          <p:cNvPr id="11" name="langkah 2"/>
          <p:cNvSpPr/>
          <p:nvPr/>
        </p:nvSpPr>
        <p:spPr>
          <a:xfrm>
            <a:off x="2451049" y="1828800"/>
            <a:ext cx="1582369" cy="3566160"/>
          </a:xfrm>
          <a:prstGeom prst="roundRect">
            <a:avLst>
              <a:gd name="adj" fmla="val 8668"/>
            </a:avLst>
          </a:prstGeom>
          <a:solidFill>
            <a:schemeClr val="bg2"/>
          </a:solidFill>
          <a:ln/>
        </p:spPr>
      </p:sp>
      <p:sp>
        <p:nvSpPr>
          <p:cNvPr id="12" name="lingkaran uji"/>
          <p:cNvSpPr/>
          <p:nvPr/>
        </p:nvSpPr>
        <p:spPr>
          <a:xfrm>
            <a:off x="2807894" y="2103120"/>
            <a:ext cx="868680" cy="868680"/>
          </a:xfrm>
          <a:prstGeom prst="ellipse">
            <a:avLst/>
          </a:prstGeom>
          <a:solidFill>
            <a:schemeClr val="accent1"/>
          </a:solidFill>
          <a:ln/>
        </p:spPr>
      </p:sp>
      <p:pic>
        <p:nvPicPr>
          <p:cNvPr id="13" name="Image 1" descr="uji">    </p:cNvPr>
          <p:cNvPicPr>
            <a:picLocks noChangeAspect="1"/>
          </p:cNvPicPr>
          <p:nvPr/>
        </p:nvPicPr>
        <p:blipFill>
          <a:blip r:embed="rId2"/>
          <a:stretch>
            <a:fillRect/>
          </a:stretch>
        </p:blipFill>
        <p:spPr>
          <a:xfrm>
            <a:off x="2999003" y="2294230"/>
            <a:ext cx="486461" cy="486461"/>
          </a:xfrm>
          <a:prstGeom prst="rect">
            <a:avLst/>
          </a:prstGeom>
        </p:spPr>
      </p:pic>
      <p:sp>
        <p:nvSpPr>
          <p:cNvPr id="14" name="Text 9"/>
          <p:cNvSpPr txBox="1"/>
          <p:nvPr/>
        </p:nvSpPr>
        <p:spPr>
          <a:xfrm>
            <a:off x="2560777"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5" name="Text 10"/>
          <p:cNvSpPr txBox="1"/>
          <p:nvPr/>
        </p:nvSpPr>
        <p:spPr>
          <a:xfrm>
            <a:off x="2588209"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B. Tes unit</a:t>
            </a:r>
            <a:endParaRPr lang="en-US" sz="1700" dirty="0"/>
          </a:p>
        </p:txBody>
      </p:sp>
      <p:sp>
        <p:nvSpPr>
          <p:cNvPr id="16" name="Text 11"/>
          <p:cNvSpPr txBox="1"/>
          <p:nvPr/>
        </p:nvSpPr>
        <p:spPr>
          <a:xfrm>
            <a:off x="2588209"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Matcher, asinkron, MockClient, ViewModel (2–5)</a:t>
            </a:r>
            <a:endParaRPr lang="en-US" sz="1400" dirty="0"/>
          </a:p>
        </p:txBody>
      </p:sp>
      <p:sp>
        <p:nvSpPr>
          <p:cNvPr id="17" name="Shape 12"/>
          <p:cNvSpPr/>
          <p:nvPr/>
        </p:nvSpPr>
        <p:spPr>
          <a:xfrm>
            <a:off x="4069994" y="2395728"/>
            <a:ext cx="246888" cy="274320"/>
          </a:xfrm>
          <a:prstGeom prst="rightArrow">
            <a:avLst/>
          </a:prstGeom>
          <a:solidFill>
            <a:schemeClr val="accent2"/>
          </a:solidFill>
          <a:ln/>
        </p:spPr>
      </p:sp>
      <p:sp>
        <p:nvSpPr>
          <p:cNvPr id="18" name="langkah 3"/>
          <p:cNvSpPr/>
          <p:nvPr/>
        </p:nvSpPr>
        <p:spPr>
          <a:xfrm>
            <a:off x="4353458" y="1828800"/>
            <a:ext cx="1582369" cy="3566160"/>
          </a:xfrm>
          <a:prstGeom prst="roundRect">
            <a:avLst>
              <a:gd name="adj" fmla="val 8668"/>
            </a:avLst>
          </a:prstGeom>
          <a:solidFill>
            <a:schemeClr val="bg2"/>
          </a:solidFill>
          <a:ln/>
        </p:spPr>
      </p:sp>
      <p:sp>
        <p:nvSpPr>
          <p:cNvPr id="19" name="lingkaran widget"/>
          <p:cNvSpPr/>
          <p:nvPr/>
        </p:nvSpPr>
        <p:spPr>
          <a:xfrm>
            <a:off x="4710303" y="2103120"/>
            <a:ext cx="868680" cy="868680"/>
          </a:xfrm>
          <a:prstGeom prst="ellipse">
            <a:avLst/>
          </a:prstGeom>
          <a:solidFill>
            <a:schemeClr val="accent1"/>
          </a:solidFill>
          <a:ln/>
        </p:spPr>
      </p:sp>
      <p:pic>
        <p:nvPicPr>
          <p:cNvPr id="20" name="Image 2" descr="widget">    </p:cNvPr>
          <p:cNvPicPr>
            <a:picLocks noChangeAspect="1"/>
          </p:cNvPicPr>
          <p:nvPr/>
        </p:nvPicPr>
        <p:blipFill>
          <a:blip r:embed="rId3"/>
          <a:stretch>
            <a:fillRect/>
          </a:stretch>
        </p:blipFill>
        <p:spPr>
          <a:xfrm>
            <a:off x="4901413" y="2294230"/>
            <a:ext cx="486461" cy="486461"/>
          </a:xfrm>
          <a:prstGeom prst="rect">
            <a:avLst/>
          </a:prstGeom>
        </p:spPr>
      </p:pic>
      <p:sp>
        <p:nvSpPr>
          <p:cNvPr id="21" name="Text 15"/>
          <p:cNvSpPr txBox="1"/>
          <p:nvPr/>
        </p:nvSpPr>
        <p:spPr>
          <a:xfrm>
            <a:off x="4463186"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2" name="Text 16"/>
          <p:cNvSpPr txBox="1"/>
          <p:nvPr/>
        </p:nvSpPr>
        <p:spPr>
          <a:xfrm>
            <a:off x="4490618"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C. Tes widget</a:t>
            </a:r>
            <a:endParaRPr lang="en-US" sz="1700" dirty="0"/>
          </a:p>
        </p:txBody>
      </p:sp>
      <p:sp>
        <p:nvSpPr>
          <p:cNvPr id="23" name="Text 17"/>
          <p:cNvSpPr txBox="1"/>
          <p:nvPr/>
        </p:nvSpPr>
        <p:spPr>
          <a:xfrm>
            <a:off x="4490618"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Finder, aksi, pump, semua keadaan layar (6–7)</a:t>
            </a:r>
            <a:endParaRPr lang="en-US" sz="1400" dirty="0"/>
          </a:p>
        </p:txBody>
      </p:sp>
      <p:sp>
        <p:nvSpPr>
          <p:cNvPr id="24" name="Shape 18"/>
          <p:cNvSpPr/>
          <p:nvPr/>
        </p:nvSpPr>
        <p:spPr>
          <a:xfrm>
            <a:off x="5972404" y="2395728"/>
            <a:ext cx="246888" cy="274320"/>
          </a:xfrm>
          <a:prstGeom prst="rightArrow">
            <a:avLst/>
          </a:prstGeom>
          <a:solidFill>
            <a:schemeClr val="accent2"/>
          </a:solidFill>
          <a:ln/>
        </p:spPr>
      </p:sp>
      <p:sp>
        <p:nvSpPr>
          <p:cNvPr id="25" name="langkah 4"/>
          <p:cNvSpPr/>
          <p:nvPr/>
        </p:nvSpPr>
        <p:spPr>
          <a:xfrm>
            <a:off x="6255868" y="1828800"/>
            <a:ext cx="1582369" cy="3566160"/>
          </a:xfrm>
          <a:prstGeom prst="roundRect">
            <a:avLst>
              <a:gd name="adj" fmla="val 8668"/>
            </a:avLst>
          </a:prstGeom>
          <a:solidFill>
            <a:schemeClr val="bg2"/>
          </a:solidFill>
          <a:ln/>
        </p:spPr>
      </p:sp>
      <p:sp>
        <p:nvSpPr>
          <p:cNvPr id="26" name="lingkaran puzzle"/>
          <p:cNvSpPr/>
          <p:nvPr/>
        </p:nvSpPr>
        <p:spPr>
          <a:xfrm>
            <a:off x="6612712" y="2103120"/>
            <a:ext cx="868680" cy="868680"/>
          </a:xfrm>
          <a:prstGeom prst="ellipse">
            <a:avLst/>
          </a:prstGeom>
          <a:solidFill>
            <a:schemeClr val="accent1"/>
          </a:solidFill>
          <a:ln/>
        </p:spPr>
      </p:sp>
      <p:pic>
        <p:nvPicPr>
          <p:cNvPr id="27" name="Image 3" descr="puzzle">    </p:cNvPr>
          <p:cNvPicPr>
            <a:picLocks noChangeAspect="1"/>
          </p:cNvPicPr>
          <p:nvPr/>
        </p:nvPicPr>
        <p:blipFill>
          <a:blip r:embed="rId4"/>
          <a:stretch>
            <a:fillRect/>
          </a:stretch>
        </p:blipFill>
        <p:spPr>
          <a:xfrm>
            <a:off x="6803822" y="2294230"/>
            <a:ext cx="486461" cy="486461"/>
          </a:xfrm>
          <a:prstGeom prst="rect">
            <a:avLst/>
          </a:prstGeom>
        </p:spPr>
      </p:pic>
      <p:sp>
        <p:nvSpPr>
          <p:cNvPr id="28" name="Text 21"/>
          <p:cNvSpPr txBox="1"/>
          <p:nvPr/>
        </p:nvSpPr>
        <p:spPr>
          <a:xfrm>
            <a:off x="6365596"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29" name="Text 22"/>
          <p:cNvSpPr txBox="1"/>
          <p:nvPr/>
        </p:nvSpPr>
        <p:spPr>
          <a:xfrm>
            <a:off x="6393028"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D. Plugin dan studi kasus</a:t>
            </a:r>
            <a:endParaRPr lang="en-US" sz="1700" dirty="0"/>
          </a:p>
        </p:txBody>
      </p:sp>
      <p:sp>
        <p:nvSpPr>
          <p:cNvPr id="30" name="Text 23"/>
          <p:cNvSpPr txBox="1"/>
          <p:nvPr/>
        </p:nvSpPr>
        <p:spPr>
          <a:xfrm>
            <a:off x="6393028"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Fake, jam tetap, Pinjam Ruang Kampus (8–9)</a:t>
            </a:r>
            <a:endParaRPr lang="en-US" sz="1400" dirty="0"/>
          </a:p>
        </p:txBody>
      </p:sp>
      <p:sp>
        <p:nvSpPr>
          <p:cNvPr id="31" name="Shape 24"/>
          <p:cNvSpPr/>
          <p:nvPr/>
        </p:nvSpPr>
        <p:spPr>
          <a:xfrm>
            <a:off x="7874813" y="2395728"/>
            <a:ext cx="246888" cy="274320"/>
          </a:xfrm>
          <a:prstGeom prst="rightArrow">
            <a:avLst/>
          </a:prstGeom>
          <a:solidFill>
            <a:schemeClr val="accent2"/>
          </a:solidFill>
          <a:ln/>
        </p:spPr>
      </p:sp>
      <p:sp>
        <p:nvSpPr>
          <p:cNvPr id="32" name="langkah 5"/>
          <p:cNvSpPr/>
          <p:nvPr/>
        </p:nvSpPr>
        <p:spPr>
          <a:xfrm>
            <a:off x="8158277" y="1828800"/>
            <a:ext cx="1582369" cy="3566160"/>
          </a:xfrm>
          <a:prstGeom prst="roundRect">
            <a:avLst>
              <a:gd name="adj" fmla="val 8668"/>
            </a:avLst>
          </a:prstGeom>
          <a:solidFill>
            <a:schemeClr val="bg2"/>
          </a:solidFill>
          <a:ln/>
        </p:spPr>
      </p:sp>
      <p:sp>
        <p:nvSpPr>
          <p:cNvPr id="33" name="lingkaran serangga"/>
          <p:cNvSpPr/>
          <p:nvPr/>
        </p:nvSpPr>
        <p:spPr>
          <a:xfrm>
            <a:off x="8515121" y="2103120"/>
            <a:ext cx="868680" cy="868680"/>
          </a:xfrm>
          <a:prstGeom prst="ellipse">
            <a:avLst/>
          </a:prstGeom>
          <a:solidFill>
            <a:schemeClr val="accent5"/>
          </a:solidFill>
          <a:ln/>
        </p:spPr>
      </p:sp>
      <p:pic>
        <p:nvPicPr>
          <p:cNvPr id="34" name="Image 4" descr="serangga">    </p:cNvPr>
          <p:cNvPicPr>
            <a:picLocks noChangeAspect="1"/>
          </p:cNvPicPr>
          <p:nvPr/>
        </p:nvPicPr>
        <p:blipFill>
          <a:blip r:embed="rId5"/>
          <a:stretch>
            <a:fillRect/>
          </a:stretch>
        </p:blipFill>
        <p:spPr>
          <a:xfrm>
            <a:off x="8706231" y="2294230"/>
            <a:ext cx="486461" cy="486461"/>
          </a:xfrm>
          <a:prstGeom prst="rect">
            <a:avLst/>
          </a:prstGeom>
        </p:spPr>
      </p:pic>
      <p:sp>
        <p:nvSpPr>
          <p:cNvPr id="35" name="Text 27"/>
          <p:cNvSpPr txBox="1"/>
          <p:nvPr/>
        </p:nvSpPr>
        <p:spPr>
          <a:xfrm>
            <a:off x="8268005"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5</a:t>
            </a:r>
            <a:endParaRPr lang="en-US" sz="1400" dirty="0"/>
          </a:p>
        </p:txBody>
      </p:sp>
      <p:sp>
        <p:nvSpPr>
          <p:cNvPr id="36" name="Text 28"/>
          <p:cNvSpPr txBox="1"/>
          <p:nvPr/>
        </p:nvSpPr>
        <p:spPr>
          <a:xfrm>
            <a:off x="8295437"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E. Debugging</a:t>
            </a:r>
            <a:endParaRPr lang="en-US" sz="1700" dirty="0"/>
          </a:p>
        </p:txBody>
      </p:sp>
      <p:sp>
        <p:nvSpPr>
          <p:cNvPr id="37" name="Text 29"/>
          <p:cNvSpPr txBox="1"/>
          <p:nvPr/>
        </p:nvSpPr>
        <p:spPr>
          <a:xfrm>
            <a:off x="8295437"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Pesan galat, debugger, DevTools, tata letak (10–13)</a:t>
            </a:r>
            <a:endParaRPr lang="en-US" sz="1400" dirty="0"/>
          </a:p>
        </p:txBody>
      </p:sp>
      <p:sp>
        <p:nvSpPr>
          <p:cNvPr id="38" name="Shape 30"/>
          <p:cNvSpPr/>
          <p:nvPr/>
        </p:nvSpPr>
        <p:spPr>
          <a:xfrm>
            <a:off x="9777222" y="2395728"/>
            <a:ext cx="246888" cy="274320"/>
          </a:xfrm>
          <a:prstGeom prst="rightArrow">
            <a:avLst/>
          </a:prstGeom>
          <a:solidFill>
            <a:schemeClr val="accent2"/>
          </a:solidFill>
          <a:ln/>
        </p:spPr>
      </p:sp>
      <p:sp>
        <p:nvSpPr>
          <p:cNvPr id="39" name="langkah 6"/>
          <p:cNvSpPr/>
          <p:nvPr/>
        </p:nvSpPr>
        <p:spPr>
          <a:xfrm>
            <a:off x="10060686" y="1828800"/>
            <a:ext cx="1582369" cy="3566160"/>
          </a:xfrm>
          <a:prstGeom prst="roundRect">
            <a:avLst>
              <a:gd name="adj" fmla="val 8668"/>
            </a:avLst>
          </a:prstGeom>
          <a:solidFill>
            <a:schemeClr val="bg2"/>
          </a:solidFill>
          <a:ln/>
        </p:spPr>
      </p:sp>
      <p:sp>
        <p:nvSpPr>
          <p:cNvPr id="40" name="lingkaran sinkron"/>
          <p:cNvSpPr/>
          <p:nvPr/>
        </p:nvSpPr>
        <p:spPr>
          <a:xfrm>
            <a:off x="10417531" y="2103120"/>
            <a:ext cx="868680" cy="868680"/>
          </a:xfrm>
          <a:prstGeom prst="ellipse">
            <a:avLst/>
          </a:prstGeom>
          <a:solidFill>
            <a:schemeClr val="accent4"/>
          </a:solidFill>
          <a:ln/>
        </p:spPr>
      </p:sp>
      <p:pic>
        <p:nvPicPr>
          <p:cNvPr id="41" name="Image 5" descr="sinkron">    </p:cNvPr>
          <p:cNvPicPr>
            <a:picLocks noChangeAspect="1"/>
          </p:cNvPicPr>
          <p:nvPr/>
        </p:nvPicPr>
        <p:blipFill>
          <a:blip r:embed="rId6"/>
          <a:stretch>
            <a:fillRect/>
          </a:stretch>
        </p:blipFill>
        <p:spPr>
          <a:xfrm>
            <a:off x="10608640" y="2294230"/>
            <a:ext cx="486461" cy="486461"/>
          </a:xfrm>
          <a:prstGeom prst="rect">
            <a:avLst/>
          </a:prstGeom>
        </p:spPr>
      </p:pic>
      <p:sp>
        <p:nvSpPr>
          <p:cNvPr id="42" name="Text 33"/>
          <p:cNvSpPr txBox="1"/>
          <p:nvPr/>
        </p:nvSpPr>
        <p:spPr>
          <a:xfrm>
            <a:off x="10170414"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6</a:t>
            </a:r>
            <a:endParaRPr lang="en-US" sz="1400" dirty="0"/>
          </a:p>
        </p:txBody>
      </p:sp>
      <p:sp>
        <p:nvSpPr>
          <p:cNvPr id="43" name="Text 34"/>
          <p:cNvSpPr txBox="1"/>
          <p:nvPr/>
        </p:nvSpPr>
        <p:spPr>
          <a:xfrm>
            <a:off x="10197846"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F. CI dan proyek akhir</a:t>
            </a:r>
            <a:endParaRPr lang="en-US" sz="1700" dirty="0"/>
          </a:p>
        </p:txBody>
      </p:sp>
      <p:sp>
        <p:nvSpPr>
          <p:cNvPr id="44" name="Text 35"/>
          <p:cNvSpPr txBox="1"/>
          <p:nvPr/>
        </p:nvSpPr>
        <p:spPr>
          <a:xfrm>
            <a:off x="10197846"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Cakupan, GitHub Actions, jenis tes lain (14–16)</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Kode Contoh Hari Ini</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58447"/>
                <a:gridCol w="4951227"/>
                <a:gridCol w="3209128"/>
                <a:gridCol w="2475613"/>
              </a:tblGrid>
              <a:tr h="42976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Berkas</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Isi</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Jalan di</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429768">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onsolas" pitchFamily="34" charset="0"/>
                          <a:ea typeface="Consolas" pitchFamily="34" charset="-122"/>
                          <a:cs typeface="Consolas" pitchFamily="34" charset="-120"/>
                        </a:rPr>
                        <a:t>contoh_01_tes_unit_pertama_test.dart</a:t>
                      </a:r>
                      <a:endParaRPr lang="en-US" sz="11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Nilai akhir P2 dan bug tersembunyinya</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DartPad atau flutter test</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02</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100" dirty="0">
                          <a:solidFill>
                            <a:srgbClr val="1B2333"/>
                          </a:solidFill>
                          <a:latin typeface="Consolas" pitchFamily="34" charset="0"/>
                          <a:ea typeface="Consolas" pitchFamily="34" charset="-122"/>
                          <a:cs typeface="Consolas" pitchFamily="34" charset="-120"/>
                        </a:rPr>
                        <a:t>contoh_02_matcher_setup_dan_group_test.dart</a:t>
                      </a:r>
                      <a:endParaRPr lang="en-US" sz="11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"Keranjang Kantin": matcher dan group</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DartPad atau flutter test</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29768">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onsolas" pitchFamily="34" charset="0"/>
                          <a:ea typeface="Consolas" pitchFamily="34" charset="-122"/>
                          <a:cs typeface="Consolas" pitchFamily="34" charset="-120"/>
                        </a:rPr>
                        <a:t>contoh_03_menguji_kode_asinkron_test.dart</a:t>
                      </a:r>
                      <a:endParaRPr lang="en-US" sz="11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"Bus Kampus": Future, Stream, MockClient</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DartPad atau flutter test</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100" dirty="0">
                          <a:solidFill>
                            <a:srgbClr val="1B2333"/>
                          </a:solidFill>
                          <a:latin typeface="Consolas" pitchFamily="34" charset="0"/>
                          <a:ea typeface="Consolas" pitchFamily="34" charset="-122"/>
                          <a:cs typeface="Consolas" pitchFamily="34" charset="-120"/>
                        </a:rPr>
                        <a:t>contoh_04_menguji_viewmodel_test.dart</a:t>
                      </a:r>
                      <a:endParaRPr lang="en-US" sz="11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"Antrean Konsultasi Dosen": ViewModel</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DartPad atau flutter test</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29768">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onsolas" pitchFamily="34" charset="0"/>
                          <a:ea typeface="Consolas" pitchFamily="34" charset="-122"/>
                          <a:cs typeface="Consolas" pitchFamily="34" charset="-120"/>
                        </a:rPr>
                        <a:t>contoh_05_widget_test_pertama_test.dart</a:t>
                      </a:r>
                      <a:endParaRPr lang="en-US" sz="11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"Cek Nilai Akhir": tes widget pertama</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flutter test</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06</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100" dirty="0">
                          <a:solidFill>
                            <a:srgbClr val="1B2333"/>
                          </a:solidFill>
                          <a:latin typeface="Consolas" pitchFamily="34" charset="0"/>
                          <a:ea typeface="Consolas" pitchFamily="34" charset="-122"/>
                          <a:cs typeface="Consolas" pitchFamily="34" charset="-120"/>
                        </a:rPr>
                        <a:t>contoh_06_widget_test_dengan_viewmodel_test.dart</a:t>
                      </a:r>
                      <a:endParaRPr lang="en-US" sz="11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"Antrean Konsultasi": semua keadaan</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flutter test</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29768">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07</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onsolas" pitchFamily="34" charset="0"/>
                          <a:ea typeface="Consolas" pitchFamily="34" charset="-122"/>
                          <a:cs typeface="Consolas" pitchFamily="34" charset="-120"/>
                        </a:rPr>
                        <a:t>contoh_07_menguji_kode_plugin_test.dart</a:t>
                      </a:r>
                      <a:endParaRPr lang="en-US" sz="11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"Presensi Praktikum" tanpa kamera, GPS</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flutter test</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08</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100" dirty="0">
                          <a:solidFill>
                            <a:srgbClr val="1B2333"/>
                          </a:solidFill>
                          <a:latin typeface="Consolas" pitchFamily="34" charset="0"/>
                          <a:ea typeface="Consolas" pitchFamily="34" charset="-122"/>
                          <a:cs typeface="Consolas" pitchFamily="34" charset="-120"/>
                        </a:rPr>
                        <a:t>contoh_08_studi_kasus_menguji_pinjam_ruang_test.dart</a:t>
                      </a:r>
                      <a:endParaRPr lang="en-US" sz="11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Studi kasus "Pinjam Ruang Kampus"</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flutter test</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29768">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09</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00" dirty="0">
                          <a:solidFill>
                            <a:srgbClr val="1B2333"/>
                          </a:solidFill>
                          <a:latin typeface="Consolas" pitchFamily="34" charset="0"/>
                          <a:ea typeface="Consolas" pitchFamily="34" charset="-122"/>
                          <a:cs typeface="Consolas" pitchFamily="34" charset="-120"/>
                        </a:rPr>
                        <a:t>contoh_09_mencari_bug_dengan_debugger.dart</a:t>
                      </a:r>
                      <a:endParaRPr lang="en-US" sz="11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"Kasir Kantin" dengan tiga bug</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DartPad (gejala), VS Code</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100" dirty="0">
                          <a:solidFill>
                            <a:srgbClr val="1B2333"/>
                          </a:solidFill>
                          <a:latin typeface="Consolas" pitchFamily="34" charset="0"/>
                          <a:ea typeface="Consolas" pitchFamily="34" charset="-122"/>
                          <a:cs typeface="Consolas" pitchFamily="34" charset="-120"/>
                        </a:rPr>
                        <a:t>contoh_10_memperbaiki_tata_letak.dart</a:t>
                      </a:r>
                      <a:endParaRPr lang="en-US" sz="11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"Info Kegiatan Kampus": tata letak</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alibri" pitchFamily="34" charset="0"/>
                          <a:ea typeface="Calibri" pitchFamily="34" charset="-122"/>
                          <a:cs typeface="Calibri" pitchFamily="34" charset="-120"/>
                        </a:rPr>
                        <a:t>DartPad atau proyek Flutter</a:t>
                      </a:r>
                      <a:endParaRPr lang="en-US" sz="12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Mengapa Perlu Menguji?</a:t>
            </a:r>
            <a:endParaRPr lang="en-US" sz="4000" dirty="0"/>
          </a:p>
        </p:txBody>
      </p:sp>
      <p:sp>
        <p:nvSpPr>
          <p:cNvPr id="5" name="lingkaran uji"/>
          <p:cNvSpPr/>
          <p:nvPr/>
        </p:nvSpPr>
        <p:spPr>
          <a:xfrm>
            <a:off x="1097280" y="2148840"/>
            <a:ext cx="2011680" cy="2011680"/>
          </a:xfrm>
          <a:prstGeom prst="ellipse">
            <a:avLst/>
          </a:prstGeom>
          <a:solidFill>
            <a:schemeClr val="accent1"/>
          </a:solidFill>
          <a:ln/>
        </p:spPr>
      </p:sp>
      <p:pic>
        <p:nvPicPr>
          <p:cNvPr id="6" name="Image 0" descr="uji">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Bug yang Bersembunyi Dua Belas Minggu</a:t>
            </a:r>
            <a:endParaRPr lang="en-US" sz="3200" dirty="0"/>
          </a:p>
        </p:txBody>
      </p:sp>
      <p:sp>
        <p:nvSpPr>
          <p:cNvPr id="4" name="kotak kode"/>
          <p:cNvSpPr txBox="1"/>
          <p:nvPr/>
        </p:nvSpPr>
        <p:spPr>
          <a:xfrm>
            <a:off x="548640" y="1371600"/>
            <a:ext cx="6035040" cy="2331720"/>
          </a:xfrm>
          <a:prstGeom prst="roundRect">
            <a:avLst>
              <a:gd name="adj" fmla="val 3922"/>
            </a:avLst>
          </a:prstGeom>
          <a:solidFill>
            <a:srgbClr val="0E1A2B"/>
          </a:solidFill>
          <a:ln/>
        </p:spPr>
        <p:txBody>
          <a:bodyPr wrap="square" lIns="177800" tIns="152400" rIns="152400" bIns="177800" rtlCol="0" anchor="t"/>
          <a:lstStyle/>
          <a:p>
            <a:pPr indent="0" marL="0">
              <a:lnSpc>
                <a:spcPct val="105000"/>
              </a:lnSpc>
              <a:buNone/>
            </a:pPr>
            <a:r>
              <a:rPr lang="en-US" sz="1500" i="1" dirty="0">
                <a:solidFill>
                  <a:srgbClr val="8FA3BC"/>
                </a:solidFill>
                <a:latin typeface="Consolas" pitchFamily="34" charset="0"/>
                <a:ea typeface="Consolas" pitchFamily="34" charset="-122"/>
                <a:cs typeface="Consolas" pitchFamily="34" charset="-120"/>
              </a:rPr>
              <a:t>// Nilai akhir = 30% tugas + 30% UTS + 40% UAS</a:t>
            </a:r>
            <a:endParaRPr lang="en-US" sz="1500" dirty="0"/>
          </a:p>
          <a:p>
            <a:pPr indent="0" marL="0">
              <a:lnSpc>
                <a:spcPct val="105000"/>
              </a:lnSpc>
              <a:buNone/>
            </a:pPr>
            <a:r>
              <a:rPr lang="en-US" sz="1500" dirty="0">
                <a:solidFill>
                  <a:srgbClr val="FFCB6B"/>
                </a:solidFill>
                <a:latin typeface="Consolas" pitchFamily="34" charset="0"/>
                <a:ea typeface="Consolas" pitchFamily="34" charset="-122"/>
                <a:cs typeface="Consolas" pitchFamily="34" charset="-120"/>
              </a:rPr>
              <a:t>double</a:t>
            </a:r>
            <a:r>
              <a:rPr lang="en-US" sz="1500" dirty="0">
                <a:solidFill>
                  <a:srgbClr val="E6EDF3"/>
                </a:solidFill>
                <a:latin typeface="Consolas" pitchFamily="34" charset="0"/>
                <a:ea typeface="Consolas" pitchFamily="34" charset="-122"/>
                <a:cs typeface="Consolas" pitchFamily="34" charset="-120"/>
              </a:rPr>
              <a:t> hitungNilaiAkhir({</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C792EA"/>
                </a:solidFill>
                <a:latin typeface="Consolas" pitchFamily="34" charset="0"/>
                <a:ea typeface="Consolas" pitchFamily="34" charset="-122"/>
                <a:cs typeface="Consolas" pitchFamily="34" charset="-120"/>
              </a:rPr>
              <a:t>required</a:t>
            </a: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FFCB6B"/>
                </a:solidFill>
                <a:latin typeface="Consolas" pitchFamily="34" charset="0"/>
                <a:ea typeface="Consolas" pitchFamily="34" charset="-122"/>
                <a:cs typeface="Consolas" pitchFamily="34" charset="-120"/>
              </a:rPr>
              <a:t>int</a:t>
            </a:r>
            <a:r>
              <a:rPr lang="en-US" sz="1500" dirty="0">
                <a:solidFill>
                  <a:srgbClr val="E6EDF3"/>
                </a:solidFill>
                <a:latin typeface="Consolas" pitchFamily="34" charset="0"/>
                <a:ea typeface="Consolas" pitchFamily="34" charset="-122"/>
                <a:cs typeface="Consolas" pitchFamily="34" charset="-120"/>
              </a:rPr>
              <a:t> tugas,</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C792EA"/>
                </a:solidFill>
                <a:latin typeface="Consolas" pitchFamily="34" charset="0"/>
                <a:ea typeface="Consolas" pitchFamily="34" charset="-122"/>
                <a:cs typeface="Consolas" pitchFamily="34" charset="-120"/>
              </a:rPr>
              <a:t>required</a:t>
            </a: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FFCB6B"/>
                </a:solidFill>
                <a:latin typeface="Consolas" pitchFamily="34" charset="0"/>
                <a:ea typeface="Consolas" pitchFamily="34" charset="-122"/>
                <a:cs typeface="Consolas" pitchFamily="34" charset="-120"/>
              </a:rPr>
              <a:t>int</a:t>
            </a:r>
            <a:r>
              <a:rPr lang="en-US" sz="1500" dirty="0">
                <a:solidFill>
                  <a:srgbClr val="E6EDF3"/>
                </a:solidFill>
                <a:latin typeface="Consolas" pitchFamily="34" charset="0"/>
                <a:ea typeface="Consolas" pitchFamily="34" charset="-122"/>
                <a:cs typeface="Consolas" pitchFamily="34" charset="-120"/>
              </a:rPr>
              <a:t> uts,</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C792EA"/>
                </a:solidFill>
                <a:latin typeface="Consolas" pitchFamily="34" charset="0"/>
                <a:ea typeface="Consolas" pitchFamily="34" charset="-122"/>
                <a:cs typeface="Consolas" pitchFamily="34" charset="-120"/>
              </a:rPr>
              <a:t>required</a:t>
            </a: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FFCB6B"/>
                </a:solidFill>
                <a:latin typeface="Consolas" pitchFamily="34" charset="0"/>
                <a:ea typeface="Consolas" pitchFamily="34" charset="-122"/>
                <a:cs typeface="Consolas" pitchFamily="34" charset="-120"/>
              </a:rPr>
              <a:t>int</a:t>
            </a:r>
            <a:r>
              <a:rPr lang="en-US" sz="1500" dirty="0">
                <a:solidFill>
                  <a:srgbClr val="E6EDF3"/>
                </a:solidFill>
                <a:latin typeface="Consolas" pitchFamily="34" charset="0"/>
                <a:ea typeface="Consolas" pitchFamily="34" charset="-122"/>
                <a:cs typeface="Consolas" pitchFamily="34" charset="-120"/>
              </a:rPr>
              <a:t> uas,</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C792EA"/>
                </a:solidFill>
                <a:latin typeface="Consolas" pitchFamily="34" charset="0"/>
                <a:ea typeface="Consolas" pitchFamily="34" charset="-122"/>
                <a:cs typeface="Consolas" pitchFamily="34" charset="-120"/>
              </a:rPr>
              <a:t>return</a:t>
            </a:r>
            <a:r>
              <a:rPr lang="en-US" sz="1500" dirty="0">
                <a:solidFill>
                  <a:srgbClr val="E6EDF3"/>
                </a:solidFill>
                <a:latin typeface="Consolas" pitchFamily="34" charset="0"/>
                <a:ea typeface="Consolas" pitchFamily="34" charset="-122"/>
                <a:cs typeface="Consolas" pitchFamily="34" charset="-120"/>
              </a:rPr>
              <a:t> tugas * </a:t>
            </a:r>
            <a:r>
              <a:rPr lang="en-US" sz="1500" dirty="0">
                <a:solidFill>
                  <a:srgbClr val="F78C6C"/>
                </a:solidFill>
                <a:latin typeface="Consolas" pitchFamily="34" charset="0"/>
                <a:ea typeface="Consolas" pitchFamily="34" charset="-122"/>
                <a:cs typeface="Consolas" pitchFamily="34" charset="-120"/>
              </a:rPr>
              <a:t>0.3</a:t>
            </a:r>
            <a:r>
              <a:rPr lang="en-US" sz="1500" dirty="0">
                <a:solidFill>
                  <a:srgbClr val="E6EDF3"/>
                </a:solidFill>
                <a:latin typeface="Consolas" pitchFamily="34" charset="0"/>
                <a:ea typeface="Consolas" pitchFamily="34" charset="-122"/>
                <a:cs typeface="Consolas" pitchFamily="34" charset="-120"/>
              </a:rPr>
              <a:t> + uts * </a:t>
            </a:r>
            <a:r>
              <a:rPr lang="en-US" sz="1500" dirty="0">
                <a:solidFill>
                  <a:srgbClr val="F78C6C"/>
                </a:solidFill>
                <a:latin typeface="Consolas" pitchFamily="34" charset="0"/>
                <a:ea typeface="Consolas" pitchFamily="34" charset="-122"/>
                <a:cs typeface="Consolas" pitchFamily="34" charset="-120"/>
              </a:rPr>
              <a:t>0.3</a:t>
            </a:r>
            <a:r>
              <a:rPr lang="en-US" sz="1500" dirty="0">
                <a:solidFill>
                  <a:srgbClr val="E6EDF3"/>
                </a:solidFill>
                <a:latin typeface="Consolas" pitchFamily="34" charset="0"/>
                <a:ea typeface="Consolas" pitchFamily="34" charset="-122"/>
                <a:cs typeface="Consolas" pitchFamily="34" charset="-120"/>
              </a:rPr>
              <a:t> + uas * </a:t>
            </a:r>
            <a:r>
              <a:rPr lang="en-US" sz="1500" dirty="0">
                <a:solidFill>
                  <a:srgbClr val="F78C6C"/>
                </a:solidFill>
                <a:latin typeface="Consolas" pitchFamily="34" charset="0"/>
                <a:ea typeface="Consolas" pitchFamily="34" charset="-122"/>
                <a:cs typeface="Consolas" pitchFamily="34" charset="-120"/>
              </a:rPr>
              <a:t>0.4</a:t>
            </a:r>
            <a:r>
              <a:rPr lang="en-US" sz="1500" dirty="0">
                <a:solidFill>
                  <a:srgbClr val="E6EDF3"/>
                </a:solidFill>
                <a:latin typeface="Consolas" pitchFamily="34" charset="0"/>
                <a:ea typeface="Consolas" pitchFamily="34" charset="-122"/>
                <a:cs typeface="Consolas" pitchFamily="34" charset="-120"/>
              </a:rPr>
              <a:t>;</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a:t>
            </a:r>
            <a:endParaRPr lang="en-US" sz="1500" dirty="0"/>
          </a:p>
        </p:txBody>
      </p:sp>
      <p:sp>
        <p:nvSpPr>
          <p:cNvPr id="5" name="daftar poin"/>
          <p:cNvSpPr txBox="1"/>
          <p:nvPr/>
        </p:nvSpPr>
        <p:spPr>
          <a:xfrm>
            <a:off x="6995160" y="1417320"/>
            <a:ext cx="46478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Pertemuan 2: fungsi ini dipakai untuk merekap nilai satu kelas.</a:t>
            </a:r>
            <a:endParaRPr lang="en-US" sz="1700" dirty="0"/>
          </a:p>
          <a:p>
            <a:pPr marL="228600" indent="-228600">
              <a:spcAft>
                <a:spcPts val="800"/>
              </a:spcAft>
              <a:buSzPct val="100000"/>
              <a:buChar char="•"/>
            </a:pPr>
            <a:r>
              <a:rPr lang="en-US" sz="1700" dirty="0">
                <a:solidFill>
                  <a:schemeClr val="tx1"/>
                </a:solidFill>
              </a:rPr>
              <a:t>Andi, Budi, Citra, dan Dewi: hasilnya benar. Kita pun lanjut ke pertemuan berikutnya.</a:t>
            </a:r>
            <a:endParaRPr lang="en-US" sz="1700" dirty="0"/>
          </a:p>
          <a:p>
            <a:pPr marL="228600" indent="-228600">
              <a:spcAft>
                <a:spcPts val="800"/>
              </a:spcAft>
              <a:buSzPct val="100000"/>
              <a:buChar char="•"/>
            </a:pPr>
            <a:r>
              <a:rPr lang="en-US" sz="1700" dirty="0">
                <a:solidFill>
                  <a:schemeClr val="tx1"/>
                </a:solidFill>
              </a:rPr>
              <a:t>Dua belas minggu kemudian, saat fungsi ini akhirnya DIUJI, ternyata ada mahasiswa yang dirugikan.</a:t>
            </a:r>
            <a:endParaRPr lang="en-US" sz="1700" dirty="0"/>
          </a:p>
          <a:p>
            <a:pPr marL="228600" indent="-228600">
              <a:spcAft>
                <a:spcPts val="800"/>
              </a:spcAft>
              <a:buSzPct val="100000"/>
              <a:buChar char="•"/>
            </a:pPr>
            <a:r>
              <a:rPr lang="en-US" sz="1700" dirty="0">
                <a:solidFill>
                  <a:schemeClr val="tx1"/>
                </a:solidFill>
              </a:rPr>
              <a:t>Bug lolos karena kita hanya mencoba EMPAT data, dan kebetulan keempatnya aman.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Programnya Jalan, tetapi Belum Tentu Benar</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Fungsi yang sama, dengan data dua mahasiswa lain:</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825204"/>
                <a:gridCol w="825204"/>
                <a:gridCol w="825204"/>
                <a:gridCol w="2842371"/>
                <a:gridCol w="2567303"/>
                <a:gridCol w="1008583"/>
                <a:gridCol w="2200545"/>
              </a:tblGrid>
              <a:tr h="868680">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Tugas</a:t>
                      </a:r>
                      <a:endParaRPr lang="en-US" sz="19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UTS</a:t>
                      </a:r>
                      <a:endParaRPr lang="en-US" sz="19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UAS</a:t>
                      </a:r>
                      <a:endParaRPr lang="en-US" sz="19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Hitungan manual</a:t>
                      </a:r>
                      <a:endParaRPr lang="en-US" sz="19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Hasil komputer</a:t>
                      </a:r>
                      <a:endParaRPr lang="en-US" sz="19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Tampil</a:t>
                      </a:r>
                      <a:endParaRPr lang="en-US" sz="19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Huruf</a:t>
                      </a:r>
                      <a:endParaRPr lang="en-US" sz="19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868680">
                <a:tc>
                  <a:txBody>
                    <a:bodyPr/>
                    <a:lstStyle/>
                    <a:p>
                      <a:pPr indent="0" marL="0">
                        <a:buNone/>
                      </a:pPr>
                      <a:r>
                        <a:rPr lang="en-US" sz="1900" dirty="0">
                          <a:solidFill>
                            <a:srgbClr val="1B2333"/>
                          </a:solidFill>
                          <a:latin typeface="Calibri" pitchFamily="34" charset="0"/>
                          <a:ea typeface="Calibri" pitchFamily="34" charset="-122"/>
                          <a:cs typeface="Calibri" pitchFamily="34" charset="-120"/>
                        </a:rPr>
                        <a:t>60</a:t>
                      </a:r>
                      <a:endParaRPr lang="en-US" sz="19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900" dirty="0">
                          <a:solidFill>
                            <a:srgbClr val="1B2333"/>
                          </a:solidFill>
                          <a:latin typeface="Calibri" pitchFamily="34" charset="0"/>
                          <a:ea typeface="Calibri" pitchFamily="34" charset="-122"/>
                          <a:cs typeface="Calibri" pitchFamily="34" charset="-120"/>
                        </a:rPr>
                        <a:t>82</a:t>
                      </a:r>
                      <a:endParaRPr lang="en-US" sz="19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900" dirty="0">
                          <a:solidFill>
                            <a:srgbClr val="1B2333"/>
                          </a:solidFill>
                          <a:latin typeface="Calibri" pitchFamily="34" charset="0"/>
                          <a:ea typeface="Calibri" pitchFamily="34" charset="-122"/>
                          <a:cs typeface="Calibri" pitchFamily="34" charset="-120"/>
                        </a:rPr>
                        <a:t>31</a:t>
                      </a:r>
                      <a:endParaRPr lang="en-US" sz="19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900" dirty="0">
                          <a:solidFill>
                            <a:srgbClr val="1B2333"/>
                          </a:solidFill>
                          <a:latin typeface="Calibri" pitchFamily="34" charset="0"/>
                          <a:ea typeface="Calibri" pitchFamily="34" charset="-122"/>
                          <a:cs typeface="Calibri" pitchFamily="34" charset="-120"/>
                        </a:rPr>
                        <a:t>18 + 24,6 + 12,4 = 55</a:t>
                      </a:r>
                      <a:endParaRPr lang="en-US" sz="19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onsolas" pitchFamily="34" charset="0"/>
                          <a:ea typeface="Consolas" pitchFamily="34" charset="-122"/>
                          <a:cs typeface="Consolas" pitchFamily="34" charset="-120"/>
                        </a:rPr>
                        <a:t>54.99999999999999</a:t>
                      </a:r>
                      <a:endParaRPr lang="en-US" sz="17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900" dirty="0">
                          <a:solidFill>
                            <a:srgbClr val="1B2333"/>
                          </a:solidFill>
                          <a:latin typeface="Calibri" pitchFamily="34" charset="0"/>
                          <a:ea typeface="Calibri" pitchFamily="34" charset="-122"/>
                          <a:cs typeface="Calibri" pitchFamily="34" charset="-120"/>
                        </a:rPr>
                        <a:t>55.0</a:t>
                      </a:r>
                      <a:endParaRPr lang="en-US" sz="19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900" dirty="0">
                          <a:solidFill>
                            <a:srgbClr val="1B2333"/>
                          </a:solidFill>
                          <a:latin typeface="Calibri" pitchFamily="34" charset="0"/>
                          <a:ea typeface="Calibri" pitchFamily="34" charset="-122"/>
                          <a:cs typeface="Calibri" pitchFamily="34" charset="-120"/>
                        </a:rPr>
                        <a:t>D (seharusnya C)</a:t>
                      </a:r>
                      <a:endParaRPr lang="en-US" sz="19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868680">
                <a:tc>
                  <a:txBody>
                    <a:bodyPr/>
                    <a:lstStyle/>
                    <a:p>
                      <a:pPr indent="0" marL="0">
                        <a:buNone/>
                      </a:pPr>
                      <a:r>
                        <a:rPr lang="en-US" sz="1900" dirty="0">
                          <a:solidFill>
                            <a:srgbClr val="1B2333"/>
                          </a:solidFill>
                          <a:latin typeface="Calibri" pitchFamily="34" charset="0"/>
                          <a:ea typeface="Calibri" pitchFamily="34" charset="-122"/>
                          <a:cs typeface="Calibri" pitchFamily="34" charset="-120"/>
                        </a:rPr>
                        <a:t>15</a:t>
                      </a:r>
                      <a:endParaRPr lang="en-US" sz="19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900" dirty="0">
                          <a:solidFill>
                            <a:srgbClr val="1B2333"/>
                          </a:solidFill>
                          <a:latin typeface="Calibri" pitchFamily="34" charset="0"/>
                          <a:ea typeface="Calibri" pitchFamily="34" charset="-122"/>
                          <a:cs typeface="Calibri" pitchFamily="34" charset="-120"/>
                        </a:rPr>
                        <a:t>97</a:t>
                      </a:r>
                      <a:endParaRPr lang="en-US" sz="19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900" dirty="0">
                          <a:solidFill>
                            <a:srgbClr val="1B2333"/>
                          </a:solidFill>
                          <a:latin typeface="Calibri" pitchFamily="34" charset="0"/>
                          <a:ea typeface="Calibri" pitchFamily="34" charset="-122"/>
                          <a:cs typeface="Calibri" pitchFamily="34" charset="-120"/>
                        </a:rPr>
                        <a:t>16</a:t>
                      </a:r>
                      <a:endParaRPr lang="en-US" sz="19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900" dirty="0">
                          <a:solidFill>
                            <a:srgbClr val="1B2333"/>
                          </a:solidFill>
                          <a:latin typeface="Calibri" pitchFamily="34" charset="0"/>
                          <a:ea typeface="Calibri" pitchFamily="34" charset="-122"/>
                          <a:cs typeface="Calibri" pitchFamily="34" charset="-120"/>
                        </a:rPr>
                        <a:t>4,5 + 29,1 + 6,4 = 40</a:t>
                      </a:r>
                      <a:endParaRPr lang="en-US" sz="19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onsolas" pitchFamily="34" charset="0"/>
                          <a:ea typeface="Consolas" pitchFamily="34" charset="-122"/>
                          <a:cs typeface="Consolas" pitchFamily="34" charset="-120"/>
                        </a:rPr>
                        <a:t>39.99999999999999</a:t>
                      </a:r>
                      <a:endParaRPr lang="en-US" sz="17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900" dirty="0">
                          <a:solidFill>
                            <a:srgbClr val="1B2333"/>
                          </a:solidFill>
                          <a:latin typeface="Calibri" pitchFamily="34" charset="0"/>
                          <a:ea typeface="Calibri" pitchFamily="34" charset="-122"/>
                          <a:cs typeface="Calibri" pitchFamily="34" charset="-120"/>
                        </a:rPr>
                        <a:t>40.0</a:t>
                      </a:r>
                      <a:endParaRPr lang="en-US" sz="19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900" dirty="0">
                          <a:solidFill>
                            <a:srgbClr val="1B2333"/>
                          </a:solidFill>
                          <a:latin typeface="Calibri" pitchFamily="34" charset="0"/>
                          <a:ea typeface="Calibri" pitchFamily="34" charset="-122"/>
                          <a:cs typeface="Calibri" pitchFamily="34" charset="-120"/>
                        </a:rPr>
                        <a:t>E (seharusnya D)</a:t>
                      </a:r>
                      <a:endParaRPr lang="en-US" sz="19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6" name="lingkaran lampu"/>
          <p:cNvSpPr/>
          <p:nvPr/>
        </p:nvSpPr>
        <p:spPr>
          <a:xfrm>
            <a:off x="548640" y="5486400"/>
            <a:ext cx="502920" cy="502920"/>
          </a:xfrm>
          <a:prstGeom prst="ellipse">
            <a:avLst/>
          </a:prstGeom>
          <a:solidFill>
            <a:schemeClr val="accent3"/>
          </a:solidFill>
          <a:ln/>
        </p:spPr>
      </p:sp>
      <p:pic>
        <p:nvPicPr>
          <p:cNvPr id="7"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8" name="Text 3"/>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toStringAsFixed(1) menampilkan 55.0, tetapi hurufnya D. Dari 1.030.301 kombinasi nilai bulat 0–100 untuk tugas, UTS, dan UAS, ada 214 yang mendapat huruf salah.</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Tiga Jenis Tes</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Tes otomatis: kode kecil yang memeriksa kode lain, diulang dalam hitungan detik setiap kode berubah.</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2017166"/>
                <a:gridCol w="3484197"/>
                <a:gridCol w="2842371"/>
                <a:gridCol w="1375341"/>
                <a:gridCol w="1375341"/>
              </a:tblGrid>
              <a:tr h="804672">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Jenis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Yang diuji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Perumpamaan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Kecepatan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Keyakinan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804672">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Tes unit (unit test)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Satu fungsi, method, atau kelas. Tanpa layar, tanpa internet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Memeriksa satu busi motor di meja bengkel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Sangat cepat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Rendah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804672">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Tes widget (widget test)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Satu widget atau satu layar, di lingkungan uji tanpa perangkat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Menyalakan mesin motor di bangku uji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Cepat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Lebih tinggi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804672">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Tes integrasi (integration test)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Aplikasi utuh, di HP, emulator, atau desktop sungguhan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Test ride di jalan raya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Lambat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Paling tinggi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6" name="lingkaran lampu"/>
          <p:cNvSpPr/>
          <p:nvPr/>
        </p:nvSpPr>
        <p:spPr>
          <a:xfrm>
            <a:off x="548640" y="5486400"/>
            <a:ext cx="502920" cy="502920"/>
          </a:xfrm>
          <a:prstGeom prst="ellipse">
            <a:avLst/>
          </a:prstGeom>
          <a:solidFill>
            <a:schemeClr val="accent3"/>
          </a:solidFill>
          <a:ln/>
        </p:spPr>
      </p:sp>
      <p:pic>
        <p:nvPicPr>
          <p:cNvPr id="7"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8" name="Text 3"/>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Panduan resmi Flutter: BANYAK tes unit dan tes widget, ditambah tes integrasi SECUKUPNYA untuk alur terpenting.</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Janji dari Pertemuan-Pertemuan Sebelumnya</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467030"/>
                <a:gridCol w="6968393"/>
                <a:gridCol w="2658992"/>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Pertemuan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Yang sudah disiapkan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Dipakai hari ini di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ViewModel tanpa widget, diperiksa dengan pola "siapkan, lakukan, periksa"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Bagian 5</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Server palsu MockClient dari package:http/testing.dart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Bagian 4</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Repository memori dan SQLite di memori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Bagian 5 dan Jobsheet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Kontrak, data palsu, jam tetap, dan jalankanUji() yang mencetak LULUS/GAGAL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Bagian 9</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13</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Fitur perangkat di balik kontrak; PemilihFotoImagePicker({ImagePicker? pemilih})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Bagian 8</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jalankanUji() hanya mencetak teks. flutter test adalah test runner resmi: menemukan semua berkas tes, menjalankannya terpisah, melaporkan yang gagal beserta alasannya, dan bisa dijalankan otomatis oleh GitHub.</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2</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Tes Unit Pertama</a:t>
            </a:r>
            <a:endParaRPr lang="en-US" sz="4000" dirty="0"/>
          </a:p>
        </p:txBody>
      </p:sp>
      <p:sp>
        <p:nvSpPr>
          <p:cNvPr id="5" name="lingkaran centang"/>
          <p:cNvSpPr/>
          <p:nvPr/>
        </p:nvSpPr>
        <p:spPr>
          <a:xfrm>
            <a:off x="1097280" y="2148840"/>
            <a:ext cx="2011680" cy="2011680"/>
          </a:xfrm>
          <a:prstGeom prst="ellipse">
            <a:avLst/>
          </a:prstGeom>
          <a:solidFill>
            <a:schemeClr val="accent1"/>
          </a:solidFill>
          <a:ln/>
        </p:spPr>
      </p:sp>
      <p:pic>
        <p:nvPicPr>
          <p:cNvPr id="6" name="Image 0" descr="centang">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Folder test/ dan Paket flutter_test</a:t>
            </a:r>
            <a:endParaRPr lang="en-US" sz="3200" dirty="0"/>
          </a:p>
        </p:txBody>
      </p:sp>
      <p:sp>
        <p:nvSpPr>
          <p:cNvPr id="4" name="kotak kode"/>
          <p:cNvSpPr txBox="1"/>
          <p:nvPr/>
        </p:nvSpPr>
        <p:spPr>
          <a:xfrm>
            <a:off x="548640" y="1371600"/>
            <a:ext cx="7132320" cy="2491740"/>
          </a:xfrm>
          <a:prstGeom prst="roundRect">
            <a:avLst>
              <a:gd name="adj" fmla="val 3670"/>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dev_dependencies: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flutter_test: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sdk: flutter</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kasir_kantin/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lib/</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nilai.dart              ← kode yang diuji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main.dart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test/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nilai_test.dart         ← tesnya: nama sama + akhiran _test</a:t>
            </a:r>
            <a:endParaRPr lang="en-US" sz="1300" dirty="0"/>
          </a:p>
        </p:txBody>
      </p:sp>
      <p:sp>
        <p:nvSpPr>
          <p:cNvPr id="5"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pubspec.yaml setiap proyek dari flutter create sudah berisi dev_dependencies ini.</a:t>
            </a:r>
            <a:endParaRPr lang="en-US" sz="1700" dirty="0"/>
          </a:p>
          <a:p>
            <a:pPr marL="228600" indent="-228600">
              <a:spcAft>
                <a:spcPts val="800"/>
              </a:spcAft>
              <a:buSzPct val="100000"/>
              <a:buChar char="•"/>
            </a:pPr>
            <a:r>
              <a:rPr lang="en-US" sz="1700" dirty="0">
                <a:solidFill>
                  <a:schemeClr val="tx1"/>
                </a:solidFill>
              </a:rPr>
              <a:t>dev_dependencies: hanya dipakai SELAMA pengembangan, tidak ikut ke aplikasi rilis.</a:t>
            </a:r>
            <a:endParaRPr lang="en-US" sz="1700" dirty="0"/>
          </a:p>
          <a:p>
            <a:pPr marL="228600" indent="-228600">
              <a:spcAft>
                <a:spcPts val="800"/>
              </a:spcAft>
              <a:buSzPct val="100000"/>
              <a:buChar char="•"/>
            </a:pPr>
            <a:r>
              <a:rPr lang="en-US" sz="1700" dirty="0">
                <a:solidFill>
                  <a:schemeClr val="tx1"/>
                </a:solidFill>
              </a:rPr>
              <a:t>Susunan test/ MENCERMINKAN lib/; nama berkas tes berakhiran _test.dart.</a:t>
            </a:r>
            <a:endParaRPr lang="en-US" sz="1700" dirty="0"/>
          </a:p>
          <a:p>
            <a:pPr marL="228600" indent="-228600">
              <a:spcAft>
                <a:spcPts val="800"/>
              </a:spcAft>
              <a:buSzPct val="100000"/>
              <a:buChar char="•"/>
            </a:pPr>
            <a:r>
              <a:rPr lang="en-US" sz="1700" dirty="0">
                <a:solidFill>
                  <a:schemeClr val="tx1"/>
                </a:solidFill>
              </a:rPr>
              <a:t>test/widget_test.dart bawaan: hapus, atau ganti isinya setelah main.dart diganti.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Anatomi Sebuah Tes</a:t>
            </a:r>
            <a:endParaRPr lang="en-US" sz="3200" dirty="0"/>
          </a:p>
        </p:txBody>
      </p:sp>
      <p:sp>
        <p:nvSpPr>
          <p:cNvPr id="4" name="kotak kode"/>
          <p:cNvSpPr txBox="1"/>
          <p:nvPr/>
        </p:nvSpPr>
        <p:spPr>
          <a:xfrm>
            <a:off x="548640" y="1371600"/>
            <a:ext cx="6217920" cy="3547872"/>
          </a:xfrm>
          <a:prstGeom prst="roundRect">
            <a:avLst>
              <a:gd name="adj" fmla="val 2577"/>
            </a:avLst>
          </a:prstGeom>
          <a:solidFill>
            <a:srgbClr val="0E1A2B"/>
          </a:solidFill>
          <a:ln/>
        </p:spPr>
        <p:txBody>
          <a:bodyPr wrap="square" lIns="177800" tIns="152400" rIns="152400" bIns="177800" rtlCol="0" anchor="t"/>
          <a:lstStyle/>
          <a:p>
            <a:pPr indent="0" marL="0">
              <a:lnSpc>
                <a:spcPct val="105000"/>
              </a:lnSpc>
              <a:buNone/>
            </a:pPr>
            <a:r>
              <a:rPr lang="en-US" sz="1400" dirty="0">
                <a:solidFill>
                  <a:srgbClr val="C792EA"/>
                </a:solidFill>
                <a:latin typeface="Consolas" pitchFamily="34" charset="0"/>
                <a:ea typeface="Consolas" pitchFamily="34" charset="-122"/>
                <a:cs typeface="Consolas" pitchFamily="34" charset="-120"/>
              </a:rPr>
              <a:t>import</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3E88D"/>
                </a:solidFill>
                <a:latin typeface="Consolas" pitchFamily="34" charset="0"/>
                <a:ea typeface="Consolas" pitchFamily="34" charset="-122"/>
                <a:cs typeface="Consolas" pitchFamily="34" charset="-120"/>
              </a:rPr>
              <a:t>'package:flutter_test/flutter_test.dart'</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C792EA"/>
                </a:solidFill>
                <a:latin typeface="Consolas" pitchFamily="34" charset="0"/>
                <a:ea typeface="Consolas" pitchFamily="34" charset="-122"/>
                <a:cs typeface="Consolas" pitchFamily="34" charset="-120"/>
              </a:rPr>
              <a:t>void</a:t>
            </a:r>
            <a:r>
              <a:rPr lang="en-US" sz="1400" dirty="0">
                <a:solidFill>
                  <a:srgbClr val="E6EDF3"/>
                </a:solidFill>
                <a:latin typeface="Consolas" pitchFamily="34" charset="0"/>
                <a:ea typeface="Consolas" pitchFamily="34" charset="-122"/>
                <a:cs typeface="Consolas" pitchFamily="34" charset="-120"/>
              </a:rPr>
              <a:t> main()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test(</a:t>
            </a:r>
            <a:r>
              <a:rPr lang="en-US" sz="1400" dirty="0">
                <a:solidFill>
                  <a:srgbClr val="C3E88D"/>
                </a:solidFill>
                <a:latin typeface="Consolas" pitchFamily="34" charset="0"/>
                <a:ea typeface="Consolas" pitchFamily="34" charset="-122"/>
                <a:cs typeface="Consolas" pitchFamily="34" charset="-120"/>
              </a:rPr>
              <a:t>'nilai 90 mendapat huruf A'</a:t>
            </a:r>
            <a:r>
              <a:rPr lang="en-US" sz="1400" dirty="0">
                <a:solidFill>
                  <a:srgbClr val="E6EDF3"/>
                </a:solidFill>
                <a:latin typeface="Consolas" pitchFamily="34" charset="0"/>
                <a:ea typeface="Consolas" pitchFamily="34" charset="-122"/>
                <a:cs typeface="Consolas" pitchFamily="34" charset="-120"/>
              </a:rPr>
              <a:t>, ()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i="1" dirty="0">
                <a:solidFill>
                  <a:srgbClr val="8FA3BC"/>
                </a:solidFill>
                <a:latin typeface="Consolas" pitchFamily="34" charset="0"/>
                <a:ea typeface="Consolas" pitchFamily="34" charset="-122"/>
                <a:cs typeface="Consolas" pitchFamily="34" charset="-120"/>
              </a:rPr>
              <a:t>// 1. SIAPKAN data masukan.</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792EA"/>
                </a:solidFill>
                <a:latin typeface="Consolas" pitchFamily="34" charset="0"/>
                <a:ea typeface="Consolas" pitchFamily="34" charset="-122"/>
                <a:cs typeface="Consolas" pitchFamily="34" charset="-120"/>
              </a:rPr>
              <a:t>const</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double</a:t>
            </a:r>
            <a:r>
              <a:rPr lang="en-US" sz="1400" dirty="0">
                <a:solidFill>
                  <a:srgbClr val="E6EDF3"/>
                </a:solidFill>
                <a:latin typeface="Consolas" pitchFamily="34" charset="0"/>
                <a:ea typeface="Consolas" pitchFamily="34" charset="-122"/>
                <a:cs typeface="Consolas" pitchFamily="34" charset="-120"/>
              </a:rPr>
              <a:t> nilai = </a:t>
            </a:r>
            <a:r>
              <a:rPr lang="en-US" sz="1400" dirty="0">
                <a:solidFill>
                  <a:srgbClr val="F78C6C"/>
                </a:solidFill>
                <a:latin typeface="Consolas" pitchFamily="34" charset="0"/>
                <a:ea typeface="Consolas" pitchFamily="34" charset="-122"/>
                <a:cs typeface="Consolas" pitchFamily="34" charset="-120"/>
              </a:rPr>
              <a:t>90</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i="1" dirty="0">
                <a:solidFill>
                  <a:srgbClr val="8FA3BC"/>
                </a:solidFill>
                <a:latin typeface="Consolas" pitchFamily="34" charset="0"/>
                <a:ea typeface="Consolas" pitchFamily="34" charset="-122"/>
                <a:cs typeface="Consolas" pitchFamily="34" charset="-120"/>
              </a:rPr>
              <a:t>// 2. LAKUKAN hal yang diuji.</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792EA"/>
                </a:solidFill>
                <a:latin typeface="Consolas" pitchFamily="34" charset="0"/>
                <a:ea typeface="Consolas" pitchFamily="34" charset="-122"/>
                <a:cs typeface="Consolas" pitchFamily="34" charset="-120"/>
              </a:rPr>
              <a:t>final</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String</a:t>
            </a:r>
            <a:r>
              <a:rPr lang="en-US" sz="1400" dirty="0">
                <a:solidFill>
                  <a:srgbClr val="E6EDF3"/>
                </a:solidFill>
                <a:latin typeface="Consolas" pitchFamily="34" charset="0"/>
                <a:ea typeface="Consolas" pitchFamily="34" charset="-122"/>
                <a:cs typeface="Consolas" pitchFamily="34" charset="-120"/>
              </a:rPr>
              <a:t> huruf = nilaiHuruf(nilai);</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i="1" dirty="0">
                <a:solidFill>
                  <a:srgbClr val="8FA3BC"/>
                </a:solidFill>
                <a:latin typeface="Consolas" pitchFamily="34" charset="0"/>
                <a:ea typeface="Consolas" pitchFamily="34" charset="-122"/>
                <a:cs typeface="Consolas" pitchFamily="34" charset="-120"/>
              </a:rPr>
              <a:t>// 3. PERIKSA hasilnya.</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expect(huruf, </a:t>
            </a:r>
            <a:r>
              <a:rPr lang="en-US" sz="1400" dirty="0">
                <a:solidFill>
                  <a:srgbClr val="C3E88D"/>
                </a:solidFill>
                <a:latin typeface="Consolas" pitchFamily="34" charset="0"/>
                <a:ea typeface="Consolas" pitchFamily="34" charset="-122"/>
                <a:cs typeface="Consolas" pitchFamily="34" charset="-120"/>
              </a:rPr>
              <a:t>'A'</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p:txBody>
      </p:sp>
      <p:sp>
        <p:nvSpPr>
          <p:cNvPr id="5" name="tombol tautan">
            <a:hlinkClick r:id="rId1" tooltip="https://github.com/antonprafanto/mobile2026/blob/main/pertemuan_14_pengujian_dan_debugging/kode/contoh_01_tes_unit_pertama_test.dart"/>
          </p:cNvPr>
          <p:cNvSpPr txBox="1"/>
          <p:nvPr/>
        </p:nvSpPr>
        <p:spPr>
          <a:xfrm>
            <a:off x="548640" y="5148072"/>
            <a:ext cx="62179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contoh_01_tes_unit_pertama_test.dart</a:t>
            </a:r>
            <a:endParaRPr lang="en-US" sz="1300" dirty="0"/>
          </a:p>
        </p:txBody>
      </p:sp>
      <p:pic>
        <p:nvPicPr>
          <p:cNvPr id="6" name="Image 0" descr="ikon tautan">
            <a:hlinkClick r:id="rId3" tooltip="https://github.com/antonprafanto/mobile2026/blob/main/pertemuan_14_pengujian_dan_debugging/kode/contoh_01_tes_unit_pertama_test.dart"/>
          </p:cNvPr>
          <p:cNvPicPr>
            <a:picLocks noChangeAspect="1"/>
          </p:cNvPicPr>
          <p:nvPr/>
        </p:nvPicPr>
        <p:blipFill>
          <a:blip r:embed="rId2"/>
          <a:stretch>
            <a:fillRect/>
          </a:stretch>
        </p:blipFill>
        <p:spPr>
          <a:xfrm>
            <a:off x="694944" y="5239512"/>
            <a:ext cx="274320" cy="274320"/>
          </a:xfrm>
          <a:prstGeom prst="rect">
            <a:avLst/>
          </a:prstGeom>
        </p:spPr>
      </p:pic>
      <p:sp>
        <p:nvSpPr>
          <p:cNvPr id="7" name="daftar poin"/>
          <p:cNvSpPr txBox="1"/>
          <p:nvPr/>
        </p:nvSpPr>
        <p:spPr>
          <a:xfrm>
            <a:off x="7178040" y="1417320"/>
            <a:ext cx="44650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test('kalimat', () { ... }) = SATU tes. Kalimatnya menjelaskan perilaku yang diharapkan.</a:t>
            </a:r>
            <a:endParaRPr lang="en-US" sz="1700" dirty="0"/>
          </a:p>
          <a:p>
            <a:pPr marL="228600" indent="-228600">
              <a:spcAft>
                <a:spcPts val="800"/>
              </a:spcAft>
              <a:buSzPct val="100000"/>
              <a:buChar char="•"/>
            </a:pPr>
            <a:r>
              <a:rPr lang="en-US" sz="1700" dirty="0">
                <a:solidFill>
                  <a:schemeClr val="tx1"/>
                </a:solidFill>
              </a:rPr>
              <a:t>Siapkan → lakukan → periksa: pola Pertemuan 9 (Arrange → Act → Assert).</a:t>
            </a:r>
            <a:endParaRPr lang="en-US" sz="1700" dirty="0"/>
          </a:p>
          <a:p>
            <a:pPr marL="228600" indent="-228600">
              <a:spcAft>
                <a:spcPts val="800"/>
              </a:spcAft>
              <a:buSzPct val="100000"/>
              <a:buChar char="•"/>
            </a:pPr>
            <a:r>
              <a:rPr lang="en-US" sz="1700" dirty="0">
                <a:solidFill>
                  <a:schemeClr val="tx1"/>
                </a:solidFill>
              </a:rPr>
              <a:t>expect(aktual, harapan): hasil sebenarnya di KIRI, harapan di KANAN. Berbeda → tes gagal di baris itu.</a:t>
            </a:r>
            <a:endParaRPr lang="en-US" sz="1700" dirty="0"/>
          </a:p>
          <a:p>
            <a:pPr marL="228600" indent="-228600">
              <a:spcAft>
                <a:spcPts val="800"/>
              </a:spcAft>
              <a:buSzPct val="100000"/>
              <a:buChar char="•"/>
            </a:pPr>
            <a:r>
              <a:rPr lang="en-US" sz="1700" dirty="0">
                <a:solidFill>
                  <a:schemeClr val="tx1"/>
                </a:solidFill>
              </a:rPr>
              <a:t>Nama tes berupa kalimat: 'tepat 55 mendapat C, 54,9 mendapat D', bukan 'tes 3'.</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Tiga Cara Menjalankan Tes</a:t>
            </a:r>
            <a:endParaRPr lang="en-US" sz="3200" dirty="0"/>
          </a:p>
        </p:txBody>
      </p:sp>
      <p:sp>
        <p:nvSpPr>
          <p:cNvPr id="4" name="kotak kode"/>
          <p:cNvSpPr txBox="1"/>
          <p:nvPr/>
        </p:nvSpPr>
        <p:spPr>
          <a:xfrm>
            <a:off x="548640" y="1371600"/>
            <a:ext cx="6858000" cy="2907792"/>
          </a:xfrm>
          <a:prstGeom prst="roundRect">
            <a:avLst>
              <a:gd name="adj" fmla="val 3145"/>
            </a:avLst>
          </a:prstGeom>
          <a:solidFill>
            <a:srgbClr val="0E1A2B"/>
          </a:solidFill>
          <a:ln/>
        </p:spPr>
        <p:txBody>
          <a:bodyPr wrap="square" lIns="177800" tIns="152400" rIns="152400" bIns="177800" rtlCol="0" anchor="t"/>
          <a:lstStyle/>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A. DartPad: tempel Contoh 01, klik Run (panel Console)</a:t>
            </a:r>
            <a:endParaRPr lang="en-US" sz="1300" dirty="0"/>
          </a:p>
          <a:p>
            <a:pPr indent="0" marL="0">
              <a:lnSpc>
                <a:spcPct val="105000"/>
              </a:lnSpc>
              <a:buNone/>
            </a:pP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0</a:t>
            </a:r>
            <a:r>
              <a:rPr lang="en-US" sz="1300" dirty="0">
                <a:solidFill>
                  <a:srgbClr val="E6EDF3"/>
                </a:solidFill>
                <a:latin typeface="Consolas" pitchFamily="34" charset="0"/>
                <a:ea typeface="Consolas" pitchFamily="34" charset="-122"/>
                <a:cs typeface="Consolas" pitchFamily="34" charset="-120"/>
              </a:rPr>
              <a:t>: nilai </a:t>
            </a:r>
            <a:r>
              <a:rPr lang="en-US" sz="1300" dirty="0">
                <a:solidFill>
                  <a:srgbClr val="F78C6C"/>
                </a:solidFill>
                <a:latin typeface="Consolas" pitchFamily="34" charset="0"/>
                <a:ea typeface="Consolas" pitchFamily="34" charset="-122"/>
                <a:cs typeface="Consolas" pitchFamily="34" charset="-120"/>
              </a:rPr>
              <a:t>90</a:t>
            </a:r>
            <a:r>
              <a:rPr lang="en-US" sz="1300" dirty="0">
                <a:solidFill>
                  <a:srgbClr val="E6EDF3"/>
                </a:solidFill>
                <a:latin typeface="Consolas" pitchFamily="34" charset="0"/>
                <a:ea typeface="Consolas" pitchFamily="34" charset="-122"/>
                <a:cs typeface="Consolas" pitchFamily="34" charset="-120"/>
              </a:rPr>
              <a:t> mendapat huruf A</a:t>
            </a:r>
            <a:endParaRPr lang="en-US" sz="1300" dirty="0"/>
          </a:p>
          <a:p>
            <a:pPr indent="0" marL="0">
              <a:lnSpc>
                <a:spcPct val="105000"/>
              </a:lnSpc>
              <a:buNone/>
            </a:pP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1</a:t>
            </a:r>
            <a:r>
              <a:rPr lang="en-US" sz="1300" dirty="0">
                <a:solidFill>
                  <a:srgbClr val="E6EDF3"/>
                </a:solidFill>
                <a:latin typeface="Consolas" pitchFamily="34" charset="0"/>
                <a:ea typeface="Consolas" pitchFamily="34" charset="-122"/>
                <a:cs typeface="Consolas" pitchFamily="34" charset="-120"/>
              </a:rPr>
              <a:t>: nilai akhir memakai bobot </a:t>
            </a:r>
            <a:r>
              <a:rPr lang="en-US" sz="1300" dirty="0">
                <a:solidFill>
                  <a:srgbClr val="F78C6C"/>
                </a:solidFill>
                <a:latin typeface="Consolas" pitchFamily="34" charset="0"/>
                <a:ea typeface="Consolas" pitchFamily="34" charset="-122"/>
                <a:cs typeface="Consolas" pitchFamily="34" charset="-120"/>
              </a:rPr>
              <a:t>30</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30</a:t>
            </a:r>
            <a:r>
              <a:rPr lang="en-US" sz="1300" dirty="0">
                <a:solidFill>
                  <a:srgbClr val="E6EDF3"/>
                </a:solidFill>
                <a:latin typeface="Consolas" pitchFamily="34" charset="0"/>
                <a:ea typeface="Consolas" pitchFamily="34" charset="-122"/>
                <a:cs typeface="Consolas" pitchFamily="34" charset="-120"/>
              </a:rPr>
              <a:t>%, dan </a:t>
            </a:r>
            <a:r>
              <a:rPr lang="en-US" sz="1300" dirty="0">
                <a:solidFill>
                  <a:srgbClr val="F78C6C"/>
                </a:solidFill>
                <a:latin typeface="Consolas" pitchFamily="34" charset="0"/>
                <a:ea typeface="Consolas" pitchFamily="34" charset="-122"/>
                <a:cs typeface="Consolas" pitchFamily="34" charset="-120"/>
              </a:rPr>
              <a:t>40</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2</a:t>
            </a:r>
            <a:r>
              <a:rPr lang="en-US" sz="1300" dirty="0">
                <a:solidFill>
                  <a:srgbClr val="E6EDF3"/>
                </a:solidFill>
                <a:latin typeface="Consolas" pitchFamily="34" charset="0"/>
                <a:ea typeface="Consolas" pitchFamily="34" charset="-122"/>
                <a:cs typeface="Consolas" pitchFamily="34" charset="-120"/>
              </a:rPr>
              <a:t>: tepat </a:t>
            </a:r>
            <a:r>
              <a:rPr lang="en-US" sz="1300" dirty="0">
                <a:solidFill>
                  <a:srgbClr val="F78C6C"/>
                </a:solidFill>
                <a:latin typeface="Consolas" pitchFamily="34" charset="0"/>
                <a:ea typeface="Consolas" pitchFamily="34" charset="-122"/>
                <a:cs typeface="Consolas" pitchFamily="34" charset="-120"/>
              </a:rPr>
              <a:t>85</a:t>
            </a:r>
            <a:r>
              <a:rPr lang="en-US" sz="1300" dirty="0">
                <a:solidFill>
                  <a:srgbClr val="E6EDF3"/>
                </a:solidFill>
                <a:latin typeface="Consolas" pitchFamily="34" charset="0"/>
                <a:ea typeface="Consolas" pitchFamily="34" charset="-122"/>
                <a:cs typeface="Consolas" pitchFamily="34" charset="-120"/>
              </a:rPr>
              <a:t> mendapat A, </a:t>
            </a:r>
            <a:r>
              <a:rPr lang="en-US" sz="1300" dirty="0">
                <a:solidFill>
                  <a:srgbClr val="F78C6C"/>
                </a:solidFill>
                <a:latin typeface="Consolas" pitchFamily="34" charset="0"/>
                <a:ea typeface="Consolas" pitchFamily="34" charset="-122"/>
                <a:cs typeface="Consolas" pitchFamily="34" charset="-120"/>
              </a:rPr>
              <a:t>84</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78C6C"/>
                </a:solidFill>
                <a:latin typeface="Consolas" pitchFamily="34" charset="0"/>
                <a:ea typeface="Consolas" pitchFamily="34" charset="-122"/>
                <a:cs typeface="Consolas" pitchFamily="34" charset="-120"/>
              </a:rPr>
              <a:t>9</a:t>
            </a:r>
            <a:r>
              <a:rPr lang="en-US" sz="1300" dirty="0">
                <a:solidFill>
                  <a:srgbClr val="E6EDF3"/>
                </a:solidFill>
                <a:latin typeface="Consolas" pitchFamily="34" charset="0"/>
                <a:ea typeface="Consolas" pitchFamily="34" charset="-122"/>
                <a:cs typeface="Consolas" pitchFamily="34" charset="-120"/>
              </a:rPr>
              <a:t> mendapat B</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8</a:t>
            </a:r>
            <a:r>
              <a:rPr lang="en-US" sz="1300" dirty="0">
                <a:solidFill>
                  <a:srgbClr val="E6EDF3"/>
                </a:solidFill>
                <a:latin typeface="Consolas" pitchFamily="34" charset="0"/>
                <a:ea typeface="Consolas" pitchFamily="34" charset="-122"/>
                <a:cs typeface="Consolas" pitchFamily="34" charset="-120"/>
              </a:rPr>
              <a:t>: Andi (</a:t>
            </a:r>
            <a:r>
              <a:rPr lang="en-US" sz="1300" dirty="0">
                <a:solidFill>
                  <a:srgbClr val="F78C6C"/>
                </a:solidFill>
                <a:latin typeface="Consolas" pitchFamily="34" charset="0"/>
                <a:ea typeface="Consolas" pitchFamily="34" charset="-122"/>
                <a:cs typeface="Consolas" pitchFamily="34" charset="-120"/>
              </a:rPr>
              <a:t>85</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78</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90</a:t>
            </a:r>
            <a:r>
              <a:rPr lang="en-US" sz="1300" dirty="0">
                <a:solidFill>
                  <a:srgbClr val="E6EDF3"/>
                </a:solidFill>
                <a:latin typeface="Consolas" pitchFamily="34" charset="0"/>
                <a:ea typeface="Consolas" pitchFamily="34" charset="-122"/>
                <a:cs typeface="Consolas" pitchFamily="34" charset="-120"/>
              </a:rPr>
              <a:t>) tetap </a:t>
            </a:r>
            <a:r>
              <a:rPr lang="en-US" sz="1300" dirty="0">
                <a:solidFill>
                  <a:srgbClr val="F78C6C"/>
                </a:solidFill>
                <a:latin typeface="Consolas" pitchFamily="34" charset="0"/>
                <a:ea typeface="Consolas" pitchFamily="34" charset="-122"/>
                <a:cs typeface="Consolas" pitchFamily="34" charset="-120"/>
              </a:rPr>
              <a:t>84</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78C6C"/>
                </a:solidFill>
                <a:latin typeface="Consolas" pitchFamily="34" charset="0"/>
                <a:ea typeface="Consolas" pitchFamily="34" charset="-122"/>
                <a:cs typeface="Consolas" pitchFamily="34" charset="-120"/>
              </a:rPr>
              <a:t>9</a:t>
            </a:r>
            <a:r>
              <a:rPr lang="en-US" sz="1300" dirty="0">
                <a:solidFill>
                  <a:srgbClr val="E6EDF3"/>
                </a:solidFill>
                <a:latin typeface="Consolas" pitchFamily="34" charset="0"/>
                <a:ea typeface="Consolas" pitchFamily="34" charset="-122"/>
                <a:cs typeface="Consolas" pitchFamily="34" charset="-120"/>
              </a:rPr>
              <a:t> dan mendapat B</a:t>
            </a:r>
            <a:endParaRPr lang="en-US" sz="1300" dirty="0"/>
          </a:p>
          <a:p>
            <a:pPr indent="0" marL="0">
              <a:lnSpc>
                <a:spcPct val="105000"/>
              </a:lnSpc>
              <a:buNone/>
            </a:pP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9</a:t>
            </a:r>
            <a:r>
              <a:rPr lang="en-US" sz="1300" dirty="0">
                <a:solidFill>
                  <a:srgbClr val="E6EDF3"/>
                </a:solidFill>
                <a:latin typeface="Consolas" pitchFamily="34" charset="0"/>
                <a:ea typeface="Consolas" pitchFamily="34" charset="-122"/>
                <a:cs typeface="Consolas" pitchFamily="34" charset="-120"/>
              </a:rPr>
              <a:t>: All tests passed!</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B. Terminal, dari folder utama proyek</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flutter test                       </a:t>
            </a:r>
            <a:r>
              <a:rPr lang="en-US" sz="1300" i="1" dirty="0">
                <a:solidFill>
                  <a:srgbClr val="8FA3BC"/>
                </a:solidFill>
                <a:latin typeface="Consolas" pitchFamily="34" charset="0"/>
                <a:ea typeface="Consolas" pitchFamily="34" charset="-122"/>
                <a:cs typeface="Consolas" pitchFamily="34" charset="-120"/>
              </a:rPr>
              <a:t># semua tes di folder test/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flutter test test/nilai_test.dart  </a:t>
            </a:r>
            <a:r>
              <a:rPr lang="en-US" sz="1300" i="1" dirty="0">
                <a:solidFill>
                  <a:srgbClr val="8FA3BC"/>
                </a:solidFill>
                <a:latin typeface="Consolas" pitchFamily="34" charset="0"/>
                <a:ea typeface="Consolas" pitchFamily="34" charset="-122"/>
                <a:cs typeface="Consolas" pitchFamily="34" charset="-120"/>
              </a:rPr>
              <a:t># satu berkas saja</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flutter test --plain-name </a:t>
            </a:r>
            <a:r>
              <a:rPr lang="en-US" sz="1300" dirty="0">
                <a:solidFill>
                  <a:srgbClr val="C3E88D"/>
                </a:solidFill>
                <a:latin typeface="Consolas" pitchFamily="34" charset="0"/>
                <a:ea typeface="Consolas" pitchFamily="34" charset="-122"/>
                <a:cs typeface="Consolas" pitchFamily="34" charset="-120"/>
              </a:rPr>
              <a:t>"tepat 55"</a:t>
            </a:r>
            <a:endParaRPr lang="en-US" sz="1300" dirty="0"/>
          </a:p>
        </p:txBody>
      </p:sp>
      <p:sp>
        <p:nvSpPr>
          <p:cNvPr id="5" name="tombol tautan">
            <a:hlinkClick r:id="rId1" tooltip="https://github.com/antonprafanto/mobile2026/blob/main/pertemuan_14_pengujian_dan_debugging/kode/contoh_01_tes_unit_pertama_test.dart"/>
          </p:cNvPr>
          <p:cNvSpPr txBox="1"/>
          <p:nvPr/>
        </p:nvSpPr>
        <p:spPr>
          <a:xfrm>
            <a:off x="548640" y="4507992"/>
            <a:ext cx="685800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contoh_01_tes_unit_pertama_test.dart</a:t>
            </a:r>
            <a:endParaRPr lang="en-US" sz="1300" dirty="0"/>
          </a:p>
        </p:txBody>
      </p:sp>
      <p:pic>
        <p:nvPicPr>
          <p:cNvPr id="6" name="Image 0" descr="ikon tautan">
            <a:hlinkClick r:id="rId3" tooltip="https://github.com/antonprafanto/mobile2026/blob/main/pertemuan_14_pengujian_dan_debugging/kode/contoh_01_tes_unit_pertama_test.dart"/>
          </p:cNvPr>
          <p:cNvPicPr>
            <a:picLocks noChangeAspect="1"/>
          </p:cNvPicPr>
          <p:nvPr/>
        </p:nvPicPr>
        <p:blipFill>
          <a:blip r:embed="rId2"/>
          <a:stretch>
            <a:fillRect/>
          </a:stretch>
        </p:blipFill>
        <p:spPr>
          <a:xfrm>
            <a:off x="694944" y="4599432"/>
            <a:ext cx="274320" cy="274320"/>
          </a:xfrm>
          <a:prstGeom prst="rect">
            <a:avLst/>
          </a:prstGeom>
        </p:spPr>
      </p:pic>
      <p:sp>
        <p:nvSpPr>
          <p:cNvPr id="7" name="daftar poin"/>
          <p:cNvSpPr txBox="1"/>
          <p:nvPr/>
        </p:nvSpPr>
        <p:spPr>
          <a:xfrm>
            <a:off x="7818120" y="1417320"/>
            <a:ext cx="382493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Di terminal, hanya baris terakhir yang tersisa: 00:02 +9: All tests passed!</a:t>
            </a:r>
            <a:endParaRPr lang="en-US" sz="1700" dirty="0"/>
          </a:p>
          <a:p>
            <a:pPr marL="228600" indent="-228600">
              <a:spcAft>
                <a:spcPts val="800"/>
              </a:spcAft>
              <a:buSzPct val="100000"/>
              <a:buChar char="•"/>
            </a:pPr>
            <a:r>
              <a:rPr lang="en-US" sz="1700" dirty="0">
                <a:solidFill>
                  <a:schemeClr val="tx1"/>
                </a:solidFill>
              </a:rPr>
              <a:t>--plain-name: hanya tes yang namanya memuat "tepat 55".</a:t>
            </a:r>
            <a:endParaRPr lang="en-US" sz="1700" dirty="0"/>
          </a:p>
          <a:p>
            <a:pPr marL="228600" indent="-228600">
              <a:spcAft>
                <a:spcPts val="800"/>
              </a:spcAft>
              <a:buSzPct val="100000"/>
              <a:buChar char="•"/>
            </a:pPr>
            <a:r>
              <a:rPr lang="en-US" sz="1700" dirty="0">
                <a:solidFill>
                  <a:schemeClr val="tx1"/>
                </a:solidFill>
              </a:rPr>
              <a:t>C. VS Code: klik Run di atas test(, group(, atau void main(); atau panel Testing (ikon tabung reaksi).</a:t>
            </a:r>
            <a:endParaRPr lang="en-US" sz="1700" dirty="0"/>
          </a:p>
          <a:p>
            <a:pPr marL="228600" indent="-228600">
              <a:spcAft>
                <a:spcPts val="800"/>
              </a:spcAft>
              <a:buSzPct val="100000"/>
              <a:buChar char="•"/>
            </a:pPr>
            <a:r>
              <a:rPr lang="en-US" sz="1700" dirty="0">
                <a:solidFill>
                  <a:schemeClr val="tx1"/>
                </a:solidFill>
              </a:rPr>
              <a:t>Laporan: 00:02 = waktu, +9 lulus, -2 gagal, ~1 dilewati (skip: true).</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Membaca Tes yang Gagal</a:t>
            </a:r>
            <a:endParaRPr lang="en-US" sz="3200" dirty="0"/>
          </a:p>
        </p:txBody>
      </p:sp>
      <p:sp>
        <p:nvSpPr>
          <p:cNvPr id="4" name="kotak kode"/>
          <p:cNvSpPr txBox="1"/>
          <p:nvPr/>
        </p:nvSpPr>
        <p:spPr>
          <a:xfrm>
            <a:off x="548640" y="1371600"/>
            <a:ext cx="6766560" cy="2907792"/>
          </a:xfrm>
          <a:prstGeom prst="roundRect">
            <a:avLst>
              <a:gd name="adj" fmla="val 314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6</a:t>
            </a:r>
            <a:r>
              <a:rPr lang="en-US" sz="1300" dirty="0">
                <a:solidFill>
                  <a:srgbClr val="E6EDF3"/>
                </a:solidFill>
                <a:latin typeface="Consolas" pitchFamily="34" charset="0"/>
                <a:ea typeface="Consolas" pitchFamily="34" charset="-122"/>
                <a:cs typeface="Consolas" pitchFamily="34" charset="-120"/>
              </a:rPr>
              <a:t>: nilai </a:t>
            </a:r>
            <a:r>
              <a:rPr lang="en-US" sz="1300" dirty="0">
                <a:solidFill>
                  <a:srgbClr val="F78C6C"/>
                </a:solidFill>
                <a:latin typeface="Consolas" pitchFamily="34" charset="0"/>
                <a:ea typeface="Consolas" pitchFamily="34" charset="-122"/>
                <a:cs typeface="Consolas" pitchFamily="34" charset="-120"/>
              </a:rPr>
              <a:t>60</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82</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31</a:t>
            </a:r>
            <a:r>
              <a:rPr lang="en-US" sz="1300" dirty="0">
                <a:solidFill>
                  <a:srgbClr val="E6EDF3"/>
                </a:solidFill>
                <a:latin typeface="Consolas" pitchFamily="34" charset="0"/>
                <a:ea typeface="Consolas" pitchFamily="34" charset="-122"/>
                <a:cs typeface="Consolas" pitchFamily="34" charset="-120"/>
              </a:rPr>
              <a:t> tepat </a:t>
            </a:r>
            <a:r>
              <a:rPr lang="en-US" sz="1300" dirty="0">
                <a:solidFill>
                  <a:srgbClr val="F78C6C"/>
                </a:solidFill>
                <a:latin typeface="Consolas" pitchFamily="34" charset="0"/>
                <a:ea typeface="Consolas" pitchFamily="34" charset="-122"/>
                <a:cs typeface="Consolas" pitchFamily="34" charset="-120"/>
              </a:rPr>
              <a:t>55</a:t>
            </a:r>
            <a:r>
              <a:rPr lang="en-US" sz="1300" dirty="0">
                <a:solidFill>
                  <a:srgbClr val="E6EDF3"/>
                </a:solidFill>
                <a:latin typeface="Consolas" pitchFamily="34" charset="0"/>
                <a:ea typeface="Consolas" pitchFamily="34" charset="-122"/>
                <a:cs typeface="Consolas" pitchFamily="34" charset="-120"/>
              </a:rPr>
              <a:t>, jadi hurufnya C</a:t>
            </a:r>
            <a:endParaRPr lang="en-US" sz="1300" dirty="0"/>
          </a:p>
          <a:p>
            <a:pPr indent="0" marL="0">
              <a:lnSpc>
                <a:spcPct val="105000"/>
              </a:lnSpc>
              <a:buNone/>
            </a:pP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6</a:t>
            </a:r>
            <a:r>
              <a:rPr lang="en-US" sz="1300" dirty="0">
                <a:solidFill>
                  <a:srgbClr val="E6EDF3"/>
                </a:solidFill>
                <a:latin typeface="Consolas" pitchFamily="34" charset="0"/>
                <a:ea typeface="Consolas" pitchFamily="34" charset="-122"/>
                <a:cs typeface="Consolas" pitchFamily="34" charset="-120"/>
              </a:rPr>
              <a:t>: nilai </a:t>
            </a:r>
            <a:r>
              <a:rPr lang="en-US" sz="1300" dirty="0">
                <a:solidFill>
                  <a:srgbClr val="F78C6C"/>
                </a:solidFill>
                <a:latin typeface="Consolas" pitchFamily="34" charset="0"/>
                <a:ea typeface="Consolas" pitchFamily="34" charset="-122"/>
                <a:cs typeface="Consolas" pitchFamily="34" charset="-120"/>
              </a:rPr>
              <a:t>60</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82</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31</a:t>
            </a:r>
            <a:r>
              <a:rPr lang="en-US" sz="1300" dirty="0">
                <a:solidFill>
                  <a:srgbClr val="E6EDF3"/>
                </a:solidFill>
                <a:latin typeface="Consolas" pitchFamily="34" charset="0"/>
                <a:ea typeface="Consolas" pitchFamily="34" charset="-122"/>
                <a:cs typeface="Consolas" pitchFamily="34" charset="-120"/>
              </a:rPr>
              <a:t> tepat </a:t>
            </a:r>
            <a:r>
              <a:rPr lang="en-US" sz="1300" dirty="0">
                <a:solidFill>
                  <a:srgbClr val="F78C6C"/>
                </a:solidFill>
                <a:latin typeface="Consolas" pitchFamily="34" charset="0"/>
                <a:ea typeface="Consolas" pitchFamily="34" charset="-122"/>
                <a:cs typeface="Consolas" pitchFamily="34" charset="-120"/>
              </a:rPr>
              <a:t>55</a:t>
            </a:r>
            <a:r>
              <a:rPr lang="en-US" sz="1300" dirty="0">
                <a:solidFill>
                  <a:srgbClr val="E6EDF3"/>
                </a:solidFill>
                <a:latin typeface="Consolas" pitchFamily="34" charset="0"/>
                <a:ea typeface="Consolas" pitchFamily="34" charset="-122"/>
                <a:cs typeface="Consolas" pitchFamily="34" charset="-120"/>
              </a:rPr>
              <a:t>, jadi hurufnya C [E]</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Expected: &lt;</a:t>
            </a:r>
            <a:r>
              <a:rPr lang="en-US" sz="1300" dirty="0">
                <a:solidFill>
                  <a:srgbClr val="F78C6C"/>
                </a:solidFill>
                <a:latin typeface="Consolas" pitchFamily="34" charset="0"/>
                <a:ea typeface="Consolas" pitchFamily="34" charset="-122"/>
                <a:cs typeface="Consolas" pitchFamily="34" charset="-120"/>
              </a:rPr>
              <a:t>55</a:t>
            </a:r>
            <a:r>
              <a:rPr lang="en-US" sz="1300" dirty="0">
                <a:solidFill>
                  <a:srgbClr val="E6EDF3"/>
                </a:solidFill>
                <a:latin typeface="Consolas" pitchFamily="34" charset="0"/>
                <a:ea typeface="Consolas" pitchFamily="34" charset="-122"/>
                <a:cs typeface="Consolas" pitchFamily="34" charset="-120"/>
              </a:rPr>
              <a:t>&gt;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Actual: &lt;</a:t>
            </a:r>
            <a:r>
              <a:rPr lang="en-US" sz="1300" dirty="0">
                <a:solidFill>
                  <a:srgbClr val="F78C6C"/>
                </a:solidFill>
                <a:latin typeface="Consolas" pitchFamily="34" charset="0"/>
                <a:ea typeface="Consolas" pitchFamily="34" charset="-122"/>
                <a:cs typeface="Consolas" pitchFamily="34" charset="-120"/>
              </a:rPr>
              <a:t>54.99999999999999</a:t>
            </a:r>
            <a:r>
              <a:rPr lang="en-US" sz="1300" dirty="0">
                <a:solidFill>
                  <a:srgbClr val="E6EDF3"/>
                </a:solidFill>
                <a:latin typeface="Consolas" pitchFamily="34" charset="0"/>
                <a:ea typeface="Consolas" pitchFamily="34" charset="-122"/>
                <a:cs typeface="Consolas" pitchFamily="34" charset="-120"/>
              </a:rPr>
              <a:t>&gt;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(baris-baris lokasi galat)</a:t>
            </a:r>
            <a:endParaRPr lang="en-US" sz="1300" dirty="0"/>
          </a:p>
          <a:p>
            <a:pPr indent="0" marL="0">
              <a:lnSpc>
                <a:spcPct val="105000"/>
              </a:lnSpc>
              <a:buNone/>
            </a:pP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6</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1</a:t>
            </a:r>
            <a:r>
              <a:rPr lang="en-US" sz="1300" dirty="0">
                <a:solidFill>
                  <a:srgbClr val="E6EDF3"/>
                </a:solidFill>
                <a:latin typeface="Consolas" pitchFamily="34" charset="0"/>
                <a:ea typeface="Consolas" pitchFamily="34" charset="-122"/>
                <a:cs typeface="Consolas" pitchFamily="34" charset="-120"/>
              </a:rPr>
              <a:t>: nilai </a:t>
            </a:r>
            <a:r>
              <a:rPr lang="en-US" sz="1300" dirty="0">
                <a:solidFill>
                  <a:srgbClr val="F78C6C"/>
                </a:solidFill>
                <a:latin typeface="Consolas" pitchFamily="34" charset="0"/>
                <a:ea typeface="Consolas" pitchFamily="34" charset="-122"/>
                <a:cs typeface="Consolas" pitchFamily="34" charset="-120"/>
              </a:rPr>
              <a:t>15</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97</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16</a:t>
            </a:r>
            <a:r>
              <a:rPr lang="en-US" sz="1300" dirty="0">
                <a:solidFill>
                  <a:srgbClr val="E6EDF3"/>
                </a:solidFill>
                <a:latin typeface="Consolas" pitchFamily="34" charset="0"/>
                <a:ea typeface="Consolas" pitchFamily="34" charset="-122"/>
                <a:cs typeface="Consolas" pitchFamily="34" charset="-120"/>
              </a:rPr>
              <a:t> tepat </a:t>
            </a:r>
            <a:r>
              <a:rPr lang="en-US" sz="1300" dirty="0">
                <a:solidFill>
                  <a:srgbClr val="F78C6C"/>
                </a:solidFill>
                <a:latin typeface="Consolas" pitchFamily="34" charset="0"/>
                <a:ea typeface="Consolas" pitchFamily="34" charset="-122"/>
                <a:cs typeface="Consolas" pitchFamily="34" charset="-120"/>
              </a:rPr>
              <a:t>40</a:t>
            </a:r>
            <a:r>
              <a:rPr lang="en-US" sz="1300" dirty="0">
                <a:solidFill>
                  <a:srgbClr val="E6EDF3"/>
                </a:solidFill>
                <a:latin typeface="Consolas" pitchFamily="34" charset="0"/>
                <a:ea typeface="Consolas" pitchFamily="34" charset="-122"/>
                <a:cs typeface="Consolas" pitchFamily="34" charset="-120"/>
              </a:rPr>
              <a:t>, jadi hurufnya D</a:t>
            </a:r>
            <a:endParaRPr lang="en-US" sz="1300" dirty="0"/>
          </a:p>
          <a:p>
            <a:pPr indent="0" marL="0">
              <a:lnSpc>
                <a:spcPct val="105000"/>
              </a:lnSpc>
              <a:buNone/>
            </a:pP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6</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1</a:t>
            </a:r>
            <a:r>
              <a:rPr lang="en-US" sz="1300" dirty="0">
                <a:solidFill>
                  <a:srgbClr val="E6EDF3"/>
                </a:solidFill>
                <a:latin typeface="Consolas" pitchFamily="34" charset="0"/>
                <a:ea typeface="Consolas" pitchFamily="34" charset="-122"/>
                <a:cs typeface="Consolas" pitchFamily="34" charset="-120"/>
              </a:rPr>
              <a:t>: nilai </a:t>
            </a:r>
            <a:r>
              <a:rPr lang="en-US" sz="1300" dirty="0">
                <a:solidFill>
                  <a:srgbClr val="F78C6C"/>
                </a:solidFill>
                <a:latin typeface="Consolas" pitchFamily="34" charset="0"/>
                <a:ea typeface="Consolas" pitchFamily="34" charset="-122"/>
                <a:cs typeface="Consolas" pitchFamily="34" charset="-120"/>
              </a:rPr>
              <a:t>15</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97</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16</a:t>
            </a:r>
            <a:r>
              <a:rPr lang="en-US" sz="1300" dirty="0">
                <a:solidFill>
                  <a:srgbClr val="E6EDF3"/>
                </a:solidFill>
                <a:latin typeface="Consolas" pitchFamily="34" charset="0"/>
                <a:ea typeface="Consolas" pitchFamily="34" charset="-122"/>
                <a:cs typeface="Consolas" pitchFamily="34" charset="-120"/>
              </a:rPr>
              <a:t> tepat </a:t>
            </a:r>
            <a:r>
              <a:rPr lang="en-US" sz="1300" dirty="0">
                <a:solidFill>
                  <a:srgbClr val="F78C6C"/>
                </a:solidFill>
                <a:latin typeface="Consolas" pitchFamily="34" charset="0"/>
                <a:ea typeface="Consolas" pitchFamily="34" charset="-122"/>
                <a:cs typeface="Consolas" pitchFamily="34" charset="-120"/>
              </a:rPr>
              <a:t>40</a:t>
            </a:r>
            <a:r>
              <a:rPr lang="en-US" sz="1300" dirty="0">
                <a:solidFill>
                  <a:srgbClr val="E6EDF3"/>
                </a:solidFill>
                <a:latin typeface="Consolas" pitchFamily="34" charset="0"/>
                <a:ea typeface="Consolas" pitchFamily="34" charset="-122"/>
                <a:cs typeface="Consolas" pitchFamily="34" charset="-120"/>
              </a:rPr>
              <a:t>, jadi hurufnya D [E]</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Expected: &lt;</a:t>
            </a:r>
            <a:r>
              <a:rPr lang="en-US" sz="1300" dirty="0">
                <a:solidFill>
                  <a:srgbClr val="F78C6C"/>
                </a:solidFill>
                <a:latin typeface="Consolas" pitchFamily="34" charset="0"/>
                <a:ea typeface="Consolas" pitchFamily="34" charset="-122"/>
                <a:cs typeface="Consolas" pitchFamily="34" charset="-120"/>
              </a:rPr>
              <a:t>40</a:t>
            </a:r>
            <a:r>
              <a:rPr lang="en-US" sz="1300" dirty="0">
                <a:solidFill>
                  <a:srgbClr val="E6EDF3"/>
                </a:solidFill>
                <a:latin typeface="Consolas" pitchFamily="34" charset="0"/>
                <a:ea typeface="Consolas" pitchFamily="34" charset="-122"/>
                <a:cs typeface="Consolas" pitchFamily="34" charset="-120"/>
              </a:rPr>
              <a:t>&gt;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Actual: &lt;</a:t>
            </a:r>
            <a:r>
              <a:rPr lang="en-US" sz="1300" dirty="0">
                <a:solidFill>
                  <a:srgbClr val="F78C6C"/>
                </a:solidFill>
                <a:latin typeface="Consolas" pitchFamily="34" charset="0"/>
                <a:ea typeface="Consolas" pitchFamily="34" charset="-122"/>
                <a:cs typeface="Consolas" pitchFamily="34" charset="-120"/>
              </a:rPr>
              <a:t>39.99999999999999</a:t>
            </a:r>
            <a:r>
              <a:rPr lang="en-US" sz="1300" dirty="0">
                <a:solidFill>
                  <a:srgbClr val="E6EDF3"/>
                </a:solidFill>
                <a:latin typeface="Consolas" pitchFamily="34" charset="0"/>
                <a:ea typeface="Consolas" pitchFamily="34" charset="-122"/>
                <a:cs typeface="Consolas" pitchFamily="34" charset="-120"/>
              </a:rPr>
              <a:t>&gt;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(baris-baris lokasi galat)</a:t>
            </a:r>
            <a:endParaRPr lang="en-US" sz="1300" dirty="0"/>
          </a:p>
          <a:p>
            <a:pPr indent="0" marL="0">
              <a:lnSpc>
                <a:spcPct val="105000"/>
              </a:lnSpc>
              <a:buNone/>
            </a:pP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6</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2</a:t>
            </a:r>
            <a:r>
              <a:rPr lang="en-US" sz="1300" dirty="0">
                <a:solidFill>
                  <a:srgbClr val="E6EDF3"/>
                </a:solidFill>
                <a:latin typeface="Consolas" pitchFamily="34" charset="0"/>
                <a:ea typeface="Consolas" pitchFamily="34" charset="-122"/>
                <a:cs typeface="Consolas" pitchFamily="34" charset="-120"/>
              </a:rPr>
              <a:t>: Andi (</a:t>
            </a:r>
            <a:r>
              <a:rPr lang="en-US" sz="1300" dirty="0">
                <a:solidFill>
                  <a:srgbClr val="F78C6C"/>
                </a:solidFill>
                <a:latin typeface="Consolas" pitchFamily="34" charset="0"/>
                <a:ea typeface="Consolas" pitchFamily="34" charset="-122"/>
                <a:cs typeface="Consolas" pitchFamily="34" charset="-120"/>
              </a:rPr>
              <a:t>85</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78</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90</a:t>
            </a:r>
            <a:r>
              <a:rPr lang="en-US" sz="1300" dirty="0">
                <a:solidFill>
                  <a:srgbClr val="E6EDF3"/>
                </a:solidFill>
                <a:latin typeface="Consolas" pitchFamily="34" charset="0"/>
                <a:ea typeface="Consolas" pitchFamily="34" charset="-122"/>
                <a:cs typeface="Consolas" pitchFamily="34" charset="-120"/>
              </a:rPr>
              <a:t>) tetap </a:t>
            </a:r>
            <a:r>
              <a:rPr lang="en-US" sz="1300" dirty="0">
                <a:solidFill>
                  <a:srgbClr val="F78C6C"/>
                </a:solidFill>
                <a:latin typeface="Consolas" pitchFamily="34" charset="0"/>
                <a:ea typeface="Consolas" pitchFamily="34" charset="-122"/>
                <a:cs typeface="Consolas" pitchFamily="34" charset="-120"/>
              </a:rPr>
              <a:t>84</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78C6C"/>
                </a:solidFill>
                <a:latin typeface="Consolas" pitchFamily="34" charset="0"/>
                <a:ea typeface="Consolas" pitchFamily="34" charset="-122"/>
                <a:cs typeface="Consolas" pitchFamily="34" charset="-120"/>
              </a:rPr>
              <a:t>9</a:t>
            </a:r>
            <a:r>
              <a:rPr lang="en-US" sz="1300" dirty="0">
                <a:solidFill>
                  <a:srgbClr val="E6EDF3"/>
                </a:solidFill>
                <a:latin typeface="Consolas" pitchFamily="34" charset="0"/>
                <a:ea typeface="Consolas" pitchFamily="34" charset="-122"/>
                <a:cs typeface="Consolas" pitchFamily="34" charset="-120"/>
              </a:rPr>
              <a:t> dan mendapat B</a:t>
            </a:r>
            <a:endParaRPr lang="en-US" sz="1300" dirty="0"/>
          </a:p>
          <a:p>
            <a:pPr indent="0" marL="0">
              <a:lnSpc>
                <a:spcPct val="105000"/>
              </a:lnSpc>
              <a:buNone/>
            </a:pP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78C6C"/>
                </a:solidFill>
                <a:latin typeface="Consolas" pitchFamily="34" charset="0"/>
                <a:ea typeface="Consolas" pitchFamily="34" charset="-122"/>
                <a:cs typeface="Consolas" pitchFamily="34" charset="-120"/>
              </a:rPr>
              <a:t>00</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7</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2</a:t>
            </a:r>
            <a:r>
              <a:rPr lang="en-US" sz="1300" dirty="0">
                <a:solidFill>
                  <a:srgbClr val="E6EDF3"/>
                </a:solidFill>
                <a:latin typeface="Consolas" pitchFamily="34" charset="0"/>
                <a:ea typeface="Consolas" pitchFamily="34" charset="-122"/>
                <a:cs typeface="Consolas" pitchFamily="34" charset="-120"/>
              </a:rPr>
              <a:t>: Some tests failed.</a:t>
            </a:r>
            <a:endParaRPr lang="en-US" sz="1300" dirty="0"/>
          </a:p>
        </p:txBody>
      </p:sp>
      <p:sp>
        <p:nvSpPr>
          <p:cNvPr id="5" name="tombol tautan">
            <a:hlinkClick r:id="rId1" tooltip="https://github.com/antonprafanto/mobile2026/blob/main/pertemuan_14_pengujian_dan_debugging/kode/contoh_01_tes_unit_pertama_test.dart"/>
          </p:cNvPr>
          <p:cNvSpPr txBox="1"/>
          <p:nvPr/>
        </p:nvSpPr>
        <p:spPr>
          <a:xfrm>
            <a:off x="548640" y="4507992"/>
            <a:ext cx="67665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contoh_01_tes_unit_pertama_test.dart</a:t>
            </a:r>
            <a:endParaRPr lang="en-US" sz="1300" dirty="0"/>
          </a:p>
        </p:txBody>
      </p:sp>
      <p:pic>
        <p:nvPicPr>
          <p:cNvPr id="6" name="Image 0" descr="ikon tautan">
            <a:hlinkClick r:id="rId3" tooltip="https://github.com/antonprafanto/mobile2026/blob/main/pertemuan_14_pengujian_dan_debugging/kode/contoh_01_tes_unit_pertama_test.dart"/>
          </p:cNvPr>
          <p:cNvPicPr>
            <a:picLocks noChangeAspect="1"/>
          </p:cNvPicPr>
          <p:nvPr/>
        </p:nvPicPr>
        <p:blipFill>
          <a:blip r:embed="rId2"/>
          <a:stretch>
            <a:fillRect/>
          </a:stretch>
        </p:blipFill>
        <p:spPr>
          <a:xfrm>
            <a:off x="694944" y="4599432"/>
            <a:ext cx="274320" cy="274320"/>
          </a:xfrm>
          <a:prstGeom prst="rect">
            <a:avLst/>
          </a:prstGeom>
        </p:spPr>
      </p:pic>
      <p:sp>
        <p:nvSpPr>
          <p:cNvPr id="7"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[E]: tes ini gagal (error).</a:t>
            </a:r>
            <a:endParaRPr lang="en-US" sz="1700" dirty="0"/>
          </a:p>
          <a:p>
            <a:pPr marL="228600" indent="-228600">
              <a:spcAft>
                <a:spcPts val="800"/>
              </a:spcAft>
              <a:buSzPct val="100000"/>
              <a:buChar char="•"/>
            </a:pPr>
            <a:r>
              <a:rPr lang="en-US" sz="1700" dirty="0">
                <a:solidFill>
                  <a:schemeClr val="tx1"/>
                </a:solidFill>
              </a:rPr>
              <a:t>Expected: yang kita harapkan. Actual: yang sebenarnya dihasilkan kode.</a:t>
            </a:r>
            <a:endParaRPr lang="en-US" sz="1700" dirty="0"/>
          </a:p>
          <a:p>
            <a:pPr marL="228600" indent="-228600">
              <a:spcAft>
                <a:spcPts val="800"/>
              </a:spcAft>
              <a:buSzPct val="100000"/>
              <a:buChar char="•"/>
            </a:pPr>
            <a:r>
              <a:rPr lang="en-US" sz="1700" dirty="0">
                <a:solidFill>
                  <a:schemeClr val="tx1"/>
                </a:solidFill>
              </a:rPr>
              <a:t>Lokasi galat = stack trace; di terminal menunjuk baris tes, misalnya test/nilai_test.dart 79:5.</a:t>
            </a:r>
            <a:endParaRPr lang="en-US" sz="1700" dirty="0"/>
          </a:p>
          <a:p>
            <a:pPr marL="228600" indent="-228600">
              <a:spcAft>
                <a:spcPts val="800"/>
              </a:spcAft>
              <a:buSzPct val="100000"/>
              <a:buChar char="•"/>
            </a:pPr>
            <a:r>
              <a:rPr lang="en-US" sz="1700" dirty="0">
                <a:solidFill>
                  <a:schemeClr val="tx1"/>
                </a:solidFill>
              </a:rPr>
              <a:t>+7 -2: 7 lulus, 2 gagal.</a:t>
            </a:r>
            <a:endParaRPr lang="en-US" sz="1700" dirty="0"/>
          </a:p>
          <a:p>
            <a:pPr marL="228600" indent="-228600">
              <a:spcAft>
                <a:spcPts val="800"/>
              </a:spcAft>
              <a:buSzPct val="100000"/>
              <a:buChar char="•"/>
            </a:pPr>
            <a:r>
              <a:rPr lang="en-US" sz="1700" dirty="0">
                <a:solidFill>
                  <a:schemeClr val="tx1"/>
                </a:solidFill>
              </a:rPr>
              <a:t>Merah dulu, baru hijau: tes yang belum pernah merah belum terbukti bisa menangkap bug.</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Mengapa 54.99999999999999?</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double disimpan dalam biner. 0,3 dan 0,4 tidak bisa disimpan tepat, seperti 1/3 = 0,3333… dalam desimal.</a:t>
            </a:r>
            <a:endParaRPr lang="en-US" sz="1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2658992"/>
                <a:gridCol w="4584469"/>
                <a:gridCol w="3850954"/>
              </a:tblGrid>
              <a:tr h="7772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Cara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Contoh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Kapan dipakai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7772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Bulatkan hasilnya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(akhir * 100).round() / 100</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Nilai yang ditampilkan dan dibandingkan dengan batas. Dipakai di Contoh 01</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772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Hitung dengan bilangan bulat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(3 * tugas + 3 * uts + 4 * uas)</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Nilai × 10 dibandingkan dengan 550. Uang (rupiah sebagai int), poin, stok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7772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Bandingkan dengan toleransi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expect(hasil, closeTo(6666.67, 0.01))</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Hasil yang memang desimal, misalnya rata-rata (Bagian 3.5)</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6" name="lingkaran lampu"/>
          <p:cNvSpPr/>
          <p:nvPr/>
        </p:nvSpPr>
        <p:spPr>
          <a:xfrm>
            <a:off x="548640" y="5486400"/>
            <a:ext cx="502920" cy="502920"/>
          </a:xfrm>
          <a:prstGeom prst="ellipse">
            <a:avLst/>
          </a:prstGeom>
          <a:solidFill>
            <a:schemeClr val="accent3"/>
          </a:solidFill>
          <a:ln/>
        </p:spPr>
      </p:sp>
      <p:pic>
        <p:nvPicPr>
          <p:cNvPr id="7"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8" name="Text 3"/>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Uang JANGAN memakai double: simpan rupiah sebagai int. 0.1 + 0.2 di Dart menghasilkan 0.30000000000000004.</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Nilai Batas: Di Sinilah Bug Bersembunyi</a:t>
            </a:r>
            <a:endParaRPr lang="en-US" sz="3200" dirty="0"/>
          </a:p>
        </p:txBody>
      </p:sp>
      <p:sp>
        <p:nvSpPr>
          <p:cNvPr id="4" name="kotak kode"/>
          <p:cNvSpPr txBox="1"/>
          <p:nvPr/>
        </p:nvSpPr>
        <p:spPr>
          <a:xfrm>
            <a:off x="548640" y="1371600"/>
            <a:ext cx="6035040" cy="3675888"/>
          </a:xfrm>
          <a:prstGeom prst="roundRect">
            <a:avLst>
              <a:gd name="adj" fmla="val 2488"/>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nilaiHuruf(</a:t>
            </a:r>
            <a:r>
              <a:rPr lang="en-US" sz="1200" dirty="0">
                <a:solidFill>
                  <a:srgbClr val="FFCB6B"/>
                </a:solidFill>
                <a:latin typeface="Consolas" pitchFamily="34" charset="0"/>
                <a:ea typeface="Consolas" pitchFamily="34" charset="-122"/>
                <a:cs typeface="Consolas" pitchFamily="34" charset="-120"/>
              </a:rPr>
              <a:t>double</a:t>
            </a:r>
            <a:r>
              <a:rPr lang="en-US" sz="1200" dirty="0">
                <a:solidFill>
                  <a:srgbClr val="E6EDF3"/>
                </a:solidFill>
                <a:latin typeface="Consolas" pitchFamily="34" charset="0"/>
                <a:ea typeface="Consolas" pitchFamily="34" charset="-122"/>
                <a:cs typeface="Consolas" pitchFamily="34" charset="-120"/>
              </a:rPr>
              <a:t> angka)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(angka &gt;= </a:t>
            </a:r>
            <a:r>
              <a:rPr lang="en-US" sz="1200" dirty="0">
                <a:solidFill>
                  <a:srgbClr val="F78C6C"/>
                </a:solidFill>
                <a:latin typeface="Consolas" pitchFamily="34" charset="0"/>
                <a:ea typeface="Consolas" pitchFamily="34" charset="-122"/>
                <a:cs typeface="Consolas" pitchFamily="34" charset="-120"/>
              </a:rPr>
              <a:t>85</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'A'</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 </a:t>
            </a:r>
            <a:r>
              <a:rPr lang="en-US" sz="1200" dirty="0">
                <a:solidFill>
                  <a:srgbClr val="C792EA"/>
                </a:solidFill>
                <a:latin typeface="Consolas" pitchFamily="34" charset="0"/>
                <a:ea typeface="Consolas" pitchFamily="34" charset="-122"/>
                <a:cs typeface="Consolas" pitchFamily="34" charset="-120"/>
              </a:rPr>
              <a:t>else</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(angka &gt;= </a:t>
            </a:r>
            <a:r>
              <a:rPr lang="en-US" sz="1200" dirty="0">
                <a:solidFill>
                  <a:srgbClr val="F78C6C"/>
                </a:solidFill>
                <a:latin typeface="Consolas" pitchFamily="34" charset="0"/>
                <a:ea typeface="Consolas" pitchFamily="34" charset="-122"/>
                <a:cs typeface="Consolas" pitchFamily="34" charset="-120"/>
              </a:rPr>
              <a:t>70</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'B'</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 </a:t>
            </a:r>
            <a:r>
              <a:rPr lang="en-US" sz="1200" dirty="0">
                <a:solidFill>
                  <a:srgbClr val="C792EA"/>
                </a:solidFill>
                <a:latin typeface="Consolas" pitchFamily="34" charset="0"/>
                <a:ea typeface="Consolas" pitchFamily="34" charset="-122"/>
                <a:cs typeface="Consolas" pitchFamily="34" charset="-120"/>
              </a:rPr>
              <a:t>else</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(angka &gt;= </a:t>
            </a:r>
            <a:r>
              <a:rPr lang="en-US" sz="1200" dirty="0">
                <a:solidFill>
                  <a:srgbClr val="F78C6C"/>
                </a:solidFill>
                <a:latin typeface="Consolas" pitchFamily="34" charset="0"/>
                <a:ea typeface="Consolas" pitchFamily="34" charset="-122"/>
                <a:cs typeface="Consolas" pitchFamily="34" charset="-120"/>
              </a:rPr>
              <a:t>55</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'C'</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 </a:t>
            </a:r>
            <a:r>
              <a:rPr lang="en-US" sz="1200" dirty="0">
                <a:solidFill>
                  <a:srgbClr val="C792EA"/>
                </a:solidFill>
                <a:latin typeface="Consolas" pitchFamily="34" charset="0"/>
                <a:ea typeface="Consolas" pitchFamily="34" charset="-122"/>
                <a:cs typeface="Consolas" pitchFamily="34" charset="-120"/>
              </a:rPr>
              <a:t>else</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(angka &gt;= </a:t>
            </a:r>
            <a:r>
              <a:rPr lang="en-US" sz="1200" dirty="0">
                <a:solidFill>
                  <a:srgbClr val="F78C6C"/>
                </a:solidFill>
                <a:latin typeface="Consolas" pitchFamily="34" charset="0"/>
                <a:ea typeface="Consolas" pitchFamily="34" charset="-122"/>
                <a:cs typeface="Consolas" pitchFamily="34" charset="-120"/>
              </a:rPr>
              <a:t>40</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'D'</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'E'</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test(</a:t>
            </a:r>
            <a:r>
              <a:rPr lang="en-US" sz="1200" dirty="0">
                <a:solidFill>
                  <a:srgbClr val="C3E88D"/>
                </a:solidFill>
                <a:latin typeface="Consolas" pitchFamily="34" charset="0"/>
                <a:ea typeface="Consolas" pitchFamily="34" charset="-122"/>
                <a:cs typeface="Consolas" pitchFamily="34" charset="-120"/>
              </a:rPr>
              <a:t>'tepat 85 mendapat A, 84,9 mendapat B'</a:t>
            </a:r>
            <a:r>
              <a:rPr lang="en-US" sz="1200" dirty="0">
                <a:solidFill>
                  <a:srgbClr val="E6EDF3"/>
                </a:solidFill>
                <a:latin typeface="Consolas" pitchFamily="34" charset="0"/>
                <a:ea typeface="Consolas" pitchFamily="34" charset="-122"/>
                <a:cs typeface="Consolas" pitchFamily="34" charset="-120"/>
              </a:rPr>
              <a:t>, ()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expect(nilaiHuruf(</a:t>
            </a:r>
            <a:r>
              <a:rPr lang="en-US" sz="1200" dirty="0">
                <a:solidFill>
                  <a:srgbClr val="F78C6C"/>
                </a:solidFill>
                <a:latin typeface="Consolas" pitchFamily="34" charset="0"/>
                <a:ea typeface="Consolas" pitchFamily="34" charset="-122"/>
                <a:cs typeface="Consolas" pitchFamily="34" charset="-120"/>
              </a:rPr>
              <a:t>85</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'A'</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expect(nilaiHuruf(</a:t>
            </a:r>
            <a:r>
              <a:rPr lang="en-US" sz="1200" dirty="0">
                <a:solidFill>
                  <a:srgbClr val="F78C6C"/>
                </a:solidFill>
                <a:latin typeface="Consolas" pitchFamily="34" charset="0"/>
                <a:ea typeface="Consolas" pitchFamily="34" charset="-122"/>
                <a:cs typeface="Consolas" pitchFamily="34" charset="-120"/>
              </a:rPr>
              <a:t>84.9</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'B'</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4_pengujian_dan_debugging/kode/contoh_01_tes_unit_pertama_test.dart"/>
          </p:cNvPr>
          <p:cNvSpPr txBox="1"/>
          <p:nvPr/>
        </p:nvSpPr>
        <p:spPr>
          <a:xfrm>
            <a:off x="548640" y="5276088"/>
            <a:ext cx="60350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contoh_01_tes_unit_pertama_test.dart</a:t>
            </a:r>
            <a:endParaRPr lang="en-US" sz="1300" dirty="0"/>
          </a:p>
        </p:txBody>
      </p:sp>
      <p:pic>
        <p:nvPicPr>
          <p:cNvPr id="6" name="Image 0" descr="ikon tautan">
            <a:hlinkClick r:id="rId3" tooltip="https://github.com/antonprafanto/mobile2026/blob/main/pertemuan_14_pengujian_dan_debugging/kode/contoh_01_tes_unit_pertama_test.dart"/>
          </p:cNvPr>
          <p:cNvPicPr>
            <a:picLocks noChangeAspect="1"/>
          </p:cNvPicPr>
          <p:nvPr/>
        </p:nvPicPr>
        <p:blipFill>
          <a:blip r:embed="rId2"/>
          <a:stretch>
            <a:fillRect/>
          </a:stretch>
        </p:blipFill>
        <p:spPr>
          <a:xfrm>
            <a:off x="694944" y="5367528"/>
            <a:ext cx="274320" cy="274320"/>
          </a:xfrm>
          <a:prstGeom prst="rect">
            <a:avLst/>
          </a:prstGeom>
        </p:spPr>
      </p:pic>
      <p:sp>
        <p:nvSpPr>
          <p:cNvPr id="7" name="daftar poin"/>
          <p:cNvSpPr txBox="1"/>
          <p:nvPr/>
        </p:nvSpPr>
        <p:spPr>
          <a:xfrm>
            <a:off x="6995160" y="1417320"/>
            <a:ext cx="46478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Pilih data TEPAT di garis pemisah, dan SATU LANGKAH di bawahnya.</a:t>
            </a:r>
            <a:endParaRPr lang="en-US" sz="1700" dirty="0"/>
          </a:p>
          <a:p>
            <a:pPr marL="228600" indent="-228600">
              <a:spcAft>
                <a:spcPts val="800"/>
              </a:spcAft>
              <a:buSzPct val="100000"/>
              <a:buChar char="•"/>
            </a:pPr>
            <a:r>
              <a:rPr lang="en-US" sz="1700" dirty="0">
                <a:solidFill>
                  <a:schemeClr val="tx1"/>
                </a:solidFill>
              </a:rPr>
              <a:t>Nilai bulat → nilai akhir kelipatan 0,1: selangkah di bawah 85 adalah 84,9.</a:t>
            </a:r>
            <a:endParaRPr lang="en-US" sz="1700" dirty="0"/>
          </a:p>
          <a:p>
            <a:pPr marL="228600" indent="-228600">
              <a:spcAft>
                <a:spcPts val="800"/>
              </a:spcAft>
              <a:buSzPct val="100000"/>
              <a:buChar char="•"/>
            </a:pPr>
            <a:r>
              <a:rPr lang="en-US" sz="1700" dirty="0">
                <a:solidFill>
                  <a:schemeClr val="tx1"/>
                </a:solidFill>
              </a:rPr>
              <a:t>Kesalahan tersering di batas: &gt; dan &gt;= tertukar. Data yang jauh dari batas (90, 60) tidak pernah menangkapnya.</a:t>
            </a:r>
            <a:endParaRPr lang="en-US" sz="1700" dirty="0"/>
          </a:p>
          <a:p>
            <a:pPr marL="228600" indent="-228600">
              <a:spcAft>
                <a:spcPts val="800"/>
              </a:spcAft>
              <a:buSzPct val="100000"/>
              <a:buChar char="•"/>
            </a:pPr>
            <a:r>
              <a:rPr lang="en-US" sz="1700" dirty="0">
                <a:solidFill>
                  <a:schemeClr val="tx1"/>
                </a:solidFill>
              </a:rPr>
              <a:t>Pola ini muncul lagi: diskon Rp50.000 (Bagian 3), presensi 12.45 (Bagian 8), lama pinjam 30 menit (Bagian 9).</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3</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Matcher, Pengecualian, setUp, dan group</a:t>
            </a:r>
            <a:endParaRPr lang="en-US" sz="4000" dirty="0"/>
          </a:p>
        </p:txBody>
      </p:sp>
      <p:sp>
        <p:nvSpPr>
          <p:cNvPr id="5" name="lingkaran daftar"/>
          <p:cNvSpPr/>
          <p:nvPr/>
        </p:nvSpPr>
        <p:spPr>
          <a:xfrm>
            <a:off x="1097280" y="2148840"/>
            <a:ext cx="2011680" cy="2011680"/>
          </a:xfrm>
          <a:prstGeom prst="ellipse">
            <a:avLst/>
          </a:prstGeom>
          <a:solidFill>
            <a:schemeClr val="accent1"/>
          </a:solidFill>
          <a:ln/>
        </p:spPr>
      </p:sp>
      <p:pic>
        <p:nvPicPr>
          <p:cNvPr id="6" name="Image 0" descr="daftar">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Matcher: Cara Memeriksa yang Lebih Kaya</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567303"/>
                <a:gridCol w="3209128"/>
                <a:gridCol w="5317984"/>
              </a:tblGrid>
              <a:tr h="42062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Matcher</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Lulus jika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Contoh</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420624">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equals(x)</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Sama dengan x. List dan Map: isinya satu per satu</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expect(keranjang.total, 45000)</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isTrue, isFalse</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Bernilai true / false</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expect(keranjang.kosong, isTrue)</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20624">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isNull, isNotNull</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null / bukan null</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expect(vm.pesanKirim, isNull)</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isEmpty, isNotEmpty</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Kosong / tidak kosong (teks, List, Map)</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expect(keranjang.rincian, isEmpty)</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20624">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hasLength(n)</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Panjangnya 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expect(keranjang.rincian, hasLength(1))</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contains(x)</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Memuat x (teks atau anggota List)</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150" dirty="0">
                          <a:solidFill>
                            <a:srgbClr val="1B2333"/>
                          </a:solidFill>
                          <a:latin typeface="Consolas" pitchFamily="34" charset="0"/>
                          <a:ea typeface="Consolas" pitchFamily="34" charset="-122"/>
                          <a:cs typeface="Consolas" pitchFamily="34" charset="-120"/>
                        </a:rPr>
                        <a:t>expect(rincian, contains('3 x Nasi goreng = Rp36.000'))</a:t>
                      </a:r>
                      <a:endParaRPr lang="en-US" sz="115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20624">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startsWith(s)</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Teks diawali s</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expect(alasan, startsWith('Lokasi palsu'))</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greaterThan(n), lessThan(n)</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Lebih besar / lebih kecil dari 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expect(jarak, lessThan(100))</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20624">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closeTo(n, toleransi)</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Selisihnya dengan n tidak lebih dari toleransi</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expect(rataRata, closeTo(6666.67, 0.01))</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isA&lt;T&gt;()</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Bertipe T</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expect(hasil, isA&lt;Berhasil&lt;List&lt;JadwalBus&gt;&gt;&gt;())</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Menguji Exception: Bungkus dengan () =&gt;</a:t>
            </a:r>
            <a:endParaRPr lang="en-US" sz="3200" dirty="0"/>
          </a:p>
        </p:txBody>
      </p:sp>
      <p:sp>
        <p:nvSpPr>
          <p:cNvPr id="4" name="kotak kode"/>
          <p:cNvSpPr txBox="1"/>
          <p:nvPr/>
        </p:nvSpPr>
        <p:spPr>
          <a:xfrm>
            <a:off x="548640" y="1371600"/>
            <a:ext cx="7132320" cy="3355848"/>
          </a:xfrm>
          <a:prstGeom prst="roundRect">
            <a:avLst>
              <a:gd name="adj" fmla="val 2725"/>
            </a:avLst>
          </a:prstGeom>
          <a:solidFill>
            <a:srgbClr val="0E1A2B"/>
          </a:solidFill>
          <a:ln/>
        </p:spPr>
        <p:txBody>
          <a:bodyPr wrap="square" lIns="177800" tIns="152400" rIns="152400" bIns="177800" rtlCol="0" anchor="t"/>
          <a:lstStyle/>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test(</a:t>
            </a:r>
            <a:r>
              <a:rPr lang="en-US" sz="1150" dirty="0">
                <a:solidFill>
                  <a:srgbClr val="C3E88D"/>
                </a:solidFill>
                <a:latin typeface="Consolas" pitchFamily="34" charset="0"/>
                <a:ea typeface="Consolas" pitchFamily="34" charset="-122"/>
                <a:cs typeface="Consolas" pitchFamily="34" charset="-120"/>
              </a:rPr>
              <a:t>'jumlah 0 ditolak dengan ArgumentError'</a:t>
            </a:r>
            <a:r>
              <a:rPr lang="en-US" sz="1150" dirty="0">
                <a:solidFill>
                  <a:srgbClr val="E6EDF3"/>
                </a:solidFill>
                <a:latin typeface="Consolas" pitchFamily="34" charset="0"/>
                <a:ea typeface="Consolas" pitchFamily="34" charset="-122"/>
                <a:cs typeface="Consolas" pitchFamily="34" charset="-120"/>
              </a:rPr>
              <a:t>, ()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expect(() =&gt; keranjang.tambah(esTeh, jumlah: </a:t>
            </a:r>
            <a:r>
              <a:rPr lang="en-US" sz="1150" dirty="0">
                <a:solidFill>
                  <a:srgbClr val="F78C6C"/>
                </a:solidFill>
                <a:latin typeface="Consolas" pitchFamily="34" charset="0"/>
                <a:ea typeface="Consolas" pitchFamily="34" charset="-122"/>
                <a:cs typeface="Consolas" pitchFamily="34" charset="-120"/>
              </a:rPr>
              <a:t>0</a:t>
            </a:r>
            <a:r>
              <a:rPr lang="en-US" sz="1150" dirty="0">
                <a:solidFill>
                  <a:srgbClr val="E6EDF3"/>
                </a:solidFill>
                <a:latin typeface="Consolas" pitchFamily="34" charset="0"/>
                <a:ea typeface="Consolas" pitchFamily="34" charset="-122"/>
                <a:cs typeface="Consolas" pitchFamily="34" charset="-120"/>
              </a:rPr>
              <a:t>), throwsArgumentError);</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i="1" dirty="0">
                <a:solidFill>
                  <a:srgbClr val="8FA3BC"/>
                </a:solidFill>
                <a:latin typeface="Consolas" pitchFamily="34" charset="0"/>
                <a:ea typeface="Consolas" pitchFamily="34" charset="-122"/>
                <a:cs typeface="Consolas" pitchFamily="34" charset="-120"/>
              </a:rPr>
              <a:t>// Pesanan yang ditolak tidak boleh mengubah isi keranjang.</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expect(keranjang.kosong, isTrue);</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expect(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 =&gt; keranjang.tambah(esTeh),</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throwsA(</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isA&lt;</a:t>
            </a:r>
            <a:r>
              <a:rPr lang="en-US" sz="1150" dirty="0">
                <a:solidFill>
                  <a:srgbClr val="FFCB6B"/>
                </a:solidFill>
                <a:latin typeface="Consolas" pitchFamily="34" charset="0"/>
                <a:ea typeface="Consolas" pitchFamily="34" charset="-122"/>
                <a:cs typeface="Consolas" pitchFamily="34" charset="-120"/>
              </a:rPr>
              <a:t>StateError</a:t>
            </a:r>
            <a:r>
              <a:rPr lang="en-US" sz="1150" dirty="0">
                <a:solidFill>
                  <a:srgbClr val="E6EDF3"/>
                </a:solidFill>
                <a:latin typeface="Consolas" pitchFamily="34" charset="0"/>
                <a:ea typeface="Consolas" pitchFamily="34" charset="-122"/>
                <a:cs typeface="Consolas" pitchFamily="34" charset="-120"/>
              </a:rPr>
              <a:t>&gt;().having(</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StateError</a:t>
            </a:r>
            <a:r>
              <a:rPr lang="en-US" sz="1150" dirty="0">
                <a:solidFill>
                  <a:srgbClr val="E6EDF3"/>
                </a:solidFill>
                <a:latin typeface="Consolas" pitchFamily="34" charset="0"/>
                <a:ea typeface="Consolas" pitchFamily="34" charset="-122"/>
                <a:cs typeface="Consolas" pitchFamily="34" charset="-120"/>
              </a:rPr>
              <a:t> e) =&gt; e.message,</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3E88D"/>
                </a:solidFill>
                <a:latin typeface="Consolas" pitchFamily="34" charset="0"/>
                <a:ea typeface="Consolas" pitchFamily="34" charset="-122"/>
                <a:cs typeface="Consolas" pitchFamily="34" charset="-120"/>
              </a:rPr>
              <a:t>'message'</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contains(</a:t>
            </a:r>
            <a:r>
              <a:rPr lang="en-US" sz="1150" dirty="0">
                <a:solidFill>
                  <a:srgbClr val="C3E88D"/>
                </a:solidFill>
                <a:latin typeface="Consolas" pitchFamily="34" charset="0"/>
                <a:ea typeface="Consolas" pitchFamily="34" charset="-122"/>
                <a:cs typeface="Consolas" pitchFamily="34" charset="-120"/>
              </a:rPr>
              <a:t>'Paling banyak 10 porsi Es teh'</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p:txBody>
      </p:sp>
      <p:sp>
        <p:nvSpPr>
          <p:cNvPr id="5" name="tombol tautan">
            <a:hlinkClick r:id="rId1" tooltip="https://github.com/antonprafanto/mobile2026/blob/main/pertemuan_14_pengujian_dan_debugging/kode/contoh_02_matcher_setup_dan_group_test.dart"/>
          </p:cNvPr>
          <p:cNvSpPr txBox="1"/>
          <p:nvPr/>
        </p:nvSpPr>
        <p:spPr>
          <a:xfrm>
            <a:off x="548640" y="4956048"/>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contoh_02_matcher_setup_dan_group_test.dart</a:t>
            </a:r>
            <a:endParaRPr lang="en-US" sz="1300" dirty="0"/>
          </a:p>
        </p:txBody>
      </p:sp>
      <p:pic>
        <p:nvPicPr>
          <p:cNvPr id="6" name="Image 0" descr="ikon tautan">
            <a:hlinkClick r:id="rId3" tooltip="https://github.com/antonprafanto/mobile2026/blob/main/pertemuan_14_pengujian_dan_debugging/kode/contoh_02_matcher_setup_dan_group_test.dart"/>
          </p:cNvPr>
          <p:cNvPicPr>
            <a:picLocks noChangeAspect="1"/>
          </p:cNvPicPr>
          <p:nvPr/>
        </p:nvPicPr>
        <p:blipFill>
          <a:blip r:embed="rId2"/>
          <a:stretch>
            <a:fillRect/>
          </a:stretch>
        </p:blipFill>
        <p:spPr>
          <a:xfrm>
            <a:off x="694944" y="5047488"/>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Kode yang DIHARAPKAN melempar dibungkus () =&gt;, agar expect sendiri yang menjalankan dan menangkapnya.</a:t>
            </a:r>
            <a:endParaRPr lang="en-US" sz="1700" dirty="0"/>
          </a:p>
          <a:p>
            <a:pPr marL="228600" indent="-228600">
              <a:spcAft>
                <a:spcPts val="800"/>
              </a:spcAft>
              <a:buSzPct val="100000"/>
              <a:buChar char="•"/>
            </a:pPr>
            <a:r>
              <a:rPr lang="en-US" sz="1700" dirty="0">
                <a:solidFill>
                  <a:schemeClr val="tx1"/>
                </a:solidFill>
              </a:rPr>
              <a:t>throwsArgumentError: isi argumennya salah.</a:t>
            </a:r>
            <a:endParaRPr lang="en-US" sz="1700" dirty="0"/>
          </a:p>
          <a:p>
            <a:pPr marL="228600" indent="-228600">
              <a:spcAft>
                <a:spcPts val="800"/>
              </a:spcAft>
              <a:buSzPct val="100000"/>
              <a:buChar char="•"/>
            </a:pPr>
            <a:r>
              <a:rPr lang="en-US" sz="1700" dirty="0">
                <a:solidFill>
                  <a:schemeClr val="tx1"/>
                </a:solidFill>
              </a:rPr>
              <a:t>throwsStateError: argumen wajar, tetapi keadaan objek menolak.</a:t>
            </a:r>
            <a:endParaRPr lang="en-US" sz="1700" dirty="0"/>
          </a:p>
          <a:p>
            <a:pPr marL="228600" indent="-228600">
              <a:spcAft>
                <a:spcPts val="800"/>
              </a:spcAft>
              <a:buSzPct val="100000"/>
              <a:buChar char="•"/>
            </a:pPr>
            <a:r>
              <a:rPr lang="en-US" sz="1700" dirty="0">
                <a:solidFill>
                  <a:schemeClr val="tx1"/>
                </a:solidFill>
              </a:rPr>
              <a:t>throwsA(...) + isA&lt;T&gt;().having(...): jenis DAN pesannya sekaligus.</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setUp dan group: Setiap Tes Mulai dari Nol</a:t>
            </a:r>
            <a:endParaRPr lang="en-US" sz="3200" dirty="0"/>
          </a:p>
        </p:txBody>
      </p:sp>
      <p:sp>
        <p:nvSpPr>
          <p:cNvPr id="4" name="kotak kode"/>
          <p:cNvSpPr txBox="1"/>
          <p:nvPr/>
        </p:nvSpPr>
        <p:spPr>
          <a:xfrm>
            <a:off x="548640" y="1371600"/>
            <a:ext cx="6766560" cy="2811780"/>
          </a:xfrm>
          <a:prstGeom prst="roundRect">
            <a:avLst>
              <a:gd name="adj" fmla="val 3252"/>
            </a:avLst>
          </a:prstGeom>
          <a:solidFill>
            <a:srgbClr val="0E1A2B"/>
          </a:solidFill>
          <a:ln/>
        </p:spPr>
        <p:txBody>
          <a:bodyPr wrap="square" lIns="177800" tIns="152400" rIns="152400" bIns="177800" rtlCol="0" anchor="t"/>
          <a:lstStyle/>
          <a:p>
            <a:pPr indent="0" marL="0">
              <a:lnSpc>
                <a:spcPct val="105000"/>
              </a:lnSpc>
              <a:buNone/>
            </a:pPr>
            <a:r>
              <a:rPr lang="en-US" sz="1250" dirty="0">
                <a:solidFill>
                  <a:srgbClr val="C792EA"/>
                </a:solidFill>
                <a:latin typeface="Consolas" pitchFamily="34" charset="0"/>
                <a:ea typeface="Consolas" pitchFamily="34" charset="-122"/>
                <a:cs typeface="Consolas" pitchFamily="34" charset="-120"/>
              </a:rPr>
              <a:t>late</a:t>
            </a: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Keranjang</a:t>
            </a:r>
            <a:r>
              <a:rPr lang="en-US" sz="1250" dirty="0">
                <a:solidFill>
                  <a:srgbClr val="E6EDF3"/>
                </a:solidFill>
                <a:latin typeface="Consolas" pitchFamily="34" charset="0"/>
                <a:ea typeface="Consolas" pitchFamily="34" charset="-122"/>
                <a:cs typeface="Consolas" pitchFamily="34" charset="-120"/>
              </a:rPr>
              <a:t> keranjang; </a:t>
            </a:r>
            <a:r>
              <a:rPr lang="en-US" sz="1250" i="1" dirty="0">
                <a:solidFill>
                  <a:srgbClr val="8FA3BC"/>
                </a:solidFill>
                <a:latin typeface="Consolas" pitchFamily="34" charset="0"/>
                <a:ea typeface="Consolas" pitchFamily="34" charset="-122"/>
                <a:cs typeface="Consolas" pitchFamily="34" charset="-120"/>
              </a:rPr>
              <a:t>// diisi di setUp, sebelum dipakai</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group(</a:t>
            </a:r>
            <a:r>
              <a:rPr lang="en-US" sz="1250" dirty="0">
                <a:solidFill>
                  <a:srgbClr val="C3E88D"/>
                </a:solidFill>
                <a:latin typeface="Consolas" pitchFamily="34" charset="0"/>
                <a:ea typeface="Consolas" pitchFamily="34" charset="-122"/>
                <a:cs typeface="Consolas" pitchFamily="34" charset="-120"/>
              </a:rPr>
              <a:t>'Keranjang'</a:t>
            </a:r>
            <a:r>
              <a:rPr lang="en-US" sz="1250" dirty="0">
                <a:solidFill>
                  <a:srgbClr val="E6EDF3"/>
                </a:solidFill>
                <a:latin typeface="Consolas" pitchFamily="34" charset="0"/>
                <a:ea typeface="Consolas" pitchFamily="34" charset="-122"/>
                <a:cs typeface="Consolas" pitchFamily="34" charset="-120"/>
              </a:rPr>
              <a:t>, ()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setUp(() { keranjang = </a:t>
            </a:r>
            <a:r>
              <a:rPr lang="en-US" sz="1250" dirty="0">
                <a:solidFill>
                  <a:srgbClr val="FFCB6B"/>
                </a:solidFill>
                <a:latin typeface="Consolas" pitchFamily="34" charset="0"/>
                <a:ea typeface="Consolas" pitchFamily="34" charset="-122"/>
                <a:cs typeface="Consolas" pitchFamily="34" charset="-120"/>
              </a:rPr>
              <a:t>Keranjang</a:t>
            </a: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test(</a:t>
            </a:r>
            <a:r>
              <a:rPr lang="en-US" sz="1250" dirty="0">
                <a:solidFill>
                  <a:srgbClr val="C3E88D"/>
                </a:solidFill>
                <a:latin typeface="Consolas" pitchFamily="34" charset="0"/>
                <a:ea typeface="Consolas" pitchFamily="34" charset="-122"/>
                <a:cs typeface="Consolas" pitchFamily="34" charset="-120"/>
              </a:rPr>
              <a:t>'keranjang baru masih kosong'</a:t>
            </a:r>
            <a:r>
              <a:rPr lang="en-US" sz="1250" dirty="0">
                <a:solidFill>
                  <a:srgbClr val="E6EDF3"/>
                </a:solidFill>
                <a:latin typeface="Consolas" pitchFamily="34" charset="0"/>
                <a:ea typeface="Consolas" pitchFamily="34" charset="-122"/>
                <a:cs typeface="Consolas" pitchFamily="34" charset="-120"/>
              </a:rPr>
              <a:t>, () { ...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group(</a:t>
            </a:r>
            <a:r>
              <a:rPr lang="en-US" sz="1250" dirty="0">
                <a:solidFill>
                  <a:srgbClr val="C3E88D"/>
                </a:solidFill>
                <a:latin typeface="Consolas" pitchFamily="34" charset="0"/>
                <a:ea typeface="Consolas" pitchFamily="34" charset="-122"/>
                <a:cs typeface="Consolas" pitchFamily="34" charset="-120"/>
              </a:rPr>
              <a:t>'diskon 10% mulai Rp50.000'</a:t>
            </a:r>
            <a:r>
              <a:rPr lang="en-US" sz="1250" dirty="0">
                <a:solidFill>
                  <a:srgbClr val="E6EDF3"/>
                </a:solidFill>
                <a:latin typeface="Consolas" pitchFamily="34" charset="0"/>
                <a:ea typeface="Consolas" pitchFamily="34" charset="-122"/>
                <a:cs typeface="Consolas" pitchFamily="34" charset="-120"/>
              </a:rPr>
              <a:t>, ()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test(</a:t>
            </a:r>
            <a:r>
              <a:rPr lang="en-US" sz="1250" dirty="0">
                <a:solidFill>
                  <a:srgbClr val="C3E88D"/>
                </a:solidFill>
                <a:latin typeface="Consolas" pitchFamily="34" charset="0"/>
                <a:ea typeface="Consolas" pitchFamily="34" charset="-122"/>
                <a:cs typeface="Consolas" pitchFamily="34" charset="-120"/>
              </a:rPr>
              <a:t>'Rp49.000 belum mendapat diskon'</a:t>
            </a:r>
            <a:r>
              <a:rPr lang="en-US" sz="1250" dirty="0">
                <a:solidFill>
                  <a:srgbClr val="E6EDF3"/>
                </a:solidFill>
                <a:latin typeface="Consolas" pitchFamily="34" charset="0"/>
                <a:ea typeface="Consolas" pitchFamily="34" charset="-122"/>
                <a:cs typeface="Consolas" pitchFamily="34" charset="-120"/>
              </a:rPr>
              <a:t>, () { ...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test(</a:t>
            </a:r>
            <a:r>
              <a:rPr lang="en-US" sz="1250" dirty="0">
                <a:solidFill>
                  <a:srgbClr val="C3E88D"/>
                </a:solidFill>
                <a:latin typeface="Consolas" pitchFamily="34" charset="0"/>
                <a:ea typeface="Consolas" pitchFamily="34" charset="-122"/>
                <a:cs typeface="Consolas" pitchFamily="34" charset="-120"/>
              </a:rPr>
              <a:t>'tepat Rp50.000 mendapat diskon Rp5.000'</a:t>
            </a:r>
            <a:r>
              <a:rPr lang="en-US" sz="1250" dirty="0">
                <a:solidFill>
                  <a:srgbClr val="E6EDF3"/>
                </a:solidFill>
                <a:latin typeface="Consolas" pitchFamily="34" charset="0"/>
                <a:ea typeface="Consolas" pitchFamily="34" charset="-122"/>
                <a:cs typeface="Consolas" pitchFamily="34" charset="-120"/>
              </a:rPr>
              <a:t>, () { ...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p:txBody>
      </p:sp>
      <p:sp>
        <p:nvSpPr>
          <p:cNvPr id="5" name="tombol tautan">
            <a:hlinkClick r:id="rId1" tooltip="https://github.com/antonprafanto/mobile2026/blob/main/pertemuan_14_pengujian_dan_debugging/kode/contoh_02_matcher_setup_dan_group_test.dart"/>
          </p:cNvPr>
          <p:cNvSpPr txBox="1"/>
          <p:nvPr/>
        </p:nvSpPr>
        <p:spPr>
          <a:xfrm>
            <a:off x="548640" y="4411980"/>
            <a:ext cx="67665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contoh_02_matcher_setup_dan_group_test.dart</a:t>
            </a:r>
            <a:endParaRPr lang="en-US" sz="1300" dirty="0"/>
          </a:p>
        </p:txBody>
      </p:sp>
      <p:pic>
        <p:nvPicPr>
          <p:cNvPr id="6" name="Image 0" descr="ikon tautan">
            <a:hlinkClick r:id="rId3" tooltip="https://github.com/antonprafanto/mobile2026/blob/main/pertemuan_14_pengujian_dan_debugging/kode/contoh_02_matcher_setup_dan_group_test.dart"/>
          </p:cNvPr>
          <p:cNvPicPr>
            <a:picLocks noChangeAspect="1"/>
          </p:cNvPicPr>
          <p:nvPr/>
        </p:nvPicPr>
        <p:blipFill>
          <a:blip r:embed="rId2"/>
          <a:stretch>
            <a:fillRect/>
          </a:stretch>
        </p:blipFill>
        <p:spPr>
          <a:xfrm>
            <a:off x="694944" y="4503420"/>
            <a:ext cx="274320" cy="274320"/>
          </a:xfrm>
          <a:prstGeom prst="rect">
            <a:avLst/>
          </a:prstGeom>
        </p:spPr>
      </p:pic>
      <p:sp>
        <p:nvSpPr>
          <p:cNvPr id="7"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setUp: sebelum SETIAP tes di tingkatnya dan di dalamnya. tearDown: sesudah setiap tes, walaupun gagal.</a:t>
            </a:r>
            <a:endParaRPr lang="en-US" sz="1700" dirty="0"/>
          </a:p>
          <a:p>
            <a:pPr marL="228600" indent="-228600">
              <a:spcAft>
                <a:spcPts val="800"/>
              </a:spcAft>
              <a:buSzPct val="100000"/>
              <a:buChar char="•"/>
            </a:pPr>
            <a:r>
              <a:rPr lang="en-US" sz="1700" dirty="0">
                <a:solidFill>
                  <a:schemeClr val="tx1"/>
                </a:solidFill>
              </a:rPr>
              <a:t>setUpAll / tearDownAll: sekali saja, untuk persiapan yang mahal.</a:t>
            </a:r>
            <a:endParaRPr lang="en-US" sz="1700" dirty="0"/>
          </a:p>
          <a:p>
            <a:pPr marL="228600" indent="-228600">
              <a:spcAft>
                <a:spcPts val="800"/>
              </a:spcAft>
              <a:buSzPct val="100000"/>
              <a:buChar char="•"/>
            </a:pPr>
            <a:r>
              <a:rPr lang="en-US" sz="1700" dirty="0">
                <a:solidFill>
                  <a:schemeClr val="tx1"/>
                </a:solidFill>
              </a:rPr>
              <a:t>Tes harus MANDIRI. Buktikan dengan urutan acak: flutter test --test-randomize-ordering-seed random</a:t>
            </a:r>
            <a:endParaRPr lang="en-US" sz="1700" dirty="0"/>
          </a:p>
          <a:p>
            <a:pPr marL="228600" indent="-228600">
              <a:spcAft>
                <a:spcPts val="800"/>
              </a:spcAft>
              <a:buSzPct val="100000"/>
              <a:buChar char="•"/>
            </a:pPr>
            <a:r>
              <a:rPr lang="en-US" sz="1700" dirty="0">
                <a:solidFill>
                  <a:schemeClr val="tx1"/>
                </a:solidFill>
              </a:rPr>
              <a:t>Nama kelompok ikut tertulis: "Keranjang diskon 10% mulai Rp50.000 tepat Rp50.000 ..."</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closeTo dan Tabel Kasus</a:t>
            </a:r>
            <a:endParaRPr lang="en-US" sz="3200" dirty="0"/>
          </a:p>
        </p:txBody>
      </p:sp>
      <p:sp>
        <p:nvSpPr>
          <p:cNvPr id="4" name="kotak kode"/>
          <p:cNvSpPr txBox="1"/>
          <p:nvPr/>
        </p:nvSpPr>
        <p:spPr>
          <a:xfrm>
            <a:off x="548640" y="1371600"/>
            <a:ext cx="6400800" cy="3723894"/>
          </a:xfrm>
          <a:prstGeom prst="roundRect">
            <a:avLst>
              <a:gd name="adj" fmla="val 2455"/>
            </a:avLst>
          </a:prstGeom>
          <a:solidFill>
            <a:srgbClr val="0E1A2B"/>
          </a:solidFill>
          <a:ln/>
        </p:spPr>
        <p:txBody>
          <a:bodyPr wrap="square" lIns="177800" tIns="152400" rIns="152400" bIns="177800" rtlCol="0" anchor="t"/>
          <a:lstStyle/>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expect(keranjang.rataRataPerPorsi, closeTo(</a:t>
            </a:r>
            <a:r>
              <a:rPr lang="en-US" sz="1150" dirty="0">
                <a:solidFill>
                  <a:srgbClr val="F78C6C"/>
                </a:solidFill>
                <a:latin typeface="Consolas" pitchFamily="34" charset="0"/>
                <a:ea typeface="Consolas" pitchFamily="34" charset="-122"/>
                <a:cs typeface="Consolas" pitchFamily="34" charset="-120"/>
              </a:rPr>
              <a:t>6666.67</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78C6C"/>
                </a:solidFill>
                <a:latin typeface="Consolas" pitchFamily="34" charset="0"/>
                <a:ea typeface="Consolas" pitchFamily="34" charset="-122"/>
                <a:cs typeface="Consolas" pitchFamily="34" charset="-120"/>
              </a:rPr>
              <a:t>0.01</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group(</a:t>
            </a:r>
            <a:r>
              <a:rPr lang="en-US" sz="1150" dirty="0">
                <a:solidFill>
                  <a:srgbClr val="C3E88D"/>
                </a:solidFill>
                <a:latin typeface="Consolas" pitchFamily="34" charset="0"/>
                <a:ea typeface="Consolas" pitchFamily="34" charset="-122"/>
                <a:cs typeface="Consolas" pitchFamily="34" charset="-120"/>
              </a:rPr>
              <a:t>'rupiah()'</a:t>
            </a:r>
            <a:r>
              <a:rPr lang="en-US" sz="1150" dirty="0">
                <a:solidFill>
                  <a:srgbClr val="E6EDF3"/>
                </a:solidFill>
                <a:latin typeface="Consolas" pitchFamily="34" charset="0"/>
                <a:ea typeface="Consolas" pitchFamily="34" charset="-122"/>
                <a:cs typeface="Consolas" pitchFamily="34" charset="-120"/>
              </a:rPr>
              <a:t>, ()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const</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Map</a:t>
            </a:r>
            <a:r>
              <a:rPr lang="en-US" sz="1150" dirty="0">
                <a:solidFill>
                  <a:srgbClr val="E6EDF3"/>
                </a:solidFill>
                <a:latin typeface="Consolas" pitchFamily="34" charset="0"/>
                <a:ea typeface="Consolas" pitchFamily="34" charset="-122"/>
                <a:cs typeface="Consolas" pitchFamily="34" charset="-120"/>
              </a:rPr>
              <a:t>&lt;</a:t>
            </a:r>
            <a:r>
              <a:rPr lang="en-US" sz="1150" dirty="0">
                <a:solidFill>
                  <a:srgbClr val="FFCB6B"/>
                </a:solidFill>
                <a:latin typeface="Consolas" pitchFamily="34" charset="0"/>
                <a:ea typeface="Consolas" pitchFamily="34" charset="-122"/>
                <a:cs typeface="Consolas" pitchFamily="34" charset="-120"/>
              </a:rPr>
              <a:t>int</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String</a:t>
            </a:r>
            <a:r>
              <a:rPr lang="en-US" sz="1150" dirty="0">
                <a:solidFill>
                  <a:srgbClr val="E6EDF3"/>
                </a:solidFill>
                <a:latin typeface="Consolas" pitchFamily="34" charset="0"/>
                <a:ea typeface="Consolas" pitchFamily="34" charset="-122"/>
                <a:cs typeface="Consolas" pitchFamily="34" charset="-120"/>
              </a:rPr>
              <a:t>&gt; kasus =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78C6C"/>
                </a:solidFill>
                <a:latin typeface="Consolas" pitchFamily="34" charset="0"/>
                <a:ea typeface="Consolas" pitchFamily="34" charset="-122"/>
                <a:cs typeface="Consolas" pitchFamily="34" charset="-120"/>
              </a:rPr>
              <a:t>0</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3E88D"/>
                </a:solidFill>
                <a:latin typeface="Consolas" pitchFamily="34" charset="0"/>
                <a:ea typeface="Consolas" pitchFamily="34" charset="-122"/>
                <a:cs typeface="Consolas" pitchFamily="34" charset="-120"/>
              </a:rPr>
              <a:t>'Rp0'</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78C6C"/>
                </a:solidFill>
                <a:latin typeface="Consolas" pitchFamily="34" charset="0"/>
                <a:ea typeface="Consolas" pitchFamily="34" charset="-122"/>
                <a:cs typeface="Consolas" pitchFamily="34" charset="-120"/>
              </a:rPr>
              <a:t>500</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3E88D"/>
                </a:solidFill>
                <a:latin typeface="Consolas" pitchFamily="34" charset="0"/>
                <a:ea typeface="Consolas" pitchFamily="34" charset="-122"/>
                <a:cs typeface="Consolas" pitchFamily="34" charset="-120"/>
              </a:rPr>
              <a:t>'Rp500'</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78C6C"/>
                </a:solidFill>
                <a:latin typeface="Consolas" pitchFamily="34" charset="0"/>
                <a:ea typeface="Consolas" pitchFamily="34" charset="-122"/>
                <a:cs typeface="Consolas" pitchFamily="34" charset="-120"/>
              </a:rPr>
              <a:t>1000</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3E88D"/>
                </a:solidFill>
                <a:latin typeface="Consolas" pitchFamily="34" charset="0"/>
                <a:ea typeface="Consolas" pitchFamily="34" charset="-122"/>
                <a:cs typeface="Consolas" pitchFamily="34" charset="-120"/>
              </a:rPr>
              <a:t>'Rp1.000'</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78C6C"/>
                </a:solidFill>
                <a:latin typeface="Consolas" pitchFamily="34" charset="0"/>
                <a:ea typeface="Consolas" pitchFamily="34" charset="-122"/>
                <a:cs typeface="Consolas" pitchFamily="34" charset="-120"/>
              </a:rPr>
              <a:t>12500</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3E88D"/>
                </a:solidFill>
                <a:latin typeface="Consolas" pitchFamily="34" charset="0"/>
                <a:ea typeface="Consolas" pitchFamily="34" charset="-122"/>
                <a:cs typeface="Consolas" pitchFamily="34" charset="-120"/>
              </a:rPr>
              <a:t>'Rp12.500'</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78C6C"/>
                </a:solidFill>
                <a:latin typeface="Consolas" pitchFamily="34" charset="0"/>
                <a:ea typeface="Consolas" pitchFamily="34" charset="-122"/>
                <a:cs typeface="Consolas" pitchFamily="34" charset="-120"/>
              </a:rPr>
              <a:t>150000</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3E88D"/>
                </a:solidFill>
                <a:latin typeface="Consolas" pitchFamily="34" charset="0"/>
                <a:ea typeface="Consolas" pitchFamily="34" charset="-122"/>
                <a:cs typeface="Consolas" pitchFamily="34" charset="-120"/>
              </a:rPr>
              <a:t>'Rp150.000'</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78C6C"/>
                </a:solidFill>
                <a:latin typeface="Consolas" pitchFamily="34" charset="0"/>
                <a:ea typeface="Consolas" pitchFamily="34" charset="-122"/>
                <a:cs typeface="Consolas" pitchFamily="34" charset="-120"/>
              </a:rPr>
              <a:t>1000000</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3E88D"/>
                </a:solidFill>
                <a:latin typeface="Consolas" pitchFamily="34" charset="0"/>
                <a:ea typeface="Consolas" pitchFamily="34" charset="-122"/>
                <a:cs typeface="Consolas" pitchFamily="34" charset="-120"/>
              </a:rPr>
              <a:t>'Rp1.000.000'</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78C6C"/>
                </a:solidFill>
                <a:latin typeface="Consolas" pitchFamily="34" charset="0"/>
                <a:ea typeface="Consolas" pitchFamily="34" charset="-122"/>
                <a:cs typeface="Consolas" pitchFamily="34" charset="-120"/>
              </a:rPr>
              <a:t>2500</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3E88D"/>
                </a:solidFill>
                <a:latin typeface="Consolas" pitchFamily="34" charset="0"/>
                <a:ea typeface="Consolas" pitchFamily="34" charset="-122"/>
                <a:cs typeface="Consolas" pitchFamily="34" charset="-120"/>
              </a:rPr>
              <a:t>'-Rp2.500'</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kasus.forEach((</a:t>
            </a:r>
            <a:r>
              <a:rPr lang="en-US" sz="1150" dirty="0">
                <a:solidFill>
                  <a:srgbClr val="FFCB6B"/>
                </a:solidFill>
                <a:latin typeface="Consolas" pitchFamily="34" charset="0"/>
                <a:ea typeface="Consolas" pitchFamily="34" charset="-122"/>
                <a:cs typeface="Consolas" pitchFamily="34" charset="-120"/>
              </a:rPr>
              <a:t>int</a:t>
            </a:r>
            <a:r>
              <a:rPr lang="en-US" sz="1150" dirty="0">
                <a:solidFill>
                  <a:srgbClr val="E6EDF3"/>
                </a:solidFill>
                <a:latin typeface="Consolas" pitchFamily="34" charset="0"/>
                <a:ea typeface="Consolas" pitchFamily="34" charset="-122"/>
                <a:cs typeface="Consolas" pitchFamily="34" charset="-120"/>
              </a:rPr>
              <a:t> angka, </a:t>
            </a:r>
            <a:r>
              <a:rPr lang="en-US" sz="1150" dirty="0">
                <a:solidFill>
                  <a:srgbClr val="FFCB6B"/>
                </a:solidFill>
                <a:latin typeface="Consolas" pitchFamily="34" charset="0"/>
                <a:ea typeface="Consolas" pitchFamily="34" charset="-122"/>
                <a:cs typeface="Consolas" pitchFamily="34" charset="-120"/>
              </a:rPr>
              <a:t>String</a:t>
            </a:r>
            <a:r>
              <a:rPr lang="en-US" sz="1150" dirty="0">
                <a:solidFill>
                  <a:srgbClr val="E6EDF3"/>
                </a:solidFill>
                <a:latin typeface="Consolas" pitchFamily="34" charset="0"/>
                <a:ea typeface="Consolas" pitchFamily="34" charset="-122"/>
                <a:cs typeface="Consolas" pitchFamily="34" charset="-120"/>
              </a:rPr>
              <a:t> harapan)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test(</a:t>
            </a:r>
            <a:r>
              <a:rPr lang="en-US" sz="1150" dirty="0">
                <a:solidFill>
                  <a:srgbClr val="C3E88D"/>
                </a:solidFill>
                <a:latin typeface="Consolas" pitchFamily="34" charset="0"/>
                <a:ea typeface="Consolas" pitchFamily="34" charset="-122"/>
                <a:cs typeface="Consolas" pitchFamily="34" charset="-120"/>
              </a:rPr>
              <a:t>'$angka menjadi $harapan'</a:t>
            </a:r>
            <a:r>
              <a:rPr lang="en-US" sz="1150" dirty="0">
                <a:solidFill>
                  <a:srgbClr val="E6EDF3"/>
                </a:solidFill>
                <a:latin typeface="Consolas" pitchFamily="34" charset="0"/>
                <a:ea typeface="Consolas" pitchFamily="34" charset="-122"/>
                <a:cs typeface="Consolas" pitchFamily="34" charset="-120"/>
              </a:rPr>
              <a:t>, ()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expect(rupiah(angka), harapan);</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p:txBody>
      </p:sp>
      <p:sp>
        <p:nvSpPr>
          <p:cNvPr id="5" name="tombol tautan">
            <a:hlinkClick r:id="rId1" tooltip="https://github.com/antonprafanto/mobile2026/blob/main/pertemuan_14_pengujian_dan_debugging/kode/contoh_02_matcher_setup_dan_group_test.dart"/>
          </p:cNvPr>
          <p:cNvSpPr txBox="1"/>
          <p:nvPr/>
        </p:nvSpPr>
        <p:spPr>
          <a:xfrm>
            <a:off x="548640" y="5324094"/>
            <a:ext cx="640080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contoh_02_matcher_setup_dan_group_test.dart</a:t>
            </a:r>
            <a:endParaRPr lang="en-US" sz="1300" dirty="0"/>
          </a:p>
        </p:txBody>
      </p:sp>
      <p:pic>
        <p:nvPicPr>
          <p:cNvPr id="6" name="Image 0" descr="ikon tautan">
            <a:hlinkClick r:id="rId3" tooltip="https://github.com/antonprafanto/mobile2026/blob/main/pertemuan_14_pengujian_dan_debugging/kode/contoh_02_matcher_setup_dan_group_test.dart"/>
          </p:cNvPr>
          <p:cNvPicPr>
            <a:picLocks noChangeAspect="1"/>
          </p:cNvPicPr>
          <p:nvPr/>
        </p:nvPicPr>
        <p:blipFill>
          <a:blip r:embed="rId2"/>
          <a:stretch>
            <a:fillRect/>
          </a:stretch>
        </p:blipFill>
        <p:spPr>
          <a:xfrm>
            <a:off x="694944" y="5415534"/>
            <a:ext cx="274320" cy="274320"/>
          </a:xfrm>
          <a:prstGeom prst="rect">
            <a:avLst/>
          </a:prstGeom>
        </p:spPr>
      </p:pic>
      <p:sp>
        <p:nvSpPr>
          <p:cNvPr id="7" name="daftar poin"/>
          <p:cNvSpPr txBox="1"/>
          <p:nvPr/>
        </p:nvSpPr>
        <p:spPr>
          <a:xfrm>
            <a:off x="7360920" y="1417320"/>
            <a:ext cx="428213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closeTo(6666.67, 0.01): lulus jika selisihnya tidak lebih dari 0,01. Desimal jangan dibandingkan sama persis.</a:t>
            </a:r>
            <a:endParaRPr lang="en-US" sz="1700" dirty="0"/>
          </a:p>
          <a:p>
            <a:pPr marL="228600" indent="-228600">
              <a:spcAft>
                <a:spcPts val="800"/>
              </a:spcAft>
              <a:buSzPct val="100000"/>
              <a:buChar char="•"/>
            </a:pPr>
            <a:r>
              <a:rPr lang="en-US" sz="1700" dirty="0">
                <a:solidFill>
                  <a:schemeClr val="tx1"/>
                </a:solidFill>
              </a:rPr>
              <a:t>Setiap baris tabel = satu tes bernama sendiri, misalnya rupiah() 1000 menjadi Rp1.000.</a:t>
            </a:r>
            <a:endParaRPr lang="en-US" sz="1700" dirty="0"/>
          </a:p>
          <a:p>
            <a:pPr marL="228600" indent="-228600">
              <a:spcAft>
                <a:spcPts val="800"/>
              </a:spcAft>
              <a:buSzPct val="100000"/>
              <a:buChar char="•"/>
            </a:pPr>
            <a:r>
              <a:rPr lang="en-US" sz="1700" dirty="0">
                <a:solidFill>
                  <a:schemeClr val="tx1"/>
                </a:solidFill>
              </a:rPr>
              <a:t>Menambah kasus = menambah satu baris.</a:t>
            </a:r>
            <a:endParaRPr lang="en-US" sz="1700" dirty="0"/>
          </a:p>
          <a:p>
            <a:pPr marL="228600" indent="-228600">
              <a:spcAft>
                <a:spcPts val="800"/>
              </a:spcAft>
              <a:buSzPct val="100000"/>
              <a:buChar char="•"/>
            </a:pPr>
            <a:r>
              <a:rPr lang="en-US" sz="1700" dirty="0">
                <a:solidFill>
                  <a:schemeClr val="tx1"/>
                </a:solidFill>
              </a:rPr>
              <a:t>Pilih dengan sengaja: nol, tanpa titik (500), batas munculnya titik (1000), titik ganda, negatif.</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4</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Menguji Kode Asinkron</a:t>
            </a:r>
            <a:endParaRPr lang="en-US" sz="4000" dirty="0"/>
          </a:p>
        </p:txBody>
      </p:sp>
      <p:sp>
        <p:nvSpPr>
          <p:cNvPr id="5" name="lingkaran jam"/>
          <p:cNvSpPr/>
          <p:nvPr/>
        </p:nvSpPr>
        <p:spPr>
          <a:xfrm>
            <a:off x="1097280" y="2148840"/>
            <a:ext cx="2011680" cy="2011680"/>
          </a:xfrm>
          <a:prstGeom prst="ellipse">
            <a:avLst/>
          </a:prstGeom>
          <a:solidFill>
            <a:schemeClr val="accent1"/>
          </a:solidFill>
          <a:ln/>
        </p:spPr>
      </p:sp>
      <p:pic>
        <p:nvPicPr>
          <p:cNvPr id="6" name="Image 0" descr="jam">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Tes async: Jangan Lupa await</a:t>
            </a:r>
            <a:endParaRPr lang="en-US" sz="3200" dirty="0"/>
          </a:p>
        </p:txBody>
      </p:sp>
      <p:sp>
        <p:nvSpPr>
          <p:cNvPr id="4" name="kotak kode"/>
          <p:cNvSpPr txBox="1"/>
          <p:nvPr/>
        </p:nvSpPr>
        <p:spPr>
          <a:xfrm>
            <a:off x="548640" y="1371600"/>
            <a:ext cx="7132320" cy="2715768"/>
          </a:xfrm>
          <a:prstGeom prst="roundRect">
            <a:avLst>
              <a:gd name="adj" fmla="val 3367"/>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test(</a:t>
            </a:r>
            <a:r>
              <a:rPr lang="en-US" sz="1200" dirty="0">
                <a:solidFill>
                  <a:srgbClr val="C3E88D"/>
                </a:solidFill>
                <a:latin typeface="Consolas" pitchFamily="34" charset="0"/>
                <a:ea typeface="Consolas" pitchFamily="34" charset="-122"/>
                <a:cs typeface="Consolas" pitchFamily="34" charset="-120"/>
              </a:rPr>
              <a:t>'JSON yang benar menjadi daftar jadwal'</a:t>
            </a:r>
            <a:r>
              <a:rPr lang="en-US" sz="1200" dirty="0">
                <a:solidFill>
                  <a:srgbClr val="E6EDF3"/>
                </a:solidFill>
                <a:latin typeface="Consolas" pitchFamily="34" charset="0"/>
                <a:ea typeface="Consolas" pitchFamily="34" charset="-122"/>
                <a:cs typeface="Consolas" pitchFamily="34" charset="-120"/>
              </a:rPr>
              <a:t>, () </a:t>
            </a:r>
            <a:r>
              <a:rPr lang="en-US" sz="1200" dirty="0">
                <a:solidFill>
                  <a:srgbClr val="C792EA"/>
                </a:solidFill>
                <a:latin typeface="Consolas" pitchFamily="34" charset="0"/>
                <a:ea typeface="Consolas" pitchFamily="34" charset="-122"/>
                <a:cs typeface="Consolas" pitchFamily="34" charset="-120"/>
              </a:rPr>
              <a:t>async</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Hasil</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JadwalBus</a:t>
            </a:r>
            <a:r>
              <a:rPr lang="en-US" sz="1200" dirty="0">
                <a:solidFill>
                  <a:srgbClr val="E6EDF3"/>
                </a:solidFill>
                <a:latin typeface="Consolas" pitchFamily="34" charset="0"/>
                <a:ea typeface="Consolas" pitchFamily="34" charset="-122"/>
                <a:cs typeface="Consolas" pitchFamily="34" charset="-120"/>
              </a:rPr>
              <a:t>&gt;&gt; hasil =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repositori.jadwalHariIni();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expect(hasil, isA&lt;</a:t>
            </a:r>
            <a:r>
              <a:rPr lang="en-US" sz="1200" dirty="0">
                <a:solidFill>
                  <a:srgbClr val="FFCB6B"/>
                </a:solidFill>
                <a:latin typeface="Consolas" pitchFamily="34" charset="0"/>
                <a:ea typeface="Consolas" pitchFamily="34" charset="-122"/>
                <a:cs typeface="Consolas" pitchFamily="34" charset="-120"/>
              </a:rPr>
              <a:t>Berhasil</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JadwalBus</a:t>
            </a:r>
            <a:r>
              <a:rPr lang="en-US" sz="1200" dirty="0">
                <a:solidFill>
                  <a:srgbClr val="E6EDF3"/>
                </a:solidFill>
                <a:latin typeface="Consolas" pitchFamily="34" charset="0"/>
                <a:ea typeface="Consolas" pitchFamily="34" charset="-122"/>
                <a:cs typeface="Consolas" pitchFamily="34" charset="-120"/>
              </a:rPr>
              <a:t>&gt;&gt;&gt;());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class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LayananBus</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Aplikasi memberi http.Client(), tes memberi MockClient.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LayananBus</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C792EA"/>
                </a:solidFill>
                <a:latin typeface="Consolas" pitchFamily="34" charset="0"/>
                <a:ea typeface="Consolas" pitchFamily="34" charset="-122"/>
                <a:cs typeface="Consolas" pitchFamily="34" charset="-120"/>
              </a:rPr>
              <a:t>required</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this</a:t>
            </a:r>
            <a:r>
              <a:rPr lang="en-US" sz="1200" dirty="0">
                <a:solidFill>
                  <a:srgbClr val="E6EDF3"/>
                </a:solidFill>
                <a:latin typeface="Consolas" pitchFamily="34" charset="0"/>
                <a:ea typeface="Consolas" pitchFamily="34" charset="-122"/>
                <a:cs typeface="Consolas" pitchFamily="34" charset="-120"/>
              </a:rPr>
              <a:t>._klien});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http.</a:t>
            </a:r>
            <a:r>
              <a:rPr lang="en-US" sz="1200" dirty="0">
                <a:solidFill>
                  <a:srgbClr val="FFCB6B"/>
                </a:solidFill>
                <a:latin typeface="Consolas" pitchFamily="34" charset="0"/>
                <a:ea typeface="Consolas" pitchFamily="34" charset="-122"/>
                <a:cs typeface="Consolas" pitchFamily="34" charset="-120"/>
              </a:rPr>
              <a:t>Client</a:t>
            </a:r>
            <a:r>
              <a:rPr lang="en-US" sz="1200" dirty="0">
                <a:solidFill>
                  <a:srgbClr val="E6EDF3"/>
                </a:solidFill>
                <a:latin typeface="Consolas" pitchFamily="34" charset="0"/>
                <a:ea typeface="Consolas" pitchFamily="34" charset="-122"/>
                <a:cs typeface="Consolas" pitchFamily="34" charset="-120"/>
              </a:rPr>
              <a:t> _klien;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4_pengujian_dan_debugging/kode/contoh_03_menguji_kode_asinkron_test.dart"/>
          </p:cNvPr>
          <p:cNvSpPr txBox="1"/>
          <p:nvPr/>
        </p:nvSpPr>
        <p:spPr>
          <a:xfrm>
            <a:off x="548640" y="4315968"/>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contoh_03_menguji_kode_asinkron_test.dart</a:t>
            </a:r>
            <a:endParaRPr lang="en-US" sz="1300" dirty="0"/>
          </a:p>
        </p:txBody>
      </p:sp>
      <p:pic>
        <p:nvPicPr>
          <p:cNvPr id="6" name="Image 0" descr="ikon tautan">
            <a:hlinkClick r:id="rId3" tooltip="https://github.com/antonprafanto/mobile2026/blob/main/pertemuan_14_pengujian_dan_debugging/kode/contoh_03_menguji_kode_asinkron_test.dart"/>
          </p:cNvPr>
          <p:cNvPicPr>
            <a:picLocks noChangeAspect="1"/>
          </p:cNvPicPr>
          <p:nvPr/>
        </p:nvPicPr>
        <p:blipFill>
          <a:blip r:embed="rId2"/>
          <a:stretch>
            <a:fillRect/>
          </a:stretch>
        </p:blipFill>
        <p:spPr>
          <a:xfrm>
            <a:off x="694944" y="4407408"/>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Fungsi tes diberi async; setiap Future di dalamnya ditunggu dengan await.</a:t>
            </a:r>
            <a:endParaRPr lang="en-US" sz="1700" dirty="0"/>
          </a:p>
          <a:p>
            <a:pPr marL="228600" indent="-228600">
              <a:spcAft>
                <a:spcPts val="800"/>
              </a:spcAft>
              <a:buSzPct val="100000"/>
              <a:buChar char="•"/>
            </a:pPr>
            <a:r>
              <a:rPr lang="en-US" sz="1700" dirty="0">
                <a:solidFill>
                  <a:schemeClr val="tx1"/>
                </a:solidFill>
              </a:rPr>
              <a:t>Tanpa await, tes bisa selesai SEBELUM hasilnya datang: tampak lulus padahal tidak memeriksa apa-apa.</a:t>
            </a:r>
            <a:endParaRPr lang="en-US" sz="1700" dirty="0"/>
          </a:p>
          <a:p>
            <a:pPr marL="228600" indent="-228600">
              <a:spcAft>
                <a:spcPts val="800"/>
              </a:spcAft>
              <a:buSzPct val="100000"/>
              <a:buChar char="•"/>
            </a:pPr>
            <a:r>
              <a:rPr lang="en-US" sz="1700" dirty="0">
                <a:solidFill>
                  <a:schemeClr val="tx1"/>
                </a:solidFill>
              </a:rPr>
              <a:t>Tes tidak boleh bergantung pada internet. Syaratnya: klien HTTP disuntikkan lewat constructor.</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Server Palsu dengan MockClient</a:t>
            </a:r>
            <a:endParaRPr lang="en-US" sz="3200" dirty="0"/>
          </a:p>
        </p:txBody>
      </p:sp>
      <p:sp>
        <p:nvSpPr>
          <p:cNvPr id="4" name="kotak kode"/>
          <p:cNvSpPr txBox="1"/>
          <p:nvPr/>
        </p:nvSpPr>
        <p:spPr>
          <a:xfrm>
            <a:off x="548640" y="1371600"/>
            <a:ext cx="7132320" cy="3755898"/>
          </a:xfrm>
          <a:prstGeom prst="roundRect">
            <a:avLst>
              <a:gd name="adj" fmla="val 2435"/>
            </a:avLst>
          </a:prstGeom>
          <a:solidFill>
            <a:srgbClr val="0E1A2B"/>
          </a:solidFill>
          <a:ln/>
        </p:spPr>
        <p:txBody>
          <a:bodyPr wrap="square" lIns="177800" tIns="152400" rIns="152400" bIns="177800" rtlCol="0" anchor="t"/>
          <a:lstStyle/>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Server palsu yang menjawab dengan [jawab], lalu kegagalan yang</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dihasilkan repository (null jika berhasil).</a:t>
            </a:r>
            <a:endParaRPr lang="en-US" sz="1100" dirty="0"/>
          </a:p>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Kegagalan</a:t>
            </a:r>
            <a:r>
              <a:rPr lang="en-US" sz="1100" dirty="0">
                <a:solidFill>
                  <a:srgbClr val="E6EDF3"/>
                </a:solidFill>
                <a:latin typeface="Consolas" pitchFamily="34" charset="0"/>
                <a:ea typeface="Consolas" pitchFamily="34" charset="-122"/>
                <a:cs typeface="Consolas" pitchFamily="34" charset="-120"/>
              </a:rPr>
              <a:t>?&gt; kegagalanDari(</a:t>
            </a:r>
            <a:r>
              <a:rPr lang="en-US" sz="1100" dirty="0">
                <a:solidFill>
                  <a:srgbClr val="FFCB6B"/>
                </a:solidFill>
                <a:latin typeface="Consolas" pitchFamily="34" charset="0"/>
                <a:ea typeface="Consolas" pitchFamily="34" charset="-122"/>
                <a:cs typeface="Consolas" pitchFamily="34" charset="-120"/>
              </a:rPr>
              <a:t>MockClientHandler</a:t>
            </a:r>
            <a:r>
              <a:rPr lang="en-US" sz="1100" dirty="0">
                <a:solidFill>
                  <a:srgbClr val="E6EDF3"/>
                </a:solidFill>
                <a:latin typeface="Consolas" pitchFamily="34" charset="0"/>
                <a:ea typeface="Consolas" pitchFamily="34" charset="-122"/>
                <a:cs typeface="Consolas" pitchFamily="34" charset="-120"/>
              </a:rPr>
              <a:t> jawab)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RepositoriBus</a:t>
            </a:r>
            <a:r>
              <a:rPr lang="en-US" sz="1100" dirty="0">
                <a:solidFill>
                  <a:srgbClr val="E6EDF3"/>
                </a:solidFill>
                <a:latin typeface="Consolas" pitchFamily="34" charset="0"/>
                <a:ea typeface="Consolas" pitchFamily="34" charset="-122"/>
                <a:cs typeface="Consolas" pitchFamily="34" charset="-120"/>
              </a:rPr>
              <a:t> repositori = </a:t>
            </a:r>
            <a:r>
              <a:rPr lang="en-US" sz="1100" dirty="0">
                <a:solidFill>
                  <a:srgbClr val="FFCB6B"/>
                </a:solidFill>
                <a:latin typeface="Consolas" pitchFamily="34" charset="0"/>
                <a:ea typeface="Consolas" pitchFamily="34" charset="-122"/>
                <a:cs typeface="Consolas" pitchFamily="34" charset="-120"/>
              </a:rPr>
              <a:t>RepositoriBus</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layanan: </a:t>
            </a:r>
            <a:r>
              <a:rPr lang="en-US" sz="1100" dirty="0">
                <a:solidFill>
                  <a:srgbClr val="FFCB6B"/>
                </a:solidFill>
                <a:latin typeface="Consolas" pitchFamily="34" charset="0"/>
                <a:ea typeface="Consolas" pitchFamily="34" charset="-122"/>
                <a:cs typeface="Consolas" pitchFamily="34" charset="-120"/>
              </a:rPr>
              <a:t>LayananBus</a:t>
            </a:r>
            <a:r>
              <a:rPr lang="en-US" sz="1100" dirty="0">
                <a:solidFill>
                  <a:srgbClr val="E6EDF3"/>
                </a:solidFill>
                <a:latin typeface="Consolas" pitchFamily="34" charset="0"/>
                <a:ea typeface="Consolas" pitchFamily="34" charset="-122"/>
                <a:cs typeface="Consolas" pitchFamily="34" charset="-120"/>
              </a:rPr>
              <a:t>(klien: </a:t>
            </a:r>
            <a:r>
              <a:rPr lang="en-US" sz="1100" dirty="0">
                <a:solidFill>
                  <a:srgbClr val="FFCB6B"/>
                </a:solidFill>
                <a:latin typeface="Consolas" pitchFamily="34" charset="0"/>
                <a:ea typeface="Consolas" pitchFamily="34" charset="-122"/>
                <a:cs typeface="Consolas" pitchFamily="34" charset="-120"/>
              </a:rPr>
              <a:t>MockClient</a:t>
            </a:r>
            <a:r>
              <a:rPr lang="en-US" sz="1100" dirty="0">
                <a:solidFill>
                  <a:srgbClr val="E6EDF3"/>
                </a:solidFill>
                <a:latin typeface="Consolas" pitchFamily="34" charset="0"/>
                <a:ea typeface="Consolas" pitchFamily="34" charset="-122"/>
                <a:cs typeface="Consolas" pitchFamily="34" charset="-120"/>
              </a:rPr>
              <a:t>(jawab)),</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Hasil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List</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JadwalBus</a:t>
            </a:r>
            <a:r>
              <a:rPr lang="en-US" sz="1100" dirty="0">
                <a:solidFill>
                  <a:srgbClr val="E6EDF3"/>
                </a:solidFill>
                <a:latin typeface="Consolas" pitchFamily="34" charset="0"/>
                <a:ea typeface="Consolas" pitchFamily="34" charset="-122"/>
                <a:cs typeface="Consolas" pitchFamily="34" charset="-120"/>
              </a:rPr>
              <a:t>&gt;&gt; hasil =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repositori.jadwalHariIni();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switch</a:t>
            </a:r>
            <a:r>
              <a:rPr lang="en-US" sz="1100" dirty="0">
                <a:solidFill>
                  <a:srgbClr val="E6EDF3"/>
                </a:solidFill>
                <a:latin typeface="Consolas" pitchFamily="34" charset="0"/>
                <a:ea typeface="Consolas" pitchFamily="34" charset="-122"/>
                <a:cs typeface="Consolas" pitchFamily="34" charset="-120"/>
              </a:rPr>
              <a:t> (hasil)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Berhasil</a:t>
            </a:r>
            <a:r>
              <a:rPr lang="en-US" sz="1100" dirty="0">
                <a:solidFill>
                  <a:srgbClr val="E6EDF3"/>
                </a:solidFill>
                <a:latin typeface="Consolas" pitchFamily="34" charset="0"/>
                <a:ea typeface="Consolas" pitchFamily="34" charset="-122"/>
                <a:cs typeface="Consolas" pitchFamily="34" charset="-120"/>
              </a:rPr>
              <a:t>() =&gt; </a:t>
            </a:r>
            <a:r>
              <a:rPr lang="en-US" sz="1100" dirty="0">
                <a:solidFill>
                  <a:srgbClr val="C792EA"/>
                </a:solidFill>
                <a:latin typeface="Consolas" pitchFamily="34" charset="0"/>
                <a:ea typeface="Consolas" pitchFamily="34" charset="-122"/>
                <a:cs typeface="Consolas" pitchFamily="34" charset="-120"/>
              </a:rPr>
              <a:t>null</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Kegagalan</a:t>
            </a:r>
            <a:r>
              <a:rPr lang="en-US" sz="1100" dirty="0">
                <a:solidFill>
                  <a:srgbClr val="E6EDF3"/>
                </a:solidFill>
                <a:latin typeface="Consolas" pitchFamily="34" charset="0"/>
                <a:ea typeface="Consolas" pitchFamily="34" charset="-122"/>
                <a:cs typeface="Consolas" pitchFamily="34" charset="-120"/>
              </a:rPr>
              <a:t> kegagalan) =&gt; kegagalan,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test(</a:t>
            </a:r>
            <a:r>
              <a:rPr lang="en-US" sz="1100" dirty="0">
                <a:solidFill>
                  <a:srgbClr val="C3E88D"/>
                </a:solidFill>
                <a:latin typeface="Consolas" pitchFamily="34" charset="0"/>
                <a:ea typeface="Consolas" pitchFamily="34" charset="-122"/>
                <a:cs typeface="Consolas" pitchFamily="34" charset="-120"/>
              </a:rPr>
              <a:t>'koneksi putus menjadi TanpaKoneksi'</a:t>
            </a:r>
            <a:r>
              <a:rPr lang="en-US" sz="1100" dirty="0">
                <a:solidFill>
                  <a:srgbClr val="E6EDF3"/>
                </a:solidFill>
                <a:latin typeface="Consolas" pitchFamily="34" charset="0"/>
                <a:ea typeface="Consolas" pitchFamily="34" charset="-122"/>
                <a:cs typeface="Consolas" pitchFamily="34" charset="-120"/>
              </a:rPr>
              <a:t>, ()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Kegagalan</a:t>
            </a:r>
            <a:r>
              <a:rPr lang="en-US" sz="1100" dirty="0">
                <a:solidFill>
                  <a:srgbClr val="E6EDF3"/>
                </a:solidFill>
                <a:latin typeface="Consolas" pitchFamily="34" charset="0"/>
                <a:ea typeface="Consolas" pitchFamily="34" charset="-122"/>
                <a:cs typeface="Consolas" pitchFamily="34" charset="-120"/>
              </a:rPr>
              <a:t>? kegagalan =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kegagalanDari(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(http.</a:t>
            </a:r>
            <a:r>
              <a:rPr lang="en-US" sz="1100" dirty="0">
                <a:solidFill>
                  <a:srgbClr val="FFCB6B"/>
                </a:solidFill>
                <a:latin typeface="Consolas" pitchFamily="34" charset="0"/>
                <a:ea typeface="Consolas" pitchFamily="34" charset="-122"/>
                <a:cs typeface="Consolas" pitchFamily="34" charset="-120"/>
              </a:rPr>
              <a:t>Request</a:t>
            </a:r>
            <a:r>
              <a:rPr lang="en-US" sz="1100" dirty="0">
                <a:solidFill>
                  <a:srgbClr val="E6EDF3"/>
                </a:solidFill>
                <a:latin typeface="Consolas" pitchFamily="34" charset="0"/>
                <a:ea typeface="Consolas" pitchFamily="34" charset="-122"/>
                <a:cs typeface="Consolas" pitchFamily="34" charset="-120"/>
              </a:rPr>
              <a:t> _)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=&gt; </a:t>
            </a:r>
            <a:r>
              <a:rPr lang="en-US" sz="1100" dirty="0">
                <a:solidFill>
                  <a:srgbClr val="C792EA"/>
                </a:solidFill>
                <a:latin typeface="Consolas" pitchFamily="34" charset="0"/>
                <a:ea typeface="Consolas" pitchFamily="34" charset="-122"/>
                <a:cs typeface="Consolas" pitchFamily="34" charset="-120"/>
              </a:rPr>
              <a:t>throw</a:t>
            </a:r>
            <a:r>
              <a:rPr lang="en-US" sz="1100" dirty="0">
                <a:solidFill>
                  <a:srgbClr val="E6EDF3"/>
                </a:solidFill>
                <a:latin typeface="Consolas" pitchFamily="34" charset="0"/>
                <a:ea typeface="Consolas" pitchFamily="34" charset="-122"/>
                <a:cs typeface="Consolas" pitchFamily="34" charset="-120"/>
              </a:rPr>
              <a:t> http.</a:t>
            </a:r>
            <a:r>
              <a:rPr lang="en-US" sz="1100" dirty="0">
                <a:solidFill>
                  <a:srgbClr val="FFCB6B"/>
                </a:solidFill>
                <a:latin typeface="Consolas" pitchFamily="34" charset="0"/>
                <a:ea typeface="Consolas" pitchFamily="34" charset="-122"/>
                <a:cs typeface="Consolas" pitchFamily="34" charset="-120"/>
              </a:rPr>
              <a:t>ClientException</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3E88D"/>
                </a:solidFill>
                <a:latin typeface="Consolas" pitchFamily="34" charset="0"/>
                <a:ea typeface="Consolas" pitchFamily="34" charset="-122"/>
                <a:cs typeface="Consolas" pitchFamily="34" charset="-120"/>
              </a:rPr>
              <a:t>'Terputus'</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expect(kegagalan, isA&lt;</a:t>
            </a:r>
            <a:r>
              <a:rPr lang="en-US" sz="1100" dirty="0">
                <a:solidFill>
                  <a:srgbClr val="FFCB6B"/>
                </a:solidFill>
                <a:latin typeface="Consolas" pitchFamily="34" charset="0"/>
                <a:ea typeface="Consolas" pitchFamily="34" charset="-122"/>
                <a:cs typeface="Consolas" pitchFamily="34" charset="-120"/>
              </a:rPr>
              <a:t>TanpaKoneksi</a:t>
            </a:r>
            <a:r>
              <a:rPr lang="en-US" sz="1100" dirty="0">
                <a:solidFill>
                  <a:srgbClr val="E6EDF3"/>
                </a:solidFill>
                <a:latin typeface="Consolas" pitchFamily="34" charset="0"/>
                <a:ea typeface="Consolas" pitchFamily="34" charset="-122"/>
                <a:cs typeface="Consolas" pitchFamily="34" charset="-120"/>
              </a:rPr>
              <a:t>&gt;());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4_pengujian_dan_debugging/kode/contoh_03_menguji_kode_asinkron_test.dart"/>
          </p:cNvPr>
          <p:cNvSpPr txBox="1"/>
          <p:nvPr/>
        </p:nvSpPr>
        <p:spPr>
          <a:xfrm>
            <a:off x="548640" y="5356098"/>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contoh_03_menguji_kode_asinkron_test.dart</a:t>
            </a:r>
            <a:endParaRPr lang="en-US" sz="1300" dirty="0"/>
          </a:p>
        </p:txBody>
      </p:sp>
      <p:pic>
        <p:nvPicPr>
          <p:cNvPr id="6" name="Image 0" descr="ikon tautan">
            <a:hlinkClick r:id="rId3" tooltip="https://github.com/antonprafanto/mobile2026/blob/main/pertemuan_14_pengujian_dan_debugging/kode/contoh_03_menguji_kode_asinkron_test.dart"/>
          </p:cNvPr>
          <p:cNvPicPr>
            <a:picLocks noChangeAspect="1"/>
          </p:cNvPicPr>
          <p:nvPr/>
        </p:nvPicPr>
        <p:blipFill>
          <a:blip r:embed="rId2"/>
          <a:stretch>
            <a:fillRect/>
          </a:stretch>
        </p:blipFill>
        <p:spPr>
          <a:xfrm>
            <a:off x="694944" y="5447538"/>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200 + JSON yang benar → Berhasil (2 jadwal)</a:t>
            </a:r>
            <a:endParaRPr lang="en-US" sz="1700" dirty="0"/>
          </a:p>
          <a:p>
            <a:pPr marL="228600" indent="-228600">
              <a:spcAft>
                <a:spcPts val="800"/>
              </a:spcAft>
              <a:buSzPct val="100000"/>
              <a:buChar char="•"/>
            </a:pPr>
            <a:r>
              <a:rPr lang="en-US" sz="1700" dirty="0">
                <a:solidFill>
                  <a:schemeClr val="tx1"/>
                </a:solidFill>
              </a:rPr>
              <a:t>500 → Gagal(ServerBermasalah(500))</a:t>
            </a:r>
            <a:endParaRPr lang="en-US" sz="1700" dirty="0"/>
          </a:p>
          <a:p>
            <a:pPr marL="228600" indent="-228600">
              <a:spcAft>
                <a:spcPts val="800"/>
              </a:spcAft>
              <a:buSzPct val="100000"/>
              <a:buChar char="•"/>
            </a:pPr>
            <a:r>
              <a:rPr lang="en-US" sz="1700" dirty="0">
                <a:solidFill>
                  <a:schemeClr val="tx1"/>
                </a:solidFill>
              </a:rPr>
              <a:t>ClientException → Gagal(TanpaKoneksi())</a:t>
            </a:r>
            <a:endParaRPr lang="en-US" sz="1700" dirty="0"/>
          </a:p>
          <a:p>
            <a:pPr marL="228600" indent="-228600">
              <a:spcAft>
                <a:spcPts val="800"/>
              </a:spcAft>
              <a:buSzPct val="100000"/>
              <a:buChar char="•"/>
            </a:pPr>
            <a:r>
              <a:rPr lang="en-US" sz="1700" dirty="0">
                <a:solidFill>
                  <a:schemeClr val="tx1"/>
                </a:solidFill>
              </a:rPr>
              <a:t>TimeoutException → Gagal(WaktuHabis())</a:t>
            </a:r>
            <a:endParaRPr lang="en-US" sz="1700" dirty="0"/>
          </a:p>
          <a:p>
            <a:pPr marL="228600" indent="-228600">
              <a:spcAft>
                <a:spcPts val="800"/>
              </a:spcAft>
              <a:buSzPct val="100000"/>
              <a:buChar char="•"/>
            </a:pPr>
            <a:r>
              <a:rPr lang="en-US" sz="1700" dirty="0">
                <a:solidFill>
                  <a:schemeClr val="tx1"/>
                </a:solidFill>
              </a:rPr>
              <a:t>HTML, atau kolom jadwal tidak ada → Gagal(DataRusak())</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Future yang Diharapkan Gagal: expectLater</a:t>
            </a:r>
            <a:endParaRPr lang="en-US" sz="3200" dirty="0"/>
          </a:p>
        </p:txBody>
      </p:sp>
      <p:sp>
        <p:nvSpPr>
          <p:cNvPr id="4" name="kotak kode"/>
          <p:cNvSpPr txBox="1"/>
          <p:nvPr/>
        </p:nvSpPr>
        <p:spPr>
          <a:xfrm>
            <a:off x="548640" y="1371600"/>
            <a:ext cx="7589520" cy="2931795"/>
          </a:xfrm>
          <a:prstGeom prst="roundRect">
            <a:avLst>
              <a:gd name="adj" fmla="val 3119"/>
            </a:avLst>
          </a:prstGeom>
          <a:solidFill>
            <a:srgbClr val="0E1A2B"/>
          </a:solidFill>
          <a:ln/>
        </p:spPr>
        <p:txBody>
          <a:bodyPr wrap="square" lIns="177800" tIns="152400" rIns="152400" bIns="177800" rtlCol="0" anchor="t"/>
          <a:lstStyle/>
          <a:p>
            <a:pPr indent="0" marL="0">
              <a:lnSpc>
                <a:spcPct val="105000"/>
              </a:lnSpc>
              <a:buNone/>
            </a:pPr>
            <a:r>
              <a:rPr lang="en-US" sz="1050" dirty="0">
                <a:solidFill>
                  <a:srgbClr val="C792EA"/>
                </a:solidFill>
                <a:latin typeface="Consolas" pitchFamily="34" charset="0"/>
                <a:ea typeface="Consolas" pitchFamily="34" charset="-122"/>
                <a:cs typeface="Consolas" pitchFamily="34" charset="-120"/>
              </a:rPr>
              <a:t>await</a:t>
            </a:r>
            <a:r>
              <a:rPr lang="en-US" sz="1050" dirty="0">
                <a:solidFill>
                  <a:srgbClr val="E6EDF3"/>
                </a:solidFill>
                <a:latin typeface="Consolas" pitchFamily="34" charset="0"/>
                <a:ea typeface="Consolas" pitchFamily="34" charset="-122"/>
                <a:cs typeface="Consolas" pitchFamily="34" charset="-120"/>
              </a:rPr>
              <a:t> expectLater(</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layanan.ambilJadwal(), </a:t>
            </a:r>
            <a:r>
              <a:rPr lang="en-US" sz="1050" i="1" dirty="0">
                <a:solidFill>
                  <a:srgbClr val="8FA3BC"/>
                </a:solidFill>
                <a:latin typeface="Consolas" pitchFamily="34" charset="0"/>
                <a:ea typeface="Consolas" pitchFamily="34" charset="-122"/>
                <a:cs typeface="Consolas" pitchFamily="34" charset="-120"/>
              </a:rPr>
              <a:t>// Future, TANPA await di depannya</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throwsA(</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isA&lt;</a:t>
            </a:r>
            <a:r>
              <a:rPr lang="en-US" sz="1050" dirty="0">
                <a:solidFill>
                  <a:srgbClr val="FFCB6B"/>
                </a:solidFill>
                <a:latin typeface="Consolas" pitchFamily="34" charset="0"/>
                <a:ea typeface="Consolas" pitchFamily="34" charset="-122"/>
                <a:cs typeface="Consolas" pitchFamily="34" charset="-120"/>
              </a:rPr>
              <a:t>ApiException</a:t>
            </a:r>
            <a:r>
              <a:rPr lang="en-US" sz="1050" dirty="0">
                <a:solidFill>
                  <a:srgbClr val="E6EDF3"/>
                </a:solidFill>
                <a:latin typeface="Consolas" pitchFamily="34" charset="0"/>
                <a:ea typeface="Consolas" pitchFamily="34" charset="-122"/>
                <a:cs typeface="Consolas" pitchFamily="34" charset="-120"/>
              </a:rPr>
              <a:t>&gt;().having(</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ApiException</a:t>
            </a:r>
            <a:r>
              <a:rPr lang="en-US" sz="1050" dirty="0">
                <a:solidFill>
                  <a:srgbClr val="E6EDF3"/>
                </a:solidFill>
                <a:latin typeface="Consolas" pitchFamily="34" charset="0"/>
                <a:ea typeface="Consolas" pitchFamily="34" charset="-122"/>
                <a:cs typeface="Consolas" pitchFamily="34" charset="-120"/>
              </a:rPr>
              <a:t> e) =&gt; e.kodeStatus,</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3E88D"/>
                </a:solidFill>
                <a:latin typeface="Consolas" pitchFamily="34" charset="0"/>
                <a:ea typeface="Consolas" pitchFamily="34" charset="-122"/>
                <a:cs typeface="Consolas" pitchFamily="34" charset="-120"/>
              </a:rPr>
              <a:t>'kodeStatus'</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78C6C"/>
                </a:solidFill>
                <a:latin typeface="Consolas" pitchFamily="34" charset="0"/>
                <a:ea typeface="Consolas" pitchFamily="34" charset="-122"/>
                <a:cs typeface="Consolas" pitchFamily="34" charset="-120"/>
              </a:rPr>
              <a:t>404</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C792EA"/>
                </a:solidFill>
                <a:latin typeface="Consolas" pitchFamily="34" charset="0"/>
                <a:ea typeface="Consolas" pitchFamily="34" charset="-122"/>
                <a:cs typeface="Consolas" pitchFamily="34" charset="-120"/>
              </a:rPr>
              <a:t>await</a:t>
            </a:r>
            <a:r>
              <a:rPr lang="en-US" sz="1050" dirty="0">
                <a:solidFill>
                  <a:srgbClr val="E6EDF3"/>
                </a:solidFill>
                <a:latin typeface="Consolas" pitchFamily="34" charset="0"/>
                <a:ea typeface="Consolas" pitchFamily="34" charset="-122"/>
                <a:cs typeface="Consolas" pitchFamily="34" charset="-120"/>
              </a:rPr>
              <a:t> expectLater(</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layanan.ambilJadwal(),</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completion(equals({</a:t>
            </a:r>
            <a:r>
              <a:rPr lang="en-US" sz="1050" dirty="0">
                <a:solidFill>
                  <a:srgbClr val="C3E88D"/>
                </a:solidFill>
                <a:latin typeface="Consolas" pitchFamily="34" charset="0"/>
                <a:ea typeface="Consolas" pitchFamily="34" charset="-122"/>
                <a:cs typeface="Consolas" pitchFamily="34" charset="-120"/>
              </a:rPr>
              <a:t>'jadwal'</a:t>
            </a:r>
            <a:r>
              <a:rPr lang="en-US" sz="1050" dirty="0">
                <a:solidFill>
                  <a:srgbClr val="E6EDF3"/>
                </a:solidFill>
                <a:latin typeface="Consolas" pitchFamily="34" charset="0"/>
                <a:ea typeface="Consolas" pitchFamily="34" charset="-122"/>
                <a:cs typeface="Consolas" pitchFamily="34" charset="-120"/>
              </a:rPr>
              <a:t>: []})), </a:t>
            </a:r>
            <a:r>
              <a:rPr lang="en-US" sz="1050" i="1" dirty="0">
                <a:solidFill>
                  <a:srgbClr val="8FA3BC"/>
                </a:solidFill>
                <a:latin typeface="Consolas" pitchFamily="34" charset="0"/>
                <a:ea typeface="Consolas" pitchFamily="34" charset="-122"/>
                <a:cs typeface="Consolas" pitchFamily="34" charset="-120"/>
              </a:rPr>
              <a:t>// Future yang berhasil dengan nilai tertentu</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p:txBody>
      </p:sp>
      <p:sp>
        <p:nvSpPr>
          <p:cNvPr id="5" name="tombol tautan">
            <a:hlinkClick r:id="rId1" tooltip="https://github.com/antonprafanto/mobile2026/blob/main/pertemuan_14_pengujian_dan_debugging/kode/contoh_03_menguji_kode_asinkron_test.dart"/>
          </p:cNvPr>
          <p:cNvSpPr txBox="1"/>
          <p:nvPr/>
        </p:nvSpPr>
        <p:spPr>
          <a:xfrm>
            <a:off x="548640" y="4531995"/>
            <a:ext cx="75895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contoh_03_menguji_kode_asinkron_test.dart</a:t>
            </a:r>
            <a:endParaRPr lang="en-US" sz="1300" dirty="0"/>
          </a:p>
        </p:txBody>
      </p:sp>
      <p:pic>
        <p:nvPicPr>
          <p:cNvPr id="6" name="Image 0" descr="ikon tautan">
            <a:hlinkClick r:id="rId3" tooltip="https://github.com/antonprafanto/mobile2026/blob/main/pertemuan_14_pengujian_dan_debugging/kode/contoh_03_menguji_kode_asinkron_test.dart"/>
          </p:cNvPr>
          <p:cNvPicPr>
            <a:picLocks noChangeAspect="1"/>
          </p:cNvPicPr>
          <p:nvPr/>
        </p:nvPicPr>
        <p:blipFill>
          <a:blip r:embed="rId2"/>
          <a:stretch>
            <a:fillRect/>
          </a:stretch>
        </p:blipFill>
        <p:spPr>
          <a:xfrm>
            <a:off x="694944" y="4623435"/>
            <a:ext cx="274320" cy="274320"/>
          </a:xfrm>
          <a:prstGeom prst="rect">
            <a:avLst/>
          </a:prstGeom>
        </p:spPr>
      </p:pic>
      <p:sp>
        <p:nvSpPr>
          <p:cNvPr id="7" name="daftar poin"/>
          <p:cNvSpPr txBox="1"/>
          <p:nvPr/>
        </p:nvSpPr>
        <p:spPr>
          <a:xfrm>
            <a:off x="8549640" y="1417320"/>
            <a:ext cx="30934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Future yang SEHARUSNYA gagal: expectLater + throwsA.</a:t>
            </a:r>
            <a:endParaRPr lang="en-US" sz="1700" dirty="0"/>
          </a:p>
          <a:p>
            <a:pPr marL="228600" indent="-228600">
              <a:spcAft>
                <a:spcPts val="800"/>
              </a:spcAft>
              <a:buSzPct val="100000"/>
              <a:buChar char="•"/>
            </a:pPr>
            <a:r>
              <a:rPr lang="en-US" sz="1700" dirty="0">
                <a:solidFill>
                  <a:schemeClr val="tx1"/>
                </a:solidFill>
              </a:rPr>
              <a:t>Future-nya ditulis TANPA await.</a:t>
            </a:r>
            <a:endParaRPr lang="en-US" sz="1700" dirty="0"/>
          </a:p>
          <a:p>
            <a:pPr marL="228600" indent="-228600">
              <a:spcAft>
                <a:spcPts val="800"/>
              </a:spcAft>
              <a:buSzPct val="100000"/>
              <a:buChar char="•"/>
            </a:pPr>
            <a:r>
              <a:rPr lang="en-US" sz="1700" dirty="0">
                <a:solidFill>
                  <a:schemeClr val="tx1"/>
                </a:solidFill>
              </a:rPr>
              <a:t>expectLater mengembalikan Future → WAJIB di-await.</a:t>
            </a:r>
            <a:endParaRPr lang="en-US" sz="1700" dirty="0"/>
          </a:p>
          <a:p>
            <a:pPr marL="228600" indent="-228600">
              <a:spcAft>
                <a:spcPts val="800"/>
              </a:spcAft>
              <a:buSzPct val="100000"/>
              <a:buChar char="•"/>
            </a:pPr>
            <a:r>
              <a:rPr lang="en-US" sz="1700" dirty="0">
                <a:solidFill>
                  <a:schemeClr val="tx1"/>
                </a:solidFill>
              </a:rPr>
              <a:t>completion(...): Future yang berhasil dengan nilai tertentu.</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Menguji Stream</a:t>
            </a:r>
            <a:endParaRPr lang="en-US" sz="3200" dirty="0"/>
          </a:p>
        </p:txBody>
      </p:sp>
      <p:sp>
        <p:nvSpPr>
          <p:cNvPr id="4" name="kotak kode"/>
          <p:cNvSpPr txBox="1"/>
          <p:nvPr/>
        </p:nvSpPr>
        <p:spPr>
          <a:xfrm>
            <a:off x="548640" y="1371600"/>
            <a:ext cx="6766560" cy="2907792"/>
          </a:xfrm>
          <a:prstGeom prst="roundRect">
            <a:avLst>
              <a:gd name="adj" fmla="val 314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test(</a:t>
            </a:r>
            <a:r>
              <a:rPr lang="en-US" sz="1300" dirty="0">
                <a:solidFill>
                  <a:srgbClr val="C3E88D"/>
                </a:solidFill>
                <a:latin typeface="Consolas" pitchFamily="34" charset="0"/>
                <a:ea typeface="Consolas" pitchFamily="34" charset="-122"/>
                <a:cs typeface="Consolas" pitchFamily="34" charset="-120"/>
              </a:rPr>
              <a:t>'menghitung mundur sampai bus tiba'</a:t>
            </a:r>
            <a:r>
              <a:rPr lang="en-US" sz="1300" dirty="0">
                <a:solidFill>
                  <a:srgbClr val="E6EDF3"/>
                </a:solidFill>
                <a:latin typeface="Consolas" pitchFamily="34" charset="0"/>
                <a:ea typeface="Consolas" pitchFamily="34" charset="-122"/>
                <a:cs typeface="Consolas" pitchFamily="34" charset="-120"/>
              </a:rPr>
              <a:t>, () </a:t>
            </a:r>
            <a:r>
              <a:rPr lang="en-US" sz="1300" dirty="0">
                <a:solidFill>
                  <a:srgbClr val="C792EA"/>
                </a:solidFill>
                <a:latin typeface="Consolas" pitchFamily="34" charset="0"/>
                <a:ea typeface="Consolas" pitchFamily="34" charset="-122"/>
                <a:cs typeface="Consolas" pitchFamily="34" charset="-120"/>
              </a:rPr>
              <a:t>async</a:t>
            </a: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await</a:t>
            </a:r>
            <a:r>
              <a:rPr lang="en-US" sz="1300" dirty="0">
                <a:solidFill>
                  <a:srgbClr val="E6EDF3"/>
                </a:solidFill>
                <a:latin typeface="Consolas" pitchFamily="34" charset="0"/>
                <a:ea typeface="Consolas" pitchFamily="34" charset="-122"/>
                <a:cs typeface="Consolas" pitchFamily="34" charset="-120"/>
              </a:rPr>
              <a:t> expectLater(</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statusKedatangan(</a:t>
            </a:r>
            <a:r>
              <a:rPr lang="en-US" sz="1300" dirty="0">
                <a:solidFill>
                  <a:srgbClr val="FFCB6B"/>
                </a:solidFill>
                <a:latin typeface="Consolas" pitchFamily="34" charset="0"/>
                <a:ea typeface="Consolas" pitchFamily="34" charset="-122"/>
                <a:cs typeface="Consolas" pitchFamily="34" charset="-120"/>
              </a:rPr>
              <a:t>Stream</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FFCB6B"/>
                </a:solidFill>
                <a:latin typeface="Consolas" pitchFamily="34" charset="0"/>
                <a:ea typeface="Consolas" pitchFamily="34" charset="-122"/>
                <a:cs typeface="Consolas" pitchFamily="34" charset="-120"/>
              </a:rPr>
              <a:t>int</a:t>
            </a:r>
            <a:r>
              <a:rPr lang="en-US" sz="1300" dirty="0">
                <a:solidFill>
                  <a:srgbClr val="E6EDF3"/>
                </a:solidFill>
                <a:latin typeface="Consolas" pitchFamily="34" charset="0"/>
                <a:ea typeface="Consolas" pitchFamily="34" charset="-122"/>
                <a:cs typeface="Consolas" pitchFamily="34" charset="-120"/>
              </a:rPr>
              <a:t>&gt;.fromIterable([</a:t>
            </a:r>
            <a:r>
              <a:rPr lang="en-US" sz="1300" dirty="0">
                <a:solidFill>
                  <a:srgbClr val="F78C6C"/>
                </a:solidFill>
                <a:latin typeface="Consolas" pitchFamily="34" charset="0"/>
                <a:ea typeface="Consolas" pitchFamily="34" charset="-122"/>
                <a:cs typeface="Consolas" pitchFamily="34" charset="-120"/>
              </a:rPr>
              <a:t>3</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2</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1</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0</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emitsInOrder([</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'Bus 3 halte lagi'</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'Bus 2 halte lagi'</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'Bus 1 halte lagi. Bersiaplah!'</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'Bus tiba. Silakan naik!'</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emitsDone, </a:t>
            </a:r>
            <a:r>
              <a:rPr lang="en-US" sz="1300" i="1" dirty="0">
                <a:solidFill>
                  <a:srgbClr val="8FA3BC"/>
                </a:solidFill>
                <a:latin typeface="Consolas" pitchFamily="34" charset="0"/>
                <a:ea typeface="Consolas" pitchFamily="34" charset="-122"/>
                <a:cs typeface="Consolas" pitchFamily="34" charset="-120"/>
              </a:rPr>
              <a:t>// lalu aliran selesai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5" name="tombol tautan">
            <a:hlinkClick r:id="rId1" tooltip="https://github.com/antonprafanto/mobile2026/blob/main/pertemuan_14_pengujian_dan_debugging/kode/contoh_03_menguji_kode_asinkron_test.dart"/>
          </p:cNvPr>
          <p:cNvSpPr txBox="1"/>
          <p:nvPr/>
        </p:nvSpPr>
        <p:spPr>
          <a:xfrm>
            <a:off x="548640" y="4507992"/>
            <a:ext cx="67665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contoh_03_menguji_kode_asinkron_test.dart</a:t>
            </a:r>
            <a:endParaRPr lang="en-US" sz="1300" dirty="0"/>
          </a:p>
        </p:txBody>
      </p:sp>
      <p:pic>
        <p:nvPicPr>
          <p:cNvPr id="6" name="Image 0" descr="ikon tautan">
            <a:hlinkClick r:id="rId3" tooltip="https://github.com/antonprafanto/mobile2026/blob/main/pertemuan_14_pengujian_dan_debugging/kode/contoh_03_menguji_kode_asinkron_test.dart"/>
          </p:cNvPr>
          <p:cNvPicPr>
            <a:picLocks noChangeAspect="1"/>
          </p:cNvPicPr>
          <p:nvPr/>
        </p:nvPicPr>
        <p:blipFill>
          <a:blip r:embed="rId2"/>
          <a:stretch>
            <a:fillRect/>
          </a:stretch>
        </p:blipFill>
        <p:spPr>
          <a:xfrm>
            <a:off x="694944" y="4599432"/>
            <a:ext cx="274320" cy="274320"/>
          </a:xfrm>
          <a:prstGeom prst="rect">
            <a:avLst/>
          </a:prstGeom>
        </p:spPr>
      </p:pic>
      <p:sp>
        <p:nvSpPr>
          <p:cNvPr id="7"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Stream.fromIterable: aliran palsu dengan data yang kita tentukan.</a:t>
            </a:r>
            <a:endParaRPr lang="en-US" sz="1700" dirty="0"/>
          </a:p>
          <a:p>
            <a:pPr marL="228600" indent="-228600">
              <a:spcAft>
                <a:spcPts val="800"/>
              </a:spcAft>
              <a:buSzPct val="100000"/>
              <a:buChar char="•"/>
            </a:pPr>
            <a:r>
              <a:rPr lang="en-US" sz="1700" dirty="0">
                <a:solidFill>
                  <a:schemeClr val="tx1"/>
                </a:solidFill>
              </a:rPr>
              <a:t>emits(x): isi berikutnya. emitsInOrder([...]): semua isi, berurutan.</a:t>
            </a:r>
            <a:endParaRPr lang="en-US" sz="1700" dirty="0"/>
          </a:p>
          <a:p>
            <a:pPr marL="228600" indent="-228600">
              <a:spcAft>
                <a:spcPts val="800"/>
              </a:spcAft>
              <a:buSzPct val="100000"/>
              <a:buChar char="•"/>
            </a:pPr>
            <a:r>
              <a:rPr lang="en-US" sz="1700" dirty="0">
                <a:solidFill>
                  <a:schemeClr val="tx1"/>
                </a:solidFill>
              </a:rPr>
              <a:t>emitsDone: aliran selesai. emitsError(isArgumentError): galat di dalam aliran.</a:t>
            </a:r>
            <a:endParaRPr lang="en-US" sz="1700" dirty="0"/>
          </a:p>
          <a:p>
            <a:pPr marL="228600" indent="-228600">
              <a:spcAft>
                <a:spcPts val="800"/>
              </a:spcAft>
              <a:buSzPct val="100000"/>
              <a:buChar char="•"/>
            </a:pPr>
            <a:r>
              <a:rPr lang="en-US" sz="1700" dirty="0">
                <a:solidFill>
                  <a:schemeClr val="tx1"/>
                </a:solidFill>
              </a:rPr>
              <a:t>neverEmits(x): tidak pernah mengeluarkan x sampai selesai.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5</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Menguji ViewModel dengan Data Palsu</a:t>
            </a:r>
            <a:endParaRPr lang="en-US" sz="4000" dirty="0"/>
          </a:p>
        </p:txBody>
      </p:sp>
      <p:sp>
        <p:nvSpPr>
          <p:cNvPr id="5" name="lingkaran data"/>
          <p:cNvSpPr/>
          <p:nvPr/>
        </p:nvSpPr>
        <p:spPr>
          <a:xfrm>
            <a:off x="1097280" y="2148840"/>
            <a:ext cx="2011680" cy="2011680"/>
          </a:xfrm>
          <a:prstGeom prst="ellipse">
            <a:avLst/>
          </a:prstGeom>
          <a:solidFill>
            <a:schemeClr val="accent1"/>
          </a:solidFill>
          <a:ln/>
        </p:spPr>
      </p:sp>
      <p:pic>
        <p:nvPicPr>
          <p:cNvPr id="6" name="Image 0" descr="data">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Data Palsu (fake) dan Tiruan (mock)</a:t>
            </a:r>
            <a:endParaRPr lang="en-US" sz="3200" dirty="0"/>
          </a:p>
        </p:txBody>
      </p:sp>
      <p:sp>
        <p:nvSpPr>
          <p:cNvPr id="4" name="kolom 1"/>
          <p:cNvSpPr/>
          <p:nvPr/>
        </p:nvSpPr>
        <p:spPr>
          <a:xfrm>
            <a:off x="548640" y="1371600"/>
            <a:ext cx="5387188" cy="3931920"/>
          </a:xfrm>
          <a:prstGeom prst="roundRect">
            <a:avLst>
              <a:gd name="adj" fmla="val 2791"/>
            </a:avLst>
          </a:prstGeom>
          <a:solidFill>
            <a:srgbClr val="E3F2FD"/>
          </a:solidFill>
          <a:ln w="25400">
            <a:solidFill>
              <a:schemeClr val="accent1"/>
            </a:solidFill>
            <a:prstDash val="solid"/>
          </a:ln>
        </p:spPr>
      </p:sp>
      <p:sp>
        <p:nvSpPr>
          <p:cNvPr id="5" name="lingkaran data"/>
          <p:cNvSpPr/>
          <p:nvPr/>
        </p:nvSpPr>
        <p:spPr>
          <a:xfrm>
            <a:off x="777240" y="1600200"/>
            <a:ext cx="685800" cy="685800"/>
          </a:xfrm>
          <a:prstGeom prst="ellipse">
            <a:avLst/>
          </a:prstGeom>
          <a:solidFill>
            <a:schemeClr val="accent4"/>
          </a:solidFill>
          <a:ln/>
        </p:spPr>
      </p:sp>
      <p:pic>
        <p:nvPicPr>
          <p:cNvPr id="6" name="Image 0" descr="data">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Data palsu (fake)</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4"/>
                </a:solidFill>
              </a:rPr>
              <a:t>Pilihan modul ini</a:t>
            </a:r>
            <a:endParaRPr lang="en-US" sz="1400" dirty="0"/>
          </a:p>
        </p:txBody>
      </p:sp>
      <p:sp>
        <p:nvSpPr>
          <p:cNvPr id="9" name="daftar poin"/>
          <p:cNvSpPr txBox="1"/>
          <p:nvPr/>
        </p:nvSpPr>
        <p:spPr>
          <a:xfrm>
            <a:off x="777240" y="2926080"/>
            <a:ext cx="4929988" cy="22402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Kelas sungguhan yang memenuhi kontrak, tetapi sederhana: data di memori</a:t>
            </a:r>
            <a:endParaRPr lang="en-US" sz="1600" dirty="0"/>
          </a:p>
          <a:p>
            <a:pPr marL="228600" indent="-228600">
              <a:spcAft>
                <a:spcPts val="800"/>
              </a:spcAft>
              <a:buSzPct val="100000"/>
              <a:buChar char="•"/>
            </a:pPr>
            <a:r>
              <a:rPr lang="en-US" sz="1600" dirty="0">
                <a:solidFill>
                  <a:schemeClr val="tx1"/>
                </a:solidFill>
              </a:rPr>
              <a:t>Contoh: RepositoriAntreanPalsu, RepositoriPeminjamanMemori (P12)</a:t>
            </a:r>
            <a:endParaRPr lang="en-US" sz="1600" dirty="0"/>
          </a:p>
          <a:p>
            <a:pPr marL="228600" indent="-228600">
              <a:spcAft>
                <a:spcPts val="800"/>
              </a:spcAft>
              <a:buSzPct val="100000"/>
              <a:buChar char="•"/>
            </a:pPr>
            <a:r>
              <a:rPr lang="en-US" sz="1600" dirty="0">
                <a:solidFill>
                  <a:schemeClr val="tx1"/>
                </a:solidFill>
              </a:rPr>
              <a:t>Mudah dibaca, dipakai banyak tes, juga saat mengembangkan aplikasi</a:t>
            </a:r>
            <a:endParaRPr lang="en-US" sz="1600" dirty="0"/>
          </a:p>
          <a:p>
            <a:pPr marL="228600" indent="-228600">
              <a:spcAft>
                <a:spcPts val="800"/>
              </a:spcAft>
              <a:buSzPct val="100000"/>
              <a:buChar char="•"/>
            </a:pPr>
            <a:r>
              <a:rPr lang="en-US" sz="1600" dirty="0">
                <a:solidFill>
                  <a:schemeClr val="tx1"/>
                </a:solidFill>
              </a:rPr>
              <a:t>Kekurangan: harus ditulis sendiri</a:t>
            </a:r>
            <a:endParaRPr lang="en-US" sz="1600" dirty="0"/>
          </a:p>
        </p:txBody>
      </p:sp>
      <p:sp>
        <p:nvSpPr>
          <p:cNvPr id="10" name="kolom 2"/>
          <p:cNvSpPr/>
          <p:nvPr/>
        </p:nvSpPr>
        <p:spPr>
          <a:xfrm>
            <a:off x="6255868" y="1371600"/>
            <a:ext cx="5387188" cy="3931920"/>
          </a:xfrm>
          <a:prstGeom prst="roundRect">
            <a:avLst>
              <a:gd name="adj" fmla="val 2791"/>
            </a:avLst>
          </a:prstGeom>
          <a:solidFill>
            <a:schemeClr val="bg2"/>
          </a:solidFill>
          <a:ln/>
        </p:spPr>
      </p:sp>
      <p:sp>
        <p:nvSpPr>
          <p:cNvPr id="11" name="lingkaran puzzle"/>
          <p:cNvSpPr/>
          <p:nvPr/>
        </p:nvSpPr>
        <p:spPr>
          <a:xfrm>
            <a:off x="6484468" y="1600200"/>
            <a:ext cx="685800" cy="685800"/>
          </a:xfrm>
          <a:prstGeom prst="ellipse">
            <a:avLst/>
          </a:prstGeom>
          <a:solidFill>
            <a:schemeClr val="accent6"/>
          </a:solidFill>
          <a:ln/>
        </p:spPr>
      </p:sp>
      <p:pic>
        <p:nvPicPr>
          <p:cNvPr id="12" name="Image 1" descr="puzzle">    </p:cNvPr>
          <p:cNvPicPr>
            <a:picLocks noChangeAspect="1"/>
          </p:cNvPicPr>
          <p:nvPr/>
        </p:nvPicPr>
        <p:blipFill>
          <a:blip r:embed="rId2"/>
          <a:stretch>
            <a:fillRect/>
          </a:stretch>
        </p:blipFill>
        <p:spPr>
          <a:xfrm>
            <a:off x="6635344" y="1751076"/>
            <a:ext cx="384048" cy="384048"/>
          </a:xfrm>
          <a:prstGeom prst="rect">
            <a:avLst/>
          </a:prstGeom>
        </p:spPr>
      </p:pic>
      <p:sp>
        <p:nvSpPr>
          <p:cNvPr id="13" name="Text 8"/>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Tiruan (mock)</a:t>
            </a:r>
            <a:endParaRPr lang="en-US" sz="1900" dirty="0"/>
          </a:p>
        </p:txBody>
      </p:sp>
      <p:sp>
        <p:nvSpPr>
          <p:cNvPr id="14" name="Text 9"/>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6"/>
                </a:solidFill>
              </a:rPr>
              <a:t>Paket mocktail atau mockito (Bagian 14.4)</a:t>
            </a:r>
            <a:endParaRPr lang="en-US" sz="1400" dirty="0"/>
          </a:p>
        </p:txBody>
      </p:sp>
      <p:sp>
        <p:nvSpPr>
          <p:cNvPr id="15" name="daftar poin"/>
          <p:cNvSpPr txBox="1"/>
          <p:nvPr/>
        </p:nvSpPr>
        <p:spPr>
          <a:xfrm>
            <a:off x="6484468" y="2926080"/>
            <a:ext cx="4929988" cy="22402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Objek buatan paket; setiap jawabannya diatur di dalam tes</a:t>
            </a:r>
            <a:endParaRPr lang="en-US" sz="1600" dirty="0"/>
          </a:p>
          <a:p>
            <a:pPr marL="228600" indent="-228600">
              <a:spcAft>
                <a:spcPts val="800"/>
              </a:spcAft>
              <a:buSzPct val="100000"/>
              <a:buChar char="•"/>
            </a:pPr>
            <a:r>
              <a:rPr lang="en-US" sz="1600" dirty="0">
                <a:solidFill>
                  <a:schemeClr val="tx1"/>
                </a:solidFill>
              </a:rPr>
              <a:t>Contoh: when(() =&gt; repo.semua()).thenAnswer(...)</a:t>
            </a:r>
            <a:endParaRPr lang="en-US" sz="1600" dirty="0"/>
          </a:p>
          <a:p>
            <a:pPr marL="228600" indent="-228600">
              <a:spcAft>
                <a:spcPts val="800"/>
              </a:spcAft>
              <a:buSzPct val="100000"/>
              <a:buChar char="•"/>
            </a:pPr>
            <a:r>
              <a:rPr lang="en-US" sz="1600" dirty="0">
                <a:solidFill>
                  <a:schemeClr val="tx1"/>
                </a:solidFill>
              </a:rPr>
              <a:t>Cepat untuk satu kasus khusus; memeriksa panggilan dengan rinci</a:t>
            </a:r>
            <a:endParaRPr lang="en-US" sz="1600" dirty="0"/>
          </a:p>
          <a:p>
            <a:pPr marL="228600" indent="-228600">
              <a:spcAft>
                <a:spcPts val="800"/>
              </a:spcAft>
              <a:buSzPct val="100000"/>
              <a:buChar char="•"/>
            </a:pPr>
            <a:r>
              <a:rPr lang="en-US" sz="1600" dirty="0">
                <a:solidFill>
                  <a:schemeClr val="tx1"/>
                </a:solidFill>
              </a:rPr>
              <a:t>Kekurangan: tes ikut terikat pada cara kode memanggil repository</a:t>
            </a:r>
            <a:endParaRPr lang="en-US" sz="1600" dirty="0"/>
          </a:p>
        </p:txBody>
      </p:sp>
      <p:sp>
        <p:nvSpPr>
          <p:cNvPr id="16" name="lingkaran lampu"/>
          <p:cNvSpPr/>
          <p:nvPr/>
        </p:nvSpPr>
        <p:spPr>
          <a:xfrm>
            <a:off x="548640" y="5532120"/>
            <a:ext cx="548640" cy="548640"/>
          </a:xfrm>
          <a:prstGeom prst="ellipse">
            <a:avLst/>
          </a:prstGeom>
          <a:solidFill>
            <a:schemeClr val="accent3"/>
          </a:solidFill>
          <a:ln/>
        </p:spPr>
      </p:sp>
      <p:pic>
        <p:nvPicPr>
          <p:cNvPr id="17" name="Image 2" descr="lampu">    </p:cNvPr>
          <p:cNvPicPr>
            <a:picLocks noChangeAspect="1"/>
          </p:cNvPicPr>
          <p:nvPr/>
        </p:nvPicPr>
        <p:blipFill>
          <a:blip r:embed="rId3"/>
          <a:stretch>
            <a:fillRect/>
          </a:stretch>
        </p:blipFill>
        <p:spPr>
          <a:xfrm>
            <a:off x="669341" y="5652821"/>
            <a:ext cx="307238" cy="307238"/>
          </a:xfrm>
          <a:prstGeom prst="rect">
            <a:avLst/>
          </a:prstGeom>
        </p:spPr>
      </p:pic>
      <p:sp>
        <p:nvSpPr>
          <p:cNvPr id="18" name="Text 12"/>
          <p:cNvSpPr txBox="1"/>
          <p:nvPr/>
        </p:nvSpPr>
        <p:spPr>
          <a:xfrm>
            <a:off x="1280160" y="5440680"/>
            <a:ext cx="10362895" cy="731520"/>
          </a:xfrm>
          <a:prstGeom prst="rect">
            <a:avLst/>
          </a:prstGeom>
          <a:noFill/>
          <a:ln/>
        </p:spPr>
        <p:txBody>
          <a:bodyPr wrap="square" lIns="0" tIns="0" rIns="0" bIns="0" rtlCol="0" anchor="ctr"/>
          <a:lstStyle/>
          <a:p>
            <a:pPr indent="0" marL="0">
              <a:buNone/>
            </a:pPr>
            <a:r>
              <a:rPr lang="en-US" sz="1700" dirty="0">
                <a:solidFill>
                  <a:schemeClr val="tx1"/>
                </a:solidFill>
              </a:rPr>
              <a:t>ViewModel tidak berisi widget: hanya kelas Dart yang menerima repository lewat constructor. Karena itu ia bisa diuji TANPA layar.</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Data Palsu dengan "Remote Control"</a:t>
            </a:r>
            <a:endParaRPr lang="en-US" sz="3200" dirty="0"/>
          </a:p>
        </p:txBody>
      </p:sp>
      <p:sp>
        <p:nvSpPr>
          <p:cNvPr id="4" name="kotak kode"/>
          <p:cNvSpPr txBox="1"/>
          <p:nvPr/>
        </p:nvSpPr>
        <p:spPr>
          <a:xfrm>
            <a:off x="548640" y="1371600"/>
            <a:ext cx="6766560" cy="4107942"/>
          </a:xfrm>
          <a:prstGeom prst="roundRect">
            <a:avLst>
              <a:gd name="adj" fmla="val 2226"/>
            </a:avLst>
          </a:prstGeom>
          <a:solidFill>
            <a:srgbClr val="0E1A2B"/>
          </a:solidFill>
          <a:ln/>
        </p:spPr>
        <p:txBody>
          <a:bodyPr wrap="square" lIns="177800" tIns="152400" rIns="152400" bIns="177800" rtlCol="0" anchor="t"/>
          <a:lstStyle/>
          <a:p>
            <a:pPr indent="0" marL="0">
              <a:lnSpc>
                <a:spcPct val="105000"/>
              </a:lnSpc>
              <a:buNone/>
            </a:pPr>
            <a:r>
              <a:rPr lang="en-US" sz="1050" dirty="0">
                <a:solidFill>
                  <a:srgbClr val="C792EA"/>
                </a:solidFill>
                <a:latin typeface="Consolas" pitchFamily="34" charset="0"/>
                <a:ea typeface="Consolas" pitchFamily="34" charset="-122"/>
                <a:cs typeface="Consolas" pitchFamily="34" charset="-120"/>
              </a:rPr>
              <a:t>class</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RepositoriAntreanPalsu</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implements</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RepositoriAntrean</a:t>
            </a: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i="1" dirty="0">
                <a:solidFill>
                  <a:srgbClr val="8FA3BC"/>
                </a:solidFill>
                <a:latin typeface="Consolas" pitchFamily="34" charset="0"/>
                <a:ea typeface="Consolas" pitchFamily="34" charset="-122"/>
                <a:cs typeface="Consolas" pitchFamily="34" charset="-120"/>
              </a:rPr>
              <a:t>// 1. Pura-pura gagal.</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Kegagalan</a:t>
            </a:r>
            <a:r>
              <a:rPr lang="en-US" sz="1050" dirty="0">
                <a:solidFill>
                  <a:srgbClr val="E6EDF3"/>
                </a:solidFill>
                <a:latin typeface="Consolas" pitchFamily="34" charset="0"/>
                <a:ea typeface="Consolas" pitchFamily="34" charset="-122"/>
                <a:cs typeface="Consolas" pitchFamily="34" charset="-120"/>
              </a:rPr>
              <a:t>? gagalSaatMemuat;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Kegagalan</a:t>
            </a:r>
            <a:r>
              <a:rPr lang="en-US" sz="1050" dirty="0">
                <a:solidFill>
                  <a:srgbClr val="E6EDF3"/>
                </a:solidFill>
                <a:latin typeface="Consolas" pitchFamily="34" charset="0"/>
                <a:ea typeface="Consolas" pitchFamily="34" charset="-122"/>
                <a:cs typeface="Consolas" pitchFamily="34" charset="-120"/>
              </a:rPr>
              <a:t>? gagalSaatMengambil;</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i="1" dirty="0">
                <a:solidFill>
                  <a:srgbClr val="8FA3BC"/>
                </a:solidFill>
                <a:latin typeface="Consolas" pitchFamily="34" charset="0"/>
                <a:ea typeface="Consolas" pitchFamily="34" charset="-122"/>
                <a:cs typeface="Consolas" pitchFamily="34" charset="-120"/>
              </a:rPr>
              <a:t>// 2. Mata-mata (spy): berapa kali "server" dihubungi.</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int</a:t>
            </a:r>
            <a:r>
              <a:rPr lang="en-US" sz="1050" dirty="0">
                <a:solidFill>
                  <a:srgbClr val="E6EDF3"/>
                </a:solidFill>
                <a:latin typeface="Consolas" pitchFamily="34" charset="0"/>
                <a:ea typeface="Consolas" pitchFamily="34" charset="-122"/>
                <a:cs typeface="Consolas" pitchFamily="34" charset="-120"/>
              </a:rPr>
              <a:t> jumlahMemuat = </a:t>
            </a:r>
            <a:r>
              <a:rPr lang="en-US" sz="1050" dirty="0">
                <a:solidFill>
                  <a:srgbClr val="F78C6C"/>
                </a:solidFill>
                <a:latin typeface="Consolas" pitchFamily="34" charset="0"/>
                <a:ea typeface="Consolas" pitchFamily="34" charset="-122"/>
                <a:cs typeface="Consolas" pitchFamily="34" charset="-120"/>
              </a:rPr>
              <a:t>0</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int</a:t>
            </a:r>
            <a:r>
              <a:rPr lang="en-US" sz="1050" dirty="0">
                <a:solidFill>
                  <a:srgbClr val="E6EDF3"/>
                </a:solidFill>
                <a:latin typeface="Consolas" pitchFamily="34" charset="0"/>
                <a:ea typeface="Consolas" pitchFamily="34" charset="-122"/>
                <a:cs typeface="Consolas" pitchFamily="34" charset="-120"/>
              </a:rPr>
              <a:t> jumlahMengambil = </a:t>
            </a:r>
            <a:r>
              <a:rPr lang="en-US" sz="1050" dirty="0">
                <a:solidFill>
                  <a:srgbClr val="F78C6C"/>
                </a:solidFill>
                <a:latin typeface="Consolas" pitchFamily="34" charset="0"/>
                <a:ea typeface="Consolas" pitchFamily="34" charset="-122"/>
                <a:cs typeface="Consolas" pitchFamily="34" charset="-120"/>
              </a:rPr>
              <a:t>0</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i="1" dirty="0">
                <a:solidFill>
                  <a:srgbClr val="8FA3BC"/>
                </a:solidFill>
                <a:latin typeface="Consolas" pitchFamily="34" charset="0"/>
                <a:ea typeface="Consolas" pitchFamily="34" charset="-122"/>
                <a:cs typeface="Consolas" pitchFamily="34" charset="-120"/>
              </a:rPr>
              <a:t>// 3. Tahan: setiap panggilan MENUNGGU sampai lepaskan() dipanggil.</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bool</a:t>
            </a:r>
            <a:r>
              <a:rPr lang="en-US" sz="1050" dirty="0">
                <a:solidFill>
                  <a:srgbClr val="E6EDF3"/>
                </a:solidFill>
                <a:latin typeface="Consolas" pitchFamily="34" charset="0"/>
                <a:ea typeface="Consolas" pitchFamily="34" charset="-122"/>
                <a:cs typeface="Consolas" pitchFamily="34" charset="-120"/>
              </a:rPr>
              <a:t> tahan = </a:t>
            </a:r>
            <a:r>
              <a:rPr lang="en-US" sz="1050" dirty="0">
                <a:solidFill>
                  <a:srgbClr val="C792EA"/>
                </a:solidFill>
                <a:latin typeface="Consolas" pitchFamily="34" charset="0"/>
                <a:ea typeface="Consolas" pitchFamily="34" charset="-122"/>
                <a:cs typeface="Consolas" pitchFamily="34" charset="-120"/>
              </a:rPr>
              <a:t>false</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i="1" dirty="0">
                <a:solidFill>
                  <a:srgbClr val="8FA3BC"/>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89DDFF"/>
                </a:solidFill>
                <a:latin typeface="Consolas" pitchFamily="34" charset="0"/>
                <a:ea typeface="Consolas" pitchFamily="34" charset="-122"/>
                <a:cs typeface="Consolas" pitchFamily="34" charset="-120"/>
              </a:rPr>
              <a:t>@override</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Future</a:t>
            </a:r>
            <a:r>
              <a:rPr lang="en-US" sz="1050" dirty="0">
                <a:solidFill>
                  <a:srgbClr val="E6EDF3"/>
                </a:solidFill>
                <a:latin typeface="Consolas" pitchFamily="34" charset="0"/>
                <a:ea typeface="Consolas" pitchFamily="34" charset="-122"/>
                <a:cs typeface="Consolas" pitchFamily="34" charset="-120"/>
              </a:rPr>
              <a:t>&lt;</a:t>
            </a:r>
            <a:r>
              <a:rPr lang="en-US" sz="1050" dirty="0">
                <a:solidFill>
                  <a:srgbClr val="FFCB6B"/>
                </a:solidFill>
                <a:latin typeface="Consolas" pitchFamily="34" charset="0"/>
                <a:ea typeface="Consolas" pitchFamily="34" charset="-122"/>
                <a:cs typeface="Consolas" pitchFamily="34" charset="-120"/>
              </a:rPr>
              <a:t>Hasil</a:t>
            </a:r>
            <a:r>
              <a:rPr lang="en-US" sz="1050" dirty="0">
                <a:solidFill>
                  <a:srgbClr val="E6EDF3"/>
                </a:solidFill>
                <a:latin typeface="Consolas" pitchFamily="34" charset="0"/>
                <a:ea typeface="Consolas" pitchFamily="34" charset="-122"/>
                <a:cs typeface="Consolas" pitchFamily="34" charset="-120"/>
              </a:rPr>
              <a:t>&lt;</a:t>
            </a:r>
            <a:r>
              <a:rPr lang="en-US" sz="1050" dirty="0">
                <a:solidFill>
                  <a:srgbClr val="FFCB6B"/>
                </a:solidFill>
                <a:latin typeface="Consolas" pitchFamily="34" charset="0"/>
                <a:ea typeface="Consolas" pitchFamily="34" charset="-122"/>
                <a:cs typeface="Consolas" pitchFamily="34" charset="-120"/>
              </a:rPr>
              <a:t>List</a:t>
            </a:r>
            <a:r>
              <a:rPr lang="en-US" sz="1050" dirty="0">
                <a:solidFill>
                  <a:srgbClr val="E6EDF3"/>
                </a:solidFill>
                <a:latin typeface="Consolas" pitchFamily="34" charset="0"/>
                <a:ea typeface="Consolas" pitchFamily="34" charset="-122"/>
                <a:cs typeface="Consolas" pitchFamily="34" charset="-120"/>
              </a:rPr>
              <a:t>&lt;</a:t>
            </a:r>
            <a:r>
              <a:rPr lang="en-US" sz="1050" dirty="0">
                <a:solidFill>
                  <a:srgbClr val="FFCB6B"/>
                </a:solidFill>
                <a:latin typeface="Consolas" pitchFamily="34" charset="0"/>
                <a:ea typeface="Consolas" pitchFamily="34" charset="-122"/>
                <a:cs typeface="Consolas" pitchFamily="34" charset="-120"/>
              </a:rPr>
              <a:t>Antrean</a:t>
            </a:r>
            <a:r>
              <a:rPr lang="en-US" sz="1050" dirty="0">
                <a:solidFill>
                  <a:srgbClr val="E6EDF3"/>
                </a:solidFill>
                <a:latin typeface="Consolas" pitchFamily="34" charset="0"/>
                <a:ea typeface="Consolas" pitchFamily="34" charset="-122"/>
                <a:cs typeface="Consolas" pitchFamily="34" charset="-120"/>
              </a:rPr>
              <a:t>&gt;&gt;&gt; semua() </a:t>
            </a:r>
            <a:r>
              <a:rPr lang="en-US" sz="1050" dirty="0">
                <a:solidFill>
                  <a:srgbClr val="C792EA"/>
                </a:solidFill>
                <a:latin typeface="Consolas" pitchFamily="34" charset="0"/>
                <a:ea typeface="Consolas" pitchFamily="34" charset="-122"/>
                <a:cs typeface="Consolas" pitchFamily="34" charset="-120"/>
              </a:rPr>
              <a:t>async</a:t>
            </a: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jumlahMemuat++;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await</a:t>
            </a:r>
            <a:r>
              <a:rPr lang="en-US" sz="1050" dirty="0">
                <a:solidFill>
                  <a:srgbClr val="E6EDF3"/>
                </a:solidFill>
                <a:latin typeface="Consolas" pitchFamily="34" charset="0"/>
                <a:ea typeface="Consolas" pitchFamily="34" charset="-122"/>
                <a:cs typeface="Consolas" pitchFamily="34" charset="-120"/>
              </a:rPr>
              <a:t> _mungkinDitahan();</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final</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Kegagalan</a:t>
            </a:r>
            <a:r>
              <a:rPr lang="en-US" sz="1050" dirty="0">
                <a:solidFill>
                  <a:srgbClr val="E6EDF3"/>
                </a:solidFill>
                <a:latin typeface="Consolas" pitchFamily="34" charset="0"/>
                <a:ea typeface="Consolas" pitchFamily="34" charset="-122"/>
                <a:cs typeface="Consolas" pitchFamily="34" charset="-120"/>
              </a:rPr>
              <a:t>? kegagalan = gagalSaatMemuat;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if</a:t>
            </a:r>
            <a:r>
              <a:rPr lang="en-US" sz="1050" dirty="0">
                <a:solidFill>
                  <a:srgbClr val="E6EDF3"/>
                </a:solidFill>
                <a:latin typeface="Consolas" pitchFamily="34" charset="0"/>
                <a:ea typeface="Consolas" pitchFamily="34" charset="-122"/>
                <a:cs typeface="Consolas" pitchFamily="34" charset="-120"/>
              </a:rPr>
              <a:t> (kegagalan != </a:t>
            </a:r>
            <a:r>
              <a:rPr lang="en-US" sz="1050" dirty="0">
                <a:solidFill>
                  <a:srgbClr val="C792EA"/>
                </a:solidFill>
                <a:latin typeface="Consolas" pitchFamily="34" charset="0"/>
                <a:ea typeface="Consolas" pitchFamily="34" charset="-122"/>
                <a:cs typeface="Consolas" pitchFamily="34" charset="-120"/>
              </a:rPr>
              <a:t>null</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return</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Gagal</a:t>
            </a:r>
            <a:r>
              <a:rPr lang="en-US" sz="1050" dirty="0">
                <a:solidFill>
                  <a:srgbClr val="E6EDF3"/>
                </a:solidFill>
                <a:latin typeface="Consolas" pitchFamily="34" charset="0"/>
                <a:ea typeface="Consolas" pitchFamily="34" charset="-122"/>
                <a:cs typeface="Consolas" pitchFamily="34" charset="-120"/>
              </a:rPr>
              <a:t>(kegagalan);</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return</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Berhasil</a:t>
            </a:r>
            <a:r>
              <a:rPr lang="en-US" sz="1050" dirty="0">
                <a:solidFill>
                  <a:srgbClr val="E6EDF3"/>
                </a:solidFill>
                <a:latin typeface="Consolas" pitchFamily="34" charset="0"/>
                <a:ea typeface="Consolas" pitchFamily="34" charset="-122"/>
                <a:cs typeface="Consolas" pitchFamily="34" charset="-120"/>
              </a:rPr>
              <a:t>(</a:t>
            </a:r>
            <a:r>
              <a:rPr lang="en-US" sz="1050" dirty="0">
                <a:solidFill>
                  <a:srgbClr val="FFCB6B"/>
                </a:solidFill>
                <a:latin typeface="Consolas" pitchFamily="34" charset="0"/>
                <a:ea typeface="Consolas" pitchFamily="34" charset="-122"/>
                <a:cs typeface="Consolas" pitchFamily="34" charset="-120"/>
              </a:rPr>
              <a:t>List</a:t>
            </a:r>
            <a:r>
              <a:rPr lang="en-US" sz="1050" dirty="0">
                <a:solidFill>
                  <a:srgbClr val="E6EDF3"/>
                </a:solidFill>
                <a:latin typeface="Consolas" pitchFamily="34" charset="0"/>
                <a:ea typeface="Consolas" pitchFamily="34" charset="-122"/>
                <a:cs typeface="Consolas" pitchFamily="34" charset="-120"/>
              </a:rPr>
              <a:t>.of(_isi));</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i="1" dirty="0">
                <a:solidFill>
                  <a:srgbClr val="8FA3BC"/>
                </a:solidFill>
                <a:latin typeface="Consolas" pitchFamily="34" charset="0"/>
                <a:ea typeface="Consolas" pitchFamily="34" charset="-122"/>
                <a:cs typeface="Consolas" pitchFamily="34" charset="-120"/>
              </a:rPr>
              <a:t>// ambilNomor() serupa.</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p:txBody>
      </p:sp>
      <p:sp>
        <p:nvSpPr>
          <p:cNvPr id="5" name="tombol tautan">
            <a:hlinkClick r:id="rId1" tooltip="https://github.com/antonprafanto/mobile2026/blob/main/pertemuan_14_pengujian_dan_debugging/kode/contoh_04_menguji_viewmodel_test.dart"/>
          </p:cNvPr>
          <p:cNvSpPr txBox="1"/>
          <p:nvPr/>
        </p:nvSpPr>
        <p:spPr>
          <a:xfrm>
            <a:off x="548640" y="5708142"/>
            <a:ext cx="67665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contoh_04_menguji_viewmodel_test.dart</a:t>
            </a:r>
            <a:endParaRPr lang="en-US" sz="1300" dirty="0"/>
          </a:p>
        </p:txBody>
      </p:sp>
      <p:pic>
        <p:nvPicPr>
          <p:cNvPr id="6" name="Image 0" descr="ikon tautan">
            <a:hlinkClick r:id="rId3" tooltip="https://github.com/antonprafanto/mobile2026/blob/main/pertemuan_14_pengujian_dan_debugging/kode/contoh_04_menguji_viewmodel_test.dart"/>
          </p:cNvPr>
          <p:cNvPicPr>
            <a:picLocks noChangeAspect="1"/>
          </p:cNvPicPr>
          <p:nvPr/>
        </p:nvPicPr>
        <p:blipFill>
          <a:blip r:embed="rId2"/>
          <a:stretch>
            <a:fillRect/>
          </a:stretch>
        </p:blipFill>
        <p:spPr>
          <a:xfrm>
            <a:off x="694944" y="5799582"/>
            <a:ext cx="274320" cy="274320"/>
          </a:xfrm>
          <a:prstGeom prst="rect">
            <a:avLst/>
          </a:prstGeom>
        </p:spPr>
      </p:pic>
      <p:sp>
        <p:nvSpPr>
          <p:cNvPr id="7"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Pura-pura gagal: tes mengisi gagalSaatMemuat, misalnya const TanpaKoneksi().</a:t>
            </a:r>
            <a:endParaRPr lang="en-US" sz="1700" dirty="0"/>
          </a:p>
          <a:p>
            <a:pPr marL="228600" indent="-228600">
              <a:spcAft>
                <a:spcPts val="800"/>
              </a:spcAft>
              <a:buSzPct val="100000"/>
              <a:buChar char="•"/>
            </a:pPr>
            <a:r>
              <a:rPr lang="en-US" sz="1700" dirty="0">
                <a:solidFill>
                  <a:schemeClr val="tx1"/>
                </a:solidFill>
              </a:rPr>
              <a:t>Mata-mata (spy): jumlahMemuat dan jumlahMengambil membuktikan "server" dihubungi, atau TIDAK.</a:t>
            </a:r>
            <a:endParaRPr lang="en-US" sz="1700" dirty="0"/>
          </a:p>
          <a:p>
            <a:pPr marL="228600" indent="-228600">
              <a:spcAft>
                <a:spcPts val="800"/>
              </a:spcAft>
              <a:buSzPct val="100000"/>
              <a:buChar char="•"/>
            </a:pPr>
            <a:r>
              <a:rPr lang="en-US" sz="1700" dirty="0">
                <a:solidFill>
                  <a:schemeClr val="tx1"/>
                </a:solidFill>
              </a:rPr>
              <a:t>Tahan: keadaan di tengah jalan ("sedang memuat") bisa diperiksa (slide berikutnya).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Menahan dengan Completer</a:t>
            </a:r>
            <a:endParaRPr lang="en-US" sz="3200" dirty="0"/>
          </a:p>
        </p:txBody>
      </p:sp>
      <p:sp>
        <p:nvSpPr>
          <p:cNvPr id="4" name="kotak kode"/>
          <p:cNvSpPr txBox="1"/>
          <p:nvPr/>
        </p:nvSpPr>
        <p:spPr>
          <a:xfrm>
            <a:off x="548640" y="1371600"/>
            <a:ext cx="7132320" cy="3539871"/>
          </a:xfrm>
          <a:prstGeom prst="roundRect">
            <a:avLst>
              <a:gd name="adj" fmla="val 2583"/>
            </a:avLst>
          </a:prstGeom>
          <a:solidFill>
            <a:srgbClr val="0E1A2B"/>
          </a:solidFill>
          <a:ln/>
        </p:spPr>
        <p:txBody>
          <a:bodyPr wrap="square" lIns="177800" tIns="152400" rIns="152400" bIns="177800" rtlCol="0" anchor="t"/>
          <a:lstStyle/>
          <a:p>
            <a:pPr indent="0" marL="0">
              <a:lnSpc>
                <a:spcPct val="105000"/>
              </a:lnSpc>
              <a:buNone/>
            </a:pPr>
            <a:r>
              <a:rPr lang="en-US" sz="1150" dirty="0">
                <a:solidFill>
                  <a:srgbClr val="FFCB6B"/>
                </a:solidFill>
                <a:latin typeface="Consolas" pitchFamily="34" charset="0"/>
                <a:ea typeface="Consolas" pitchFamily="34" charset="-122"/>
                <a:cs typeface="Consolas" pitchFamily="34" charset="-120"/>
              </a:rPr>
              <a:t>Future</a:t>
            </a:r>
            <a:r>
              <a:rPr lang="en-US" sz="1150" dirty="0">
                <a:solidFill>
                  <a:srgbClr val="E6EDF3"/>
                </a:solidFill>
                <a:latin typeface="Consolas" pitchFamily="34" charset="0"/>
                <a:ea typeface="Consolas" pitchFamily="34" charset="-122"/>
                <a:cs typeface="Consolas" pitchFamily="34" charset="-120"/>
              </a:rPr>
              <a:t>&lt;</a:t>
            </a:r>
            <a:r>
              <a:rPr lang="en-US" sz="1150" dirty="0">
                <a:solidFill>
                  <a:srgbClr val="C792EA"/>
                </a:solidFill>
                <a:latin typeface="Consolas" pitchFamily="34" charset="0"/>
                <a:ea typeface="Consolas" pitchFamily="34" charset="-122"/>
                <a:cs typeface="Consolas" pitchFamily="34" charset="-120"/>
              </a:rPr>
              <a:t>void</a:t>
            </a:r>
            <a:r>
              <a:rPr lang="en-US" sz="1150" dirty="0">
                <a:solidFill>
                  <a:srgbClr val="E6EDF3"/>
                </a:solidFill>
                <a:latin typeface="Consolas" pitchFamily="34" charset="0"/>
                <a:ea typeface="Consolas" pitchFamily="34" charset="-122"/>
                <a:cs typeface="Consolas" pitchFamily="34" charset="-120"/>
              </a:rPr>
              <a:t>&gt; _mungkinDitahan() </a:t>
            </a:r>
            <a:r>
              <a:rPr lang="en-US" sz="1150" dirty="0">
                <a:solidFill>
                  <a:srgbClr val="C792EA"/>
                </a:solidFill>
                <a:latin typeface="Consolas" pitchFamily="34" charset="0"/>
                <a:ea typeface="Consolas" pitchFamily="34" charset="-122"/>
                <a:cs typeface="Consolas" pitchFamily="34" charset="-120"/>
              </a:rPr>
              <a:t>async</a:t>
            </a: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if</a:t>
            </a:r>
            <a:r>
              <a:rPr lang="en-US" sz="1150" dirty="0">
                <a:solidFill>
                  <a:srgbClr val="E6EDF3"/>
                </a:solidFill>
                <a:latin typeface="Consolas" pitchFamily="34" charset="0"/>
                <a:ea typeface="Consolas" pitchFamily="34" charset="-122"/>
                <a:cs typeface="Consolas" pitchFamily="34" charset="-120"/>
              </a:rPr>
              <a:t> (!tahan) </a:t>
            </a:r>
            <a:r>
              <a:rPr lang="en-US" sz="1150" dirty="0">
                <a:solidFill>
                  <a:srgbClr val="C792EA"/>
                </a:solidFill>
                <a:latin typeface="Consolas" pitchFamily="34" charset="0"/>
                <a:ea typeface="Consolas" pitchFamily="34" charset="-122"/>
                <a:cs typeface="Consolas" pitchFamily="34" charset="-120"/>
              </a:rPr>
              <a:t>return</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final</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Completer</a:t>
            </a:r>
            <a:r>
              <a:rPr lang="en-US" sz="1150" dirty="0">
                <a:solidFill>
                  <a:srgbClr val="E6EDF3"/>
                </a:solidFill>
                <a:latin typeface="Consolas" pitchFamily="34" charset="0"/>
                <a:ea typeface="Consolas" pitchFamily="34" charset="-122"/>
                <a:cs typeface="Consolas" pitchFamily="34" charset="-120"/>
              </a:rPr>
              <a:t>&lt;</a:t>
            </a:r>
            <a:r>
              <a:rPr lang="en-US" sz="1150" dirty="0">
                <a:solidFill>
                  <a:srgbClr val="C792EA"/>
                </a:solidFill>
                <a:latin typeface="Consolas" pitchFamily="34" charset="0"/>
                <a:ea typeface="Consolas" pitchFamily="34" charset="-122"/>
                <a:cs typeface="Consolas" pitchFamily="34" charset="-120"/>
              </a:rPr>
              <a:t>void</a:t>
            </a:r>
            <a:r>
              <a:rPr lang="en-US" sz="1150" dirty="0">
                <a:solidFill>
                  <a:srgbClr val="E6EDF3"/>
                </a:solidFill>
                <a:latin typeface="Consolas" pitchFamily="34" charset="0"/>
                <a:ea typeface="Consolas" pitchFamily="34" charset="-122"/>
                <a:cs typeface="Consolas" pitchFamily="34" charset="-120"/>
              </a:rPr>
              <a:t>&gt; penahan = </a:t>
            </a:r>
            <a:r>
              <a:rPr lang="en-US" sz="1150" dirty="0">
                <a:solidFill>
                  <a:srgbClr val="FFCB6B"/>
                </a:solidFill>
                <a:latin typeface="Consolas" pitchFamily="34" charset="0"/>
                <a:ea typeface="Consolas" pitchFamily="34" charset="-122"/>
                <a:cs typeface="Consolas" pitchFamily="34" charset="-120"/>
              </a:rPr>
              <a:t>Completer</a:t>
            </a:r>
            <a:r>
              <a:rPr lang="en-US" sz="1150" dirty="0">
                <a:solidFill>
                  <a:srgbClr val="E6EDF3"/>
                </a:solidFill>
                <a:latin typeface="Consolas" pitchFamily="34" charset="0"/>
                <a:ea typeface="Consolas" pitchFamily="34" charset="-122"/>
                <a:cs typeface="Consolas" pitchFamily="34" charset="-120"/>
              </a:rPr>
              <a:t>&lt;</a:t>
            </a:r>
            <a:r>
              <a:rPr lang="en-US" sz="1150" dirty="0">
                <a:solidFill>
                  <a:srgbClr val="C792EA"/>
                </a:solidFill>
                <a:latin typeface="Consolas" pitchFamily="34" charset="0"/>
                <a:ea typeface="Consolas" pitchFamily="34" charset="-122"/>
                <a:cs typeface="Consolas" pitchFamily="34" charset="-120"/>
              </a:rPr>
              <a:t>void</a:t>
            </a:r>
            <a:r>
              <a:rPr lang="en-US" sz="1150" dirty="0">
                <a:solidFill>
                  <a:srgbClr val="E6EDF3"/>
                </a:solidFill>
                <a:latin typeface="Consolas" pitchFamily="34" charset="0"/>
                <a:ea typeface="Consolas" pitchFamily="34" charset="-122"/>
                <a:cs typeface="Consolas" pitchFamily="34" charset="-120"/>
              </a:rPr>
              <a:t>&gt;();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_menunggu.add(penahan);</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await</a:t>
            </a:r>
            <a:r>
              <a:rPr lang="en-US" sz="1150" dirty="0">
                <a:solidFill>
                  <a:srgbClr val="E6EDF3"/>
                </a:solidFill>
                <a:latin typeface="Consolas" pitchFamily="34" charset="0"/>
                <a:ea typeface="Consolas" pitchFamily="34" charset="-122"/>
                <a:cs typeface="Consolas" pitchFamily="34" charset="-120"/>
              </a:rPr>
              <a:t> penahan.future; </a:t>
            </a:r>
            <a:r>
              <a:rPr lang="en-US" sz="1150" i="1" dirty="0">
                <a:solidFill>
                  <a:srgbClr val="8FA3BC"/>
                </a:solidFill>
                <a:latin typeface="Consolas" pitchFamily="34" charset="0"/>
                <a:ea typeface="Consolas" pitchFamily="34" charset="-122"/>
                <a:cs typeface="Consolas" pitchFamily="34" charset="-120"/>
              </a:rPr>
              <a:t>// berhenti di sini sampai complete() dipanggil</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test(</a:t>
            </a:r>
            <a:r>
              <a:rPr lang="en-US" sz="1150" dirty="0">
                <a:solidFill>
                  <a:srgbClr val="C3E88D"/>
                </a:solidFill>
                <a:latin typeface="Consolas" pitchFamily="34" charset="0"/>
                <a:ea typeface="Consolas" pitchFamily="34" charset="-122"/>
                <a:cs typeface="Consolas" pitchFamily="34" charset="-120"/>
              </a:rPr>
              <a:t>'saat repository ditahan, status masih memuat'</a:t>
            </a:r>
            <a:r>
              <a:rPr lang="en-US" sz="1150" dirty="0">
                <a:solidFill>
                  <a:srgbClr val="E6EDF3"/>
                </a:solidFill>
                <a:latin typeface="Consolas" pitchFamily="34" charset="0"/>
                <a:ea typeface="Consolas" pitchFamily="34" charset="-122"/>
                <a:cs typeface="Consolas" pitchFamily="34" charset="-120"/>
              </a:rPr>
              <a:t>, () </a:t>
            </a:r>
            <a:r>
              <a:rPr lang="en-US" sz="1150" dirty="0">
                <a:solidFill>
                  <a:srgbClr val="C792EA"/>
                </a:solidFill>
                <a:latin typeface="Consolas" pitchFamily="34" charset="0"/>
                <a:ea typeface="Consolas" pitchFamily="34" charset="-122"/>
                <a:cs typeface="Consolas" pitchFamily="34" charset="-120"/>
              </a:rPr>
              <a:t>async</a:t>
            </a: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repositori.tahan = </a:t>
            </a:r>
            <a:r>
              <a:rPr lang="en-US" sz="1150" dirty="0">
                <a:solidFill>
                  <a:srgbClr val="C792EA"/>
                </a:solidFill>
                <a:latin typeface="Consolas" pitchFamily="34" charset="0"/>
                <a:ea typeface="Consolas" pitchFamily="34" charset="-122"/>
                <a:cs typeface="Consolas" pitchFamily="34" charset="-120"/>
              </a:rPr>
              <a:t>true</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final</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Future</a:t>
            </a:r>
            <a:r>
              <a:rPr lang="en-US" sz="1150" dirty="0">
                <a:solidFill>
                  <a:srgbClr val="E6EDF3"/>
                </a:solidFill>
                <a:latin typeface="Consolas" pitchFamily="34" charset="0"/>
                <a:ea typeface="Consolas" pitchFamily="34" charset="-122"/>
                <a:cs typeface="Consolas" pitchFamily="34" charset="-120"/>
              </a:rPr>
              <a:t>&lt;</a:t>
            </a:r>
            <a:r>
              <a:rPr lang="en-US" sz="1150" dirty="0">
                <a:solidFill>
                  <a:srgbClr val="C792EA"/>
                </a:solidFill>
                <a:latin typeface="Consolas" pitchFamily="34" charset="0"/>
                <a:ea typeface="Consolas" pitchFamily="34" charset="-122"/>
                <a:cs typeface="Consolas" pitchFamily="34" charset="-120"/>
              </a:rPr>
              <a:t>void</a:t>
            </a:r>
            <a:r>
              <a:rPr lang="en-US" sz="1150" dirty="0">
                <a:solidFill>
                  <a:srgbClr val="E6EDF3"/>
                </a:solidFill>
                <a:latin typeface="Consolas" pitchFamily="34" charset="0"/>
                <a:ea typeface="Consolas" pitchFamily="34" charset="-122"/>
                <a:cs typeface="Consolas" pitchFamily="34" charset="-120"/>
              </a:rPr>
              <a:t>&gt; proses = vm.muat(); </a:t>
            </a:r>
            <a:r>
              <a:rPr lang="en-US" sz="1150" i="1" dirty="0">
                <a:solidFill>
                  <a:srgbClr val="8FA3BC"/>
                </a:solidFill>
                <a:latin typeface="Consolas" pitchFamily="34" charset="0"/>
                <a:ea typeface="Consolas" pitchFamily="34" charset="-122"/>
                <a:cs typeface="Consolas" pitchFamily="34" charset="-120"/>
              </a:rPr>
              <a:t>// sengaja BELUM di-await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expect(vm.status, </a:t>
            </a:r>
            <a:r>
              <a:rPr lang="en-US" sz="1150" dirty="0">
                <a:solidFill>
                  <a:srgbClr val="FFCB6B"/>
                </a:solidFill>
                <a:latin typeface="Consolas" pitchFamily="34" charset="0"/>
                <a:ea typeface="Consolas" pitchFamily="34" charset="-122"/>
                <a:cs typeface="Consolas" pitchFamily="34" charset="-120"/>
              </a:rPr>
              <a:t>StatusMuat</a:t>
            </a:r>
            <a:r>
              <a:rPr lang="en-US" sz="1150" dirty="0">
                <a:solidFill>
                  <a:srgbClr val="E6EDF3"/>
                </a:solidFill>
                <a:latin typeface="Consolas" pitchFamily="34" charset="0"/>
                <a:ea typeface="Consolas" pitchFamily="34" charset="-122"/>
                <a:cs typeface="Consolas" pitchFamily="34" charset="-120"/>
              </a:rPr>
              <a:t>.memuat);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repositori.lepaskan(); </a:t>
            </a:r>
            <a:r>
              <a:rPr lang="en-US" sz="1150" i="1" dirty="0">
                <a:solidFill>
                  <a:srgbClr val="8FA3BC"/>
                </a:solidFill>
                <a:latin typeface="Consolas" pitchFamily="34" charset="0"/>
                <a:ea typeface="Consolas" pitchFamily="34" charset="-122"/>
                <a:cs typeface="Consolas" pitchFamily="34" charset="-120"/>
              </a:rPr>
              <a:t>// "server" menjawab</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await</a:t>
            </a:r>
            <a:r>
              <a:rPr lang="en-US" sz="1150" dirty="0">
                <a:solidFill>
                  <a:srgbClr val="E6EDF3"/>
                </a:solidFill>
                <a:latin typeface="Consolas" pitchFamily="34" charset="0"/>
                <a:ea typeface="Consolas" pitchFamily="34" charset="-122"/>
                <a:cs typeface="Consolas" pitchFamily="34" charset="-120"/>
              </a:rPr>
              <a:t> proses;</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expect(vm.status, </a:t>
            </a:r>
            <a:r>
              <a:rPr lang="en-US" sz="1150" dirty="0">
                <a:solidFill>
                  <a:srgbClr val="FFCB6B"/>
                </a:solidFill>
                <a:latin typeface="Consolas" pitchFamily="34" charset="0"/>
                <a:ea typeface="Consolas" pitchFamily="34" charset="-122"/>
                <a:cs typeface="Consolas" pitchFamily="34" charset="-120"/>
              </a:rPr>
              <a:t>StatusMuat</a:t>
            </a:r>
            <a:r>
              <a:rPr lang="en-US" sz="1150" dirty="0">
                <a:solidFill>
                  <a:srgbClr val="E6EDF3"/>
                </a:solidFill>
                <a:latin typeface="Consolas" pitchFamily="34" charset="0"/>
                <a:ea typeface="Consolas" pitchFamily="34" charset="-122"/>
                <a:cs typeface="Consolas" pitchFamily="34" charset="-120"/>
              </a:rPr>
              <a:t>.berhasil);</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p:txBody>
      </p:sp>
      <p:sp>
        <p:nvSpPr>
          <p:cNvPr id="5" name="tombol tautan">
            <a:hlinkClick r:id="rId1" tooltip="https://github.com/antonprafanto/mobile2026/blob/main/pertemuan_14_pengujian_dan_debugging/kode/contoh_04_menguji_viewmodel_test.dart"/>
          </p:cNvPr>
          <p:cNvSpPr txBox="1"/>
          <p:nvPr/>
        </p:nvSpPr>
        <p:spPr>
          <a:xfrm>
            <a:off x="548640" y="5140071"/>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contoh_04_menguji_viewmodel_test.dart</a:t>
            </a:r>
            <a:endParaRPr lang="en-US" sz="1300" dirty="0"/>
          </a:p>
        </p:txBody>
      </p:sp>
      <p:pic>
        <p:nvPicPr>
          <p:cNvPr id="6" name="Image 0" descr="ikon tautan">
            <a:hlinkClick r:id="rId3" tooltip="https://github.com/antonprafanto/mobile2026/blob/main/pertemuan_14_pengujian_dan_debugging/kode/contoh_04_menguji_viewmodel_test.dart"/>
          </p:cNvPr>
          <p:cNvPicPr>
            <a:picLocks noChangeAspect="1"/>
          </p:cNvPicPr>
          <p:nvPr/>
        </p:nvPicPr>
        <p:blipFill>
          <a:blip r:embed="rId2"/>
          <a:stretch>
            <a:fillRect/>
          </a:stretch>
        </p:blipFill>
        <p:spPr>
          <a:xfrm>
            <a:off x="694944" y="5231511"/>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Completer = "Future yang selesainya kita kendalikan sendiri".</a:t>
            </a:r>
            <a:endParaRPr lang="en-US" sz="1700" dirty="0"/>
          </a:p>
          <a:p>
            <a:pPr marL="228600" indent="-228600">
              <a:spcAft>
                <a:spcPts val="800"/>
              </a:spcAft>
              <a:buSzPct val="100000"/>
              <a:buChar char="•"/>
            </a:pPr>
            <a:r>
              <a:rPr lang="en-US" sz="1700" dirty="0">
                <a:solidFill>
                  <a:schemeClr val="tx1"/>
                </a:solidFill>
              </a:rPr>
              <a:t>Selama complete() belum dipanggil, siapa pun yang menunggu ikut berhenti.</a:t>
            </a:r>
            <a:endParaRPr lang="en-US" sz="1700" dirty="0"/>
          </a:p>
          <a:p>
            <a:pPr marL="228600" indent="-228600">
              <a:spcAft>
                <a:spcPts val="800"/>
              </a:spcAft>
              <a:buSzPct val="100000"/>
              <a:buChar char="•"/>
            </a:pPr>
            <a:r>
              <a:rPr lang="en-US" sz="1700" dirty="0">
                <a:solidFill>
                  <a:schemeClr val="tx1"/>
                </a:solidFill>
              </a:rPr>
              <a:t>lepaskan() memanggil complete() untuk semua yang menunggu.</a:t>
            </a:r>
            <a:endParaRPr lang="en-US" sz="1700" dirty="0"/>
          </a:p>
          <a:p>
            <a:pPr marL="228600" indent="-228600">
              <a:spcAft>
                <a:spcPts val="800"/>
              </a:spcAft>
              <a:buSzPct val="100000"/>
              <a:buChar char="•"/>
            </a:pPr>
            <a:r>
              <a:rPr lang="en-US" sz="1700" dirty="0">
                <a:solidFill>
                  <a:schemeClr val="tx1"/>
                </a:solidFill>
              </a:rPr>
              <a:t>Kabar ke pendengar: addListener mencatat [memuat, berhasil]. Lupa notifyListeners() langsung ketahuan.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Ketukan Ganda Hanya Mengirim Sekali</a:t>
            </a:r>
            <a:endParaRPr lang="en-US" sz="3200" dirty="0"/>
          </a:p>
        </p:txBody>
      </p:sp>
      <p:sp>
        <p:nvSpPr>
          <p:cNvPr id="4" name="kotak kode"/>
          <p:cNvSpPr txBox="1"/>
          <p:nvPr/>
        </p:nvSpPr>
        <p:spPr>
          <a:xfrm>
            <a:off x="548640" y="1371600"/>
            <a:ext cx="6583680" cy="4107942"/>
          </a:xfrm>
          <a:prstGeom prst="roundRect">
            <a:avLst>
              <a:gd name="adj" fmla="val 2226"/>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test(</a:t>
            </a:r>
            <a:r>
              <a:rPr lang="en-US" sz="1100" dirty="0">
                <a:solidFill>
                  <a:srgbClr val="C3E88D"/>
                </a:solidFill>
                <a:latin typeface="Consolas" pitchFamily="34" charset="0"/>
                <a:ea typeface="Consolas" pitchFamily="34" charset="-122"/>
                <a:cs typeface="Consolas" pitchFamily="34" charset="-120"/>
              </a:rPr>
              <a:t>'ketukan ganda hanya mengirim SATU kali'</a:t>
            </a:r>
            <a:r>
              <a:rPr lang="en-US" sz="1100" dirty="0">
                <a:solidFill>
                  <a:srgbClr val="E6EDF3"/>
                </a:solidFill>
                <a:latin typeface="Consolas" pitchFamily="34" charset="0"/>
                <a:ea typeface="Consolas" pitchFamily="34" charset="-122"/>
                <a:cs typeface="Consolas" pitchFamily="34" charset="-120"/>
              </a:rPr>
              <a:t>, ()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repositori.tahan = </a:t>
            </a:r>
            <a:r>
              <a:rPr lang="en-US" sz="1100" dirty="0">
                <a:solidFill>
                  <a:srgbClr val="C792EA"/>
                </a:solidFill>
                <a:latin typeface="Consolas" pitchFamily="34" charset="0"/>
                <a:ea typeface="Consolas" pitchFamily="34" charset="-122"/>
                <a:cs typeface="Consolas" pitchFamily="34" charset="-120"/>
              </a:rPr>
              <a:t>true</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bool</a:t>
            </a:r>
            <a:r>
              <a:rPr lang="en-US" sz="1100" dirty="0">
                <a:solidFill>
                  <a:srgbClr val="E6EDF3"/>
                </a:solidFill>
                <a:latin typeface="Consolas" pitchFamily="34" charset="0"/>
                <a:ea typeface="Consolas" pitchFamily="34" charset="-122"/>
                <a:cs typeface="Consolas" pitchFamily="34" charset="-120"/>
              </a:rPr>
              <a:t>&gt; pertama = vm.ambilNomor(</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nama: </a:t>
            </a:r>
            <a:r>
              <a:rPr lang="en-US" sz="1100" dirty="0">
                <a:solidFill>
                  <a:srgbClr val="C3E88D"/>
                </a:solidFill>
                <a:latin typeface="Consolas" pitchFamily="34" charset="0"/>
                <a:ea typeface="Consolas" pitchFamily="34" charset="-122"/>
                <a:cs typeface="Consolas" pitchFamily="34" charset="-120"/>
              </a:rPr>
              <a:t>'Sari'</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keperluan: </a:t>
            </a:r>
            <a:r>
              <a:rPr lang="en-US" sz="1100" dirty="0">
                <a:solidFill>
                  <a:srgbClr val="C3E88D"/>
                </a:solidFill>
                <a:latin typeface="Consolas" pitchFamily="34" charset="0"/>
                <a:ea typeface="Consolas" pitchFamily="34" charset="-122"/>
                <a:cs typeface="Consolas" pitchFamily="34" charset="-120"/>
              </a:rPr>
              <a:t>'Konsultasi judul skripsi'</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expect(vm.mengirim, isTrue); </a:t>
            </a:r>
            <a:r>
              <a:rPr lang="en-US" sz="1100" i="1" dirty="0">
                <a:solidFill>
                  <a:srgbClr val="8FA3BC"/>
                </a:solidFill>
                <a:latin typeface="Consolas" pitchFamily="34" charset="0"/>
                <a:ea typeface="Consolas" pitchFamily="34" charset="-122"/>
                <a:cs typeface="Consolas" pitchFamily="34" charset="-120"/>
              </a:rPr>
              <a:t>// tombol di layar seharusnya mati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bool</a:t>
            </a:r>
            <a:r>
              <a:rPr lang="en-US" sz="1100" dirty="0">
                <a:solidFill>
                  <a:srgbClr val="E6EDF3"/>
                </a:solidFill>
                <a:latin typeface="Consolas" pitchFamily="34" charset="0"/>
                <a:ea typeface="Consolas" pitchFamily="34" charset="-122"/>
                <a:cs typeface="Consolas" pitchFamily="34" charset="-120"/>
              </a:rPr>
              <a:t> kedua =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vm.ambilNomor(</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nama: </a:t>
            </a:r>
            <a:r>
              <a:rPr lang="en-US" sz="1100" dirty="0">
                <a:solidFill>
                  <a:srgbClr val="C3E88D"/>
                </a:solidFill>
                <a:latin typeface="Consolas" pitchFamily="34" charset="0"/>
                <a:ea typeface="Consolas" pitchFamily="34" charset="-122"/>
                <a:cs typeface="Consolas" pitchFamily="34" charset="-120"/>
              </a:rPr>
              <a:t>'Sari'</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keperluan: </a:t>
            </a:r>
            <a:r>
              <a:rPr lang="en-US" sz="1100" dirty="0">
                <a:solidFill>
                  <a:srgbClr val="C3E88D"/>
                </a:solidFill>
                <a:latin typeface="Consolas" pitchFamily="34" charset="0"/>
                <a:ea typeface="Consolas" pitchFamily="34" charset="-122"/>
                <a:cs typeface="Consolas" pitchFamily="34" charset="-120"/>
              </a:rPr>
              <a:t>'Konsultasi judul skripsi'</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expect(kedua, isFalse); </a:t>
            </a:r>
            <a:r>
              <a:rPr lang="en-US" sz="1100" i="1" dirty="0">
                <a:solidFill>
                  <a:srgbClr val="8FA3BC"/>
                </a:solidFill>
                <a:latin typeface="Consolas" pitchFamily="34" charset="0"/>
                <a:ea typeface="Consolas" pitchFamily="34" charset="-122"/>
                <a:cs typeface="Consolas" pitchFamily="34" charset="-120"/>
              </a:rPr>
              <a:t>// ditolak penjaga</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repositori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..tahan = </a:t>
            </a:r>
            <a:r>
              <a:rPr lang="en-US" sz="1100" dirty="0">
                <a:solidFill>
                  <a:srgbClr val="C792EA"/>
                </a:solidFill>
                <a:latin typeface="Consolas" pitchFamily="34" charset="0"/>
                <a:ea typeface="Consolas" pitchFamily="34" charset="-122"/>
                <a:cs typeface="Consolas" pitchFamily="34" charset="-120"/>
              </a:rPr>
              <a:t>false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..lepaskan();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expect(</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pertama, isTrue);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expect(repositori.jumlahMengambil, </a:t>
            </a:r>
            <a:r>
              <a:rPr lang="en-US" sz="1100" dirty="0">
                <a:solidFill>
                  <a:srgbClr val="F78C6C"/>
                </a:solidFill>
                <a:latin typeface="Consolas" pitchFamily="34" charset="0"/>
                <a:ea typeface="Consolas" pitchFamily="34" charset="-122"/>
                <a:cs typeface="Consolas" pitchFamily="34" charset="-120"/>
              </a:rPr>
              <a:t>1</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4_pengujian_dan_debugging/kode/contoh_04_menguji_viewmodel_test.dart"/>
          </p:cNvPr>
          <p:cNvSpPr txBox="1"/>
          <p:nvPr/>
        </p:nvSpPr>
        <p:spPr>
          <a:xfrm>
            <a:off x="548640" y="5708142"/>
            <a:ext cx="658368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contoh_04_menguji_viewmodel_test.dart</a:t>
            </a:r>
            <a:endParaRPr lang="en-US" sz="1300" dirty="0"/>
          </a:p>
        </p:txBody>
      </p:sp>
      <p:pic>
        <p:nvPicPr>
          <p:cNvPr id="6" name="Image 0" descr="ikon tautan">
            <a:hlinkClick r:id="rId3" tooltip="https://github.com/antonprafanto/mobile2026/blob/main/pertemuan_14_pengujian_dan_debugging/kode/contoh_04_menguji_viewmodel_test.dart"/>
          </p:cNvPr>
          <p:cNvPicPr>
            <a:picLocks noChangeAspect="1"/>
          </p:cNvPicPr>
          <p:nvPr/>
        </p:nvPicPr>
        <p:blipFill>
          <a:blip r:embed="rId2"/>
          <a:stretch>
            <a:fillRect/>
          </a:stretch>
        </p:blipFill>
        <p:spPr>
          <a:xfrm>
            <a:off x="694944" y="5799582"/>
            <a:ext cx="274320" cy="274320"/>
          </a:xfrm>
          <a:prstGeom prst="rect">
            <a:avLst/>
          </a:prstGeom>
        </p:spPr>
      </p:pic>
      <p:sp>
        <p:nvSpPr>
          <p:cNvPr id="7" name="daftar poin"/>
          <p:cNvSpPr txBox="1"/>
          <p:nvPr/>
        </p:nvSpPr>
        <p:spPr>
          <a:xfrm>
            <a:off x="7543800" y="1417320"/>
            <a:ext cx="409925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Nama kosong ditolak SEBELUM menghubungi server: pesanKirim 'Nama wajib diisi.', jumlahMengambil 0.</a:t>
            </a:r>
            <a:endParaRPr lang="en-US" sz="1700" dirty="0"/>
          </a:p>
          <a:p>
            <a:pPr marL="228600" indent="-228600">
              <a:spcAft>
                <a:spcPts val="800"/>
              </a:spcAft>
              <a:buSzPct val="100000"/>
              <a:buChar char="•"/>
            </a:pPr>
            <a:r>
              <a:rPr lang="en-US" sz="1700" dirty="0">
                <a:solidFill>
                  <a:schemeClr val="tx1"/>
                </a:solidFill>
              </a:rPr>
              <a:t>Ketukan kedua selagi mengirim ditolak penjaga: server dihubungi SATU kali.</a:t>
            </a:r>
            <a:endParaRPr lang="en-US" sz="1700" dirty="0"/>
          </a:p>
          <a:p>
            <a:pPr marL="228600" indent="-228600">
              <a:spcAft>
                <a:spcPts val="800"/>
              </a:spcAft>
              <a:buSzPct val="100000"/>
              <a:buChar char="•"/>
            </a:pPr>
            <a:r>
              <a:rPr lang="en-US" sz="1700" dirty="0">
                <a:solidFill>
                  <a:schemeClr val="tx1"/>
                </a:solidFill>
              </a:rPr>
              <a:t>ViewModel dibuang sebelum data datang: penjaga _sudahDibuang mencegah galat "... used after being disposed."</a:t>
            </a:r>
            <a:endParaRPr lang="en-US" sz="1700" dirty="0"/>
          </a:p>
          <a:p>
            <a:pPr marL="228600" indent="-228600">
              <a:spcAft>
                <a:spcPts val="800"/>
              </a:spcAft>
              <a:buSzPct val="100000"/>
              <a:buChar char="•"/>
            </a:pPr>
            <a:r>
              <a:rPr lang="en-US" sz="1700" dirty="0">
                <a:solidFill>
                  <a:schemeClr val="tx1"/>
                </a:solidFill>
              </a:rPr>
              <a:t>tearDown(() { vm.dispose(); }): tes yang rapi membereskan apa yang ia buat.</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6</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Tes Widget Pertama</a:t>
            </a:r>
            <a:endParaRPr lang="en-US" sz="4000" dirty="0"/>
          </a:p>
        </p:txBody>
      </p:sp>
      <p:sp>
        <p:nvSpPr>
          <p:cNvPr id="5" name="lingkaran widget"/>
          <p:cNvSpPr/>
          <p:nvPr/>
        </p:nvSpPr>
        <p:spPr>
          <a:xfrm>
            <a:off x="1097280" y="2148840"/>
            <a:ext cx="2011680" cy="2011680"/>
          </a:xfrm>
          <a:prstGeom prst="ellipse">
            <a:avLst/>
          </a:prstGeom>
          <a:solidFill>
            <a:schemeClr val="accent1"/>
          </a:solidFill>
          <a:ln/>
        </p:spPr>
      </p:sp>
      <p:pic>
        <p:nvPicPr>
          <p:cNvPr id="6" name="Image 0" descr="widget">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testWidgets dan WidgetTester</a:t>
            </a:r>
            <a:endParaRPr lang="en-US" sz="3200" dirty="0"/>
          </a:p>
        </p:txBody>
      </p:sp>
      <p:sp>
        <p:nvSpPr>
          <p:cNvPr id="4" name="kotak kode"/>
          <p:cNvSpPr txBox="1"/>
          <p:nvPr/>
        </p:nvSpPr>
        <p:spPr>
          <a:xfrm>
            <a:off x="548640" y="1371600"/>
            <a:ext cx="6766560" cy="2611755"/>
          </a:xfrm>
          <a:prstGeom prst="roundRect">
            <a:avLst>
              <a:gd name="adj" fmla="val 3501"/>
            </a:avLst>
          </a:prstGeom>
          <a:solidFill>
            <a:srgbClr val="0E1A2B"/>
          </a:solidFill>
          <a:ln/>
        </p:spPr>
        <p:txBody>
          <a:bodyPr wrap="square" lIns="177800" tIns="152400" rIns="152400" bIns="177800" rtlCol="0" anchor="t"/>
          <a:lstStyle/>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testWidgets(</a:t>
            </a:r>
            <a:r>
              <a:rPr lang="en-US" sz="1250" dirty="0">
                <a:solidFill>
                  <a:srgbClr val="C3E88D"/>
                </a:solidFill>
                <a:latin typeface="Consolas" pitchFamily="34" charset="0"/>
                <a:ea typeface="Consolas" pitchFamily="34" charset="-122"/>
                <a:cs typeface="Consolas" pitchFamily="34" charset="-120"/>
              </a:rPr>
              <a:t>'tampilan awal: tiga isian dan belum ada hasil'</a:t>
            </a: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WidgetTester</a:t>
            </a:r>
            <a:r>
              <a:rPr lang="en-US" sz="1250" dirty="0">
                <a:solidFill>
                  <a:srgbClr val="E6EDF3"/>
                </a:solidFill>
                <a:latin typeface="Consolas" pitchFamily="34" charset="0"/>
                <a:ea typeface="Consolas" pitchFamily="34" charset="-122"/>
                <a:cs typeface="Consolas" pitchFamily="34" charset="-120"/>
              </a:rPr>
              <a:t> tester,</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C792EA"/>
                </a:solidFill>
                <a:latin typeface="Consolas" pitchFamily="34" charset="0"/>
                <a:ea typeface="Consolas" pitchFamily="34" charset="-122"/>
                <a:cs typeface="Consolas" pitchFamily="34" charset="-120"/>
              </a:rPr>
              <a:t>async</a:t>
            </a: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i="1" dirty="0">
                <a:solidFill>
                  <a:srgbClr val="8FA3BC"/>
                </a:solidFill>
                <a:latin typeface="Consolas" pitchFamily="34" charset="0"/>
                <a:ea typeface="Consolas" pitchFamily="34" charset="-122"/>
                <a:cs typeface="Consolas" pitchFamily="34" charset="-120"/>
              </a:rPr>
              <a:t>// pumpWidget: bangun dan gambar aplikasinya satu kali.</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C792EA"/>
                </a:solidFill>
                <a:latin typeface="Consolas" pitchFamily="34" charset="0"/>
                <a:ea typeface="Consolas" pitchFamily="34" charset="-122"/>
                <a:cs typeface="Consolas" pitchFamily="34" charset="-120"/>
              </a:rPr>
              <a:t>await</a:t>
            </a:r>
            <a:r>
              <a:rPr lang="en-US" sz="1250" dirty="0">
                <a:solidFill>
                  <a:srgbClr val="E6EDF3"/>
                </a:solidFill>
                <a:latin typeface="Consolas" pitchFamily="34" charset="0"/>
                <a:ea typeface="Consolas" pitchFamily="34" charset="-122"/>
                <a:cs typeface="Consolas" pitchFamily="34" charset="-120"/>
              </a:rPr>
              <a:t> tester.pumpWidget(</a:t>
            </a:r>
            <a:r>
              <a:rPr lang="en-US" sz="1250" dirty="0">
                <a:solidFill>
                  <a:srgbClr val="C792EA"/>
                </a:solidFill>
                <a:latin typeface="Consolas" pitchFamily="34" charset="0"/>
                <a:ea typeface="Consolas" pitchFamily="34" charset="-122"/>
                <a:cs typeface="Consolas" pitchFamily="34" charset="-120"/>
              </a:rPr>
              <a:t>const</a:t>
            </a: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AplikasiCekNilai</a:t>
            </a: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expect(find.text(</a:t>
            </a:r>
            <a:r>
              <a:rPr lang="en-US" sz="1250" dirty="0">
                <a:solidFill>
                  <a:srgbClr val="C3E88D"/>
                </a:solidFill>
                <a:latin typeface="Consolas" pitchFamily="34" charset="0"/>
                <a:ea typeface="Consolas" pitchFamily="34" charset="-122"/>
                <a:cs typeface="Consolas" pitchFamily="34" charset="-120"/>
              </a:rPr>
              <a:t>'Cek Nilai Akhir'</a:t>
            </a:r>
            <a:r>
              <a:rPr lang="en-US" sz="1250" dirty="0">
                <a:solidFill>
                  <a:srgbClr val="E6EDF3"/>
                </a:solidFill>
                <a:latin typeface="Consolas" pitchFamily="34" charset="0"/>
                <a:ea typeface="Consolas" pitchFamily="34" charset="-122"/>
                <a:cs typeface="Consolas" pitchFamily="34" charset="-120"/>
              </a:rPr>
              <a:t>), findsOneWidget);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expect(find.byType(</a:t>
            </a:r>
            <a:r>
              <a:rPr lang="en-US" sz="1250" dirty="0">
                <a:solidFill>
                  <a:srgbClr val="FFCB6B"/>
                </a:solidFill>
                <a:latin typeface="Consolas" pitchFamily="34" charset="0"/>
                <a:ea typeface="Consolas" pitchFamily="34" charset="-122"/>
                <a:cs typeface="Consolas" pitchFamily="34" charset="-120"/>
              </a:rPr>
              <a:t>TextFormField</a:t>
            </a:r>
            <a:r>
              <a:rPr lang="en-US" sz="1250" dirty="0">
                <a:solidFill>
                  <a:srgbClr val="E6EDF3"/>
                </a:solidFill>
                <a:latin typeface="Consolas" pitchFamily="34" charset="0"/>
                <a:ea typeface="Consolas" pitchFamily="34" charset="-122"/>
                <a:cs typeface="Consolas" pitchFamily="34" charset="-120"/>
              </a:rPr>
              <a:t>), findsNWidgets(</a:t>
            </a:r>
            <a:r>
              <a:rPr lang="en-US" sz="1250" dirty="0">
                <a:solidFill>
                  <a:srgbClr val="F78C6C"/>
                </a:solidFill>
                <a:latin typeface="Consolas" pitchFamily="34" charset="0"/>
                <a:ea typeface="Consolas" pitchFamily="34" charset="-122"/>
                <a:cs typeface="Consolas" pitchFamily="34" charset="-120"/>
              </a:rPr>
              <a:t>3</a:t>
            </a: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expect(find.text(</a:t>
            </a:r>
            <a:r>
              <a:rPr lang="en-US" sz="1250" dirty="0">
                <a:solidFill>
                  <a:srgbClr val="C3E88D"/>
                </a:solidFill>
                <a:latin typeface="Consolas" pitchFamily="34" charset="0"/>
                <a:ea typeface="Consolas" pitchFamily="34" charset="-122"/>
                <a:cs typeface="Consolas" pitchFamily="34" charset="-120"/>
              </a:rPr>
              <a:t>'Hitung'</a:t>
            </a:r>
            <a:r>
              <a:rPr lang="en-US" sz="1250" dirty="0">
                <a:solidFill>
                  <a:srgbClr val="E6EDF3"/>
                </a:solidFill>
                <a:latin typeface="Consolas" pitchFamily="34" charset="0"/>
                <a:ea typeface="Consolas" pitchFamily="34" charset="-122"/>
                <a:cs typeface="Consolas" pitchFamily="34" charset="-120"/>
              </a:rPr>
              <a:t>), findsOneWidget);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expect(find.byKey(</a:t>
            </a:r>
            <a:r>
              <a:rPr lang="en-US" sz="1250" dirty="0">
                <a:solidFill>
                  <a:srgbClr val="C792EA"/>
                </a:solidFill>
                <a:latin typeface="Consolas" pitchFamily="34" charset="0"/>
                <a:ea typeface="Consolas" pitchFamily="34" charset="-122"/>
                <a:cs typeface="Consolas" pitchFamily="34" charset="-120"/>
              </a:rPr>
              <a:t>const</a:t>
            </a: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Key</a:t>
            </a:r>
            <a:r>
              <a:rPr lang="en-US" sz="1250" dirty="0">
                <a:solidFill>
                  <a:srgbClr val="E6EDF3"/>
                </a:solidFill>
                <a:latin typeface="Consolas" pitchFamily="34" charset="0"/>
                <a:ea typeface="Consolas" pitchFamily="34" charset="-122"/>
                <a:cs typeface="Consolas" pitchFamily="34" charset="-120"/>
              </a:rPr>
              <a:t>(</a:t>
            </a:r>
            <a:r>
              <a:rPr lang="en-US" sz="1250" dirty="0">
                <a:solidFill>
                  <a:srgbClr val="C3E88D"/>
                </a:solidFill>
                <a:latin typeface="Consolas" pitchFamily="34" charset="0"/>
                <a:ea typeface="Consolas" pitchFamily="34" charset="-122"/>
                <a:cs typeface="Consolas" pitchFamily="34" charset="-120"/>
              </a:rPr>
              <a:t>'kartu_hasil'</a:t>
            </a:r>
            <a:r>
              <a:rPr lang="en-US" sz="1250" dirty="0">
                <a:solidFill>
                  <a:srgbClr val="E6EDF3"/>
                </a:solidFill>
                <a:latin typeface="Consolas" pitchFamily="34" charset="0"/>
                <a:ea typeface="Consolas" pitchFamily="34" charset="-122"/>
                <a:cs typeface="Consolas" pitchFamily="34" charset="-120"/>
              </a:rPr>
              <a:t>)), findsNothing);</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p:txBody>
      </p:sp>
      <p:sp>
        <p:nvSpPr>
          <p:cNvPr id="5" name="tombol tautan">
            <a:hlinkClick r:id="rId1" tooltip="https://github.com/antonprafanto/mobile2026/blob/main/pertemuan_14_pengujian_dan_debugging/kode/contoh_05_widget_test_pertama_test.dart"/>
          </p:cNvPr>
          <p:cNvSpPr txBox="1"/>
          <p:nvPr/>
        </p:nvSpPr>
        <p:spPr>
          <a:xfrm>
            <a:off x="548640" y="4211955"/>
            <a:ext cx="67665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contoh_05_widget_test_pertama_test.dart</a:t>
            </a:r>
            <a:endParaRPr lang="en-US" sz="1300" dirty="0"/>
          </a:p>
        </p:txBody>
      </p:sp>
      <p:pic>
        <p:nvPicPr>
          <p:cNvPr id="6" name="Image 0" descr="ikon tautan">
            <a:hlinkClick r:id="rId3" tooltip="https://github.com/antonprafanto/mobile2026/blob/main/pertemuan_14_pengujian_dan_debugging/kode/contoh_05_widget_test_pertama_test.dart"/>
          </p:cNvPr>
          <p:cNvPicPr>
            <a:picLocks noChangeAspect="1"/>
          </p:cNvPicPr>
          <p:nvPr/>
        </p:nvPicPr>
        <p:blipFill>
          <a:blip r:embed="rId2"/>
          <a:stretch>
            <a:fillRect/>
          </a:stretch>
        </p:blipFill>
        <p:spPr>
          <a:xfrm>
            <a:off x="694944" y="4303395"/>
            <a:ext cx="274320" cy="274320"/>
          </a:xfrm>
          <a:prstGeom prst="rect">
            <a:avLst/>
          </a:prstGeom>
        </p:spPr>
      </p:pic>
      <p:sp>
        <p:nvSpPr>
          <p:cNvPr id="7"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tester = "robot penguji": membangun layar, mengetik, mengetuk, dan menggambar ulang.</a:t>
            </a:r>
            <a:endParaRPr lang="en-US" sz="1700" dirty="0"/>
          </a:p>
          <a:p>
            <a:pPr marL="228600" indent="-228600">
              <a:spcAft>
                <a:spcPts val="800"/>
              </a:spcAft>
              <a:buSzPct val="100000"/>
              <a:buChar char="•"/>
            </a:pPr>
            <a:r>
              <a:rPr lang="en-US" sz="1700" dirty="0">
                <a:solidFill>
                  <a:schemeClr val="tx1"/>
                </a:solidFill>
              </a:rPr>
              <a:t>pumpWidget: bangun widget lalu gambar SATU kali.</a:t>
            </a:r>
            <a:endParaRPr lang="en-US" sz="1700" dirty="0"/>
          </a:p>
          <a:p>
            <a:pPr marL="228600" indent="-228600">
              <a:spcAft>
                <a:spcPts val="800"/>
              </a:spcAft>
              <a:buSzPct val="100000"/>
              <a:buChar char="•"/>
            </a:pPr>
            <a:r>
              <a:rPr lang="en-US" sz="1700" dirty="0">
                <a:solidFill>
                  <a:schemeClr val="tx1"/>
                </a:solidFill>
              </a:rPr>
              <a:t>find.…: finder. findsOneWidget, findsNothing, findsNWidgets(n), findsWidgets: berapa yang harus ditemukan.</a:t>
            </a:r>
            <a:endParaRPr lang="en-US" sz="1700" dirty="0"/>
          </a:p>
          <a:p>
            <a:pPr marL="228600" indent="-228600">
              <a:spcAft>
                <a:spcPts val="800"/>
              </a:spcAft>
              <a:buSzPct val="100000"/>
              <a:buChar char="•"/>
            </a:pPr>
            <a:r>
              <a:rPr lang="en-US" sz="1700" dirty="0">
                <a:solidFill>
                  <a:schemeClr val="tx1"/>
                </a:solidFill>
              </a:rPr>
              <a:t>Widget yang diuji harus berada di dalam MaterialApp.</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Finder: Mencari Widget di Layar</a:t>
            </a:r>
            <a:endParaRPr lang="en-US" sz="3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484197"/>
                <a:gridCol w="3025750"/>
                <a:gridCol w="4584469"/>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Finder</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Mencari</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Contoh</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457200">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find.text('…')</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Text bertulisan PERSIS sama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find.text('Hitung')</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find.textContaining('…')</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Tulisan yang MEMUAT potongan teks</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find.textContaining('tercatat')</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57200">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find.byKey(Key('…'))</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Widget yang diberi key tersebut</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find.byKey(const Key('isian_tugas'))</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find.byType(T)</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Semua widget bertipe T</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find.byType(TextFormField)</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57200">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find.byIcon(ikon)</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Widget Icon dengan ikon tersebut</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find.byIcon(Icons.add)</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find.byTooltip('…')</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Tombol ikon dengan tooltip tersebut</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find.byTooltip('Kosongkan')</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57200">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find.widgetWithText(T, '…')</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Widget T yang memuat tulisan tersebut</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50" dirty="0">
                          <a:solidFill>
                            <a:srgbClr val="1B2333"/>
                          </a:solidFill>
                          <a:latin typeface="Consolas" pitchFamily="34" charset="0"/>
                          <a:ea typeface="Consolas" pitchFamily="34" charset="-122"/>
                          <a:cs typeface="Consolas" pitchFamily="34" charset="-120"/>
                        </a:rPr>
                        <a:t>find.widgetWithText(TextFormField, 'UAS (40%)')</a:t>
                      </a:r>
                      <a:endParaRPr lang="en-US" sz="115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find.descendant(of: a, matching: b)</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b yang berada DI DALAM 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Lingkaran memuat di dalam tombol tertentu</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57200">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find.ancestor(of: a, matching: b)</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b yang MEMBUNGKUS 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Tombol yang membungkus tulisan "Ajukan"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Aksi: Mengetik, Mengetuk, Menggulir</a:t>
            </a:r>
            <a:endParaRPr lang="en-US" sz="3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684742"/>
                <a:gridCol w="5409674"/>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Aksi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Arti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66928">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await tester.tap(finder)</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Mengetuk tengah widget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await tester.enterText(finder, '60')</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Mengetik ke isian (isian lamanya diganti)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await tester.drag(finder, const Offset(0, -300))</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Menyeret, misalnya menggulir daftar ke atas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await tester.scrollUntilVisible(finder, 100)</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Menggulir sedikit demi sedikit sampai widget yang dicari muncul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await tester.pageBack()</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Menekan tombol kembali di AppBar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Aksi TIDAK langsung mengubah layar. Di lingkungan uji, tes yang memutuskan kapan layar digambar ulang: await tester.pump().</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pump, pump(durasi), dan pumpAndSettle</a:t>
            </a:r>
            <a:endParaRPr lang="en-US" sz="3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126022"/>
                <a:gridCol w="1742098"/>
                <a:gridCol w="5226295"/>
              </a:tblGrid>
              <a:tr h="7772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Perintah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Jam palsu</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Yang terjadi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777240">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pump()</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TIDAK maju</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Menggambar SATU gambar berikutnya. Perubahan dari setState dan notifyListeners muncul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77240">
                <a:tc>
                  <a:txBody>
                    <a:bodyPr/>
                    <a:lstStyle/>
                    <a:p>
                      <a:pPr indent="0" marL="0">
                        <a:buNone/>
                      </a:pPr>
                      <a:r>
                        <a:rPr lang="en-US" sz="1250" dirty="0">
                          <a:solidFill>
                            <a:srgbClr val="1B2333"/>
                          </a:solidFill>
                          <a:latin typeface="Consolas" pitchFamily="34" charset="0"/>
                          <a:ea typeface="Consolas" pitchFamily="34" charset="-122"/>
                          <a:cs typeface="Consolas" pitchFamily="34" charset="-120"/>
                        </a:rPr>
                        <a:t>pump(const Duration(milliseconds: 500))</a:t>
                      </a:r>
                      <a:endParaRPr lang="en-US" sz="125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Maju 500 ms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Timer yang jatuh tempo dijalankan, lalu satu gambar digambar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777240">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pumpAndSettle()</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Maju 100 ms berulang kali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Terus menggambar sampai TIDAK ADA lagi yang perlu digambar: animasi halaman, lembar bawah, dan riak tombol selesai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Ada lingkaran memuat (CircularProgressIndicator) yang terus berputar? JANGAN pumpAndSettle(): animasinya tidak pernah selesai → pumpAndSettle timed out.</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Lingkungan Uji</a:t>
            </a:r>
            <a:endParaRPr lang="en-US" sz="3200" dirty="0"/>
          </a:p>
        </p:txBody>
      </p:sp>
      <p:sp>
        <p:nvSpPr>
          <p:cNvPr id="4" name="kartu 1"/>
          <p:cNvSpPr/>
          <p:nvPr/>
        </p:nvSpPr>
        <p:spPr>
          <a:xfrm>
            <a:off x="548640" y="1371600"/>
            <a:ext cx="3484778" cy="2286000"/>
          </a:xfrm>
          <a:prstGeom prst="roundRect">
            <a:avLst>
              <a:gd name="adj" fmla="val 4800"/>
            </a:avLst>
          </a:prstGeom>
          <a:solidFill>
            <a:schemeClr val="bg2"/>
          </a:solidFill>
          <a:ln/>
        </p:spPr>
      </p:sp>
      <p:sp>
        <p:nvSpPr>
          <p:cNvPr id="5" name="lingkaran web"/>
          <p:cNvSpPr/>
          <p:nvPr/>
        </p:nvSpPr>
        <p:spPr>
          <a:xfrm>
            <a:off x="777240" y="1600200"/>
            <a:ext cx="685800" cy="685800"/>
          </a:xfrm>
          <a:prstGeom prst="ellipse">
            <a:avLst/>
          </a:prstGeom>
          <a:solidFill>
            <a:schemeClr val="accent5"/>
          </a:solidFill>
          <a:ln/>
        </p:spPr>
      </p:sp>
      <p:pic>
        <p:nvPicPr>
          <p:cNvPr id="6" name="Image 0" descr="web">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Bukan di DartPad</a:t>
            </a:r>
            <a:endParaRPr lang="en-US" sz="1800" dirty="0"/>
          </a:p>
        </p:txBody>
      </p:sp>
      <p:sp>
        <p:nvSpPr>
          <p:cNvPr id="8" name="Text 4"/>
          <p:cNvSpPr txBox="1"/>
          <p:nvPr/>
        </p:nvSpPr>
        <p:spPr>
          <a:xfrm>
            <a:off x="777240"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Tes widget butuh lingkungan uji dari flutter test: jam palsu, layar palsu, pesan sistem tiruan.</a:t>
            </a:r>
            <a:endParaRPr lang="en-US" sz="1500" dirty="0"/>
          </a:p>
        </p:txBody>
      </p:sp>
      <p:sp>
        <p:nvSpPr>
          <p:cNvPr id="9" name="kartu 2"/>
          <p:cNvSpPr/>
          <p:nvPr/>
        </p:nvSpPr>
        <p:spPr>
          <a:xfrm>
            <a:off x="4353458" y="1371600"/>
            <a:ext cx="3484778" cy="2286000"/>
          </a:xfrm>
          <a:prstGeom prst="roundRect">
            <a:avLst>
              <a:gd name="adj" fmla="val 4800"/>
            </a:avLst>
          </a:prstGeom>
          <a:solidFill>
            <a:schemeClr val="bg2"/>
          </a:solidFill>
          <a:ln/>
        </p:spPr>
      </p:sp>
      <p:sp>
        <p:nvSpPr>
          <p:cNvPr id="10" name="lingkaran komputer"/>
          <p:cNvSpPr/>
          <p:nvPr/>
        </p:nvSpPr>
        <p:spPr>
          <a:xfrm>
            <a:off x="4582058" y="1600200"/>
            <a:ext cx="685800" cy="685800"/>
          </a:xfrm>
          <a:prstGeom prst="ellipse">
            <a:avLst/>
          </a:prstGeom>
          <a:solidFill>
            <a:schemeClr val="accent4"/>
          </a:solidFill>
          <a:ln/>
        </p:spPr>
      </p:sp>
      <p:pic>
        <p:nvPicPr>
          <p:cNvPr id="11" name="Image 1" descr="komputer">    </p:cNvPr>
          <p:cNvPicPr>
            <a:picLocks noChangeAspect="1"/>
          </p:cNvPicPr>
          <p:nvPr/>
        </p:nvPicPr>
        <p:blipFill>
          <a:blip r:embed="rId2"/>
          <a:stretch>
            <a:fillRect/>
          </a:stretch>
        </p:blipFill>
        <p:spPr>
          <a:xfrm>
            <a:off x="4732934" y="1751076"/>
            <a:ext cx="384048" cy="384048"/>
          </a:xfrm>
          <a:prstGeom prst="rect">
            <a:avLst/>
          </a:prstGeom>
        </p:spPr>
      </p:pic>
      <p:sp>
        <p:nvSpPr>
          <p:cNvPr id="12" name="Text 7"/>
          <p:cNvSpPr txBox="1"/>
          <p:nvPr/>
        </p:nvSpPr>
        <p:spPr>
          <a:xfrm>
            <a:off x="5405018"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Tetap ringan</a:t>
            </a:r>
            <a:endParaRPr lang="en-US" sz="1800" dirty="0"/>
          </a:p>
        </p:txBody>
      </p:sp>
      <p:sp>
        <p:nvSpPr>
          <p:cNvPr id="13" name="Text 8"/>
          <p:cNvSpPr txBox="1"/>
          <p:nvPr/>
        </p:nvSpPr>
        <p:spPr>
          <a:xfrm>
            <a:off x="4582058"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flutter test tidak membuka emulator maupun Chrome. Laptop RAM 8 GB cukup.</a:t>
            </a:r>
            <a:endParaRPr lang="en-US" sz="1500" dirty="0"/>
          </a:p>
        </p:txBody>
      </p:sp>
      <p:sp>
        <p:nvSpPr>
          <p:cNvPr id="14" name="kartu 3"/>
          <p:cNvSpPr/>
          <p:nvPr/>
        </p:nvSpPr>
        <p:spPr>
          <a:xfrm>
            <a:off x="8158277" y="1371600"/>
            <a:ext cx="3484778" cy="2286000"/>
          </a:xfrm>
          <a:prstGeom prst="roundRect">
            <a:avLst>
              <a:gd name="adj" fmla="val 4800"/>
            </a:avLst>
          </a:prstGeom>
          <a:solidFill>
            <a:schemeClr val="bg2"/>
          </a:solidFill>
          <a:ln/>
        </p:spPr>
      </p:sp>
      <p:sp>
        <p:nvSpPr>
          <p:cNvPr id="15" name="lingkaran layarpas"/>
          <p:cNvSpPr/>
          <p:nvPr/>
        </p:nvSpPr>
        <p:spPr>
          <a:xfrm>
            <a:off x="8386877" y="1600200"/>
            <a:ext cx="685800" cy="685800"/>
          </a:xfrm>
          <a:prstGeom prst="ellipse">
            <a:avLst/>
          </a:prstGeom>
          <a:solidFill>
            <a:schemeClr val="accent1"/>
          </a:solidFill>
          <a:ln/>
        </p:spPr>
      </p:sp>
      <p:pic>
        <p:nvPicPr>
          <p:cNvPr id="16" name="Image 2" descr="layarpas">    </p:cNvPr>
          <p:cNvPicPr>
            <a:picLocks noChangeAspect="1"/>
          </p:cNvPicPr>
          <p:nvPr/>
        </p:nvPicPr>
        <p:blipFill>
          <a:blip r:embed="rId3"/>
          <a:stretch>
            <a:fillRect/>
          </a:stretch>
        </p:blipFill>
        <p:spPr>
          <a:xfrm>
            <a:off x="8537753" y="1751076"/>
            <a:ext cx="384048" cy="384048"/>
          </a:xfrm>
          <a:prstGeom prst="rect">
            <a:avLst/>
          </a:prstGeom>
        </p:spPr>
      </p:pic>
      <p:sp>
        <p:nvSpPr>
          <p:cNvPr id="17" name="Text 11"/>
          <p:cNvSpPr txBox="1"/>
          <p:nvPr/>
        </p:nvSpPr>
        <p:spPr>
          <a:xfrm>
            <a:off x="9209837"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Layar 800 × 600</a:t>
            </a:r>
            <a:endParaRPr lang="en-US" sz="1800" dirty="0"/>
          </a:p>
        </p:txBody>
      </p:sp>
      <p:sp>
        <p:nvSpPr>
          <p:cNvPr id="18" name="Text 12"/>
          <p:cNvSpPr txBox="1"/>
          <p:nvPr/>
        </p:nvSpPr>
        <p:spPr>
          <a:xfrm>
            <a:off x="8386877"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Ukuran layar uji 800 × 600 piksel logis, kecuali diubah (Bagian 7.5).</a:t>
            </a:r>
            <a:endParaRPr lang="en-US" sz="1500" dirty="0"/>
          </a:p>
        </p:txBody>
      </p:sp>
      <p:sp>
        <p:nvSpPr>
          <p:cNvPr id="19" name="kartu 4"/>
          <p:cNvSpPr/>
          <p:nvPr/>
        </p:nvSpPr>
        <p:spPr>
          <a:xfrm>
            <a:off x="548640" y="3931920"/>
            <a:ext cx="3484778" cy="2286000"/>
          </a:xfrm>
          <a:prstGeom prst="roundRect">
            <a:avLst>
              <a:gd name="adj" fmla="val 4800"/>
            </a:avLst>
          </a:prstGeom>
          <a:solidFill>
            <a:schemeClr val="bg2"/>
          </a:solidFill>
          <a:ln/>
        </p:spPr>
      </p:sp>
      <p:sp>
        <p:nvSpPr>
          <p:cNvPr id="20" name="lingkaran huruf"/>
          <p:cNvSpPr/>
          <p:nvPr/>
        </p:nvSpPr>
        <p:spPr>
          <a:xfrm>
            <a:off x="777240" y="4160520"/>
            <a:ext cx="685800" cy="685800"/>
          </a:xfrm>
          <a:prstGeom prst="ellipse">
            <a:avLst/>
          </a:prstGeom>
          <a:solidFill>
            <a:schemeClr val="accent6"/>
          </a:solidFill>
          <a:ln/>
        </p:spPr>
      </p:sp>
      <p:pic>
        <p:nvPicPr>
          <p:cNvPr id="21" name="Image 3" descr="huruf">    </p:cNvPr>
          <p:cNvPicPr>
            <a:picLocks noChangeAspect="1"/>
          </p:cNvPicPr>
          <p:nvPr/>
        </p:nvPicPr>
        <p:blipFill>
          <a:blip r:embed="rId4"/>
          <a:stretch>
            <a:fillRect/>
          </a:stretch>
        </p:blipFill>
        <p:spPr>
          <a:xfrm>
            <a:off x="928116" y="4311396"/>
            <a:ext cx="384048" cy="384048"/>
          </a:xfrm>
          <a:prstGeom prst="rect">
            <a:avLst/>
          </a:prstGeom>
        </p:spPr>
      </p:pic>
      <p:sp>
        <p:nvSpPr>
          <p:cNvPr id="22" name="Text 15"/>
          <p:cNvSpPr txBox="1"/>
          <p:nvPr/>
        </p:nvSpPr>
        <p:spPr>
          <a:xfrm>
            <a:off x="1600200"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Huruf kotak</a:t>
            </a:r>
            <a:endParaRPr lang="en-US" sz="1800" dirty="0"/>
          </a:p>
        </p:txBody>
      </p:sp>
      <p:sp>
        <p:nvSpPr>
          <p:cNvPr id="23" name="Text 16"/>
          <p:cNvSpPr txBox="1"/>
          <p:nvPr/>
        </p:nvSpPr>
        <p:spPr>
          <a:xfrm>
            <a:off x="777240" y="4983480"/>
            <a:ext cx="3027578" cy="1097280"/>
          </a:xfrm>
          <a:prstGeom prst="rect">
            <a:avLst/>
          </a:prstGeom>
          <a:noFill/>
          <a:ln/>
        </p:spPr>
        <p:txBody>
          <a:bodyPr wrap="square" lIns="0" tIns="0" rIns="0" bIns="0" rtlCol="0" anchor="t"/>
          <a:lstStyle/>
          <a:p>
            <a:pPr indent="0" marL="0">
              <a:buNone/>
            </a:pPr>
            <a:r>
              <a:rPr lang="en-US" sz="1500" dirty="0">
                <a:solidFill>
                  <a:schemeClr val="tx1"/>
                </a:solidFill>
              </a:rPr>
              <a:t>Setiap huruf digambar sebagai kotak: "Hitung" ukuran 14 = enam kotak 14 × 14.</a:t>
            </a:r>
            <a:endParaRPr lang="en-US" sz="1500" dirty="0"/>
          </a:p>
        </p:txBody>
      </p:sp>
      <p:sp>
        <p:nvSpPr>
          <p:cNvPr id="24" name="kartu 5"/>
          <p:cNvSpPr/>
          <p:nvPr/>
        </p:nvSpPr>
        <p:spPr>
          <a:xfrm>
            <a:off x="4353458" y="3931920"/>
            <a:ext cx="3484778" cy="2286000"/>
          </a:xfrm>
          <a:prstGeom prst="roundRect">
            <a:avLst>
              <a:gd name="adj" fmla="val 4800"/>
            </a:avLst>
          </a:prstGeom>
          <a:solidFill>
            <a:schemeClr val="bg2"/>
          </a:solidFill>
          <a:ln/>
        </p:spPr>
      </p:sp>
      <p:sp>
        <p:nvSpPr>
          <p:cNvPr id="25" name="lingkaran lihat"/>
          <p:cNvSpPr/>
          <p:nvPr/>
        </p:nvSpPr>
        <p:spPr>
          <a:xfrm>
            <a:off x="4582058" y="4160520"/>
            <a:ext cx="685800" cy="685800"/>
          </a:xfrm>
          <a:prstGeom prst="ellipse">
            <a:avLst/>
          </a:prstGeom>
          <a:solidFill>
            <a:schemeClr val="accent6"/>
          </a:solidFill>
          <a:ln/>
        </p:spPr>
      </p:sp>
      <p:pic>
        <p:nvPicPr>
          <p:cNvPr id="26" name="Image 4" descr="lihat">    </p:cNvPr>
          <p:cNvPicPr>
            <a:picLocks noChangeAspect="1"/>
          </p:cNvPicPr>
          <p:nvPr/>
        </p:nvPicPr>
        <p:blipFill>
          <a:blip r:embed="rId5"/>
          <a:stretch>
            <a:fillRect/>
          </a:stretch>
        </p:blipFill>
        <p:spPr>
          <a:xfrm>
            <a:off x="4732934" y="4311396"/>
            <a:ext cx="384048" cy="384048"/>
          </a:xfrm>
          <a:prstGeom prst="rect">
            <a:avLst/>
          </a:prstGeom>
        </p:spPr>
      </p:pic>
      <p:sp>
        <p:nvSpPr>
          <p:cNvPr id="27" name="Text 19"/>
          <p:cNvSpPr txBox="1"/>
          <p:nvPr/>
        </p:nvSpPr>
        <p:spPr>
          <a:xfrm>
            <a:off x="5405018"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Bukan ketepatan piksel</a:t>
            </a:r>
            <a:endParaRPr lang="en-US" sz="1800" dirty="0"/>
          </a:p>
        </p:txBody>
      </p:sp>
      <p:sp>
        <p:nvSpPr>
          <p:cNvPr id="28" name="Text 20"/>
          <p:cNvSpPr txBox="1"/>
          <p:nvPr/>
        </p:nvSpPr>
        <p:spPr>
          <a:xfrm>
            <a:off x="4582058" y="4983480"/>
            <a:ext cx="3027578" cy="1097280"/>
          </a:xfrm>
          <a:prstGeom prst="rect">
            <a:avLst/>
          </a:prstGeom>
          <a:noFill/>
          <a:ln/>
        </p:spPr>
        <p:txBody>
          <a:bodyPr wrap="square" lIns="0" tIns="0" rIns="0" bIns="0" rtlCol="0" anchor="t"/>
          <a:lstStyle/>
          <a:p>
            <a:pPr indent="0" marL="0">
              <a:buNone/>
            </a:pPr>
            <a:r>
              <a:rPr lang="en-US" sz="1500" dirty="0">
                <a:solidFill>
                  <a:schemeClr val="tx1"/>
                </a:solidFill>
              </a:rPr>
              <a:t>Yang diperiksa: apa yang tampil dan perilakunya. Untuk piksel: golden test (Bagian 14.5).</a:t>
            </a:r>
            <a:endParaRPr lang="en-US" sz="1500" dirty="0"/>
          </a:p>
        </p:txBody>
      </p:sp>
      <p:sp>
        <p:nvSpPr>
          <p:cNvPr id="29" name="kartu 6"/>
          <p:cNvSpPr/>
          <p:nvPr/>
        </p:nvSpPr>
        <p:spPr>
          <a:xfrm>
            <a:off x="8158277" y="3931920"/>
            <a:ext cx="3484778" cy="2286000"/>
          </a:xfrm>
          <a:prstGeom prst="roundRect">
            <a:avLst>
              <a:gd name="adj" fmla="val 4800"/>
            </a:avLst>
          </a:prstGeom>
          <a:solidFill>
            <a:schemeClr val="bg2"/>
          </a:solidFill>
          <a:ln/>
        </p:spPr>
      </p:sp>
      <p:sp>
        <p:nvSpPr>
          <p:cNvPr id="30" name="lingkaran jalankan"/>
          <p:cNvSpPr/>
          <p:nvPr/>
        </p:nvSpPr>
        <p:spPr>
          <a:xfrm>
            <a:off x="8386877" y="4160520"/>
            <a:ext cx="685800" cy="685800"/>
          </a:xfrm>
          <a:prstGeom prst="ellipse">
            <a:avLst/>
          </a:prstGeom>
          <a:solidFill>
            <a:schemeClr val="accent4"/>
          </a:solidFill>
          <a:ln/>
        </p:spPr>
      </p:sp>
      <p:pic>
        <p:nvPicPr>
          <p:cNvPr id="31" name="Image 5" descr="jalankan">    </p:cNvPr>
          <p:cNvPicPr>
            <a:picLocks noChangeAspect="1"/>
          </p:cNvPicPr>
          <p:nvPr/>
        </p:nvPicPr>
        <p:blipFill>
          <a:blip r:embed="rId6"/>
          <a:stretch>
            <a:fillRect/>
          </a:stretch>
        </p:blipFill>
        <p:spPr>
          <a:xfrm>
            <a:off x="8537753" y="4311396"/>
            <a:ext cx="384048" cy="384048"/>
          </a:xfrm>
          <a:prstGeom prst="rect">
            <a:avLst/>
          </a:prstGeom>
        </p:spPr>
      </p:pic>
      <p:sp>
        <p:nvSpPr>
          <p:cNvPr id="32" name="Text 23"/>
          <p:cNvSpPr txBox="1"/>
          <p:nvPr/>
        </p:nvSpPr>
        <p:spPr>
          <a:xfrm>
            <a:off x="9209837"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Contoh 05: 6 tes</a:t>
            </a:r>
            <a:endParaRPr lang="en-US" sz="1800" dirty="0"/>
          </a:p>
        </p:txBody>
      </p:sp>
      <p:sp>
        <p:nvSpPr>
          <p:cNvPr id="33" name="Text 24"/>
          <p:cNvSpPr txBox="1"/>
          <p:nvPr/>
        </p:nvSpPr>
        <p:spPr>
          <a:xfrm>
            <a:off x="8386877" y="4983480"/>
            <a:ext cx="3027578" cy="1097280"/>
          </a:xfrm>
          <a:prstGeom prst="rect">
            <a:avLst/>
          </a:prstGeom>
          <a:noFill/>
          <a:ln/>
        </p:spPr>
        <p:txBody>
          <a:bodyPr wrap="square" lIns="0" tIns="0" rIns="0" bIns="0" rtlCol="0" anchor="t"/>
          <a:lstStyle/>
          <a:p>
            <a:pPr indent="0" marL="0">
              <a:buNone/>
            </a:pPr>
            <a:r>
              <a:rPr lang="en-US" sz="1500" dirty="0">
                <a:solidFill>
                  <a:schemeClr val="tx1"/>
                </a:solidFill>
              </a:rPr>
              <a:t>00:03 +6: All tests passed! Ada fungsi pembantu isiNilai(...) dan tes "55.0 dengan huruf C".</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7</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Tes Widget dengan ViewModel</a:t>
            </a:r>
            <a:endParaRPr lang="en-US" sz="4000" dirty="0"/>
          </a:p>
        </p:txBody>
      </p:sp>
      <p:sp>
        <p:nvSpPr>
          <p:cNvPr id="5" name="lingkaran lihat"/>
          <p:cNvSpPr/>
          <p:nvPr/>
        </p:nvSpPr>
        <p:spPr>
          <a:xfrm>
            <a:off x="1097280" y="2148840"/>
            <a:ext cx="2011680" cy="2011680"/>
          </a:xfrm>
          <a:prstGeom prst="ellipse">
            <a:avLst/>
          </a:prstGeom>
          <a:solidFill>
            <a:schemeClr val="accent1"/>
          </a:solidFill>
          <a:ln/>
        </p:spPr>
      </p:sp>
      <p:pic>
        <p:nvPicPr>
          <p:cNvPr id="6" name="Image 0" descr="lihat">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Aplikasi Asli, Repository Palsu</a:t>
            </a:r>
            <a:endParaRPr lang="en-US" sz="3200" dirty="0"/>
          </a:p>
        </p:txBody>
      </p:sp>
      <p:sp>
        <p:nvSpPr>
          <p:cNvPr id="4" name="kotak kode"/>
          <p:cNvSpPr txBox="1"/>
          <p:nvPr/>
        </p:nvSpPr>
        <p:spPr>
          <a:xfrm>
            <a:off x="548640" y="1371600"/>
            <a:ext cx="6217920" cy="2811780"/>
          </a:xfrm>
          <a:prstGeom prst="roundRect">
            <a:avLst>
              <a:gd name="adj" fmla="val 3252"/>
            </a:avLst>
          </a:prstGeom>
          <a:solidFill>
            <a:srgbClr val="0E1A2B"/>
          </a:solidFill>
          <a:ln/>
        </p:spPr>
        <p:txBody>
          <a:bodyPr wrap="square" lIns="177800" tIns="152400" rIns="152400" bIns="177800" rtlCol="0" anchor="t"/>
          <a:lstStyle/>
          <a:p>
            <a:pPr indent="0" marL="0">
              <a:lnSpc>
                <a:spcPct val="105000"/>
              </a:lnSpc>
              <a:buNone/>
            </a:pPr>
            <a:r>
              <a:rPr lang="en-US" sz="1250" i="1" dirty="0">
                <a:solidFill>
                  <a:srgbClr val="8FA3BC"/>
                </a:solidFill>
                <a:latin typeface="Consolas" pitchFamily="34" charset="0"/>
                <a:ea typeface="Consolas" pitchFamily="34" charset="-122"/>
                <a:cs typeface="Consolas" pitchFamily="34" charset="-120"/>
              </a:rPr>
              <a:t>/// Memasang aplikasi ASLI, tetapi dengan repository palsu.</a:t>
            </a:r>
            <a:endParaRPr lang="en-US" sz="1250" dirty="0"/>
          </a:p>
          <a:p>
            <a:pPr indent="0" marL="0">
              <a:lnSpc>
                <a:spcPct val="105000"/>
              </a:lnSpc>
              <a:buNone/>
            </a:pPr>
            <a:r>
              <a:rPr lang="en-US" sz="1250" dirty="0">
                <a:solidFill>
                  <a:srgbClr val="FFCB6B"/>
                </a:solidFill>
                <a:latin typeface="Consolas" pitchFamily="34" charset="0"/>
                <a:ea typeface="Consolas" pitchFamily="34" charset="-122"/>
                <a:cs typeface="Consolas" pitchFamily="34" charset="-120"/>
              </a:rPr>
              <a:t>Future</a:t>
            </a:r>
            <a:r>
              <a:rPr lang="en-US" sz="1250" dirty="0">
                <a:solidFill>
                  <a:srgbClr val="E6EDF3"/>
                </a:solidFill>
                <a:latin typeface="Consolas" pitchFamily="34" charset="0"/>
                <a:ea typeface="Consolas" pitchFamily="34" charset="-122"/>
                <a:cs typeface="Consolas" pitchFamily="34" charset="-120"/>
              </a:rPr>
              <a:t>&lt;</a:t>
            </a:r>
            <a:r>
              <a:rPr lang="en-US" sz="1250" dirty="0">
                <a:solidFill>
                  <a:srgbClr val="C792EA"/>
                </a:solidFill>
                <a:latin typeface="Consolas" pitchFamily="34" charset="0"/>
                <a:ea typeface="Consolas" pitchFamily="34" charset="-122"/>
                <a:cs typeface="Consolas" pitchFamily="34" charset="-120"/>
              </a:rPr>
              <a:t>void</a:t>
            </a:r>
            <a:r>
              <a:rPr lang="en-US" sz="1250" dirty="0">
                <a:solidFill>
                  <a:srgbClr val="E6EDF3"/>
                </a:solidFill>
                <a:latin typeface="Consolas" pitchFamily="34" charset="0"/>
                <a:ea typeface="Consolas" pitchFamily="34" charset="-122"/>
                <a:cs typeface="Consolas" pitchFamily="34" charset="-120"/>
              </a:rPr>
              <a:t>&gt; pasangAplikasi(</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WidgetTester</a:t>
            </a:r>
            <a:r>
              <a:rPr lang="en-US" sz="1250" dirty="0">
                <a:solidFill>
                  <a:srgbClr val="E6EDF3"/>
                </a:solidFill>
                <a:latin typeface="Consolas" pitchFamily="34" charset="0"/>
                <a:ea typeface="Consolas" pitchFamily="34" charset="-122"/>
                <a:cs typeface="Consolas" pitchFamily="34" charset="-120"/>
              </a:rPr>
              <a:t> tester,</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RepositoriAntreanPalsu</a:t>
            </a:r>
            <a:r>
              <a:rPr lang="en-US" sz="1250" dirty="0">
                <a:solidFill>
                  <a:srgbClr val="E6EDF3"/>
                </a:solidFill>
                <a:latin typeface="Consolas" pitchFamily="34" charset="0"/>
                <a:ea typeface="Consolas" pitchFamily="34" charset="-122"/>
                <a:cs typeface="Consolas" pitchFamily="34" charset="-120"/>
              </a:rPr>
              <a:t> repositori,</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C792EA"/>
                </a:solidFill>
                <a:latin typeface="Consolas" pitchFamily="34" charset="0"/>
                <a:ea typeface="Consolas" pitchFamily="34" charset="-122"/>
                <a:cs typeface="Consolas" pitchFamily="34" charset="-120"/>
              </a:rPr>
              <a:t>async</a:t>
            </a: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C792EA"/>
                </a:solidFill>
                <a:latin typeface="Consolas" pitchFamily="34" charset="0"/>
                <a:ea typeface="Consolas" pitchFamily="34" charset="-122"/>
                <a:cs typeface="Consolas" pitchFamily="34" charset="-120"/>
              </a:rPr>
              <a:t>await</a:t>
            </a:r>
            <a:r>
              <a:rPr lang="en-US" sz="1250" dirty="0">
                <a:solidFill>
                  <a:srgbClr val="E6EDF3"/>
                </a:solidFill>
                <a:latin typeface="Consolas" pitchFamily="34" charset="0"/>
                <a:ea typeface="Consolas" pitchFamily="34" charset="-122"/>
                <a:cs typeface="Consolas" pitchFamily="34" charset="-120"/>
              </a:rPr>
              <a:t> tester.pumpWidget(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Provider</a:t>
            </a:r>
            <a:r>
              <a:rPr lang="en-US" sz="1250" dirty="0">
                <a:solidFill>
                  <a:srgbClr val="E6EDF3"/>
                </a:solidFill>
                <a:latin typeface="Consolas" pitchFamily="34" charset="0"/>
                <a:ea typeface="Consolas" pitchFamily="34" charset="-122"/>
                <a:cs typeface="Consolas" pitchFamily="34" charset="-120"/>
              </a:rPr>
              <a:t>&lt;</a:t>
            </a:r>
            <a:r>
              <a:rPr lang="en-US" sz="1250" dirty="0">
                <a:solidFill>
                  <a:srgbClr val="FFCB6B"/>
                </a:solidFill>
                <a:latin typeface="Consolas" pitchFamily="34" charset="0"/>
                <a:ea typeface="Consolas" pitchFamily="34" charset="-122"/>
                <a:cs typeface="Consolas" pitchFamily="34" charset="-120"/>
              </a:rPr>
              <a:t>RepositoriAntrean</a:t>
            </a:r>
            <a:r>
              <a:rPr lang="en-US" sz="1250" dirty="0">
                <a:solidFill>
                  <a:srgbClr val="E6EDF3"/>
                </a:solidFill>
                <a:latin typeface="Consolas" pitchFamily="34" charset="0"/>
                <a:ea typeface="Consolas" pitchFamily="34" charset="-122"/>
                <a:cs typeface="Consolas" pitchFamily="34" charset="-120"/>
              </a:rPr>
              <a:t>&gt;.value(</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value: repositori,</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child: </a:t>
            </a:r>
            <a:r>
              <a:rPr lang="en-US" sz="1250" dirty="0">
                <a:solidFill>
                  <a:srgbClr val="C792EA"/>
                </a:solidFill>
                <a:latin typeface="Consolas" pitchFamily="34" charset="0"/>
                <a:ea typeface="Consolas" pitchFamily="34" charset="-122"/>
                <a:cs typeface="Consolas" pitchFamily="34" charset="-120"/>
              </a:rPr>
              <a:t>const</a:t>
            </a: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AplikasiAntrean</a:t>
            </a: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p:txBody>
      </p:sp>
      <p:sp>
        <p:nvSpPr>
          <p:cNvPr id="5" name="tombol tautan">
            <a:hlinkClick r:id="rId1" tooltip="https://github.com/antonprafanto/mobile2026/blob/main/pertemuan_14_pengujian_dan_debugging/kode/contoh_06_widget_test_dengan_viewmodel_test.dart"/>
          </p:cNvPr>
          <p:cNvSpPr txBox="1"/>
          <p:nvPr/>
        </p:nvSpPr>
        <p:spPr>
          <a:xfrm>
            <a:off x="548640" y="4411980"/>
            <a:ext cx="62179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contoh_06_widget_test_dengan_viewmodel_test.dart</a:t>
            </a:r>
            <a:endParaRPr lang="en-US" sz="1300" dirty="0"/>
          </a:p>
        </p:txBody>
      </p:sp>
      <p:pic>
        <p:nvPicPr>
          <p:cNvPr id="6" name="Image 0" descr="ikon tautan">
            <a:hlinkClick r:id="rId3" tooltip="https://github.com/antonprafanto/mobile2026/blob/main/pertemuan_14_pengujian_dan_debugging/kode/contoh_06_widget_test_dengan_viewmodel_test.dart"/>
          </p:cNvPr>
          <p:cNvPicPr>
            <a:picLocks noChangeAspect="1"/>
          </p:cNvPicPr>
          <p:nvPr/>
        </p:nvPicPr>
        <p:blipFill>
          <a:blip r:embed="rId2"/>
          <a:stretch>
            <a:fillRect/>
          </a:stretch>
        </p:blipFill>
        <p:spPr>
          <a:xfrm>
            <a:off x="694944" y="4503420"/>
            <a:ext cx="274320" cy="274320"/>
          </a:xfrm>
          <a:prstGeom prst="rect">
            <a:avLst/>
          </a:prstGeom>
        </p:spPr>
      </p:pic>
      <p:sp>
        <p:nvSpPr>
          <p:cNvPr id="7" name="daftar poin"/>
          <p:cNvSpPr txBox="1"/>
          <p:nvPr/>
        </p:nvSpPr>
        <p:spPr>
          <a:xfrm>
            <a:off x="7178040" y="1417320"/>
            <a:ext cx="44650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Pintu yang sama dengan P9 dan P12: repository disediakan lewat provider di akar aplikasi.</a:t>
            </a:r>
            <a:endParaRPr lang="en-US" sz="1700" dirty="0"/>
          </a:p>
          <a:p>
            <a:pPr marL="228600" indent="-228600">
              <a:spcAft>
                <a:spcPts val="800"/>
              </a:spcAft>
              <a:buSzPct val="100000"/>
              <a:buChar char="•"/>
            </a:pPr>
            <a:r>
              <a:rPr lang="en-US" sz="1700" dirty="0">
                <a:solidFill>
                  <a:schemeClr val="tx1"/>
                </a:solidFill>
              </a:rPr>
              <a:t>Memuat: repositori.tahan = true → lingkaran memuat.</a:t>
            </a:r>
            <a:endParaRPr lang="en-US" sz="1700" dirty="0"/>
          </a:p>
          <a:p>
            <a:pPr marL="228600" indent="-228600">
              <a:spcAft>
                <a:spcPts val="800"/>
              </a:spcAft>
              <a:buSzPct val="100000"/>
              <a:buChar char="•"/>
            </a:pPr>
            <a:r>
              <a:rPr lang="en-US" sz="1700" dirty="0">
                <a:solidFill>
                  <a:schemeClr val="tx1"/>
                </a:solidFill>
              </a:rPr>
              <a:t>Berhasil: lepaskan() lalu pumpAndSettle() → daftar tampil.</a:t>
            </a:r>
            <a:endParaRPr lang="en-US" sz="1700" dirty="0"/>
          </a:p>
          <a:p>
            <a:pPr marL="228600" indent="-228600">
              <a:spcAft>
                <a:spcPts val="800"/>
              </a:spcAft>
              <a:buSzPct val="100000"/>
              <a:buChar char="•"/>
            </a:pPr>
            <a:r>
              <a:rPr lang="en-US" sz="1700" dirty="0">
                <a:solidFill>
                  <a:schemeClr val="tx1"/>
                </a:solidFill>
              </a:rPr>
              <a:t>Gagal: gagalSaatMemuat = const TanpaKoneksi() → pesan ramah + Coba lagi.</a:t>
            </a:r>
            <a:endParaRPr lang="en-US" sz="1700" dirty="0"/>
          </a:p>
          <a:p>
            <a:pPr marL="228600" indent="-228600">
              <a:spcAft>
                <a:spcPts val="800"/>
              </a:spcAft>
              <a:buSzPct val="100000"/>
              <a:buChar char="•"/>
            </a:pPr>
            <a:r>
              <a:rPr lang="en-US" sz="1700" dirty="0">
                <a:solidFill>
                  <a:schemeClr val="tx1"/>
                </a:solidFill>
              </a:rPr>
              <a:t>Kosong: RepositoriAntreanPalsu() tanpa isi → "Jadilah yang pertama!"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Memuat, lalu Daftar</a:t>
            </a:r>
            <a:endParaRPr lang="en-US" sz="3200" dirty="0"/>
          </a:p>
        </p:txBody>
      </p:sp>
      <p:sp>
        <p:nvSpPr>
          <p:cNvPr id="4" name="kotak kode"/>
          <p:cNvSpPr txBox="1"/>
          <p:nvPr/>
        </p:nvSpPr>
        <p:spPr>
          <a:xfrm>
            <a:off x="548640" y="1371600"/>
            <a:ext cx="7132320" cy="3539871"/>
          </a:xfrm>
          <a:prstGeom prst="roundRect">
            <a:avLst>
              <a:gd name="adj" fmla="val 2583"/>
            </a:avLst>
          </a:prstGeom>
          <a:solidFill>
            <a:srgbClr val="0E1A2B"/>
          </a:solidFill>
          <a:ln/>
        </p:spPr>
        <p:txBody>
          <a:bodyPr wrap="square" lIns="177800" tIns="152400" rIns="152400" bIns="177800" rtlCol="0" anchor="t"/>
          <a:lstStyle/>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testWidgets(</a:t>
            </a:r>
            <a:r>
              <a:rPr lang="en-US" sz="1150" dirty="0">
                <a:solidFill>
                  <a:srgbClr val="C3E88D"/>
                </a:solidFill>
                <a:latin typeface="Consolas" pitchFamily="34" charset="0"/>
                <a:ea typeface="Consolas" pitchFamily="34" charset="-122"/>
                <a:cs typeface="Consolas" pitchFamily="34" charset="-120"/>
              </a:rPr>
              <a:t>'lingkaran memuat tampil, lalu berganti daftar antrean'</a:t>
            </a: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WidgetTester</a:t>
            </a:r>
            <a:r>
              <a:rPr lang="en-US" sz="1150" dirty="0">
                <a:solidFill>
                  <a:srgbClr val="E6EDF3"/>
                </a:solidFill>
                <a:latin typeface="Consolas" pitchFamily="34" charset="0"/>
                <a:ea typeface="Consolas" pitchFamily="34" charset="-122"/>
                <a:cs typeface="Consolas" pitchFamily="34" charset="-120"/>
              </a:rPr>
              <a:t> tester,</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async</a:t>
            </a: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repositori.tahan = </a:t>
            </a:r>
            <a:r>
              <a:rPr lang="en-US" sz="1150" dirty="0">
                <a:solidFill>
                  <a:srgbClr val="C792EA"/>
                </a:solidFill>
                <a:latin typeface="Consolas" pitchFamily="34" charset="0"/>
                <a:ea typeface="Consolas" pitchFamily="34" charset="-122"/>
                <a:cs typeface="Consolas" pitchFamily="34" charset="-120"/>
              </a:rPr>
              <a:t>true</a:t>
            </a:r>
            <a:r>
              <a:rPr lang="en-US" sz="1150" dirty="0">
                <a:solidFill>
                  <a:srgbClr val="E6EDF3"/>
                </a:solidFill>
                <a:latin typeface="Consolas" pitchFamily="34" charset="0"/>
                <a:ea typeface="Consolas" pitchFamily="34" charset="-122"/>
                <a:cs typeface="Consolas" pitchFamily="34" charset="-120"/>
              </a:rPr>
              <a:t>; </a:t>
            </a:r>
            <a:r>
              <a:rPr lang="en-US" sz="1150" i="1" dirty="0">
                <a:solidFill>
                  <a:srgbClr val="8FA3BC"/>
                </a:solidFill>
                <a:latin typeface="Consolas" pitchFamily="34" charset="0"/>
                <a:ea typeface="Consolas" pitchFamily="34" charset="-122"/>
                <a:cs typeface="Consolas" pitchFamily="34" charset="-120"/>
              </a:rPr>
              <a:t>// "server" belum menjawab</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await</a:t>
            </a:r>
            <a:r>
              <a:rPr lang="en-US" sz="1150" dirty="0">
                <a:solidFill>
                  <a:srgbClr val="E6EDF3"/>
                </a:solidFill>
                <a:latin typeface="Consolas" pitchFamily="34" charset="0"/>
                <a:ea typeface="Consolas" pitchFamily="34" charset="-122"/>
                <a:cs typeface="Consolas" pitchFamily="34" charset="-120"/>
              </a:rPr>
              <a:t> pasangAplikasi(tester, repositori);</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expect(find.byType(</a:t>
            </a:r>
            <a:r>
              <a:rPr lang="en-US" sz="1150" dirty="0">
                <a:solidFill>
                  <a:srgbClr val="FFCB6B"/>
                </a:solidFill>
                <a:latin typeface="Consolas" pitchFamily="34" charset="0"/>
                <a:ea typeface="Consolas" pitchFamily="34" charset="-122"/>
                <a:cs typeface="Consolas" pitchFamily="34" charset="-120"/>
              </a:rPr>
              <a:t>CircularProgressIndicator</a:t>
            </a:r>
            <a:r>
              <a:rPr lang="en-US" sz="1150" dirty="0">
                <a:solidFill>
                  <a:srgbClr val="E6EDF3"/>
                </a:solidFill>
                <a:latin typeface="Consolas" pitchFamily="34" charset="0"/>
                <a:ea typeface="Consolas" pitchFamily="34" charset="-122"/>
                <a:cs typeface="Consolas" pitchFamily="34" charset="-120"/>
              </a:rPr>
              <a:t>), findsOneWidget);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expect(find.text(</a:t>
            </a:r>
            <a:r>
              <a:rPr lang="en-US" sz="1150" dirty="0">
                <a:solidFill>
                  <a:srgbClr val="C3E88D"/>
                </a:solidFill>
                <a:latin typeface="Consolas" pitchFamily="34" charset="0"/>
                <a:ea typeface="Consolas" pitchFamily="34" charset="-122"/>
                <a:cs typeface="Consolas" pitchFamily="34" charset="-120"/>
              </a:rPr>
              <a:t>'Rina'</a:t>
            </a:r>
            <a:r>
              <a:rPr lang="en-US" sz="1150" dirty="0">
                <a:solidFill>
                  <a:srgbClr val="E6EDF3"/>
                </a:solidFill>
                <a:latin typeface="Consolas" pitchFamily="34" charset="0"/>
                <a:ea typeface="Consolas" pitchFamily="34" charset="-122"/>
                <a:cs typeface="Consolas" pitchFamily="34" charset="-120"/>
              </a:rPr>
              <a:t>), findsNothing);</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i="1" dirty="0">
                <a:solidFill>
                  <a:srgbClr val="8FA3BC"/>
                </a:solidFill>
                <a:latin typeface="Consolas" pitchFamily="34" charset="0"/>
                <a:ea typeface="Consolas" pitchFamily="34" charset="-122"/>
                <a:cs typeface="Consolas" pitchFamily="34" charset="-120"/>
              </a:rPr>
              <a:t>// Jangan pumpAndSettle() di sini: lingkaran memuat terus berputar.</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repositori.lepaskan();</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await</a:t>
            </a:r>
            <a:r>
              <a:rPr lang="en-US" sz="1150" dirty="0">
                <a:solidFill>
                  <a:srgbClr val="E6EDF3"/>
                </a:solidFill>
                <a:latin typeface="Consolas" pitchFamily="34" charset="0"/>
                <a:ea typeface="Consolas" pitchFamily="34" charset="-122"/>
                <a:cs typeface="Consolas" pitchFamily="34" charset="-120"/>
              </a:rPr>
              <a:t> tester.pumpAndSettle();</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expect(find.byType(</a:t>
            </a:r>
            <a:r>
              <a:rPr lang="en-US" sz="1150" dirty="0">
                <a:solidFill>
                  <a:srgbClr val="FFCB6B"/>
                </a:solidFill>
                <a:latin typeface="Consolas" pitchFamily="34" charset="0"/>
                <a:ea typeface="Consolas" pitchFamily="34" charset="-122"/>
                <a:cs typeface="Consolas" pitchFamily="34" charset="-120"/>
              </a:rPr>
              <a:t>CircularProgressIndicator</a:t>
            </a:r>
            <a:r>
              <a:rPr lang="en-US" sz="1150" dirty="0">
                <a:solidFill>
                  <a:srgbClr val="E6EDF3"/>
                </a:solidFill>
                <a:latin typeface="Consolas" pitchFamily="34" charset="0"/>
                <a:ea typeface="Consolas" pitchFamily="34" charset="-122"/>
                <a:cs typeface="Consolas" pitchFamily="34" charset="-120"/>
              </a:rPr>
              <a:t>), findsNothing);</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expect(find.text(</a:t>
            </a:r>
            <a:r>
              <a:rPr lang="en-US" sz="1150" dirty="0">
                <a:solidFill>
                  <a:srgbClr val="C3E88D"/>
                </a:solidFill>
                <a:latin typeface="Consolas" pitchFamily="34" charset="0"/>
                <a:ea typeface="Consolas" pitchFamily="34" charset="-122"/>
                <a:cs typeface="Consolas" pitchFamily="34" charset="-120"/>
              </a:rPr>
              <a:t>'Rina'</a:t>
            </a:r>
            <a:r>
              <a:rPr lang="en-US" sz="1150" dirty="0">
                <a:solidFill>
                  <a:srgbClr val="E6EDF3"/>
                </a:solidFill>
                <a:latin typeface="Consolas" pitchFamily="34" charset="0"/>
                <a:ea typeface="Consolas" pitchFamily="34" charset="-122"/>
                <a:cs typeface="Consolas" pitchFamily="34" charset="-120"/>
              </a:rPr>
              <a:t>), findsOneWidget);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p:txBody>
      </p:sp>
      <p:sp>
        <p:nvSpPr>
          <p:cNvPr id="5" name="tombol tautan">
            <a:hlinkClick r:id="rId1" tooltip="https://github.com/antonprafanto/mobile2026/blob/main/pertemuan_14_pengujian_dan_debugging/kode/contoh_06_widget_test_dengan_viewmodel_test.dart"/>
          </p:cNvPr>
          <p:cNvSpPr txBox="1"/>
          <p:nvPr/>
        </p:nvSpPr>
        <p:spPr>
          <a:xfrm>
            <a:off x="548640" y="5140071"/>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contoh_06_widget_test_dengan_viewmodel_test.dart</a:t>
            </a:r>
            <a:endParaRPr lang="en-US" sz="1300" dirty="0"/>
          </a:p>
        </p:txBody>
      </p:sp>
      <p:pic>
        <p:nvPicPr>
          <p:cNvPr id="6" name="Image 0" descr="ikon tautan">
            <a:hlinkClick r:id="rId3" tooltip="https://github.com/antonprafanto/mobile2026/blob/main/pertemuan_14_pengujian_dan_debugging/kode/contoh_06_widget_test_dengan_viewmodel_test.dart"/>
          </p:cNvPr>
          <p:cNvPicPr>
            <a:picLocks noChangeAspect="1"/>
          </p:cNvPicPr>
          <p:nvPr/>
        </p:nvPicPr>
        <p:blipFill>
          <a:blip r:embed="rId2"/>
          <a:stretch>
            <a:fillRect/>
          </a:stretch>
        </p:blipFill>
        <p:spPr>
          <a:xfrm>
            <a:off x="694944" y="5231511"/>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Saat ditahan: lingkaran memuat ada, daftar belum.</a:t>
            </a:r>
            <a:endParaRPr lang="en-US" sz="1700" dirty="0"/>
          </a:p>
          <a:p>
            <a:pPr marL="228600" indent="-228600">
              <a:spcAft>
                <a:spcPts val="800"/>
              </a:spcAft>
              <a:buSzPct val="100000"/>
              <a:buChar char="•"/>
            </a:pPr>
            <a:r>
              <a:rPr lang="en-US" sz="1700" dirty="0">
                <a:solidFill>
                  <a:schemeClr val="tx1"/>
                </a:solidFill>
              </a:rPr>
              <a:t>JANGAN pumpAndSettle() selama lingkaran berputar.</a:t>
            </a:r>
            <a:endParaRPr lang="en-US" sz="1700" dirty="0"/>
          </a:p>
          <a:p>
            <a:pPr marL="228600" indent="-228600">
              <a:spcAft>
                <a:spcPts val="800"/>
              </a:spcAft>
              <a:buSzPct val="100000"/>
              <a:buChar char="•"/>
            </a:pPr>
            <a:r>
              <a:rPr lang="en-US" sz="1700" dirty="0">
                <a:solidFill>
                  <a:schemeClr val="tx1"/>
                </a:solidFill>
              </a:rPr>
              <a:t>Setelah lepaskan(): lingkaran hilang, Rina tampil.</a:t>
            </a:r>
            <a:endParaRPr lang="en-US" sz="1700" dirty="0"/>
          </a:p>
          <a:p>
            <a:pPr marL="228600" indent="-228600">
              <a:spcAft>
                <a:spcPts val="800"/>
              </a:spcAft>
              <a:buSzPct val="100000"/>
              <a:buChar char="•"/>
            </a:pPr>
            <a:r>
              <a:rPr lang="en-US" sz="1700" dirty="0">
                <a:solidFill>
                  <a:schemeClr val="tx1"/>
                </a:solidFill>
              </a:rPr>
              <a:t>Tes gagal juga menguji Coba lagi: gagalSaatMemuat = null, ketuk 'Coba lagi', jumlahMemuat menjadi 2.</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Tombol Mati Selama Mengirim</a:t>
            </a:r>
            <a:endParaRPr lang="en-US" sz="3200" dirty="0"/>
          </a:p>
        </p:txBody>
      </p:sp>
      <p:sp>
        <p:nvSpPr>
          <p:cNvPr id="4" name="kotak kode"/>
          <p:cNvSpPr txBox="1"/>
          <p:nvPr/>
        </p:nvSpPr>
        <p:spPr>
          <a:xfrm>
            <a:off x="548640" y="1371600"/>
            <a:ext cx="6949440" cy="2715768"/>
          </a:xfrm>
          <a:prstGeom prst="roundRect">
            <a:avLst>
              <a:gd name="adj" fmla="val 3367"/>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repositori.tahan = </a:t>
            </a:r>
            <a:r>
              <a:rPr lang="en-US" sz="1200" dirty="0">
                <a:solidFill>
                  <a:srgbClr val="C792EA"/>
                </a:solidFill>
                <a:latin typeface="Consolas" pitchFamily="34" charset="0"/>
                <a:ea typeface="Consolas" pitchFamily="34" charset="-122"/>
                <a:cs typeface="Consolas" pitchFamily="34" charset="-120"/>
              </a:rPr>
              <a:t>true</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tester.tap(find.text(</a:t>
            </a:r>
            <a:r>
              <a:rPr lang="en-US" sz="1200" dirty="0">
                <a:solidFill>
                  <a:srgbClr val="C3E88D"/>
                </a:solidFill>
                <a:latin typeface="Consolas" pitchFamily="34" charset="0"/>
                <a:ea typeface="Consolas" pitchFamily="34" charset="-122"/>
                <a:cs typeface="Consolas" pitchFamily="34" charset="-120"/>
              </a:rPr>
              <a:t>'Kirim'</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tester.pump(); </a:t>
            </a:r>
            <a:r>
              <a:rPr lang="en-US" sz="1200" i="1" dirty="0">
                <a:solidFill>
                  <a:srgbClr val="8FA3BC"/>
                </a:solidFill>
                <a:latin typeface="Consolas" pitchFamily="34" charset="0"/>
                <a:ea typeface="Consolas" pitchFamily="34" charset="-122"/>
                <a:cs typeface="Consolas" pitchFamily="34" charset="-120"/>
              </a:rPr>
              <a:t>// satu gambar: keadaan "sedang mengirim"</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Finder</a:t>
            </a:r>
            <a:r>
              <a:rPr lang="en-US" sz="1200" dirty="0">
                <a:solidFill>
                  <a:srgbClr val="E6EDF3"/>
                </a:solidFill>
                <a:latin typeface="Consolas" pitchFamily="34" charset="0"/>
                <a:ea typeface="Consolas" pitchFamily="34" charset="-122"/>
                <a:cs typeface="Consolas" pitchFamily="34" charset="-120"/>
              </a:rPr>
              <a:t> tombol = find.byKey(</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Key</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C3E88D"/>
                </a:solidFill>
                <a:latin typeface="Consolas" pitchFamily="34" charset="0"/>
                <a:ea typeface="Consolas" pitchFamily="34" charset="-122"/>
                <a:cs typeface="Consolas" pitchFamily="34" charset="-120"/>
              </a:rPr>
              <a:t>'tombol_kirim'</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expect(tester.widget&lt;</a:t>
            </a:r>
            <a:r>
              <a:rPr lang="en-US" sz="1200" dirty="0">
                <a:solidFill>
                  <a:srgbClr val="FFCB6B"/>
                </a:solidFill>
                <a:latin typeface="Consolas" pitchFamily="34" charset="0"/>
                <a:ea typeface="Consolas" pitchFamily="34" charset="-122"/>
                <a:cs typeface="Consolas" pitchFamily="34" charset="-120"/>
              </a:rPr>
              <a:t>ButtonStyleButton</a:t>
            </a:r>
            <a:r>
              <a:rPr lang="en-US" sz="1200" dirty="0">
                <a:solidFill>
                  <a:srgbClr val="E6EDF3"/>
                </a:solidFill>
                <a:latin typeface="Consolas" pitchFamily="34" charset="0"/>
                <a:ea typeface="Consolas" pitchFamily="34" charset="-122"/>
                <a:cs typeface="Consolas" pitchFamily="34" charset="-120"/>
              </a:rPr>
              <a:t>&gt;(tombol).enabled, isFalse);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expect(find.text(</a:t>
            </a:r>
            <a:r>
              <a:rPr lang="en-US" sz="1200" dirty="0">
                <a:solidFill>
                  <a:srgbClr val="C3E88D"/>
                </a:solidFill>
                <a:latin typeface="Consolas" pitchFamily="34" charset="0"/>
                <a:ea typeface="Consolas" pitchFamily="34" charset="-122"/>
                <a:cs typeface="Consolas" pitchFamily="34" charset="-120"/>
              </a:rPr>
              <a:t>'Mengirim...'</a:t>
            </a:r>
            <a:r>
              <a:rPr lang="en-US" sz="1200" dirty="0">
                <a:solidFill>
                  <a:srgbClr val="E6EDF3"/>
                </a:solidFill>
                <a:latin typeface="Consolas" pitchFamily="34" charset="0"/>
                <a:ea typeface="Consolas" pitchFamily="34" charset="-122"/>
                <a:cs typeface="Consolas" pitchFamily="34" charset="-120"/>
              </a:rPr>
              <a:t>), findsOneWidget);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Ketukan kedua pada tombol yang mati tidak berbuat apa-apa.</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tester.tap(tombol, warnIfMissed: </a:t>
            </a:r>
            <a:r>
              <a:rPr lang="en-US" sz="1200" dirty="0">
                <a:solidFill>
                  <a:srgbClr val="C792EA"/>
                </a:solidFill>
                <a:latin typeface="Consolas" pitchFamily="34" charset="0"/>
                <a:ea typeface="Consolas" pitchFamily="34" charset="-122"/>
                <a:cs typeface="Consolas" pitchFamily="34" charset="-120"/>
              </a:rPr>
              <a:t>false</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tester.pump();</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expect(repositori.jumlahMengambil, </a:t>
            </a:r>
            <a:r>
              <a:rPr lang="en-US" sz="1200" dirty="0">
                <a:solidFill>
                  <a:srgbClr val="F78C6C"/>
                </a:solidFill>
                <a:latin typeface="Consolas" pitchFamily="34" charset="0"/>
                <a:ea typeface="Consolas" pitchFamily="34" charset="-122"/>
                <a:cs typeface="Consolas" pitchFamily="34" charset="-120"/>
              </a:rPr>
              <a:t>1</a:t>
            </a: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4_pengujian_dan_debugging/kode/contoh_06_widget_test_dengan_viewmodel_test.dart"/>
          </p:cNvPr>
          <p:cNvSpPr txBox="1"/>
          <p:nvPr/>
        </p:nvSpPr>
        <p:spPr>
          <a:xfrm>
            <a:off x="548640" y="4315968"/>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contoh_06_widget_test_dengan_viewmodel_test.dart</a:t>
            </a:r>
            <a:endParaRPr lang="en-US" sz="1300" dirty="0"/>
          </a:p>
        </p:txBody>
      </p:sp>
      <p:pic>
        <p:nvPicPr>
          <p:cNvPr id="6" name="Image 0" descr="ikon tautan">
            <a:hlinkClick r:id="rId3" tooltip="https://github.com/antonprafanto/mobile2026/blob/main/pertemuan_14_pengujian_dan_debugging/kode/contoh_06_widget_test_dengan_viewmodel_test.dart"/>
          </p:cNvPr>
          <p:cNvPicPr>
            <a:picLocks noChangeAspect="1"/>
          </p:cNvPicPr>
          <p:nvPr/>
        </p:nvPicPr>
        <p:blipFill>
          <a:blip r:embed="rId2"/>
          <a:stretch>
            <a:fillRect/>
          </a:stretch>
        </p:blipFill>
        <p:spPr>
          <a:xfrm>
            <a:off x="694944" y="4407408"/>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Janji P12: tombol kirim MATI selama permintaan berjalan.</a:t>
            </a:r>
            <a:endParaRPr lang="en-US" sz="1700" dirty="0"/>
          </a:p>
          <a:p>
            <a:pPr marL="228600" indent="-228600">
              <a:spcAft>
                <a:spcPts val="800"/>
              </a:spcAft>
              <a:buSzPct val="100000"/>
              <a:buChar char="•"/>
            </a:pPr>
            <a:r>
              <a:rPr lang="en-US" sz="1700" dirty="0">
                <a:solidFill>
                  <a:schemeClr val="tx1"/>
                </a:solidFill>
              </a:rPr>
              <a:t>tester.widget&lt;T&gt;(finder): ambil objek widget-nya, lalu periksa propertinya.</a:t>
            </a:r>
            <a:endParaRPr lang="en-US" sz="1700" dirty="0"/>
          </a:p>
          <a:p>
            <a:pPr marL="228600" indent="-228600">
              <a:spcAft>
                <a:spcPts val="800"/>
              </a:spcAft>
              <a:buSzPct val="100000"/>
              <a:buChar char="•"/>
            </a:pPr>
            <a:r>
              <a:rPr lang="en-US" sz="1700" dirty="0">
                <a:solidFill>
                  <a:schemeClr val="tx1"/>
                </a:solidFill>
              </a:rPr>
              <a:t>ButtonStyleButton: induk FilledButton, ElevatedButton, OutlinedButton, TextButton. enabled false = onPressed null.</a:t>
            </a:r>
            <a:endParaRPr lang="en-US" sz="1700" dirty="0"/>
          </a:p>
          <a:p>
            <a:pPr marL="228600" indent="-228600">
              <a:spcAft>
                <a:spcPts val="800"/>
              </a:spcAft>
              <a:buSzPct val="100000"/>
              <a:buChar char="•"/>
            </a:pPr>
            <a:r>
              <a:rPr lang="en-US" sz="1700" dirty="0">
                <a:solidFill>
                  <a:schemeClr val="tx1"/>
                </a:solidFill>
              </a:rPr>
              <a:t>warnIfMissed: false: tombol mati tidak menerima ketukan; tanpa ini, tap mencetak peringatan.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Layar Sempit dan Huruf Besar</a:t>
            </a:r>
            <a:endParaRPr lang="en-US" sz="3200" dirty="0"/>
          </a:p>
        </p:txBody>
      </p:sp>
      <p:sp>
        <p:nvSpPr>
          <p:cNvPr id="4" name="kotak kode"/>
          <p:cNvSpPr txBox="1"/>
          <p:nvPr/>
        </p:nvSpPr>
        <p:spPr>
          <a:xfrm>
            <a:off x="548640" y="1371600"/>
            <a:ext cx="7132320" cy="2987802"/>
          </a:xfrm>
          <a:prstGeom prst="roundRect">
            <a:avLst>
              <a:gd name="adj" fmla="val 3060"/>
            </a:avLst>
          </a:prstGeom>
          <a:solidFill>
            <a:srgbClr val="0E1A2B"/>
          </a:solidFill>
          <a:ln/>
        </p:spPr>
        <p:txBody>
          <a:bodyPr wrap="square" lIns="177800" tIns="152400" rIns="152400" bIns="177800" rtlCol="0" anchor="t"/>
          <a:lstStyle/>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testWidgets(</a:t>
            </a:r>
            <a:r>
              <a:rPr lang="en-US" sz="1150" dirty="0">
                <a:solidFill>
                  <a:srgbClr val="C3E88D"/>
                </a:solidFill>
                <a:latin typeface="Consolas" pitchFamily="34" charset="0"/>
                <a:ea typeface="Consolas" pitchFamily="34" charset="-122"/>
                <a:cs typeface="Consolas" pitchFamily="34" charset="-120"/>
              </a:rPr>
              <a:t>'layar sempit 320 piksel dengan huruf 200% tidak meluap'</a:t>
            </a: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WidgetTester</a:t>
            </a:r>
            <a:r>
              <a:rPr lang="en-US" sz="1150" dirty="0">
                <a:solidFill>
                  <a:srgbClr val="E6EDF3"/>
                </a:solidFill>
                <a:latin typeface="Consolas" pitchFamily="34" charset="0"/>
                <a:ea typeface="Consolas" pitchFamily="34" charset="-122"/>
                <a:cs typeface="Consolas" pitchFamily="34" charset="-120"/>
              </a:rPr>
              <a:t> tester,</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async</a:t>
            </a: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i="1" dirty="0">
                <a:solidFill>
                  <a:srgbClr val="8FA3BC"/>
                </a:solidFill>
                <a:latin typeface="Consolas" pitchFamily="34" charset="0"/>
                <a:ea typeface="Consolas" pitchFamily="34" charset="-122"/>
                <a:cs typeface="Consolas" pitchFamily="34" charset="-120"/>
              </a:rPr>
              <a:t>// Ukuran layar dan ukuran huruf diatur, lalu dikembalikan seusai tes.</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tester.view.physicalSize = </a:t>
            </a:r>
            <a:r>
              <a:rPr lang="en-US" sz="1150" dirty="0">
                <a:solidFill>
                  <a:srgbClr val="C792EA"/>
                </a:solidFill>
                <a:latin typeface="Consolas" pitchFamily="34" charset="0"/>
                <a:ea typeface="Consolas" pitchFamily="34" charset="-122"/>
                <a:cs typeface="Consolas" pitchFamily="34" charset="-120"/>
              </a:rPr>
              <a:t>const</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Size</a:t>
            </a:r>
            <a:r>
              <a:rPr lang="en-US" sz="1150" dirty="0">
                <a:solidFill>
                  <a:srgbClr val="E6EDF3"/>
                </a:solidFill>
                <a:latin typeface="Consolas" pitchFamily="34" charset="0"/>
                <a:ea typeface="Consolas" pitchFamily="34" charset="-122"/>
                <a:cs typeface="Consolas" pitchFamily="34" charset="-120"/>
              </a:rPr>
              <a:t>(</a:t>
            </a:r>
            <a:r>
              <a:rPr lang="en-US" sz="1150" dirty="0">
                <a:solidFill>
                  <a:srgbClr val="F78C6C"/>
                </a:solidFill>
                <a:latin typeface="Consolas" pitchFamily="34" charset="0"/>
                <a:ea typeface="Consolas" pitchFamily="34" charset="-122"/>
                <a:cs typeface="Consolas" pitchFamily="34" charset="-120"/>
              </a:rPr>
              <a:t>320</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78C6C"/>
                </a:solidFill>
                <a:latin typeface="Consolas" pitchFamily="34" charset="0"/>
                <a:ea typeface="Consolas" pitchFamily="34" charset="-122"/>
                <a:cs typeface="Consolas" pitchFamily="34" charset="-120"/>
              </a:rPr>
              <a:t>640</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tester.view.devicePixelRatio = </a:t>
            </a:r>
            <a:r>
              <a:rPr lang="en-US" sz="1150" dirty="0">
                <a:solidFill>
                  <a:srgbClr val="F78C6C"/>
                </a:solidFill>
                <a:latin typeface="Consolas" pitchFamily="34" charset="0"/>
                <a:ea typeface="Consolas" pitchFamily="34" charset="-122"/>
                <a:cs typeface="Consolas" pitchFamily="34" charset="-120"/>
              </a:rPr>
              <a:t>1.0</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tester.platformDispatcher.textScaleFactorTestValue = </a:t>
            </a:r>
            <a:r>
              <a:rPr lang="en-US" sz="1150" dirty="0">
                <a:solidFill>
                  <a:srgbClr val="F78C6C"/>
                </a:solidFill>
                <a:latin typeface="Consolas" pitchFamily="34" charset="0"/>
                <a:ea typeface="Consolas" pitchFamily="34" charset="-122"/>
                <a:cs typeface="Consolas" pitchFamily="34" charset="-120"/>
              </a:rPr>
              <a:t>2.0</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addTearDown(tester.view.reset);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addTearDown(tester.platformDispatcher.clearTextScaleFactorTestValue);</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await</a:t>
            </a:r>
            <a:r>
              <a:rPr lang="en-US" sz="1150" dirty="0">
                <a:solidFill>
                  <a:srgbClr val="E6EDF3"/>
                </a:solidFill>
                <a:latin typeface="Consolas" pitchFamily="34" charset="0"/>
                <a:ea typeface="Consolas" pitchFamily="34" charset="-122"/>
                <a:cs typeface="Consolas" pitchFamily="34" charset="-120"/>
              </a:rPr>
              <a:t> pasangAplikasi(tester, repositori);</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await</a:t>
            </a:r>
            <a:r>
              <a:rPr lang="en-US" sz="1150" dirty="0">
                <a:solidFill>
                  <a:srgbClr val="E6EDF3"/>
                </a:solidFill>
                <a:latin typeface="Consolas" pitchFamily="34" charset="0"/>
                <a:ea typeface="Consolas" pitchFamily="34" charset="-122"/>
                <a:cs typeface="Consolas" pitchFamily="34" charset="-120"/>
              </a:rPr>
              <a:t> tester.pumpAndSettle();</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i="1" dirty="0">
                <a:solidFill>
                  <a:srgbClr val="8FA3BC"/>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p:txBody>
      </p:sp>
      <p:sp>
        <p:nvSpPr>
          <p:cNvPr id="5" name="tombol tautan">
            <a:hlinkClick r:id="rId1" tooltip="https://github.com/antonprafanto/mobile2026/blob/main/pertemuan_14_pengujian_dan_debugging/kode/contoh_06_widget_test_dengan_viewmodel_test.dart"/>
          </p:cNvPr>
          <p:cNvSpPr txBox="1"/>
          <p:nvPr/>
        </p:nvSpPr>
        <p:spPr>
          <a:xfrm>
            <a:off x="548640" y="4588002"/>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contoh_06_widget_test_dengan_viewmodel_test.dart</a:t>
            </a:r>
            <a:endParaRPr lang="en-US" sz="1300" dirty="0"/>
          </a:p>
        </p:txBody>
      </p:sp>
      <p:pic>
        <p:nvPicPr>
          <p:cNvPr id="6" name="Image 0" descr="ikon tautan">
            <a:hlinkClick r:id="rId3" tooltip="https://github.com/antonprafanto/mobile2026/blob/main/pertemuan_14_pengujian_dan_debugging/kode/contoh_06_widget_test_dengan_viewmodel_test.dart"/>
          </p:cNvPr>
          <p:cNvPicPr>
            <a:picLocks noChangeAspect="1"/>
          </p:cNvPicPr>
          <p:nvPr/>
        </p:nvPicPr>
        <p:blipFill>
          <a:blip r:embed="rId2"/>
          <a:stretch>
            <a:fillRect/>
          </a:stretch>
        </p:blipFill>
        <p:spPr>
          <a:xfrm>
            <a:off x="694944" y="4679442"/>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physicalSize + devicePixelRatio 1,0 → layar 320 × 640 piksel logis.</a:t>
            </a:r>
            <a:endParaRPr lang="en-US" sz="1700" dirty="0"/>
          </a:p>
          <a:p>
            <a:pPr marL="228600" indent="-228600">
              <a:spcAft>
                <a:spcPts val="800"/>
              </a:spcAft>
              <a:buSzPct val="100000"/>
              <a:buChar char="•"/>
            </a:pPr>
            <a:r>
              <a:rPr lang="en-US" sz="1700" dirty="0">
                <a:solidFill>
                  <a:schemeClr val="tx1"/>
                </a:solidFill>
              </a:rPr>
              <a:t>textScaleFactorTestValue = 2.0 → seolah huruf diperbesar 200% di Pengaturan.</a:t>
            </a:r>
            <a:endParaRPr lang="en-US" sz="1700" dirty="0"/>
          </a:p>
          <a:p>
            <a:pPr marL="228600" indent="-228600">
              <a:spcAft>
                <a:spcPts val="800"/>
              </a:spcAft>
              <a:buSzPct val="100000"/>
              <a:buChar char="•"/>
            </a:pPr>
            <a:r>
              <a:rPr lang="en-US" sz="1700" dirty="0">
                <a:solidFill>
                  <a:schemeClr val="tx1"/>
                </a:solidFill>
              </a:rPr>
              <a:t>addTearDown(...): kembalikan seusai tes, agar tes berikutnya kembali ke 800 × 600.</a:t>
            </a:r>
            <a:endParaRPr lang="en-US" sz="1700" dirty="0"/>
          </a:p>
          <a:p>
            <a:pPr marL="228600" indent="-228600">
              <a:spcAft>
                <a:spcPts val="800"/>
              </a:spcAft>
              <a:buSzPct val="100000"/>
              <a:buChar char="•"/>
            </a:pPr>
            <a:r>
              <a:rPr lang="en-US" sz="1700" dirty="0">
                <a:solidFill>
                  <a:schemeClr val="tx1"/>
                </a:solidFill>
              </a:rPr>
              <a:t>Hampir tanpa expect khusus: jika ada yang MELUAP (overflow), Flutter melaporkan galat dan tesnya otomatis gagal.</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Mode Gelap dan Pedoman Aksesibilitas</a:t>
            </a:r>
            <a:endParaRPr lang="en-US" sz="3200" dirty="0"/>
          </a:p>
        </p:txBody>
      </p:sp>
      <p:sp>
        <p:nvSpPr>
          <p:cNvPr id="4" name="kotak kode"/>
          <p:cNvSpPr txBox="1"/>
          <p:nvPr/>
        </p:nvSpPr>
        <p:spPr>
          <a:xfrm>
            <a:off x="548640" y="1371600"/>
            <a:ext cx="7406640" cy="3403854"/>
          </a:xfrm>
          <a:prstGeom prst="roundRect">
            <a:avLst>
              <a:gd name="adj" fmla="val 2686"/>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tester.platformDispatcher.platformBrightnessTestValue = </a:t>
            </a:r>
            <a:r>
              <a:rPr lang="en-US" sz="1100" dirty="0">
                <a:solidFill>
                  <a:srgbClr val="FFCB6B"/>
                </a:solidFill>
                <a:latin typeface="Consolas" pitchFamily="34" charset="0"/>
                <a:ea typeface="Consolas" pitchFamily="34" charset="-122"/>
                <a:cs typeface="Consolas" pitchFamily="34" charset="-120"/>
              </a:rPr>
              <a:t>Brightness</a:t>
            </a:r>
            <a:r>
              <a:rPr lang="en-US" sz="1100" dirty="0">
                <a:solidFill>
                  <a:srgbClr val="E6EDF3"/>
                </a:solidFill>
                <a:latin typeface="Consolas" pitchFamily="34" charset="0"/>
                <a:ea typeface="Consolas" pitchFamily="34" charset="-122"/>
                <a:cs typeface="Consolas" pitchFamily="34" charset="-120"/>
              </a:rPr>
              <a:t>.dark;</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addTearDown(tester.platformDispatcher.clearPlatformBrightnessTestValue);</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BuildContext</a:t>
            </a:r>
            <a:r>
              <a:rPr lang="en-US" sz="1100" dirty="0">
                <a:solidFill>
                  <a:srgbClr val="E6EDF3"/>
                </a:solidFill>
                <a:latin typeface="Consolas" pitchFamily="34" charset="0"/>
                <a:ea typeface="Consolas" pitchFamily="34" charset="-122"/>
                <a:cs typeface="Consolas" pitchFamily="34" charset="-120"/>
              </a:rPr>
              <a:t> konteks = tester.element(find.text(</a:t>
            </a:r>
            <a:r>
              <a:rPr lang="en-US" sz="1100" dirty="0">
                <a:solidFill>
                  <a:srgbClr val="C3E88D"/>
                </a:solidFill>
                <a:latin typeface="Consolas" pitchFamily="34" charset="0"/>
                <a:ea typeface="Consolas" pitchFamily="34" charset="-122"/>
                <a:cs typeface="Consolas" pitchFamily="34" charset="-120"/>
              </a:rPr>
              <a:t>'Rina'</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expect(</a:t>
            </a:r>
            <a:r>
              <a:rPr lang="en-US" sz="1100" dirty="0">
                <a:solidFill>
                  <a:srgbClr val="FFCB6B"/>
                </a:solidFill>
                <a:latin typeface="Consolas" pitchFamily="34" charset="0"/>
                <a:ea typeface="Consolas" pitchFamily="34" charset="-122"/>
                <a:cs typeface="Consolas" pitchFamily="34" charset="-120"/>
              </a:rPr>
              <a:t>Theme</a:t>
            </a:r>
            <a:r>
              <a:rPr lang="en-US" sz="1100" dirty="0">
                <a:solidFill>
                  <a:srgbClr val="E6EDF3"/>
                </a:solidFill>
                <a:latin typeface="Consolas" pitchFamily="34" charset="0"/>
                <a:ea typeface="Consolas" pitchFamily="34" charset="-122"/>
                <a:cs typeface="Consolas" pitchFamily="34" charset="-120"/>
              </a:rPr>
              <a:t>.of(konteks).brightness, </a:t>
            </a:r>
            <a:r>
              <a:rPr lang="en-US" sz="1100" dirty="0">
                <a:solidFill>
                  <a:srgbClr val="FFCB6B"/>
                </a:solidFill>
                <a:latin typeface="Consolas" pitchFamily="34" charset="0"/>
                <a:ea typeface="Consolas" pitchFamily="34" charset="-122"/>
                <a:cs typeface="Consolas" pitchFamily="34" charset="-120"/>
              </a:rPr>
              <a:t>Brightness</a:t>
            </a:r>
            <a:r>
              <a:rPr lang="en-US" sz="1100" dirty="0">
                <a:solidFill>
                  <a:srgbClr val="E6EDF3"/>
                </a:solidFill>
                <a:latin typeface="Consolas" pitchFamily="34" charset="0"/>
                <a:ea typeface="Consolas" pitchFamily="34" charset="-122"/>
                <a:cs typeface="Consolas" pitchFamily="34" charset="-120"/>
              </a:rPr>
              <a:t>.dark);</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testWidgets(</a:t>
            </a:r>
            <a:r>
              <a:rPr lang="en-US" sz="1100" dirty="0">
                <a:solidFill>
                  <a:srgbClr val="C3E88D"/>
                </a:solidFill>
                <a:latin typeface="Consolas" pitchFamily="34" charset="0"/>
                <a:ea typeface="Consolas" pitchFamily="34" charset="-122"/>
                <a:cs typeface="Consolas" pitchFamily="34" charset="-120"/>
              </a:rPr>
              <a:t>'memenuhi pedoman aksesibilitas'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WidgetTester</a:t>
            </a:r>
            <a:r>
              <a:rPr lang="en-US" sz="1100" dirty="0">
                <a:solidFill>
                  <a:srgbClr val="E6EDF3"/>
                </a:solidFill>
                <a:latin typeface="Consolas" pitchFamily="34" charset="0"/>
                <a:ea typeface="Consolas" pitchFamily="34" charset="-122"/>
                <a:cs typeface="Consolas" pitchFamily="34" charset="-120"/>
              </a:rPr>
              <a:t> tester)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SemanticsHandle</a:t>
            </a:r>
            <a:r>
              <a:rPr lang="en-US" sz="1100" dirty="0">
                <a:solidFill>
                  <a:srgbClr val="E6EDF3"/>
                </a:solidFill>
                <a:latin typeface="Consolas" pitchFamily="34" charset="0"/>
                <a:ea typeface="Consolas" pitchFamily="34" charset="-122"/>
                <a:cs typeface="Consolas" pitchFamily="34" charset="-120"/>
              </a:rPr>
              <a:t> pegangan = tester.ensureSemantics();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pasangAplikasi(tester, repositori);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tester.pumpAndSettle();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expectLater(tester, meetsGuideline(androidTapTargetGuideline));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expectLater(tester, meetsGuideline(labeledTapTargetGuideline));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expectLater(tester, meetsGuideline(textContrastGuideline));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pegangan.dispose();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4_pengujian_dan_debugging/kode/contoh_06_widget_test_dengan_viewmodel_test.dart"/>
          </p:cNvPr>
          <p:cNvSpPr txBox="1"/>
          <p:nvPr/>
        </p:nvSpPr>
        <p:spPr>
          <a:xfrm>
            <a:off x="548640" y="5004054"/>
            <a:ext cx="74066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contoh_06_widget_test_dengan_viewmodel_test.dart</a:t>
            </a:r>
            <a:endParaRPr lang="en-US" sz="1300" dirty="0"/>
          </a:p>
        </p:txBody>
      </p:sp>
      <p:pic>
        <p:nvPicPr>
          <p:cNvPr id="6" name="Image 0" descr="ikon tautan">
            <a:hlinkClick r:id="rId3" tooltip="https://github.com/antonprafanto/mobile2026/blob/main/pertemuan_14_pengujian_dan_debugging/kode/contoh_06_widget_test_dengan_viewmodel_test.dart"/>
          </p:cNvPr>
          <p:cNvPicPr>
            <a:picLocks noChangeAspect="1"/>
          </p:cNvPicPr>
          <p:nvPr/>
        </p:nvPicPr>
        <p:blipFill>
          <a:blip r:embed="rId2"/>
          <a:stretch>
            <a:fillRect/>
          </a:stretch>
        </p:blipFill>
        <p:spPr>
          <a:xfrm>
            <a:off x="694944" y="5095494"/>
            <a:ext cx="274320" cy="274320"/>
          </a:xfrm>
          <a:prstGeom prst="rect">
            <a:avLst/>
          </a:prstGeom>
        </p:spPr>
      </p:pic>
      <p:sp>
        <p:nvSpPr>
          <p:cNvPr id="7" name="daftar poin"/>
          <p:cNvSpPr txBox="1"/>
          <p:nvPr/>
        </p:nvSpPr>
        <p:spPr>
          <a:xfrm>
            <a:off x="8366760" y="1417320"/>
            <a:ext cx="32762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tester.element(finder): BuildContext → tema yang sedang dipakai.</a:t>
            </a:r>
            <a:endParaRPr lang="en-US" sz="1700" dirty="0"/>
          </a:p>
          <a:p>
            <a:pPr marL="228600" indent="-228600">
              <a:spcAft>
                <a:spcPts val="800"/>
              </a:spcAft>
              <a:buSzPct val="100000"/>
              <a:buChar char="•"/>
            </a:pPr>
            <a:r>
              <a:rPr lang="en-US" sz="1700" dirty="0">
                <a:solidFill>
                  <a:schemeClr val="tx1"/>
                </a:solidFill>
              </a:rPr>
              <a:t>androidTapTarget: target sentuh ≥ 48 × 48 (iOS: 44 × 44).</a:t>
            </a:r>
            <a:endParaRPr lang="en-US" sz="1700" dirty="0"/>
          </a:p>
          <a:p>
            <a:pPr marL="228600" indent="-228600">
              <a:spcAft>
                <a:spcPts val="800"/>
              </a:spcAft>
              <a:buSzPct val="100000"/>
              <a:buChar char="•"/>
            </a:pPr>
            <a:r>
              <a:rPr lang="en-US" sz="1700" dirty="0">
                <a:solidFill>
                  <a:schemeClr val="tx1"/>
                </a:solidFill>
              </a:rPr>
              <a:t>labeledTapTarget: berlabel, misalnya tooltip pada IconButton.</a:t>
            </a:r>
            <a:endParaRPr lang="en-US" sz="1700" dirty="0"/>
          </a:p>
          <a:p>
            <a:pPr marL="228600" indent="-228600">
              <a:spcAft>
                <a:spcPts val="800"/>
              </a:spcAft>
              <a:buSzPct val="100000"/>
              <a:buChar char="•"/>
            </a:pPr>
            <a:r>
              <a:rPr lang="en-US" sz="1700" dirty="0">
                <a:solidFill>
                  <a:schemeClr val="tx1"/>
                </a:solidFill>
              </a:rPr>
              <a:t>textContrast: kontras teks cukup.</a:t>
            </a:r>
            <a:endParaRPr lang="en-US" sz="1700" dirty="0"/>
          </a:p>
          <a:p>
            <a:pPr marL="228600" indent="-228600">
              <a:spcAft>
                <a:spcPts val="800"/>
              </a:spcAft>
              <a:buSzPct val="100000"/>
              <a:buChar char="•"/>
            </a:pPr>
            <a:r>
              <a:rPr lang="en-US" sz="1700" dirty="0">
                <a:solidFill>
                  <a:schemeClr val="tx1"/>
                </a:solidFill>
              </a:rPr>
              <a:t>ensureSemantics(): pohon semantics untuk pembaca layar.</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8</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Menguji Kode yang Memakai Plugin</a:t>
            </a:r>
            <a:endParaRPr lang="en-US" sz="4000" dirty="0"/>
          </a:p>
        </p:txBody>
      </p:sp>
      <p:sp>
        <p:nvSpPr>
          <p:cNvPr id="5" name="lingkaran puzzle"/>
          <p:cNvSpPr/>
          <p:nvPr/>
        </p:nvSpPr>
        <p:spPr>
          <a:xfrm>
            <a:off x="1097280" y="2148840"/>
            <a:ext cx="2011680" cy="2011680"/>
          </a:xfrm>
          <a:prstGeom prst="ellipse">
            <a:avLst/>
          </a:prstGeom>
          <a:solidFill>
            <a:schemeClr val="accent1"/>
          </a:solidFill>
          <a:ln/>
        </p:spPr>
      </p:sp>
      <p:pic>
        <p:nvPicPr>
          <p:cNvPr id="6" name="Image 0" descr="puzzle">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Empat Cara, dari yang Paling Dianjurkan</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Plugin dipanggil langsung dari tes → MissingPluginException(No implementation found for method pickImage on channel ...)</a:t>
            </a:r>
            <a:endParaRPr lang="en-US" sz="18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1100273"/>
                <a:gridCol w="5134605"/>
                <a:gridCol w="4859537"/>
              </a:tblGrid>
              <a:tr h="6400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Urutan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Cara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Di modul ini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400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Bungkus plugin dengan kontrak milik sendiri, lalu pakai versi palsu kontrak itu di tes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Kontrak PemilihFoto dan LayananLokasi (P13) beserta data palsunya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Palsukan API publik plugin, jika plugin dipakai lewat objek, misalnya ImagePicker()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ImagePickerPalsu di Contoh 07</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400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Palsukan platform interface plugin (plugin bertipe federated)</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Tidak dibahas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Palsukan platform channel (TestDefaultBinaryMessenger)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Tidak dibahas, pilihan terakhir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6" name="lingkaran lampu"/>
          <p:cNvSpPr/>
          <p:nvPr/>
        </p:nvSpPr>
        <p:spPr>
          <a:xfrm>
            <a:off x="548640" y="5486400"/>
            <a:ext cx="502920" cy="502920"/>
          </a:xfrm>
          <a:prstGeom prst="ellipse">
            <a:avLst/>
          </a:prstGeom>
          <a:solidFill>
            <a:schemeClr val="accent3"/>
          </a:solidFill>
          <a:ln/>
        </p:spPr>
      </p:sp>
      <p:pic>
        <p:nvPicPr>
          <p:cNvPr id="7"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8" name="Text 3"/>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Cara 1 sudah dipakai sejak P13: use case dan ViewModel hanya mengenal kontrak. Implementasi asli PemilihFotoImagePicker diuji dengan cara 2.</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Pintu Suntikan dan Fake</a:t>
            </a:r>
            <a:endParaRPr lang="en-US" sz="3200" dirty="0"/>
          </a:p>
        </p:txBody>
      </p:sp>
      <p:sp>
        <p:nvSpPr>
          <p:cNvPr id="4" name="kotak kode"/>
          <p:cNvSpPr txBox="1"/>
          <p:nvPr/>
        </p:nvSpPr>
        <p:spPr>
          <a:xfrm>
            <a:off x="548640" y="1371600"/>
            <a:ext cx="7132320" cy="3931920"/>
          </a:xfrm>
          <a:prstGeom prst="roundRect">
            <a:avLst>
              <a:gd name="adj" fmla="val 2326"/>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PemilihFotoImagePicker</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implements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PemilihFoto</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ImagePicker boleh disuntikkan dari luar. Jika tidak, dibuat sendiri.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PemilihFotoImagePicker</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FFCB6B"/>
                </a:solidFill>
                <a:latin typeface="Consolas" pitchFamily="34" charset="0"/>
                <a:ea typeface="Consolas" pitchFamily="34" charset="-122"/>
                <a:cs typeface="Consolas" pitchFamily="34" charset="-120"/>
              </a:rPr>
              <a:t>ImagePicker</a:t>
            </a:r>
            <a:r>
              <a:rPr lang="en-US" sz="1100" dirty="0">
                <a:solidFill>
                  <a:srgbClr val="E6EDF3"/>
                </a:solidFill>
                <a:latin typeface="Consolas" pitchFamily="34" charset="0"/>
                <a:ea typeface="Consolas" pitchFamily="34" charset="-122"/>
                <a:cs typeface="Consolas" pitchFamily="34" charset="-120"/>
              </a:rPr>
              <a:t>? pemilih})</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 _pemilih = pemilih ?? </a:t>
            </a:r>
            <a:r>
              <a:rPr lang="en-US" sz="1100" dirty="0">
                <a:solidFill>
                  <a:srgbClr val="FFCB6B"/>
                </a:solidFill>
                <a:latin typeface="Consolas" pitchFamily="34" charset="0"/>
                <a:ea typeface="Consolas" pitchFamily="34" charset="-122"/>
                <a:cs typeface="Consolas" pitchFamily="34" charset="-120"/>
              </a:rPr>
              <a:t>ImagePicker</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ImagePickerPalsu</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extends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Fake</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implements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ImagePicker</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Jawaban yang diatur tes.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XFile</a:t>
            </a:r>
            <a:r>
              <a:rPr lang="en-US" sz="1100" dirty="0">
                <a:solidFill>
                  <a:srgbClr val="E6EDF3"/>
                </a:solidFill>
                <a:latin typeface="Consolas" pitchFamily="34" charset="0"/>
                <a:ea typeface="Consolas" pitchFamily="34" charset="-122"/>
                <a:cs typeface="Consolas" pitchFamily="34" charset="-120"/>
              </a:rPr>
              <a:t>? hasil; </a:t>
            </a:r>
            <a:r>
              <a:rPr lang="en-US" sz="1100" i="1" dirty="0">
                <a:solidFill>
                  <a:srgbClr val="8FA3BC"/>
                </a:solidFill>
                <a:latin typeface="Consolas" pitchFamily="34" charset="0"/>
                <a:ea typeface="Consolas" pitchFamily="34" charset="-122"/>
                <a:cs typeface="Consolas" pitchFamily="34" charset="-120"/>
              </a:rPr>
              <a:t>// null = pengguna menekan "batal"</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PlatformException</a:t>
            </a:r>
            <a:r>
              <a:rPr lang="en-US" sz="1100" dirty="0">
                <a:solidFill>
                  <a:srgbClr val="E6EDF3"/>
                </a:solidFill>
                <a:latin typeface="Consolas" pitchFamily="34" charset="0"/>
                <a:ea typeface="Consolas" pitchFamily="34" charset="-122"/>
                <a:cs typeface="Consolas" pitchFamily="34" charset="-120"/>
              </a:rPr>
              <a:t>? galat;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bool</a:t>
            </a:r>
            <a:r>
              <a:rPr lang="en-US" sz="1100" dirty="0">
                <a:solidFill>
                  <a:srgbClr val="E6EDF3"/>
                </a:solidFill>
                <a:latin typeface="Consolas" pitchFamily="34" charset="0"/>
                <a:ea typeface="Consolas" pitchFamily="34" charset="-122"/>
                <a:cs typeface="Consolas" pitchFamily="34" charset="-120"/>
              </a:rPr>
              <a:t> kameraAda = </a:t>
            </a:r>
            <a:r>
              <a:rPr lang="en-US" sz="1100" dirty="0">
                <a:solidFill>
                  <a:srgbClr val="C792EA"/>
                </a:solidFill>
                <a:latin typeface="Consolas" pitchFamily="34" charset="0"/>
                <a:ea typeface="Consolas" pitchFamily="34" charset="-122"/>
                <a:cs typeface="Consolas" pitchFamily="34" charset="-120"/>
              </a:rPr>
              <a:t>true</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Mata-mata: argumen panggilan terakhir.</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ImageSource</a:t>
            </a:r>
            <a:r>
              <a:rPr lang="en-US" sz="1100" dirty="0">
                <a:solidFill>
                  <a:srgbClr val="E6EDF3"/>
                </a:solidFill>
                <a:latin typeface="Consolas" pitchFamily="34" charset="0"/>
                <a:ea typeface="Consolas" pitchFamily="34" charset="-122"/>
                <a:cs typeface="Consolas" pitchFamily="34" charset="-120"/>
              </a:rPr>
              <a:t>? sumber;</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CameraDevice</a:t>
            </a:r>
            <a:r>
              <a:rPr lang="en-US" sz="1100" dirty="0">
                <a:solidFill>
                  <a:srgbClr val="E6EDF3"/>
                </a:solidFill>
                <a:latin typeface="Consolas" pitchFamily="34" charset="0"/>
                <a:ea typeface="Consolas" pitchFamily="34" charset="-122"/>
                <a:cs typeface="Consolas" pitchFamily="34" charset="-120"/>
              </a:rPr>
              <a:t>? kameraDipilih;</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double</a:t>
            </a:r>
            <a:r>
              <a:rPr lang="en-US" sz="1100" dirty="0">
                <a:solidFill>
                  <a:srgbClr val="E6EDF3"/>
                </a:solidFill>
                <a:latin typeface="Consolas" pitchFamily="34" charset="0"/>
                <a:ea typeface="Consolas" pitchFamily="34" charset="-122"/>
                <a:cs typeface="Consolas" pitchFamily="34" charset="-120"/>
              </a:rPr>
              <a:t>? lebarMaksimal;</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int</a:t>
            </a:r>
            <a:r>
              <a:rPr lang="en-US" sz="1100" dirty="0">
                <a:solidFill>
                  <a:srgbClr val="E6EDF3"/>
                </a:solidFill>
                <a:latin typeface="Consolas" pitchFamily="34" charset="0"/>
                <a:ea typeface="Consolas" pitchFamily="34" charset="-122"/>
                <a:cs typeface="Consolas" pitchFamily="34" charset="-120"/>
              </a:rPr>
              <a:t>? kualitas;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4_pengujian_dan_debugging/kode/contoh_07_menguji_kode_plugin_test.dart"/>
          </p:cNvPr>
          <p:cNvSpPr txBox="1"/>
          <p:nvPr/>
        </p:nvSpPr>
        <p:spPr>
          <a:xfrm>
            <a:off x="548640" y="5532120"/>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contoh_07_menguji_kode_plugin_test.dart</a:t>
            </a:r>
            <a:endParaRPr lang="en-US" sz="1300" dirty="0"/>
          </a:p>
        </p:txBody>
      </p:sp>
      <p:pic>
        <p:nvPicPr>
          <p:cNvPr id="6" name="Image 0" descr="ikon tautan">
            <a:hlinkClick r:id="rId3" tooltip="https://github.com/antonprafanto/mobile2026/blob/main/pertemuan_14_pengujian_dan_debugging/kode/contoh_07_menguji_kode_plugin_test.dart"/>
          </p:cNvPr>
          <p:cNvPicPr>
            <a:picLocks noChangeAspect="1"/>
          </p:cNvPicPr>
          <p:nvPr/>
        </p:nvPicPr>
        <p:blipFill>
          <a:blip r:embed="rId2"/>
          <a:stretch>
            <a:fillRect/>
          </a:stretch>
        </p:blipFill>
        <p:spPr>
          <a:xfrm>
            <a:off x="694944" y="5623560"/>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Aplikasi: PemilihFotoImagePicker() → ImagePicker asli. Tes: menyuntikkan ImagePicker PALSU.</a:t>
            </a:r>
            <a:endParaRPr lang="en-US" sz="1700" dirty="0"/>
          </a:p>
          <a:p>
            <a:pPr marL="228600" indent="-228600">
              <a:spcAft>
                <a:spcPts val="800"/>
              </a:spcAft>
              <a:buSzPct val="100000"/>
              <a:buChar char="•"/>
            </a:pPr>
            <a:r>
              <a:rPr lang="en-US" sz="1700" dirty="0">
                <a:solidFill>
                  <a:schemeClr val="tx1"/>
                </a:solidFill>
              </a:rPr>
              <a:t>Kode implementasinya sama sekali TIDAK diubah.</a:t>
            </a:r>
            <a:endParaRPr lang="en-US" sz="1700" dirty="0"/>
          </a:p>
          <a:p>
            <a:pPr marL="228600" indent="-228600">
              <a:spcAft>
                <a:spcPts val="800"/>
              </a:spcAft>
              <a:buSzPct val="100000"/>
              <a:buChar char="•"/>
            </a:pPr>
            <a:r>
              <a:rPr lang="en-US" sz="1700" dirty="0">
                <a:solidFill>
                  <a:schemeClr val="tx1"/>
                </a:solidFill>
              </a:rPr>
              <a:t>extends Fake: method yang tidak ditulis melempar UnimplementedError → panggilan tak terduga langsung ketahuan.</a:t>
            </a:r>
            <a:endParaRPr lang="en-US" sz="1700" dirty="0"/>
          </a:p>
          <a:p>
            <a:pPr marL="228600" indent="-228600">
              <a:spcAft>
                <a:spcPts val="800"/>
              </a:spcAft>
              <a:buSzPct val="100000"/>
              <a:buChar char="•"/>
            </a:pPr>
            <a:r>
              <a:rPr lang="en-US" sz="1700" dirty="0">
                <a:solidFill>
                  <a:schemeClr val="tx1"/>
                </a:solidFill>
              </a:rPr>
              <a:t>Cukup tulis yang dipakai: pickImage dan supportsImageSource.</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Yang Diuji: Argumen ke Plugin</a:t>
            </a:r>
            <a:endParaRPr lang="en-US" sz="3200" dirty="0"/>
          </a:p>
        </p:txBody>
      </p:sp>
      <p:sp>
        <p:nvSpPr>
          <p:cNvPr id="4" name="kotak kode"/>
          <p:cNvSpPr txBox="1"/>
          <p:nvPr/>
        </p:nvSpPr>
        <p:spPr>
          <a:xfrm>
            <a:off x="548640" y="1371600"/>
            <a:ext cx="7315200" cy="2435733"/>
          </a:xfrm>
          <a:prstGeom prst="roundRect">
            <a:avLst>
              <a:gd name="adj" fmla="val 3754"/>
            </a:avLst>
          </a:prstGeom>
          <a:solidFill>
            <a:srgbClr val="0E1A2B"/>
          </a:solidFill>
          <a:ln/>
        </p:spPr>
        <p:txBody>
          <a:bodyPr wrap="square" lIns="177800" tIns="152400" rIns="152400" bIns="177800" rtlCol="0" anchor="t"/>
          <a:lstStyle/>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test(</a:t>
            </a:r>
            <a:r>
              <a:rPr lang="en-US" sz="1150" dirty="0">
                <a:solidFill>
                  <a:srgbClr val="C3E88D"/>
                </a:solidFill>
                <a:latin typeface="Consolas" pitchFamily="34" charset="0"/>
                <a:ea typeface="Consolas" pitchFamily="34" charset="-122"/>
                <a:cs typeface="Consolas" pitchFamily="34" charset="-120"/>
              </a:rPr>
              <a:t>'kamera: kamera depan, lebar 720 px, kualitas 70'</a:t>
            </a:r>
            <a:r>
              <a:rPr lang="en-US" sz="1150" dirty="0">
                <a:solidFill>
                  <a:srgbClr val="E6EDF3"/>
                </a:solidFill>
                <a:latin typeface="Consolas" pitchFamily="34" charset="0"/>
                <a:ea typeface="Consolas" pitchFamily="34" charset="-122"/>
                <a:cs typeface="Consolas" pitchFamily="34" charset="-120"/>
              </a:rPr>
              <a:t>, () </a:t>
            </a:r>
            <a:r>
              <a:rPr lang="en-US" sz="1150" dirty="0">
                <a:solidFill>
                  <a:srgbClr val="C792EA"/>
                </a:solidFill>
                <a:latin typeface="Consolas" pitchFamily="34" charset="0"/>
                <a:ea typeface="Consolas" pitchFamily="34" charset="-122"/>
                <a:cs typeface="Consolas" pitchFamily="34" charset="-120"/>
              </a:rPr>
              <a:t>async</a:t>
            </a: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pemilih.hasil = fotoPalsu();</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final</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Hasil</a:t>
            </a:r>
            <a:r>
              <a:rPr lang="en-US" sz="1150" dirty="0">
                <a:solidFill>
                  <a:srgbClr val="E6EDF3"/>
                </a:solidFill>
                <a:latin typeface="Consolas" pitchFamily="34" charset="0"/>
                <a:ea typeface="Consolas" pitchFamily="34" charset="-122"/>
                <a:cs typeface="Consolas" pitchFamily="34" charset="-120"/>
              </a:rPr>
              <a:t>&lt;</a:t>
            </a:r>
            <a:r>
              <a:rPr lang="en-US" sz="1150" dirty="0">
                <a:solidFill>
                  <a:srgbClr val="FFCB6B"/>
                </a:solidFill>
                <a:latin typeface="Consolas" pitchFamily="34" charset="0"/>
                <a:ea typeface="Consolas" pitchFamily="34" charset="-122"/>
                <a:cs typeface="Consolas" pitchFamily="34" charset="-120"/>
              </a:rPr>
              <a:t>FotoBukti</a:t>
            </a:r>
            <a:r>
              <a:rPr lang="en-US" sz="1150" dirty="0">
                <a:solidFill>
                  <a:srgbClr val="E6EDF3"/>
                </a:solidFill>
                <a:latin typeface="Consolas" pitchFamily="34" charset="0"/>
                <a:ea typeface="Consolas" pitchFamily="34" charset="-122"/>
                <a:cs typeface="Consolas" pitchFamily="34" charset="-120"/>
              </a:rPr>
              <a:t>&gt; hasil = </a:t>
            </a:r>
            <a:r>
              <a:rPr lang="en-US" sz="1150" dirty="0">
                <a:solidFill>
                  <a:srgbClr val="C792EA"/>
                </a:solidFill>
                <a:latin typeface="Consolas" pitchFamily="34" charset="0"/>
                <a:ea typeface="Consolas" pitchFamily="34" charset="-122"/>
                <a:cs typeface="Consolas" pitchFamily="34" charset="-120"/>
              </a:rPr>
              <a:t>await</a:t>
            </a:r>
            <a:r>
              <a:rPr lang="en-US" sz="1150" dirty="0">
                <a:solidFill>
                  <a:srgbClr val="E6EDF3"/>
                </a:solidFill>
                <a:latin typeface="Consolas" pitchFamily="34" charset="0"/>
                <a:ea typeface="Consolas" pitchFamily="34" charset="-122"/>
                <a:cs typeface="Consolas" pitchFamily="34" charset="-120"/>
              </a:rPr>
              <a:t> pemilihFoto.ambil(dariKamera: </a:t>
            </a:r>
            <a:r>
              <a:rPr lang="en-US" sz="1150" dirty="0">
                <a:solidFill>
                  <a:srgbClr val="C792EA"/>
                </a:solidFill>
                <a:latin typeface="Consolas" pitchFamily="34" charset="0"/>
                <a:ea typeface="Consolas" pitchFamily="34" charset="-122"/>
                <a:cs typeface="Consolas" pitchFamily="34" charset="-120"/>
              </a:rPr>
              <a:t>true</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expect(hasil, isA&lt;</a:t>
            </a:r>
            <a:r>
              <a:rPr lang="en-US" sz="1150" dirty="0">
                <a:solidFill>
                  <a:srgbClr val="FFCB6B"/>
                </a:solidFill>
                <a:latin typeface="Consolas" pitchFamily="34" charset="0"/>
                <a:ea typeface="Consolas" pitchFamily="34" charset="-122"/>
                <a:cs typeface="Consolas" pitchFamily="34" charset="-120"/>
              </a:rPr>
              <a:t>Berhasil</a:t>
            </a:r>
            <a:r>
              <a:rPr lang="en-US" sz="1150" dirty="0">
                <a:solidFill>
                  <a:srgbClr val="E6EDF3"/>
                </a:solidFill>
                <a:latin typeface="Consolas" pitchFamily="34" charset="0"/>
                <a:ea typeface="Consolas" pitchFamily="34" charset="-122"/>
                <a:cs typeface="Consolas" pitchFamily="34" charset="-120"/>
              </a:rPr>
              <a:t>&lt;</a:t>
            </a:r>
            <a:r>
              <a:rPr lang="en-US" sz="1150" dirty="0">
                <a:solidFill>
                  <a:srgbClr val="FFCB6B"/>
                </a:solidFill>
                <a:latin typeface="Consolas" pitchFamily="34" charset="0"/>
                <a:ea typeface="Consolas" pitchFamily="34" charset="-122"/>
                <a:cs typeface="Consolas" pitchFamily="34" charset="-120"/>
              </a:rPr>
              <a:t>FotoBukti</a:t>
            </a:r>
            <a:r>
              <a:rPr lang="en-US" sz="1150" dirty="0">
                <a:solidFill>
                  <a:srgbClr val="E6EDF3"/>
                </a:solidFill>
                <a:latin typeface="Consolas" pitchFamily="34" charset="0"/>
                <a:ea typeface="Consolas" pitchFamily="34" charset="-122"/>
                <a:cs typeface="Consolas" pitchFamily="34" charset="-120"/>
              </a:rPr>
              <a:t>&gt;&gt;());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expect(pemilih.sumber, </a:t>
            </a:r>
            <a:r>
              <a:rPr lang="en-US" sz="1150" dirty="0">
                <a:solidFill>
                  <a:srgbClr val="FFCB6B"/>
                </a:solidFill>
                <a:latin typeface="Consolas" pitchFamily="34" charset="0"/>
                <a:ea typeface="Consolas" pitchFamily="34" charset="-122"/>
                <a:cs typeface="Consolas" pitchFamily="34" charset="-120"/>
              </a:rPr>
              <a:t>ImageSource</a:t>
            </a:r>
            <a:r>
              <a:rPr lang="en-US" sz="1150" dirty="0">
                <a:solidFill>
                  <a:srgbClr val="E6EDF3"/>
                </a:solidFill>
                <a:latin typeface="Consolas" pitchFamily="34" charset="0"/>
                <a:ea typeface="Consolas" pitchFamily="34" charset="-122"/>
                <a:cs typeface="Consolas" pitchFamily="34" charset="-120"/>
              </a:rPr>
              <a:t>.camera);</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expect(pemilih.kameraDipilih, </a:t>
            </a:r>
            <a:r>
              <a:rPr lang="en-US" sz="1150" dirty="0">
                <a:solidFill>
                  <a:srgbClr val="FFCB6B"/>
                </a:solidFill>
                <a:latin typeface="Consolas" pitchFamily="34" charset="0"/>
                <a:ea typeface="Consolas" pitchFamily="34" charset="-122"/>
                <a:cs typeface="Consolas" pitchFamily="34" charset="-120"/>
              </a:rPr>
              <a:t>CameraDevice</a:t>
            </a:r>
            <a:r>
              <a:rPr lang="en-US" sz="1150" dirty="0">
                <a:solidFill>
                  <a:srgbClr val="E6EDF3"/>
                </a:solidFill>
                <a:latin typeface="Consolas" pitchFamily="34" charset="0"/>
                <a:ea typeface="Consolas" pitchFamily="34" charset="-122"/>
                <a:cs typeface="Consolas" pitchFamily="34" charset="-120"/>
              </a:rPr>
              <a:t>.front);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expect(pemilih.lebarMaksimal, </a:t>
            </a:r>
            <a:r>
              <a:rPr lang="en-US" sz="1150" dirty="0">
                <a:solidFill>
                  <a:srgbClr val="F78C6C"/>
                </a:solidFill>
                <a:latin typeface="Consolas" pitchFamily="34" charset="0"/>
                <a:ea typeface="Consolas" pitchFamily="34" charset="-122"/>
                <a:cs typeface="Consolas" pitchFamily="34" charset="-120"/>
              </a:rPr>
              <a:t>720</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expect(pemilih.kualitas, </a:t>
            </a:r>
            <a:r>
              <a:rPr lang="en-US" sz="1150" dirty="0">
                <a:solidFill>
                  <a:srgbClr val="F78C6C"/>
                </a:solidFill>
                <a:latin typeface="Consolas" pitchFamily="34" charset="0"/>
                <a:ea typeface="Consolas" pitchFamily="34" charset="-122"/>
                <a:cs typeface="Consolas" pitchFamily="34" charset="-120"/>
              </a:rPr>
              <a:t>70</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p:txBody>
      </p:sp>
      <p:sp>
        <p:nvSpPr>
          <p:cNvPr id="5" name="tombol tautan">
            <a:hlinkClick r:id="rId1" tooltip="https://github.com/antonprafanto/mobile2026/blob/main/pertemuan_14_pengujian_dan_debugging/kode/contoh_07_menguji_kode_plugin_test.dart"/>
          </p:cNvPr>
          <p:cNvSpPr txBox="1"/>
          <p:nvPr/>
        </p:nvSpPr>
        <p:spPr>
          <a:xfrm>
            <a:off x="548640" y="4035933"/>
            <a:ext cx="731520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contoh_07_menguji_kode_plugin_test.dart</a:t>
            </a:r>
            <a:endParaRPr lang="en-US" sz="1300" dirty="0"/>
          </a:p>
        </p:txBody>
      </p:sp>
      <p:pic>
        <p:nvPicPr>
          <p:cNvPr id="6" name="Image 0" descr="ikon tautan">
            <a:hlinkClick r:id="rId3" tooltip="https://github.com/antonprafanto/mobile2026/blob/main/pertemuan_14_pengujian_dan_debugging/kode/contoh_07_menguji_kode_plugin_test.dart"/>
          </p:cNvPr>
          <p:cNvPicPr>
            <a:picLocks noChangeAspect="1"/>
          </p:cNvPicPr>
          <p:nvPr/>
        </p:nvPicPr>
        <p:blipFill>
          <a:blip r:embed="rId2"/>
          <a:stretch>
            <a:fillRect/>
          </a:stretch>
        </p:blipFill>
        <p:spPr>
          <a:xfrm>
            <a:off x="694944" y="4127373"/>
            <a:ext cx="274320" cy="274320"/>
          </a:xfrm>
          <a:prstGeom prst="rect">
            <a:avLst/>
          </a:prstGeom>
        </p:spPr>
      </p:pic>
      <p:sp>
        <p:nvSpPr>
          <p:cNvPr id="7" name="daftar poin"/>
          <p:cNvSpPr txBox="1"/>
          <p:nvPr/>
        </p:nvSpPr>
        <p:spPr>
          <a:xfrm>
            <a:off x="8275320" y="1417320"/>
            <a:ext cx="336773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pickImage palsu MENCATAT argumennya: sumber, kamera, lebar, kualitas.</a:t>
            </a:r>
            <a:endParaRPr lang="en-US" sz="1700" dirty="0"/>
          </a:p>
          <a:p>
            <a:pPr marL="228600" indent="-228600">
              <a:spcAft>
                <a:spcPts val="800"/>
              </a:spcAft>
              <a:buSzPct val="100000"/>
              <a:buChar char="•"/>
            </a:pPr>
            <a:r>
              <a:rPr lang="en-US" sz="1700" dirty="0">
                <a:solidFill>
                  <a:schemeClr val="tx1"/>
                </a:solidFill>
              </a:rPr>
              <a:t>Tes memastikan plugin dipanggil dengan argumen yang benar.</a:t>
            </a:r>
            <a:endParaRPr lang="en-US" sz="1700" dirty="0"/>
          </a:p>
          <a:p>
            <a:pPr marL="228600" indent="-228600">
              <a:spcAft>
                <a:spcPts val="800"/>
              </a:spcAft>
              <a:buSzPct val="100000"/>
              <a:buChar char="•"/>
            </a:pPr>
            <a:r>
              <a:rPr lang="en-US" sz="1700" dirty="0">
                <a:solidFill>
                  <a:schemeClr val="tx1"/>
                </a:solidFill>
              </a:rPr>
              <a:t>Pengguna membatalkan (hasil null) → Gagal(Dibatalkan()).</a:t>
            </a:r>
            <a:endParaRPr lang="en-US" sz="1700" dirty="0"/>
          </a:p>
          <a:p>
            <a:pPr marL="228600" indent="-228600">
              <a:spcAft>
                <a:spcPts val="800"/>
              </a:spcAft>
              <a:buSzPct val="100000"/>
              <a:buChar char="•"/>
            </a:pPr>
            <a:r>
              <a:rPr lang="en-US" sz="1700" dirty="0">
                <a:solidFill>
                  <a:schemeClr val="tx1"/>
                </a:solidFill>
              </a:rPr>
              <a:t>kameraTersedia mengikuti supportsImageSource (kameraAda).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Terjemahan Galat: Tabel Kasus Lagi</a:t>
            </a:r>
            <a:endParaRPr lang="en-US" sz="32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501363"/>
                <a:gridCol w="5593052"/>
              </a:tblGrid>
              <a:tr h="60350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PlatformException(code: ...)</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Harus menjadi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03504">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camera_access_denied</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IzinDiblokir(Fitur.kamera)</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photo_access_denied</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IzinDiblokir(Fitur.galeri)</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3504">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no_available_camera</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PerangkatTidakMendukung(Fitur.kamera)</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already_active</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GangguanPerangkat('already_active')</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3504">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(pengguna membatalkan, pickImage mengembalikan null)</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Dibatalkan()</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Kegagalan ini SULIT dicoba dengan tangan: menolak izin kamera, mencari HP tanpa kamera, membuka kamera dua kali. Dengan data palsu: hitungan milidetik.</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Aturan Presensi di Nilai Batas</a:t>
            </a:r>
            <a:endParaRPr lang="en-US" sz="32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134605"/>
                <a:gridCol w="2934060"/>
                <a:gridCol w="3025750"/>
              </a:tblGrid>
              <a:tr h="658368">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Aturan</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Di dalam batas</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Di luar batas</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58368">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Presensi dibuka 15 menit sebelum sesi 13.00</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12.45 dibuka</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12.44 belum dibuka</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58368">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Presensi ditutup 30 menit setelah sesi dimulai</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13.30 masih dibuka</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13.31 sudah ditutup</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58368">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Jarak maksimal 100 m dari lab</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99 m boleh</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101 m ditolak</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58368">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Akurasi GPS maksimal 50 m</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50 m boleh</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51 m ditolak</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Mengapa 99 m, bukan tepat 100 m? Titik "tepat 100 m di utara lab" dihitung rumus haversine sebagai 100,00000000000001 m. Uji nilai yang JELAS di dalam dan JELAS di luar.</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Use Case dengan Data Palsu dan Jam Tetap</a:t>
            </a:r>
            <a:endParaRPr lang="en-US" sz="3200" dirty="0"/>
          </a:p>
        </p:txBody>
      </p:sp>
      <p:sp>
        <p:nvSpPr>
          <p:cNvPr id="4" name="kotak kode"/>
          <p:cNvSpPr txBox="1"/>
          <p:nvPr/>
        </p:nvSpPr>
        <p:spPr>
          <a:xfrm>
            <a:off x="548640" y="1371600"/>
            <a:ext cx="7680960" cy="2067687"/>
          </a:xfrm>
          <a:prstGeom prst="roundRect">
            <a:avLst>
              <a:gd name="adj" fmla="val 4422"/>
            </a:avLst>
          </a:prstGeom>
          <a:solidFill>
            <a:srgbClr val="0E1A2B"/>
          </a:solidFill>
          <a:ln/>
        </p:spPr>
        <p:txBody>
          <a:bodyPr wrap="square" lIns="177800" tIns="152400" rIns="152400" bIns="177800" rtlCol="0" anchor="t"/>
          <a:lstStyle/>
          <a:p>
            <a:pPr indent="0" marL="0">
              <a:lnSpc>
                <a:spcPct val="105000"/>
              </a:lnSpc>
              <a:buNone/>
            </a:pPr>
            <a:r>
              <a:rPr lang="en-US" sz="1150" i="1" dirty="0">
                <a:solidFill>
                  <a:srgbClr val="8FA3BC"/>
                </a:solidFill>
                <a:latin typeface="Consolas" pitchFamily="34" charset="0"/>
                <a:ea typeface="Consolas" pitchFamily="34" charset="-122"/>
                <a:cs typeface="Consolas" pitchFamily="34" charset="-120"/>
              </a:rPr>
              <a:t>// Jam tetap: Senin, 19 Oktober 2026 pukul 13.10.</a:t>
            </a:r>
            <a:endParaRPr lang="en-US" sz="1150" dirty="0"/>
          </a:p>
          <a:p>
            <a:pPr indent="0" marL="0">
              <a:lnSpc>
                <a:spcPct val="105000"/>
              </a:lnSpc>
              <a:buNone/>
            </a:pPr>
            <a:r>
              <a:rPr lang="en-US" sz="1150" dirty="0">
                <a:solidFill>
                  <a:srgbClr val="C792EA"/>
                </a:solidFill>
                <a:latin typeface="Consolas" pitchFamily="34" charset="0"/>
                <a:ea typeface="Consolas" pitchFamily="34" charset="-122"/>
                <a:cs typeface="Consolas" pitchFamily="34" charset="-120"/>
              </a:rPr>
              <a:t>final</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Jam</a:t>
            </a:r>
            <a:r>
              <a:rPr lang="en-US" sz="1150" dirty="0">
                <a:solidFill>
                  <a:srgbClr val="E6EDF3"/>
                </a:solidFill>
                <a:latin typeface="Consolas" pitchFamily="34" charset="0"/>
                <a:ea typeface="Consolas" pitchFamily="34" charset="-122"/>
                <a:cs typeface="Consolas" pitchFamily="34" charset="-120"/>
              </a:rPr>
              <a:t> jam = </a:t>
            </a:r>
            <a:r>
              <a:rPr lang="en-US" sz="1150" dirty="0">
                <a:solidFill>
                  <a:srgbClr val="FFCB6B"/>
                </a:solidFill>
                <a:latin typeface="Consolas" pitchFamily="34" charset="0"/>
                <a:ea typeface="Consolas" pitchFamily="34" charset="-122"/>
                <a:cs typeface="Consolas" pitchFamily="34" charset="-120"/>
              </a:rPr>
              <a:t>Jam</a:t>
            </a:r>
            <a:r>
              <a:rPr lang="en-US" sz="1150" dirty="0">
                <a:solidFill>
                  <a:srgbClr val="E6EDF3"/>
                </a:solidFill>
                <a:latin typeface="Consolas" pitchFamily="34" charset="0"/>
                <a:ea typeface="Consolas" pitchFamily="34" charset="-122"/>
                <a:cs typeface="Consolas" pitchFamily="34" charset="-120"/>
              </a:rPr>
              <a:t>(() =&gt; </a:t>
            </a:r>
            <a:r>
              <a:rPr lang="en-US" sz="1150" dirty="0">
                <a:solidFill>
                  <a:srgbClr val="FFCB6B"/>
                </a:solidFill>
                <a:latin typeface="Consolas" pitchFamily="34" charset="0"/>
                <a:ea typeface="Consolas" pitchFamily="34" charset="-122"/>
                <a:cs typeface="Consolas" pitchFamily="34" charset="-120"/>
              </a:rPr>
              <a:t>DateTime</a:t>
            </a:r>
            <a:r>
              <a:rPr lang="en-US" sz="1150" dirty="0">
                <a:solidFill>
                  <a:srgbClr val="E6EDF3"/>
                </a:solidFill>
                <a:latin typeface="Consolas" pitchFamily="34" charset="0"/>
                <a:ea typeface="Consolas" pitchFamily="34" charset="-122"/>
                <a:cs typeface="Consolas" pitchFamily="34" charset="-120"/>
              </a:rPr>
              <a:t>(</a:t>
            </a:r>
            <a:r>
              <a:rPr lang="en-US" sz="1150" dirty="0">
                <a:solidFill>
                  <a:srgbClr val="F78C6C"/>
                </a:solidFill>
                <a:latin typeface="Consolas" pitchFamily="34" charset="0"/>
                <a:ea typeface="Consolas" pitchFamily="34" charset="-122"/>
                <a:cs typeface="Consolas" pitchFamily="34" charset="-120"/>
              </a:rPr>
              <a:t>2026</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78C6C"/>
                </a:solidFill>
                <a:latin typeface="Consolas" pitchFamily="34" charset="0"/>
                <a:ea typeface="Consolas" pitchFamily="34" charset="-122"/>
                <a:cs typeface="Consolas" pitchFamily="34" charset="-120"/>
              </a:rPr>
              <a:t>10</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78C6C"/>
                </a:solidFill>
                <a:latin typeface="Consolas" pitchFamily="34" charset="0"/>
                <a:ea typeface="Consolas" pitchFamily="34" charset="-122"/>
                <a:cs typeface="Consolas" pitchFamily="34" charset="-120"/>
              </a:rPr>
              <a:t>19</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78C6C"/>
                </a:solidFill>
                <a:latin typeface="Consolas" pitchFamily="34" charset="0"/>
                <a:ea typeface="Consolas" pitchFamily="34" charset="-122"/>
                <a:cs typeface="Consolas" pitchFamily="34" charset="-120"/>
              </a:rPr>
              <a:t>13</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78C6C"/>
                </a:solidFill>
                <a:latin typeface="Consolas" pitchFamily="34" charset="0"/>
                <a:ea typeface="Consolas" pitchFamily="34" charset="-122"/>
                <a:cs typeface="Consolas" pitchFamily="34" charset="-120"/>
              </a:rPr>
              <a:t>10</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test(</a:t>
            </a:r>
            <a:r>
              <a:rPr lang="en-US" sz="1150" dirty="0">
                <a:solidFill>
                  <a:srgbClr val="C3E88D"/>
                </a:solidFill>
                <a:latin typeface="Consolas" pitchFamily="34" charset="0"/>
                <a:ea typeface="Consolas" pitchFamily="34" charset="-122"/>
                <a:cs typeface="Consolas" pitchFamily="34" charset="-120"/>
              </a:rPr>
              <a:t>'tanpa foto: ditolak dan GPS TIDAK dinyalakan'</a:t>
            </a:r>
            <a:r>
              <a:rPr lang="en-US" sz="1150" dirty="0">
                <a:solidFill>
                  <a:srgbClr val="E6EDF3"/>
                </a:solidFill>
                <a:latin typeface="Consolas" pitchFamily="34" charset="0"/>
                <a:ea typeface="Consolas" pitchFamily="34" charset="-122"/>
                <a:cs typeface="Consolas" pitchFamily="34" charset="-120"/>
              </a:rPr>
              <a:t>, () </a:t>
            </a:r>
            <a:r>
              <a:rPr lang="en-US" sz="1150" dirty="0">
                <a:solidFill>
                  <a:srgbClr val="C792EA"/>
                </a:solidFill>
                <a:latin typeface="Consolas" pitchFamily="34" charset="0"/>
                <a:ea typeface="Consolas" pitchFamily="34" charset="-122"/>
                <a:cs typeface="Consolas" pitchFamily="34" charset="-120"/>
              </a:rPr>
              <a:t>async</a:t>
            </a: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final</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Hasil</a:t>
            </a:r>
            <a:r>
              <a:rPr lang="en-US" sz="1150" dirty="0">
                <a:solidFill>
                  <a:srgbClr val="E6EDF3"/>
                </a:solidFill>
                <a:latin typeface="Consolas" pitchFamily="34" charset="0"/>
                <a:ea typeface="Consolas" pitchFamily="34" charset="-122"/>
                <a:cs typeface="Consolas" pitchFamily="34" charset="-120"/>
              </a:rPr>
              <a:t>&lt;</a:t>
            </a:r>
            <a:r>
              <a:rPr lang="en-US" sz="1150" dirty="0">
                <a:solidFill>
                  <a:srgbClr val="FFCB6B"/>
                </a:solidFill>
                <a:latin typeface="Consolas" pitchFamily="34" charset="0"/>
                <a:ea typeface="Consolas" pitchFamily="34" charset="-122"/>
                <a:cs typeface="Consolas" pitchFamily="34" charset="-120"/>
              </a:rPr>
              <a:t>Presensi</a:t>
            </a:r>
            <a:r>
              <a:rPr lang="en-US" sz="1150" dirty="0">
                <a:solidFill>
                  <a:srgbClr val="E6EDF3"/>
                </a:solidFill>
                <a:latin typeface="Consolas" pitchFamily="34" charset="0"/>
                <a:ea typeface="Consolas" pitchFamily="34" charset="-122"/>
                <a:cs typeface="Consolas" pitchFamily="34" charset="-120"/>
              </a:rPr>
              <a:t>&gt; hasil = </a:t>
            </a:r>
            <a:r>
              <a:rPr lang="en-US" sz="1150" dirty="0">
                <a:solidFill>
                  <a:srgbClr val="C792EA"/>
                </a:solidFill>
                <a:latin typeface="Consolas" pitchFamily="34" charset="0"/>
                <a:ea typeface="Consolas" pitchFamily="34" charset="-122"/>
                <a:cs typeface="Consolas" pitchFamily="34" charset="-120"/>
              </a:rPr>
              <a:t>await</a:t>
            </a:r>
            <a:r>
              <a:rPr lang="en-US" sz="1150" dirty="0">
                <a:solidFill>
                  <a:srgbClr val="E6EDF3"/>
                </a:solidFill>
                <a:latin typeface="Consolas" pitchFamily="34" charset="0"/>
                <a:ea typeface="Consolas" pitchFamily="34" charset="-122"/>
                <a:cs typeface="Consolas" pitchFamily="34" charset="-120"/>
              </a:rPr>
              <a:t> catat.jalankan(sesi: sesiLab, foto: </a:t>
            </a:r>
            <a:r>
              <a:rPr lang="en-US" sz="1150" dirty="0">
                <a:solidFill>
                  <a:srgbClr val="C792EA"/>
                </a:solidFill>
                <a:latin typeface="Consolas" pitchFamily="34" charset="0"/>
                <a:ea typeface="Consolas" pitchFamily="34" charset="-122"/>
                <a:cs typeface="Consolas" pitchFamily="34" charset="-120"/>
              </a:rPr>
              <a:t>null</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expect(hasil, gagalDengan(isA&lt;</a:t>
            </a:r>
            <a:r>
              <a:rPr lang="en-US" sz="1150" dirty="0">
                <a:solidFill>
                  <a:srgbClr val="FFCB6B"/>
                </a:solidFill>
                <a:latin typeface="Consolas" pitchFamily="34" charset="0"/>
                <a:ea typeface="Consolas" pitchFamily="34" charset="-122"/>
                <a:cs typeface="Consolas" pitchFamily="34" charset="-120"/>
              </a:rPr>
              <a:t>AturanDilanggar</a:t>
            </a:r>
            <a:r>
              <a:rPr lang="en-US" sz="1150" dirty="0">
                <a:solidFill>
                  <a:srgbClr val="E6EDF3"/>
                </a:solidFill>
                <a:latin typeface="Consolas" pitchFamily="34" charset="0"/>
                <a:ea typeface="Consolas" pitchFamily="34" charset="-122"/>
                <a:cs typeface="Consolas" pitchFamily="34" charset="-120"/>
              </a:rPr>
              <a:t>&gt;()));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expect(lokasi.dipanggil, </a:t>
            </a:r>
            <a:r>
              <a:rPr lang="en-US" sz="1150" dirty="0">
                <a:solidFill>
                  <a:srgbClr val="F78C6C"/>
                </a:solidFill>
                <a:latin typeface="Consolas" pitchFamily="34" charset="0"/>
                <a:ea typeface="Consolas" pitchFamily="34" charset="-122"/>
                <a:cs typeface="Consolas" pitchFamily="34" charset="-120"/>
              </a:rPr>
              <a:t>0</a:t>
            </a:r>
            <a:r>
              <a:rPr lang="en-US" sz="1150" dirty="0">
                <a:solidFill>
                  <a:srgbClr val="E6EDF3"/>
                </a:solidFill>
                <a:latin typeface="Consolas" pitchFamily="34" charset="0"/>
                <a:ea typeface="Consolas" pitchFamily="34" charset="-122"/>
                <a:cs typeface="Consolas" pitchFamily="34" charset="-120"/>
              </a:rPr>
              <a:t>); </a:t>
            </a:r>
            <a:r>
              <a:rPr lang="en-US" sz="1150" i="1" dirty="0">
                <a:solidFill>
                  <a:srgbClr val="8FA3BC"/>
                </a:solidFill>
                <a:latin typeface="Consolas" pitchFamily="34" charset="0"/>
                <a:ea typeface="Consolas" pitchFamily="34" charset="-122"/>
                <a:cs typeface="Consolas" pitchFamily="34" charset="-120"/>
              </a:rPr>
              <a:t>// mata-mata: GPS tidak pernah diminta</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p:txBody>
      </p:sp>
      <p:sp>
        <p:nvSpPr>
          <p:cNvPr id="5" name="tombol tautan">
            <a:hlinkClick r:id="rId1" tooltip="https://github.com/antonprafanto/mobile2026/blob/main/pertemuan_14_pengujian_dan_debugging/kode/contoh_07_menguji_kode_plugin_test.dart"/>
          </p:cNvPr>
          <p:cNvSpPr txBox="1"/>
          <p:nvPr/>
        </p:nvSpPr>
        <p:spPr>
          <a:xfrm>
            <a:off x="548640" y="3667887"/>
            <a:ext cx="76809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contoh_07_menguji_kode_plugin_test.dart</a:t>
            </a:r>
            <a:endParaRPr lang="en-US" sz="1300" dirty="0"/>
          </a:p>
        </p:txBody>
      </p:sp>
      <p:pic>
        <p:nvPicPr>
          <p:cNvPr id="6" name="Image 0" descr="ikon tautan">
            <a:hlinkClick r:id="rId3" tooltip="https://github.com/antonprafanto/mobile2026/blob/main/pertemuan_14_pengujian_dan_debugging/kode/contoh_07_menguji_kode_plugin_test.dart"/>
          </p:cNvPr>
          <p:cNvPicPr>
            <a:picLocks noChangeAspect="1"/>
          </p:cNvPicPr>
          <p:nvPr/>
        </p:nvPicPr>
        <p:blipFill>
          <a:blip r:embed="rId2"/>
          <a:stretch>
            <a:fillRect/>
          </a:stretch>
        </p:blipFill>
        <p:spPr>
          <a:xfrm>
            <a:off x="694944" y="3759327"/>
            <a:ext cx="274320" cy="274320"/>
          </a:xfrm>
          <a:prstGeom prst="rect">
            <a:avLst/>
          </a:prstGeom>
        </p:spPr>
      </p:pic>
      <p:sp>
        <p:nvSpPr>
          <p:cNvPr id="7" name="daftar poin"/>
          <p:cNvSpPr txBox="1"/>
          <p:nvPr/>
        </p:nvSpPr>
        <p:spPr>
          <a:xfrm>
            <a:off x="8641080" y="1417320"/>
            <a:ext cx="30019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Jam tetap: hasil tidak bergantung pada kapan tes dijalankan.</a:t>
            </a:r>
            <a:endParaRPr lang="en-US" sz="1700" dirty="0"/>
          </a:p>
          <a:p>
            <a:pPr marL="228600" indent="-228600">
              <a:spcAft>
                <a:spcPts val="800"/>
              </a:spcAft>
              <a:buSzPct val="100000"/>
              <a:buChar char="•"/>
            </a:pPr>
            <a:r>
              <a:rPr lang="en-US" sz="1700" dirty="0">
                <a:solidFill>
                  <a:schemeClr val="tx1"/>
                </a:solidFill>
              </a:rPr>
              <a:t>Foto diperiksa DULU: GPS yang boros baterai tidak dinyalakan percuma.</a:t>
            </a:r>
            <a:endParaRPr lang="en-US" sz="1700" dirty="0"/>
          </a:p>
          <a:p>
            <a:pPr marL="228600" indent="-228600">
              <a:spcAft>
                <a:spcPts val="800"/>
              </a:spcAft>
              <a:buSzPct val="100000"/>
              <a:buChar char="•"/>
            </a:pPr>
            <a:r>
              <a:rPr lang="en-US" sz="1700" dirty="0">
                <a:solidFill>
                  <a:schemeClr val="tx1"/>
                </a:solidFill>
              </a:rPr>
              <a:t>Contoh 07: 18 tes, nol kamera, nol GPS; kode P13 tidak diubah.</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9</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Studi Kasus: Menguji "Pinjam Ruang Kampus"</a:t>
            </a:r>
            <a:endParaRPr lang="en-US" sz="4000" dirty="0"/>
          </a:p>
        </p:txBody>
      </p:sp>
      <p:sp>
        <p:nvSpPr>
          <p:cNvPr id="5" name="lingkaran gedung"/>
          <p:cNvSpPr/>
          <p:nvPr/>
        </p:nvSpPr>
        <p:spPr>
          <a:xfrm>
            <a:off x="1097280" y="2148840"/>
            <a:ext cx="2011680" cy="2011680"/>
          </a:xfrm>
          <a:prstGeom prst="ellipse">
            <a:avLst/>
          </a:prstGeom>
          <a:solidFill>
            <a:schemeClr val="accent1"/>
          </a:solidFill>
          <a:ln/>
        </p:spPr>
      </p:sp>
      <p:pic>
        <p:nvPicPr>
          <p:cNvPr id="6" name="Image 0" descr="gedung">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Dari jalankanUji() ke flutter test</a:t>
            </a:r>
            <a:endParaRPr lang="en-US" sz="32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08856"/>
                <a:gridCol w="3850954"/>
                <a:gridCol w="5134605"/>
              </a:tblGrid>
              <a:tr h="5486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Lapisan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Pertemuan 12 (jalankanUji)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Contoh 08 (flutter test)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4864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Entitas dan aturan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"Sabtu ditolak", rentang waktu bertumpuk</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group('RentangWaktu') dan group('aturan peminjaman'): 13 tes, sebagian besar di nilai batas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Use case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"Bentrok ditolak dan tidak disimpan"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group('AjukanPeminjaman'): 5 tes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Repository server</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"Kode 500 menjadi ServerBermasalah"</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group('RepositoriRuangServer'): 6 tes dengan MockClient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ViewModel</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"Setelah mengajukan, jadwal dibaca ulang"</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group('JadwalRuangViewModel'): 4 tes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View</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JANJI: "Tombol Ajukan mati selama menyimpan"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group('HalamanDaftarRuang') dan group('HalamanJadwalRuang'): 5 tes widget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Seluruh aplikasi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Satu tes alur lengkap</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Kode aplikasinya TIDAK diubah sama sekali: Contoh 08 mengimpor berkas studi kasus Pertemuan 12. Di proyek, test/ mencerminkan lib/; bahan bersama di testing/.</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Matcher Buatan Sendiri</a:t>
            </a:r>
            <a:endParaRPr lang="en-US" sz="3200" dirty="0"/>
          </a:p>
        </p:txBody>
      </p:sp>
      <p:sp>
        <p:nvSpPr>
          <p:cNvPr id="4" name="kotak kode"/>
          <p:cNvSpPr txBox="1"/>
          <p:nvPr/>
        </p:nvSpPr>
        <p:spPr>
          <a:xfrm>
            <a:off x="548640" y="1371600"/>
            <a:ext cx="7132320" cy="3579876"/>
          </a:xfrm>
          <a:prstGeom prst="roundRect">
            <a:avLst>
              <a:gd name="adj" fmla="val 2554"/>
            </a:avLst>
          </a:prstGeom>
          <a:solidFill>
            <a:srgbClr val="0E1A2B"/>
          </a:solidFill>
          <a:ln/>
        </p:spPr>
        <p:txBody>
          <a:bodyPr wrap="square" lIns="177800" tIns="152400" rIns="152400" bIns="177800" rtlCol="0" anchor="t"/>
          <a:lstStyle/>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Matcher: Hasil yang Gagal dengan kegagalan tertentu.</a:t>
            </a:r>
            <a:endParaRPr lang="en-US" sz="1100" dirty="0"/>
          </a:p>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Matcher</a:t>
            </a:r>
            <a:r>
              <a:rPr lang="en-US" sz="1100" dirty="0">
                <a:solidFill>
                  <a:srgbClr val="E6EDF3"/>
                </a:solidFill>
                <a:latin typeface="Consolas" pitchFamily="34" charset="0"/>
                <a:ea typeface="Consolas" pitchFamily="34" charset="-122"/>
                <a:cs typeface="Consolas" pitchFamily="34" charset="-120"/>
              </a:rPr>
              <a:t> gagalDengan(</a:t>
            </a:r>
            <a:r>
              <a:rPr lang="en-US" sz="1100" dirty="0">
                <a:solidFill>
                  <a:srgbClr val="FFCB6B"/>
                </a:solidFill>
                <a:latin typeface="Consolas" pitchFamily="34" charset="0"/>
                <a:ea typeface="Consolas" pitchFamily="34" charset="-122"/>
                <a:cs typeface="Consolas" pitchFamily="34" charset="-120"/>
              </a:rPr>
              <a:t>Matcher</a:t>
            </a:r>
            <a:r>
              <a:rPr lang="en-US" sz="1100" dirty="0">
                <a:solidFill>
                  <a:srgbClr val="E6EDF3"/>
                </a:solidFill>
                <a:latin typeface="Consolas" pitchFamily="34" charset="0"/>
                <a:ea typeface="Consolas" pitchFamily="34" charset="-122"/>
                <a:cs typeface="Consolas" pitchFamily="34" charset="-120"/>
              </a:rPr>
              <a:t> kegagalan) =&gt; isA&lt;</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Object</a:t>
            </a:r>
            <a:r>
              <a:rPr lang="en-US" sz="1100" dirty="0">
                <a:solidFill>
                  <a:srgbClr val="E6EDF3"/>
                </a:solidFill>
                <a:latin typeface="Consolas" pitchFamily="34" charset="0"/>
                <a:ea typeface="Consolas" pitchFamily="34" charset="-122"/>
                <a:cs typeface="Consolas" pitchFamily="34" charset="-120"/>
              </a:rPr>
              <a:t>?&gt;&gt;().having(</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Gagal</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Object</a:t>
            </a:r>
            <a:r>
              <a:rPr lang="en-US" sz="1100" dirty="0">
                <a:solidFill>
                  <a:srgbClr val="E6EDF3"/>
                </a:solidFill>
                <a:latin typeface="Consolas" pitchFamily="34" charset="0"/>
                <a:ea typeface="Consolas" pitchFamily="34" charset="-122"/>
                <a:cs typeface="Consolas" pitchFamily="34" charset="-120"/>
              </a:rPr>
              <a:t>?&gt; g) =&gt; g.kegagalan,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'kegagalan'</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kegagalan,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Matcher: ditolak aturan dengan alasan tertentu.</a:t>
            </a:r>
            <a:endParaRPr lang="en-US" sz="1100" dirty="0"/>
          </a:p>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Matcher</a:t>
            </a:r>
            <a:r>
              <a:rPr lang="en-US" sz="1100" dirty="0">
                <a:solidFill>
                  <a:srgbClr val="E6EDF3"/>
                </a:solidFill>
                <a:latin typeface="Consolas" pitchFamily="34" charset="0"/>
                <a:ea typeface="Consolas" pitchFamily="34" charset="-122"/>
                <a:cs typeface="Consolas" pitchFamily="34" charset="-120"/>
              </a:rPr>
              <a:t> ditolak(</a:t>
            </a:r>
            <a:r>
              <a:rPr lang="en-US" sz="1100" dirty="0">
                <a:solidFill>
                  <a:srgbClr val="FFCB6B"/>
                </a:solidFill>
                <a:latin typeface="Consolas" pitchFamily="34" charset="0"/>
                <a:ea typeface="Consolas" pitchFamily="34" charset="-122"/>
                <a:cs typeface="Consolas" pitchFamily="34" charset="-120"/>
              </a:rPr>
              <a:t>Object</a:t>
            </a:r>
            <a:r>
              <a:rPr lang="en-US" sz="1100" dirty="0">
                <a:solidFill>
                  <a:srgbClr val="E6EDF3"/>
                </a:solidFill>
                <a:latin typeface="Consolas" pitchFamily="34" charset="0"/>
                <a:ea typeface="Consolas" pitchFamily="34" charset="-122"/>
                <a:cs typeface="Consolas" pitchFamily="34" charset="-120"/>
              </a:rPr>
              <a:t>? alasan) =&gt; gagalDengan(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isA&lt;</a:t>
            </a:r>
            <a:r>
              <a:rPr lang="en-US" sz="1100" dirty="0">
                <a:solidFill>
                  <a:srgbClr val="FFCB6B"/>
                </a:solidFill>
                <a:latin typeface="Consolas" pitchFamily="34" charset="0"/>
                <a:ea typeface="Consolas" pitchFamily="34" charset="-122"/>
                <a:cs typeface="Consolas" pitchFamily="34" charset="-120"/>
              </a:rPr>
              <a:t>AturanDilanggar</a:t>
            </a:r>
            <a:r>
              <a:rPr lang="en-US" sz="1100" dirty="0">
                <a:solidFill>
                  <a:srgbClr val="E6EDF3"/>
                </a:solidFill>
                <a:latin typeface="Consolas" pitchFamily="34" charset="0"/>
                <a:ea typeface="Consolas" pitchFamily="34" charset="-122"/>
                <a:cs typeface="Consolas" pitchFamily="34" charset="-120"/>
              </a:rPr>
              <a:t>&gt;().having(</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AturanDilanggar</a:t>
            </a:r>
            <a:r>
              <a:rPr lang="en-US" sz="1100" dirty="0">
                <a:solidFill>
                  <a:srgbClr val="E6EDF3"/>
                </a:solidFill>
                <a:latin typeface="Consolas" pitchFamily="34" charset="0"/>
                <a:ea typeface="Consolas" pitchFamily="34" charset="-122"/>
                <a:cs typeface="Consolas" pitchFamily="34" charset="-120"/>
              </a:rPr>
              <a:t> k) =&gt; k.alasan,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'alasan'</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alasan,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expect(hasil, ditolak(</a:t>
            </a:r>
            <a:r>
              <a:rPr lang="en-US" sz="1100" dirty="0">
                <a:solidFill>
                  <a:srgbClr val="C3E88D"/>
                </a:solidFill>
                <a:latin typeface="Consolas" pitchFamily="34" charset="0"/>
                <a:ea typeface="Consolas" pitchFamily="34" charset="-122"/>
                <a:cs typeface="Consolas" pitchFamily="34" charset="-120"/>
              </a:rPr>
              <a:t>'Ruang tidak ditemukan.'</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expect(hasil, gagalDengan(isA&lt;</a:t>
            </a:r>
            <a:r>
              <a:rPr lang="en-US" sz="1100" dirty="0">
                <a:solidFill>
                  <a:srgbClr val="FFCB6B"/>
                </a:solidFill>
                <a:latin typeface="Consolas" pitchFamily="34" charset="0"/>
                <a:ea typeface="Consolas" pitchFamily="34" charset="-122"/>
                <a:cs typeface="Consolas" pitchFamily="34" charset="-120"/>
              </a:rPr>
              <a:t>TanpaKoneksi</a:t>
            </a:r>
            <a:r>
              <a:rPr lang="en-US" sz="1100" dirty="0">
                <a:solidFill>
                  <a:srgbClr val="E6EDF3"/>
                </a:solidFill>
                <a:latin typeface="Consolas" pitchFamily="34" charset="0"/>
                <a:ea typeface="Consolas" pitchFamily="34" charset="-122"/>
                <a:cs typeface="Consolas" pitchFamily="34" charset="-120"/>
              </a:rPr>
              <a:t>&gt;()));</a:t>
            </a:r>
            <a:endParaRPr lang="en-US" sz="1100" dirty="0"/>
          </a:p>
        </p:txBody>
      </p:sp>
      <p:sp>
        <p:nvSpPr>
          <p:cNvPr id="5" name="tombol tautan">
            <a:hlinkClick r:id="rId1" tooltip="https://github.com/antonprafanto/mobile2026/blob/main/pertemuan_14_pengujian_dan_debugging/kode/contoh_08_studi_kasus_menguji_pinjam_ruang_test.dart"/>
          </p:cNvPr>
          <p:cNvSpPr txBox="1"/>
          <p:nvPr/>
        </p:nvSpPr>
        <p:spPr>
          <a:xfrm>
            <a:off x="548640" y="5180076"/>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contoh_08_studi_kasus_menguji_pinjam_ruang_test.dart</a:t>
            </a:r>
            <a:endParaRPr lang="en-US" sz="1300" dirty="0"/>
          </a:p>
        </p:txBody>
      </p:sp>
      <p:pic>
        <p:nvPicPr>
          <p:cNvPr id="6" name="Image 0" descr="ikon tautan">
            <a:hlinkClick r:id="rId3" tooltip="https://github.com/antonprafanto/mobile2026/blob/main/pertemuan_14_pengujian_dan_debugging/kode/contoh_08_studi_kasus_menguji_pinjam_ruang_test.dart"/>
          </p:cNvPr>
          <p:cNvPicPr>
            <a:picLocks noChangeAspect="1"/>
          </p:cNvPicPr>
          <p:nvPr/>
        </p:nvPicPr>
        <p:blipFill>
          <a:blip r:embed="rId2"/>
          <a:stretch>
            <a:fillRect/>
          </a:stretch>
        </p:blipFill>
        <p:spPr>
          <a:xfrm>
            <a:off x="694944" y="5271516"/>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Banyak tes memeriksa: "Gagal karena aturan dilanggar, dengan alasan tertentu".</a:t>
            </a:r>
            <a:endParaRPr lang="en-US" sz="1700" dirty="0"/>
          </a:p>
          <a:p>
            <a:pPr marL="228600" indent="-228600">
              <a:spcAft>
                <a:spcPts val="800"/>
              </a:spcAft>
              <a:buSzPct val="100000"/>
              <a:buChar char="•"/>
            </a:pPr>
            <a:r>
              <a:rPr lang="en-US" sz="1700" dirty="0">
                <a:solidFill>
                  <a:schemeClr val="tx1"/>
                </a:solidFill>
              </a:rPr>
              <a:t>Daripada isA&lt;...&gt;().having(...) bertingkat berulang kali: dua fungsi matcher.</a:t>
            </a:r>
            <a:endParaRPr lang="en-US" sz="1700" dirty="0"/>
          </a:p>
          <a:p>
            <a:pPr marL="228600" indent="-228600">
              <a:spcAft>
                <a:spcPts val="800"/>
              </a:spcAft>
              <a:buSzPct val="100000"/>
              <a:buChar char="•"/>
            </a:pPr>
            <a:r>
              <a:rPr lang="en-US" sz="1700" dirty="0">
                <a:solidFill>
                  <a:schemeClr val="tx1"/>
                </a:solidFill>
              </a:rPr>
              <a:t>Hasilnya, tes terbaca seperti kalimat.</a:t>
            </a:r>
            <a:endParaRPr lang="en-US" sz="1700" dirty="0"/>
          </a:p>
          <a:p>
            <a:pPr marL="228600" indent="-228600">
              <a:spcAft>
                <a:spcPts val="800"/>
              </a:spcAft>
              <a:buSzPct val="100000"/>
              <a:buChar char="•"/>
            </a:pPr>
            <a:r>
              <a:rPr lang="en-US" sz="1700" dirty="0">
                <a:solidFill>
                  <a:schemeClr val="tx1"/>
                </a:solidFill>
              </a:rPr>
              <a:t>gagalDengan juga dipakai di Contoh 07.</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Lapis demi Lapis: Use Case</a:t>
            </a:r>
            <a:endParaRPr lang="en-US" sz="3200" dirty="0"/>
          </a:p>
        </p:txBody>
      </p:sp>
      <p:sp>
        <p:nvSpPr>
          <p:cNvPr id="4" name="kotak kode"/>
          <p:cNvSpPr txBox="1"/>
          <p:nvPr/>
        </p:nvSpPr>
        <p:spPr>
          <a:xfrm>
            <a:off x="548640" y="1371600"/>
            <a:ext cx="7132320" cy="3171825"/>
          </a:xfrm>
          <a:prstGeom prst="roundRect">
            <a:avLst>
              <a:gd name="adj" fmla="val 2883"/>
            </a:avLst>
          </a:prstGeom>
          <a:solidFill>
            <a:srgbClr val="0E1A2B"/>
          </a:solidFill>
          <a:ln/>
        </p:spPr>
        <p:txBody>
          <a:bodyPr wrap="square" lIns="177800" tIns="152400" rIns="152400" bIns="177800" rtlCol="0" anchor="t"/>
          <a:lstStyle/>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test(</a:t>
            </a:r>
            <a:r>
              <a:rPr lang="en-US" sz="1150" dirty="0">
                <a:solidFill>
                  <a:srgbClr val="C3E88D"/>
                </a:solidFill>
                <a:latin typeface="Consolas" pitchFamily="34" charset="0"/>
                <a:ea typeface="Consolas" pitchFamily="34" charset="-122"/>
                <a:cs typeface="Consolas" pitchFamily="34" charset="-120"/>
              </a:rPr>
              <a:t>'kegagalan repository ruang diteruskan apa adanya'</a:t>
            </a:r>
            <a:r>
              <a:rPr lang="en-US" sz="1150" dirty="0">
                <a:solidFill>
                  <a:srgbClr val="E6EDF3"/>
                </a:solidFill>
                <a:latin typeface="Consolas" pitchFamily="34" charset="0"/>
                <a:ea typeface="Consolas" pitchFamily="34" charset="-122"/>
                <a:cs typeface="Consolas" pitchFamily="34" charset="-120"/>
              </a:rPr>
              <a:t>, () </a:t>
            </a:r>
            <a:r>
              <a:rPr lang="en-US" sz="1150" dirty="0">
                <a:solidFill>
                  <a:srgbClr val="C792EA"/>
                </a:solidFill>
                <a:latin typeface="Consolas" pitchFamily="34" charset="0"/>
                <a:ea typeface="Consolas" pitchFamily="34" charset="-122"/>
                <a:cs typeface="Consolas" pitchFamily="34" charset="-120"/>
              </a:rPr>
              <a:t>async</a:t>
            </a: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final</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AjukanPeminjaman</a:t>
            </a:r>
            <a:r>
              <a:rPr lang="en-US" sz="1150" dirty="0">
                <a:solidFill>
                  <a:srgbClr val="E6EDF3"/>
                </a:solidFill>
                <a:latin typeface="Consolas" pitchFamily="34" charset="0"/>
                <a:ea typeface="Consolas" pitchFamily="34" charset="-122"/>
                <a:cs typeface="Consolas" pitchFamily="34" charset="-120"/>
              </a:rPr>
              <a:t> tanpaInternet = </a:t>
            </a:r>
            <a:r>
              <a:rPr lang="en-US" sz="1150" dirty="0">
                <a:solidFill>
                  <a:srgbClr val="FFCB6B"/>
                </a:solidFill>
                <a:latin typeface="Consolas" pitchFamily="34" charset="0"/>
                <a:ea typeface="Consolas" pitchFamily="34" charset="-122"/>
                <a:cs typeface="Consolas" pitchFamily="34" charset="-120"/>
              </a:rPr>
              <a:t>AjukanPeminjaman</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ruang: </a:t>
            </a:r>
            <a:r>
              <a:rPr lang="en-US" sz="1150" dirty="0">
                <a:solidFill>
                  <a:srgbClr val="FFCB6B"/>
                </a:solidFill>
                <a:latin typeface="Consolas" pitchFamily="34" charset="0"/>
                <a:ea typeface="Consolas" pitchFamily="34" charset="-122"/>
                <a:cs typeface="Consolas" pitchFamily="34" charset="-120"/>
              </a:rPr>
              <a:t>RepositoriRuangUji</a:t>
            </a:r>
            <a:r>
              <a:rPr lang="en-US" sz="1150" dirty="0">
                <a:solidFill>
                  <a:srgbClr val="E6EDF3"/>
                </a:solidFill>
                <a:latin typeface="Consolas" pitchFamily="34" charset="0"/>
                <a:ea typeface="Consolas" pitchFamily="34" charset="-122"/>
                <a:cs typeface="Consolas" pitchFamily="34" charset="-120"/>
              </a:rPr>
              <a:t>()..gagal = </a:t>
            </a:r>
            <a:r>
              <a:rPr lang="en-US" sz="1150" dirty="0">
                <a:solidFill>
                  <a:srgbClr val="C792EA"/>
                </a:solidFill>
                <a:latin typeface="Consolas" pitchFamily="34" charset="0"/>
                <a:ea typeface="Consolas" pitchFamily="34" charset="-122"/>
                <a:cs typeface="Consolas" pitchFamily="34" charset="-120"/>
              </a:rPr>
              <a:t>const</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TanpaKoneksi</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peminjaman: peminjaman,</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sekarang: jamTetap,</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final</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Hasil</a:t>
            </a:r>
            <a:r>
              <a:rPr lang="en-US" sz="1150" dirty="0">
                <a:solidFill>
                  <a:srgbClr val="E6EDF3"/>
                </a:solidFill>
                <a:latin typeface="Consolas" pitchFamily="34" charset="0"/>
                <a:ea typeface="Consolas" pitchFamily="34" charset="-122"/>
                <a:cs typeface="Consolas" pitchFamily="34" charset="-120"/>
              </a:rPr>
              <a:t>&lt;</a:t>
            </a:r>
            <a:r>
              <a:rPr lang="en-US" sz="1150" dirty="0">
                <a:solidFill>
                  <a:srgbClr val="FFCB6B"/>
                </a:solidFill>
                <a:latin typeface="Consolas" pitchFamily="34" charset="0"/>
                <a:ea typeface="Consolas" pitchFamily="34" charset="-122"/>
                <a:cs typeface="Consolas" pitchFamily="34" charset="-120"/>
              </a:rPr>
              <a:t>Peminjaman</a:t>
            </a:r>
            <a:r>
              <a:rPr lang="en-US" sz="1150" dirty="0">
                <a:solidFill>
                  <a:srgbClr val="E6EDF3"/>
                </a:solidFill>
                <a:latin typeface="Consolas" pitchFamily="34" charset="0"/>
                <a:ea typeface="Consolas" pitchFamily="34" charset="-122"/>
                <a:cs typeface="Consolas" pitchFamily="34" charset="-120"/>
              </a:rPr>
              <a:t>&gt; hasil = </a:t>
            </a:r>
            <a:r>
              <a:rPr lang="en-US" sz="1150" dirty="0">
                <a:solidFill>
                  <a:srgbClr val="C792EA"/>
                </a:solidFill>
                <a:latin typeface="Consolas" pitchFamily="34" charset="0"/>
                <a:ea typeface="Consolas" pitchFamily="34" charset="-122"/>
                <a:cs typeface="Consolas" pitchFamily="34" charset="-120"/>
              </a:rPr>
              <a:t>await</a:t>
            </a:r>
            <a:r>
              <a:rPr lang="en-US" sz="1150" dirty="0">
                <a:solidFill>
                  <a:srgbClr val="E6EDF3"/>
                </a:solidFill>
                <a:latin typeface="Consolas" pitchFamily="34" charset="0"/>
                <a:ea typeface="Consolas" pitchFamily="34" charset="-122"/>
                <a:cs typeface="Consolas" pitchFamily="34" charset="-120"/>
              </a:rPr>
              <a:t> tanpaInternet.jalankan(</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pengajuan(</a:t>
            </a:r>
            <a:r>
              <a:rPr lang="en-US" sz="1150" dirty="0">
                <a:solidFill>
                  <a:srgbClr val="C3E88D"/>
                </a:solidFill>
                <a:latin typeface="Consolas" pitchFamily="34" charset="0"/>
                <a:ea typeface="Consolas" pitchFamily="34" charset="-122"/>
                <a:cs typeface="Consolas" pitchFamily="34" charset="-120"/>
              </a:rPr>
              <a:t>'C-110'</a:t>
            </a:r>
            <a:r>
              <a:rPr lang="en-US" sz="1150" dirty="0">
                <a:solidFill>
                  <a:srgbClr val="E6EDF3"/>
                </a:solidFill>
                <a:latin typeface="Consolas" pitchFamily="34" charset="0"/>
                <a:ea typeface="Consolas" pitchFamily="34" charset="-122"/>
                <a:cs typeface="Consolas" pitchFamily="34" charset="-120"/>
              </a:rPr>
              <a:t>, rentang(kamis(</a:t>
            </a:r>
            <a:r>
              <a:rPr lang="en-US" sz="1150" dirty="0">
                <a:solidFill>
                  <a:srgbClr val="F78C6C"/>
                </a:solidFill>
                <a:latin typeface="Consolas" pitchFamily="34" charset="0"/>
                <a:ea typeface="Consolas" pitchFamily="34" charset="-122"/>
                <a:cs typeface="Consolas" pitchFamily="34" charset="-120"/>
              </a:rPr>
              <a:t>9</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78C6C"/>
                </a:solidFill>
                <a:latin typeface="Consolas" pitchFamily="34" charset="0"/>
                <a:ea typeface="Consolas" pitchFamily="34" charset="-122"/>
                <a:cs typeface="Consolas" pitchFamily="34" charset="-120"/>
              </a:rPr>
              <a:t>60</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budi,</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expect(hasil, gagalDengan(isA&lt;</a:t>
            </a:r>
            <a:r>
              <a:rPr lang="en-US" sz="1150" dirty="0">
                <a:solidFill>
                  <a:srgbClr val="FFCB6B"/>
                </a:solidFill>
                <a:latin typeface="Consolas" pitchFamily="34" charset="0"/>
                <a:ea typeface="Consolas" pitchFamily="34" charset="-122"/>
                <a:cs typeface="Consolas" pitchFamily="34" charset="-120"/>
              </a:rPr>
              <a:t>TanpaKoneksi</a:t>
            </a:r>
            <a:r>
              <a:rPr lang="en-US" sz="1150" dirty="0">
                <a:solidFill>
                  <a:srgbClr val="E6EDF3"/>
                </a:solidFill>
                <a:latin typeface="Consolas" pitchFamily="34" charset="0"/>
                <a:ea typeface="Consolas" pitchFamily="34" charset="-122"/>
                <a:cs typeface="Consolas" pitchFamily="34" charset="-120"/>
              </a:rPr>
              <a:t>&gt;()));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expect(</a:t>
            </a:r>
            <a:r>
              <a:rPr lang="en-US" sz="1150" dirty="0">
                <a:solidFill>
                  <a:srgbClr val="C792EA"/>
                </a:solidFill>
                <a:latin typeface="Consolas" pitchFamily="34" charset="0"/>
                <a:ea typeface="Consolas" pitchFamily="34" charset="-122"/>
                <a:cs typeface="Consolas" pitchFamily="34" charset="-120"/>
              </a:rPr>
              <a:t>await</a:t>
            </a:r>
            <a:r>
              <a:rPr lang="en-US" sz="1150" dirty="0">
                <a:solidFill>
                  <a:srgbClr val="E6EDF3"/>
                </a:solidFill>
                <a:latin typeface="Consolas" pitchFamily="34" charset="0"/>
                <a:ea typeface="Consolas" pitchFamily="34" charset="-122"/>
                <a:cs typeface="Consolas" pitchFamily="34" charset="-120"/>
              </a:rPr>
              <a:t> jumlahDiRuang(</a:t>
            </a:r>
            <a:r>
              <a:rPr lang="en-US" sz="1150" dirty="0">
                <a:solidFill>
                  <a:srgbClr val="C3E88D"/>
                </a:solidFill>
                <a:latin typeface="Consolas" pitchFamily="34" charset="0"/>
                <a:ea typeface="Consolas" pitchFamily="34" charset="-122"/>
                <a:cs typeface="Consolas" pitchFamily="34" charset="-120"/>
              </a:rPr>
              <a:t>'C-110'</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78C6C"/>
                </a:solidFill>
                <a:latin typeface="Consolas" pitchFamily="34" charset="0"/>
                <a:ea typeface="Consolas" pitchFamily="34" charset="-122"/>
                <a:cs typeface="Consolas" pitchFamily="34" charset="-120"/>
              </a:rPr>
              <a:t>0</a:t>
            </a:r>
            <a:r>
              <a:rPr lang="en-US" sz="1150" dirty="0">
                <a:solidFill>
                  <a:srgbClr val="E6EDF3"/>
                </a:solidFill>
                <a:latin typeface="Consolas" pitchFamily="34" charset="0"/>
                <a:ea typeface="Consolas" pitchFamily="34" charset="-122"/>
                <a:cs typeface="Consolas" pitchFamily="34" charset="-120"/>
              </a:rPr>
              <a:t>); </a:t>
            </a:r>
            <a:r>
              <a:rPr lang="en-US" sz="1150" i="1" dirty="0">
                <a:solidFill>
                  <a:srgbClr val="8FA3BC"/>
                </a:solidFill>
                <a:latin typeface="Consolas" pitchFamily="34" charset="0"/>
                <a:ea typeface="Consolas" pitchFamily="34" charset="-122"/>
                <a:cs typeface="Consolas" pitchFamily="34" charset="-120"/>
              </a:rPr>
              <a:t>// tidak ada yang tersimpan</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p:txBody>
      </p:sp>
      <p:sp>
        <p:nvSpPr>
          <p:cNvPr id="5" name="tombol tautan">
            <a:hlinkClick r:id="rId1" tooltip="https://github.com/antonprafanto/mobile2026/blob/main/pertemuan_14_pengujian_dan_debugging/kode/contoh_08_studi_kasus_menguji_pinjam_ruang_test.dart"/>
          </p:cNvPr>
          <p:cNvSpPr txBox="1"/>
          <p:nvPr/>
        </p:nvSpPr>
        <p:spPr>
          <a:xfrm>
            <a:off x="548640" y="4772025"/>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contoh_08_studi_kasus_menguji_pinjam_ruang_test.dart</a:t>
            </a:r>
            <a:endParaRPr lang="en-US" sz="1300" dirty="0"/>
          </a:p>
        </p:txBody>
      </p:sp>
      <p:pic>
        <p:nvPicPr>
          <p:cNvPr id="6" name="Image 0" descr="ikon tautan">
            <a:hlinkClick r:id="rId3" tooltip="https://github.com/antonprafanto/mobile2026/blob/main/pertemuan_14_pengujian_dan_debugging/kode/contoh_08_studi_kasus_menguji_pinjam_ruang_test.dart"/>
          </p:cNvPr>
          <p:cNvPicPr>
            <a:picLocks noChangeAspect="1"/>
          </p:cNvPicPr>
          <p:nvPr/>
        </p:nvPicPr>
        <p:blipFill>
          <a:blip r:embed="rId2"/>
          <a:stretch>
            <a:fillRect/>
          </a:stretch>
        </p:blipFill>
        <p:spPr>
          <a:xfrm>
            <a:off x="694944" y="4863465"/>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Aturan di nilai batas: 29 menit ditolak, 30 lolos; 3 jam lolos, 3 jam 1 menit ditolak.</a:t>
            </a:r>
            <a:endParaRPr lang="en-US" sz="1700" dirty="0"/>
          </a:p>
          <a:p>
            <a:pPr marL="228600" indent="-228600">
              <a:spcAft>
                <a:spcPts val="800"/>
              </a:spcAft>
              <a:buSzPct val="100000"/>
              <a:buChar char="•"/>
            </a:pPr>
            <a:r>
              <a:rPr lang="en-US" sz="1700" dirty="0">
                <a:solidFill>
                  <a:schemeClr val="tx1"/>
                </a:solidFill>
              </a:rPr>
              <a:t>Mulai 07.00 lolos, 06.30 ditolak; 12 peserta (kapasitas) lolos, 13 ditolak; Jumat lolos, Sabtu ditolak.</a:t>
            </a:r>
            <a:endParaRPr lang="en-US" sz="1700" dirty="0"/>
          </a:p>
          <a:p>
            <a:pPr marL="228600" indent="-228600">
              <a:spcAft>
                <a:spcPts val="800"/>
              </a:spcAft>
              <a:buSzPct val="100000"/>
              <a:buChar char="•"/>
            </a:pPr>
            <a:r>
              <a:rPr lang="en-US" sz="1700" dirty="0">
                <a:solidFill>
                  <a:schemeClr val="tx1"/>
                </a:solidFill>
              </a:rPr>
              <a:t>"Sekarang" dibuat tetap: Rabu, 14 Oktober 2026 pukul 10.00.</a:t>
            </a:r>
            <a:endParaRPr lang="en-US" sz="1700" dirty="0"/>
          </a:p>
          <a:p>
            <a:pPr marL="228600" indent="-228600">
              <a:spcAft>
                <a:spcPts val="800"/>
              </a:spcAft>
              <a:buSzPct val="100000"/>
              <a:buChar char="•"/>
            </a:pPr>
            <a:r>
              <a:rPr lang="en-US" sz="1700" dirty="0">
                <a:solidFill>
                  <a:schemeClr val="tx1"/>
                </a:solidFill>
              </a:rPr>
              <a:t>RepositoriRuangUji: data palsu kecil yang bisa pura-pura gagal.</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Rem pada simpan(): RepositoriPeminjamanDitahan</a:t>
            </a:r>
            <a:endParaRPr lang="en-US" sz="3200" dirty="0"/>
          </a:p>
        </p:txBody>
      </p:sp>
      <p:sp>
        <p:nvSpPr>
          <p:cNvPr id="4" name="kotak kode"/>
          <p:cNvSpPr txBox="1"/>
          <p:nvPr/>
        </p:nvSpPr>
        <p:spPr>
          <a:xfrm>
            <a:off x="548640" y="1371600"/>
            <a:ext cx="7132320" cy="3539871"/>
          </a:xfrm>
          <a:prstGeom prst="roundRect">
            <a:avLst>
              <a:gd name="adj" fmla="val 2583"/>
            </a:avLst>
          </a:prstGeom>
          <a:solidFill>
            <a:srgbClr val="0E1A2B"/>
          </a:solidFill>
          <a:ln/>
        </p:spPr>
        <p:txBody>
          <a:bodyPr wrap="square" lIns="177800" tIns="152400" rIns="152400" bIns="177800" rtlCol="0" anchor="t"/>
          <a:lstStyle/>
          <a:p>
            <a:pPr indent="0" marL="0">
              <a:lnSpc>
                <a:spcPct val="105000"/>
              </a:lnSpc>
              <a:buNone/>
            </a:pPr>
            <a:r>
              <a:rPr lang="en-US" sz="1150" dirty="0">
                <a:solidFill>
                  <a:srgbClr val="C792EA"/>
                </a:solidFill>
                <a:latin typeface="Consolas" pitchFamily="34" charset="0"/>
                <a:ea typeface="Consolas" pitchFamily="34" charset="-122"/>
                <a:cs typeface="Consolas" pitchFamily="34" charset="-120"/>
              </a:rPr>
              <a:t>class</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RepositoriPeminjamanDitahan</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extends</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RepositoriPeminjamanMemori</a:t>
            </a: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RepositoriPeminjamanDitahan</a:t>
            </a:r>
            <a:r>
              <a:rPr lang="en-US" sz="1150" dirty="0">
                <a:solidFill>
                  <a:srgbClr val="E6EDF3"/>
                </a:solidFill>
                <a:latin typeface="Consolas" pitchFamily="34" charset="0"/>
                <a:ea typeface="Consolas" pitchFamily="34" charset="-122"/>
                <a:cs typeface="Consolas" pitchFamily="34" charset="-120"/>
              </a:rPr>
              <a:t>({</a:t>
            </a:r>
            <a:r>
              <a:rPr lang="en-US" sz="1150" dirty="0">
                <a:solidFill>
                  <a:srgbClr val="C792EA"/>
                </a:solidFill>
                <a:latin typeface="Consolas" pitchFamily="34" charset="0"/>
                <a:ea typeface="Consolas" pitchFamily="34" charset="-122"/>
                <a:cs typeface="Consolas" pitchFamily="34" charset="-120"/>
              </a:rPr>
              <a:t>super</a:t>
            </a:r>
            <a:r>
              <a:rPr lang="en-US" sz="1150" dirty="0">
                <a:solidFill>
                  <a:srgbClr val="E6EDF3"/>
                </a:solidFill>
                <a:latin typeface="Consolas" pitchFamily="34" charset="0"/>
                <a:ea typeface="Consolas" pitchFamily="34" charset="-122"/>
                <a:cs typeface="Consolas" pitchFamily="34" charset="-120"/>
              </a:rPr>
              <a:t>.sekarang});</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Completer</a:t>
            </a:r>
            <a:r>
              <a:rPr lang="en-US" sz="1150" dirty="0">
                <a:solidFill>
                  <a:srgbClr val="E6EDF3"/>
                </a:solidFill>
                <a:latin typeface="Consolas" pitchFamily="34" charset="0"/>
                <a:ea typeface="Consolas" pitchFamily="34" charset="-122"/>
                <a:cs typeface="Consolas" pitchFamily="34" charset="-120"/>
              </a:rPr>
              <a:t>&lt;</a:t>
            </a:r>
            <a:r>
              <a:rPr lang="en-US" sz="1150" dirty="0">
                <a:solidFill>
                  <a:srgbClr val="C792EA"/>
                </a:solidFill>
                <a:latin typeface="Consolas" pitchFamily="34" charset="0"/>
                <a:ea typeface="Consolas" pitchFamily="34" charset="-122"/>
                <a:cs typeface="Consolas" pitchFamily="34" charset="-120"/>
              </a:rPr>
              <a:t>void</a:t>
            </a:r>
            <a:r>
              <a:rPr lang="en-US" sz="1150" dirty="0">
                <a:solidFill>
                  <a:srgbClr val="E6EDF3"/>
                </a:solidFill>
                <a:latin typeface="Consolas" pitchFamily="34" charset="0"/>
                <a:ea typeface="Consolas" pitchFamily="34" charset="-122"/>
                <a:cs typeface="Consolas" pitchFamily="34" charset="-120"/>
              </a:rPr>
              <a:t>&gt;? penahan;</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int</a:t>
            </a:r>
            <a:r>
              <a:rPr lang="en-US" sz="1150" dirty="0">
                <a:solidFill>
                  <a:srgbClr val="E6EDF3"/>
                </a:solidFill>
                <a:latin typeface="Consolas" pitchFamily="34" charset="0"/>
                <a:ea typeface="Consolas" pitchFamily="34" charset="-122"/>
                <a:cs typeface="Consolas" pitchFamily="34" charset="-120"/>
              </a:rPr>
              <a:t> jumlahSimpan = </a:t>
            </a:r>
            <a:r>
              <a:rPr lang="en-US" sz="1150" dirty="0">
                <a:solidFill>
                  <a:srgbClr val="F78C6C"/>
                </a:solidFill>
                <a:latin typeface="Consolas" pitchFamily="34" charset="0"/>
                <a:ea typeface="Consolas" pitchFamily="34" charset="-122"/>
                <a:cs typeface="Consolas" pitchFamily="34" charset="-120"/>
              </a:rPr>
              <a:t>0</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89DDFF"/>
                </a:solidFill>
                <a:latin typeface="Consolas" pitchFamily="34" charset="0"/>
                <a:ea typeface="Consolas" pitchFamily="34" charset="-122"/>
                <a:cs typeface="Consolas" pitchFamily="34" charset="-120"/>
              </a:rPr>
              <a:t>@override</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Future</a:t>
            </a:r>
            <a:r>
              <a:rPr lang="en-US" sz="1150" dirty="0">
                <a:solidFill>
                  <a:srgbClr val="E6EDF3"/>
                </a:solidFill>
                <a:latin typeface="Consolas" pitchFamily="34" charset="0"/>
                <a:ea typeface="Consolas" pitchFamily="34" charset="-122"/>
                <a:cs typeface="Consolas" pitchFamily="34" charset="-120"/>
              </a:rPr>
              <a:t>&lt;</a:t>
            </a:r>
            <a:r>
              <a:rPr lang="en-US" sz="1150" dirty="0">
                <a:solidFill>
                  <a:srgbClr val="FFCB6B"/>
                </a:solidFill>
                <a:latin typeface="Consolas" pitchFamily="34" charset="0"/>
                <a:ea typeface="Consolas" pitchFamily="34" charset="-122"/>
                <a:cs typeface="Consolas" pitchFamily="34" charset="-120"/>
              </a:rPr>
              <a:t>Hasil</a:t>
            </a:r>
            <a:r>
              <a:rPr lang="en-US" sz="1150" dirty="0">
                <a:solidFill>
                  <a:srgbClr val="E6EDF3"/>
                </a:solidFill>
                <a:latin typeface="Consolas" pitchFamily="34" charset="0"/>
                <a:ea typeface="Consolas" pitchFamily="34" charset="-122"/>
                <a:cs typeface="Consolas" pitchFamily="34" charset="-120"/>
              </a:rPr>
              <a:t>&lt;</a:t>
            </a:r>
            <a:r>
              <a:rPr lang="en-US" sz="1150" dirty="0">
                <a:solidFill>
                  <a:srgbClr val="FFCB6B"/>
                </a:solidFill>
                <a:latin typeface="Consolas" pitchFamily="34" charset="0"/>
                <a:ea typeface="Consolas" pitchFamily="34" charset="-122"/>
                <a:cs typeface="Consolas" pitchFamily="34" charset="-120"/>
              </a:rPr>
              <a:t>Peminjaman</a:t>
            </a:r>
            <a:r>
              <a:rPr lang="en-US" sz="1150" dirty="0">
                <a:solidFill>
                  <a:srgbClr val="E6EDF3"/>
                </a:solidFill>
                <a:latin typeface="Consolas" pitchFamily="34" charset="0"/>
                <a:ea typeface="Consolas" pitchFamily="34" charset="-122"/>
                <a:cs typeface="Consolas" pitchFamily="34" charset="-120"/>
              </a:rPr>
              <a:t>&gt;&gt; simpan(</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PengajuanPeminjaman</a:t>
            </a:r>
            <a:r>
              <a:rPr lang="en-US" sz="1150" dirty="0">
                <a:solidFill>
                  <a:srgbClr val="E6EDF3"/>
                </a:solidFill>
                <a:latin typeface="Consolas" pitchFamily="34" charset="0"/>
                <a:ea typeface="Consolas" pitchFamily="34" charset="-122"/>
                <a:cs typeface="Consolas" pitchFamily="34" charset="-120"/>
              </a:rPr>
              <a:t> pengajuan,</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Pengguna</a:t>
            </a:r>
            <a:r>
              <a:rPr lang="en-US" sz="1150" dirty="0">
                <a:solidFill>
                  <a:srgbClr val="E6EDF3"/>
                </a:solidFill>
                <a:latin typeface="Consolas" pitchFamily="34" charset="0"/>
                <a:ea typeface="Consolas" pitchFamily="34" charset="-122"/>
                <a:cs typeface="Consolas" pitchFamily="34" charset="-120"/>
              </a:rPr>
              <a:t> peminjam,</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 </a:t>
            </a:r>
            <a:r>
              <a:rPr lang="en-US" sz="1150" dirty="0">
                <a:solidFill>
                  <a:srgbClr val="C792EA"/>
                </a:solidFill>
                <a:latin typeface="Consolas" pitchFamily="34" charset="0"/>
                <a:ea typeface="Consolas" pitchFamily="34" charset="-122"/>
                <a:cs typeface="Consolas" pitchFamily="34" charset="-120"/>
              </a:rPr>
              <a:t>async</a:t>
            </a: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jumlahSimpan++;</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final</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Completer</a:t>
            </a:r>
            <a:r>
              <a:rPr lang="en-US" sz="1150" dirty="0">
                <a:solidFill>
                  <a:srgbClr val="E6EDF3"/>
                </a:solidFill>
                <a:latin typeface="Consolas" pitchFamily="34" charset="0"/>
                <a:ea typeface="Consolas" pitchFamily="34" charset="-122"/>
                <a:cs typeface="Consolas" pitchFamily="34" charset="-120"/>
              </a:rPr>
              <a:t>&lt;</a:t>
            </a:r>
            <a:r>
              <a:rPr lang="en-US" sz="1150" dirty="0">
                <a:solidFill>
                  <a:srgbClr val="C792EA"/>
                </a:solidFill>
                <a:latin typeface="Consolas" pitchFamily="34" charset="0"/>
                <a:ea typeface="Consolas" pitchFamily="34" charset="-122"/>
                <a:cs typeface="Consolas" pitchFamily="34" charset="-120"/>
              </a:rPr>
              <a:t>void</a:t>
            </a:r>
            <a:r>
              <a:rPr lang="en-US" sz="1150" dirty="0">
                <a:solidFill>
                  <a:srgbClr val="E6EDF3"/>
                </a:solidFill>
                <a:latin typeface="Consolas" pitchFamily="34" charset="0"/>
                <a:ea typeface="Consolas" pitchFamily="34" charset="-122"/>
                <a:cs typeface="Consolas" pitchFamily="34" charset="-120"/>
              </a:rPr>
              <a:t>&gt;? tahan = penahan;</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if</a:t>
            </a:r>
            <a:r>
              <a:rPr lang="en-US" sz="1150" dirty="0">
                <a:solidFill>
                  <a:srgbClr val="E6EDF3"/>
                </a:solidFill>
                <a:latin typeface="Consolas" pitchFamily="34" charset="0"/>
                <a:ea typeface="Consolas" pitchFamily="34" charset="-122"/>
                <a:cs typeface="Consolas" pitchFamily="34" charset="-120"/>
              </a:rPr>
              <a:t> (tahan != </a:t>
            </a:r>
            <a:r>
              <a:rPr lang="en-US" sz="1150" dirty="0">
                <a:solidFill>
                  <a:srgbClr val="C792EA"/>
                </a:solidFill>
                <a:latin typeface="Consolas" pitchFamily="34" charset="0"/>
                <a:ea typeface="Consolas" pitchFamily="34" charset="-122"/>
                <a:cs typeface="Consolas" pitchFamily="34" charset="-120"/>
              </a:rPr>
              <a:t>null</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await</a:t>
            </a:r>
            <a:r>
              <a:rPr lang="en-US" sz="1150" dirty="0">
                <a:solidFill>
                  <a:srgbClr val="E6EDF3"/>
                </a:solidFill>
                <a:latin typeface="Consolas" pitchFamily="34" charset="0"/>
                <a:ea typeface="Consolas" pitchFamily="34" charset="-122"/>
                <a:cs typeface="Consolas" pitchFamily="34" charset="-120"/>
              </a:rPr>
              <a:t> tahan.future; </a:t>
            </a:r>
            <a:r>
              <a:rPr lang="en-US" sz="1150" i="1" dirty="0">
                <a:solidFill>
                  <a:srgbClr val="8FA3BC"/>
                </a:solidFill>
                <a:latin typeface="Consolas" pitchFamily="34" charset="0"/>
                <a:ea typeface="Consolas" pitchFamily="34" charset="-122"/>
                <a:cs typeface="Consolas" pitchFamily="34" charset="-120"/>
              </a:rPr>
              <a:t>// berhenti sampai dilepas</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return</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super</a:t>
            </a:r>
            <a:r>
              <a:rPr lang="en-US" sz="1150" dirty="0">
                <a:solidFill>
                  <a:srgbClr val="E6EDF3"/>
                </a:solidFill>
                <a:latin typeface="Consolas" pitchFamily="34" charset="0"/>
                <a:ea typeface="Consolas" pitchFamily="34" charset="-122"/>
                <a:cs typeface="Consolas" pitchFamily="34" charset="-120"/>
              </a:rPr>
              <a:t>.simpan(pengajuan, peminjam);</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p:txBody>
      </p:sp>
      <p:sp>
        <p:nvSpPr>
          <p:cNvPr id="5" name="tombol tautan">
            <a:hlinkClick r:id="rId1" tooltip="https://github.com/antonprafanto/mobile2026/blob/main/pertemuan_14_pengujian_dan_debugging/kode/contoh_08_studi_kasus_menguji_pinjam_ruang_test.dart"/>
          </p:cNvPr>
          <p:cNvSpPr txBox="1"/>
          <p:nvPr/>
        </p:nvSpPr>
        <p:spPr>
          <a:xfrm>
            <a:off x="548640" y="5140071"/>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contoh_08_studi_kasus_menguji_pinjam_ruang_test.dart</a:t>
            </a:r>
            <a:endParaRPr lang="en-US" sz="1300" dirty="0"/>
          </a:p>
        </p:txBody>
      </p:sp>
      <p:pic>
        <p:nvPicPr>
          <p:cNvPr id="6" name="Image 0" descr="ikon tautan">
            <a:hlinkClick r:id="rId3" tooltip="https://github.com/antonprafanto/mobile2026/blob/main/pertemuan_14_pengujian_dan_debugging/kode/contoh_08_studi_kasus_menguji_pinjam_ruang_test.dart"/>
          </p:cNvPr>
          <p:cNvPicPr>
            <a:picLocks noChangeAspect="1"/>
          </p:cNvPicPr>
          <p:nvPr/>
        </p:nvPicPr>
        <p:blipFill>
          <a:blip r:embed="rId2"/>
          <a:stretch>
            <a:fillRect/>
          </a:stretch>
        </p:blipFill>
        <p:spPr>
          <a:xfrm>
            <a:off x="694944" y="5231511"/>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Mewarisi RepositoriPeminjamanMemori dari Pertemuan 12, lalu menambahkan "rem".</a:t>
            </a:r>
            <a:endParaRPr lang="en-US" sz="1700" dirty="0"/>
          </a:p>
          <a:p>
            <a:pPr marL="228600" indent="-228600">
              <a:spcAft>
                <a:spcPts val="800"/>
              </a:spcAft>
              <a:buSzPct val="100000"/>
              <a:buChar char="•"/>
            </a:pPr>
            <a:r>
              <a:rPr lang="en-US" sz="1700" dirty="0">
                <a:solidFill>
                  <a:schemeClr val="tx1"/>
                </a:solidFill>
              </a:rPr>
              <a:t>penahan diisi Completer → simpan() berhenti sampai complete() dipanggil.</a:t>
            </a:r>
            <a:endParaRPr lang="en-US" sz="1700" dirty="0"/>
          </a:p>
          <a:p>
            <a:pPr marL="228600" indent="-228600">
              <a:spcAft>
                <a:spcPts val="800"/>
              </a:spcAft>
              <a:buSzPct val="100000"/>
              <a:buChar char="•"/>
            </a:pPr>
            <a:r>
              <a:rPr lang="en-US" sz="1700" dirty="0">
                <a:solidFill>
                  <a:schemeClr val="tx1"/>
                </a:solidFill>
              </a:rPr>
              <a:t>jumlahSimpan: mata-mata untuk ketukan ganda.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Menepati Janji: Tombol Ajukan Mati</a:t>
            </a:r>
            <a:endParaRPr lang="en-US" sz="3200" dirty="0"/>
          </a:p>
        </p:txBody>
      </p:sp>
      <p:sp>
        <p:nvSpPr>
          <p:cNvPr id="4" name="kotak kode"/>
          <p:cNvSpPr txBox="1"/>
          <p:nvPr/>
        </p:nvSpPr>
        <p:spPr>
          <a:xfrm>
            <a:off x="548640" y="1371600"/>
            <a:ext cx="7132320" cy="4107942"/>
          </a:xfrm>
          <a:prstGeom prst="roundRect">
            <a:avLst>
              <a:gd name="adj" fmla="val 2226"/>
            </a:avLst>
          </a:prstGeom>
          <a:solidFill>
            <a:srgbClr val="0E1A2B"/>
          </a:solidFill>
          <a:ln/>
        </p:spPr>
        <p:txBody>
          <a:bodyPr wrap="square" lIns="177800" tIns="152400" rIns="152400" bIns="177800" rtlCol="0" anchor="t"/>
          <a:lstStyle/>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testWidgets(</a:t>
            </a:r>
            <a:r>
              <a:rPr lang="en-US" sz="1050" dirty="0">
                <a:solidFill>
                  <a:srgbClr val="C3E88D"/>
                </a:solidFill>
                <a:latin typeface="Consolas" pitchFamily="34" charset="0"/>
                <a:ea typeface="Consolas" pitchFamily="34" charset="-122"/>
                <a:cs typeface="Consolas" pitchFamily="34" charset="-120"/>
              </a:rPr>
              <a:t>'tombol Ajukan MATI selama menyimpan'</a:t>
            </a: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FCB6B"/>
                </a:solidFill>
                <a:latin typeface="Consolas" pitchFamily="34" charset="0"/>
                <a:ea typeface="Consolas" pitchFamily="34" charset="-122"/>
                <a:cs typeface="Consolas" pitchFamily="34" charset="-120"/>
              </a:rPr>
              <a:t>WidgetTester</a:t>
            </a:r>
            <a:r>
              <a:rPr lang="en-US" sz="1050" dirty="0">
                <a:solidFill>
                  <a:srgbClr val="E6EDF3"/>
                </a:solidFill>
                <a:latin typeface="Consolas" pitchFamily="34" charset="0"/>
                <a:ea typeface="Consolas" pitchFamily="34" charset="-122"/>
                <a:cs typeface="Consolas" pitchFamily="34" charset="-120"/>
              </a:rPr>
              <a:t> tester,</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async</a:t>
            </a: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await</a:t>
            </a:r>
            <a:r>
              <a:rPr lang="en-US" sz="1050" dirty="0">
                <a:solidFill>
                  <a:srgbClr val="E6EDF3"/>
                </a:solidFill>
                <a:latin typeface="Consolas" pitchFamily="34" charset="0"/>
                <a:ea typeface="Consolas" pitchFamily="34" charset="-122"/>
                <a:cs typeface="Consolas" pitchFamily="34" charset="-120"/>
              </a:rPr>
              <a:t> pasang(tester);</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await</a:t>
            </a:r>
            <a:r>
              <a:rPr lang="en-US" sz="1050" dirty="0">
                <a:solidFill>
                  <a:srgbClr val="E6EDF3"/>
                </a:solidFill>
                <a:latin typeface="Consolas" pitchFamily="34" charset="0"/>
                <a:ea typeface="Consolas" pitchFamily="34" charset="-122"/>
                <a:cs typeface="Consolas" pitchFamily="34" charset="-120"/>
              </a:rPr>
              <a:t> isiFormulir(tester, peserta: </a:t>
            </a:r>
            <a:r>
              <a:rPr lang="en-US" sz="1050" dirty="0">
                <a:solidFill>
                  <a:srgbClr val="C3E88D"/>
                </a:solidFill>
                <a:latin typeface="Consolas" pitchFamily="34" charset="0"/>
                <a:ea typeface="Consolas" pitchFamily="34" charset="-122"/>
                <a:cs typeface="Consolas" pitchFamily="34" charset="-120"/>
              </a:rPr>
              <a:t>'8'</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repositori.penahan = </a:t>
            </a:r>
            <a:r>
              <a:rPr lang="en-US" sz="1050" dirty="0">
                <a:solidFill>
                  <a:srgbClr val="FFCB6B"/>
                </a:solidFill>
                <a:latin typeface="Consolas" pitchFamily="34" charset="0"/>
                <a:ea typeface="Consolas" pitchFamily="34" charset="-122"/>
                <a:cs typeface="Consolas" pitchFamily="34" charset="-120"/>
              </a:rPr>
              <a:t>Completer</a:t>
            </a:r>
            <a:r>
              <a:rPr lang="en-US" sz="1050" dirty="0">
                <a:solidFill>
                  <a:srgbClr val="E6EDF3"/>
                </a:solidFill>
                <a:latin typeface="Consolas" pitchFamily="34" charset="0"/>
                <a:ea typeface="Consolas" pitchFamily="34" charset="-122"/>
                <a:cs typeface="Consolas" pitchFamily="34" charset="-120"/>
              </a:rPr>
              <a:t>&lt;</a:t>
            </a:r>
            <a:r>
              <a:rPr lang="en-US" sz="1050" dirty="0">
                <a:solidFill>
                  <a:srgbClr val="C792EA"/>
                </a:solidFill>
                <a:latin typeface="Consolas" pitchFamily="34" charset="0"/>
                <a:ea typeface="Consolas" pitchFamily="34" charset="-122"/>
                <a:cs typeface="Consolas" pitchFamily="34" charset="-120"/>
              </a:rPr>
              <a:t>void</a:t>
            </a:r>
            <a:r>
              <a:rPr lang="en-US" sz="1050" dirty="0">
                <a:solidFill>
                  <a:srgbClr val="E6EDF3"/>
                </a:solidFill>
                <a:latin typeface="Consolas" pitchFamily="34" charset="0"/>
                <a:ea typeface="Consolas" pitchFamily="34" charset="-122"/>
                <a:cs typeface="Consolas" pitchFamily="34" charset="-120"/>
              </a:rPr>
              <a:t>&gt;();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await</a:t>
            </a:r>
            <a:r>
              <a:rPr lang="en-US" sz="1050" dirty="0">
                <a:solidFill>
                  <a:srgbClr val="E6EDF3"/>
                </a:solidFill>
                <a:latin typeface="Consolas" pitchFamily="34" charset="0"/>
                <a:ea typeface="Consolas" pitchFamily="34" charset="-122"/>
                <a:cs typeface="Consolas" pitchFamily="34" charset="-120"/>
              </a:rPr>
              <a:t> tester.tap(tombol(</a:t>
            </a:r>
            <a:r>
              <a:rPr lang="en-US" sz="1050" dirty="0">
                <a:solidFill>
                  <a:srgbClr val="C3E88D"/>
                </a:solidFill>
                <a:latin typeface="Consolas" pitchFamily="34" charset="0"/>
                <a:ea typeface="Consolas" pitchFamily="34" charset="-122"/>
                <a:cs typeface="Consolas" pitchFamily="34" charset="-120"/>
              </a:rPr>
              <a:t>'Ajukan'</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await</a:t>
            </a:r>
            <a:r>
              <a:rPr lang="en-US" sz="1050" dirty="0">
                <a:solidFill>
                  <a:srgbClr val="E6EDF3"/>
                </a:solidFill>
                <a:latin typeface="Consolas" pitchFamily="34" charset="0"/>
                <a:ea typeface="Consolas" pitchFamily="34" charset="-122"/>
                <a:cs typeface="Consolas" pitchFamily="34" charset="-120"/>
              </a:rPr>
              <a:t> tester.pump(); </a:t>
            </a:r>
            <a:r>
              <a:rPr lang="en-US" sz="1050" i="1" dirty="0">
                <a:solidFill>
                  <a:srgbClr val="8FA3BC"/>
                </a:solidFill>
                <a:latin typeface="Consolas" pitchFamily="34" charset="0"/>
                <a:ea typeface="Consolas" pitchFamily="34" charset="-122"/>
                <a:cs typeface="Consolas" pitchFamily="34" charset="-120"/>
              </a:rPr>
              <a:t>// satu gambar: keadaan "sedang menyimpan"</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expect(aktif(tester, tombol(</a:t>
            </a:r>
            <a:r>
              <a:rPr lang="en-US" sz="1050" dirty="0">
                <a:solidFill>
                  <a:srgbClr val="C3E88D"/>
                </a:solidFill>
                <a:latin typeface="Consolas" pitchFamily="34" charset="0"/>
                <a:ea typeface="Consolas" pitchFamily="34" charset="-122"/>
                <a:cs typeface="Consolas" pitchFamily="34" charset="-120"/>
              </a:rPr>
              <a:t>'Ajukan'</a:t>
            </a:r>
            <a:r>
              <a:rPr lang="en-US" sz="1050" dirty="0">
                <a:solidFill>
                  <a:srgbClr val="E6EDF3"/>
                </a:solidFill>
                <a:latin typeface="Consolas" pitchFamily="34" charset="0"/>
                <a:ea typeface="Consolas" pitchFamily="34" charset="-122"/>
                <a:cs typeface="Consolas" pitchFamily="34" charset="-120"/>
              </a:rPr>
              <a:t>)), isFalse);</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i="1" dirty="0">
                <a:solidFill>
                  <a:srgbClr val="8FA3BC"/>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i="1" dirty="0">
                <a:solidFill>
                  <a:srgbClr val="8FA3BC"/>
                </a:solidFill>
                <a:latin typeface="Consolas" pitchFamily="34" charset="0"/>
                <a:ea typeface="Consolas" pitchFamily="34" charset="-122"/>
                <a:cs typeface="Consolas" pitchFamily="34" charset="-120"/>
              </a:rPr>
              <a:t>// Ketukan kedua pada tombol yang mati diabaikan.</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await</a:t>
            </a:r>
            <a:r>
              <a:rPr lang="en-US" sz="1050" dirty="0">
                <a:solidFill>
                  <a:srgbClr val="E6EDF3"/>
                </a:solidFill>
                <a:latin typeface="Consolas" pitchFamily="34" charset="0"/>
                <a:ea typeface="Consolas" pitchFamily="34" charset="-122"/>
                <a:cs typeface="Consolas" pitchFamily="34" charset="-120"/>
              </a:rPr>
              <a:t> tester.tap(tombol(</a:t>
            </a:r>
            <a:r>
              <a:rPr lang="en-US" sz="1050" dirty="0">
                <a:solidFill>
                  <a:srgbClr val="C3E88D"/>
                </a:solidFill>
                <a:latin typeface="Consolas" pitchFamily="34" charset="0"/>
                <a:ea typeface="Consolas" pitchFamily="34" charset="-122"/>
                <a:cs typeface="Consolas" pitchFamily="34" charset="-120"/>
              </a:rPr>
              <a:t>'Ajukan'</a:t>
            </a:r>
            <a:r>
              <a:rPr lang="en-US" sz="1050" dirty="0">
                <a:solidFill>
                  <a:srgbClr val="E6EDF3"/>
                </a:solidFill>
                <a:latin typeface="Consolas" pitchFamily="34" charset="0"/>
                <a:ea typeface="Consolas" pitchFamily="34" charset="-122"/>
                <a:cs typeface="Consolas" pitchFamily="34" charset="-120"/>
              </a:rPr>
              <a:t>), warnIfMissed: </a:t>
            </a:r>
            <a:r>
              <a:rPr lang="en-US" sz="1050" dirty="0">
                <a:solidFill>
                  <a:srgbClr val="C792EA"/>
                </a:solidFill>
                <a:latin typeface="Consolas" pitchFamily="34" charset="0"/>
                <a:ea typeface="Consolas" pitchFamily="34" charset="-122"/>
                <a:cs typeface="Consolas" pitchFamily="34" charset="-120"/>
              </a:rPr>
              <a:t>false</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await</a:t>
            </a:r>
            <a:r>
              <a:rPr lang="en-US" sz="1050" dirty="0">
                <a:solidFill>
                  <a:srgbClr val="E6EDF3"/>
                </a:solidFill>
                <a:latin typeface="Consolas" pitchFamily="34" charset="0"/>
                <a:ea typeface="Consolas" pitchFamily="34" charset="-122"/>
                <a:cs typeface="Consolas" pitchFamily="34" charset="-120"/>
              </a:rPr>
              <a:t> tester.pump();</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expect(repositori.jumlahSimpan, </a:t>
            </a:r>
            <a:r>
              <a:rPr lang="en-US" sz="1050" dirty="0">
                <a:solidFill>
                  <a:srgbClr val="F78C6C"/>
                </a:solidFill>
                <a:latin typeface="Consolas" pitchFamily="34" charset="0"/>
                <a:ea typeface="Consolas" pitchFamily="34" charset="-122"/>
                <a:cs typeface="Consolas" pitchFamily="34" charset="-120"/>
              </a:rPr>
              <a:t>1</a:t>
            </a: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repositori.penahan!.complete(); </a:t>
            </a:r>
            <a:r>
              <a:rPr lang="en-US" sz="1050" i="1" dirty="0">
                <a:solidFill>
                  <a:srgbClr val="8FA3BC"/>
                </a:solidFill>
                <a:latin typeface="Consolas" pitchFamily="34" charset="0"/>
                <a:ea typeface="Consolas" pitchFamily="34" charset="-122"/>
                <a:cs typeface="Consolas" pitchFamily="34" charset="-120"/>
              </a:rPr>
              <a:t>// "server" selesai menyimpan</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C792EA"/>
                </a:solidFill>
                <a:latin typeface="Consolas" pitchFamily="34" charset="0"/>
                <a:ea typeface="Consolas" pitchFamily="34" charset="-122"/>
                <a:cs typeface="Consolas" pitchFamily="34" charset="-120"/>
              </a:rPr>
              <a:t>await</a:t>
            </a:r>
            <a:r>
              <a:rPr lang="en-US" sz="1050" dirty="0">
                <a:solidFill>
                  <a:srgbClr val="E6EDF3"/>
                </a:solidFill>
                <a:latin typeface="Consolas" pitchFamily="34" charset="0"/>
                <a:ea typeface="Consolas" pitchFamily="34" charset="-122"/>
                <a:cs typeface="Consolas" pitchFamily="34" charset="-120"/>
              </a:rPr>
              <a:t> tester.pumpAndSettle();</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expect(find.textContaining(</a:t>
            </a:r>
            <a:r>
              <a:rPr lang="en-US" sz="1050" dirty="0">
                <a:solidFill>
                  <a:srgbClr val="C3E88D"/>
                </a:solidFill>
                <a:latin typeface="Consolas" pitchFamily="34" charset="0"/>
                <a:ea typeface="Consolas" pitchFamily="34" charset="-122"/>
                <a:cs typeface="Consolas" pitchFamily="34" charset="-120"/>
              </a:rPr>
              <a:t>'Peminjaman PJ-001 tercatat'</a:t>
            </a:r>
            <a:r>
              <a:rPr lang="en-US" sz="1050" dirty="0">
                <a:solidFill>
                  <a:srgbClr val="E6EDF3"/>
                </a:solidFill>
                <a:latin typeface="Consolas" pitchFamily="34" charset="0"/>
                <a:ea typeface="Consolas" pitchFamily="34" charset="-122"/>
                <a:cs typeface="Consolas" pitchFamily="34" charset="-120"/>
              </a:rPr>
              <a:t>), findsOneWidget);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p:txBody>
      </p:sp>
      <p:sp>
        <p:nvSpPr>
          <p:cNvPr id="5" name="tombol tautan">
            <a:hlinkClick r:id="rId1" tooltip="https://github.com/antonprafanto/mobile2026/blob/main/pertemuan_14_pengujian_dan_debugging/kode/contoh_08_studi_kasus_menguji_pinjam_ruang_test.dart"/>
          </p:cNvPr>
          <p:cNvSpPr txBox="1"/>
          <p:nvPr/>
        </p:nvSpPr>
        <p:spPr>
          <a:xfrm>
            <a:off x="548640" y="5708142"/>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contoh_08_studi_kasus_menguji_pinjam_ruang_test.dart</a:t>
            </a:r>
            <a:endParaRPr lang="en-US" sz="1300" dirty="0"/>
          </a:p>
        </p:txBody>
      </p:sp>
      <p:pic>
        <p:nvPicPr>
          <p:cNvPr id="6" name="Image 0" descr="ikon tautan">
            <a:hlinkClick r:id="rId3" tooltip="https://github.com/antonprafanto/mobile2026/blob/main/pertemuan_14_pengujian_dan_debugging/kode/contoh_08_studi_kasus_menguji_pinjam_ruang_test.dart"/>
          </p:cNvPr>
          <p:cNvPicPr>
            <a:picLocks noChangeAspect="1"/>
          </p:cNvPicPr>
          <p:nvPr/>
        </p:nvPicPr>
        <p:blipFill>
          <a:blip r:embed="rId2"/>
          <a:stretch>
            <a:fillRect/>
          </a:stretch>
        </p:blipFill>
        <p:spPr>
          <a:xfrm>
            <a:off x="694944" y="5799582"/>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tombol(teks): tombol yang MEMBUNGKUS tulisan itu (find.ancestor).</a:t>
            </a:r>
            <a:endParaRPr lang="en-US" sz="1700" dirty="0"/>
          </a:p>
          <a:p>
            <a:pPr marL="228600" indent="-228600">
              <a:spcAft>
                <a:spcPts val="800"/>
              </a:spcAft>
              <a:buSzPct val="100000"/>
              <a:buChar char="•"/>
            </a:pPr>
            <a:r>
              <a:rPr lang="en-US" sz="1700" dirty="0">
                <a:solidFill>
                  <a:schemeClr val="tx1"/>
                </a:solidFill>
              </a:rPr>
              <a:t>aktif(...): membaca .enabled tombol (Bagian 7.3).</a:t>
            </a:r>
            <a:endParaRPr lang="en-US" sz="1700" dirty="0"/>
          </a:p>
          <a:p>
            <a:pPr marL="228600" indent="-228600">
              <a:spcAft>
                <a:spcPts val="800"/>
              </a:spcAft>
              <a:buSzPct val="100000"/>
              <a:buChar char="•"/>
            </a:pPr>
            <a:r>
              <a:rPr lang="en-US" sz="1700" dirty="0">
                <a:solidFill>
                  <a:schemeClr val="tx1"/>
                </a:solidFill>
              </a:rPr>
              <a:t>Ketukan kedua diabaikan: jumlahSimpan tetap 1.</a:t>
            </a:r>
            <a:endParaRPr lang="en-US" sz="1700" dirty="0"/>
          </a:p>
          <a:p>
            <a:pPr marL="228600" indent="-228600">
              <a:spcAft>
                <a:spcPts val="800"/>
              </a:spcAft>
              <a:buSzPct val="100000"/>
              <a:buChar char="•"/>
            </a:pPr>
            <a:r>
              <a:rPr lang="en-US" sz="1700" dirty="0">
                <a:solidFill>
                  <a:schemeClr val="tx1"/>
                </a:solidFill>
              </a:rPr>
              <a:t>Setelah complete(): "Peminjaman PJ-001 tercatat".</a:t>
            </a:r>
            <a:endParaRPr lang="en-US" sz="1700" dirty="0"/>
          </a:p>
          <a:p>
            <a:pPr marL="228600" indent="-228600">
              <a:spcAft>
                <a:spcPts val="800"/>
              </a:spcAft>
              <a:buSzPct val="100000"/>
              <a:buChar char="•"/>
            </a:pPr>
            <a:r>
              <a:rPr lang="en-US" sz="1700" dirty="0">
                <a:solidFill>
                  <a:schemeClr val="tx1"/>
                </a:solidFill>
              </a:rPr>
              <a:t>Jebakan: Future.delayed + pump() tanpa durasi → simpan() belum terpanggil.</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Satu Tes untuk Seluruh Alur</a:t>
            </a:r>
            <a:endParaRPr lang="en-US" sz="3200" dirty="0"/>
          </a:p>
        </p:txBody>
      </p:sp>
      <p:sp>
        <p:nvSpPr>
          <p:cNvPr id="4" name="kotak kode"/>
          <p:cNvSpPr txBox="1"/>
          <p:nvPr/>
        </p:nvSpPr>
        <p:spPr>
          <a:xfrm>
            <a:off x="548640" y="1371600"/>
            <a:ext cx="7132320" cy="3539871"/>
          </a:xfrm>
          <a:prstGeom prst="roundRect">
            <a:avLst>
              <a:gd name="adj" fmla="val 2583"/>
            </a:avLst>
          </a:prstGeom>
          <a:solidFill>
            <a:srgbClr val="0E1A2B"/>
          </a:solidFill>
          <a:ln/>
        </p:spPr>
        <p:txBody>
          <a:bodyPr wrap="square" lIns="177800" tIns="152400" rIns="152400" bIns="177800" rtlCol="0" anchor="t"/>
          <a:lstStyle/>
          <a:p>
            <a:pPr indent="0" marL="0">
              <a:lnSpc>
                <a:spcPct val="105000"/>
              </a:lnSpc>
              <a:buNone/>
            </a:pPr>
            <a:r>
              <a:rPr lang="en-US" sz="1150" dirty="0">
                <a:solidFill>
                  <a:srgbClr val="C792EA"/>
                </a:solidFill>
                <a:latin typeface="Consolas" pitchFamily="34" charset="0"/>
                <a:ea typeface="Consolas" pitchFamily="34" charset="-122"/>
                <a:cs typeface="Consolas" pitchFamily="34" charset="-120"/>
              </a:rPr>
              <a:t>await</a:t>
            </a:r>
            <a:r>
              <a:rPr lang="en-US" sz="1150" dirty="0">
                <a:solidFill>
                  <a:srgbClr val="E6EDF3"/>
                </a:solidFill>
                <a:latin typeface="Consolas" pitchFamily="34" charset="0"/>
                <a:ea typeface="Consolas" pitchFamily="34" charset="-122"/>
                <a:cs typeface="Consolas" pitchFamily="34" charset="-120"/>
              </a:rPr>
              <a:t> tester.pumpWidget(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MultiProvider</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providers: buatPenyedia(</a:t>
            </a:r>
            <a:r>
              <a:rPr lang="en-US" sz="1150" dirty="0">
                <a:solidFill>
                  <a:srgbClr val="FFCB6B"/>
                </a:solidFill>
                <a:latin typeface="Consolas" pitchFamily="34" charset="0"/>
                <a:ea typeface="Consolas" pitchFamily="34" charset="-122"/>
                <a:cs typeface="Consolas" pitchFamily="34" charset="-120"/>
              </a:rPr>
              <a:t>Lingkungan</a:t>
            </a:r>
            <a:r>
              <a:rPr lang="en-US" sz="1150" dirty="0">
                <a:solidFill>
                  <a:srgbClr val="E6EDF3"/>
                </a:solidFill>
                <a:latin typeface="Consolas" pitchFamily="34" charset="0"/>
                <a:ea typeface="Consolas" pitchFamily="34" charset="-122"/>
                <a:cs typeface="Consolas" pitchFamily="34" charset="-120"/>
              </a:rPr>
              <a:t>.pengembangan),</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child: </a:t>
            </a:r>
            <a:r>
              <a:rPr lang="en-US" sz="1150" dirty="0">
                <a:solidFill>
                  <a:srgbClr val="C792EA"/>
                </a:solidFill>
                <a:latin typeface="Consolas" pitchFamily="34" charset="0"/>
                <a:ea typeface="Consolas" pitchFamily="34" charset="-122"/>
                <a:cs typeface="Consolas" pitchFamily="34" charset="-120"/>
              </a:rPr>
              <a:t>const</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AplikasiPinjamRuang</a:t>
            </a:r>
            <a:r>
              <a:rPr lang="en-US" sz="1150" dirty="0">
                <a:solidFill>
                  <a:srgbClr val="E6EDF3"/>
                </a:solidFill>
                <a:latin typeface="Consolas" pitchFamily="34" charset="0"/>
                <a:ea typeface="Consolas" pitchFamily="34" charset="-122"/>
                <a:cs typeface="Consolas" pitchFamily="34" charset="-120"/>
              </a:rPr>
              <a:t>(lingkungan: </a:t>
            </a:r>
            <a:r>
              <a:rPr lang="en-US" sz="1150" dirty="0">
                <a:solidFill>
                  <a:srgbClr val="FFCB6B"/>
                </a:solidFill>
                <a:latin typeface="Consolas" pitchFamily="34" charset="0"/>
                <a:ea typeface="Consolas" pitchFamily="34" charset="-122"/>
                <a:cs typeface="Consolas" pitchFamily="34" charset="-120"/>
              </a:rPr>
              <a:t>Lingkungan</a:t>
            </a:r>
            <a:r>
              <a:rPr lang="en-US" sz="1150" dirty="0">
                <a:solidFill>
                  <a:srgbClr val="E6EDF3"/>
                </a:solidFill>
                <a:latin typeface="Consolas" pitchFamily="34" charset="0"/>
                <a:ea typeface="Consolas" pitchFamily="34" charset="-122"/>
                <a:cs typeface="Consolas" pitchFamily="34" charset="-120"/>
              </a:rPr>
              <a:t>.pengembangan),</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C792EA"/>
                </a:solidFill>
                <a:latin typeface="Consolas" pitchFamily="34" charset="0"/>
                <a:ea typeface="Consolas" pitchFamily="34" charset="-122"/>
                <a:cs typeface="Consolas" pitchFamily="34" charset="-120"/>
              </a:rPr>
              <a:t>await</a:t>
            </a:r>
            <a:r>
              <a:rPr lang="en-US" sz="1150" dirty="0">
                <a:solidFill>
                  <a:srgbClr val="E6EDF3"/>
                </a:solidFill>
                <a:latin typeface="Consolas" pitchFamily="34" charset="0"/>
                <a:ea typeface="Consolas" pitchFamily="34" charset="-122"/>
                <a:cs typeface="Consolas" pitchFamily="34" charset="-120"/>
              </a:rPr>
              <a:t> tester.pumpAndSettle();</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i="1" dirty="0">
                <a:solidFill>
                  <a:srgbClr val="8FA3BC"/>
                </a:solidFill>
                <a:latin typeface="Consolas" pitchFamily="34" charset="0"/>
                <a:ea typeface="Consolas" pitchFamily="34" charset="-122"/>
                <a:cs typeface="Consolas" pitchFamily="34" charset="-120"/>
              </a:rPr>
              <a:t>// 1. Ruang Diskusi C.110 berada di bawah: gulir dulu, baru ketuk.</a:t>
            </a:r>
            <a:endParaRPr lang="en-US" sz="1150" dirty="0"/>
          </a:p>
          <a:p>
            <a:pPr indent="0" marL="0">
              <a:lnSpc>
                <a:spcPct val="105000"/>
              </a:lnSpc>
              <a:buNone/>
            </a:pPr>
            <a:r>
              <a:rPr lang="en-US" sz="1150" dirty="0">
                <a:solidFill>
                  <a:srgbClr val="C792EA"/>
                </a:solidFill>
                <a:latin typeface="Consolas" pitchFamily="34" charset="0"/>
                <a:ea typeface="Consolas" pitchFamily="34" charset="-122"/>
                <a:cs typeface="Consolas" pitchFamily="34" charset="-120"/>
              </a:rPr>
              <a:t>await</a:t>
            </a:r>
            <a:r>
              <a:rPr lang="en-US" sz="1150" dirty="0">
                <a:solidFill>
                  <a:srgbClr val="E6EDF3"/>
                </a:solidFill>
                <a:latin typeface="Consolas" pitchFamily="34" charset="0"/>
                <a:ea typeface="Consolas" pitchFamily="34" charset="-122"/>
                <a:cs typeface="Consolas" pitchFamily="34" charset="-120"/>
              </a:rPr>
              <a:t> tester.scrollUntilVisible(find.text(</a:t>
            </a:r>
            <a:r>
              <a:rPr lang="en-US" sz="1150" dirty="0">
                <a:solidFill>
                  <a:srgbClr val="C3E88D"/>
                </a:solidFill>
                <a:latin typeface="Consolas" pitchFamily="34" charset="0"/>
                <a:ea typeface="Consolas" pitchFamily="34" charset="-122"/>
                <a:cs typeface="Consolas" pitchFamily="34" charset="-120"/>
              </a:rPr>
              <a:t>'Ruang Diskusi C.110'</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78C6C"/>
                </a:solidFill>
                <a:latin typeface="Consolas" pitchFamily="34" charset="0"/>
                <a:ea typeface="Consolas" pitchFamily="34" charset="-122"/>
                <a:cs typeface="Consolas" pitchFamily="34" charset="-120"/>
              </a:rPr>
              <a:t>100</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C792EA"/>
                </a:solidFill>
                <a:latin typeface="Consolas" pitchFamily="34" charset="0"/>
                <a:ea typeface="Consolas" pitchFamily="34" charset="-122"/>
                <a:cs typeface="Consolas" pitchFamily="34" charset="-120"/>
              </a:rPr>
              <a:t>await</a:t>
            </a:r>
            <a:r>
              <a:rPr lang="en-US" sz="1150" dirty="0">
                <a:solidFill>
                  <a:srgbClr val="E6EDF3"/>
                </a:solidFill>
                <a:latin typeface="Consolas" pitchFamily="34" charset="0"/>
                <a:ea typeface="Consolas" pitchFamily="34" charset="-122"/>
                <a:cs typeface="Consolas" pitchFamily="34" charset="-120"/>
              </a:rPr>
              <a:t> tester.pumpAndSettle();</a:t>
            </a:r>
            <a:endParaRPr lang="en-US" sz="1150" dirty="0"/>
          </a:p>
          <a:p>
            <a:pPr indent="0" marL="0">
              <a:lnSpc>
                <a:spcPct val="105000"/>
              </a:lnSpc>
              <a:buNone/>
            </a:pPr>
            <a:r>
              <a:rPr lang="en-US" sz="1150" dirty="0">
                <a:solidFill>
                  <a:srgbClr val="C792EA"/>
                </a:solidFill>
                <a:latin typeface="Consolas" pitchFamily="34" charset="0"/>
                <a:ea typeface="Consolas" pitchFamily="34" charset="-122"/>
                <a:cs typeface="Consolas" pitchFamily="34" charset="-120"/>
              </a:rPr>
              <a:t>await</a:t>
            </a:r>
            <a:r>
              <a:rPr lang="en-US" sz="1150" dirty="0">
                <a:solidFill>
                  <a:srgbClr val="E6EDF3"/>
                </a:solidFill>
                <a:latin typeface="Consolas" pitchFamily="34" charset="0"/>
                <a:ea typeface="Consolas" pitchFamily="34" charset="-122"/>
                <a:cs typeface="Consolas" pitchFamily="34" charset="-120"/>
              </a:rPr>
              <a:t> tester.tap(find.text(</a:t>
            </a:r>
            <a:r>
              <a:rPr lang="en-US" sz="1150" dirty="0">
                <a:solidFill>
                  <a:srgbClr val="C3E88D"/>
                </a:solidFill>
                <a:latin typeface="Consolas" pitchFamily="34" charset="0"/>
                <a:ea typeface="Consolas" pitchFamily="34" charset="-122"/>
                <a:cs typeface="Consolas" pitchFamily="34" charset="-120"/>
              </a:rPr>
              <a:t>'Ruang Diskusi C.110'</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C792EA"/>
                </a:solidFill>
                <a:latin typeface="Consolas" pitchFamily="34" charset="0"/>
                <a:ea typeface="Consolas" pitchFamily="34" charset="-122"/>
                <a:cs typeface="Consolas" pitchFamily="34" charset="-120"/>
              </a:rPr>
              <a:t>await</a:t>
            </a:r>
            <a:r>
              <a:rPr lang="en-US" sz="1150" dirty="0">
                <a:solidFill>
                  <a:srgbClr val="E6EDF3"/>
                </a:solidFill>
                <a:latin typeface="Consolas" pitchFamily="34" charset="0"/>
                <a:ea typeface="Consolas" pitchFamily="34" charset="-122"/>
                <a:cs typeface="Consolas" pitchFamily="34" charset="-120"/>
              </a:rPr>
              <a:t> tester.pumpAndSettle();</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i="1" dirty="0">
                <a:solidFill>
                  <a:srgbClr val="8FA3BC"/>
                </a:solidFill>
                <a:latin typeface="Consolas" pitchFamily="34" charset="0"/>
                <a:ea typeface="Consolas" pitchFamily="34" charset="-122"/>
                <a:cs typeface="Consolas" pitchFamily="34" charset="-120"/>
              </a:rPr>
              <a:t>// 2. Pilih hari kerja BERIKUTNYA, 3. isi formulir, ajukan, ...</a:t>
            </a:r>
            <a:endParaRPr lang="en-US" sz="1150" dirty="0"/>
          </a:p>
          <a:p>
            <a:pPr indent="0" marL="0">
              <a:lnSpc>
                <a:spcPct val="105000"/>
              </a:lnSpc>
              <a:buNone/>
            </a:pPr>
            <a:r>
              <a:rPr lang="en-US" sz="1150" i="1" dirty="0">
                <a:solidFill>
                  <a:srgbClr val="8FA3BC"/>
                </a:solidFill>
                <a:latin typeface="Consolas" pitchFamily="34" charset="0"/>
                <a:ea typeface="Consolas" pitchFamily="34" charset="-122"/>
                <a:cs typeface="Consolas" pitchFamily="34" charset="-120"/>
              </a:rPr>
              <a:t>// 4. Kembali, buka tab Peminjaman Saya, periksa isinya.</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expect(find.textContaining(</a:t>
            </a:r>
            <a:r>
              <a:rPr lang="en-US" sz="1150" dirty="0">
                <a:solidFill>
                  <a:srgbClr val="C3E88D"/>
                </a:solidFill>
                <a:latin typeface="Consolas" pitchFamily="34" charset="0"/>
                <a:ea typeface="Consolas" pitchFamily="34" charset="-122"/>
                <a:cs typeface="Consolas" pitchFamily="34" charset="-120"/>
              </a:rPr>
              <a:t>'2 dari 2 peminjaman aktif'</a:t>
            </a:r>
            <a:r>
              <a:rPr lang="en-US" sz="1150" dirty="0">
                <a:solidFill>
                  <a:srgbClr val="E6EDF3"/>
                </a:solidFill>
                <a:latin typeface="Consolas" pitchFamily="34" charset="0"/>
                <a:ea typeface="Consolas" pitchFamily="34" charset="-122"/>
                <a:cs typeface="Consolas" pitchFamily="34" charset="-120"/>
              </a:rPr>
              <a:t>), findsOneWidget);</a:t>
            </a:r>
            <a:endParaRPr lang="en-US" sz="1150" dirty="0"/>
          </a:p>
        </p:txBody>
      </p:sp>
      <p:sp>
        <p:nvSpPr>
          <p:cNvPr id="5" name="tombol tautan">
            <a:hlinkClick r:id="rId1" tooltip="https://github.com/antonprafanto/mobile2026/blob/main/pertemuan_14_pengujian_dan_debugging/kode/contoh_08_studi_kasus_menguji_pinjam_ruang_test.dart"/>
          </p:cNvPr>
          <p:cNvSpPr txBox="1"/>
          <p:nvPr/>
        </p:nvSpPr>
        <p:spPr>
          <a:xfrm>
            <a:off x="548640" y="5140071"/>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contoh_08_studi_kasus_menguji_pinjam_ruang_test.dart</a:t>
            </a:r>
            <a:endParaRPr lang="en-US" sz="1300" dirty="0"/>
          </a:p>
        </p:txBody>
      </p:sp>
      <p:pic>
        <p:nvPicPr>
          <p:cNvPr id="6" name="Image 0" descr="ikon tautan">
            <a:hlinkClick r:id="rId3" tooltip="https://github.com/antonprafanto/mobile2026/blob/main/pertemuan_14_pengujian_dan_debugging/kode/contoh_08_studi_kasus_menguji_pinjam_ruang_test.dart"/>
          </p:cNvPr>
          <p:cNvPicPr>
            <a:picLocks noChangeAspect="1"/>
          </p:cNvPicPr>
          <p:nvPr/>
        </p:nvPicPr>
        <p:blipFill>
          <a:blip r:embed="rId2"/>
          <a:stretch>
            <a:fillRect/>
          </a:stretch>
        </p:blipFill>
        <p:spPr>
          <a:xfrm>
            <a:off x="694944" y="5231511"/>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Akar komposisi yang SAMA dengan aplikasi (lingkungan pengembangan P12).</a:t>
            </a:r>
            <a:endParaRPr lang="en-US" sz="1700" dirty="0"/>
          </a:p>
          <a:p>
            <a:pPr marL="228600" indent="-228600">
              <a:spcAft>
                <a:spcPts val="800"/>
              </a:spcAft>
              <a:buSzPct val="100000"/>
              <a:buChar char="•"/>
            </a:pPr>
            <a:r>
              <a:rPr lang="en-US" sz="1700" dirty="0">
                <a:solidFill>
                  <a:schemeClr val="tx1"/>
                </a:solidFill>
              </a:rPr>
              <a:t>Tes berperan sebagai pengguna dari awal sampai akhir.</a:t>
            </a:r>
            <a:endParaRPr lang="en-US" sz="1700" dirty="0"/>
          </a:p>
          <a:p>
            <a:pPr marL="228600" indent="-228600">
              <a:spcAft>
                <a:spcPts val="800"/>
              </a:spcAft>
              <a:buSzPct val="100000"/>
              <a:buChar char="•"/>
            </a:pPr>
            <a:r>
              <a:rPr lang="en-US" sz="1700" dirty="0">
                <a:solidFill>
                  <a:schemeClr val="tx1"/>
                </a:solidFill>
              </a:rPr>
              <a:t>pumpAndSettle() setelah scrollUntilVisible: tanpa itu, ketukan mendarat di posisi lama.</a:t>
            </a:r>
            <a:endParaRPr lang="en-US" sz="1700" dirty="0"/>
          </a:p>
          <a:p>
            <a:pPr marL="228600" indent="-228600">
              <a:spcAft>
                <a:spcPts val="800"/>
              </a:spcAft>
              <a:buSzPct val="100000"/>
              <a:buChar char="•"/>
            </a:pPr>
            <a:r>
              <a:rPr lang="en-US" sz="1700" dirty="0">
                <a:solidFill>
                  <a:schemeClr val="tx1"/>
                </a:solidFill>
              </a:rPr>
              <a:t>Contoh 08: 34 tes, selesai dalam belasan detik.</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10</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Debugging (1): Membaca Pesan Galat</a:t>
            </a:r>
            <a:endParaRPr lang="en-US" sz="4000" dirty="0"/>
          </a:p>
        </p:txBody>
      </p:sp>
      <p:sp>
        <p:nvSpPr>
          <p:cNvPr id="5" name="lingkaran galat"/>
          <p:cNvSpPr/>
          <p:nvPr/>
        </p:nvSpPr>
        <p:spPr>
          <a:xfrm>
            <a:off x="1097280" y="2148840"/>
            <a:ext cx="2011680" cy="2011680"/>
          </a:xfrm>
          <a:prstGeom prst="ellipse">
            <a:avLst/>
          </a:prstGeom>
          <a:solidFill>
            <a:schemeClr val="accent1"/>
          </a:solidFill>
          <a:ln/>
        </p:spPr>
      </p:sp>
      <p:pic>
        <p:nvPicPr>
          <p:cNvPr id="6" name="Image 0" descr="galat">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Tiga Wajah Bug: Kasir Kantin</a:t>
            </a:r>
            <a:endParaRPr lang="en-US" sz="32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916894"/>
                <a:gridCol w="4676158"/>
                <a:gridCol w="2292235"/>
                <a:gridCol w="3209128"/>
              </a:tblGrid>
              <a:tr h="8686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Gejala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Wajah bug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Petunjuk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Alat yang paling membantu</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8686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Layar merah: ketuk tombol + pada menu mana pun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Pesan galat dan stack trace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Membaca pesan galat, lalu debugger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8686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Angka salah tanpa galat: pesan tepat Rp50.000 (misalnya 2 Nasi Goreng), diskonnya Rp0</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Tidak ada pesan apa pun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Breakpoint bersyarat dan Debug Console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8686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Layar tidak berubah: ketik uang yang dibayar, kembalian tetap "-" sampai tombol lain diketuk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Tidak ada pesan apa pun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Logpoint dan breakpoint di build</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Siapkan: flutter create kasir_kantin, ganti lib/main.dart dengan Contoh 09, hapus test/widget_test.dart, pilih Chrome atau emulator, lalu tekan F5.</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Layar Merah: Baca Pesannya dari Atas</a:t>
            </a:r>
            <a:endParaRPr lang="en-US" sz="3200" dirty="0"/>
          </a:p>
        </p:txBody>
      </p:sp>
      <p:sp>
        <p:nvSpPr>
          <p:cNvPr id="4" name="kotak kode"/>
          <p:cNvSpPr txBox="1"/>
          <p:nvPr/>
        </p:nvSpPr>
        <p:spPr>
          <a:xfrm>
            <a:off x="548640" y="1371600"/>
            <a:ext cx="7863840" cy="3099816"/>
          </a:xfrm>
          <a:prstGeom prst="roundRect">
            <a:avLst>
              <a:gd name="adj" fmla="val 2950"/>
            </a:avLst>
          </a:prstGeom>
          <a:solidFill>
            <a:srgbClr val="0E1A2B"/>
          </a:solidFill>
          <a:ln/>
        </p:spPr>
        <p:txBody>
          <a:bodyPr wrap="square" lIns="177800" tIns="152400" rIns="152400" bIns="177800" rtlCol="0" anchor="t"/>
          <a:lstStyle/>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Exception caught by widgets library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The following IndexError was thrown building</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HalamanKasir(dirty, state: _HalamanKasirState</a:t>
            </a:r>
            <a:r>
              <a:rPr lang="en-US" sz="1050" i="1" dirty="0">
                <a:solidFill>
                  <a:srgbClr val="8FA3BC"/>
                </a:solidFill>
                <a:latin typeface="Consolas" pitchFamily="34" charset="0"/>
                <a:ea typeface="Consolas" pitchFamily="34" charset="-122"/>
                <a:cs typeface="Consolas" pitchFamily="34" charset="-120"/>
              </a:rPr>
              <a:t>#a41e2):</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RangeError (index): Index out of range: index should be less than </a:t>
            </a:r>
            <a:r>
              <a:rPr lang="en-US" sz="1050" dirty="0">
                <a:solidFill>
                  <a:srgbClr val="F78C6C"/>
                </a:solidFill>
                <a:latin typeface="Consolas" pitchFamily="34" charset="0"/>
                <a:ea typeface="Consolas" pitchFamily="34" charset="-122"/>
                <a:cs typeface="Consolas" pitchFamily="34" charset="-120"/>
              </a:rPr>
              <a:t>1</a:t>
            </a:r>
            <a:r>
              <a:rPr lang="en-US" sz="1050" dirty="0">
                <a:solidFill>
                  <a:srgbClr val="E6EDF3"/>
                </a:solidFill>
                <a:latin typeface="Consolas" pitchFamily="34" charset="0"/>
                <a:ea typeface="Consolas" pitchFamily="34" charset="-122"/>
                <a:cs typeface="Consolas" pitchFamily="34" charset="-120"/>
              </a:rPr>
              <a:t>: </a:t>
            </a:r>
            <a:r>
              <a:rPr lang="en-US" sz="1050" dirty="0">
                <a:solidFill>
                  <a:srgbClr val="F78C6C"/>
                </a:solidFill>
                <a:latin typeface="Consolas" pitchFamily="34" charset="0"/>
                <a:ea typeface="Consolas" pitchFamily="34" charset="-122"/>
                <a:cs typeface="Consolas" pitchFamily="34" charset="-120"/>
              </a:rPr>
              <a:t>1</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The relevant error-causing widget was:</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HalamanKasir HalamanKasir:file:///D:/kasir_kantin/lib/main.dart:</a:t>
            </a:r>
            <a:r>
              <a:rPr lang="en-US" sz="1050" dirty="0">
                <a:solidFill>
                  <a:srgbClr val="F78C6C"/>
                </a:solidFill>
                <a:latin typeface="Consolas" pitchFamily="34" charset="0"/>
                <a:ea typeface="Consolas" pitchFamily="34" charset="-122"/>
                <a:cs typeface="Consolas" pitchFamily="34" charset="-120"/>
              </a:rPr>
              <a:t>103</a:t>
            </a:r>
            <a:r>
              <a:rPr lang="en-US" sz="1050" dirty="0">
                <a:solidFill>
                  <a:srgbClr val="E6EDF3"/>
                </a:solidFill>
                <a:latin typeface="Consolas" pitchFamily="34" charset="0"/>
                <a:ea typeface="Consolas" pitchFamily="34" charset="-122"/>
                <a:cs typeface="Consolas" pitchFamily="34" charset="-120"/>
              </a:rPr>
              <a:t>:</a:t>
            </a:r>
            <a:r>
              <a:rPr lang="en-US" sz="1050" dirty="0">
                <a:solidFill>
                  <a:srgbClr val="F78C6C"/>
                </a:solidFill>
                <a:latin typeface="Consolas" pitchFamily="34" charset="0"/>
                <a:ea typeface="Consolas" pitchFamily="34" charset="-122"/>
                <a:cs typeface="Consolas" pitchFamily="34" charset="-120"/>
              </a:rPr>
              <a:t>19</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When the exception was thrown, this was the stack:</a:t>
            </a:r>
            <a:endParaRPr lang="en-US" sz="1050" dirty="0"/>
          </a:p>
          <a:p>
            <a:pPr indent="0" marL="0">
              <a:lnSpc>
                <a:spcPct val="105000"/>
              </a:lnSpc>
              <a:buNone/>
            </a:pPr>
            <a:r>
              <a:rPr lang="en-US" sz="1050" i="1" dirty="0">
                <a:solidFill>
                  <a:srgbClr val="8FA3BC"/>
                </a:solidFill>
                <a:latin typeface="Consolas" pitchFamily="34" charset="0"/>
                <a:ea typeface="Consolas" pitchFamily="34" charset="-122"/>
                <a:cs typeface="Consolas" pitchFamily="34" charset="-120"/>
              </a:rPr>
              <a:t>#0      List.[] (dart:core-patch/growable_array.dart)</a:t>
            </a:r>
            <a:endParaRPr lang="en-US" sz="1050" dirty="0"/>
          </a:p>
          <a:p>
            <a:pPr indent="0" marL="0">
              <a:lnSpc>
                <a:spcPct val="105000"/>
              </a:lnSpc>
              <a:buNone/>
            </a:pPr>
            <a:r>
              <a:rPr lang="en-US" sz="1050" i="1" dirty="0">
                <a:solidFill>
                  <a:srgbClr val="8FA3BC"/>
                </a:solidFill>
                <a:latin typeface="Consolas" pitchFamily="34" charset="0"/>
                <a:ea typeface="Consolas" pitchFamily="34" charset="-122"/>
                <a:cs typeface="Consolas" pitchFamily="34" charset="-120"/>
              </a:rPr>
              <a:t>#1      _HalamanKasirState._barisRincian (package:kasir_kantin/main.dart:164:42)</a:t>
            </a:r>
            <a:endParaRPr lang="en-US" sz="1050" dirty="0"/>
          </a:p>
          <a:p>
            <a:pPr indent="0" marL="0">
              <a:lnSpc>
                <a:spcPct val="105000"/>
              </a:lnSpc>
              <a:buNone/>
            </a:pPr>
            <a:r>
              <a:rPr lang="en-US" sz="1050" i="1" dirty="0">
                <a:solidFill>
                  <a:srgbClr val="8FA3BC"/>
                </a:solidFill>
                <a:latin typeface="Consolas" pitchFamily="34" charset="0"/>
                <a:ea typeface="Consolas" pitchFamily="34" charset="-122"/>
                <a:cs typeface="Consolas" pitchFamily="34" charset="-120"/>
              </a:rPr>
              <a:t>#2      _HalamanKasirState.build (package:kasir_kantin/main.dart:207:16)</a:t>
            </a:r>
            <a:endParaRPr lang="en-US" sz="1050" dirty="0"/>
          </a:p>
          <a:p>
            <a:pPr indent="0" marL="0">
              <a:lnSpc>
                <a:spcPct val="105000"/>
              </a:lnSpc>
              <a:buNone/>
            </a:pPr>
            <a:r>
              <a:rPr lang="en-US" sz="1050" i="1" dirty="0">
                <a:solidFill>
                  <a:srgbClr val="8FA3BC"/>
                </a:solidFill>
                <a:latin typeface="Consolas" pitchFamily="34" charset="0"/>
                <a:ea typeface="Consolas" pitchFamily="34" charset="-122"/>
                <a:cs typeface="Consolas" pitchFamily="34" charset="-120"/>
              </a:rPr>
              <a:t>#3      StatefulElement.build (package:flutter/src/widgets/framework.dart)</a:t>
            </a:r>
            <a:endParaRPr lang="en-US" sz="1050" dirty="0"/>
          </a:p>
          <a:p>
            <a:pPr indent="0" marL="0">
              <a:lnSpc>
                <a:spcPct val="105000"/>
              </a:lnSpc>
              <a:buNone/>
            </a:pPr>
            <a:r>
              <a:rPr lang="en-US" sz="1050" i="1" dirty="0">
                <a:solidFill>
                  <a:srgbClr val="8FA3BC"/>
                </a:solidFill>
                <a:latin typeface="Consolas" pitchFamily="34" charset="0"/>
                <a:ea typeface="Consolas" pitchFamily="34" charset="-122"/>
                <a:cs typeface="Consolas" pitchFamily="34" charset="-120"/>
              </a:rPr>
              <a:t>#4      ComponentElement.performRebuild (package:flutter/src/widgets/framework.dart)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p:txBody>
      </p:sp>
      <p:sp>
        <p:nvSpPr>
          <p:cNvPr id="5" name="tombol tautan">
            <a:hlinkClick r:id="rId1" tooltip="https://github.com/antonprafanto/mobile2026/blob/main/pertemuan_14_pengujian_dan_debugging/kode/contoh_09_mencari_bug_dengan_debugger.dart"/>
          </p:cNvPr>
          <p:cNvSpPr txBox="1"/>
          <p:nvPr/>
        </p:nvSpPr>
        <p:spPr>
          <a:xfrm>
            <a:off x="548640" y="4700016"/>
            <a:ext cx="78638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contoh_09_mencari_bug_dengan_debugger.dart</a:t>
            </a:r>
            <a:endParaRPr lang="en-US" sz="1300" dirty="0"/>
          </a:p>
        </p:txBody>
      </p:sp>
      <p:pic>
        <p:nvPicPr>
          <p:cNvPr id="6" name="Image 0" descr="ikon tautan">
            <a:hlinkClick r:id="rId3" tooltip="https://github.com/antonprafanto/mobile2026/blob/main/pertemuan_14_pengujian_dan_debugging/kode/contoh_09_mencari_bug_dengan_debugger.dart"/>
          </p:cNvPr>
          <p:cNvPicPr>
            <a:picLocks noChangeAspect="1"/>
          </p:cNvPicPr>
          <p:nvPr/>
        </p:nvPicPr>
        <p:blipFill>
          <a:blip r:embed="rId2"/>
          <a:stretch>
            <a:fillRect/>
          </a:stretch>
        </p:blipFill>
        <p:spPr>
          <a:xfrm>
            <a:off x="694944" y="4791456"/>
            <a:ext cx="274320" cy="274320"/>
          </a:xfrm>
          <a:prstGeom prst="rect">
            <a:avLst/>
          </a:prstGeom>
        </p:spPr>
      </p:pic>
      <p:sp>
        <p:nvSpPr>
          <p:cNvPr id="7" name="daftar poin"/>
          <p:cNvSpPr txBox="1"/>
          <p:nvPr/>
        </p:nvSpPr>
        <p:spPr>
          <a:xfrm>
            <a:off x="8823960" y="1417320"/>
            <a:ext cx="28190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Judul: galat terjadi saat MEMBANGUN widget (widgets library).</a:t>
            </a:r>
            <a:endParaRPr lang="en-US" sz="1700" dirty="0"/>
          </a:p>
          <a:p>
            <a:pPr marL="228600" indent="-228600">
              <a:spcAft>
                <a:spcPts val="800"/>
              </a:spcAft>
              <a:buSzPct val="100000"/>
              <a:buChar char="•"/>
            </a:pPr>
            <a:r>
              <a:rPr lang="en-US" sz="1700" dirty="0">
                <a:solidFill>
                  <a:schemeClr val="tx1"/>
                </a:solidFill>
              </a:rPr>
              <a:t>Jenis: IndexError, saat membangun HalamanKasir.</a:t>
            </a:r>
            <a:endParaRPr lang="en-US" sz="1700" dirty="0"/>
          </a:p>
          <a:p>
            <a:pPr marL="228600" indent="-228600">
              <a:spcAft>
                <a:spcPts val="800"/>
              </a:spcAft>
              <a:buSzPct val="100000"/>
              <a:buChar char="•"/>
            </a:pPr>
            <a:r>
              <a:rPr lang="en-US" sz="1700" dirty="0">
                <a:solidFill>
                  <a:schemeClr val="tx1"/>
                </a:solidFill>
              </a:rPr>
              <a:t>Isi: meminta nomor 1 dari daftar yang isinya hanya satu.</a:t>
            </a:r>
            <a:endParaRPr lang="en-US" sz="1700" dirty="0"/>
          </a:p>
          <a:p>
            <a:pPr marL="228600" indent="-228600">
              <a:spcAft>
                <a:spcPts val="800"/>
              </a:spcAft>
              <a:buSzPct val="100000"/>
              <a:buChar char="•"/>
            </a:pPr>
            <a:r>
              <a:rPr lang="en-US" sz="1700" dirty="0">
                <a:solidFill>
                  <a:schemeClr val="tx1"/>
                </a:solidFill>
              </a:rPr>
              <a:t>Stack: jalan yang ditempuh program sampai galat.</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Membaca Stack Trace</a:t>
            </a:r>
            <a:endParaRPr lang="en-US" sz="3200" dirty="0"/>
          </a:p>
        </p:txBody>
      </p:sp>
      <p:sp>
        <p:nvSpPr>
          <p:cNvPr id="4" name="kotak kode"/>
          <p:cNvSpPr txBox="1"/>
          <p:nvPr/>
        </p:nvSpPr>
        <p:spPr>
          <a:xfrm>
            <a:off x="548640" y="1371600"/>
            <a:ext cx="7498080" cy="1331595"/>
          </a:xfrm>
          <a:prstGeom prst="roundRect">
            <a:avLst>
              <a:gd name="adj" fmla="val 6867"/>
            </a:avLst>
          </a:prstGeom>
          <a:solidFill>
            <a:srgbClr val="0E1A2B"/>
          </a:solidFill>
          <a:ln/>
        </p:spPr>
        <p:txBody>
          <a:bodyPr wrap="square" lIns="177800" tIns="152400" rIns="152400" bIns="177800" rtlCol="0" anchor="t"/>
          <a:lstStyle/>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a:t>
            </a:r>
            <a:r>
              <a:rPr lang="en-US" sz="1150" dirty="0">
                <a:solidFill>
                  <a:srgbClr val="F78C6C"/>
                </a:solidFill>
                <a:latin typeface="Consolas" pitchFamily="34" charset="0"/>
                <a:ea typeface="Consolas" pitchFamily="34" charset="-122"/>
                <a:cs typeface="Consolas" pitchFamily="34" charset="-120"/>
              </a:rPr>
              <a:t>0</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List</a:t>
            </a:r>
            <a:r>
              <a:rPr lang="en-US" sz="1150" dirty="0">
                <a:solidFill>
                  <a:srgbClr val="E6EDF3"/>
                </a:solidFill>
                <a:latin typeface="Consolas" pitchFamily="34" charset="0"/>
                <a:ea typeface="Consolas" pitchFamily="34" charset="-122"/>
                <a:cs typeface="Consolas" pitchFamily="34" charset="-120"/>
              </a:rPr>
              <a:t>.[]                          ← milik </a:t>
            </a:r>
            <a:r>
              <a:rPr lang="en-US" sz="1150" dirty="0">
                <a:solidFill>
                  <a:srgbClr val="FFCB6B"/>
                </a:solidFill>
                <a:latin typeface="Consolas" pitchFamily="34" charset="0"/>
                <a:ea typeface="Consolas" pitchFamily="34" charset="-122"/>
                <a:cs typeface="Consolas" pitchFamily="34" charset="-120"/>
              </a:rPr>
              <a:t>Dart</a:t>
            </a:r>
            <a:r>
              <a:rPr lang="en-US" sz="1150" dirty="0">
                <a:solidFill>
                  <a:srgbClr val="E6EDF3"/>
                </a:solidFill>
                <a:latin typeface="Consolas" pitchFamily="34" charset="0"/>
                <a:ea typeface="Consolas" pitchFamily="34" charset="-122"/>
                <a:cs typeface="Consolas" pitchFamily="34" charset="-120"/>
              </a:rPr>
              <a:t> (operator [] pada </a:t>
            </a:r>
            <a:r>
              <a:rPr lang="en-US" sz="1150" dirty="0">
                <a:solidFill>
                  <a:srgbClr val="FFCB6B"/>
                </a:solidFill>
                <a:latin typeface="Consolas" pitchFamily="34" charset="0"/>
                <a:ea typeface="Consolas" pitchFamily="34" charset="-122"/>
                <a:cs typeface="Consolas" pitchFamily="34" charset="-120"/>
              </a:rPr>
              <a:t>List</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a:t>
            </a:r>
            <a:r>
              <a:rPr lang="en-US" sz="1150" dirty="0">
                <a:solidFill>
                  <a:srgbClr val="F78C6C"/>
                </a:solidFill>
                <a:latin typeface="Consolas" pitchFamily="34" charset="0"/>
                <a:ea typeface="Consolas" pitchFamily="34" charset="-122"/>
                <a:cs typeface="Consolas" pitchFamily="34" charset="-120"/>
              </a:rPr>
              <a:t>1</a:t>
            </a:r>
            <a:r>
              <a:rPr lang="en-US" sz="1150" dirty="0">
                <a:solidFill>
                  <a:srgbClr val="E6EDF3"/>
                </a:solidFill>
                <a:latin typeface="Consolas" pitchFamily="34" charset="0"/>
                <a:ea typeface="Consolas" pitchFamily="34" charset="-122"/>
                <a:cs typeface="Consolas" pitchFamily="34" charset="-120"/>
              </a:rPr>
              <a:t>  _HalamanKasirState._barisRincian ← </a:t>
            </a:r>
            <a:r>
              <a:rPr lang="en-US" sz="1150" dirty="0">
                <a:solidFill>
                  <a:srgbClr val="FFCB6B"/>
                </a:solidFill>
                <a:latin typeface="Consolas" pitchFamily="34" charset="0"/>
                <a:ea typeface="Consolas" pitchFamily="34" charset="-122"/>
                <a:cs typeface="Consolas" pitchFamily="34" charset="-120"/>
              </a:rPr>
              <a:t>KODE</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KITA</a:t>
            </a:r>
            <a:r>
              <a:rPr lang="en-US" sz="1150" dirty="0">
                <a:solidFill>
                  <a:srgbClr val="E6EDF3"/>
                </a:solidFill>
                <a:latin typeface="Consolas" pitchFamily="34" charset="0"/>
                <a:ea typeface="Consolas" pitchFamily="34" charset="-122"/>
                <a:cs typeface="Consolas" pitchFamily="34" charset="-120"/>
              </a:rPr>
              <a:t>, baris </a:t>
            </a:r>
            <a:r>
              <a:rPr lang="en-US" sz="1150" dirty="0">
                <a:solidFill>
                  <a:srgbClr val="F78C6C"/>
                </a:solidFill>
                <a:latin typeface="Consolas" pitchFamily="34" charset="0"/>
                <a:ea typeface="Consolas" pitchFamily="34" charset="-122"/>
                <a:cs typeface="Consolas" pitchFamily="34" charset="-120"/>
              </a:rPr>
              <a:t>164</a:t>
            </a:r>
            <a:r>
              <a:rPr lang="en-US" sz="1150" dirty="0">
                <a:solidFill>
                  <a:srgbClr val="E6EDF3"/>
                </a:solidFill>
                <a:latin typeface="Consolas" pitchFamily="34" charset="0"/>
                <a:ea typeface="Consolas" pitchFamily="34" charset="-122"/>
                <a:cs typeface="Consolas" pitchFamily="34" charset="-120"/>
              </a:rPr>
              <a:t>   ◀ mulai dari sini</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a:t>
            </a:r>
            <a:r>
              <a:rPr lang="en-US" sz="1150" dirty="0">
                <a:solidFill>
                  <a:srgbClr val="F78C6C"/>
                </a:solidFill>
                <a:latin typeface="Consolas" pitchFamily="34" charset="0"/>
                <a:ea typeface="Consolas" pitchFamily="34" charset="-122"/>
                <a:cs typeface="Consolas" pitchFamily="34" charset="-120"/>
              </a:rPr>
              <a:t>2</a:t>
            </a:r>
            <a:r>
              <a:rPr lang="en-US" sz="1150" dirty="0">
                <a:solidFill>
                  <a:srgbClr val="E6EDF3"/>
                </a:solidFill>
                <a:latin typeface="Consolas" pitchFamily="34" charset="0"/>
                <a:ea typeface="Consolas" pitchFamily="34" charset="-122"/>
                <a:cs typeface="Consolas" pitchFamily="34" charset="-120"/>
              </a:rPr>
              <a:t>  _HalamanKasirState.build         ← kode kita, baris </a:t>
            </a:r>
            <a:r>
              <a:rPr lang="en-US" sz="1150" dirty="0">
                <a:solidFill>
                  <a:srgbClr val="F78C6C"/>
                </a:solidFill>
                <a:latin typeface="Consolas" pitchFamily="34" charset="0"/>
                <a:ea typeface="Consolas" pitchFamily="34" charset="-122"/>
                <a:cs typeface="Consolas" pitchFamily="34" charset="-120"/>
              </a:rPr>
              <a:t>207</a:t>
            </a:r>
            <a:r>
              <a:rPr lang="en-US" sz="1150" dirty="0">
                <a:solidFill>
                  <a:srgbClr val="E6EDF3"/>
                </a:solidFill>
                <a:latin typeface="Consolas" pitchFamily="34" charset="0"/>
                <a:ea typeface="Consolas" pitchFamily="34" charset="-122"/>
                <a:cs typeface="Consolas" pitchFamily="34" charset="-120"/>
              </a:rPr>
              <a:t> (yang memanggil #</a:t>
            </a:r>
            <a:r>
              <a:rPr lang="en-US" sz="1150" dirty="0">
                <a:solidFill>
                  <a:srgbClr val="F78C6C"/>
                </a:solidFill>
                <a:latin typeface="Consolas" pitchFamily="34" charset="0"/>
                <a:ea typeface="Consolas" pitchFamily="34" charset="-122"/>
                <a:cs typeface="Consolas" pitchFamily="34" charset="-120"/>
              </a:rPr>
              <a:t>1</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a:t>
            </a:r>
            <a:r>
              <a:rPr lang="en-US" sz="1150" dirty="0">
                <a:solidFill>
                  <a:srgbClr val="F78C6C"/>
                </a:solidFill>
                <a:latin typeface="Consolas" pitchFamily="34" charset="0"/>
                <a:ea typeface="Consolas" pitchFamily="34" charset="-122"/>
                <a:cs typeface="Consolas" pitchFamily="34" charset="-120"/>
              </a:rPr>
              <a:t>3</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StatefulElement</a:t>
            </a:r>
            <a:r>
              <a:rPr lang="en-US" sz="1150" dirty="0">
                <a:solidFill>
                  <a:srgbClr val="E6EDF3"/>
                </a:solidFill>
                <a:latin typeface="Consolas" pitchFamily="34" charset="0"/>
                <a:ea typeface="Consolas" pitchFamily="34" charset="-122"/>
                <a:cs typeface="Consolas" pitchFamily="34" charset="-120"/>
              </a:rPr>
              <a:t>.build            ← milik </a:t>
            </a:r>
            <a:r>
              <a:rPr lang="en-US" sz="1150" dirty="0">
                <a:solidFill>
                  <a:srgbClr val="FFCB6B"/>
                </a:solidFill>
                <a:latin typeface="Consolas" pitchFamily="34" charset="0"/>
                <a:ea typeface="Consolas" pitchFamily="34" charset="-122"/>
                <a:cs typeface="Consolas" pitchFamily="34" charset="-120"/>
              </a:rPr>
              <a:t>Flutter</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p:txBody>
      </p:sp>
      <p:sp>
        <p:nvSpPr>
          <p:cNvPr id="5" name="tombol tautan">
            <a:hlinkClick r:id="rId1" tooltip="https://github.com/antonprafanto/mobile2026/blob/main/pertemuan_14_pengujian_dan_debugging/kode/contoh_09_mencari_bug_dengan_debugger.dart"/>
          </p:cNvPr>
          <p:cNvSpPr txBox="1"/>
          <p:nvPr/>
        </p:nvSpPr>
        <p:spPr>
          <a:xfrm>
            <a:off x="548640" y="2931795"/>
            <a:ext cx="749808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contoh_09_mencari_bug_dengan_debugger.dart</a:t>
            </a:r>
            <a:endParaRPr lang="en-US" sz="1300" dirty="0"/>
          </a:p>
        </p:txBody>
      </p:sp>
      <p:pic>
        <p:nvPicPr>
          <p:cNvPr id="6" name="Image 0" descr="ikon tautan">
            <a:hlinkClick r:id="rId3" tooltip="https://github.com/antonprafanto/mobile2026/blob/main/pertemuan_14_pengujian_dan_debugging/kode/contoh_09_mencari_bug_dengan_debugger.dart"/>
          </p:cNvPr>
          <p:cNvPicPr>
            <a:picLocks noChangeAspect="1"/>
          </p:cNvPicPr>
          <p:nvPr/>
        </p:nvPicPr>
        <p:blipFill>
          <a:blip r:embed="rId2"/>
          <a:stretch>
            <a:fillRect/>
          </a:stretch>
        </p:blipFill>
        <p:spPr>
          <a:xfrm>
            <a:off x="694944" y="3023235"/>
            <a:ext cx="274320" cy="274320"/>
          </a:xfrm>
          <a:prstGeom prst="rect">
            <a:avLst/>
          </a:prstGeom>
        </p:spPr>
      </p:pic>
      <p:sp>
        <p:nvSpPr>
          <p:cNvPr id="7" name="daftar poin"/>
          <p:cNvSpPr txBox="1"/>
          <p:nvPr/>
        </p:nvSpPr>
        <p:spPr>
          <a:xfrm>
            <a:off x="8458200" y="1417320"/>
            <a:ext cx="318485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#0 = fungsi PALING DALAM, yang terakhir dipanggil.</a:t>
            </a:r>
            <a:endParaRPr lang="en-US" sz="1700" dirty="0"/>
          </a:p>
          <a:p>
            <a:pPr marL="228600" indent="-228600">
              <a:spcAft>
                <a:spcPts val="800"/>
              </a:spcAft>
              <a:buSzPct val="100000"/>
              <a:buChar char="•"/>
            </a:pPr>
            <a:r>
              <a:rPr lang="en-US" sz="1700" dirty="0">
                <a:solidFill>
                  <a:schemeClr val="tx1"/>
                </a:solidFill>
              </a:rPr>
              <a:t>Cari baris PERTAMA yang menunjuk berkas Anda sendiri (package:kasir_kantin/...).</a:t>
            </a:r>
            <a:endParaRPr lang="en-US" sz="1700" dirty="0"/>
          </a:p>
          <a:p>
            <a:pPr marL="228600" indent="-228600">
              <a:spcAft>
                <a:spcPts val="800"/>
              </a:spcAft>
              <a:buSzPct val="100000"/>
              <a:buChar char="•"/>
            </a:pPr>
            <a:r>
              <a:rPr lang="en-US" sz="1700" dirty="0">
                <a:solidFill>
                  <a:schemeClr val="tx1"/>
                </a:solidFill>
              </a:rPr>
              <a:t>Baris dart: dan package:flutter/ hampir tidak pernah menjadi penyebabnya.</a:t>
            </a:r>
            <a:endParaRPr lang="en-US" sz="1700" dirty="0"/>
          </a:p>
          <a:p>
            <a:pPr marL="228600" indent="-228600">
              <a:spcAft>
                <a:spcPts val="800"/>
              </a:spcAft>
              <a:buSzPct val="100000"/>
              <a:buChar char="•"/>
            </a:pPr>
            <a:r>
              <a:rPr lang="en-US" sz="1700" dirty="0">
                <a:solidFill>
                  <a:schemeClr val="tx1"/>
                </a:solidFill>
              </a:rPr>
              <a:t>Di VS Code, main.dart:164:42 bisa diklik: baris 164, kolom 42.</a:t>
            </a:r>
            <a:endParaRPr lang="en-US" sz="1700" dirty="0"/>
          </a:p>
          <a:p>
            <a:pPr marL="228600" indent="-228600">
              <a:spcAft>
                <a:spcPts val="800"/>
              </a:spcAft>
              <a:buSzPct val="100000"/>
              <a:buChar char="•"/>
            </a:pPr>
            <a:r>
              <a:rPr lang="en-US" sz="1700" dirty="0">
                <a:solidFill>
                  <a:schemeClr val="tx1"/>
                </a:solidFill>
              </a:rPr>
              <a:t>Galat lanjutan (Another exception was thrown: ...) hanyalah akibat: baca galat PERTAMA.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Off-by-One dan Perbaikannya</a:t>
            </a:r>
            <a:endParaRPr lang="en-US" sz="3200" dirty="0"/>
          </a:p>
        </p:txBody>
      </p:sp>
      <p:sp>
        <p:nvSpPr>
          <p:cNvPr id="4" name="kotak kode"/>
          <p:cNvSpPr txBox="1"/>
          <p:nvPr/>
        </p:nvSpPr>
        <p:spPr>
          <a:xfrm>
            <a:off x="548640" y="1371600"/>
            <a:ext cx="6949440" cy="3099816"/>
          </a:xfrm>
          <a:prstGeom prst="roundRect">
            <a:avLst>
              <a:gd name="adj" fmla="val 2950"/>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for</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int</a:t>
            </a:r>
            <a:r>
              <a:rPr lang="en-US" sz="1200" dirty="0">
                <a:solidFill>
                  <a:srgbClr val="E6EDF3"/>
                </a:solidFill>
                <a:latin typeface="Consolas" pitchFamily="34" charset="0"/>
                <a:ea typeface="Consolas" pitchFamily="34" charset="-122"/>
                <a:cs typeface="Consolas" pitchFamily="34" charset="-120"/>
              </a:rPr>
              <a:t> i = </a:t>
            </a:r>
            <a:r>
              <a:rPr lang="en-US" sz="1200" dirty="0">
                <a:solidFill>
                  <a:srgbClr val="F78C6C"/>
                </a:solidFill>
                <a:latin typeface="Consolas" pitchFamily="34" charset="0"/>
                <a:ea typeface="Consolas" pitchFamily="34" charset="-122"/>
                <a:cs typeface="Consolas" pitchFamily="34" charset="-120"/>
              </a:rPr>
              <a:t>0</a:t>
            </a:r>
            <a:r>
              <a:rPr lang="en-US" sz="1200" dirty="0">
                <a:solidFill>
                  <a:srgbClr val="E6EDF3"/>
                </a:solidFill>
                <a:latin typeface="Consolas" pitchFamily="34" charset="0"/>
                <a:ea typeface="Consolas" pitchFamily="34" charset="-122"/>
                <a:cs typeface="Consolas" pitchFamily="34" charset="-120"/>
              </a:rPr>
              <a:t>; i &lt;= _pesanan.length; i++)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BarisPesanan</a:t>
            </a:r>
            <a:r>
              <a:rPr lang="en-US" sz="1200" dirty="0">
                <a:solidFill>
                  <a:srgbClr val="E6EDF3"/>
                </a:solidFill>
                <a:latin typeface="Consolas" pitchFamily="34" charset="0"/>
                <a:ea typeface="Consolas" pitchFamily="34" charset="-122"/>
                <a:cs typeface="Consolas" pitchFamily="34" charset="-120"/>
              </a:rPr>
              <a:t> baris = _pesanan[i]; </a:t>
            </a:r>
            <a:r>
              <a:rPr lang="en-US" sz="1200" i="1" dirty="0">
                <a:solidFill>
                  <a:srgbClr val="8FA3BC"/>
                </a:solidFill>
                <a:latin typeface="Consolas" pitchFamily="34" charset="0"/>
                <a:ea typeface="Consolas" pitchFamily="34" charset="-122"/>
                <a:cs typeface="Consolas" pitchFamily="34" charset="-120"/>
              </a:rPr>
              <a:t>// ← baris 164</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Pilihan 1: &lt; bukan &lt;=</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for</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int</a:t>
            </a:r>
            <a:r>
              <a:rPr lang="en-US" sz="1200" dirty="0">
                <a:solidFill>
                  <a:srgbClr val="E6EDF3"/>
                </a:solidFill>
                <a:latin typeface="Consolas" pitchFamily="34" charset="0"/>
                <a:ea typeface="Consolas" pitchFamily="34" charset="-122"/>
                <a:cs typeface="Consolas" pitchFamily="34" charset="-120"/>
              </a:rPr>
              <a:t> i = </a:t>
            </a:r>
            <a:r>
              <a:rPr lang="en-US" sz="1200" dirty="0">
                <a:solidFill>
                  <a:srgbClr val="F78C6C"/>
                </a:solidFill>
                <a:latin typeface="Consolas" pitchFamily="34" charset="0"/>
                <a:ea typeface="Consolas" pitchFamily="34" charset="-122"/>
                <a:cs typeface="Consolas" pitchFamily="34" charset="-120"/>
              </a:rPr>
              <a:t>0</a:t>
            </a:r>
            <a:r>
              <a:rPr lang="en-US" sz="1200" dirty="0">
                <a:solidFill>
                  <a:srgbClr val="E6EDF3"/>
                </a:solidFill>
                <a:latin typeface="Consolas" pitchFamily="34" charset="0"/>
                <a:ea typeface="Consolas" pitchFamily="34" charset="-122"/>
                <a:cs typeface="Consolas" pitchFamily="34" charset="-120"/>
              </a:rPr>
              <a:t>; i &lt; _pesanan.length; i++)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BarisPesanan</a:t>
            </a:r>
            <a:r>
              <a:rPr lang="en-US" sz="1200" dirty="0">
                <a:solidFill>
                  <a:srgbClr val="E6EDF3"/>
                </a:solidFill>
                <a:latin typeface="Consolas" pitchFamily="34" charset="0"/>
                <a:ea typeface="Consolas" pitchFamily="34" charset="-122"/>
                <a:cs typeface="Consolas" pitchFamily="34" charset="-120"/>
              </a:rPr>
              <a:t> baris = _pesanan[i];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Pilihan 2 (dianjurkan): biarkan Dart yang menghitung nomornya.</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indexed menghasilkan pasangan (nomor, isi) untuk setiap anggota.</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for</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int</a:t>
            </a:r>
            <a:r>
              <a:rPr lang="en-US" sz="1200" dirty="0">
                <a:solidFill>
                  <a:srgbClr val="E6EDF3"/>
                </a:solidFill>
                <a:latin typeface="Consolas" pitchFamily="34" charset="0"/>
                <a:ea typeface="Consolas" pitchFamily="34" charset="-122"/>
                <a:cs typeface="Consolas" pitchFamily="34" charset="-120"/>
              </a:rPr>
              <a:t> i, </a:t>
            </a:r>
            <a:r>
              <a:rPr lang="en-US" sz="1200" dirty="0">
                <a:solidFill>
                  <a:srgbClr val="FFCB6B"/>
                </a:solidFill>
                <a:latin typeface="Consolas" pitchFamily="34" charset="0"/>
                <a:ea typeface="Consolas" pitchFamily="34" charset="-122"/>
                <a:cs typeface="Consolas" pitchFamily="34" charset="-120"/>
              </a:rPr>
              <a:t>BarisPesanan</a:t>
            </a:r>
            <a:r>
              <a:rPr lang="en-US" sz="1200" dirty="0">
                <a:solidFill>
                  <a:srgbClr val="E6EDF3"/>
                </a:solidFill>
                <a:latin typeface="Consolas" pitchFamily="34" charset="0"/>
                <a:ea typeface="Consolas" pitchFamily="34" charset="-122"/>
                <a:cs typeface="Consolas" pitchFamily="34" charset="-120"/>
              </a:rPr>
              <a:t> baris) </a:t>
            </a:r>
            <a:r>
              <a:rPr lang="en-US" sz="1200" dirty="0">
                <a:solidFill>
                  <a:srgbClr val="C792EA"/>
                </a:solidFill>
                <a:latin typeface="Consolas" pitchFamily="34" charset="0"/>
                <a:ea typeface="Consolas" pitchFamily="34" charset="-122"/>
                <a:cs typeface="Consolas" pitchFamily="34" charset="-120"/>
              </a:rPr>
              <a:t>in</a:t>
            </a:r>
            <a:r>
              <a:rPr lang="en-US" sz="1200" dirty="0">
                <a:solidFill>
                  <a:srgbClr val="E6EDF3"/>
                </a:solidFill>
                <a:latin typeface="Consolas" pitchFamily="34" charset="0"/>
                <a:ea typeface="Consolas" pitchFamily="34" charset="-122"/>
                <a:cs typeface="Consolas" pitchFamily="34" charset="-120"/>
              </a:rPr>
              <a:t> _pesanan.indexed)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4_pengujian_dan_debugging/kode/contoh_09_mencari_bug_dengan_debugger.dart"/>
          </p:cNvPr>
          <p:cNvSpPr txBox="1"/>
          <p:nvPr/>
        </p:nvSpPr>
        <p:spPr>
          <a:xfrm>
            <a:off x="548640" y="4700016"/>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contoh_09_mencari_bug_dengan_debugger.dart</a:t>
            </a:r>
            <a:endParaRPr lang="en-US" sz="1300" dirty="0"/>
          </a:p>
        </p:txBody>
      </p:sp>
      <p:pic>
        <p:nvPicPr>
          <p:cNvPr id="6" name="Image 0" descr="ikon tautan">
            <a:hlinkClick r:id="rId3" tooltip="https://github.com/antonprafanto/mobile2026/blob/main/pertemuan_14_pengujian_dan_debugging/kode/contoh_09_mencari_bug_dengan_debugger.dart"/>
          </p:cNvPr>
          <p:cNvPicPr>
            <a:picLocks noChangeAspect="1"/>
          </p:cNvPicPr>
          <p:nvPr/>
        </p:nvPicPr>
        <p:blipFill>
          <a:blip r:embed="rId2"/>
          <a:stretch>
            <a:fillRect/>
          </a:stretch>
        </p:blipFill>
        <p:spPr>
          <a:xfrm>
            <a:off x="694944" y="4791456"/>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Isi List dinomori mulai 0: daftar berisi 1 pesanan hanya punya nomor 0.</a:t>
            </a:r>
            <a:endParaRPr lang="en-US" sz="1700" dirty="0"/>
          </a:p>
          <a:p>
            <a:pPr marL="228600" indent="-228600">
              <a:spcAft>
                <a:spcPts val="800"/>
              </a:spcAft>
              <a:buSzPct val="100000"/>
              <a:buChar char="•"/>
            </a:pPr>
            <a:r>
              <a:rPr lang="en-US" sz="1700" dirty="0">
                <a:solidFill>
                  <a:schemeClr val="tx1"/>
                </a:solidFill>
              </a:rPr>
              <a:t>i &lt;= _pesanan.length berjalan sampai i = 1, satu langkah terlalu jauh: off-by-one error.</a:t>
            </a:r>
            <a:endParaRPr lang="en-US" sz="1700" dirty="0"/>
          </a:p>
          <a:p>
            <a:pPr marL="228600" indent="-228600">
              <a:spcAft>
                <a:spcPts val="800"/>
              </a:spcAft>
              <a:buSzPct val="100000"/>
              <a:buChar char="•"/>
            </a:pPr>
            <a:r>
              <a:rPr lang="en-US" sz="1700" dirty="0">
                <a:solidFill>
                  <a:schemeClr val="tx1"/>
                </a:solidFill>
              </a:rPr>
              <a:t>Pilihan 2 tidak memakai [i] sama sekali, jadi off-by-one tidak mungkin terjadi.</a:t>
            </a:r>
            <a:endParaRPr lang="en-US" sz="1700" dirty="0"/>
          </a:p>
          <a:p>
            <a:pPr marL="228600" indent="-228600">
              <a:spcAft>
                <a:spcPts val="800"/>
              </a:spcAft>
              <a:buSzPct val="100000"/>
              <a:buChar char="•"/>
            </a:pPr>
            <a:r>
              <a:rPr lang="en-US" sz="1700" dirty="0">
                <a:solidFill>
                  <a:schemeClr val="tx1"/>
                </a:solidFill>
              </a:rPr>
              <a:t>Simpan (Ctrl+S) → hot reload: layar merah langsung hilang.</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11–12</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Debugger VS Code dan Flutter DevTools</a:t>
            </a:r>
            <a:endParaRPr lang="en-US" sz="4000" dirty="0"/>
          </a:p>
        </p:txBody>
      </p:sp>
      <p:sp>
        <p:nvSpPr>
          <p:cNvPr id="5" name="lingkaran serangga"/>
          <p:cNvSpPr/>
          <p:nvPr/>
        </p:nvSpPr>
        <p:spPr>
          <a:xfrm>
            <a:off x="1097280" y="2148840"/>
            <a:ext cx="2011680" cy="2011680"/>
          </a:xfrm>
          <a:prstGeom prst="ellipse">
            <a:avLst/>
          </a:prstGeom>
          <a:solidFill>
            <a:schemeClr val="accent1"/>
          </a:solidFill>
          <a:ln/>
        </p:spPr>
      </p:sp>
      <p:pic>
        <p:nvPicPr>
          <p:cNvPr id="6" name="Image 0" descr="serangga">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Bilah Alat Debug</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Aplikasi dijalankan dengan F5 → debugger aktif, bilah status berubah warna, dan bilah alat debug muncul di atas.</a:t>
            </a:r>
            <a:endParaRPr lang="en-US" sz="18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2383924"/>
                <a:gridCol w="2200545"/>
                <a:gridCol w="6509946"/>
              </a:tblGrid>
              <a:tr h="512064">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Tombol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Pintasan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Arti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1206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Continue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F5</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Lanjutkan sampai breakpoint berikutnya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Step Over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F10</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Jalankan baris ini, lalu berhenti di baris BERIKUTNYA (tanpa masuk ke fungsi yang dipanggil)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Step Into</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F11</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MASUK ke dalam fungsi yang dipanggil di baris ini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Step Out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Shift+F11</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Selesaikan fungsi ini, lalu berhenti di tempat pemanggilnya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Hot Reload</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Ctrl+S (simpan berkas)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Terapkan perubahan kode tanpa mengulang aplikasi; isi layar dipertahankan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Hot Restart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Ctrl+Shift+F5</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Mulai ulang aplikasi dari awal; isi layar hilang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Stop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Shift+F5</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Hentikan aplikasi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Breakpoint Pertama</a:t>
            </a:r>
            <a:endParaRPr lang="en-US" sz="3200" dirty="0"/>
          </a:p>
        </p:txBody>
      </p:sp>
      <p:sp>
        <p:nvSpPr>
          <p:cNvPr id="4" name="Text 1"/>
          <p:cNvSpPr txBox="1"/>
          <p:nvPr/>
        </p:nvSpPr>
        <p:spPr>
          <a:xfrm>
            <a:off x="548640" y="1325880"/>
            <a:ext cx="11094415" cy="548640"/>
          </a:xfrm>
          <a:prstGeom prst="rect">
            <a:avLst/>
          </a:prstGeom>
          <a:noFill/>
          <a:ln/>
        </p:spPr>
        <p:txBody>
          <a:bodyPr wrap="square" lIns="0" tIns="0" rIns="0" bIns="0" rtlCol="0" anchor="ctr"/>
          <a:lstStyle/>
          <a:p>
            <a:pPr indent="0" marL="0">
              <a:buNone/>
            </a:pPr>
            <a:r>
              <a:rPr lang="en-US" sz="1800" dirty="0">
                <a:solidFill>
                  <a:srgbClr val="4A5870"/>
                </a:solidFill>
              </a:rPr>
              <a:t>Panel Run and Debug: Variables (isi variabel), Watch, Call Stack (stack trace versi hidup), dan Breakpoints.</a:t>
            </a:r>
            <a:endParaRPr lang="en-US" sz="1800" dirty="0"/>
          </a:p>
        </p:txBody>
      </p:sp>
      <p:sp>
        <p:nvSpPr>
          <p:cNvPr id="5" name="langkah 1"/>
          <p:cNvSpPr/>
          <p:nvPr/>
        </p:nvSpPr>
        <p:spPr>
          <a:xfrm>
            <a:off x="548640" y="2103120"/>
            <a:ext cx="1962851" cy="3566160"/>
          </a:xfrm>
          <a:prstGeom prst="roundRect">
            <a:avLst>
              <a:gd name="adj" fmla="val 6988"/>
            </a:avLst>
          </a:prstGeom>
          <a:solidFill>
            <a:schemeClr val="bg2"/>
          </a:solidFill>
          <a:ln/>
        </p:spPr>
      </p:sp>
      <p:sp>
        <p:nvSpPr>
          <p:cNvPr id="6" name="lingkaran pin"/>
          <p:cNvSpPr/>
          <p:nvPr/>
        </p:nvSpPr>
        <p:spPr>
          <a:xfrm>
            <a:off x="1095726" y="2377440"/>
            <a:ext cx="868680" cy="868680"/>
          </a:xfrm>
          <a:prstGeom prst="ellipse">
            <a:avLst/>
          </a:prstGeom>
          <a:solidFill>
            <a:schemeClr val="accent1"/>
          </a:solidFill>
          <a:ln/>
        </p:spPr>
      </p:sp>
      <p:pic>
        <p:nvPicPr>
          <p:cNvPr id="7" name="Image 0" descr="pin">    </p:cNvPr>
          <p:cNvPicPr>
            <a:picLocks noChangeAspect="1"/>
          </p:cNvPicPr>
          <p:nvPr/>
        </p:nvPicPr>
        <p:blipFill>
          <a:blip r:embed="rId1"/>
          <a:stretch>
            <a:fillRect/>
          </a:stretch>
        </p:blipFill>
        <p:spPr>
          <a:xfrm>
            <a:off x="1286835" y="2568550"/>
            <a:ext cx="486461" cy="486461"/>
          </a:xfrm>
          <a:prstGeom prst="rect">
            <a:avLst/>
          </a:prstGeom>
        </p:spPr>
      </p:pic>
      <p:sp>
        <p:nvSpPr>
          <p:cNvPr id="8" name="Text 4"/>
          <p:cNvSpPr txBox="1"/>
          <p:nvPr/>
        </p:nvSpPr>
        <p:spPr>
          <a:xfrm>
            <a:off x="658368"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9" name="Text 5"/>
          <p:cNvSpPr txBox="1"/>
          <p:nvPr/>
        </p:nvSpPr>
        <p:spPr>
          <a:xfrm>
            <a:off x="685800"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Pasang breakpoint</a:t>
            </a:r>
            <a:endParaRPr lang="en-US" sz="1700" dirty="0"/>
          </a:p>
        </p:txBody>
      </p:sp>
      <p:sp>
        <p:nvSpPr>
          <p:cNvPr id="10" name="Text 6"/>
          <p:cNvSpPr txBox="1"/>
          <p:nvPr/>
        </p:nvSpPr>
        <p:spPr>
          <a:xfrm>
            <a:off x="685800" y="420624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Klik di KIRI nomor baris 178 di build: muncul titik merah</a:t>
            </a:r>
            <a:endParaRPr lang="en-US" sz="1400" dirty="0"/>
          </a:p>
        </p:txBody>
      </p:sp>
      <p:sp>
        <p:nvSpPr>
          <p:cNvPr id="11" name="Shape 7"/>
          <p:cNvSpPr/>
          <p:nvPr/>
        </p:nvSpPr>
        <p:spPr>
          <a:xfrm>
            <a:off x="2548067" y="2670048"/>
            <a:ext cx="246888" cy="274320"/>
          </a:xfrm>
          <a:prstGeom prst="rightArrow">
            <a:avLst/>
          </a:prstGeom>
          <a:solidFill>
            <a:schemeClr val="accent2"/>
          </a:solidFill>
          <a:ln/>
        </p:spPr>
      </p:sp>
      <p:sp>
        <p:nvSpPr>
          <p:cNvPr id="12" name="langkah 2"/>
          <p:cNvSpPr/>
          <p:nvPr/>
        </p:nvSpPr>
        <p:spPr>
          <a:xfrm>
            <a:off x="2831531" y="2103120"/>
            <a:ext cx="1962851" cy="3566160"/>
          </a:xfrm>
          <a:prstGeom prst="roundRect">
            <a:avLst>
              <a:gd name="adj" fmla="val 6988"/>
            </a:avLst>
          </a:prstGeom>
          <a:solidFill>
            <a:schemeClr val="bg2"/>
          </a:solidFill>
          <a:ln/>
        </p:spPr>
      </p:sp>
      <p:sp>
        <p:nvSpPr>
          <p:cNvPr id="13" name="lingkaran sentuh"/>
          <p:cNvSpPr/>
          <p:nvPr/>
        </p:nvSpPr>
        <p:spPr>
          <a:xfrm>
            <a:off x="3378617" y="2377440"/>
            <a:ext cx="868680" cy="868680"/>
          </a:xfrm>
          <a:prstGeom prst="ellipse">
            <a:avLst/>
          </a:prstGeom>
          <a:solidFill>
            <a:schemeClr val="accent1"/>
          </a:solidFill>
          <a:ln/>
        </p:spPr>
      </p:sp>
      <p:pic>
        <p:nvPicPr>
          <p:cNvPr id="14" name="Image 1" descr="sentuh">    </p:cNvPr>
          <p:cNvPicPr>
            <a:picLocks noChangeAspect="1"/>
          </p:cNvPicPr>
          <p:nvPr/>
        </p:nvPicPr>
        <p:blipFill>
          <a:blip r:embed="rId2"/>
          <a:stretch>
            <a:fillRect/>
          </a:stretch>
        </p:blipFill>
        <p:spPr>
          <a:xfrm>
            <a:off x="3569726" y="2568550"/>
            <a:ext cx="486461" cy="486461"/>
          </a:xfrm>
          <a:prstGeom prst="rect">
            <a:avLst/>
          </a:prstGeom>
        </p:spPr>
      </p:pic>
      <p:sp>
        <p:nvSpPr>
          <p:cNvPr id="15" name="Text 10"/>
          <p:cNvSpPr txBox="1"/>
          <p:nvPr/>
        </p:nvSpPr>
        <p:spPr>
          <a:xfrm>
            <a:off x="2941259"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6" name="Text 11"/>
          <p:cNvSpPr txBox="1"/>
          <p:nvPr/>
        </p:nvSpPr>
        <p:spPr>
          <a:xfrm>
            <a:off x="2968691"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Ketuk tombol +</a:t>
            </a:r>
            <a:endParaRPr lang="en-US" sz="1700" dirty="0"/>
          </a:p>
        </p:txBody>
      </p:sp>
      <p:sp>
        <p:nvSpPr>
          <p:cNvPr id="17" name="Text 12"/>
          <p:cNvSpPr txBox="1"/>
          <p:nvPr/>
        </p:nvSpPr>
        <p:spPr>
          <a:xfrm>
            <a:off x="2968691" y="420624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Aplikasi membeku; baris 178 disorot kuning</a:t>
            </a:r>
            <a:endParaRPr lang="en-US" sz="1400" dirty="0"/>
          </a:p>
        </p:txBody>
      </p:sp>
      <p:sp>
        <p:nvSpPr>
          <p:cNvPr id="18" name="Shape 13"/>
          <p:cNvSpPr/>
          <p:nvPr/>
        </p:nvSpPr>
        <p:spPr>
          <a:xfrm>
            <a:off x="4830958" y="2670048"/>
            <a:ext cx="246888" cy="274320"/>
          </a:xfrm>
          <a:prstGeom prst="rightArrow">
            <a:avLst/>
          </a:prstGeom>
          <a:solidFill>
            <a:schemeClr val="accent2"/>
          </a:solidFill>
          <a:ln/>
        </p:spPr>
      </p:sp>
      <p:sp>
        <p:nvSpPr>
          <p:cNvPr id="19" name="langkah 3"/>
          <p:cNvSpPr/>
          <p:nvPr/>
        </p:nvSpPr>
        <p:spPr>
          <a:xfrm>
            <a:off x="5114422" y="2103120"/>
            <a:ext cx="1962851" cy="3566160"/>
          </a:xfrm>
          <a:prstGeom prst="roundRect">
            <a:avLst>
              <a:gd name="adj" fmla="val 6988"/>
            </a:avLst>
          </a:prstGeom>
          <a:solidFill>
            <a:schemeClr val="bg2"/>
          </a:solidFill>
          <a:ln/>
        </p:spPr>
      </p:sp>
      <p:sp>
        <p:nvSpPr>
          <p:cNvPr id="20" name="lingkaran lihat"/>
          <p:cNvSpPr/>
          <p:nvPr/>
        </p:nvSpPr>
        <p:spPr>
          <a:xfrm>
            <a:off x="5661508" y="2377440"/>
            <a:ext cx="868680" cy="868680"/>
          </a:xfrm>
          <a:prstGeom prst="ellipse">
            <a:avLst/>
          </a:prstGeom>
          <a:solidFill>
            <a:schemeClr val="accent1"/>
          </a:solidFill>
          <a:ln/>
        </p:spPr>
      </p:sp>
      <p:pic>
        <p:nvPicPr>
          <p:cNvPr id="21" name="Image 2" descr="lihat">    </p:cNvPr>
          <p:cNvPicPr>
            <a:picLocks noChangeAspect="1"/>
          </p:cNvPicPr>
          <p:nvPr/>
        </p:nvPicPr>
        <p:blipFill>
          <a:blip r:embed="rId3"/>
          <a:stretch>
            <a:fillRect/>
          </a:stretch>
        </p:blipFill>
        <p:spPr>
          <a:xfrm>
            <a:off x="5852617" y="2568550"/>
            <a:ext cx="486461" cy="486461"/>
          </a:xfrm>
          <a:prstGeom prst="rect">
            <a:avLst/>
          </a:prstGeom>
        </p:spPr>
      </p:pic>
      <p:sp>
        <p:nvSpPr>
          <p:cNvPr id="22" name="Text 16"/>
          <p:cNvSpPr txBox="1"/>
          <p:nvPr/>
        </p:nvSpPr>
        <p:spPr>
          <a:xfrm>
            <a:off x="5224150"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3" name="Text 17"/>
          <p:cNvSpPr txBox="1"/>
          <p:nvPr/>
        </p:nvSpPr>
        <p:spPr>
          <a:xfrm>
            <a:off x="5251582"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Lihat isinya</a:t>
            </a:r>
            <a:endParaRPr lang="en-US" sz="1700" dirty="0"/>
          </a:p>
        </p:txBody>
      </p:sp>
      <p:sp>
        <p:nvSpPr>
          <p:cNvPr id="24" name="Text 18"/>
          <p:cNvSpPr txBox="1"/>
          <p:nvPr/>
        </p:nvSpPr>
        <p:spPr>
          <a:xfrm>
            <a:off x="5251582" y="420624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Panel Variables: this, _pesanan. Arahkan kursor ke nama variabel</a:t>
            </a:r>
            <a:endParaRPr lang="en-US" sz="1400" dirty="0"/>
          </a:p>
        </p:txBody>
      </p:sp>
      <p:sp>
        <p:nvSpPr>
          <p:cNvPr id="25" name="Shape 19"/>
          <p:cNvSpPr/>
          <p:nvPr/>
        </p:nvSpPr>
        <p:spPr>
          <a:xfrm>
            <a:off x="7113849" y="2670048"/>
            <a:ext cx="246888" cy="274320"/>
          </a:xfrm>
          <a:prstGeom prst="rightArrow">
            <a:avLst/>
          </a:prstGeom>
          <a:solidFill>
            <a:schemeClr val="accent2"/>
          </a:solidFill>
          <a:ln/>
        </p:spPr>
      </p:sp>
      <p:sp>
        <p:nvSpPr>
          <p:cNvPr id="26" name="langkah 4"/>
          <p:cNvSpPr/>
          <p:nvPr/>
        </p:nvSpPr>
        <p:spPr>
          <a:xfrm>
            <a:off x="7397313" y="2103120"/>
            <a:ext cx="1962851" cy="3566160"/>
          </a:xfrm>
          <a:prstGeom prst="roundRect">
            <a:avLst>
              <a:gd name="adj" fmla="val 6988"/>
            </a:avLst>
          </a:prstGeom>
          <a:solidFill>
            <a:schemeClr val="bg2"/>
          </a:solidFill>
          <a:ln/>
        </p:spPr>
      </p:sp>
      <p:sp>
        <p:nvSpPr>
          <p:cNvPr id="27" name="lingkaran jalankan"/>
          <p:cNvSpPr/>
          <p:nvPr/>
        </p:nvSpPr>
        <p:spPr>
          <a:xfrm>
            <a:off x="7944399" y="2377440"/>
            <a:ext cx="868680" cy="868680"/>
          </a:xfrm>
          <a:prstGeom prst="ellipse">
            <a:avLst/>
          </a:prstGeom>
          <a:solidFill>
            <a:schemeClr val="accent4"/>
          </a:solidFill>
          <a:ln/>
        </p:spPr>
      </p:sp>
      <p:pic>
        <p:nvPicPr>
          <p:cNvPr id="28" name="Image 3" descr="jalankan">    </p:cNvPr>
          <p:cNvPicPr>
            <a:picLocks noChangeAspect="1"/>
          </p:cNvPicPr>
          <p:nvPr/>
        </p:nvPicPr>
        <p:blipFill>
          <a:blip r:embed="rId4"/>
          <a:stretch>
            <a:fillRect/>
          </a:stretch>
        </p:blipFill>
        <p:spPr>
          <a:xfrm>
            <a:off x="8135508" y="2568550"/>
            <a:ext cx="486461" cy="486461"/>
          </a:xfrm>
          <a:prstGeom prst="rect">
            <a:avLst/>
          </a:prstGeom>
        </p:spPr>
      </p:pic>
      <p:sp>
        <p:nvSpPr>
          <p:cNvPr id="29" name="Text 22"/>
          <p:cNvSpPr txBox="1"/>
          <p:nvPr/>
        </p:nvSpPr>
        <p:spPr>
          <a:xfrm>
            <a:off x="7507041"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30" name="Text 23"/>
          <p:cNvSpPr txBox="1"/>
          <p:nvPr/>
        </p:nvSpPr>
        <p:spPr>
          <a:xfrm>
            <a:off x="7534473"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F10, lalu F5</a:t>
            </a:r>
            <a:endParaRPr lang="en-US" sz="1700" dirty="0"/>
          </a:p>
        </p:txBody>
      </p:sp>
      <p:sp>
        <p:nvSpPr>
          <p:cNvPr id="31" name="Text 24"/>
          <p:cNvSpPr txBox="1"/>
          <p:nvPr/>
        </p:nvSpPr>
        <p:spPr>
          <a:xfrm>
            <a:off x="7534473" y="420624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F10: baris demi baris. F5: lanjutkan. Klik titik merah untuk menghapus</a:t>
            </a:r>
            <a:endParaRPr lang="en-US" sz="1400" dirty="0"/>
          </a:p>
        </p:txBody>
      </p:sp>
      <p:sp>
        <p:nvSpPr>
          <p:cNvPr id="32" name="Shape 25"/>
          <p:cNvSpPr/>
          <p:nvPr/>
        </p:nvSpPr>
        <p:spPr>
          <a:xfrm>
            <a:off x="9396740" y="2670048"/>
            <a:ext cx="246888" cy="274320"/>
          </a:xfrm>
          <a:prstGeom prst="rightArrow">
            <a:avLst/>
          </a:prstGeom>
          <a:solidFill>
            <a:schemeClr val="accent2"/>
          </a:solidFill>
          <a:ln/>
        </p:spPr>
      </p:sp>
      <p:sp>
        <p:nvSpPr>
          <p:cNvPr id="33" name="langkah 5"/>
          <p:cNvSpPr/>
          <p:nvPr/>
        </p:nvSpPr>
        <p:spPr>
          <a:xfrm>
            <a:off x="9680204" y="2103120"/>
            <a:ext cx="1962851" cy="3566160"/>
          </a:xfrm>
          <a:prstGeom prst="roundRect">
            <a:avLst>
              <a:gd name="adj" fmla="val 6988"/>
            </a:avLst>
          </a:prstGeom>
          <a:solidFill>
            <a:schemeClr val="bg2"/>
          </a:solidFill>
          <a:ln/>
        </p:spPr>
      </p:sp>
      <p:sp>
        <p:nvSpPr>
          <p:cNvPr id="34" name="lingkaran galat"/>
          <p:cNvSpPr/>
          <p:nvPr/>
        </p:nvSpPr>
        <p:spPr>
          <a:xfrm>
            <a:off x="10227290" y="2377440"/>
            <a:ext cx="868680" cy="868680"/>
          </a:xfrm>
          <a:prstGeom prst="ellipse">
            <a:avLst/>
          </a:prstGeom>
          <a:solidFill>
            <a:schemeClr val="accent5"/>
          </a:solidFill>
          <a:ln/>
        </p:spPr>
      </p:sp>
      <p:pic>
        <p:nvPicPr>
          <p:cNvPr id="35" name="Image 4" descr="galat">    </p:cNvPr>
          <p:cNvPicPr>
            <a:picLocks noChangeAspect="1"/>
          </p:cNvPicPr>
          <p:nvPr/>
        </p:nvPicPr>
        <p:blipFill>
          <a:blip r:embed="rId5"/>
          <a:stretch>
            <a:fillRect/>
          </a:stretch>
        </p:blipFill>
        <p:spPr>
          <a:xfrm>
            <a:off x="10418399" y="2568550"/>
            <a:ext cx="486461" cy="486461"/>
          </a:xfrm>
          <a:prstGeom prst="rect">
            <a:avLst/>
          </a:prstGeom>
        </p:spPr>
      </p:pic>
      <p:sp>
        <p:nvSpPr>
          <p:cNvPr id="36" name="Text 28"/>
          <p:cNvSpPr txBox="1"/>
          <p:nvPr/>
        </p:nvSpPr>
        <p:spPr>
          <a:xfrm>
            <a:off x="9789932"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5</a:t>
            </a:r>
            <a:endParaRPr lang="en-US" sz="1400" dirty="0"/>
          </a:p>
        </p:txBody>
      </p:sp>
      <p:sp>
        <p:nvSpPr>
          <p:cNvPr id="37" name="Text 29"/>
          <p:cNvSpPr txBox="1"/>
          <p:nvPr/>
        </p:nvSpPr>
        <p:spPr>
          <a:xfrm>
            <a:off x="9817364"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Galat? Berhenti sendiri</a:t>
            </a:r>
            <a:endParaRPr lang="en-US" sz="1700" dirty="0"/>
          </a:p>
        </p:txBody>
      </p:sp>
      <p:sp>
        <p:nvSpPr>
          <p:cNvPr id="38" name="Text 30"/>
          <p:cNvSpPr txBox="1"/>
          <p:nvPr/>
        </p:nvSpPr>
        <p:spPr>
          <a:xfrm>
            <a:off x="9817364" y="420624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Uncaught Exceptions tercentang: berhenti di _pesanan[i], Variables: i = 1</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Gejala 2: Breakpoint Bersyarat</a:t>
            </a:r>
            <a:endParaRPr lang="en-US" sz="3200" dirty="0"/>
          </a:p>
        </p:txBody>
      </p:sp>
      <p:sp>
        <p:nvSpPr>
          <p:cNvPr id="4" name="kotak kode"/>
          <p:cNvSpPr txBox="1"/>
          <p:nvPr/>
        </p:nvSpPr>
        <p:spPr>
          <a:xfrm>
            <a:off x="548640" y="1371600"/>
            <a:ext cx="6400800" cy="3211830"/>
          </a:xfrm>
          <a:prstGeom prst="roundRect">
            <a:avLst>
              <a:gd name="adj" fmla="val 2847"/>
            </a:avLst>
          </a:prstGeom>
          <a:solidFill>
            <a:srgbClr val="0E1A2B"/>
          </a:solidFill>
          <a:ln/>
        </p:spPr>
        <p:txBody>
          <a:bodyPr wrap="square" lIns="177800" tIns="152400" rIns="152400" bIns="177800" rtlCol="0" anchor="t"/>
          <a:lstStyle/>
          <a:p>
            <a:pPr indent="0" marL="0">
              <a:lnSpc>
                <a:spcPct val="105000"/>
              </a:lnSpc>
              <a:buNone/>
            </a:pPr>
            <a:r>
              <a:rPr lang="en-US" sz="1250" i="1" dirty="0">
                <a:solidFill>
                  <a:srgbClr val="8FA3BC"/>
                </a:solidFill>
                <a:latin typeface="Consolas" pitchFamily="34" charset="0"/>
                <a:ea typeface="Consolas" pitchFamily="34" charset="-122"/>
                <a:cs typeface="Consolas" pitchFamily="34" charset="-120"/>
              </a:rPr>
              <a:t>/// Diskon 10% untuk belanja MINIMAL Rp50.000.</a:t>
            </a:r>
            <a:endParaRPr lang="en-US" sz="1250" dirty="0"/>
          </a:p>
          <a:p>
            <a:pPr indent="0" marL="0">
              <a:lnSpc>
                <a:spcPct val="105000"/>
              </a:lnSpc>
              <a:buNone/>
            </a:pPr>
            <a:r>
              <a:rPr lang="en-US" sz="1250" dirty="0">
                <a:solidFill>
                  <a:srgbClr val="C792EA"/>
                </a:solidFill>
                <a:latin typeface="Consolas" pitchFamily="34" charset="0"/>
                <a:ea typeface="Consolas" pitchFamily="34" charset="-122"/>
                <a:cs typeface="Consolas" pitchFamily="34" charset="-120"/>
              </a:rPr>
              <a:t>const</a:t>
            </a: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int</a:t>
            </a:r>
            <a:r>
              <a:rPr lang="en-US" sz="1250" dirty="0">
                <a:solidFill>
                  <a:srgbClr val="E6EDF3"/>
                </a:solidFill>
                <a:latin typeface="Consolas" pitchFamily="34" charset="0"/>
                <a:ea typeface="Consolas" pitchFamily="34" charset="-122"/>
                <a:cs typeface="Consolas" pitchFamily="34" charset="-120"/>
              </a:rPr>
              <a:t> batasDiskon = </a:t>
            </a:r>
            <a:r>
              <a:rPr lang="en-US" sz="1250" dirty="0">
                <a:solidFill>
                  <a:srgbClr val="F78C6C"/>
                </a:solidFill>
                <a:latin typeface="Consolas" pitchFamily="34" charset="0"/>
                <a:ea typeface="Consolas" pitchFamily="34" charset="-122"/>
                <a:cs typeface="Consolas" pitchFamily="34" charset="-120"/>
              </a:rPr>
              <a:t>50000</a:t>
            </a: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FFCB6B"/>
                </a:solidFill>
                <a:latin typeface="Consolas" pitchFamily="34" charset="0"/>
                <a:ea typeface="Consolas" pitchFamily="34" charset="-122"/>
                <a:cs typeface="Consolas" pitchFamily="34" charset="-120"/>
              </a:rPr>
              <a:t>int</a:t>
            </a:r>
            <a:r>
              <a:rPr lang="en-US" sz="1250" dirty="0">
                <a:solidFill>
                  <a:srgbClr val="E6EDF3"/>
                </a:solidFill>
                <a:latin typeface="Consolas" pitchFamily="34" charset="0"/>
                <a:ea typeface="Consolas" pitchFamily="34" charset="-122"/>
                <a:cs typeface="Consolas" pitchFamily="34" charset="-120"/>
              </a:rPr>
              <a:t> hitungDiskon(</a:t>
            </a:r>
            <a:r>
              <a:rPr lang="en-US" sz="1250" dirty="0">
                <a:solidFill>
                  <a:srgbClr val="FFCB6B"/>
                </a:solidFill>
                <a:latin typeface="Consolas" pitchFamily="34" charset="0"/>
                <a:ea typeface="Consolas" pitchFamily="34" charset="-122"/>
                <a:cs typeface="Consolas" pitchFamily="34" charset="-120"/>
              </a:rPr>
              <a:t>int</a:t>
            </a:r>
            <a:r>
              <a:rPr lang="en-US" sz="1250" dirty="0">
                <a:solidFill>
                  <a:srgbClr val="E6EDF3"/>
                </a:solidFill>
                <a:latin typeface="Consolas" pitchFamily="34" charset="0"/>
                <a:ea typeface="Consolas" pitchFamily="34" charset="-122"/>
                <a:cs typeface="Consolas" pitchFamily="34" charset="-120"/>
              </a:rPr>
              <a:t> subtotal)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C792EA"/>
                </a:solidFill>
                <a:latin typeface="Consolas" pitchFamily="34" charset="0"/>
                <a:ea typeface="Consolas" pitchFamily="34" charset="-122"/>
                <a:cs typeface="Consolas" pitchFamily="34" charset="-120"/>
              </a:rPr>
              <a:t>if</a:t>
            </a:r>
            <a:r>
              <a:rPr lang="en-US" sz="1250" dirty="0">
                <a:solidFill>
                  <a:srgbClr val="E6EDF3"/>
                </a:solidFill>
                <a:latin typeface="Consolas" pitchFamily="34" charset="0"/>
                <a:ea typeface="Consolas" pitchFamily="34" charset="-122"/>
                <a:cs typeface="Consolas" pitchFamily="34" charset="-120"/>
              </a:rPr>
              <a:t> (subtotal &gt; batasDiskon) { </a:t>
            </a:r>
            <a:r>
              <a:rPr lang="en-US" sz="1250" i="1" dirty="0">
                <a:solidFill>
                  <a:srgbClr val="8FA3BC"/>
                </a:solidFill>
                <a:latin typeface="Consolas" pitchFamily="34" charset="0"/>
                <a:ea typeface="Consolas" pitchFamily="34" charset="-122"/>
                <a:cs typeface="Consolas" pitchFamily="34" charset="-120"/>
              </a:rPr>
              <a:t>// ← baris 65</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C792EA"/>
                </a:solidFill>
                <a:latin typeface="Consolas" pitchFamily="34" charset="0"/>
                <a:ea typeface="Consolas" pitchFamily="34" charset="-122"/>
                <a:cs typeface="Consolas" pitchFamily="34" charset="-120"/>
              </a:rPr>
              <a:t>return</a:t>
            </a:r>
            <a:r>
              <a:rPr lang="en-US" sz="1250" dirty="0">
                <a:solidFill>
                  <a:srgbClr val="E6EDF3"/>
                </a:solidFill>
                <a:latin typeface="Consolas" pitchFamily="34" charset="0"/>
                <a:ea typeface="Consolas" pitchFamily="34" charset="-122"/>
                <a:cs typeface="Consolas" pitchFamily="34" charset="-120"/>
              </a:rPr>
              <a:t> subtotal ~/ </a:t>
            </a:r>
            <a:r>
              <a:rPr lang="en-US" sz="1250" dirty="0">
                <a:solidFill>
                  <a:srgbClr val="F78C6C"/>
                </a:solidFill>
                <a:latin typeface="Consolas" pitchFamily="34" charset="0"/>
                <a:ea typeface="Consolas" pitchFamily="34" charset="-122"/>
                <a:cs typeface="Consolas" pitchFamily="34" charset="-120"/>
              </a:rPr>
              <a:t>10</a:t>
            </a: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C792EA"/>
                </a:solidFill>
                <a:latin typeface="Consolas" pitchFamily="34" charset="0"/>
                <a:ea typeface="Consolas" pitchFamily="34" charset="-122"/>
                <a:cs typeface="Consolas" pitchFamily="34" charset="-120"/>
              </a:rPr>
              <a:t>return</a:t>
            </a: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78C6C"/>
                </a:solidFill>
                <a:latin typeface="Consolas" pitchFamily="34" charset="0"/>
                <a:ea typeface="Consolas" pitchFamily="34" charset="-122"/>
                <a:cs typeface="Consolas" pitchFamily="34" charset="-120"/>
              </a:rPr>
              <a:t>0</a:t>
            </a: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test(</a:t>
            </a:r>
            <a:r>
              <a:rPr lang="en-US" sz="1250" dirty="0">
                <a:solidFill>
                  <a:srgbClr val="C3E88D"/>
                </a:solidFill>
                <a:latin typeface="Consolas" pitchFamily="34" charset="0"/>
                <a:ea typeface="Consolas" pitchFamily="34" charset="-122"/>
                <a:cs typeface="Consolas" pitchFamily="34" charset="-120"/>
              </a:rPr>
              <a:t>'diskon mulai tepat Rp50.000'</a:t>
            </a:r>
            <a:r>
              <a:rPr lang="en-US" sz="1250" dirty="0">
                <a:solidFill>
                  <a:srgbClr val="E6EDF3"/>
                </a:solidFill>
                <a:latin typeface="Consolas" pitchFamily="34" charset="0"/>
                <a:ea typeface="Consolas" pitchFamily="34" charset="-122"/>
                <a:cs typeface="Consolas" pitchFamily="34" charset="-120"/>
              </a:rPr>
              <a:t>, ()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expect(hitungDiskon(</a:t>
            </a:r>
            <a:r>
              <a:rPr lang="en-US" sz="1250" dirty="0">
                <a:solidFill>
                  <a:srgbClr val="F78C6C"/>
                </a:solidFill>
                <a:latin typeface="Consolas" pitchFamily="34" charset="0"/>
                <a:ea typeface="Consolas" pitchFamily="34" charset="-122"/>
                <a:cs typeface="Consolas" pitchFamily="34" charset="-120"/>
              </a:rPr>
              <a:t>50000</a:t>
            </a: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78C6C"/>
                </a:solidFill>
                <a:latin typeface="Consolas" pitchFamily="34" charset="0"/>
                <a:ea typeface="Consolas" pitchFamily="34" charset="-122"/>
                <a:cs typeface="Consolas" pitchFamily="34" charset="-120"/>
              </a:rPr>
              <a:t>5000</a:t>
            </a:r>
            <a:r>
              <a:rPr lang="en-US" sz="1250" dirty="0">
                <a:solidFill>
                  <a:srgbClr val="E6EDF3"/>
                </a:solidFill>
                <a:latin typeface="Consolas" pitchFamily="34" charset="0"/>
                <a:ea typeface="Consolas" pitchFamily="34" charset="-122"/>
                <a:cs typeface="Consolas" pitchFamily="34" charset="-120"/>
              </a:rPr>
              <a:t>); </a:t>
            </a:r>
            <a:r>
              <a:rPr lang="en-US" sz="1250" i="1" dirty="0">
                <a:solidFill>
                  <a:srgbClr val="8FA3BC"/>
                </a:solidFill>
                <a:latin typeface="Consolas" pitchFamily="34" charset="0"/>
                <a:ea typeface="Consolas" pitchFamily="34" charset="-122"/>
                <a:cs typeface="Consolas" pitchFamily="34" charset="-120"/>
              </a:rPr>
              <a:t>// tepat di batas</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expect(hitungDiskon(</a:t>
            </a:r>
            <a:r>
              <a:rPr lang="en-US" sz="1250" dirty="0">
                <a:solidFill>
                  <a:srgbClr val="F78C6C"/>
                </a:solidFill>
                <a:latin typeface="Consolas" pitchFamily="34" charset="0"/>
                <a:ea typeface="Consolas" pitchFamily="34" charset="-122"/>
                <a:cs typeface="Consolas" pitchFamily="34" charset="-120"/>
              </a:rPr>
              <a:t>49999</a:t>
            </a: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78C6C"/>
                </a:solidFill>
                <a:latin typeface="Consolas" pitchFamily="34" charset="0"/>
                <a:ea typeface="Consolas" pitchFamily="34" charset="-122"/>
                <a:cs typeface="Consolas" pitchFamily="34" charset="-120"/>
              </a:rPr>
              <a:t>0</a:t>
            </a:r>
            <a:r>
              <a:rPr lang="en-US" sz="1250" dirty="0">
                <a:solidFill>
                  <a:srgbClr val="E6EDF3"/>
                </a:solidFill>
                <a:latin typeface="Consolas" pitchFamily="34" charset="0"/>
                <a:ea typeface="Consolas" pitchFamily="34" charset="-122"/>
                <a:cs typeface="Consolas" pitchFamily="34" charset="-120"/>
              </a:rPr>
              <a:t>); </a:t>
            </a:r>
            <a:r>
              <a:rPr lang="en-US" sz="1250" i="1" dirty="0">
                <a:solidFill>
                  <a:srgbClr val="8FA3BC"/>
                </a:solidFill>
                <a:latin typeface="Consolas" pitchFamily="34" charset="0"/>
                <a:ea typeface="Consolas" pitchFamily="34" charset="-122"/>
                <a:cs typeface="Consolas" pitchFamily="34" charset="-120"/>
              </a:rPr>
              <a:t>// selangkah di bawah batas</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p:txBody>
      </p:sp>
      <p:sp>
        <p:nvSpPr>
          <p:cNvPr id="5" name="tombol tautan">
            <a:hlinkClick r:id="rId1" tooltip="https://github.com/antonprafanto/mobile2026/blob/main/pertemuan_14_pengujian_dan_debugging/kode/contoh_09_mencari_bug_dengan_debugger.dart"/>
          </p:cNvPr>
          <p:cNvSpPr txBox="1"/>
          <p:nvPr/>
        </p:nvSpPr>
        <p:spPr>
          <a:xfrm>
            <a:off x="548640" y="4812030"/>
            <a:ext cx="640080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contoh_09_mencari_bug_dengan_debugger.dart</a:t>
            </a:r>
            <a:endParaRPr lang="en-US" sz="1300" dirty="0"/>
          </a:p>
        </p:txBody>
      </p:sp>
      <p:pic>
        <p:nvPicPr>
          <p:cNvPr id="6" name="Image 0" descr="ikon tautan">
            <a:hlinkClick r:id="rId3" tooltip="https://github.com/antonprafanto/mobile2026/blob/main/pertemuan_14_pengujian_dan_debugging/kode/contoh_09_mencari_bug_dengan_debugger.dart"/>
          </p:cNvPr>
          <p:cNvPicPr>
            <a:picLocks noChangeAspect="1"/>
          </p:cNvPicPr>
          <p:nvPr/>
        </p:nvPicPr>
        <p:blipFill>
          <a:blip r:embed="rId2"/>
          <a:stretch>
            <a:fillRect/>
          </a:stretch>
        </p:blipFill>
        <p:spPr>
          <a:xfrm>
            <a:off x="694944" y="4903470"/>
            <a:ext cx="274320" cy="274320"/>
          </a:xfrm>
          <a:prstGeom prst="rect">
            <a:avLst/>
          </a:prstGeom>
        </p:spPr>
      </p:pic>
      <p:sp>
        <p:nvSpPr>
          <p:cNvPr id="7" name="daftar poin"/>
          <p:cNvSpPr txBox="1"/>
          <p:nvPr/>
        </p:nvSpPr>
        <p:spPr>
          <a:xfrm>
            <a:off x="7360920" y="1417320"/>
            <a:ext cx="428213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Breakpoint biasa berhenti TERUS, karena build memanggil hitungDiskon setiap kali.</a:t>
            </a:r>
            <a:endParaRPr lang="en-US" sz="1700" dirty="0"/>
          </a:p>
          <a:p>
            <a:pPr marL="228600" indent="-228600">
              <a:spcAft>
                <a:spcPts val="800"/>
              </a:spcAft>
              <a:buSzPct val="100000"/>
              <a:buChar char="•"/>
            </a:pPr>
            <a:r>
              <a:rPr lang="en-US" sz="1700" dirty="0">
                <a:solidFill>
                  <a:schemeClr val="tx1"/>
                </a:solidFill>
              </a:rPr>
              <a:t>Klik kanan di kiri baris 65 → Add Conditional Breakpoint... → Expression: subtotal == 50000.</a:t>
            </a:r>
            <a:endParaRPr lang="en-US" sz="1700" dirty="0"/>
          </a:p>
          <a:p>
            <a:pPr marL="228600" indent="-228600">
              <a:spcAft>
                <a:spcPts val="800"/>
              </a:spcAft>
              <a:buSzPct val="100000"/>
              <a:buChar char="•"/>
            </a:pPr>
            <a:r>
              <a:rPr lang="en-US" sz="1700" dirty="0">
                <a:solidFill>
                  <a:schemeClr val="tx1"/>
                </a:solidFill>
              </a:rPr>
              <a:t>F10: baris kuning MELOMPATI return subtotal ~/ 10 → syarat if bernilai false.</a:t>
            </a:r>
            <a:endParaRPr lang="en-US" sz="1700" dirty="0"/>
          </a:p>
          <a:p>
            <a:pPr marL="228600" indent="-228600">
              <a:spcAft>
                <a:spcPts val="800"/>
              </a:spcAft>
              <a:buSzPct val="100000"/>
              <a:buChar char="•"/>
            </a:pPr>
            <a:r>
              <a:rPr lang="en-US" sz="1700" dirty="0">
                <a:solidFill>
                  <a:schemeClr val="tx1"/>
                </a:solidFill>
              </a:rPr>
              <a:t>Debug Console: subtotal &gt; batasDiskon → false; subtotal &gt;= batasDiskon → true. Perbaiki menjadi &gt;=.</a:t>
            </a:r>
            <a:endParaRPr lang="en-US" sz="1700" dirty="0"/>
          </a:p>
          <a:p>
            <a:pPr marL="228600" indent="-228600">
              <a:spcAft>
                <a:spcPts val="800"/>
              </a:spcAft>
              <a:buSzPct val="100000"/>
              <a:buChar char="•"/>
            </a:pPr>
            <a:r>
              <a:rPr lang="en-US" sz="1700" dirty="0">
                <a:solidFill>
                  <a:schemeClr val="tx1"/>
                </a:solidFill>
              </a:rPr>
              <a:t>Kunci dengan tes regresi; lihat merah dulu.</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Gejala 3: Logpoint</a:t>
            </a:r>
            <a:endParaRPr lang="en-US" sz="3200" dirty="0"/>
          </a:p>
        </p:txBody>
      </p:sp>
      <p:sp>
        <p:nvSpPr>
          <p:cNvPr id="4" name="kotak kode"/>
          <p:cNvSpPr txBox="1"/>
          <p:nvPr/>
        </p:nvSpPr>
        <p:spPr>
          <a:xfrm>
            <a:off x="548640" y="1371600"/>
            <a:ext cx="6400800" cy="2875788"/>
          </a:xfrm>
          <a:prstGeom prst="roundRect">
            <a:avLst>
              <a:gd name="adj" fmla="val 3180"/>
            </a:avLst>
          </a:prstGeom>
          <a:solidFill>
            <a:srgbClr val="0E1A2B"/>
          </a:solidFill>
          <a:ln/>
        </p:spPr>
        <p:txBody>
          <a:bodyPr wrap="square" lIns="177800" tIns="152400" rIns="152400" bIns="177800" rtlCol="0" anchor="t"/>
          <a:lstStyle/>
          <a:p>
            <a:pPr indent="0" marL="0">
              <a:lnSpc>
                <a:spcPct val="105000"/>
              </a:lnSpc>
              <a:buNone/>
            </a:pPr>
            <a:r>
              <a:rPr lang="en-US" sz="1400" i="1" dirty="0">
                <a:solidFill>
                  <a:srgbClr val="8FA3BC"/>
                </a:solidFill>
                <a:latin typeface="Consolas" pitchFamily="34" charset="0"/>
                <a:ea typeface="Consolas" pitchFamily="34" charset="-122"/>
                <a:cs typeface="Consolas" pitchFamily="34" charset="-120"/>
              </a:rPr>
              <a:t>// SALAH</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onChanged: (</a:t>
            </a:r>
            <a:r>
              <a:rPr lang="en-US" sz="1400" dirty="0">
                <a:solidFill>
                  <a:srgbClr val="FFCB6B"/>
                </a:solidFill>
                <a:latin typeface="Consolas" pitchFamily="34" charset="0"/>
                <a:ea typeface="Consolas" pitchFamily="34" charset="-122"/>
                <a:cs typeface="Consolas" pitchFamily="34" charset="-120"/>
              </a:rPr>
              <a:t>String</a:t>
            </a:r>
            <a:r>
              <a:rPr lang="en-US" sz="1400" dirty="0">
                <a:solidFill>
                  <a:srgbClr val="E6EDF3"/>
                </a:solidFill>
                <a:latin typeface="Consolas" pitchFamily="34" charset="0"/>
                <a:ea typeface="Consolas" pitchFamily="34" charset="-122"/>
                <a:cs typeface="Consolas" pitchFamily="34" charset="-120"/>
              </a:rPr>
              <a:t> isian)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_dibayar = </a:t>
            </a:r>
            <a:r>
              <a:rPr lang="en-US" sz="1400" dirty="0">
                <a:solidFill>
                  <a:srgbClr val="FFCB6B"/>
                </a:solidFill>
                <a:latin typeface="Consolas" pitchFamily="34" charset="0"/>
                <a:ea typeface="Consolas" pitchFamily="34" charset="-122"/>
                <a:cs typeface="Consolas" pitchFamily="34" charset="-120"/>
              </a:rPr>
              <a:t>int</a:t>
            </a:r>
            <a:r>
              <a:rPr lang="en-US" sz="1400" dirty="0">
                <a:solidFill>
                  <a:srgbClr val="E6EDF3"/>
                </a:solidFill>
                <a:latin typeface="Consolas" pitchFamily="34" charset="0"/>
                <a:ea typeface="Consolas" pitchFamily="34" charset="-122"/>
                <a:cs typeface="Consolas" pitchFamily="34" charset="-120"/>
              </a:rPr>
              <a:t>.tryParse(isian) ?? </a:t>
            </a:r>
            <a:r>
              <a:rPr lang="en-US" sz="1400" dirty="0">
                <a:solidFill>
                  <a:srgbClr val="F78C6C"/>
                </a:solidFill>
                <a:latin typeface="Consolas" pitchFamily="34" charset="0"/>
                <a:ea typeface="Consolas" pitchFamily="34" charset="-122"/>
                <a:cs typeface="Consolas" pitchFamily="34" charset="-120"/>
              </a:rPr>
              <a:t>0</a:t>
            </a:r>
            <a:r>
              <a:rPr lang="en-US" sz="1400" dirty="0">
                <a:solidFill>
                  <a:srgbClr val="E6EDF3"/>
                </a:solidFill>
                <a:latin typeface="Consolas" pitchFamily="34" charset="0"/>
                <a:ea typeface="Consolas" pitchFamily="34" charset="-122"/>
                <a:cs typeface="Consolas" pitchFamily="34" charset="-120"/>
              </a:rPr>
              <a:t>; </a:t>
            </a:r>
            <a:r>
              <a:rPr lang="en-US" sz="1400" i="1" dirty="0">
                <a:solidFill>
                  <a:srgbClr val="8FA3BC"/>
                </a:solidFill>
                <a:latin typeface="Consolas" pitchFamily="34" charset="0"/>
                <a:ea typeface="Consolas" pitchFamily="34" charset="-122"/>
                <a:cs typeface="Consolas" pitchFamily="34" charset="-120"/>
              </a:rPr>
              <a:t>// ← baris 222</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i="1" dirty="0">
                <a:solidFill>
                  <a:srgbClr val="8FA3BC"/>
                </a:solidFill>
                <a:latin typeface="Consolas" pitchFamily="34" charset="0"/>
                <a:ea typeface="Consolas" pitchFamily="34" charset="-122"/>
                <a:cs typeface="Consolas" pitchFamily="34" charset="-120"/>
              </a:rPr>
              <a:t>// BENAR</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onChanged: (</a:t>
            </a:r>
            <a:r>
              <a:rPr lang="en-US" sz="1400" dirty="0">
                <a:solidFill>
                  <a:srgbClr val="FFCB6B"/>
                </a:solidFill>
                <a:latin typeface="Consolas" pitchFamily="34" charset="0"/>
                <a:ea typeface="Consolas" pitchFamily="34" charset="-122"/>
                <a:cs typeface="Consolas" pitchFamily="34" charset="-120"/>
              </a:rPr>
              <a:t>String</a:t>
            </a:r>
            <a:r>
              <a:rPr lang="en-US" sz="1400" dirty="0">
                <a:solidFill>
                  <a:srgbClr val="E6EDF3"/>
                </a:solidFill>
                <a:latin typeface="Consolas" pitchFamily="34" charset="0"/>
                <a:ea typeface="Consolas" pitchFamily="34" charset="-122"/>
                <a:cs typeface="Consolas" pitchFamily="34" charset="-120"/>
              </a:rPr>
              <a:t> isian)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setState(()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_dibayar = </a:t>
            </a:r>
            <a:r>
              <a:rPr lang="en-US" sz="1400" dirty="0">
                <a:solidFill>
                  <a:srgbClr val="FFCB6B"/>
                </a:solidFill>
                <a:latin typeface="Consolas" pitchFamily="34" charset="0"/>
                <a:ea typeface="Consolas" pitchFamily="34" charset="-122"/>
                <a:cs typeface="Consolas" pitchFamily="34" charset="-120"/>
              </a:rPr>
              <a:t>int</a:t>
            </a:r>
            <a:r>
              <a:rPr lang="en-US" sz="1400" dirty="0">
                <a:solidFill>
                  <a:srgbClr val="E6EDF3"/>
                </a:solidFill>
                <a:latin typeface="Consolas" pitchFamily="34" charset="0"/>
                <a:ea typeface="Consolas" pitchFamily="34" charset="-122"/>
                <a:cs typeface="Consolas" pitchFamily="34" charset="-120"/>
              </a:rPr>
              <a:t>.tryParse(isian) ?? </a:t>
            </a:r>
            <a:r>
              <a:rPr lang="en-US" sz="1400" dirty="0">
                <a:solidFill>
                  <a:srgbClr val="F78C6C"/>
                </a:solidFill>
                <a:latin typeface="Consolas" pitchFamily="34" charset="0"/>
                <a:ea typeface="Consolas" pitchFamily="34" charset="-122"/>
                <a:cs typeface="Consolas" pitchFamily="34" charset="-120"/>
              </a:rPr>
              <a:t>0</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p:txBody>
      </p:sp>
      <p:sp>
        <p:nvSpPr>
          <p:cNvPr id="5" name="tombol tautan">
            <a:hlinkClick r:id="rId1" tooltip="https://github.com/antonprafanto/mobile2026/blob/main/pertemuan_14_pengujian_dan_debugging/kode/contoh_09_mencari_bug_dengan_debugger.dart"/>
          </p:cNvPr>
          <p:cNvSpPr txBox="1"/>
          <p:nvPr/>
        </p:nvSpPr>
        <p:spPr>
          <a:xfrm>
            <a:off x="548640" y="4475988"/>
            <a:ext cx="640080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contoh_09_mencari_bug_dengan_debugger.dart</a:t>
            </a:r>
            <a:endParaRPr lang="en-US" sz="1300" dirty="0"/>
          </a:p>
        </p:txBody>
      </p:sp>
      <p:pic>
        <p:nvPicPr>
          <p:cNvPr id="6" name="Image 0" descr="ikon tautan">
            <a:hlinkClick r:id="rId3" tooltip="https://github.com/antonprafanto/mobile2026/blob/main/pertemuan_14_pengujian_dan_debugging/kode/contoh_09_mencari_bug_dengan_debugger.dart"/>
          </p:cNvPr>
          <p:cNvPicPr>
            <a:picLocks noChangeAspect="1"/>
          </p:cNvPicPr>
          <p:nvPr/>
        </p:nvPicPr>
        <p:blipFill>
          <a:blip r:embed="rId2"/>
          <a:stretch>
            <a:fillRect/>
          </a:stretch>
        </p:blipFill>
        <p:spPr>
          <a:xfrm>
            <a:off x="694944" y="4567428"/>
            <a:ext cx="274320" cy="274320"/>
          </a:xfrm>
          <a:prstGeom prst="rect">
            <a:avLst/>
          </a:prstGeom>
        </p:spPr>
      </p:pic>
      <p:sp>
        <p:nvSpPr>
          <p:cNvPr id="7" name="daftar poin"/>
          <p:cNvSpPr txBox="1"/>
          <p:nvPr/>
        </p:nvSpPr>
        <p:spPr>
          <a:xfrm>
            <a:off x="7360920" y="1417320"/>
            <a:ext cx="428213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Logpoint = breakpoint yang TIDAK menghentikan aplikasi, hanya mencetak pesan.</a:t>
            </a:r>
            <a:endParaRPr lang="en-US" sz="1700" dirty="0"/>
          </a:p>
          <a:p>
            <a:pPr marL="228600" indent="-228600">
              <a:spcAft>
                <a:spcPts val="800"/>
              </a:spcAft>
              <a:buSzPct val="100000"/>
              <a:buChar char="•"/>
            </a:pPr>
            <a:r>
              <a:rPr lang="en-US" sz="1700" dirty="0">
                <a:solidFill>
                  <a:schemeClr val="tx1"/>
                </a:solidFill>
              </a:rPr>
              <a:t>Klik kanan baris 222 → Add Logpoint... → onChanged terpanggil, isian = {isian}</a:t>
            </a:r>
            <a:endParaRPr lang="en-US" sz="1700" dirty="0"/>
          </a:p>
          <a:p>
            <a:pPr marL="228600" indent="-228600">
              <a:spcAft>
                <a:spcPts val="800"/>
              </a:spcAft>
              <a:buSzPct val="100000"/>
              <a:buChar char="•"/>
            </a:pPr>
            <a:r>
              <a:rPr lang="en-US" sz="1700" dirty="0">
                <a:solidFill>
                  <a:schemeClr val="tx1"/>
                </a:solidFill>
              </a:rPr>
              <a:t>Debug Console mencetak setiap ketikan: onChanged BERJALAN, _dibayar sudah benar.</a:t>
            </a:r>
            <a:endParaRPr lang="en-US" sz="1700" dirty="0"/>
          </a:p>
          <a:p>
            <a:pPr marL="228600" indent="-228600">
              <a:spcAft>
                <a:spcPts val="800"/>
              </a:spcAft>
              <a:buSzPct val="100000"/>
              <a:buChar char="•"/>
            </a:pPr>
            <a:r>
              <a:rPr lang="en-US" sz="1700" dirty="0">
                <a:solidFill>
                  <a:schemeClr val="tx1"/>
                </a:solidFill>
              </a:rPr>
              <a:t>Breakpoint di build (baris 178) TIDAK berhenti saat mengetik → build tidak dijalankan ulang → setState.</a:t>
            </a:r>
            <a:endParaRPr lang="en-US" sz="1700" dirty="0"/>
          </a:p>
          <a:p>
            <a:pPr marL="228600" indent="-228600">
              <a:spcAft>
                <a:spcPts val="800"/>
              </a:spcAft>
              <a:buSzPct val="100000"/>
              <a:buChar char="•"/>
            </a:pPr>
            <a:r>
              <a:rPr lang="en-US" sz="1700" dirty="0">
                <a:solidFill>
                  <a:schemeClr val="tx1"/>
                </a:solidFill>
              </a:rPr>
              <a:t>Tanpa mengubah kode, berbeda dengan print, debugPrint, atau developer.log.</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Kebiasaan Detektif</a:t>
            </a:r>
            <a:endParaRPr lang="en-US" sz="3200" dirty="0"/>
          </a:p>
        </p:txBody>
      </p:sp>
      <p:sp>
        <p:nvSpPr>
          <p:cNvPr id="4" name="Text 1"/>
          <p:cNvSpPr txBox="1"/>
          <p:nvPr/>
        </p:nvSpPr>
        <p:spPr>
          <a:xfrm>
            <a:off x="548640" y="1325880"/>
            <a:ext cx="11094415" cy="548640"/>
          </a:xfrm>
          <a:prstGeom prst="rect">
            <a:avLst/>
          </a:prstGeom>
          <a:noFill/>
          <a:ln/>
        </p:spPr>
        <p:txBody>
          <a:bodyPr wrap="square" lIns="0" tIns="0" rIns="0" bIns="0" rtlCol="0" anchor="ctr"/>
          <a:lstStyle/>
          <a:p>
            <a:pPr indent="0" marL="0">
              <a:buNone/>
            </a:pPr>
            <a:r>
              <a:rPr lang="en-US" sz="1800" dirty="0">
                <a:solidFill>
                  <a:srgbClr val="4A5870"/>
                </a:solidFill>
              </a:rPr>
              <a:t>Tes gagal, tetapi alasannya belum jelas? Pasang breakpoint, lalu klik Debug (bukan Run) di atas test( atau testWidgets(.</a:t>
            </a:r>
            <a:endParaRPr lang="en-US" sz="1800" dirty="0"/>
          </a:p>
        </p:txBody>
      </p:sp>
      <p:sp>
        <p:nvSpPr>
          <p:cNvPr id="5" name="langkah 1"/>
          <p:cNvSpPr/>
          <p:nvPr/>
        </p:nvSpPr>
        <p:spPr>
          <a:xfrm>
            <a:off x="548640" y="2103120"/>
            <a:ext cx="1962851" cy="3566160"/>
          </a:xfrm>
          <a:prstGeom prst="roundRect">
            <a:avLst>
              <a:gd name="adj" fmla="val 6988"/>
            </a:avLst>
          </a:prstGeom>
          <a:solidFill>
            <a:schemeClr val="bg2"/>
          </a:solidFill>
          <a:ln/>
        </p:spPr>
      </p:sp>
      <p:sp>
        <p:nvSpPr>
          <p:cNvPr id="6" name="lingkaran ulang"/>
          <p:cNvSpPr/>
          <p:nvPr/>
        </p:nvSpPr>
        <p:spPr>
          <a:xfrm>
            <a:off x="1095726" y="2377440"/>
            <a:ext cx="868680" cy="868680"/>
          </a:xfrm>
          <a:prstGeom prst="ellipse">
            <a:avLst/>
          </a:prstGeom>
          <a:solidFill>
            <a:schemeClr val="accent1"/>
          </a:solidFill>
          <a:ln/>
        </p:spPr>
      </p:sp>
      <p:pic>
        <p:nvPicPr>
          <p:cNvPr id="7" name="Image 0" descr="ulang">    </p:cNvPr>
          <p:cNvPicPr>
            <a:picLocks noChangeAspect="1"/>
          </p:cNvPicPr>
          <p:nvPr/>
        </p:nvPicPr>
        <p:blipFill>
          <a:blip r:embed="rId1"/>
          <a:stretch>
            <a:fillRect/>
          </a:stretch>
        </p:blipFill>
        <p:spPr>
          <a:xfrm>
            <a:off x="1286835" y="2568550"/>
            <a:ext cx="486461" cy="486461"/>
          </a:xfrm>
          <a:prstGeom prst="rect">
            <a:avLst/>
          </a:prstGeom>
        </p:spPr>
      </p:pic>
      <p:sp>
        <p:nvSpPr>
          <p:cNvPr id="8" name="Text 4"/>
          <p:cNvSpPr txBox="1"/>
          <p:nvPr/>
        </p:nvSpPr>
        <p:spPr>
          <a:xfrm>
            <a:off x="658368"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9" name="Text 5"/>
          <p:cNvSpPr txBox="1"/>
          <p:nvPr/>
        </p:nvSpPr>
        <p:spPr>
          <a:xfrm>
            <a:off x="685800"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Ulangi bug-nya</a:t>
            </a:r>
            <a:endParaRPr lang="en-US" sz="1700" dirty="0"/>
          </a:p>
        </p:txBody>
      </p:sp>
      <p:sp>
        <p:nvSpPr>
          <p:cNvPr id="10" name="Text 6"/>
          <p:cNvSpPr txBox="1"/>
          <p:nvPr/>
        </p:nvSpPr>
        <p:spPr>
          <a:xfrm>
            <a:off x="685800" y="420624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Catat langkah persisnya: "pesan 2 Nasi Goreng, diskon Rp0"</a:t>
            </a:r>
            <a:endParaRPr lang="en-US" sz="1400" dirty="0"/>
          </a:p>
        </p:txBody>
      </p:sp>
      <p:sp>
        <p:nvSpPr>
          <p:cNvPr id="11" name="Shape 7"/>
          <p:cNvSpPr/>
          <p:nvPr/>
        </p:nvSpPr>
        <p:spPr>
          <a:xfrm>
            <a:off x="2548067" y="2670048"/>
            <a:ext cx="246888" cy="274320"/>
          </a:xfrm>
          <a:prstGeom prst="rightArrow">
            <a:avLst/>
          </a:prstGeom>
          <a:solidFill>
            <a:schemeClr val="accent2"/>
          </a:solidFill>
          <a:ln/>
        </p:spPr>
      </p:sp>
      <p:sp>
        <p:nvSpPr>
          <p:cNvPr id="12" name="langkah 2"/>
          <p:cNvSpPr/>
          <p:nvPr/>
        </p:nvSpPr>
        <p:spPr>
          <a:xfrm>
            <a:off x="2831531" y="2103120"/>
            <a:ext cx="1962851" cy="3566160"/>
          </a:xfrm>
          <a:prstGeom prst="roundRect">
            <a:avLst>
              <a:gd name="adj" fmla="val 6988"/>
            </a:avLst>
          </a:prstGeom>
          <a:solidFill>
            <a:schemeClr val="bg2"/>
          </a:solidFill>
          <a:ln/>
        </p:spPr>
      </p:sp>
      <p:sp>
        <p:nvSpPr>
          <p:cNvPr id="13" name="lingkaran galat"/>
          <p:cNvSpPr/>
          <p:nvPr/>
        </p:nvSpPr>
        <p:spPr>
          <a:xfrm>
            <a:off x="3378617" y="2377440"/>
            <a:ext cx="868680" cy="868680"/>
          </a:xfrm>
          <a:prstGeom prst="ellipse">
            <a:avLst/>
          </a:prstGeom>
          <a:solidFill>
            <a:schemeClr val="accent5"/>
          </a:solidFill>
          <a:ln/>
        </p:spPr>
      </p:sp>
      <p:pic>
        <p:nvPicPr>
          <p:cNvPr id="14" name="Image 1" descr="galat">    </p:cNvPr>
          <p:cNvPicPr>
            <a:picLocks noChangeAspect="1"/>
          </p:cNvPicPr>
          <p:nvPr/>
        </p:nvPicPr>
        <p:blipFill>
          <a:blip r:embed="rId2"/>
          <a:stretch>
            <a:fillRect/>
          </a:stretch>
        </p:blipFill>
        <p:spPr>
          <a:xfrm>
            <a:off x="3569726" y="2568550"/>
            <a:ext cx="486461" cy="486461"/>
          </a:xfrm>
          <a:prstGeom prst="rect">
            <a:avLst/>
          </a:prstGeom>
        </p:spPr>
      </p:pic>
      <p:sp>
        <p:nvSpPr>
          <p:cNvPr id="15" name="Text 10"/>
          <p:cNvSpPr txBox="1"/>
          <p:nvPr/>
        </p:nvSpPr>
        <p:spPr>
          <a:xfrm>
            <a:off x="2941259"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6" name="Text 11"/>
          <p:cNvSpPr txBox="1"/>
          <p:nvPr/>
        </p:nvSpPr>
        <p:spPr>
          <a:xfrm>
            <a:off x="2968691"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Baca galat pertama</a:t>
            </a:r>
            <a:endParaRPr lang="en-US" sz="1700" dirty="0"/>
          </a:p>
        </p:txBody>
      </p:sp>
      <p:sp>
        <p:nvSpPr>
          <p:cNvPr id="17" name="Text 12"/>
          <p:cNvSpPr txBox="1"/>
          <p:nvPr/>
        </p:nvSpPr>
        <p:spPr>
          <a:xfrm>
            <a:off x="2968691" y="420624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Beserta stack trace-nya, jika ada</a:t>
            </a:r>
            <a:endParaRPr lang="en-US" sz="1400" dirty="0"/>
          </a:p>
        </p:txBody>
      </p:sp>
      <p:sp>
        <p:nvSpPr>
          <p:cNvPr id="18" name="Shape 13"/>
          <p:cNvSpPr/>
          <p:nvPr/>
        </p:nvSpPr>
        <p:spPr>
          <a:xfrm>
            <a:off x="4830958" y="2670048"/>
            <a:ext cx="246888" cy="274320"/>
          </a:xfrm>
          <a:prstGeom prst="rightArrow">
            <a:avLst/>
          </a:prstGeom>
          <a:solidFill>
            <a:schemeClr val="accent2"/>
          </a:solidFill>
          <a:ln/>
        </p:spPr>
      </p:sp>
      <p:sp>
        <p:nvSpPr>
          <p:cNvPr id="19" name="langkah 3"/>
          <p:cNvSpPr/>
          <p:nvPr/>
        </p:nvSpPr>
        <p:spPr>
          <a:xfrm>
            <a:off x="5114422" y="2103120"/>
            <a:ext cx="1962851" cy="3566160"/>
          </a:xfrm>
          <a:prstGeom prst="roundRect">
            <a:avLst>
              <a:gd name="adj" fmla="val 6988"/>
            </a:avLst>
          </a:prstGeom>
          <a:solidFill>
            <a:schemeClr val="bg2"/>
          </a:solidFill>
          <a:ln/>
        </p:spPr>
      </p:sp>
      <p:sp>
        <p:nvSpPr>
          <p:cNvPr id="20" name="lingkaran lampu"/>
          <p:cNvSpPr/>
          <p:nvPr/>
        </p:nvSpPr>
        <p:spPr>
          <a:xfrm>
            <a:off x="5661508" y="2377440"/>
            <a:ext cx="868680" cy="868680"/>
          </a:xfrm>
          <a:prstGeom prst="ellipse">
            <a:avLst/>
          </a:prstGeom>
          <a:solidFill>
            <a:schemeClr val="accent3"/>
          </a:solidFill>
          <a:ln/>
        </p:spPr>
      </p:sp>
      <p:pic>
        <p:nvPicPr>
          <p:cNvPr id="21" name="Image 2" descr="lampu">    </p:cNvPr>
          <p:cNvPicPr>
            <a:picLocks noChangeAspect="1"/>
          </p:cNvPicPr>
          <p:nvPr/>
        </p:nvPicPr>
        <p:blipFill>
          <a:blip r:embed="rId3"/>
          <a:stretch>
            <a:fillRect/>
          </a:stretch>
        </p:blipFill>
        <p:spPr>
          <a:xfrm>
            <a:off x="5852617" y="2568550"/>
            <a:ext cx="486461" cy="486461"/>
          </a:xfrm>
          <a:prstGeom prst="rect">
            <a:avLst/>
          </a:prstGeom>
        </p:spPr>
      </p:pic>
      <p:sp>
        <p:nvSpPr>
          <p:cNvPr id="22" name="Text 16"/>
          <p:cNvSpPr txBox="1"/>
          <p:nvPr/>
        </p:nvSpPr>
        <p:spPr>
          <a:xfrm>
            <a:off x="5224150"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3" name="Text 17"/>
          <p:cNvSpPr txBox="1"/>
          <p:nvPr/>
        </p:nvSpPr>
        <p:spPr>
          <a:xfrm>
            <a:off x="5251582"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Buat dugaan</a:t>
            </a:r>
            <a:endParaRPr lang="en-US" sz="1700" dirty="0"/>
          </a:p>
        </p:txBody>
      </p:sp>
      <p:sp>
        <p:nvSpPr>
          <p:cNvPr id="24" name="Text 18"/>
          <p:cNvSpPr txBox="1"/>
          <p:nvPr/>
        </p:nvSpPr>
        <p:spPr>
          <a:xfrm>
            <a:off x="5251582" y="420624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"Mungkin syarat diskonnya salah"</a:t>
            </a:r>
            <a:endParaRPr lang="en-US" sz="1400" dirty="0"/>
          </a:p>
        </p:txBody>
      </p:sp>
      <p:sp>
        <p:nvSpPr>
          <p:cNvPr id="25" name="Shape 19"/>
          <p:cNvSpPr/>
          <p:nvPr/>
        </p:nvSpPr>
        <p:spPr>
          <a:xfrm>
            <a:off x="7113849" y="2670048"/>
            <a:ext cx="246888" cy="274320"/>
          </a:xfrm>
          <a:prstGeom prst="rightArrow">
            <a:avLst/>
          </a:prstGeom>
          <a:solidFill>
            <a:schemeClr val="accent2"/>
          </a:solidFill>
          <a:ln/>
        </p:spPr>
      </p:sp>
      <p:sp>
        <p:nvSpPr>
          <p:cNvPr id="26" name="langkah 4"/>
          <p:cNvSpPr/>
          <p:nvPr/>
        </p:nvSpPr>
        <p:spPr>
          <a:xfrm>
            <a:off x="7397313" y="2103120"/>
            <a:ext cx="1962851" cy="3566160"/>
          </a:xfrm>
          <a:prstGeom prst="roundRect">
            <a:avLst>
              <a:gd name="adj" fmla="val 6988"/>
            </a:avLst>
          </a:prstGeom>
          <a:solidFill>
            <a:schemeClr val="bg2"/>
          </a:solidFill>
          <a:ln/>
        </p:spPr>
      </p:sp>
      <p:sp>
        <p:nvSpPr>
          <p:cNvPr id="27" name="lingkaran cari"/>
          <p:cNvSpPr/>
          <p:nvPr/>
        </p:nvSpPr>
        <p:spPr>
          <a:xfrm>
            <a:off x="7944399" y="2377440"/>
            <a:ext cx="868680" cy="868680"/>
          </a:xfrm>
          <a:prstGeom prst="ellipse">
            <a:avLst/>
          </a:prstGeom>
          <a:solidFill>
            <a:schemeClr val="accent1"/>
          </a:solidFill>
          <a:ln/>
        </p:spPr>
      </p:sp>
      <p:pic>
        <p:nvPicPr>
          <p:cNvPr id="28" name="Image 3" descr="cari">    </p:cNvPr>
          <p:cNvPicPr>
            <a:picLocks noChangeAspect="1"/>
          </p:cNvPicPr>
          <p:nvPr/>
        </p:nvPicPr>
        <p:blipFill>
          <a:blip r:embed="rId4"/>
          <a:stretch>
            <a:fillRect/>
          </a:stretch>
        </p:blipFill>
        <p:spPr>
          <a:xfrm>
            <a:off x="8135508" y="2568550"/>
            <a:ext cx="486461" cy="486461"/>
          </a:xfrm>
          <a:prstGeom prst="rect">
            <a:avLst/>
          </a:prstGeom>
        </p:spPr>
      </p:pic>
      <p:sp>
        <p:nvSpPr>
          <p:cNvPr id="29" name="Text 22"/>
          <p:cNvSpPr txBox="1"/>
          <p:nvPr/>
        </p:nvSpPr>
        <p:spPr>
          <a:xfrm>
            <a:off x="7507041"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30" name="Text 23"/>
          <p:cNvSpPr txBox="1"/>
          <p:nvPr/>
        </p:nvSpPr>
        <p:spPr>
          <a:xfrm>
            <a:off x="7534473"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Buktikan dugaan</a:t>
            </a:r>
            <a:endParaRPr lang="en-US" sz="1700" dirty="0"/>
          </a:p>
        </p:txBody>
      </p:sp>
      <p:sp>
        <p:nvSpPr>
          <p:cNvPr id="31" name="Text 24"/>
          <p:cNvSpPr txBox="1"/>
          <p:nvPr/>
        </p:nvSpPr>
        <p:spPr>
          <a:xfrm>
            <a:off x="7534473" y="420624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Breakpoint, logpoint, atau Debug Console. Jangan mengubah kode berdasarkan tebakan</a:t>
            </a:r>
            <a:endParaRPr lang="en-US" sz="1400" dirty="0"/>
          </a:p>
        </p:txBody>
      </p:sp>
      <p:sp>
        <p:nvSpPr>
          <p:cNvPr id="32" name="Shape 25"/>
          <p:cNvSpPr/>
          <p:nvPr/>
        </p:nvSpPr>
        <p:spPr>
          <a:xfrm>
            <a:off x="9396740" y="2670048"/>
            <a:ext cx="246888" cy="274320"/>
          </a:xfrm>
          <a:prstGeom prst="rightArrow">
            <a:avLst/>
          </a:prstGeom>
          <a:solidFill>
            <a:schemeClr val="accent2"/>
          </a:solidFill>
          <a:ln/>
        </p:spPr>
      </p:sp>
      <p:sp>
        <p:nvSpPr>
          <p:cNvPr id="33" name="langkah 5"/>
          <p:cNvSpPr/>
          <p:nvPr/>
        </p:nvSpPr>
        <p:spPr>
          <a:xfrm>
            <a:off x="9680204" y="2103120"/>
            <a:ext cx="1962851" cy="3566160"/>
          </a:xfrm>
          <a:prstGeom prst="roundRect">
            <a:avLst>
              <a:gd name="adj" fmla="val 6988"/>
            </a:avLst>
          </a:prstGeom>
          <a:solidFill>
            <a:schemeClr val="bg2"/>
          </a:solidFill>
          <a:ln/>
        </p:spPr>
      </p:sp>
      <p:sp>
        <p:nvSpPr>
          <p:cNvPr id="34" name="lingkaran perisai"/>
          <p:cNvSpPr/>
          <p:nvPr/>
        </p:nvSpPr>
        <p:spPr>
          <a:xfrm>
            <a:off x="10227290" y="2377440"/>
            <a:ext cx="868680" cy="868680"/>
          </a:xfrm>
          <a:prstGeom prst="ellipse">
            <a:avLst/>
          </a:prstGeom>
          <a:solidFill>
            <a:schemeClr val="accent4"/>
          </a:solidFill>
          <a:ln/>
        </p:spPr>
      </p:sp>
      <p:pic>
        <p:nvPicPr>
          <p:cNvPr id="35" name="Image 4" descr="perisai">    </p:cNvPr>
          <p:cNvPicPr>
            <a:picLocks noChangeAspect="1"/>
          </p:cNvPicPr>
          <p:nvPr/>
        </p:nvPicPr>
        <p:blipFill>
          <a:blip r:embed="rId5"/>
          <a:stretch>
            <a:fillRect/>
          </a:stretch>
        </p:blipFill>
        <p:spPr>
          <a:xfrm>
            <a:off x="10418399" y="2568550"/>
            <a:ext cx="486461" cy="486461"/>
          </a:xfrm>
          <a:prstGeom prst="rect">
            <a:avLst/>
          </a:prstGeom>
        </p:spPr>
      </p:pic>
      <p:sp>
        <p:nvSpPr>
          <p:cNvPr id="36" name="Text 28"/>
          <p:cNvSpPr txBox="1"/>
          <p:nvPr/>
        </p:nvSpPr>
        <p:spPr>
          <a:xfrm>
            <a:off x="9789932"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5</a:t>
            </a:r>
            <a:endParaRPr lang="en-US" sz="1400" dirty="0"/>
          </a:p>
        </p:txBody>
      </p:sp>
      <p:sp>
        <p:nvSpPr>
          <p:cNvPr id="37" name="Text 29"/>
          <p:cNvSpPr txBox="1"/>
          <p:nvPr/>
        </p:nvSpPr>
        <p:spPr>
          <a:xfrm>
            <a:off x="9817364"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Perbaiki, lalu kunci</a:t>
            </a:r>
            <a:endParaRPr lang="en-US" sz="1700" dirty="0"/>
          </a:p>
        </p:txBody>
      </p:sp>
      <p:sp>
        <p:nvSpPr>
          <p:cNvPr id="38" name="Text 30"/>
          <p:cNvSpPr txBox="1"/>
          <p:nvPr/>
        </p:nvSpPr>
        <p:spPr>
          <a:xfrm>
            <a:off x="9817364" y="420624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Perbaikan sekecil mungkin, lalu kunci dengan tes regresi</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Flutter DevTools: Inspector</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Buka dari VS Code (F5, Ctrl+Shift+P → Dart: Open DevTools) atau dari alamat yang dicetak flutter run. Inspector berfungsi di semua platform, termasuk web.</a:t>
            </a:r>
            <a:endParaRPr lang="en-US" sz="18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3025750"/>
                <a:gridCol w="8068666"/>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Alat di Inspector</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Kegunaan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45720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Pohon widget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Susunan widget yang benar-benar dibangun; klik untuk melihat ukuran, padding, warna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Select Widget Mode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Nyalakan, lalu ketuk sesuatu di aplikasi: widget itu langsung terpilih di pohon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5720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Flex explorer</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Row/Column: sumbu, ukuran setiap anak, bagian yang meluap; coba flex tanpa mengubah kode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Show Guidelines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Menggambar garis batas setiap kotak, padding, dan perataan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5720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Slow Animations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Memperlambat semua animasi 5 kali, untuk memeriksa transisi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Highlight Oversized Images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Menandai gambar yang jauh lebih besar daripada ukuran tampilnya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6" name="lingkaran lampu"/>
          <p:cNvSpPr/>
          <p:nvPr/>
        </p:nvSpPr>
        <p:spPr>
          <a:xfrm>
            <a:off x="548640" y="5486400"/>
            <a:ext cx="502920" cy="502920"/>
          </a:xfrm>
          <a:prstGeom prst="ellipse">
            <a:avLst/>
          </a:prstGeom>
          <a:solidFill>
            <a:schemeClr val="accent3"/>
          </a:solidFill>
          <a:ln/>
        </p:spPr>
      </p:sp>
      <p:pic>
        <p:nvPicPr>
          <p:cNvPr id="7"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8" name="Text 3"/>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Tab lain: Performance (ukur dengan flutter run --profile), CPU Profiler, Memory, Network, Logging. Dari VS Code, tab Debugger disembunyikan.</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13</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Galat Tata Letak yang Paling Sering</a:t>
            </a:r>
            <a:endParaRPr lang="en-US" sz="4000" dirty="0"/>
          </a:p>
        </p:txBody>
      </p:sp>
      <p:sp>
        <p:nvSpPr>
          <p:cNvPr id="5" name="lingkaran bingkai"/>
          <p:cNvSpPr/>
          <p:nvPr/>
        </p:nvSpPr>
        <p:spPr>
          <a:xfrm>
            <a:off x="1097280" y="2148840"/>
            <a:ext cx="2011680" cy="2011680"/>
          </a:xfrm>
          <a:prstGeom prst="ellipse">
            <a:avLst/>
          </a:prstGeom>
          <a:solidFill>
            <a:schemeClr val="accent1"/>
          </a:solidFill>
          <a:ln/>
        </p:spPr>
      </p:sp>
      <p:pic>
        <p:nvPicPr>
          <p:cNvPr id="6" name="Image 0" descr="bingkai">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Aturan Emas Tata Letak Flutter</a:t>
            </a:r>
            <a:endParaRPr lang="en-US" sz="3200" dirty="0"/>
          </a:p>
        </p:txBody>
      </p:sp>
      <p:sp>
        <p:nvSpPr>
          <p:cNvPr id="4" name="Text 1"/>
          <p:cNvSpPr txBox="1"/>
          <p:nvPr/>
        </p:nvSpPr>
        <p:spPr>
          <a:xfrm>
            <a:off x="548640" y="1325880"/>
            <a:ext cx="11094415" cy="548640"/>
          </a:xfrm>
          <a:prstGeom prst="rect">
            <a:avLst/>
          </a:prstGeom>
          <a:noFill/>
          <a:ln/>
        </p:spPr>
        <p:txBody>
          <a:bodyPr wrap="square" lIns="0" tIns="0" rIns="0" bIns="0" rtlCol="0" anchor="ctr"/>
          <a:lstStyle/>
          <a:p>
            <a:pPr indent="0" marL="0">
              <a:buNone/>
            </a:pPr>
            <a:r>
              <a:rPr lang="en-US" sz="1800" dirty="0">
                <a:solidFill>
                  <a:srgbClr val="4A5870"/>
                </a:solidFill>
              </a:rPr>
              <a:t>"Batasan mengalir ke bawah. Ukuran mengalir ke atas. Induk menentukan posisi." (Constraints go down. Sizes go up. Parent sets position.)</a:t>
            </a:r>
            <a:endParaRPr lang="en-US" sz="1800" dirty="0"/>
          </a:p>
        </p:txBody>
      </p:sp>
      <p:sp>
        <p:nvSpPr>
          <p:cNvPr id="5" name="langkah 1"/>
          <p:cNvSpPr/>
          <p:nvPr/>
        </p:nvSpPr>
        <p:spPr>
          <a:xfrm>
            <a:off x="548640" y="2103120"/>
            <a:ext cx="1962851" cy="3566160"/>
          </a:xfrm>
          <a:prstGeom prst="roundRect">
            <a:avLst>
              <a:gd name="adj" fmla="val 6988"/>
            </a:avLst>
          </a:prstGeom>
          <a:solidFill>
            <a:schemeClr val="bg2"/>
          </a:solidFill>
          <a:ln/>
        </p:spPr>
      </p:sp>
      <p:sp>
        <p:nvSpPr>
          <p:cNvPr id="6" name="lingkaran ukur"/>
          <p:cNvSpPr/>
          <p:nvPr/>
        </p:nvSpPr>
        <p:spPr>
          <a:xfrm>
            <a:off x="1095726" y="2377440"/>
            <a:ext cx="868680" cy="868680"/>
          </a:xfrm>
          <a:prstGeom prst="ellipse">
            <a:avLst/>
          </a:prstGeom>
          <a:solidFill>
            <a:schemeClr val="accent1"/>
          </a:solidFill>
          <a:ln/>
        </p:spPr>
      </p:sp>
      <p:pic>
        <p:nvPicPr>
          <p:cNvPr id="7" name="Image 0" descr="ukur">    </p:cNvPr>
          <p:cNvPicPr>
            <a:picLocks noChangeAspect="1"/>
          </p:cNvPicPr>
          <p:nvPr/>
        </p:nvPicPr>
        <p:blipFill>
          <a:blip r:embed="rId1"/>
          <a:stretch>
            <a:fillRect/>
          </a:stretch>
        </p:blipFill>
        <p:spPr>
          <a:xfrm>
            <a:off x="1286835" y="2568550"/>
            <a:ext cx="486461" cy="486461"/>
          </a:xfrm>
          <a:prstGeom prst="rect">
            <a:avLst/>
          </a:prstGeom>
        </p:spPr>
      </p:pic>
      <p:sp>
        <p:nvSpPr>
          <p:cNvPr id="8" name="Text 4"/>
          <p:cNvSpPr txBox="1"/>
          <p:nvPr/>
        </p:nvSpPr>
        <p:spPr>
          <a:xfrm>
            <a:off x="658368"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9" name="Text 5"/>
          <p:cNvSpPr txBox="1"/>
          <p:nvPr/>
        </p:nvSpPr>
        <p:spPr>
          <a:xfrm>
            <a:off x="685800"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Batasan turun</a:t>
            </a:r>
            <a:endParaRPr lang="en-US" sz="1700" dirty="0"/>
          </a:p>
        </p:txBody>
      </p:sp>
      <p:sp>
        <p:nvSpPr>
          <p:cNvPr id="10" name="Text 6"/>
          <p:cNvSpPr txBox="1"/>
          <p:nvPr/>
        </p:nvSpPr>
        <p:spPr>
          <a:xfrm>
            <a:off x="685800" y="420624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Orang tua: "lebarmu boleh 0 sampai 360, tinggimu 0 sampai 640"</a:t>
            </a:r>
            <a:endParaRPr lang="en-US" sz="1400" dirty="0"/>
          </a:p>
        </p:txBody>
      </p:sp>
      <p:sp>
        <p:nvSpPr>
          <p:cNvPr id="11" name="Shape 7"/>
          <p:cNvSpPr/>
          <p:nvPr/>
        </p:nvSpPr>
        <p:spPr>
          <a:xfrm>
            <a:off x="2548067" y="2670048"/>
            <a:ext cx="246888" cy="274320"/>
          </a:xfrm>
          <a:prstGeom prst="rightArrow">
            <a:avLst/>
          </a:prstGeom>
          <a:solidFill>
            <a:schemeClr val="accent2"/>
          </a:solidFill>
          <a:ln/>
        </p:spPr>
      </p:sp>
      <p:sp>
        <p:nvSpPr>
          <p:cNvPr id="12" name="langkah 2"/>
          <p:cNvSpPr/>
          <p:nvPr/>
        </p:nvSpPr>
        <p:spPr>
          <a:xfrm>
            <a:off x="2831531" y="2103120"/>
            <a:ext cx="1962851" cy="3566160"/>
          </a:xfrm>
          <a:prstGeom prst="roundRect">
            <a:avLst>
              <a:gd name="adj" fmla="val 6988"/>
            </a:avLst>
          </a:prstGeom>
          <a:solidFill>
            <a:schemeClr val="bg2"/>
          </a:solidFill>
          <a:ln/>
        </p:spPr>
      </p:sp>
      <p:sp>
        <p:nvSpPr>
          <p:cNvPr id="13" name="lingkaran widget"/>
          <p:cNvSpPr/>
          <p:nvPr/>
        </p:nvSpPr>
        <p:spPr>
          <a:xfrm>
            <a:off x="3378617" y="2377440"/>
            <a:ext cx="868680" cy="868680"/>
          </a:xfrm>
          <a:prstGeom prst="ellipse">
            <a:avLst/>
          </a:prstGeom>
          <a:solidFill>
            <a:schemeClr val="accent1"/>
          </a:solidFill>
          <a:ln/>
        </p:spPr>
      </p:sp>
      <p:pic>
        <p:nvPicPr>
          <p:cNvPr id="14" name="Image 1" descr="widget">    </p:cNvPr>
          <p:cNvPicPr>
            <a:picLocks noChangeAspect="1"/>
          </p:cNvPicPr>
          <p:nvPr/>
        </p:nvPicPr>
        <p:blipFill>
          <a:blip r:embed="rId2"/>
          <a:stretch>
            <a:fillRect/>
          </a:stretch>
        </p:blipFill>
        <p:spPr>
          <a:xfrm>
            <a:off x="3569726" y="2568550"/>
            <a:ext cx="486461" cy="486461"/>
          </a:xfrm>
          <a:prstGeom prst="rect">
            <a:avLst/>
          </a:prstGeom>
        </p:spPr>
      </p:pic>
      <p:sp>
        <p:nvSpPr>
          <p:cNvPr id="15" name="Text 10"/>
          <p:cNvSpPr txBox="1"/>
          <p:nvPr/>
        </p:nvSpPr>
        <p:spPr>
          <a:xfrm>
            <a:off x="2941259"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6" name="Text 11"/>
          <p:cNvSpPr txBox="1"/>
          <p:nvPr/>
        </p:nvSpPr>
        <p:spPr>
          <a:xfrm>
            <a:off x="2968691"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Ukuran naik</a:t>
            </a:r>
            <a:endParaRPr lang="en-US" sz="1700" dirty="0"/>
          </a:p>
        </p:txBody>
      </p:sp>
      <p:sp>
        <p:nvSpPr>
          <p:cNvPr id="17" name="Text 12"/>
          <p:cNvSpPr txBox="1"/>
          <p:nvPr/>
        </p:nvSpPr>
        <p:spPr>
          <a:xfrm>
            <a:off x="2968691" y="420624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Anak memilih ukurannya sendiri, di dalam batasan itu</a:t>
            </a:r>
            <a:endParaRPr lang="en-US" sz="1400" dirty="0"/>
          </a:p>
        </p:txBody>
      </p:sp>
      <p:sp>
        <p:nvSpPr>
          <p:cNvPr id="18" name="Shape 13"/>
          <p:cNvSpPr/>
          <p:nvPr/>
        </p:nvSpPr>
        <p:spPr>
          <a:xfrm>
            <a:off x="4830958" y="2670048"/>
            <a:ext cx="246888" cy="274320"/>
          </a:xfrm>
          <a:prstGeom prst="rightArrow">
            <a:avLst/>
          </a:prstGeom>
          <a:solidFill>
            <a:schemeClr val="accent2"/>
          </a:solidFill>
          <a:ln/>
        </p:spPr>
      </p:sp>
      <p:sp>
        <p:nvSpPr>
          <p:cNvPr id="19" name="langkah 3"/>
          <p:cNvSpPr/>
          <p:nvPr/>
        </p:nvSpPr>
        <p:spPr>
          <a:xfrm>
            <a:off x="5114422" y="2103120"/>
            <a:ext cx="1962851" cy="3566160"/>
          </a:xfrm>
          <a:prstGeom prst="roundRect">
            <a:avLst>
              <a:gd name="adj" fmla="val 6988"/>
            </a:avLst>
          </a:prstGeom>
          <a:solidFill>
            <a:schemeClr val="bg2"/>
          </a:solidFill>
          <a:ln/>
        </p:spPr>
      </p:sp>
      <p:sp>
        <p:nvSpPr>
          <p:cNvPr id="20" name="lingkaran grid"/>
          <p:cNvSpPr/>
          <p:nvPr/>
        </p:nvSpPr>
        <p:spPr>
          <a:xfrm>
            <a:off x="5661508" y="2377440"/>
            <a:ext cx="868680" cy="868680"/>
          </a:xfrm>
          <a:prstGeom prst="ellipse">
            <a:avLst/>
          </a:prstGeom>
          <a:solidFill>
            <a:schemeClr val="accent1"/>
          </a:solidFill>
          <a:ln/>
        </p:spPr>
      </p:sp>
      <p:pic>
        <p:nvPicPr>
          <p:cNvPr id="21" name="Image 2" descr="grid">    </p:cNvPr>
          <p:cNvPicPr>
            <a:picLocks noChangeAspect="1"/>
          </p:cNvPicPr>
          <p:nvPr/>
        </p:nvPicPr>
        <p:blipFill>
          <a:blip r:embed="rId3"/>
          <a:stretch>
            <a:fillRect/>
          </a:stretch>
        </p:blipFill>
        <p:spPr>
          <a:xfrm>
            <a:off x="5852617" y="2568550"/>
            <a:ext cx="486461" cy="486461"/>
          </a:xfrm>
          <a:prstGeom prst="rect">
            <a:avLst/>
          </a:prstGeom>
        </p:spPr>
      </p:pic>
      <p:sp>
        <p:nvSpPr>
          <p:cNvPr id="22" name="Text 16"/>
          <p:cNvSpPr txBox="1"/>
          <p:nvPr/>
        </p:nvSpPr>
        <p:spPr>
          <a:xfrm>
            <a:off x="5224150"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3" name="Text 17"/>
          <p:cNvSpPr txBox="1"/>
          <p:nvPr/>
        </p:nvSpPr>
        <p:spPr>
          <a:xfrm>
            <a:off x="5251582"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Induk menentukan posisi</a:t>
            </a:r>
            <a:endParaRPr lang="en-US" sz="1700" dirty="0"/>
          </a:p>
        </p:txBody>
      </p:sp>
      <p:sp>
        <p:nvSpPr>
          <p:cNvPr id="24" name="Text 18"/>
          <p:cNvSpPr txBox="1"/>
          <p:nvPr/>
        </p:nvSpPr>
        <p:spPr>
          <a:xfrm>
            <a:off x="5251582" y="420624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Orang tua menentukan letak anak di dalam ruangannya</a:t>
            </a:r>
            <a:endParaRPr lang="en-US" sz="1400" dirty="0"/>
          </a:p>
        </p:txBody>
      </p:sp>
      <p:sp>
        <p:nvSpPr>
          <p:cNvPr id="25" name="Shape 19"/>
          <p:cNvSpPr/>
          <p:nvPr/>
        </p:nvSpPr>
        <p:spPr>
          <a:xfrm>
            <a:off x="7113849" y="2670048"/>
            <a:ext cx="246888" cy="274320"/>
          </a:xfrm>
          <a:prstGeom prst="rightArrow">
            <a:avLst/>
          </a:prstGeom>
          <a:solidFill>
            <a:schemeClr val="accent2"/>
          </a:solidFill>
          <a:ln/>
        </p:spPr>
      </p:sp>
      <p:sp>
        <p:nvSpPr>
          <p:cNvPr id="26" name="langkah 4"/>
          <p:cNvSpPr/>
          <p:nvPr/>
        </p:nvSpPr>
        <p:spPr>
          <a:xfrm>
            <a:off x="7397313" y="2103120"/>
            <a:ext cx="1962851" cy="3566160"/>
          </a:xfrm>
          <a:prstGeom prst="roundRect">
            <a:avLst>
              <a:gd name="adj" fmla="val 6988"/>
            </a:avLst>
          </a:prstGeom>
          <a:solidFill>
            <a:schemeClr val="bg2"/>
          </a:solidFill>
          <a:ln/>
        </p:spPr>
      </p:sp>
      <p:sp>
        <p:nvSpPr>
          <p:cNvPr id="27" name="lingkaran peringatan"/>
          <p:cNvSpPr/>
          <p:nvPr/>
        </p:nvSpPr>
        <p:spPr>
          <a:xfrm>
            <a:off x="7944399" y="2377440"/>
            <a:ext cx="868680" cy="868680"/>
          </a:xfrm>
          <a:prstGeom prst="ellipse">
            <a:avLst/>
          </a:prstGeom>
          <a:solidFill>
            <a:schemeClr val="accent5"/>
          </a:solidFill>
          <a:ln/>
        </p:spPr>
      </p:sp>
      <p:pic>
        <p:nvPicPr>
          <p:cNvPr id="28" name="Image 3" descr="peringatan">    </p:cNvPr>
          <p:cNvPicPr>
            <a:picLocks noChangeAspect="1"/>
          </p:cNvPicPr>
          <p:nvPr/>
        </p:nvPicPr>
        <p:blipFill>
          <a:blip r:embed="rId4"/>
          <a:stretch>
            <a:fillRect/>
          </a:stretch>
        </p:blipFill>
        <p:spPr>
          <a:xfrm>
            <a:off x="8135508" y="2568550"/>
            <a:ext cx="486461" cy="486461"/>
          </a:xfrm>
          <a:prstGeom prst="rect">
            <a:avLst/>
          </a:prstGeom>
        </p:spPr>
      </p:pic>
      <p:sp>
        <p:nvSpPr>
          <p:cNvPr id="29" name="Text 22"/>
          <p:cNvSpPr txBox="1"/>
          <p:nvPr/>
        </p:nvSpPr>
        <p:spPr>
          <a:xfrm>
            <a:off x="7507041"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30" name="Text 23"/>
          <p:cNvSpPr txBox="1"/>
          <p:nvPr/>
        </p:nvSpPr>
        <p:spPr>
          <a:xfrm>
            <a:off x="7534473"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Masalah: tak terbatas</a:t>
            </a:r>
            <a:endParaRPr lang="en-US" sz="1700" dirty="0"/>
          </a:p>
        </p:txBody>
      </p:sp>
      <p:sp>
        <p:nvSpPr>
          <p:cNvPr id="31" name="Text 24"/>
          <p:cNvSpPr txBox="1"/>
          <p:nvPr/>
        </p:nvSpPr>
        <p:spPr>
          <a:xfrm>
            <a:off x="7534473" y="420624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Row: lebar tak terbatas; Column: tinggi tak terbatas. Teks panjang meluap; ListView, TextField galat</a:t>
            </a:r>
            <a:endParaRPr lang="en-US" sz="1400" dirty="0"/>
          </a:p>
        </p:txBody>
      </p:sp>
      <p:sp>
        <p:nvSpPr>
          <p:cNvPr id="32" name="Shape 25"/>
          <p:cNvSpPr/>
          <p:nvPr/>
        </p:nvSpPr>
        <p:spPr>
          <a:xfrm>
            <a:off x="9396740" y="2670048"/>
            <a:ext cx="246888" cy="274320"/>
          </a:xfrm>
          <a:prstGeom prst="rightArrow">
            <a:avLst/>
          </a:prstGeom>
          <a:solidFill>
            <a:schemeClr val="accent2"/>
          </a:solidFill>
          <a:ln/>
        </p:spPr>
      </p:sp>
      <p:sp>
        <p:nvSpPr>
          <p:cNvPr id="33" name="langkah 5"/>
          <p:cNvSpPr/>
          <p:nvPr/>
        </p:nvSpPr>
        <p:spPr>
          <a:xfrm>
            <a:off x="9680204" y="2103120"/>
            <a:ext cx="1962851" cy="3566160"/>
          </a:xfrm>
          <a:prstGeom prst="roundRect">
            <a:avLst>
              <a:gd name="adj" fmla="val 6988"/>
            </a:avLst>
          </a:prstGeom>
          <a:solidFill>
            <a:schemeClr val="bg2"/>
          </a:solidFill>
          <a:ln/>
        </p:spPr>
      </p:sp>
      <p:sp>
        <p:nvSpPr>
          <p:cNvPr id="34" name="lingkaran centang"/>
          <p:cNvSpPr/>
          <p:nvPr/>
        </p:nvSpPr>
        <p:spPr>
          <a:xfrm>
            <a:off x="10227290" y="2377440"/>
            <a:ext cx="868680" cy="868680"/>
          </a:xfrm>
          <a:prstGeom prst="ellipse">
            <a:avLst/>
          </a:prstGeom>
          <a:solidFill>
            <a:schemeClr val="accent4"/>
          </a:solidFill>
          <a:ln/>
        </p:spPr>
      </p:sp>
      <p:pic>
        <p:nvPicPr>
          <p:cNvPr id="35" name="Image 4" descr="centang">    </p:cNvPr>
          <p:cNvPicPr>
            <a:picLocks noChangeAspect="1"/>
          </p:cNvPicPr>
          <p:nvPr/>
        </p:nvPicPr>
        <p:blipFill>
          <a:blip r:embed="rId5"/>
          <a:stretch>
            <a:fillRect/>
          </a:stretch>
        </p:blipFill>
        <p:spPr>
          <a:xfrm>
            <a:off x="10418399" y="2568550"/>
            <a:ext cx="486461" cy="486461"/>
          </a:xfrm>
          <a:prstGeom prst="rect">
            <a:avLst/>
          </a:prstGeom>
        </p:spPr>
      </p:pic>
      <p:sp>
        <p:nvSpPr>
          <p:cNvPr id="36" name="Text 28"/>
          <p:cNvSpPr txBox="1"/>
          <p:nvPr/>
        </p:nvSpPr>
        <p:spPr>
          <a:xfrm>
            <a:off x="9789932"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5</a:t>
            </a:r>
            <a:endParaRPr lang="en-US" sz="1400" dirty="0"/>
          </a:p>
        </p:txBody>
      </p:sp>
      <p:sp>
        <p:nvSpPr>
          <p:cNvPr id="37" name="Text 29"/>
          <p:cNvSpPr txBox="1"/>
          <p:nvPr/>
        </p:nvSpPr>
        <p:spPr>
          <a:xfrm>
            <a:off x="9817364"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Obat: Expanded</a:t>
            </a:r>
            <a:endParaRPr lang="en-US" sz="1700" dirty="0"/>
          </a:p>
        </p:txBody>
      </p:sp>
      <p:sp>
        <p:nvSpPr>
          <p:cNvPr id="38" name="Text 30"/>
          <p:cNvSpPr txBox="1"/>
          <p:nvPr/>
        </p:nvSpPr>
        <p:spPr>
          <a:xfrm>
            <a:off x="9817364" y="420624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"Beri anak ini SISA ruang, bukan ruang tak terbatas"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Kasus 1: Teks Panjang di dalam Row</a:t>
            </a:r>
            <a:endParaRPr lang="en-US" sz="3200" dirty="0"/>
          </a:p>
        </p:txBody>
      </p:sp>
      <p:sp>
        <p:nvSpPr>
          <p:cNvPr id="4" name="kolom 1"/>
          <p:cNvSpPr/>
          <p:nvPr/>
        </p:nvSpPr>
        <p:spPr>
          <a:xfrm>
            <a:off x="548640" y="1371600"/>
            <a:ext cx="5387188" cy="4754880"/>
          </a:xfrm>
          <a:prstGeom prst="roundRect">
            <a:avLst>
              <a:gd name="adj" fmla="val 2308"/>
            </a:avLst>
          </a:prstGeom>
          <a:solidFill>
            <a:schemeClr val="bg2"/>
          </a:solidFill>
          <a:ln/>
        </p:spPr>
      </p:sp>
      <p:sp>
        <p:nvSpPr>
          <p:cNvPr id="5" name="lingkaran galat"/>
          <p:cNvSpPr/>
          <p:nvPr/>
        </p:nvSpPr>
        <p:spPr>
          <a:xfrm>
            <a:off x="777240" y="1600200"/>
            <a:ext cx="685800" cy="685800"/>
          </a:xfrm>
          <a:prstGeom prst="ellipse">
            <a:avLst/>
          </a:prstGeom>
          <a:solidFill>
            <a:schemeClr val="accent5"/>
          </a:solidFill>
          <a:ln/>
        </p:spPr>
      </p:sp>
      <p:pic>
        <p:nvPicPr>
          <p:cNvPr id="6" name="Image 0" descr="galat">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SALAH</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5"/>
                </a:solidFill>
              </a:rPr>
              <a:t>A RenderFlex overflowed by 306 pixels on the right.</a:t>
            </a:r>
            <a:endParaRPr lang="en-US" sz="1400" dirty="0"/>
          </a:p>
        </p:txBody>
      </p:sp>
      <p:sp>
        <p:nvSpPr>
          <p:cNvPr id="9" name="daftar poin"/>
          <p:cNvSpPr txBox="1"/>
          <p:nvPr/>
        </p:nvSpPr>
        <p:spPr>
          <a:xfrm>
            <a:off x="777240" y="2926080"/>
            <a:ext cx="4929988" cy="630936"/>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Pita kuning-hitam; tersedia 296 piksel, isinya kelebihan 306 piksel</a:t>
            </a:r>
            <a:endParaRPr lang="en-US" sz="1600" dirty="0"/>
          </a:p>
        </p:txBody>
      </p:sp>
      <p:sp>
        <p:nvSpPr>
          <p:cNvPr id="10" name="kotak kode"/>
          <p:cNvSpPr txBox="1"/>
          <p:nvPr/>
        </p:nvSpPr>
        <p:spPr>
          <a:xfrm>
            <a:off x="731520" y="3511296"/>
            <a:ext cx="5021428" cy="2432304"/>
          </a:xfrm>
          <a:prstGeom prst="roundRect">
            <a:avLst>
              <a:gd name="adj" fmla="val 3759"/>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Row</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children: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Icon</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FCB6B"/>
                </a:solidFill>
                <a:latin typeface="Consolas" pitchFamily="34" charset="0"/>
                <a:ea typeface="Consolas" pitchFamily="34" charset="-122"/>
                <a:cs typeface="Consolas" pitchFamily="34" charset="-120"/>
              </a:rPr>
              <a:t>Icons</a:t>
            </a:r>
            <a:r>
              <a:rPr lang="en-US" sz="1300" dirty="0">
                <a:solidFill>
                  <a:srgbClr val="E6EDF3"/>
                </a:solidFill>
                <a:latin typeface="Consolas" pitchFamily="34" charset="0"/>
                <a:ea typeface="Consolas" pitchFamily="34" charset="-122"/>
                <a:cs typeface="Consolas" pitchFamily="34" charset="-120"/>
              </a:rPr>
              <a:t>.event),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SizedBox</a:t>
            </a:r>
            <a:r>
              <a:rPr lang="en-US" sz="1300" dirty="0">
                <a:solidFill>
                  <a:srgbClr val="E6EDF3"/>
                </a:solidFill>
                <a:latin typeface="Consolas" pitchFamily="34" charset="0"/>
                <a:ea typeface="Consolas" pitchFamily="34" charset="-122"/>
                <a:cs typeface="Consolas" pitchFamily="34" charset="-120"/>
              </a:rPr>
              <a:t>(width: </a:t>
            </a:r>
            <a:r>
              <a:rPr lang="en-US" sz="1300" dirty="0">
                <a:solidFill>
                  <a:srgbClr val="F78C6C"/>
                </a:solidFill>
                <a:latin typeface="Consolas" pitchFamily="34" charset="0"/>
                <a:ea typeface="Consolas" pitchFamily="34" charset="-122"/>
                <a:cs typeface="Consolas" pitchFamily="34" charset="-120"/>
              </a:rPr>
              <a:t>12</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Text</a:t>
            </a:r>
            <a:r>
              <a:rPr lang="en-US" sz="1300" dirty="0">
                <a:solidFill>
                  <a:srgbClr val="E6EDF3"/>
                </a:solidFill>
                <a:latin typeface="Consolas" pitchFamily="34" charset="0"/>
                <a:ea typeface="Consolas" pitchFamily="34" charset="-122"/>
                <a:cs typeface="Consolas" pitchFamily="34" charset="-120"/>
              </a:rPr>
              <a:t>(judul), </a:t>
            </a:r>
            <a:r>
              <a:rPr lang="en-US" sz="1300" i="1" dirty="0">
                <a:solidFill>
                  <a:srgbClr val="8FA3BC"/>
                </a:solidFill>
                <a:latin typeface="Consolas" pitchFamily="34" charset="0"/>
                <a:ea typeface="Consolas" pitchFamily="34" charset="-122"/>
                <a:cs typeface="Consolas" pitchFamily="34" charset="-120"/>
              </a:rPr>
              <a:t>// judul sangat panjang</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SizedBox</a:t>
            </a:r>
            <a:r>
              <a:rPr lang="en-US" sz="1300" dirty="0">
                <a:solidFill>
                  <a:srgbClr val="E6EDF3"/>
                </a:solidFill>
                <a:latin typeface="Consolas" pitchFamily="34" charset="0"/>
                <a:ea typeface="Consolas" pitchFamily="34" charset="-122"/>
                <a:cs typeface="Consolas" pitchFamily="34" charset="-120"/>
              </a:rPr>
              <a:t>(width: </a:t>
            </a:r>
            <a:r>
              <a:rPr lang="en-US" sz="1300" dirty="0">
                <a:solidFill>
                  <a:srgbClr val="F78C6C"/>
                </a:solidFill>
                <a:latin typeface="Consolas" pitchFamily="34" charset="0"/>
                <a:ea typeface="Consolas" pitchFamily="34" charset="-122"/>
                <a:cs typeface="Consolas" pitchFamily="34" charset="-120"/>
              </a:rPr>
              <a:t>12</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Text</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C3E88D"/>
                </a:solidFill>
                <a:latin typeface="Consolas" pitchFamily="34" charset="0"/>
                <a:ea typeface="Consolas" pitchFamily="34" charset="-122"/>
                <a:cs typeface="Consolas" pitchFamily="34" charset="-120"/>
              </a:rPr>
              <a:t>'08.00'</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11" name="kolom 2"/>
          <p:cNvSpPr/>
          <p:nvPr/>
        </p:nvSpPr>
        <p:spPr>
          <a:xfrm>
            <a:off x="6255868" y="1371600"/>
            <a:ext cx="5387188" cy="4754880"/>
          </a:xfrm>
          <a:prstGeom prst="roundRect">
            <a:avLst>
              <a:gd name="adj" fmla="val 2308"/>
            </a:avLst>
          </a:prstGeom>
          <a:solidFill>
            <a:srgbClr val="E3F2FD"/>
          </a:solidFill>
          <a:ln w="25400">
            <a:solidFill>
              <a:schemeClr val="accent1"/>
            </a:solidFill>
            <a:prstDash val="solid"/>
          </a:ln>
        </p:spPr>
      </p:sp>
      <p:sp>
        <p:nvSpPr>
          <p:cNvPr id="12" name="lingkaran centang"/>
          <p:cNvSpPr/>
          <p:nvPr/>
        </p:nvSpPr>
        <p:spPr>
          <a:xfrm>
            <a:off x="6484468" y="1600200"/>
            <a:ext cx="685800" cy="685800"/>
          </a:xfrm>
          <a:prstGeom prst="ellipse">
            <a:avLst/>
          </a:prstGeom>
          <a:solidFill>
            <a:schemeClr val="accent4"/>
          </a:solidFill>
          <a:ln/>
        </p:spPr>
      </p:sp>
      <p:pic>
        <p:nvPicPr>
          <p:cNvPr id="13" name="Image 1" descr="centang">    </p:cNvPr>
          <p:cNvPicPr>
            <a:picLocks noChangeAspect="1"/>
          </p:cNvPicPr>
          <p:nvPr/>
        </p:nvPicPr>
        <p:blipFill>
          <a:blip r:embed="rId2"/>
          <a:stretch>
            <a:fillRect/>
          </a:stretch>
        </p:blipFill>
        <p:spPr>
          <a:xfrm>
            <a:off x="6635344" y="1751076"/>
            <a:ext cx="384048" cy="384048"/>
          </a:xfrm>
          <a:prstGeom prst="rect">
            <a:avLst/>
          </a:prstGeom>
        </p:spPr>
      </p:pic>
      <p:sp>
        <p:nvSpPr>
          <p:cNvPr id="14" name="Text 9"/>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BENAR</a:t>
            </a:r>
            <a:endParaRPr lang="en-US" sz="1900" dirty="0"/>
          </a:p>
        </p:txBody>
      </p:sp>
      <p:sp>
        <p:nvSpPr>
          <p:cNvPr id="15" name="Text 10"/>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4"/>
                </a:solidFill>
              </a:rPr>
              <a:t>Expanded memberi Text SISA lebar Row</a:t>
            </a:r>
            <a:endParaRPr lang="en-US" sz="1400" dirty="0"/>
          </a:p>
        </p:txBody>
      </p:sp>
      <p:sp>
        <p:nvSpPr>
          <p:cNvPr id="16" name="daftar poin"/>
          <p:cNvSpPr txBox="1"/>
          <p:nvPr/>
        </p:nvSpPr>
        <p:spPr>
          <a:xfrm>
            <a:off x="6484468" y="2926080"/>
            <a:ext cx="4929988" cy="630936"/>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Judul turun baris; pesan galatnya sendiri menyarankan Expanded</a:t>
            </a:r>
            <a:endParaRPr lang="en-US" sz="1600" dirty="0"/>
          </a:p>
        </p:txBody>
      </p:sp>
      <p:sp>
        <p:nvSpPr>
          <p:cNvPr id="17" name="kotak kode"/>
          <p:cNvSpPr txBox="1"/>
          <p:nvPr/>
        </p:nvSpPr>
        <p:spPr>
          <a:xfrm>
            <a:off x="6438748" y="3511296"/>
            <a:ext cx="5021428" cy="2432304"/>
          </a:xfrm>
          <a:prstGeom prst="roundRect">
            <a:avLst>
              <a:gd name="adj" fmla="val 3759"/>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Row</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children: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Icon</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FFCB6B"/>
                </a:solidFill>
                <a:latin typeface="Consolas" pitchFamily="34" charset="0"/>
                <a:ea typeface="Consolas" pitchFamily="34" charset="-122"/>
                <a:cs typeface="Consolas" pitchFamily="34" charset="-120"/>
              </a:rPr>
              <a:t>Icons</a:t>
            </a:r>
            <a:r>
              <a:rPr lang="en-US" sz="1300" dirty="0">
                <a:solidFill>
                  <a:srgbClr val="E6EDF3"/>
                </a:solidFill>
                <a:latin typeface="Consolas" pitchFamily="34" charset="0"/>
                <a:ea typeface="Consolas" pitchFamily="34" charset="-122"/>
                <a:cs typeface="Consolas" pitchFamily="34" charset="-120"/>
              </a:rPr>
              <a:t>.event),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SizedBox</a:t>
            </a:r>
            <a:r>
              <a:rPr lang="en-US" sz="1300" dirty="0">
                <a:solidFill>
                  <a:srgbClr val="E6EDF3"/>
                </a:solidFill>
                <a:latin typeface="Consolas" pitchFamily="34" charset="0"/>
                <a:ea typeface="Consolas" pitchFamily="34" charset="-122"/>
                <a:cs typeface="Consolas" pitchFamily="34" charset="-120"/>
              </a:rPr>
              <a:t>(width: </a:t>
            </a:r>
            <a:r>
              <a:rPr lang="en-US" sz="1300" dirty="0">
                <a:solidFill>
                  <a:srgbClr val="F78C6C"/>
                </a:solidFill>
                <a:latin typeface="Consolas" pitchFamily="34" charset="0"/>
                <a:ea typeface="Consolas" pitchFamily="34" charset="-122"/>
                <a:cs typeface="Consolas" pitchFamily="34" charset="-120"/>
              </a:rPr>
              <a:t>12</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Expanded</a:t>
            </a:r>
            <a:r>
              <a:rPr lang="en-US" sz="1300" dirty="0">
                <a:solidFill>
                  <a:srgbClr val="E6EDF3"/>
                </a:solidFill>
                <a:latin typeface="Consolas" pitchFamily="34" charset="0"/>
                <a:ea typeface="Consolas" pitchFamily="34" charset="-122"/>
                <a:cs typeface="Consolas" pitchFamily="34" charset="-120"/>
              </a:rPr>
              <a:t>(child: </a:t>
            </a:r>
            <a:r>
              <a:rPr lang="en-US" sz="1300" dirty="0">
                <a:solidFill>
                  <a:srgbClr val="FFCB6B"/>
                </a:solidFill>
                <a:latin typeface="Consolas" pitchFamily="34" charset="0"/>
                <a:ea typeface="Consolas" pitchFamily="34" charset="-122"/>
                <a:cs typeface="Consolas" pitchFamily="34" charset="-120"/>
              </a:rPr>
              <a:t>Text</a:t>
            </a:r>
            <a:r>
              <a:rPr lang="en-US" sz="1300" dirty="0">
                <a:solidFill>
                  <a:srgbClr val="E6EDF3"/>
                </a:solidFill>
                <a:latin typeface="Consolas" pitchFamily="34" charset="0"/>
                <a:ea typeface="Consolas" pitchFamily="34" charset="-122"/>
                <a:cs typeface="Consolas" pitchFamily="34" charset="-120"/>
              </a:rPr>
              <a:t>(judul)),</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SizedBox</a:t>
            </a:r>
            <a:r>
              <a:rPr lang="en-US" sz="1300" dirty="0">
                <a:solidFill>
                  <a:srgbClr val="E6EDF3"/>
                </a:solidFill>
                <a:latin typeface="Consolas" pitchFamily="34" charset="0"/>
                <a:ea typeface="Consolas" pitchFamily="34" charset="-122"/>
                <a:cs typeface="Consolas" pitchFamily="34" charset="-120"/>
              </a:rPr>
              <a:t>(width: </a:t>
            </a:r>
            <a:r>
              <a:rPr lang="en-US" sz="1300" dirty="0">
                <a:solidFill>
                  <a:srgbClr val="F78C6C"/>
                </a:solidFill>
                <a:latin typeface="Consolas" pitchFamily="34" charset="0"/>
                <a:ea typeface="Consolas" pitchFamily="34" charset="-122"/>
                <a:cs typeface="Consolas" pitchFamily="34" charset="-120"/>
              </a:rPr>
              <a:t>12</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Text</a:t>
            </a:r>
            <a:r>
              <a:rPr lang="en-US" sz="1300" dirty="0">
                <a:solidFill>
                  <a:srgbClr val="E6EDF3"/>
                </a:solidFill>
                <a:latin typeface="Consolas" pitchFamily="34" charset="0"/>
                <a:ea typeface="Consolas" pitchFamily="34" charset="-122"/>
                <a:cs typeface="Consolas" pitchFamily="34" charset="-120"/>
              </a:rPr>
              <a:t>(</a:t>
            </a:r>
            <a:r>
              <a:rPr lang="en-US" sz="1300" dirty="0">
                <a:solidFill>
                  <a:srgbClr val="C3E88D"/>
                </a:solidFill>
                <a:latin typeface="Consolas" pitchFamily="34" charset="0"/>
                <a:ea typeface="Consolas" pitchFamily="34" charset="-122"/>
                <a:cs typeface="Consolas" pitchFamily="34" charset="-120"/>
              </a:rPr>
              <a:t>'08.00'</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Kasus 2: ListView di dalam Column</a:t>
            </a:r>
            <a:endParaRPr lang="en-US" sz="3200" dirty="0"/>
          </a:p>
        </p:txBody>
      </p:sp>
      <p:sp>
        <p:nvSpPr>
          <p:cNvPr id="4" name="kolom 1"/>
          <p:cNvSpPr/>
          <p:nvPr/>
        </p:nvSpPr>
        <p:spPr>
          <a:xfrm>
            <a:off x="548640" y="1371600"/>
            <a:ext cx="5387188" cy="4754880"/>
          </a:xfrm>
          <a:prstGeom prst="roundRect">
            <a:avLst>
              <a:gd name="adj" fmla="val 2308"/>
            </a:avLst>
          </a:prstGeom>
          <a:solidFill>
            <a:schemeClr val="bg2"/>
          </a:solidFill>
          <a:ln/>
        </p:spPr>
      </p:sp>
      <p:sp>
        <p:nvSpPr>
          <p:cNvPr id="5" name="lingkaran galat"/>
          <p:cNvSpPr/>
          <p:nvPr/>
        </p:nvSpPr>
        <p:spPr>
          <a:xfrm>
            <a:off x="777240" y="1600200"/>
            <a:ext cx="685800" cy="685800"/>
          </a:xfrm>
          <a:prstGeom prst="ellipse">
            <a:avLst/>
          </a:prstGeom>
          <a:solidFill>
            <a:schemeClr val="accent5"/>
          </a:solidFill>
          <a:ln/>
        </p:spPr>
      </p:sp>
      <p:pic>
        <p:nvPicPr>
          <p:cNvPr id="6" name="Image 0" descr="galat">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SALAH</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5"/>
                </a:solidFill>
              </a:rPr>
              <a:t>Vertical viewport was given unbounded height.</a:t>
            </a:r>
            <a:endParaRPr lang="en-US" sz="1400" dirty="0"/>
          </a:p>
        </p:txBody>
      </p:sp>
      <p:sp>
        <p:nvSpPr>
          <p:cNvPr id="9" name="daftar poin"/>
          <p:cNvSpPr txBox="1"/>
          <p:nvPr/>
        </p:nvSpPr>
        <p:spPr>
          <a:xfrm>
            <a:off x="777240" y="2926080"/>
            <a:ext cx="4929988" cy="139903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Daftar peserta tidak tampil sama sekali</a:t>
            </a:r>
            <a:endParaRPr lang="en-US" sz="1600" dirty="0"/>
          </a:p>
          <a:p>
            <a:pPr marL="228600" indent="-228600">
              <a:spcAft>
                <a:spcPts val="800"/>
              </a:spcAft>
              <a:buSzPct val="100000"/>
              <a:buChar char="•"/>
            </a:pPr>
            <a:r>
              <a:rPr lang="en-US" sz="1600" dirty="0">
                <a:solidFill>
                  <a:schemeClr val="tx1"/>
                </a:solidFill>
              </a:rPr>
              <a:t>Belasan galat: baca hanya yang PERTAMA</a:t>
            </a:r>
            <a:endParaRPr lang="en-US" sz="1600" dirty="0"/>
          </a:p>
        </p:txBody>
      </p:sp>
      <p:sp>
        <p:nvSpPr>
          <p:cNvPr id="10" name="kotak kode"/>
          <p:cNvSpPr txBox="1"/>
          <p:nvPr/>
        </p:nvSpPr>
        <p:spPr>
          <a:xfrm>
            <a:off x="731520" y="4279392"/>
            <a:ext cx="5021428" cy="1664208"/>
          </a:xfrm>
          <a:prstGeom prst="roundRect">
            <a:avLst>
              <a:gd name="adj" fmla="val 5495"/>
            </a:avLst>
          </a:prstGeom>
          <a:solidFill>
            <a:srgbClr val="0E1A2B"/>
          </a:solidFill>
          <a:ln/>
        </p:spPr>
        <p:txBody>
          <a:bodyPr wrap="square" lIns="177800" tIns="152400" rIns="152400" bIns="177800" rtlCol="0" anchor="t"/>
          <a:lstStyle/>
          <a:p>
            <a:pPr indent="0" marL="0">
              <a:lnSpc>
                <a:spcPct val="105000"/>
              </a:lnSpc>
              <a:buNone/>
            </a:pPr>
            <a:r>
              <a:rPr lang="en-US" sz="1250" dirty="0">
                <a:solidFill>
                  <a:srgbClr val="FFCB6B"/>
                </a:solidFill>
                <a:latin typeface="Consolas" pitchFamily="34" charset="0"/>
                <a:ea typeface="Consolas" pitchFamily="34" charset="-122"/>
                <a:cs typeface="Consolas" pitchFamily="34" charset="-120"/>
              </a:rPr>
              <a:t>Column</a:t>
            </a: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children: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Text</a:t>
            </a:r>
            <a:r>
              <a:rPr lang="en-US" sz="1250" dirty="0">
                <a:solidFill>
                  <a:srgbClr val="E6EDF3"/>
                </a:solidFill>
                <a:latin typeface="Consolas" pitchFamily="34" charset="0"/>
                <a:ea typeface="Consolas" pitchFamily="34" charset="-122"/>
                <a:cs typeface="Consolas" pitchFamily="34" charset="-120"/>
              </a:rPr>
              <a:t>(</a:t>
            </a:r>
            <a:r>
              <a:rPr lang="en-US" sz="1250" dirty="0">
                <a:solidFill>
                  <a:srgbClr val="C3E88D"/>
                </a:solidFill>
                <a:latin typeface="Consolas" pitchFamily="34" charset="0"/>
                <a:ea typeface="Consolas" pitchFamily="34" charset="-122"/>
                <a:cs typeface="Consolas" pitchFamily="34" charset="-120"/>
              </a:rPr>
              <a:t>'30 peserta terdaftar'</a:t>
            </a: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ListView</a:t>
            </a:r>
            <a:r>
              <a:rPr lang="en-US" sz="1250" dirty="0">
                <a:solidFill>
                  <a:srgbClr val="E6EDF3"/>
                </a:solidFill>
                <a:latin typeface="Consolas" pitchFamily="34" charset="0"/>
                <a:ea typeface="Consolas" pitchFamily="34" charset="-122"/>
                <a:cs typeface="Consolas" pitchFamily="34" charset="-120"/>
              </a:rPr>
              <a:t>(children: [...]), </a:t>
            </a:r>
            <a:r>
              <a:rPr lang="en-US" sz="1250" i="1" dirty="0">
                <a:solidFill>
                  <a:srgbClr val="8FA3BC"/>
                </a:solidFill>
                <a:latin typeface="Consolas" pitchFamily="34" charset="0"/>
                <a:ea typeface="Consolas" pitchFamily="34" charset="-122"/>
                <a:cs typeface="Consolas" pitchFamily="34" charset="-120"/>
              </a:rPr>
              <a:t>// 30 ListTile</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p:txBody>
      </p:sp>
      <p:sp>
        <p:nvSpPr>
          <p:cNvPr id="11" name="kolom 2"/>
          <p:cNvSpPr/>
          <p:nvPr/>
        </p:nvSpPr>
        <p:spPr>
          <a:xfrm>
            <a:off x="6255868" y="1371600"/>
            <a:ext cx="5387188" cy="4754880"/>
          </a:xfrm>
          <a:prstGeom prst="roundRect">
            <a:avLst>
              <a:gd name="adj" fmla="val 2308"/>
            </a:avLst>
          </a:prstGeom>
          <a:solidFill>
            <a:srgbClr val="E3F2FD"/>
          </a:solidFill>
          <a:ln w="25400">
            <a:solidFill>
              <a:schemeClr val="accent1"/>
            </a:solidFill>
            <a:prstDash val="solid"/>
          </a:ln>
        </p:spPr>
      </p:sp>
      <p:sp>
        <p:nvSpPr>
          <p:cNvPr id="12" name="lingkaran centang"/>
          <p:cNvSpPr/>
          <p:nvPr/>
        </p:nvSpPr>
        <p:spPr>
          <a:xfrm>
            <a:off x="6484468" y="1600200"/>
            <a:ext cx="685800" cy="685800"/>
          </a:xfrm>
          <a:prstGeom prst="ellipse">
            <a:avLst/>
          </a:prstGeom>
          <a:solidFill>
            <a:schemeClr val="accent4"/>
          </a:solidFill>
          <a:ln/>
        </p:spPr>
      </p:sp>
      <p:pic>
        <p:nvPicPr>
          <p:cNvPr id="13" name="Image 1" descr="centang">    </p:cNvPr>
          <p:cNvPicPr>
            <a:picLocks noChangeAspect="1"/>
          </p:cNvPicPr>
          <p:nvPr/>
        </p:nvPicPr>
        <p:blipFill>
          <a:blip r:embed="rId2"/>
          <a:stretch>
            <a:fillRect/>
          </a:stretch>
        </p:blipFill>
        <p:spPr>
          <a:xfrm>
            <a:off x="6635344" y="1751076"/>
            <a:ext cx="384048" cy="384048"/>
          </a:xfrm>
          <a:prstGeom prst="rect">
            <a:avLst/>
          </a:prstGeom>
        </p:spPr>
      </p:pic>
      <p:sp>
        <p:nvSpPr>
          <p:cNvPr id="14" name="Text 9"/>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BENAR</a:t>
            </a:r>
            <a:endParaRPr lang="en-US" sz="1900" dirty="0"/>
          </a:p>
        </p:txBody>
      </p:sp>
      <p:sp>
        <p:nvSpPr>
          <p:cNvPr id="15" name="Text 10"/>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4"/>
                </a:solidFill>
              </a:rPr>
              <a:t>Expanded memberi ListView SISA tinggi Column</a:t>
            </a:r>
            <a:endParaRPr lang="en-US" sz="1400" dirty="0"/>
          </a:p>
        </p:txBody>
      </p:sp>
      <p:sp>
        <p:nvSpPr>
          <p:cNvPr id="16" name="daftar poin"/>
          <p:cNvSpPr txBox="1"/>
          <p:nvPr/>
        </p:nvSpPr>
        <p:spPr>
          <a:xfrm>
            <a:off x="6484468" y="2926080"/>
            <a:ext cx="4929988" cy="139903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Daftar PENDEK: ListView(shrinkWrap: true, ...) setinggi isinya</a:t>
            </a:r>
            <a:endParaRPr lang="en-US" sz="1600" dirty="0"/>
          </a:p>
          <a:p>
            <a:pPr marL="228600" indent="-228600">
              <a:spcAft>
                <a:spcPts val="800"/>
              </a:spcAft>
              <a:buSzPct val="100000"/>
              <a:buChar char="•"/>
            </a:pPr>
            <a:r>
              <a:rPr lang="en-US" sz="1600" dirty="0">
                <a:solidFill>
                  <a:schemeClr val="tx1"/>
                </a:solidFill>
              </a:rPr>
              <a:t>Jangan untuk daftar panjang: semua isinya dibangun sekaligus</a:t>
            </a:r>
            <a:endParaRPr lang="en-US" sz="1600" dirty="0"/>
          </a:p>
        </p:txBody>
      </p:sp>
      <p:sp>
        <p:nvSpPr>
          <p:cNvPr id="17" name="kotak kode"/>
          <p:cNvSpPr txBox="1"/>
          <p:nvPr/>
        </p:nvSpPr>
        <p:spPr>
          <a:xfrm>
            <a:off x="6438748" y="4279392"/>
            <a:ext cx="5021428" cy="1664208"/>
          </a:xfrm>
          <a:prstGeom prst="roundRect">
            <a:avLst>
              <a:gd name="adj" fmla="val 5495"/>
            </a:avLst>
          </a:prstGeom>
          <a:solidFill>
            <a:srgbClr val="0E1A2B"/>
          </a:solidFill>
          <a:ln/>
        </p:spPr>
        <p:txBody>
          <a:bodyPr wrap="square" lIns="177800" tIns="152400" rIns="152400" bIns="177800" rtlCol="0" anchor="t"/>
          <a:lstStyle/>
          <a:p>
            <a:pPr indent="0" marL="0">
              <a:lnSpc>
                <a:spcPct val="105000"/>
              </a:lnSpc>
              <a:buNone/>
            </a:pPr>
            <a:r>
              <a:rPr lang="en-US" sz="1250" dirty="0">
                <a:solidFill>
                  <a:srgbClr val="FFCB6B"/>
                </a:solidFill>
                <a:latin typeface="Consolas" pitchFamily="34" charset="0"/>
                <a:ea typeface="Consolas" pitchFamily="34" charset="-122"/>
                <a:cs typeface="Consolas" pitchFamily="34" charset="-120"/>
              </a:rPr>
              <a:t>Column</a:t>
            </a: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children: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Text</a:t>
            </a:r>
            <a:r>
              <a:rPr lang="en-US" sz="1250" dirty="0">
                <a:solidFill>
                  <a:srgbClr val="E6EDF3"/>
                </a:solidFill>
                <a:latin typeface="Consolas" pitchFamily="34" charset="0"/>
                <a:ea typeface="Consolas" pitchFamily="34" charset="-122"/>
                <a:cs typeface="Consolas" pitchFamily="34" charset="-120"/>
              </a:rPr>
              <a:t>(</a:t>
            </a:r>
            <a:r>
              <a:rPr lang="en-US" sz="1250" dirty="0">
                <a:solidFill>
                  <a:srgbClr val="C3E88D"/>
                </a:solidFill>
                <a:latin typeface="Consolas" pitchFamily="34" charset="0"/>
                <a:ea typeface="Consolas" pitchFamily="34" charset="-122"/>
                <a:cs typeface="Consolas" pitchFamily="34" charset="-120"/>
              </a:rPr>
              <a:t>'30 peserta terdaftar'</a:t>
            </a: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Expanded</a:t>
            </a:r>
            <a:r>
              <a:rPr lang="en-US" sz="1250" dirty="0">
                <a:solidFill>
                  <a:srgbClr val="E6EDF3"/>
                </a:solidFill>
                <a:latin typeface="Consolas" pitchFamily="34" charset="0"/>
                <a:ea typeface="Consolas" pitchFamily="34" charset="-122"/>
                <a:cs typeface="Consolas" pitchFamily="34" charset="-120"/>
              </a:rPr>
              <a:t>(child: </a:t>
            </a:r>
            <a:r>
              <a:rPr lang="en-US" sz="1250" dirty="0">
                <a:solidFill>
                  <a:srgbClr val="FFCB6B"/>
                </a:solidFill>
                <a:latin typeface="Consolas" pitchFamily="34" charset="0"/>
                <a:ea typeface="Consolas" pitchFamily="34" charset="-122"/>
                <a:cs typeface="Consolas" pitchFamily="34" charset="-120"/>
              </a:rPr>
              <a:t>ListView</a:t>
            </a:r>
            <a:r>
              <a:rPr lang="en-US" sz="1250" dirty="0">
                <a:solidFill>
                  <a:srgbClr val="E6EDF3"/>
                </a:solidFill>
                <a:latin typeface="Consolas" pitchFamily="34" charset="0"/>
                <a:ea typeface="Consolas" pitchFamily="34" charset="-122"/>
                <a:cs typeface="Consolas" pitchFamily="34" charset="-120"/>
              </a:rPr>
              <a:t>(children: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Kasus 3: TextField di dalam Row</a:t>
            </a:r>
            <a:endParaRPr lang="en-US" sz="3200" dirty="0"/>
          </a:p>
        </p:txBody>
      </p:sp>
      <p:sp>
        <p:nvSpPr>
          <p:cNvPr id="4" name="kotak kode"/>
          <p:cNvSpPr txBox="1"/>
          <p:nvPr/>
        </p:nvSpPr>
        <p:spPr>
          <a:xfrm>
            <a:off x="548640" y="1371600"/>
            <a:ext cx="7680960" cy="3755898"/>
          </a:xfrm>
          <a:prstGeom prst="roundRect">
            <a:avLst>
              <a:gd name="adj" fmla="val 2435"/>
            </a:avLst>
          </a:prstGeom>
          <a:solidFill>
            <a:srgbClr val="0E1A2B"/>
          </a:solidFill>
          <a:ln/>
        </p:spPr>
        <p:txBody>
          <a:bodyPr wrap="square" lIns="177800" tIns="152400" rIns="152400" bIns="177800" rtlCol="0" anchor="t"/>
          <a:lstStyle/>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SALAH</a:t>
            </a:r>
            <a:endParaRPr lang="en-US" sz="1100" dirty="0"/>
          </a:p>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Row</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children: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TextField</a:t>
            </a:r>
            <a:r>
              <a:rPr lang="en-US" sz="1100" dirty="0">
                <a:solidFill>
                  <a:srgbClr val="E6EDF3"/>
                </a:solidFill>
                <a:latin typeface="Consolas" pitchFamily="34" charset="0"/>
                <a:ea typeface="Consolas" pitchFamily="34" charset="-122"/>
                <a:cs typeface="Consolas" pitchFamily="34" charset="-120"/>
              </a:rPr>
              <a:t>(decoration: </a:t>
            </a:r>
            <a:r>
              <a:rPr lang="en-US" sz="1100" dirty="0">
                <a:solidFill>
                  <a:srgbClr val="FFCB6B"/>
                </a:solidFill>
                <a:latin typeface="Consolas" pitchFamily="34" charset="0"/>
                <a:ea typeface="Consolas" pitchFamily="34" charset="-122"/>
                <a:cs typeface="Consolas" pitchFamily="34" charset="-120"/>
              </a:rPr>
              <a:t>InputDecoration</a:t>
            </a:r>
            <a:r>
              <a:rPr lang="en-US" sz="1100" dirty="0">
                <a:solidFill>
                  <a:srgbClr val="E6EDF3"/>
                </a:solidFill>
                <a:latin typeface="Consolas" pitchFamily="34" charset="0"/>
                <a:ea typeface="Consolas" pitchFamily="34" charset="-122"/>
                <a:cs typeface="Consolas" pitchFamily="34" charset="-120"/>
              </a:rPr>
              <a:t>(hintText: </a:t>
            </a:r>
            <a:r>
              <a:rPr lang="en-US" sz="1100" dirty="0">
                <a:solidFill>
                  <a:srgbClr val="C3E88D"/>
                </a:solidFill>
                <a:latin typeface="Consolas" pitchFamily="34" charset="0"/>
                <a:ea typeface="Consolas" pitchFamily="34" charset="-122"/>
                <a:cs typeface="Consolas" pitchFamily="34" charset="-120"/>
              </a:rPr>
              <a:t>'Tulis komentar'</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SizedBox</a:t>
            </a:r>
            <a:r>
              <a:rPr lang="en-US" sz="1100" dirty="0">
                <a:solidFill>
                  <a:srgbClr val="E6EDF3"/>
                </a:solidFill>
                <a:latin typeface="Consolas" pitchFamily="34" charset="0"/>
                <a:ea typeface="Consolas" pitchFamily="34" charset="-122"/>
                <a:cs typeface="Consolas" pitchFamily="34" charset="-120"/>
              </a:rPr>
              <a:t>(width: </a:t>
            </a:r>
            <a:r>
              <a:rPr lang="en-US" sz="1100" dirty="0">
                <a:solidFill>
                  <a:srgbClr val="F78C6C"/>
                </a:solidFill>
                <a:latin typeface="Consolas" pitchFamily="34" charset="0"/>
                <a:ea typeface="Consolas" pitchFamily="34" charset="-122"/>
                <a:cs typeface="Consolas" pitchFamily="34" charset="-120"/>
              </a:rPr>
              <a:t>8</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IconButton</a:t>
            </a:r>
            <a:r>
              <a:rPr lang="en-US" sz="1100" dirty="0">
                <a:solidFill>
                  <a:srgbClr val="E6EDF3"/>
                </a:solidFill>
                <a:latin typeface="Consolas" pitchFamily="34" charset="0"/>
                <a:ea typeface="Consolas" pitchFamily="34" charset="-122"/>
                <a:cs typeface="Consolas" pitchFamily="34" charset="-120"/>
              </a:rPr>
              <a:t>.filled(tooltip: </a:t>
            </a:r>
            <a:r>
              <a:rPr lang="en-US" sz="1100" dirty="0">
                <a:solidFill>
                  <a:srgbClr val="C3E88D"/>
                </a:solidFill>
                <a:latin typeface="Consolas" pitchFamily="34" charset="0"/>
                <a:ea typeface="Consolas" pitchFamily="34" charset="-122"/>
                <a:cs typeface="Consolas" pitchFamily="34" charset="-120"/>
              </a:rPr>
              <a:t>'Kirim komentar'</a:t>
            </a:r>
            <a:r>
              <a:rPr lang="en-US" sz="1100" dirty="0">
                <a:solidFill>
                  <a:srgbClr val="E6EDF3"/>
                </a:solidFill>
                <a:latin typeface="Consolas" pitchFamily="34" charset="0"/>
                <a:ea typeface="Consolas" pitchFamily="34" charset="-122"/>
                <a:cs typeface="Consolas" pitchFamily="34" charset="-120"/>
              </a:rPr>
              <a:t>, onPressed: ..., icon: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BENAR</a:t>
            </a:r>
            <a:endParaRPr lang="en-US" sz="1100" dirty="0"/>
          </a:p>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Row</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children: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Expanded</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child: </a:t>
            </a:r>
            <a:r>
              <a:rPr lang="en-US" sz="1100" dirty="0">
                <a:solidFill>
                  <a:srgbClr val="FFCB6B"/>
                </a:solidFill>
                <a:latin typeface="Consolas" pitchFamily="34" charset="0"/>
                <a:ea typeface="Consolas" pitchFamily="34" charset="-122"/>
                <a:cs typeface="Consolas" pitchFamily="34" charset="-120"/>
              </a:rPr>
              <a:t>TextField</a:t>
            </a:r>
            <a:r>
              <a:rPr lang="en-US" sz="1100" dirty="0">
                <a:solidFill>
                  <a:srgbClr val="E6EDF3"/>
                </a:solidFill>
                <a:latin typeface="Consolas" pitchFamily="34" charset="0"/>
                <a:ea typeface="Consolas" pitchFamily="34" charset="-122"/>
                <a:cs typeface="Consolas" pitchFamily="34" charset="-120"/>
              </a:rPr>
              <a:t>(decoration: </a:t>
            </a:r>
            <a:r>
              <a:rPr lang="en-US" sz="1100" dirty="0">
                <a:solidFill>
                  <a:srgbClr val="FFCB6B"/>
                </a:solidFill>
                <a:latin typeface="Consolas" pitchFamily="34" charset="0"/>
                <a:ea typeface="Consolas" pitchFamily="34" charset="-122"/>
                <a:cs typeface="Consolas" pitchFamily="34" charset="-120"/>
              </a:rPr>
              <a:t>InputDecoration</a:t>
            </a:r>
            <a:r>
              <a:rPr lang="en-US" sz="1100" dirty="0">
                <a:solidFill>
                  <a:srgbClr val="E6EDF3"/>
                </a:solidFill>
                <a:latin typeface="Consolas" pitchFamily="34" charset="0"/>
                <a:ea typeface="Consolas" pitchFamily="34" charset="-122"/>
                <a:cs typeface="Consolas" pitchFamily="34" charset="-120"/>
              </a:rPr>
              <a:t>(hintText: </a:t>
            </a:r>
            <a:r>
              <a:rPr lang="en-US" sz="1100" dirty="0">
                <a:solidFill>
                  <a:srgbClr val="C3E88D"/>
                </a:solidFill>
                <a:latin typeface="Consolas" pitchFamily="34" charset="0"/>
                <a:ea typeface="Consolas" pitchFamily="34" charset="-122"/>
                <a:cs typeface="Consolas" pitchFamily="34" charset="-120"/>
              </a:rPr>
              <a:t>'Tulis komentar'</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SizedBox</a:t>
            </a:r>
            <a:r>
              <a:rPr lang="en-US" sz="1100" dirty="0">
                <a:solidFill>
                  <a:srgbClr val="E6EDF3"/>
                </a:solidFill>
                <a:latin typeface="Consolas" pitchFamily="34" charset="0"/>
                <a:ea typeface="Consolas" pitchFamily="34" charset="-122"/>
                <a:cs typeface="Consolas" pitchFamily="34" charset="-120"/>
              </a:rPr>
              <a:t>(width: </a:t>
            </a:r>
            <a:r>
              <a:rPr lang="en-US" sz="1100" dirty="0">
                <a:solidFill>
                  <a:srgbClr val="F78C6C"/>
                </a:solidFill>
                <a:latin typeface="Consolas" pitchFamily="34" charset="0"/>
                <a:ea typeface="Consolas" pitchFamily="34" charset="-122"/>
                <a:cs typeface="Consolas" pitchFamily="34" charset="-120"/>
              </a:rPr>
              <a:t>8</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IconButton</a:t>
            </a:r>
            <a:r>
              <a:rPr lang="en-US" sz="1100" dirty="0">
                <a:solidFill>
                  <a:srgbClr val="E6EDF3"/>
                </a:solidFill>
                <a:latin typeface="Consolas" pitchFamily="34" charset="0"/>
                <a:ea typeface="Consolas" pitchFamily="34" charset="-122"/>
                <a:cs typeface="Consolas" pitchFamily="34" charset="-120"/>
              </a:rPr>
              <a:t>.filled(tooltip: </a:t>
            </a:r>
            <a:r>
              <a:rPr lang="en-US" sz="1100" dirty="0">
                <a:solidFill>
                  <a:srgbClr val="C3E88D"/>
                </a:solidFill>
                <a:latin typeface="Consolas" pitchFamily="34" charset="0"/>
                <a:ea typeface="Consolas" pitchFamily="34" charset="-122"/>
                <a:cs typeface="Consolas" pitchFamily="34" charset="-120"/>
              </a:rPr>
              <a:t>'Kirim komentar'</a:t>
            </a:r>
            <a:r>
              <a:rPr lang="en-US" sz="1100" dirty="0">
                <a:solidFill>
                  <a:srgbClr val="E6EDF3"/>
                </a:solidFill>
                <a:latin typeface="Consolas" pitchFamily="34" charset="0"/>
                <a:ea typeface="Consolas" pitchFamily="34" charset="-122"/>
                <a:cs typeface="Consolas" pitchFamily="34" charset="-120"/>
              </a:rPr>
              <a:t>, onPressed: ..., icon: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4_pengujian_dan_debugging/kode/contoh_10_memperbaiki_tata_letak.dart"/>
          </p:cNvPr>
          <p:cNvSpPr txBox="1"/>
          <p:nvPr/>
        </p:nvSpPr>
        <p:spPr>
          <a:xfrm>
            <a:off x="548640" y="5356098"/>
            <a:ext cx="76809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contoh_10_memperbaiki_tata_letak.dart</a:t>
            </a:r>
            <a:endParaRPr lang="en-US" sz="1300" dirty="0"/>
          </a:p>
        </p:txBody>
      </p:sp>
      <p:pic>
        <p:nvPicPr>
          <p:cNvPr id="6" name="Image 0" descr="ikon tautan">
            <a:hlinkClick r:id="rId3" tooltip="https://github.com/antonprafanto/mobile2026/blob/main/pertemuan_14_pengujian_dan_debugging/kode/contoh_10_memperbaiki_tata_letak.dart"/>
          </p:cNvPr>
          <p:cNvPicPr>
            <a:picLocks noChangeAspect="1"/>
          </p:cNvPicPr>
          <p:nvPr/>
        </p:nvPicPr>
        <p:blipFill>
          <a:blip r:embed="rId2"/>
          <a:stretch>
            <a:fillRect/>
          </a:stretch>
        </p:blipFill>
        <p:spPr>
          <a:xfrm>
            <a:off x="694944" y="5447538"/>
            <a:ext cx="274320" cy="274320"/>
          </a:xfrm>
          <a:prstGeom prst="rect">
            <a:avLst/>
          </a:prstGeom>
        </p:spPr>
      </p:pic>
      <p:sp>
        <p:nvSpPr>
          <p:cNvPr id="7" name="daftar poin"/>
          <p:cNvSpPr txBox="1"/>
          <p:nvPr/>
        </p:nvSpPr>
        <p:spPr>
          <a:xfrm>
            <a:off x="8641080" y="1417320"/>
            <a:ext cx="30019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Gejala: kolom komentar dan tombol kirim tidak tampil.</a:t>
            </a:r>
            <a:endParaRPr lang="en-US" sz="1700" dirty="0"/>
          </a:p>
          <a:p>
            <a:pPr marL="228600" indent="-228600">
              <a:spcAft>
                <a:spcPts val="800"/>
              </a:spcAft>
              <a:buSzPct val="100000"/>
              <a:buChar char="•"/>
            </a:pPr>
            <a:r>
              <a:rPr lang="en-US" sz="1700" dirty="0">
                <a:solidFill>
                  <a:schemeClr val="tx1"/>
                </a:solidFill>
              </a:rPr>
              <a:t>Galat: An InputDecorator ... cannot have an unbounded width.</a:t>
            </a:r>
            <a:endParaRPr lang="en-US" sz="1700" dirty="0"/>
          </a:p>
          <a:p>
            <a:pPr marL="228600" indent="-228600">
              <a:spcAft>
                <a:spcPts val="800"/>
              </a:spcAft>
              <a:buSzPct val="100000"/>
              <a:buChar char="•"/>
            </a:pPr>
            <a:r>
              <a:rPr lang="en-US" sz="1700" dirty="0">
                <a:solidFill>
                  <a:schemeClr val="tx1"/>
                </a:solidFill>
              </a:rPr>
              <a:t>Pesannya sudah menyebut obatnya: Expanded atau SizedBox.</a:t>
            </a:r>
            <a:endParaRPr lang="en-US" sz="1700" dirty="0"/>
          </a:p>
          <a:p>
            <a:pPr marL="228600" indent="-228600">
              <a:spcAft>
                <a:spcPts val="800"/>
              </a:spcAft>
              <a:buSzPct val="100000"/>
              <a:buChar char="•"/>
            </a:pPr>
            <a:r>
              <a:rPr lang="en-US" sz="1700" dirty="0">
                <a:solidFill>
                  <a:schemeClr val="tx1"/>
                </a:solidFill>
              </a:rPr>
              <a:t>Lebar tetap: SizedBox(width: 200, child: TextField(...)).</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Galat Lain yang Sering Muncul</a:t>
            </a:r>
            <a:endParaRPr lang="en-US" sz="32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942643"/>
                <a:gridCol w="3759265"/>
                <a:gridCol w="3392507"/>
              </a:tblGrid>
              <a:tr h="6400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Pesan galat</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Penyebab umum</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Solusi</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40080">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A RenderFlex overflowed by ... pixels on the bottom</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Isi Column lebih tinggi dari layar, sering saat papan ketik muncul</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SingleChildScrollView, atau ListView</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Incorrect use of ParentDataWidget</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Expanded/Flexible di luar Row/Column/Flex; Positioned di luar Stack</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Jadikan Expanded anak LANGSUNG Row/Column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40080">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RenderBox was not laid out</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Hampir selalu AKIBAT galat lain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Gulir ke atas, baca galat pertama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setState() or markNeedsBuild() called during build</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setState, showDialog, atau Navigator.push langsung di dalam build</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Panggil dari callback tombol, atau addPostFrameCallback</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40080">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Horizontal viewport was given unbounded width</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ListView mendatar di dalam Row</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Expanded, atau ukuran tetap dengan SizedBox</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BoxConstraints forces an infinite width</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Widget yang ingin selebar mungkin (misalnya SizedBox(width: double.infinity)) di dalam Row</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Expanded, atau lebar yang pasti</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14–16</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Cakupan, CI, Jenis Tes Lain, dan Proyek Akhir</a:t>
            </a:r>
            <a:endParaRPr lang="en-US" sz="4000" dirty="0"/>
          </a:p>
        </p:txBody>
      </p:sp>
      <p:sp>
        <p:nvSpPr>
          <p:cNvPr id="5" name="lingkaran sinkron"/>
          <p:cNvSpPr/>
          <p:nvPr/>
        </p:nvSpPr>
        <p:spPr>
          <a:xfrm>
            <a:off x="1097280" y="2148840"/>
            <a:ext cx="2011680" cy="2011680"/>
          </a:xfrm>
          <a:prstGeom prst="ellipse">
            <a:avLst/>
          </a:prstGeom>
          <a:solidFill>
            <a:schemeClr val="accent1"/>
          </a:solidFill>
          <a:ln/>
        </p:spPr>
      </p:sp>
      <p:pic>
        <p:nvPicPr>
          <p:cNvPr id="6" name="Image 0" descr="sinkron">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Cakupan Kode (Coverage)</a:t>
            </a:r>
            <a:endParaRPr lang="en-US" sz="3200" dirty="0"/>
          </a:p>
        </p:txBody>
      </p:sp>
      <p:sp>
        <p:nvSpPr>
          <p:cNvPr id="4" name="kartu 1"/>
          <p:cNvSpPr/>
          <p:nvPr/>
        </p:nvSpPr>
        <p:spPr>
          <a:xfrm>
            <a:off x="548640" y="1371600"/>
            <a:ext cx="3484778" cy="2286000"/>
          </a:xfrm>
          <a:prstGeom prst="roundRect">
            <a:avLst>
              <a:gd name="adj" fmla="val 4800"/>
            </a:avLst>
          </a:prstGeom>
          <a:solidFill>
            <a:schemeClr val="bg2"/>
          </a:solidFill>
          <a:ln/>
        </p:spPr>
      </p:sp>
      <p:sp>
        <p:nvSpPr>
          <p:cNvPr id="5" name="lingkaran tanya"/>
          <p:cNvSpPr/>
          <p:nvPr/>
        </p:nvSpPr>
        <p:spPr>
          <a:xfrm>
            <a:off x="777240" y="1600200"/>
            <a:ext cx="685800" cy="685800"/>
          </a:xfrm>
          <a:prstGeom prst="ellipse">
            <a:avLst/>
          </a:prstGeom>
          <a:solidFill>
            <a:schemeClr val="accent1"/>
          </a:solidFill>
          <a:ln/>
        </p:spPr>
      </p:sp>
      <p:pic>
        <p:nvPicPr>
          <p:cNvPr id="6" name="Image 0" descr="tanya">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Apa itu cakupan?</a:t>
            </a:r>
            <a:endParaRPr lang="en-US" sz="1800" dirty="0"/>
          </a:p>
        </p:txBody>
      </p:sp>
      <p:sp>
        <p:nvSpPr>
          <p:cNvPr id="8" name="Text 4"/>
          <p:cNvSpPr txBox="1"/>
          <p:nvPr/>
        </p:nvSpPr>
        <p:spPr>
          <a:xfrm>
            <a:off x="777240"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Baris kode mana saja yang PERNAH dijalankan oleh tes.</a:t>
            </a:r>
            <a:endParaRPr lang="en-US" sz="1500" dirty="0"/>
          </a:p>
        </p:txBody>
      </p:sp>
      <p:sp>
        <p:nvSpPr>
          <p:cNvPr id="9" name="kartu 2"/>
          <p:cNvSpPr/>
          <p:nvPr/>
        </p:nvSpPr>
        <p:spPr>
          <a:xfrm>
            <a:off x="4353458" y="1371600"/>
            <a:ext cx="3484778" cy="2286000"/>
          </a:xfrm>
          <a:prstGeom prst="roundRect">
            <a:avLst>
              <a:gd name="adj" fmla="val 4800"/>
            </a:avLst>
          </a:prstGeom>
          <a:solidFill>
            <a:schemeClr val="bg2"/>
          </a:solidFill>
          <a:ln/>
        </p:spPr>
      </p:sp>
      <p:sp>
        <p:nvSpPr>
          <p:cNvPr id="10" name="lingkaran terminal"/>
          <p:cNvSpPr/>
          <p:nvPr/>
        </p:nvSpPr>
        <p:spPr>
          <a:xfrm>
            <a:off x="4582058" y="1600200"/>
            <a:ext cx="685800" cy="685800"/>
          </a:xfrm>
          <a:prstGeom prst="ellipse">
            <a:avLst/>
          </a:prstGeom>
          <a:solidFill>
            <a:schemeClr val="accent1"/>
          </a:solidFill>
          <a:ln/>
        </p:spPr>
      </p:sp>
      <p:pic>
        <p:nvPicPr>
          <p:cNvPr id="11" name="Image 1" descr="terminal">    </p:cNvPr>
          <p:cNvPicPr>
            <a:picLocks noChangeAspect="1"/>
          </p:cNvPicPr>
          <p:nvPr/>
        </p:nvPicPr>
        <p:blipFill>
          <a:blip r:embed="rId2"/>
          <a:stretch>
            <a:fillRect/>
          </a:stretch>
        </p:blipFill>
        <p:spPr>
          <a:xfrm>
            <a:off x="4732934" y="1751076"/>
            <a:ext cx="384048" cy="384048"/>
          </a:xfrm>
          <a:prstGeom prst="rect">
            <a:avLst/>
          </a:prstGeom>
        </p:spPr>
      </p:pic>
      <p:sp>
        <p:nvSpPr>
          <p:cNvPr id="12" name="Text 7"/>
          <p:cNvSpPr txBox="1"/>
          <p:nvPr/>
        </p:nvSpPr>
        <p:spPr>
          <a:xfrm>
            <a:off x="5405018"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Jalankan</a:t>
            </a:r>
            <a:endParaRPr lang="en-US" sz="1800" dirty="0"/>
          </a:p>
        </p:txBody>
      </p:sp>
      <p:sp>
        <p:nvSpPr>
          <p:cNvPr id="13" name="Text 8"/>
          <p:cNvSpPr txBox="1"/>
          <p:nvPr/>
        </p:nvSpPr>
        <p:spPr>
          <a:xfrm>
            <a:off x="4582058" y="2423160"/>
            <a:ext cx="3027578" cy="566928"/>
          </a:xfrm>
          <a:prstGeom prst="rect">
            <a:avLst/>
          </a:prstGeom>
          <a:noFill/>
          <a:ln/>
        </p:spPr>
        <p:txBody>
          <a:bodyPr wrap="square" lIns="0" tIns="0" rIns="0" bIns="0" rtlCol="0" anchor="t"/>
          <a:lstStyle/>
          <a:p>
            <a:pPr indent="0" marL="0">
              <a:buNone/>
            </a:pPr>
            <a:r>
              <a:rPr lang="en-US" sz="1500" dirty="0">
                <a:solidFill>
                  <a:schemeClr val="tx1"/>
                </a:solidFill>
              </a:rPr>
              <a:t>Hasil: coverage/lcov.info (setiap baris di lib/ + berapa kali).</a:t>
            </a:r>
            <a:endParaRPr lang="en-US" sz="1500" dirty="0"/>
          </a:p>
        </p:txBody>
      </p:sp>
      <p:sp>
        <p:nvSpPr>
          <p:cNvPr id="14" name="kotak kode"/>
          <p:cNvSpPr txBox="1"/>
          <p:nvPr/>
        </p:nvSpPr>
        <p:spPr>
          <a:xfrm>
            <a:off x="4536338" y="2944368"/>
            <a:ext cx="3119018" cy="530352"/>
          </a:xfrm>
          <a:prstGeom prst="roundRect">
            <a:avLst>
              <a:gd name="adj" fmla="val 17241"/>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flutter test --coverage</a:t>
            </a:r>
            <a:endParaRPr lang="en-US" sz="1300" dirty="0"/>
          </a:p>
        </p:txBody>
      </p:sp>
      <p:sp>
        <p:nvSpPr>
          <p:cNvPr id="15" name="kartu 3"/>
          <p:cNvSpPr/>
          <p:nvPr/>
        </p:nvSpPr>
        <p:spPr>
          <a:xfrm>
            <a:off x="8158277" y="1371600"/>
            <a:ext cx="3484778" cy="2286000"/>
          </a:xfrm>
          <a:prstGeom prst="roundRect">
            <a:avLst>
              <a:gd name="adj" fmla="val 4800"/>
            </a:avLst>
          </a:prstGeom>
          <a:solidFill>
            <a:schemeClr val="bg2"/>
          </a:solidFill>
          <a:ln/>
        </p:spPr>
      </p:sp>
      <p:sp>
        <p:nvSpPr>
          <p:cNvPr id="16" name="lingkaran lihat"/>
          <p:cNvSpPr/>
          <p:nvPr/>
        </p:nvSpPr>
        <p:spPr>
          <a:xfrm>
            <a:off x="8386877" y="1600200"/>
            <a:ext cx="685800" cy="685800"/>
          </a:xfrm>
          <a:prstGeom prst="ellipse">
            <a:avLst/>
          </a:prstGeom>
          <a:solidFill>
            <a:schemeClr val="accent6"/>
          </a:solidFill>
          <a:ln/>
        </p:spPr>
      </p:sp>
      <p:pic>
        <p:nvPicPr>
          <p:cNvPr id="17" name="Image 2" descr="lihat">    </p:cNvPr>
          <p:cNvPicPr>
            <a:picLocks noChangeAspect="1"/>
          </p:cNvPicPr>
          <p:nvPr/>
        </p:nvPicPr>
        <p:blipFill>
          <a:blip r:embed="rId3"/>
          <a:stretch>
            <a:fillRect/>
          </a:stretch>
        </p:blipFill>
        <p:spPr>
          <a:xfrm>
            <a:off x="8537753" y="1751076"/>
            <a:ext cx="384048" cy="384048"/>
          </a:xfrm>
          <a:prstGeom prst="rect">
            <a:avLst/>
          </a:prstGeom>
        </p:spPr>
      </p:pic>
      <p:sp>
        <p:nvSpPr>
          <p:cNvPr id="18" name="Text 12"/>
          <p:cNvSpPr txBox="1"/>
          <p:nvPr/>
        </p:nvSpPr>
        <p:spPr>
          <a:xfrm>
            <a:off x="9209837"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Baca di VS Code</a:t>
            </a:r>
            <a:endParaRPr lang="en-US" sz="1800" dirty="0"/>
          </a:p>
        </p:txBody>
      </p:sp>
      <p:sp>
        <p:nvSpPr>
          <p:cNvPr id="19" name="Text 13"/>
          <p:cNvSpPr txBox="1"/>
          <p:nvPr/>
        </p:nvSpPr>
        <p:spPr>
          <a:xfrm>
            <a:off x="8386877"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Panel Testing → Run Tests with Coverage: hijau dijalankan, merah tidak pernah; persentase per berkas.</a:t>
            </a:r>
            <a:endParaRPr lang="en-US" sz="1500" dirty="0"/>
          </a:p>
        </p:txBody>
      </p:sp>
      <p:sp>
        <p:nvSpPr>
          <p:cNvPr id="20" name="kartu 4"/>
          <p:cNvSpPr/>
          <p:nvPr/>
        </p:nvSpPr>
        <p:spPr>
          <a:xfrm>
            <a:off x="548640" y="3931920"/>
            <a:ext cx="3484778" cy="2286000"/>
          </a:xfrm>
          <a:prstGeom prst="roundRect">
            <a:avLst>
              <a:gd name="adj" fmla="val 4800"/>
            </a:avLst>
          </a:prstGeom>
          <a:solidFill>
            <a:schemeClr val="bg2"/>
          </a:solidFill>
          <a:ln/>
        </p:spPr>
      </p:sp>
      <p:sp>
        <p:nvSpPr>
          <p:cNvPr id="21" name="lingkaran peringatan"/>
          <p:cNvSpPr/>
          <p:nvPr/>
        </p:nvSpPr>
        <p:spPr>
          <a:xfrm>
            <a:off x="777240" y="4160520"/>
            <a:ext cx="685800" cy="685800"/>
          </a:xfrm>
          <a:prstGeom prst="ellipse">
            <a:avLst/>
          </a:prstGeom>
          <a:solidFill>
            <a:schemeClr val="accent5"/>
          </a:solidFill>
          <a:ln/>
        </p:spPr>
      </p:sp>
      <p:pic>
        <p:nvPicPr>
          <p:cNvPr id="22" name="Image 3" descr="peringatan">    </p:cNvPr>
          <p:cNvPicPr>
            <a:picLocks noChangeAspect="1"/>
          </p:cNvPicPr>
          <p:nvPr/>
        </p:nvPicPr>
        <p:blipFill>
          <a:blip r:embed="rId4"/>
          <a:stretch>
            <a:fillRect/>
          </a:stretch>
        </p:blipFill>
        <p:spPr>
          <a:xfrm>
            <a:off x="928116" y="4311396"/>
            <a:ext cx="384048" cy="384048"/>
          </a:xfrm>
          <a:prstGeom prst="rect">
            <a:avLst/>
          </a:prstGeom>
        </p:spPr>
      </p:pic>
      <p:sp>
        <p:nvSpPr>
          <p:cNvPr id="23" name="Text 16"/>
          <p:cNvSpPr txBox="1"/>
          <p:nvPr/>
        </p:nvSpPr>
        <p:spPr>
          <a:xfrm>
            <a:off x="1600200"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100% ≠ bebas bug</a:t>
            </a:r>
            <a:endParaRPr lang="en-US" sz="1800" dirty="0"/>
          </a:p>
        </p:txBody>
      </p:sp>
      <p:sp>
        <p:nvSpPr>
          <p:cNvPr id="24" name="Text 17"/>
          <p:cNvSpPr txBox="1"/>
          <p:nvPr/>
        </p:nvSpPr>
        <p:spPr>
          <a:xfrm>
            <a:off x="777240" y="4983480"/>
            <a:ext cx="3027578" cy="1097280"/>
          </a:xfrm>
          <a:prstGeom prst="rect">
            <a:avLst/>
          </a:prstGeom>
          <a:noFill/>
          <a:ln/>
        </p:spPr>
        <p:txBody>
          <a:bodyPr wrap="square" lIns="0" tIns="0" rIns="0" bIns="0" rtlCol="0" anchor="t"/>
          <a:lstStyle/>
          <a:p>
            <a:pPr indent="0" marL="0">
              <a:buNone/>
            </a:pPr>
            <a:r>
              <a:rPr lang="en-US" sz="1500" dirty="0">
                <a:solidFill>
                  <a:schemeClr val="tx1"/>
                </a:solidFill>
              </a:rPr>
              <a:t>Dijalankan belum tentu DIPERIKSA: tes tanpa expect pun menaikkan cakupan.</a:t>
            </a:r>
            <a:endParaRPr lang="en-US" sz="1500" dirty="0"/>
          </a:p>
        </p:txBody>
      </p:sp>
      <p:sp>
        <p:nvSpPr>
          <p:cNvPr id="25" name="kartu 5"/>
          <p:cNvSpPr/>
          <p:nvPr/>
        </p:nvSpPr>
        <p:spPr>
          <a:xfrm>
            <a:off x="4353458" y="3931920"/>
            <a:ext cx="3484778" cy="2286000"/>
          </a:xfrm>
          <a:prstGeom prst="roundRect">
            <a:avLst>
              <a:gd name="adj" fmla="val 4800"/>
            </a:avLst>
          </a:prstGeom>
          <a:solidFill>
            <a:schemeClr val="bg2"/>
          </a:solidFill>
          <a:ln/>
        </p:spPr>
      </p:sp>
      <p:sp>
        <p:nvSpPr>
          <p:cNvPr id="26" name="lingkaran cari"/>
          <p:cNvSpPr/>
          <p:nvPr/>
        </p:nvSpPr>
        <p:spPr>
          <a:xfrm>
            <a:off x="4582058" y="4160520"/>
            <a:ext cx="685800" cy="685800"/>
          </a:xfrm>
          <a:prstGeom prst="ellipse">
            <a:avLst/>
          </a:prstGeom>
          <a:solidFill>
            <a:schemeClr val="accent4"/>
          </a:solidFill>
          <a:ln/>
        </p:spPr>
      </p:sp>
      <p:pic>
        <p:nvPicPr>
          <p:cNvPr id="27" name="Image 4" descr="cari">    </p:cNvPr>
          <p:cNvPicPr>
            <a:picLocks noChangeAspect="1"/>
          </p:cNvPicPr>
          <p:nvPr/>
        </p:nvPicPr>
        <p:blipFill>
          <a:blip r:embed="rId5"/>
          <a:stretch>
            <a:fillRect/>
          </a:stretch>
        </p:blipFill>
        <p:spPr>
          <a:xfrm>
            <a:off x="4732934" y="4311396"/>
            <a:ext cx="384048" cy="384048"/>
          </a:xfrm>
          <a:prstGeom prst="rect">
            <a:avLst/>
          </a:prstGeom>
        </p:spPr>
      </p:pic>
      <p:sp>
        <p:nvSpPr>
          <p:cNvPr id="28" name="Text 20"/>
          <p:cNvSpPr txBox="1"/>
          <p:nvPr/>
        </p:nvSpPr>
        <p:spPr>
          <a:xfrm>
            <a:off x="5405018"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Pakai untuk...</a:t>
            </a:r>
            <a:endParaRPr lang="en-US" sz="1800" dirty="0"/>
          </a:p>
        </p:txBody>
      </p:sp>
      <p:sp>
        <p:nvSpPr>
          <p:cNvPr id="29" name="Text 21"/>
          <p:cNvSpPr txBox="1"/>
          <p:nvPr/>
        </p:nvSpPr>
        <p:spPr>
          <a:xfrm>
            <a:off x="4582058" y="4983480"/>
            <a:ext cx="3027578" cy="1097280"/>
          </a:xfrm>
          <a:prstGeom prst="rect">
            <a:avLst/>
          </a:prstGeom>
          <a:noFill/>
          <a:ln/>
        </p:spPr>
        <p:txBody>
          <a:bodyPr wrap="square" lIns="0" tIns="0" rIns="0" bIns="0" rtlCol="0" anchor="t"/>
          <a:lstStyle/>
          <a:p>
            <a:pPr indent="0" marL="0">
              <a:buNone/>
            </a:pPr>
            <a:r>
              <a:rPr lang="en-US" sz="1500" dirty="0">
                <a:solidFill>
                  <a:schemeClr val="tx1"/>
                </a:solidFill>
              </a:rPr>
              <a:t>Menemukan bagian yang BELUM diuji, misalnya cabang kegagalan yang terlupa. Bukan target angka semata.</a:t>
            </a:r>
            <a:endParaRPr lang="en-US" sz="1500" dirty="0"/>
          </a:p>
        </p:txBody>
      </p:sp>
      <p:sp>
        <p:nvSpPr>
          <p:cNvPr id="30" name="kartu 6"/>
          <p:cNvSpPr/>
          <p:nvPr/>
        </p:nvSpPr>
        <p:spPr>
          <a:xfrm>
            <a:off x="8158277" y="3931920"/>
            <a:ext cx="3484778" cy="2286000"/>
          </a:xfrm>
          <a:prstGeom prst="roundRect">
            <a:avLst>
              <a:gd name="adj" fmla="val 4800"/>
            </a:avLst>
          </a:prstGeom>
          <a:solidFill>
            <a:schemeClr val="bg2"/>
          </a:solidFill>
          <a:ln/>
        </p:spPr>
      </p:sp>
      <p:sp>
        <p:nvSpPr>
          <p:cNvPr id="31" name="lingkaran folder"/>
          <p:cNvSpPr/>
          <p:nvPr/>
        </p:nvSpPr>
        <p:spPr>
          <a:xfrm>
            <a:off x="8386877" y="4160520"/>
            <a:ext cx="685800" cy="685800"/>
          </a:xfrm>
          <a:prstGeom prst="ellipse">
            <a:avLst/>
          </a:prstGeom>
          <a:solidFill>
            <a:schemeClr val="accent3"/>
          </a:solidFill>
          <a:ln/>
        </p:spPr>
      </p:sp>
      <p:pic>
        <p:nvPicPr>
          <p:cNvPr id="32" name="Image 5" descr="folder">    </p:cNvPr>
          <p:cNvPicPr>
            <a:picLocks noChangeAspect="1"/>
          </p:cNvPicPr>
          <p:nvPr/>
        </p:nvPicPr>
        <p:blipFill>
          <a:blip r:embed="rId6"/>
          <a:stretch>
            <a:fillRect/>
          </a:stretch>
        </p:blipFill>
        <p:spPr>
          <a:xfrm>
            <a:off x="8537753" y="4311396"/>
            <a:ext cx="384048" cy="384048"/>
          </a:xfrm>
          <a:prstGeom prst="rect">
            <a:avLst/>
          </a:prstGeom>
        </p:spPr>
      </p:pic>
      <p:sp>
        <p:nvSpPr>
          <p:cNvPr id="33" name="Text 24"/>
          <p:cNvSpPr txBox="1"/>
          <p:nvPr/>
        </p:nvSpPr>
        <p:spPr>
          <a:xfrm>
            <a:off x="9209837"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Jangan di-commit</a:t>
            </a:r>
            <a:endParaRPr lang="en-US" sz="1800" dirty="0"/>
          </a:p>
        </p:txBody>
      </p:sp>
      <p:sp>
        <p:nvSpPr>
          <p:cNvPr id="34" name="Text 25"/>
          <p:cNvSpPr txBox="1"/>
          <p:nvPr/>
        </p:nvSpPr>
        <p:spPr>
          <a:xfrm>
            <a:off x="8386877" y="4983480"/>
            <a:ext cx="3027578" cy="566928"/>
          </a:xfrm>
          <a:prstGeom prst="rect">
            <a:avLst/>
          </a:prstGeom>
          <a:noFill/>
          <a:ln/>
        </p:spPr>
        <p:txBody>
          <a:bodyPr wrap="square" lIns="0" tIns="0" rIns="0" bIns="0" rtlCol="0" anchor="t"/>
          <a:lstStyle/>
          <a:p>
            <a:pPr indent="0" marL="0">
              <a:buNone/>
            </a:pPr>
            <a:r>
              <a:rPr lang="en-US" sz="1500" dirty="0">
                <a:solidFill>
                  <a:schemeClr val="tx1"/>
                </a:solidFill>
              </a:rPr>
              <a:t>Folder hasil buatan alat: tambahkan ke .gitignore.</a:t>
            </a:r>
            <a:endParaRPr lang="en-US" sz="1500" dirty="0"/>
          </a:p>
        </p:txBody>
      </p:sp>
      <p:sp>
        <p:nvSpPr>
          <p:cNvPr id="35" name="kotak kode"/>
          <p:cNvSpPr txBox="1"/>
          <p:nvPr/>
        </p:nvSpPr>
        <p:spPr>
          <a:xfrm>
            <a:off x="8341157" y="5504688"/>
            <a:ext cx="3119018" cy="530352"/>
          </a:xfrm>
          <a:prstGeom prst="roundRect">
            <a:avLst>
              <a:gd name="adj" fmla="val 17241"/>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coverage/</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Tes Otomatis di GitHub (CI)</a:t>
            </a:r>
            <a:endParaRPr lang="en-US" sz="3200" dirty="0"/>
          </a:p>
        </p:txBody>
      </p:sp>
      <p:sp>
        <p:nvSpPr>
          <p:cNvPr id="4" name="kotak kode"/>
          <p:cNvSpPr txBox="1"/>
          <p:nvPr/>
        </p:nvSpPr>
        <p:spPr>
          <a:xfrm>
            <a:off x="548640" y="1371600"/>
            <a:ext cx="5120640" cy="4480560"/>
          </a:xfrm>
          <a:prstGeom prst="roundRect">
            <a:avLst>
              <a:gd name="adj" fmla="val 2041"/>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name: Tes Otomatis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on: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push:</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branches: [main]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pull_request: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jobs: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tes: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runs-on: ubuntu-latest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steps: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 name: Ambil isi repositori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uses: actions/checkout</a:t>
            </a:r>
            <a:r>
              <a:rPr lang="en-US" sz="1100" dirty="0">
                <a:solidFill>
                  <a:srgbClr val="89DDFF"/>
                </a:solidFill>
                <a:latin typeface="Consolas" pitchFamily="34" charset="0"/>
                <a:ea typeface="Consolas" pitchFamily="34" charset="-122"/>
                <a:cs typeface="Consolas" pitchFamily="34" charset="-120"/>
              </a:rPr>
              <a:t>@v5</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 name: Pasang Flutter</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uses: subosito/flutter-action</a:t>
            </a:r>
            <a:r>
              <a:rPr lang="en-US" sz="1100" dirty="0">
                <a:solidFill>
                  <a:srgbClr val="89DDFF"/>
                </a:solidFill>
                <a:latin typeface="Consolas" pitchFamily="34" charset="0"/>
                <a:ea typeface="Consolas" pitchFamily="34" charset="-122"/>
                <a:cs typeface="Consolas" pitchFamily="34" charset="-120"/>
              </a:rPr>
              <a:t>@v2</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with:</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channel: stable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cache: true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 name: Unduh paket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run: flutter pub get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 name: Analisis kode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run: flutter analyze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 name: Jalankan semua tes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run: flutter test</a:t>
            </a:r>
            <a:endParaRPr lang="en-US" sz="1100" dirty="0"/>
          </a:p>
        </p:txBody>
      </p:sp>
      <p:sp>
        <p:nvSpPr>
          <p:cNvPr id="5" name="daftar poin"/>
          <p:cNvSpPr txBox="1"/>
          <p:nvPr/>
        </p:nvSpPr>
        <p:spPr>
          <a:xfrm>
            <a:off x="6080760" y="1417320"/>
            <a:ext cx="55622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CI (Continuous Integration): "robot" yang menjalankan pemeriksaan SETIAP kali kode baru di-push.</a:t>
            </a:r>
            <a:endParaRPr lang="en-US" sz="1700" dirty="0"/>
          </a:p>
          <a:p>
            <a:pPr marL="228600" indent="-228600">
              <a:spcAft>
                <a:spcPts val="800"/>
              </a:spcAft>
              <a:buSzPct val="100000"/>
              <a:buChar char="•"/>
            </a:pPr>
            <a:r>
              <a:rPr lang="en-US" sz="1700" dirty="0">
                <a:solidFill>
                  <a:schemeClr val="tx1"/>
                </a:solidFill>
              </a:rPr>
              <a:t>Berkas: .github/workflows/tes.yml di repositori proyek Anda.</a:t>
            </a:r>
            <a:endParaRPr lang="en-US" sz="1700" dirty="0"/>
          </a:p>
          <a:p>
            <a:pPr marL="228600" indent="-228600">
              <a:spcAft>
                <a:spcPts val="800"/>
              </a:spcAft>
              <a:buSzPct val="100000"/>
              <a:buChar char="•"/>
            </a:pPr>
            <a:r>
              <a:rPr lang="en-US" sz="1700" dirty="0">
                <a:solidFill>
                  <a:schemeClr val="tx1"/>
                </a:solidFill>
              </a:rPr>
              <a:t>on: setiap push ke main dan setiap pull request. runs-on: komputer Linux milik GitHub.</a:t>
            </a:r>
            <a:endParaRPr lang="en-US" sz="1700" dirty="0"/>
          </a:p>
          <a:p>
            <a:pPr marL="228600" indent="-228600">
              <a:spcAft>
                <a:spcPts val="800"/>
              </a:spcAft>
              <a:buSzPct val="100000"/>
              <a:buChar char="•"/>
            </a:pPr>
            <a:r>
              <a:rPr lang="en-US" sz="1700" dirty="0">
                <a:solidFill>
                  <a:schemeClr val="tx1"/>
                </a:solidFill>
              </a:rPr>
              <a:t>checkout mengambil kode, flutter-action memasang Flutter stable, lalu flutter analyze dan flutter test: sama seperti di laptop.</a:t>
            </a:r>
            <a:endParaRPr lang="en-US" sz="1700" dirty="0"/>
          </a:p>
          <a:p>
            <a:pPr marL="228600" indent="-228600">
              <a:spcAft>
                <a:spcPts val="800"/>
              </a:spcAft>
              <a:buSzPct val="100000"/>
              <a:buChar char="•"/>
            </a:pPr>
            <a:r>
              <a:rPr lang="en-US" sz="1700" dirty="0">
                <a:solidFill>
                  <a:schemeClr val="tx1"/>
                </a:solidFill>
              </a:rPr>
              <a:t>Tab Actions: setiap commit diberi tanda centang (semua lulus) atau silang (ada yang gagal).</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Tes Integrasi: Aplikasi Utuh di Perangkat</a:t>
            </a:r>
            <a:endParaRPr lang="en-US" sz="3200" dirty="0"/>
          </a:p>
        </p:txBody>
      </p:sp>
      <p:sp>
        <p:nvSpPr>
          <p:cNvPr id="4" name="kotak kode"/>
          <p:cNvSpPr txBox="1"/>
          <p:nvPr/>
        </p:nvSpPr>
        <p:spPr>
          <a:xfrm>
            <a:off x="548640" y="1371600"/>
            <a:ext cx="6400800" cy="4091940"/>
          </a:xfrm>
          <a:prstGeom prst="roundRect">
            <a:avLst>
              <a:gd name="adj" fmla="val 2235"/>
            </a:avLst>
          </a:prstGeom>
          <a:solidFill>
            <a:srgbClr val="0E1A2B"/>
          </a:solidFill>
          <a:ln/>
        </p:spPr>
        <p:txBody>
          <a:bodyPr wrap="square" lIns="177800" tIns="152400" rIns="152400" bIns="177800" rtlCol="0" anchor="t"/>
          <a:lstStyle/>
          <a:p>
            <a:pPr indent="0" marL="0">
              <a:lnSpc>
                <a:spcPct val="105000"/>
              </a:lnSpc>
              <a:buNone/>
            </a:pPr>
            <a:r>
              <a:rPr lang="en-US" sz="1150" dirty="0">
                <a:solidFill>
                  <a:srgbClr val="C792EA"/>
                </a:solidFill>
                <a:latin typeface="Consolas" pitchFamily="34" charset="0"/>
                <a:ea typeface="Consolas" pitchFamily="34" charset="-122"/>
                <a:cs typeface="Consolas" pitchFamily="34" charset="-120"/>
              </a:rPr>
              <a:t>import</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3E88D"/>
                </a:solidFill>
                <a:latin typeface="Consolas" pitchFamily="34" charset="0"/>
                <a:ea typeface="Consolas" pitchFamily="34" charset="-122"/>
                <a:cs typeface="Consolas" pitchFamily="34" charset="-120"/>
              </a:rPr>
              <a:t>'package:flutter_test/flutter_test.dart'</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C792EA"/>
                </a:solidFill>
                <a:latin typeface="Consolas" pitchFamily="34" charset="0"/>
                <a:ea typeface="Consolas" pitchFamily="34" charset="-122"/>
                <a:cs typeface="Consolas" pitchFamily="34" charset="-120"/>
              </a:rPr>
              <a:t>import</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3E88D"/>
                </a:solidFill>
                <a:latin typeface="Consolas" pitchFamily="34" charset="0"/>
                <a:ea typeface="Consolas" pitchFamily="34" charset="-122"/>
                <a:cs typeface="Consolas" pitchFamily="34" charset="-120"/>
              </a:rPr>
              <a:t>'package:integration_test/integration_test.dart'</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C792EA"/>
                </a:solidFill>
                <a:latin typeface="Consolas" pitchFamily="34" charset="0"/>
                <a:ea typeface="Consolas" pitchFamily="34" charset="-122"/>
                <a:cs typeface="Consolas" pitchFamily="34" charset="-120"/>
              </a:rPr>
              <a:t>import</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3E88D"/>
                </a:solidFill>
                <a:latin typeface="Consolas" pitchFamily="34" charset="0"/>
                <a:ea typeface="Consolas" pitchFamily="34" charset="-122"/>
                <a:cs typeface="Consolas" pitchFamily="34" charset="-120"/>
              </a:rPr>
              <a:t>'package:kasir_kantin/main.dart'</a:t>
            </a: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as</a:t>
            </a:r>
            <a:r>
              <a:rPr lang="en-US" sz="1150" dirty="0">
                <a:solidFill>
                  <a:srgbClr val="E6EDF3"/>
                </a:solidFill>
                <a:latin typeface="Consolas" pitchFamily="34" charset="0"/>
                <a:ea typeface="Consolas" pitchFamily="34" charset="-122"/>
                <a:cs typeface="Consolas" pitchFamily="34" charset="-120"/>
              </a:rPr>
              <a:t> aplikasi;</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C792EA"/>
                </a:solidFill>
                <a:latin typeface="Consolas" pitchFamily="34" charset="0"/>
                <a:ea typeface="Consolas" pitchFamily="34" charset="-122"/>
                <a:cs typeface="Consolas" pitchFamily="34" charset="-120"/>
              </a:rPr>
              <a:t>void</a:t>
            </a:r>
            <a:r>
              <a:rPr lang="en-US" sz="1150" dirty="0">
                <a:solidFill>
                  <a:srgbClr val="E6EDF3"/>
                </a:solidFill>
                <a:latin typeface="Consolas" pitchFamily="34" charset="0"/>
                <a:ea typeface="Consolas" pitchFamily="34" charset="-122"/>
                <a:cs typeface="Consolas" pitchFamily="34" charset="-120"/>
              </a:rPr>
              <a:t> main()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IntegrationTestWidgetsFlutterBinding</a:t>
            </a:r>
            <a:r>
              <a:rPr lang="en-US" sz="1150" dirty="0">
                <a:solidFill>
                  <a:srgbClr val="E6EDF3"/>
                </a:solidFill>
                <a:latin typeface="Consolas" pitchFamily="34" charset="0"/>
                <a:ea typeface="Consolas" pitchFamily="34" charset="-122"/>
                <a:cs typeface="Consolas" pitchFamily="34" charset="-120"/>
              </a:rPr>
              <a:t>.ensureInitialized();</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testWidgets(</a:t>
            </a:r>
            <a:r>
              <a:rPr lang="en-US" sz="1150" dirty="0">
                <a:solidFill>
                  <a:srgbClr val="C3E88D"/>
                </a:solidFill>
                <a:latin typeface="Consolas" pitchFamily="34" charset="0"/>
                <a:ea typeface="Consolas" pitchFamily="34" charset="-122"/>
                <a:cs typeface="Consolas" pitchFamily="34" charset="-120"/>
              </a:rPr>
              <a:t>'pesan dua nasi goreng mendapat diskon'</a:t>
            </a: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FFCB6B"/>
                </a:solidFill>
                <a:latin typeface="Consolas" pitchFamily="34" charset="0"/>
                <a:ea typeface="Consolas" pitchFamily="34" charset="-122"/>
                <a:cs typeface="Consolas" pitchFamily="34" charset="-120"/>
              </a:rPr>
              <a:t>WidgetTester</a:t>
            </a:r>
            <a:r>
              <a:rPr lang="en-US" sz="1150" dirty="0">
                <a:solidFill>
                  <a:srgbClr val="E6EDF3"/>
                </a:solidFill>
                <a:latin typeface="Consolas" pitchFamily="34" charset="0"/>
                <a:ea typeface="Consolas" pitchFamily="34" charset="-122"/>
                <a:cs typeface="Consolas" pitchFamily="34" charset="-120"/>
              </a:rPr>
              <a:t> tester,</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 </a:t>
            </a:r>
            <a:r>
              <a:rPr lang="en-US" sz="1150" dirty="0">
                <a:solidFill>
                  <a:srgbClr val="C792EA"/>
                </a:solidFill>
                <a:latin typeface="Consolas" pitchFamily="34" charset="0"/>
                <a:ea typeface="Consolas" pitchFamily="34" charset="-122"/>
                <a:cs typeface="Consolas" pitchFamily="34" charset="-120"/>
              </a:rPr>
              <a:t>async</a:t>
            </a: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aplikasi.main();</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await</a:t>
            </a:r>
            <a:r>
              <a:rPr lang="en-US" sz="1150" dirty="0">
                <a:solidFill>
                  <a:srgbClr val="E6EDF3"/>
                </a:solidFill>
                <a:latin typeface="Consolas" pitchFamily="34" charset="0"/>
                <a:ea typeface="Consolas" pitchFamily="34" charset="-122"/>
                <a:cs typeface="Consolas" pitchFamily="34" charset="-120"/>
              </a:rPr>
              <a:t> tester.pumpAndSettle();</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await</a:t>
            </a:r>
            <a:r>
              <a:rPr lang="en-US" sz="1150" dirty="0">
                <a:solidFill>
                  <a:srgbClr val="E6EDF3"/>
                </a:solidFill>
                <a:latin typeface="Consolas" pitchFamily="34" charset="0"/>
                <a:ea typeface="Consolas" pitchFamily="34" charset="-122"/>
                <a:cs typeface="Consolas" pitchFamily="34" charset="-120"/>
              </a:rPr>
              <a:t> tester.tap(find.byTooltip(</a:t>
            </a:r>
            <a:r>
              <a:rPr lang="en-US" sz="1150" dirty="0">
                <a:solidFill>
                  <a:srgbClr val="C3E88D"/>
                </a:solidFill>
                <a:latin typeface="Consolas" pitchFamily="34" charset="0"/>
                <a:ea typeface="Consolas" pitchFamily="34" charset="-122"/>
                <a:cs typeface="Consolas" pitchFamily="34" charset="-120"/>
              </a:rPr>
              <a:t>'Tambah Nasi Goreng'</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await</a:t>
            </a:r>
            <a:r>
              <a:rPr lang="en-US" sz="1150" dirty="0">
                <a:solidFill>
                  <a:srgbClr val="E6EDF3"/>
                </a:solidFill>
                <a:latin typeface="Consolas" pitchFamily="34" charset="0"/>
                <a:ea typeface="Consolas" pitchFamily="34" charset="-122"/>
                <a:cs typeface="Consolas" pitchFamily="34" charset="-120"/>
              </a:rPr>
              <a:t> tester.tap(find.byTooltip(</a:t>
            </a:r>
            <a:r>
              <a:rPr lang="en-US" sz="1150" dirty="0">
                <a:solidFill>
                  <a:srgbClr val="C3E88D"/>
                </a:solidFill>
                <a:latin typeface="Consolas" pitchFamily="34" charset="0"/>
                <a:ea typeface="Consolas" pitchFamily="34" charset="-122"/>
                <a:cs typeface="Consolas" pitchFamily="34" charset="-120"/>
              </a:rPr>
              <a:t>'Tambah Nasi Goreng'</a:t>
            </a:r>
            <a:r>
              <a:rPr lang="en-US" sz="1150" dirty="0">
                <a:solidFill>
                  <a:srgbClr val="E6EDF3"/>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r>
              <a:rPr lang="en-US" sz="1150" dirty="0">
                <a:solidFill>
                  <a:srgbClr val="C792EA"/>
                </a:solidFill>
                <a:latin typeface="Consolas" pitchFamily="34" charset="0"/>
                <a:ea typeface="Consolas" pitchFamily="34" charset="-122"/>
                <a:cs typeface="Consolas" pitchFamily="34" charset="-120"/>
              </a:rPr>
              <a:t>await</a:t>
            </a:r>
            <a:r>
              <a:rPr lang="en-US" sz="1150" dirty="0">
                <a:solidFill>
                  <a:srgbClr val="E6EDF3"/>
                </a:solidFill>
                <a:latin typeface="Consolas" pitchFamily="34" charset="0"/>
                <a:ea typeface="Consolas" pitchFamily="34" charset="-122"/>
                <a:cs typeface="Consolas" pitchFamily="34" charset="-120"/>
              </a:rPr>
              <a:t> tester.pumpAndSettle();</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expect(find.text(</a:t>
            </a:r>
            <a:r>
              <a:rPr lang="en-US" sz="1150" dirty="0">
                <a:solidFill>
                  <a:srgbClr val="C3E88D"/>
                </a:solidFill>
                <a:latin typeface="Consolas" pitchFamily="34" charset="0"/>
                <a:ea typeface="Consolas" pitchFamily="34" charset="-122"/>
                <a:cs typeface="Consolas" pitchFamily="34" charset="-120"/>
              </a:rPr>
              <a:t>'Rp5.000'</a:t>
            </a:r>
            <a:r>
              <a:rPr lang="en-US" sz="1150" dirty="0">
                <a:solidFill>
                  <a:srgbClr val="E6EDF3"/>
                </a:solidFill>
                <a:latin typeface="Consolas" pitchFamily="34" charset="0"/>
                <a:ea typeface="Consolas" pitchFamily="34" charset="-122"/>
                <a:cs typeface="Consolas" pitchFamily="34" charset="-120"/>
              </a:rPr>
              <a:t>), findsWidgets);</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p:txBody>
      </p:sp>
      <p:sp>
        <p:nvSpPr>
          <p:cNvPr id="5" name="daftar poin"/>
          <p:cNvSpPr txBox="1"/>
          <p:nvPr/>
        </p:nvSpPr>
        <p:spPr>
          <a:xfrm>
            <a:off x="7360920" y="1417320"/>
            <a:ext cx="428213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pubspec.yaml: integration_test (sdk: flutter) di dev_dependencies; tes di folder integration_test/.</a:t>
            </a:r>
            <a:endParaRPr lang="en-US" sz="1700" dirty="0"/>
          </a:p>
          <a:p>
            <a:pPr marL="228600" indent="-228600">
              <a:spcAft>
                <a:spcPts val="800"/>
              </a:spcAft>
              <a:buSzPct val="100000"/>
              <a:buChar char="•"/>
            </a:pPr>
            <a:r>
              <a:rPr lang="en-US" sz="1700" dirty="0">
                <a:solidFill>
                  <a:schemeClr val="tx1"/>
                </a:solidFill>
              </a:rPr>
              <a:t>flutter test integration_test/app_test.dart → pilih HP, emulator, atau desktop.</a:t>
            </a:r>
            <a:endParaRPr lang="en-US" sz="1700" dirty="0"/>
          </a:p>
          <a:p>
            <a:pPr marL="228600" indent="-228600">
              <a:spcAft>
                <a:spcPts val="800"/>
              </a:spcAft>
              <a:buSzPct val="100000"/>
              <a:buChar char="•"/>
            </a:pPr>
            <a:r>
              <a:rPr lang="en-US" sz="1700" dirty="0">
                <a:solidFill>
                  <a:schemeClr val="tx1"/>
                </a:solidFill>
              </a:rPr>
              <a:t>Paling meyakinkan (huruf, ukuran layar, dan plugin sungguhan), tetapi jauh lebih lambat.</a:t>
            </a:r>
            <a:endParaRPr lang="en-US" sz="1700" dirty="0"/>
          </a:p>
          <a:p>
            <a:pPr marL="228600" indent="-228600">
              <a:spcAft>
                <a:spcPts val="800"/>
              </a:spcAft>
              <a:buSzPct val="100000"/>
              <a:buChar char="•"/>
            </a:pPr>
            <a:r>
              <a:rPr lang="en-US" sz="1700" dirty="0">
                <a:solidFill>
                  <a:schemeClr val="tx1"/>
                </a:solidFill>
              </a:rPr>
              <a:t>Contoh ini mengandaikan ketiga bug Kasir Kantin sudah diperbaiki.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Tiruan (mock) dan Golden Test</a:t>
            </a:r>
            <a:endParaRPr lang="en-US" sz="3200" dirty="0"/>
          </a:p>
        </p:txBody>
      </p:sp>
      <p:sp>
        <p:nvSpPr>
          <p:cNvPr id="4" name="kolom 1"/>
          <p:cNvSpPr/>
          <p:nvPr/>
        </p:nvSpPr>
        <p:spPr>
          <a:xfrm>
            <a:off x="548640" y="1371600"/>
            <a:ext cx="5387188" cy="4754880"/>
          </a:xfrm>
          <a:prstGeom prst="roundRect">
            <a:avLst>
              <a:gd name="adj" fmla="val 2308"/>
            </a:avLst>
          </a:prstGeom>
          <a:solidFill>
            <a:schemeClr val="bg2"/>
          </a:solidFill>
          <a:ln/>
        </p:spPr>
      </p:sp>
      <p:sp>
        <p:nvSpPr>
          <p:cNvPr id="5" name="lingkaran puzzle"/>
          <p:cNvSpPr/>
          <p:nvPr/>
        </p:nvSpPr>
        <p:spPr>
          <a:xfrm>
            <a:off x="777240" y="1600200"/>
            <a:ext cx="685800" cy="685800"/>
          </a:xfrm>
          <a:prstGeom prst="ellipse">
            <a:avLst/>
          </a:prstGeom>
          <a:solidFill>
            <a:schemeClr val="accent6"/>
          </a:solidFill>
          <a:ln/>
        </p:spPr>
      </p:sp>
      <p:pic>
        <p:nvPicPr>
          <p:cNvPr id="6" name="Image 0" descr="puzzle">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mocktail / mockito</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6"/>
                </a:solidFill>
              </a:rPr>
              <a:t>Tiruan (mock) yang dibuat paket</a:t>
            </a:r>
            <a:endParaRPr lang="en-US" sz="1400" dirty="0"/>
          </a:p>
        </p:txBody>
      </p:sp>
      <p:sp>
        <p:nvSpPr>
          <p:cNvPr id="9" name="daftar poin"/>
          <p:cNvSpPr txBox="1"/>
          <p:nvPr/>
        </p:nvSpPr>
        <p:spPr>
          <a:xfrm>
            <a:off x="777240" y="2926080"/>
            <a:ext cx="4929988" cy="162763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when(...).thenAnswer(...) mengatur jawaban; verify(...).called(1) memeriksa jumlah panggilan</a:t>
            </a:r>
            <a:endParaRPr lang="en-US" sz="1600" dirty="0"/>
          </a:p>
          <a:p>
            <a:pPr marL="228600" indent="-228600">
              <a:spcAft>
                <a:spcPts val="800"/>
              </a:spcAft>
              <a:buSzPct val="100000"/>
              <a:buChar char="•"/>
            </a:pPr>
            <a:r>
              <a:rPr lang="en-US" sz="1600" dirty="0">
                <a:solidFill>
                  <a:schemeClr val="tx1"/>
                </a:solidFill>
              </a:rPr>
              <a:t>Praktis untuk kasus yang sangat khusus; data palsu tetap pilihan modul ini</a:t>
            </a:r>
            <a:endParaRPr lang="en-US" sz="1600" dirty="0"/>
          </a:p>
        </p:txBody>
      </p:sp>
      <p:sp>
        <p:nvSpPr>
          <p:cNvPr id="10" name="kotak kode"/>
          <p:cNvSpPr txBox="1"/>
          <p:nvPr/>
        </p:nvSpPr>
        <p:spPr>
          <a:xfrm>
            <a:off x="731520" y="4507992"/>
            <a:ext cx="5021428" cy="1435608"/>
          </a:xfrm>
          <a:prstGeom prst="roundRect">
            <a:avLst>
              <a:gd name="adj" fmla="val 6369"/>
            </a:avLst>
          </a:prstGeom>
          <a:solidFill>
            <a:srgbClr val="0E1A2B"/>
          </a:solidFill>
          <a:ln/>
        </p:spPr>
        <p:txBody>
          <a:bodyPr wrap="square" lIns="177800" tIns="152400" rIns="152400" bIns="177800" rtlCol="0" anchor="t"/>
          <a:lstStyle/>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when(() =&gt; repositori.semua()).thenAnswer(</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(_) </a:t>
            </a:r>
            <a:r>
              <a:rPr lang="en-US" sz="1250" dirty="0">
                <a:solidFill>
                  <a:srgbClr val="C792EA"/>
                </a:solidFill>
                <a:latin typeface="Consolas" pitchFamily="34" charset="0"/>
                <a:ea typeface="Consolas" pitchFamily="34" charset="-122"/>
                <a:cs typeface="Consolas" pitchFamily="34" charset="-120"/>
              </a:rPr>
              <a:t>async</a:t>
            </a:r>
            <a:r>
              <a:rPr lang="en-US" sz="1250" dirty="0">
                <a:solidFill>
                  <a:srgbClr val="E6EDF3"/>
                </a:solidFill>
                <a:latin typeface="Consolas" pitchFamily="34" charset="0"/>
                <a:ea typeface="Consolas" pitchFamily="34" charset="-122"/>
                <a:cs typeface="Consolas" pitchFamily="34" charset="-120"/>
              </a:rPr>
              <a:t> =&gt; </a:t>
            </a:r>
            <a:r>
              <a:rPr lang="en-US" sz="1250" dirty="0">
                <a:solidFill>
                  <a:srgbClr val="C792EA"/>
                </a:solidFill>
                <a:latin typeface="Consolas" pitchFamily="34" charset="0"/>
                <a:ea typeface="Consolas" pitchFamily="34" charset="-122"/>
                <a:cs typeface="Consolas" pitchFamily="34" charset="-120"/>
              </a:rPr>
              <a:t>const</a:t>
            </a:r>
            <a:r>
              <a:rPr lang="en-US" sz="1250" dirty="0">
                <a:solidFill>
                  <a:srgbClr val="E6EDF3"/>
                </a:solidFill>
                <a:latin typeface="Consolas" pitchFamily="34" charset="0"/>
                <a:ea typeface="Consolas" pitchFamily="34" charset="-122"/>
                <a:cs typeface="Consolas" pitchFamily="34" charset="-120"/>
              </a:rPr>
              <a:t> </a:t>
            </a:r>
            <a:r>
              <a:rPr lang="en-US" sz="1250" dirty="0">
                <a:solidFill>
                  <a:srgbClr val="FFCB6B"/>
                </a:solidFill>
                <a:latin typeface="Consolas" pitchFamily="34" charset="0"/>
                <a:ea typeface="Consolas" pitchFamily="34" charset="-122"/>
                <a:cs typeface="Consolas" pitchFamily="34" charset="-120"/>
              </a:rPr>
              <a:t>Berhasil</a:t>
            </a:r>
            <a:r>
              <a:rPr lang="en-US" sz="1250" dirty="0">
                <a:solidFill>
                  <a:srgbClr val="E6EDF3"/>
                </a:solidFill>
                <a:latin typeface="Consolas" pitchFamily="34" charset="0"/>
                <a:ea typeface="Consolas" pitchFamily="34" charset="-122"/>
                <a:cs typeface="Consolas" pitchFamily="34" charset="-120"/>
              </a:rPr>
              <a:t>(&lt;</a:t>
            </a:r>
            <a:r>
              <a:rPr lang="en-US" sz="1250" dirty="0">
                <a:solidFill>
                  <a:srgbClr val="FFCB6B"/>
                </a:solidFill>
                <a:latin typeface="Consolas" pitchFamily="34" charset="0"/>
                <a:ea typeface="Consolas" pitchFamily="34" charset="-122"/>
                <a:cs typeface="Consolas" pitchFamily="34" charset="-120"/>
              </a:rPr>
              <a:t>Antrean</a:t>
            </a:r>
            <a:r>
              <a:rPr lang="en-US" sz="1250" dirty="0">
                <a:solidFill>
                  <a:srgbClr val="E6EDF3"/>
                </a:solidFill>
                <a:latin typeface="Consolas" pitchFamily="34" charset="0"/>
                <a:ea typeface="Consolas" pitchFamily="34" charset="-122"/>
                <a:cs typeface="Consolas" pitchFamily="34" charset="-120"/>
              </a:rPr>
              <a:t>&gt;[]),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i="1" dirty="0">
                <a:solidFill>
                  <a:srgbClr val="8FA3BC"/>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verify(() =&gt; repositori.semua()).called(</a:t>
            </a:r>
            <a:r>
              <a:rPr lang="en-US" sz="1250" dirty="0">
                <a:solidFill>
                  <a:srgbClr val="F78C6C"/>
                </a:solidFill>
                <a:latin typeface="Consolas" pitchFamily="34" charset="0"/>
                <a:ea typeface="Consolas" pitchFamily="34" charset="-122"/>
                <a:cs typeface="Consolas" pitchFamily="34" charset="-120"/>
              </a:rPr>
              <a:t>1</a:t>
            </a:r>
            <a:r>
              <a:rPr lang="en-US" sz="1250" dirty="0">
                <a:solidFill>
                  <a:srgbClr val="E6EDF3"/>
                </a:solidFill>
                <a:latin typeface="Consolas" pitchFamily="34" charset="0"/>
                <a:ea typeface="Consolas" pitchFamily="34" charset="-122"/>
                <a:cs typeface="Consolas" pitchFamily="34" charset="-120"/>
              </a:rPr>
              <a:t>);</a:t>
            </a:r>
            <a:endParaRPr lang="en-US" sz="1250" dirty="0"/>
          </a:p>
        </p:txBody>
      </p:sp>
      <p:sp>
        <p:nvSpPr>
          <p:cNvPr id="11" name="kolom 2"/>
          <p:cNvSpPr/>
          <p:nvPr/>
        </p:nvSpPr>
        <p:spPr>
          <a:xfrm>
            <a:off x="6255868" y="1371600"/>
            <a:ext cx="5387188" cy="4754880"/>
          </a:xfrm>
          <a:prstGeom prst="roundRect">
            <a:avLst>
              <a:gd name="adj" fmla="val 2308"/>
            </a:avLst>
          </a:prstGeom>
          <a:solidFill>
            <a:schemeClr val="bg2"/>
          </a:solidFill>
          <a:ln/>
        </p:spPr>
      </p:sp>
      <p:sp>
        <p:nvSpPr>
          <p:cNvPr id="12" name="lingkaran galeri"/>
          <p:cNvSpPr/>
          <p:nvPr/>
        </p:nvSpPr>
        <p:spPr>
          <a:xfrm>
            <a:off x="6484468" y="1600200"/>
            <a:ext cx="685800" cy="685800"/>
          </a:xfrm>
          <a:prstGeom prst="ellipse">
            <a:avLst/>
          </a:prstGeom>
          <a:solidFill>
            <a:schemeClr val="accent1"/>
          </a:solidFill>
          <a:ln/>
        </p:spPr>
      </p:sp>
      <p:pic>
        <p:nvPicPr>
          <p:cNvPr id="13" name="Image 1" descr="galeri">    </p:cNvPr>
          <p:cNvPicPr>
            <a:picLocks noChangeAspect="1"/>
          </p:cNvPicPr>
          <p:nvPr/>
        </p:nvPicPr>
        <p:blipFill>
          <a:blip r:embed="rId2"/>
          <a:stretch>
            <a:fillRect/>
          </a:stretch>
        </p:blipFill>
        <p:spPr>
          <a:xfrm>
            <a:off x="6635344" y="1751076"/>
            <a:ext cx="384048" cy="384048"/>
          </a:xfrm>
          <a:prstGeom prst="rect">
            <a:avLst/>
          </a:prstGeom>
        </p:spPr>
      </p:pic>
      <p:sp>
        <p:nvSpPr>
          <p:cNvPr id="14" name="Text 9"/>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Golden test</a:t>
            </a:r>
            <a:endParaRPr lang="en-US" sz="1900" dirty="0"/>
          </a:p>
        </p:txBody>
      </p:sp>
      <p:sp>
        <p:nvSpPr>
          <p:cNvPr id="15" name="Text 10"/>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1"/>
                </a:solidFill>
              </a:rPr>
              <a:t>Dibandingkan dengan gambar acuan, piksel demi piksel</a:t>
            </a:r>
            <a:endParaRPr lang="en-US" sz="1400" dirty="0"/>
          </a:p>
        </p:txBody>
      </p:sp>
      <p:sp>
        <p:nvSpPr>
          <p:cNvPr id="16" name="daftar poin"/>
          <p:cNvSpPr txBox="1"/>
          <p:nvPr/>
        </p:nvSpPr>
        <p:spPr>
          <a:xfrm>
            <a:off x="6484468" y="2926080"/>
            <a:ext cx="4929988" cy="185623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flutter test --update-goldens: membuat atau memperbarui gambar acuan</a:t>
            </a:r>
            <a:endParaRPr lang="en-US" sz="1600" dirty="0"/>
          </a:p>
          <a:p>
            <a:pPr marL="228600" indent="-228600">
              <a:spcAft>
                <a:spcPts val="800"/>
              </a:spcAft>
              <a:buSzPct val="100000"/>
              <a:buChar char="•"/>
            </a:pPr>
            <a:r>
              <a:rPr lang="en-US" sz="1600" dirty="0">
                <a:solidFill>
                  <a:schemeClr val="tx1"/>
                </a:solidFill>
              </a:rPr>
              <a:t>Huruf kotak dan beda OS: buat dan periksa di OS yang sama, misalnya di CI</a:t>
            </a:r>
            <a:endParaRPr lang="en-US" sz="1600" dirty="0"/>
          </a:p>
        </p:txBody>
      </p:sp>
      <p:sp>
        <p:nvSpPr>
          <p:cNvPr id="17" name="kotak kode"/>
          <p:cNvSpPr txBox="1"/>
          <p:nvPr/>
        </p:nvSpPr>
        <p:spPr>
          <a:xfrm>
            <a:off x="6438748" y="4736592"/>
            <a:ext cx="5021428" cy="1207008"/>
          </a:xfrm>
          <a:prstGeom prst="roundRect">
            <a:avLst>
              <a:gd name="adj" fmla="val 7576"/>
            </a:avLst>
          </a:prstGeom>
          <a:solidFill>
            <a:srgbClr val="0E1A2B"/>
          </a:solidFill>
          <a:ln/>
        </p:spPr>
        <p:txBody>
          <a:bodyPr wrap="square" lIns="177800" tIns="152400" rIns="152400" bIns="177800" rtlCol="0" anchor="t"/>
          <a:lstStyle/>
          <a:p>
            <a:pPr indent="0" marL="0">
              <a:lnSpc>
                <a:spcPct val="105000"/>
              </a:lnSpc>
              <a:buNone/>
            </a:pPr>
            <a:r>
              <a:rPr lang="en-US" sz="1250" dirty="0">
                <a:solidFill>
                  <a:srgbClr val="C792EA"/>
                </a:solidFill>
                <a:latin typeface="Consolas" pitchFamily="34" charset="0"/>
                <a:ea typeface="Consolas" pitchFamily="34" charset="-122"/>
                <a:cs typeface="Consolas" pitchFamily="34" charset="-120"/>
              </a:rPr>
              <a:t>await</a:t>
            </a:r>
            <a:r>
              <a:rPr lang="en-US" sz="1250" dirty="0">
                <a:solidFill>
                  <a:srgbClr val="E6EDF3"/>
                </a:solidFill>
                <a:latin typeface="Consolas" pitchFamily="34" charset="0"/>
                <a:ea typeface="Consolas" pitchFamily="34" charset="-122"/>
                <a:cs typeface="Consolas" pitchFamily="34" charset="-120"/>
              </a:rPr>
              <a:t> expectLater(</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find.byType(</a:t>
            </a:r>
            <a:r>
              <a:rPr lang="en-US" sz="1250" dirty="0">
                <a:solidFill>
                  <a:srgbClr val="FFCB6B"/>
                </a:solidFill>
                <a:latin typeface="Consolas" pitchFamily="34" charset="0"/>
                <a:ea typeface="Consolas" pitchFamily="34" charset="-122"/>
                <a:cs typeface="Consolas" pitchFamily="34" charset="-120"/>
              </a:rPr>
              <a:t>KartuHasil</a:t>
            </a: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matchesGoldenFile(</a:t>
            </a:r>
            <a:r>
              <a:rPr lang="en-US" sz="1250" dirty="0">
                <a:solidFill>
                  <a:srgbClr val="C3E88D"/>
                </a:solidFill>
                <a:latin typeface="Consolas" pitchFamily="34" charset="0"/>
                <a:ea typeface="Consolas" pitchFamily="34" charset="-122"/>
                <a:cs typeface="Consolas" pitchFamily="34" charset="-120"/>
              </a:rPr>
              <a:t>'goldens/kartu_hasil.png'</a:t>
            </a: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Kesalahan Umum Pemula</a:t>
            </a:r>
            <a:endParaRPr lang="en-US" sz="320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593052"/>
                <a:gridCol w="5501363"/>
              </a:tblGrid>
              <a:tr h="43891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Gejala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Solusi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438912">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flutter test berkata No tests ran, atau berkasnya dilewati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Nama berakhiran _test.dart, letakkan di folder test/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Tes lulus padahal kodenya jelas salah</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await di depan setiap Future, termasuk expectLater</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38912">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Expected: &lt;55&gt;  Actual: &lt;54.99999999999999&gt;</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Bulatkan, hitung dengan int, atau closeTo</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expect(kode(), throwsA(...)) gagal dengan exception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Bungkus dengan fungsi: expect(() =&gt; kode(), throwsA(...))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38912">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Lulus jika dijalankan sendiri, gagal jika bersama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Buat objek baru di setUp</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Hasil tes berubah tergantung hari atau jam</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Suntikkan jam, lalu buat tetap di tes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38912">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Setelah tap, expect tidak menemukan perubahan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await tester.pump() setelah setiap aksi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pumpAndSettle timed out</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pump(), atau buat datanya selesai dulu</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438912">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MissingPluginException di tes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Bungkus plugin di balik kontrak, atau palsukan dengan Fake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Debug Console penuh galat merah</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Gulir ke atas, baca galat PERTAMA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Pengujian untuk Proyek Akhir</a:t>
            </a:r>
            <a:endParaRPr lang="en-US" sz="3200" dirty="0"/>
          </a:p>
        </p:txBody>
      </p:sp>
      <p:sp>
        <p:nvSpPr>
          <p:cNvPr id="4" name="kolom 1"/>
          <p:cNvSpPr/>
          <p:nvPr/>
        </p:nvSpPr>
        <p:spPr>
          <a:xfrm>
            <a:off x="548640" y="1371600"/>
            <a:ext cx="5387188" cy="3931920"/>
          </a:xfrm>
          <a:prstGeom prst="roundRect">
            <a:avLst>
              <a:gd name="adj" fmla="val 2791"/>
            </a:avLst>
          </a:prstGeom>
          <a:solidFill>
            <a:srgbClr val="E3F2FD"/>
          </a:solidFill>
          <a:ln w="25400">
            <a:solidFill>
              <a:schemeClr val="accent1"/>
            </a:solidFill>
            <a:prstDash val="solid"/>
          </a:ln>
        </p:spPr>
      </p:sp>
      <p:sp>
        <p:nvSpPr>
          <p:cNvPr id="5" name="lingkaran centang"/>
          <p:cNvSpPr/>
          <p:nvPr/>
        </p:nvSpPr>
        <p:spPr>
          <a:xfrm>
            <a:off x="777240" y="1600200"/>
            <a:ext cx="685800" cy="685800"/>
          </a:xfrm>
          <a:prstGeom prst="ellipse">
            <a:avLst/>
          </a:prstGeom>
          <a:solidFill>
            <a:schemeClr val="accent1"/>
          </a:solidFill>
          <a:ln/>
        </p:spPr>
      </p:sp>
      <p:pic>
        <p:nvPicPr>
          <p:cNvPr id="6" name="Image 0" descr="centang">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Wajib</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1"/>
                </a:solidFill>
              </a:rPr>
              <a:t>Minimal tiga tes unit yang bermakna dan lulus</a:t>
            </a:r>
            <a:endParaRPr lang="en-US" sz="1400" dirty="0"/>
          </a:p>
        </p:txBody>
      </p:sp>
      <p:sp>
        <p:nvSpPr>
          <p:cNvPr id="9" name="daftar poin"/>
          <p:cNvSpPr txBox="1"/>
          <p:nvPr/>
        </p:nvSpPr>
        <p:spPr>
          <a:xfrm>
            <a:off x="777240" y="2926080"/>
            <a:ext cx="4929988" cy="22402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Untuk ATURAN PENTING aplikasi, bukan hal sepele: diskon, validasi isian, total, penyaringan</a:t>
            </a:r>
            <a:endParaRPr lang="en-US" sz="1500" dirty="0"/>
          </a:p>
          <a:p>
            <a:pPr marL="228600" indent="-228600">
              <a:spcAft>
                <a:spcPts val="800"/>
              </a:spcAft>
              <a:buSzPct val="100000"/>
              <a:buChar char="•"/>
            </a:pPr>
            <a:r>
              <a:rPr lang="en-US" sz="1500" dirty="0">
                <a:solidFill>
                  <a:schemeClr val="tx1"/>
                </a:solidFill>
              </a:rPr>
              <a:t>Setiap aturan berbatas diuji tepat di batas DAN selangkah di luarnya</a:t>
            </a:r>
            <a:endParaRPr lang="en-US" sz="1500" dirty="0"/>
          </a:p>
          <a:p>
            <a:pPr marL="228600" indent="-228600">
              <a:spcAft>
                <a:spcPts val="800"/>
              </a:spcAft>
              <a:buSzPct val="100000"/>
              <a:buChar char="•"/>
            </a:pPr>
            <a:r>
              <a:rPr lang="en-US" sz="1500" dirty="0">
                <a:solidFill>
                  <a:schemeClr val="tx1"/>
                </a:solidFill>
              </a:rPr>
              <a:t>flutter test lulus di laptop Anda</a:t>
            </a:r>
            <a:endParaRPr lang="en-US" sz="1500" dirty="0"/>
          </a:p>
        </p:txBody>
      </p:sp>
      <p:sp>
        <p:nvSpPr>
          <p:cNvPr id="10" name="kolom 2"/>
          <p:cNvSpPr/>
          <p:nvPr/>
        </p:nvSpPr>
        <p:spPr>
          <a:xfrm>
            <a:off x="6255868" y="1371600"/>
            <a:ext cx="5387188" cy="3931920"/>
          </a:xfrm>
          <a:prstGeom prst="roundRect">
            <a:avLst>
              <a:gd name="adj" fmla="val 2791"/>
            </a:avLst>
          </a:prstGeom>
          <a:solidFill>
            <a:schemeClr val="bg2"/>
          </a:solidFill>
          <a:ln/>
        </p:spPr>
      </p:sp>
      <p:sp>
        <p:nvSpPr>
          <p:cNvPr id="11" name="lingkaran bintang"/>
          <p:cNvSpPr/>
          <p:nvPr/>
        </p:nvSpPr>
        <p:spPr>
          <a:xfrm>
            <a:off x="6484468" y="1600200"/>
            <a:ext cx="685800" cy="685800"/>
          </a:xfrm>
          <a:prstGeom prst="ellipse">
            <a:avLst/>
          </a:prstGeom>
          <a:solidFill>
            <a:schemeClr val="accent4"/>
          </a:solidFill>
          <a:ln/>
        </p:spPr>
      </p:sp>
      <p:pic>
        <p:nvPicPr>
          <p:cNvPr id="12" name="Image 1" descr="bintang">    </p:cNvPr>
          <p:cNvPicPr>
            <a:picLocks noChangeAspect="1"/>
          </p:cNvPicPr>
          <p:nvPr/>
        </p:nvPicPr>
        <p:blipFill>
          <a:blip r:embed="rId2"/>
          <a:stretch>
            <a:fillRect/>
          </a:stretch>
        </p:blipFill>
        <p:spPr>
          <a:xfrm>
            <a:off x="6635344" y="1751076"/>
            <a:ext cx="384048" cy="384048"/>
          </a:xfrm>
          <a:prstGeom prst="rect">
            <a:avLst/>
          </a:prstGeom>
        </p:spPr>
      </p:pic>
      <p:sp>
        <p:nvSpPr>
          <p:cNvPr id="13" name="Text 8"/>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Dianjurkan</a:t>
            </a:r>
            <a:endParaRPr lang="en-US" sz="1900" dirty="0"/>
          </a:p>
        </p:txBody>
      </p:sp>
      <p:sp>
        <p:nvSpPr>
          <p:cNvPr id="14" name="Text 9"/>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4"/>
                </a:solidFill>
              </a:rPr>
              <a:t>Melampaui syarat minimal</a:t>
            </a:r>
            <a:endParaRPr lang="en-US" sz="1400" dirty="0"/>
          </a:p>
        </p:txBody>
      </p:sp>
      <p:sp>
        <p:nvSpPr>
          <p:cNvPr id="15" name="daftar poin"/>
          <p:cNvSpPr txBox="1"/>
          <p:nvPr/>
        </p:nvSpPr>
        <p:spPr>
          <a:xfrm>
            <a:off x="6484468" y="2926080"/>
            <a:ext cx="4929988" cy="22402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Tes ViewModel dengan data palsu: memuat, berhasil, gagal</a:t>
            </a:r>
            <a:endParaRPr lang="en-US" sz="1500" dirty="0"/>
          </a:p>
          <a:p>
            <a:pPr marL="228600" indent="-228600">
              <a:spcAft>
                <a:spcPts val="800"/>
              </a:spcAft>
              <a:buSzPct val="100000"/>
              <a:buChar char="•"/>
            </a:pPr>
            <a:r>
              <a:rPr lang="en-US" sz="1500" dirty="0">
                <a:solidFill>
                  <a:schemeClr val="tx1"/>
                </a:solidFill>
              </a:rPr>
              <a:t>Satu-dua tes widget layar utama, termasuk layar sempit + huruf besar</a:t>
            </a:r>
            <a:endParaRPr lang="en-US" sz="1500" dirty="0"/>
          </a:p>
          <a:p>
            <a:pPr marL="228600" indent="-228600">
              <a:spcAft>
                <a:spcPts val="800"/>
              </a:spcAft>
              <a:buSzPct val="100000"/>
              <a:buChar char="•"/>
            </a:pPr>
            <a:r>
              <a:rPr lang="en-US" sz="1500" dirty="0">
                <a:solidFill>
                  <a:schemeClr val="tx1"/>
                </a:solidFill>
              </a:rPr>
              <a:t>Workflow GitHub Actions: setiap commit bertanda centang</a:t>
            </a:r>
            <a:endParaRPr lang="en-US" sz="1500" dirty="0"/>
          </a:p>
          <a:p>
            <a:pPr marL="228600" indent="-228600">
              <a:spcAft>
                <a:spcPts val="800"/>
              </a:spcAft>
              <a:buSzPct val="100000"/>
              <a:buChar char="•"/>
            </a:pPr>
            <a:r>
              <a:rPr lang="en-US" sz="1500" dirty="0">
                <a:solidFill>
                  <a:schemeClr val="tx1"/>
                </a:solidFill>
              </a:rPr>
              <a:t>Setiap bug yang ditemukan saat demo dikunci dengan satu tes regresi</a:t>
            </a:r>
            <a:endParaRPr lang="en-US" sz="1500" dirty="0"/>
          </a:p>
        </p:txBody>
      </p:sp>
      <p:sp>
        <p:nvSpPr>
          <p:cNvPr id="16" name="lingkaran lampu"/>
          <p:cNvSpPr/>
          <p:nvPr/>
        </p:nvSpPr>
        <p:spPr>
          <a:xfrm>
            <a:off x="548640" y="5532120"/>
            <a:ext cx="548640" cy="548640"/>
          </a:xfrm>
          <a:prstGeom prst="ellipse">
            <a:avLst/>
          </a:prstGeom>
          <a:solidFill>
            <a:schemeClr val="accent3"/>
          </a:solidFill>
          <a:ln/>
        </p:spPr>
      </p:sp>
      <p:pic>
        <p:nvPicPr>
          <p:cNvPr id="17" name="Image 2" descr="lampu">    </p:cNvPr>
          <p:cNvPicPr>
            <a:picLocks noChangeAspect="1"/>
          </p:cNvPicPr>
          <p:nvPr/>
        </p:nvPicPr>
        <p:blipFill>
          <a:blip r:embed="rId3"/>
          <a:stretch>
            <a:fillRect/>
          </a:stretch>
        </p:blipFill>
        <p:spPr>
          <a:xfrm>
            <a:off x="669341" y="5652821"/>
            <a:ext cx="307238" cy="307238"/>
          </a:xfrm>
          <a:prstGeom prst="rect">
            <a:avLst/>
          </a:prstGeom>
        </p:spPr>
      </p:pic>
      <p:sp>
        <p:nvSpPr>
          <p:cNvPr id="18" name="Text 12"/>
          <p:cNvSpPr txBox="1"/>
          <p:nvPr/>
        </p:nvSpPr>
        <p:spPr>
          <a:xfrm>
            <a:off x="1280160" y="5440680"/>
            <a:ext cx="10362895" cy="731520"/>
          </a:xfrm>
          <a:prstGeom prst="rect">
            <a:avLst/>
          </a:prstGeom>
          <a:noFill/>
          <a:ln/>
        </p:spPr>
        <p:txBody>
          <a:bodyPr wrap="square" lIns="0" tIns="0" rIns="0" bIns="0" rtlCol="0" anchor="ctr"/>
          <a:lstStyle/>
          <a:p>
            <a:pPr indent="0" marL="0">
              <a:buNone/>
            </a:pPr>
            <a:r>
              <a:rPr lang="en-US" sz="1700" dirty="0">
                <a:solidFill>
                  <a:schemeClr val="tx1"/>
                </a:solidFill>
              </a:rPr>
              <a:t>Komponen Pengujian bernilai 10 dari 100 poin. Contoh: keuangan → saldo dan batas anggaran; UMKM → harga diskon dan stok 0; presensi → jam buka-tutup; jadwal kuliah → bentrok.</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Memilih Alat yang Tepat</a:t>
            </a:r>
            <a:endParaRPr lang="en-US" sz="32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492780"/>
                <a:gridCol w="6601635"/>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Kebutuhan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Pakai</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365760">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Memeriksa fungsi atau kelas</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test() + expect()</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Memeriksa exception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expect(() =&gt; ..., throwsA(...))</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365760">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Menguji Future yang gagal atau Stream</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await expectLater(..., throwsA / emitsInOrder)</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Server palsu</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MockClient</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365760">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Memeriksa keadaan "sedang memuat"</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Data palsu yang ditahan dengan Completer</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Menguji layar</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200" dirty="0">
                          <a:solidFill>
                            <a:srgbClr val="1B2333"/>
                          </a:solidFill>
                          <a:latin typeface="Consolas" pitchFamily="34" charset="0"/>
                          <a:ea typeface="Consolas" pitchFamily="34" charset="-122"/>
                          <a:cs typeface="Consolas" pitchFamily="34" charset="-120"/>
                        </a:rPr>
                        <a:t>testWidgets + pumpWidget + finder</a:t>
                      </a:r>
                      <a:endParaRPr lang="en-US" sz="12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365760">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Layar sempit, huruf besar, mode gelap</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150" dirty="0">
                          <a:solidFill>
                            <a:srgbClr val="1B2333"/>
                          </a:solidFill>
                          <a:latin typeface="Consolas" pitchFamily="34" charset="0"/>
                          <a:ea typeface="Consolas" pitchFamily="34" charset="-122"/>
                          <a:cs typeface="Consolas" pitchFamily="34" charset="-120"/>
                        </a:rPr>
                        <a:t>tester.view, textScaleFactorTestValue, platformBrightnessTestValue</a:t>
                      </a:r>
                      <a:endParaRPr lang="en-US" sz="115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Plugin di tes</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Kontrak + data palsu; extends Fake implements ...</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365760">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Angka salah tanpa galat</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Breakpoint bersyarat + Debug Console</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Layar tidak berubah</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Logpoint + breakpoint di build; periksa setState/notifyListeners</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365760">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Galat tata letak</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Baca pesannya, Inspector + Flex explorer, Expanded</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Tes otomatis setiap push</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GitHub Actions</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Ringkasan</a:t>
            </a:r>
            <a:endParaRPr lang="en-US" sz="3200" dirty="0"/>
          </a:p>
        </p:txBody>
      </p:sp>
      <p:sp>
        <p:nvSpPr>
          <p:cNvPr id="4" name="Text 1"/>
          <p:cNvSpPr txBox="1"/>
          <p:nvPr/>
        </p:nvSpPr>
        <p:spPr>
          <a:xfrm>
            <a:off x="548640"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2"/>
          <p:cNvSpPr txBox="1"/>
          <p:nvPr/>
        </p:nvSpPr>
        <p:spPr>
          <a:xfrm>
            <a:off x="1234440" y="1371600"/>
            <a:ext cx="4632808" cy="886968"/>
          </a:xfrm>
          <a:prstGeom prst="rect">
            <a:avLst/>
          </a:prstGeom>
          <a:noFill/>
          <a:ln/>
        </p:spPr>
        <p:txBody>
          <a:bodyPr wrap="square" lIns="0" tIns="0" rIns="0" bIns="0" rtlCol="0" anchor="t"/>
          <a:lstStyle/>
          <a:p>
            <a:pPr indent="0" marL="0">
              <a:buNone/>
            </a:pPr>
            <a:r>
              <a:rPr lang="en-US" sz="1700" dirty="0">
                <a:solidFill>
                  <a:schemeClr val="tx1"/>
                </a:solidFill>
              </a:rPr>
              <a:t>"Programnya jalan" bukan "programnya benar": 214 dari 1.030.301 kombinasi nilai mendapat huruf salah.</a:t>
            </a:r>
            <a:endParaRPr lang="en-US" sz="1700" dirty="0"/>
          </a:p>
        </p:txBody>
      </p:sp>
      <p:sp>
        <p:nvSpPr>
          <p:cNvPr id="6" name="Text 3"/>
          <p:cNvSpPr txBox="1"/>
          <p:nvPr/>
        </p:nvSpPr>
        <p:spPr>
          <a:xfrm>
            <a:off x="548640" y="239572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 4"/>
          <p:cNvSpPr txBox="1"/>
          <p:nvPr/>
        </p:nvSpPr>
        <p:spPr>
          <a:xfrm>
            <a:off x="1234440" y="2350008"/>
            <a:ext cx="4632808" cy="886968"/>
          </a:xfrm>
          <a:prstGeom prst="rect">
            <a:avLst/>
          </a:prstGeom>
          <a:noFill/>
          <a:ln/>
        </p:spPr>
        <p:txBody>
          <a:bodyPr wrap="square" lIns="0" tIns="0" rIns="0" bIns="0" rtlCol="0" anchor="t"/>
          <a:lstStyle/>
          <a:p>
            <a:pPr indent="0" marL="0">
              <a:buNone/>
            </a:pPr>
            <a:r>
              <a:rPr lang="en-US" sz="1700" dirty="0">
                <a:solidFill>
                  <a:schemeClr val="tx1"/>
                </a:solidFill>
              </a:rPr>
              <a:t>Tiga jenis tes: unit, widget, integrasi. Banyak tes unit dan widget, integrasi secukupnya.</a:t>
            </a:r>
            <a:endParaRPr lang="en-US" sz="1700" dirty="0"/>
          </a:p>
        </p:txBody>
      </p:sp>
      <p:sp>
        <p:nvSpPr>
          <p:cNvPr id="8" name="Text 5"/>
          <p:cNvSpPr txBox="1"/>
          <p:nvPr/>
        </p:nvSpPr>
        <p:spPr>
          <a:xfrm>
            <a:off x="548640" y="3374136"/>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9" name="Text 6"/>
          <p:cNvSpPr txBox="1"/>
          <p:nvPr/>
        </p:nvSpPr>
        <p:spPr>
          <a:xfrm>
            <a:off x="1234440" y="3328416"/>
            <a:ext cx="4632808" cy="886968"/>
          </a:xfrm>
          <a:prstGeom prst="rect">
            <a:avLst/>
          </a:prstGeom>
          <a:noFill/>
          <a:ln/>
        </p:spPr>
        <p:txBody>
          <a:bodyPr wrap="square" lIns="0" tIns="0" rIns="0" bIns="0" rtlCol="0" anchor="t"/>
          <a:lstStyle/>
          <a:p>
            <a:pPr indent="0" marL="0">
              <a:buNone/>
            </a:pPr>
            <a:r>
              <a:rPr lang="en-US" sz="1700" dirty="0">
                <a:solidFill>
                  <a:schemeClr val="tx1"/>
                </a:solidFill>
              </a:rPr>
              <a:t>Tes di test/ berakhiran _test.dart, pola siapkan → lakukan → periksa, dijalankan dengan flutter test.</a:t>
            </a:r>
            <a:endParaRPr lang="en-US" sz="1700" dirty="0"/>
          </a:p>
        </p:txBody>
      </p:sp>
      <p:sp>
        <p:nvSpPr>
          <p:cNvPr id="10" name="Text 7"/>
          <p:cNvSpPr txBox="1"/>
          <p:nvPr/>
        </p:nvSpPr>
        <p:spPr>
          <a:xfrm>
            <a:off x="548640" y="4352544"/>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1" name="Text 8"/>
          <p:cNvSpPr txBox="1"/>
          <p:nvPr/>
        </p:nvSpPr>
        <p:spPr>
          <a:xfrm>
            <a:off x="1234440" y="4306824"/>
            <a:ext cx="4632808" cy="886968"/>
          </a:xfrm>
          <a:prstGeom prst="rect">
            <a:avLst/>
          </a:prstGeom>
          <a:noFill/>
          <a:ln/>
        </p:spPr>
        <p:txBody>
          <a:bodyPr wrap="square" lIns="0" tIns="0" rIns="0" bIns="0" rtlCol="0" anchor="t"/>
          <a:lstStyle/>
          <a:p>
            <a:pPr indent="0" marL="0">
              <a:buNone/>
            </a:pPr>
            <a:r>
              <a:rPr lang="en-US" sz="1700" dirty="0">
                <a:solidFill>
                  <a:schemeClr val="tx1"/>
                </a:solidFill>
              </a:rPr>
              <a:t>Matcher, throwsA, setUp/tearDown, group, tabel kasus; nilai batas adalah tempat bug bersembunyi.</a:t>
            </a:r>
            <a:endParaRPr lang="en-US" sz="1700" dirty="0"/>
          </a:p>
        </p:txBody>
      </p:sp>
      <p:sp>
        <p:nvSpPr>
          <p:cNvPr id="12" name="Text 9"/>
          <p:cNvSpPr txBox="1"/>
          <p:nvPr/>
        </p:nvSpPr>
        <p:spPr>
          <a:xfrm>
            <a:off x="548640" y="5330952"/>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3" name="Text 10"/>
          <p:cNvSpPr txBox="1"/>
          <p:nvPr/>
        </p:nvSpPr>
        <p:spPr>
          <a:xfrm>
            <a:off x="1234440" y="5285232"/>
            <a:ext cx="4632808" cy="886968"/>
          </a:xfrm>
          <a:prstGeom prst="rect">
            <a:avLst/>
          </a:prstGeom>
          <a:noFill/>
          <a:ln/>
        </p:spPr>
        <p:txBody>
          <a:bodyPr wrap="square" lIns="0" tIns="0" rIns="0" bIns="0" rtlCol="0" anchor="t"/>
          <a:lstStyle/>
          <a:p>
            <a:pPr indent="0" marL="0">
              <a:buNone/>
            </a:pPr>
            <a:r>
              <a:rPr lang="en-US" sz="1700" dirty="0">
                <a:solidFill>
                  <a:schemeClr val="tx1"/>
                </a:solidFill>
              </a:rPr>
              <a:t>Asinkron: async/await, expectLater, matcher Stream. MockClient dan data palsu yang bisa gagal dan ditahan.</a:t>
            </a:r>
            <a:endParaRPr lang="en-US" sz="1700" dirty="0"/>
          </a:p>
        </p:txBody>
      </p:sp>
      <p:sp>
        <p:nvSpPr>
          <p:cNvPr id="14" name="Text 11"/>
          <p:cNvSpPr txBox="1"/>
          <p:nvPr/>
        </p:nvSpPr>
        <p:spPr>
          <a:xfrm>
            <a:off x="6324448"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15" name="Text 12"/>
          <p:cNvSpPr txBox="1"/>
          <p:nvPr/>
        </p:nvSpPr>
        <p:spPr>
          <a:xfrm>
            <a:off x="7010248" y="1371600"/>
            <a:ext cx="4632808" cy="886968"/>
          </a:xfrm>
          <a:prstGeom prst="rect">
            <a:avLst/>
          </a:prstGeom>
          <a:noFill/>
          <a:ln/>
        </p:spPr>
        <p:txBody>
          <a:bodyPr wrap="square" lIns="0" tIns="0" rIns="0" bIns="0" rtlCol="0" anchor="t"/>
          <a:lstStyle/>
          <a:p>
            <a:pPr indent="0" marL="0">
              <a:buNone/>
            </a:pPr>
            <a:r>
              <a:rPr lang="en-US" sz="1700" dirty="0">
                <a:solidFill>
                  <a:schemeClr val="tx1"/>
                </a:solidFill>
              </a:rPr>
              <a:t>Tes widget: pumpWidget, finder, tap/enterText, pump/pumpAndSettle; layar uji 800 × 600, huruf kotak.</a:t>
            </a:r>
            <a:endParaRPr lang="en-US" sz="1700" dirty="0"/>
          </a:p>
        </p:txBody>
      </p:sp>
      <p:sp>
        <p:nvSpPr>
          <p:cNvPr id="16" name="Text 13"/>
          <p:cNvSpPr txBox="1"/>
          <p:nvPr/>
        </p:nvSpPr>
        <p:spPr>
          <a:xfrm>
            <a:off x="6324448" y="239572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17" name="Text 14"/>
          <p:cNvSpPr txBox="1"/>
          <p:nvPr/>
        </p:nvSpPr>
        <p:spPr>
          <a:xfrm>
            <a:off x="7010248" y="2350008"/>
            <a:ext cx="4632808" cy="886968"/>
          </a:xfrm>
          <a:prstGeom prst="rect">
            <a:avLst/>
          </a:prstGeom>
          <a:noFill/>
          <a:ln/>
        </p:spPr>
        <p:txBody>
          <a:bodyPr wrap="square" lIns="0" tIns="0" rIns="0" bIns="0" rtlCol="0" anchor="t"/>
          <a:lstStyle/>
          <a:p>
            <a:pPr indent="0" marL="0">
              <a:buNone/>
            </a:pPr>
            <a:r>
              <a:rPr lang="en-US" sz="1700" dirty="0">
                <a:solidFill>
                  <a:schemeClr val="tx1"/>
                </a:solidFill>
              </a:rPr>
              <a:t>Uji semua keadaan layar, tombol mati, layar sempit + huruf besar, mode gelap, aksesibilitas.</a:t>
            </a:r>
            <a:endParaRPr lang="en-US" sz="1700" dirty="0"/>
          </a:p>
        </p:txBody>
      </p:sp>
      <p:sp>
        <p:nvSpPr>
          <p:cNvPr id="18" name="Text 15"/>
          <p:cNvSpPr txBox="1"/>
          <p:nvPr/>
        </p:nvSpPr>
        <p:spPr>
          <a:xfrm>
            <a:off x="6324448" y="3374136"/>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19" name="Text 16"/>
          <p:cNvSpPr txBox="1"/>
          <p:nvPr/>
        </p:nvSpPr>
        <p:spPr>
          <a:xfrm>
            <a:off x="7010248" y="3328416"/>
            <a:ext cx="4632808" cy="886968"/>
          </a:xfrm>
          <a:prstGeom prst="rect">
            <a:avLst/>
          </a:prstGeom>
          <a:noFill/>
          <a:ln/>
        </p:spPr>
        <p:txBody>
          <a:bodyPr wrap="square" lIns="0" tIns="0" rIns="0" bIns="0" rtlCol="0" anchor="t"/>
          <a:lstStyle/>
          <a:p>
            <a:pPr indent="0" marL="0">
              <a:buNone/>
            </a:pPr>
            <a:r>
              <a:rPr lang="en-US" sz="1700" dirty="0">
                <a:solidFill>
                  <a:schemeClr val="tx1"/>
                </a:solidFill>
              </a:rPr>
              <a:t>Plugin: bungkus di balik kontrak, atau palsukan dengan Fake yang disuntikkan lewat constructor.</a:t>
            </a:r>
            <a:endParaRPr lang="en-US" sz="1700" dirty="0"/>
          </a:p>
        </p:txBody>
      </p:sp>
      <p:sp>
        <p:nvSpPr>
          <p:cNvPr id="20" name="Text 17"/>
          <p:cNvSpPr txBox="1"/>
          <p:nvPr/>
        </p:nvSpPr>
        <p:spPr>
          <a:xfrm>
            <a:off x="6324448" y="4352544"/>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9</a:t>
            </a:r>
            <a:endParaRPr lang="en-US" sz="1600" dirty="0"/>
          </a:p>
        </p:txBody>
      </p:sp>
      <p:sp>
        <p:nvSpPr>
          <p:cNvPr id="21" name="Text 18"/>
          <p:cNvSpPr txBox="1"/>
          <p:nvPr/>
        </p:nvSpPr>
        <p:spPr>
          <a:xfrm>
            <a:off x="7010248" y="4306824"/>
            <a:ext cx="4632808" cy="886968"/>
          </a:xfrm>
          <a:prstGeom prst="rect">
            <a:avLst/>
          </a:prstGeom>
          <a:noFill/>
          <a:ln/>
        </p:spPr>
        <p:txBody>
          <a:bodyPr wrap="square" lIns="0" tIns="0" rIns="0" bIns="0" rtlCol="0" anchor="t"/>
          <a:lstStyle/>
          <a:p>
            <a:pPr indent="0" marL="0">
              <a:buNone/>
            </a:pPr>
            <a:r>
              <a:rPr lang="en-US" sz="1700" dirty="0">
                <a:solidFill>
                  <a:schemeClr val="tx1"/>
                </a:solidFill>
              </a:rPr>
              <a:t>Debugging: galat pertama, stack trace, breakpoint (bersyarat), logpoint, Debug Console, DevTools.</a:t>
            </a:r>
            <a:endParaRPr lang="en-US" sz="1700" dirty="0"/>
          </a:p>
        </p:txBody>
      </p:sp>
      <p:sp>
        <p:nvSpPr>
          <p:cNvPr id="22" name="Text 19"/>
          <p:cNvSpPr txBox="1"/>
          <p:nvPr/>
        </p:nvSpPr>
        <p:spPr>
          <a:xfrm>
            <a:off x="6324448" y="5330952"/>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10</a:t>
            </a:r>
            <a:endParaRPr lang="en-US" sz="1600" dirty="0"/>
          </a:p>
        </p:txBody>
      </p:sp>
      <p:sp>
        <p:nvSpPr>
          <p:cNvPr id="23" name="Text 20"/>
          <p:cNvSpPr txBox="1"/>
          <p:nvPr/>
        </p:nvSpPr>
        <p:spPr>
          <a:xfrm>
            <a:off x="7010248" y="5285232"/>
            <a:ext cx="4632808" cy="886968"/>
          </a:xfrm>
          <a:prstGeom prst="rect">
            <a:avLst/>
          </a:prstGeom>
          <a:noFill/>
          <a:ln/>
        </p:spPr>
        <p:txBody>
          <a:bodyPr wrap="square" lIns="0" tIns="0" rIns="0" bIns="0" rtlCol="0" anchor="t"/>
          <a:lstStyle/>
          <a:p>
            <a:pPr indent="0" marL="0">
              <a:buNone/>
            </a:pPr>
            <a:r>
              <a:rPr lang="en-US" sz="1700" dirty="0">
                <a:solidFill>
                  <a:schemeClr val="tx1"/>
                </a:solidFill>
              </a:rPr>
              <a:t>Tata letak: batasan turun, ukuran naik, induk menentukan posisi; obatnya Expanded. Cakupan + CI.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Jobsheet: Lima Praktikum dan Tugas Mandiri</a:t>
            </a:r>
            <a:endParaRPr lang="en-US" sz="32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017166"/>
                <a:gridCol w="6418257"/>
                <a:gridCol w="2658992"/>
              </a:tblGrid>
              <a:tr h="60350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Praktikum</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Tempat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Aturan Kas Kelas dan tes unit pertama: nilai batas, membaca tes yang merah</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DartPad atau VS Code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ViewModel kas dengan repository palsu: tahan, lepaskan, jam palsu</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DartPad atau VS Code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Proyek "Kas Kelas": tampilan dan tes widget, layar 320 piksel, aksesibilitas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Proyek kas_kelas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Kiriman Raka: empat bug, satu per satu, dikunci dengan tes regresi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Proyek kas_kelas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"Tugas Kuliahku" punya tes sendiri: cakupan dan GitHub Actions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Proyek tugas_kuliahku</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Tugas mandiri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"Pinjam Alat Lab": aplikasi yang datang bersama tesnya (12 tes unit, 5 tes ViewModel, 5 tes widget, 1 tes aksesibilitas, CI)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Proyek pinjam_alat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3" name="Text 4"/>
          <p:cNvSpPr/>
          <p:nvPr>
            <p:ph idx="104" type="title" hasCustomPrompt="1"/>
          </p:nvPr>
        </p:nvSpPr>
        <p:spPr>
          <a:xfrm>
            <a:off x="731520" y="1554480"/>
            <a:ext cx="8778240" cy="2103120"/>
          </a:xfrm>
          <a:prstGeom prst="rect">
            <a:avLst/>
          </a:prstGeom>
          <a:noFill/>
          <a:ln/>
        </p:spPr>
        <p:txBody>
          <a:bodyPr wrap="square" lIns="0" tIns="0" rIns="0" bIns="0" rtlCol="0" anchor="b"/>
          <a:lstStyle/>
          <a:p>
            <a:pPr algn="l" indent="0" marL="0">
              <a:buNone/>
            </a:pPr>
            <a:r>
              <a:rPr lang="en-US" sz="4400" b="1" dirty="0">
                <a:solidFill>
                  <a:schemeClr val="bg1"/>
                </a:solidFill>
              </a:rPr>
              <a:t>Saatnya Praktik!</a:t>
            </a:r>
            <a:endParaRPr lang="en-US" sz="4400" dirty="0"/>
          </a:p>
        </p:txBody>
      </p:sp>
      <p:sp>
        <p:nvSpPr>
          <p:cNvPr id="4" name="Text 4"/>
          <p:cNvSpPr/>
          <p:nvPr>
            <p:ph idx="105" type="body" hasCustomPrompt="1"/>
          </p:nvPr>
        </p:nvSpPr>
        <p:spPr>
          <a:xfrm>
            <a:off x="731520" y="3840480"/>
            <a:ext cx="8412480" cy="1280160"/>
          </a:xfrm>
          <a:prstGeom prst="rect">
            <a:avLst/>
          </a:prstGeom>
          <a:noFill/>
          <a:ln/>
        </p:spPr>
        <p:txBody>
          <a:bodyPr wrap="square" lIns="0" tIns="0" rIns="0" bIns="0" rtlCol="0" anchor="t"/>
          <a:lstStyle/>
          <a:p>
            <a:pPr algn="l" indent="0" marL="0">
              <a:buNone/>
            </a:pPr>
            <a:r>
              <a:rPr lang="en-US" sz="2000" dirty="0">
                <a:solidFill>
                  <a:schemeClr val="bg2"/>
                </a:solidFill>
              </a:rPr>
              <a:t>Kerjakan Jobsheet Pertemuan 14 (lima praktikum "Kas Kelas" dan "Tugas Kuliahku" + tugas Pinjam Alat Lab), lalu uji diri di Latihan. Pertemuan berikutnya: build, rilis, dan finalisasi proyek.</a:t>
            </a:r>
            <a:endParaRPr lang="en-US" sz="2000" dirty="0"/>
          </a:p>
        </p:txBody>
      </p:sp>
      <p:sp>
        <p:nvSpPr>
          <p:cNvPr id="5" name="tombol tautan">
            <a:hlinkClick r:id="rId1" tooltip="https://github.com/antonprafanto/mobile2026/blob/main/pertemuan_14_pengujian_dan_debugging/JOBSHEET.md"/>
          </p:cNvPr>
          <p:cNvSpPr txBox="1"/>
          <p:nvPr/>
        </p:nvSpPr>
        <p:spPr>
          <a:xfrm>
            <a:off x="731520" y="5166360"/>
            <a:ext cx="2697480" cy="548640"/>
          </a:xfrm>
          <a:prstGeom prst="roundRect">
            <a:avLst>
              <a:gd name="adj" fmla="val 20000"/>
            </a:avLst>
          </a:prstGeom>
          <a:solidFill>
            <a:schemeClr val="accent1"/>
          </a:solidFill>
          <a:ln/>
        </p:spPr>
        <p:txBody>
          <a:bodyPr wrap="square" lIns="622300" tIns="0" rIns="76200" bIns="0" rtlCol="0" anchor="ctr"/>
          <a:lstStyle/>
          <a:p>
            <a:pPr algn="l" indent="0" marL="0">
              <a:buNone/>
            </a:pPr>
            <a:r>
              <a:rPr lang="en-US" sz="1600" b="1" dirty="0">
                <a:solidFill>
                  <a:schemeClr val="bg1"/>
                </a:solidFill>
              </a:rPr>
              <a:t>Jobsheet P14</a:t>
            </a:r>
            <a:endParaRPr lang="en-US" sz="1600" dirty="0"/>
          </a:p>
        </p:txBody>
      </p:sp>
      <p:pic>
        <p:nvPicPr>
          <p:cNvPr id="6" name="Image 0" descr="ikon tautan">
            <a:hlinkClick r:id="rId3" tooltip="https://github.com/antonprafanto/mobile2026/blob/main/pertemuan_14_pengujian_dan_debugging/JOBSHEET.md"/>
          </p:cNvPr>
          <p:cNvPicPr>
            <a:picLocks noChangeAspect="1"/>
          </p:cNvPicPr>
          <p:nvPr/>
        </p:nvPicPr>
        <p:blipFill>
          <a:blip r:embed="rId2"/>
          <a:stretch>
            <a:fillRect/>
          </a:stretch>
        </p:blipFill>
        <p:spPr>
          <a:xfrm>
            <a:off x="877824" y="5276088"/>
            <a:ext cx="329184" cy="329184"/>
          </a:xfrm>
          <a:prstGeom prst="rect">
            <a:avLst/>
          </a:prstGeom>
        </p:spPr>
      </p:pic>
      <p:sp>
        <p:nvSpPr>
          <p:cNvPr id="7" name="tombol tautan">
            <a:hlinkClick r:id="rId4" tooltip="https://github.com/antonprafanto/mobile2026/blob/main/pertemuan_14_pengujian_dan_debugging/LATIHAN.md"/>
          </p:cNvPr>
          <p:cNvSpPr txBox="1"/>
          <p:nvPr/>
        </p:nvSpPr>
        <p:spPr>
          <a:xfrm>
            <a:off x="3611880" y="5166360"/>
            <a:ext cx="2697480" cy="548640"/>
          </a:xfrm>
          <a:prstGeom prst="roundRect">
            <a:avLst>
              <a:gd name="adj" fmla="val 20000"/>
            </a:avLst>
          </a:prstGeom>
          <a:solidFill>
            <a:schemeClr val="accent6"/>
          </a:solidFill>
          <a:ln/>
        </p:spPr>
        <p:txBody>
          <a:bodyPr wrap="square" lIns="622300" tIns="0" rIns="76200" bIns="0" rtlCol="0" anchor="ctr"/>
          <a:lstStyle/>
          <a:p>
            <a:pPr algn="l" indent="0" marL="0">
              <a:buNone/>
            </a:pPr>
            <a:r>
              <a:rPr lang="en-US" sz="1600" b="1" dirty="0">
                <a:solidFill>
                  <a:schemeClr val="bg1"/>
                </a:solidFill>
              </a:rPr>
              <a:t>Latihan P14</a:t>
            </a:r>
            <a:endParaRPr lang="en-US" sz="1600" dirty="0"/>
          </a:p>
        </p:txBody>
      </p:sp>
      <p:pic>
        <p:nvPicPr>
          <p:cNvPr id="8" name="Image 1" descr="ikon tautan">
            <a:hlinkClick r:id="rId6" tooltip="https://github.com/antonprafanto/mobile2026/blob/main/pertemuan_14_pengujian_dan_debugging/LATIHAN.md"/>
          </p:cNvPr>
          <p:cNvPicPr>
            <a:picLocks noChangeAspect="1"/>
          </p:cNvPicPr>
          <p:nvPr/>
        </p:nvPicPr>
        <p:blipFill>
          <a:blip r:embed="rId5"/>
          <a:stretch>
            <a:fillRect/>
          </a:stretch>
        </p:blipFill>
        <p:spPr>
          <a:xfrm>
            <a:off x="3758184" y="5276088"/>
            <a:ext cx="329184" cy="329184"/>
          </a:xfrm>
          <a:prstGeom prst="rect">
            <a:avLst/>
          </a:prstGeom>
        </p:spPr>
      </p:pic>
      <p:sp>
        <p:nvSpPr>
          <p:cNvPr id="9" name="tombol tautan">
            <a:hlinkClick r:id="rId7" tooltip="https://github.com/antonprafanto/mobile2026/blob/main/panduan/05_proyek_akhir.md"/>
          </p:cNvPr>
          <p:cNvSpPr txBox="1"/>
          <p:nvPr/>
        </p:nvSpPr>
        <p:spPr>
          <a:xfrm>
            <a:off x="6492240" y="5166360"/>
            <a:ext cx="2697480" cy="548640"/>
          </a:xfrm>
          <a:prstGeom prst="roundRect">
            <a:avLst>
              <a:gd name="adj" fmla="val 20000"/>
            </a:avLst>
          </a:prstGeom>
          <a:solidFill>
            <a:schemeClr val="accent6"/>
          </a:solidFill>
          <a:ln/>
        </p:spPr>
        <p:txBody>
          <a:bodyPr wrap="square" lIns="622300" tIns="0" rIns="76200" bIns="0" rtlCol="0" anchor="ctr"/>
          <a:lstStyle/>
          <a:p>
            <a:pPr algn="l" indent="0" marL="0">
              <a:buNone/>
            </a:pPr>
            <a:r>
              <a:rPr lang="en-US" sz="1600" b="1" dirty="0">
                <a:solidFill>
                  <a:schemeClr val="bg1"/>
                </a:solidFill>
              </a:rPr>
              <a:t>Proyek Akhir</a:t>
            </a:r>
            <a:endParaRPr lang="en-US" sz="1600" dirty="0"/>
          </a:p>
        </p:txBody>
      </p:sp>
      <p:pic>
        <p:nvPicPr>
          <p:cNvPr id="10" name="Image 2" descr="ikon tautan">
            <a:hlinkClick r:id="rId9" tooltip="https://github.com/antonprafanto/mobile2026/blob/main/panduan/05_proyek_akhir.md"/>
          </p:cNvPr>
          <p:cNvPicPr>
            <a:picLocks noChangeAspect="1"/>
          </p:cNvPicPr>
          <p:nvPr/>
        </p:nvPicPr>
        <p:blipFill>
          <a:blip r:embed="rId8"/>
          <a:stretch>
            <a:fillRect/>
          </a:stretch>
        </p:blipFill>
        <p:spPr>
          <a:xfrm>
            <a:off x="6638544" y="5276088"/>
            <a:ext cx="329184" cy="329184"/>
          </a:xfrm>
          <a:prstGeom prst="rect">
            <a:avLst/>
          </a:prstGeom>
        </p:spPr>
      </p:pic>
      <p:sp>
        <p:nvSpPr>
          <p:cNvPr id="11" name="lingkaran roket"/>
          <p:cNvSpPr/>
          <p:nvPr/>
        </p:nvSpPr>
        <p:spPr>
          <a:xfrm>
            <a:off x="9646920" y="1828800"/>
            <a:ext cx="1737360" cy="1737360"/>
          </a:xfrm>
          <a:prstGeom prst="ellipse">
            <a:avLst/>
          </a:prstGeom>
          <a:solidFill>
            <a:schemeClr val="accent1"/>
          </a:solidFill>
          <a:ln/>
        </p:spPr>
      </p:sp>
      <p:pic>
        <p:nvPicPr>
          <p:cNvPr id="12" name="Image 3" descr="roket">    </p:cNvPr>
          <p:cNvPicPr>
            <a:picLocks noChangeAspect="1"/>
          </p:cNvPicPr>
          <p:nvPr/>
        </p:nvPicPr>
        <p:blipFill>
          <a:blip r:embed="rId10"/>
          <a:stretch>
            <a:fillRect/>
          </a:stretch>
        </p:blipFill>
        <p:spPr>
          <a:xfrm>
            <a:off x="10029139" y="2211019"/>
            <a:ext cx="972922" cy="972922"/>
          </a:xfrm>
          <a:prstGeom prst="rect">
            <a:avLst/>
          </a:prstGeom>
        </p:spPr>
      </p:pic>
    </p:spTree>
  </p:cSld>
  <p:clrMapOvr>
    <a:masterClrMapping/>
  </p:clrMapOvr>
</p:sld>
</file>

<file path=ppt/theme/theme1.xml><?xml version="1.0" encoding="utf-8"?>
<a:theme xmlns:a="http://schemas.openxmlformats.org/drawingml/2006/main" name="PPB Flutter 2026">
  <a:themeElements>
    <a:clrScheme name="PPB Flutter 2026">
      <a:dk1>
        <a:srgbClr val="1B2333"/>
      </a:dk1>
      <a:lt1>
        <a:srgbClr val="FFFFFF"/>
      </a:lt1>
      <a:dk2>
        <a:srgbClr val="0B2545"/>
      </a:dk2>
      <a:lt2>
        <a:srgbClr val="EEF3FA"/>
      </a:lt2>
      <a:accent1>
        <a:srgbClr val="0175C2"/>
      </a:accent1>
      <a:accent2>
        <a:srgbClr val="13B9FD"/>
      </a:accent2>
      <a:accent3>
        <a:srgbClr val="F2A900"/>
      </a:accent3>
      <a:accent4>
        <a:srgbClr val="2E7D32"/>
      </a:accent4>
      <a:accent5>
        <a:srgbClr val="C62828"/>
      </a:accent5>
      <a:accent6>
        <a:srgbClr val="6750A4"/>
      </a:accent6>
      <a:hlink>
        <a:srgbClr val="0175C2"/>
      </a:hlink>
      <a:folHlink>
        <a:srgbClr val="6750A4"/>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86</Slides>
  <Notes>86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86</vt:i4>
      </vt:variant>
    </vt:vector>
  </HeadingPairs>
  <TitlesOfParts>
    <vt:vector size="8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Pertemuan 14 - Pengujian &amp; Debugging</dc:title>
  <dc:subject>Materi kuliah Pemrograman Piranti Bergerak (Flutter 2026)</dc:subject>
  <dc:creator>Pemrograman Piranti Bergerak - Informatika S1</dc:creator>
  <cp:lastModifiedBy>Pemrograman Piranti Bergerak - Informatika S1</cp:lastModifiedBy>
  <cp:revision>1</cp:revision>
  <dcterms:created xsi:type="dcterms:W3CDTF">2026-10-16T17:47:03Z</dcterms:created>
  <dcterms:modified xsi:type="dcterms:W3CDTF">2026-10-16T17:47:03Z</dcterms:modified>
</cp:coreProperties>
</file>