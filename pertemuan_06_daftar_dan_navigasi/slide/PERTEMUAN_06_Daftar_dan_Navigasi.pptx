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5eec08e5-382c-0c0e-cd51-1380aa977685}">
          <p14:sldIdLst>
            <p14:sldId id="256"/>
            <p14:sldId id="257"/>
            <p14:sldId id="258"/>
            <p14:sldId id="259"/>
          </p14:sldIdLst>
        </p14:section>
        <p14:section name="Class Model dan ListView.builder" id="{705563e8-888a-0cb3-0f6c-154089f5d486}">
          <p14:sldIdLst>
            <p14:sldId id="260"/>
            <p14:sldId id="261"/>
            <p14:sldId id="262"/>
            <p14:sldId id="263"/>
          </p14:sldIdLst>
        </p14:section>
        <p14:section name="GridView dan Daftar di Dalam Column" id="{1b8e049a-2b65-79bd-1def-42a0f90879c4}">
          <p14:sldIdLst>
            <p14:sldId id="264"/>
            <p14:sldId id="265"/>
            <p14:sldId id="266"/>
            <p14:sldId id="267"/>
          </p14:sldIdLst>
        </p14:section>
        <p14:section name="Geser untuk Menghapus dan Peran Key" id="{006c427c-2b27-ed9b-4efe-15598aa19ab3}">
          <p14:sldIdLst>
            <p14:sldId id="268"/>
            <p14:sldId id="269"/>
            <p14:sldId id="270"/>
            <p14:sldId id="271"/>
          </p14:sldIdLst>
        </p14:section>
        <p14:section name="Mencari dan Menyaring Daftar" id="{2f51cc8e-b4c2-a8c9-3ac8-83e42c3d4b9c}">
          <p14:sldIdLst>
            <p14:sldId id="272"/>
            <p14:sldId id="273"/>
            <p14:sldId id="274"/>
          </p14:sldIdLst>
        </p14:section>
        <p14:section name="Navigator: Berpindah Halaman" id="{6f0fa924-6b84-16b9-a3c5-3878fad75a8e}">
          <p14:sldIdLst>
            <p14:sldId id="275"/>
            <p14:sldId id="276"/>
            <p14:sldId id="277"/>
            <p14:sldId id="278"/>
            <p14:sldId id="279"/>
            <p14:sldId id="280"/>
          </p14:sldIdLst>
        </p14:section>
        <p14:section name="go_router: Setiap Halaman Punya Alamat" id="{3823eaed-736a-a70f-4c5d-6032a09ce0e3}">
          <p14:sldIdLst>
            <p14:sldId id="281"/>
            <p14:sldId id="282"/>
            <p14:sldId id="283"/>
            <p14:sldId id="284"/>
            <p14:sldId id="285"/>
            <p14:sldId id="286"/>
          </p14:sldIdLst>
        </p14:section>
        <p14:section name="Studi Kasus: Katalog Menu Kantin" id="{26baefb5-537d-f29c-9f76-83c2af713634}">
          <p14:sldIdLst>
            <p14:sldId id="287"/>
            <p14:sldId id="288"/>
            <p14:sldId id="289"/>
            <p14:sldId id="290"/>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 Pertemuan 5 semua aplikasi kita hanya satu halaman dengan isi yang sudah pasti. Hari ini kita menampilkan data dalam jumlah banyak dan berpindah antarhalaman sambil membawa data. Bekal yang dipakai: class dan List (Pertemuan 2–3), ListTile dan Expanded (Pertemuan 4), setState, dialog, dan mounted (Pertemuan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akhir hari ini: aplikasi Katalog Menu Kantin yang terdiri dari beberapa halaman: daftar menu yang bisa dicari dan disaring, halaman detail beralamat /menu/:id, jumlah porsi yang dikirim balik, dan keranjang belanja.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A menampilkan data dalam jumlah banyak dengan rapi dan ringan. Bagian B membuat daftar itu bisa diubah dan dicari. Bagian C membawa pengguna ke halaman lain sambil membawa data. Bagian D memberi setiap halaman alamat seperti situs web. Bagian E merangkai semuanya.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membuka aplikasi favorit di ponselnya dan menyebutkan daftar apa yang tampil serta apa yang terjadi saat item diketuk.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Menyiapkan data dengan rapi, lalu menampilkannya sebagai daftar yang tetap ringan walaupun datanya ribuan.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model memodelkan (mewakili) benda dari dunia nyata. Pola yang dipakai sepanjang hari ini: data disimpan di satu List, lalu untuk setiap nomor baris kita mengambil satu objek dan menyerahkannya ke widget kecil yang menggambar satu baris.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Jalankan contoh 01 dan buka konsol: catatan "membangun baris ke-..." hanya muncul untuk baris yang terlihat. Gulir pelan-pelan: catatan baru muncul sedikit demi sedikit. Gulir kembali ke atas: baris lama dibangun ulang. ListView(children: [...]) biasa hanya untuk isi yang sedikit dan sudah pasti, misalnya menu pengaturan.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itemBuilder sengaja pendek: ambil satu objek, serahkan ke BarisBuku. Pada contoh di slide, parameter fungsi ditulis tanpa tipe agar ringkas; di kode lengkap tipenya ditulis (BuildContext context, int index). Tambahkan satu buku ke daftar: judul AppBar ikut berubah dengan sendirinya.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Menyusun data sebagai kotak-kotak yang jumlah kolomnya menyesuaikan layar, lalu menaruh daftar di bawah ringkasan tanpa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Jumlah kolom kira-kira: lebar tersedia dibagi (lebar maksimal + jarak), dibulatkan ke atas. Di layar 360 dengan padding 16, lebar tersedia 328, sehingga 328 / 192 = 1,7 → 2 kolom. Nama produk dibatasi maxLines: 2 dan TextOverflow.ellipsis.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Jobsheet Praktikum 2 punya eksperimen childAspectRatio: 1. Di lebar 360 kotaknya masih muat, tetapi di 320 semua kotak menampilkan garis kuning-hitam. Pelajaran yang sama dengan Pertemuan 5: selalu uji di lebar 320.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 aturan constraints Pertemuan 4: induk memberi batas, anak memilih ukuran. Pilihan lain: SizedBox(height: 200) untuk daftar kecil di tengah halaman, atau menjadikan judul baris pertama ListView jika boleh ikut tergulir. shrinkWrap: true hanya untuk daftar yang sangat pendek, karena keunggulan builder hilang.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Daftar yang bisa berubah: menghapus dengan gerakan geser, memilih Key yang aman, dan menyediakan tombol Urungkan.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onDismissed hanya memberi tahu bahwa item sudah digeser; ia tidak menghapus data kita. Item wajib dihapus dari daftar di dalam setState. Daftar kosong diganti tampilan ramah (TampilanKosong), agar layar tidak terlihat seperti aplikasi rusak.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Jobsheet Praktikum 3 punya eksperimen ValueKey(index): menghapus item pertama memunculkan layar error "A dismissed Dismissible widget is still part of the tree.", karena item berikutnya pindah ke index 0 dan mendapat key yang sama. Menghapus item terakhir tidak error, karena tidak ada item yang pindah ke posisinya.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Menghapus dengan geser itu cepat, sehingga mudah tidak sengaja. Aplikasi yang ramah menyediakan Urungkan. Untuk penghapusan permanen yang tidak bisa dikembalikan, pakai dialog konfirmasi (Pertemuan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Prinsip utamanya: data asli tidak pernah diubah. Yang tampil dihitung ulang dari data asli dan pilihan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Mengapa tidak langsung menghapus item yang tidak cocok dari data? Karena begitu kata kunci dihapus, item yang tadi terhapus tidak bisa kembali. Dengan nilai turunan, data asli selalu tersedia.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kategori Seni dipilih. Kanan: kata kunci "renang" tidak cocok dengan UKM mana pun, sehingga tampil pesan yang menjelaskan mengapa kosong dan tombol Tampilkan semua. Deretan chip dibungkus SingleChildScrollView mendatar agar tidak terpotong di layar sempit. Chip sengaja tanpa ikon: pada Material 3, ikon chip yang terpilih ditutup lingkaran gelap dan tanda centangnya nyaris tidak terlihat.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Halaman disimpan sebagai tumpukan. Kita belajar membuka, menutup, mengirim data, menerima hasil, dan menahan tombol kembali.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07 menggambar isi tumpukan saat itu. Tekan Tumpuk halaman baru beberapa kali, lalu tekan panah kembali: halaman muncul kembali dalam urutan terbalik. Halaman pertama tidak boleh di-pop, sehingga tombol Kembali dinonaktifkan di Halaman 1 (onPressed: null).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Kuis: tumpukan Beranda → Daftar → Detail (Detail tampil). Panah kembali ditekan dua kali. Halaman apa yang tampil? Jawab: Beranda.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Ikon chevron_right (›) di ujung baris adalah isyarat Material: baris ini bisa diketuk dan akan membuka halaman baru. Halaman detail cukup StatelessWidget karena hanya menampilkan. Variabel global sulit dilacak: halaman mana yang mengubahnya, dan kapan? Data masuk dari pintu depan, yaitu constructor.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 menitip pesan kepada teman yang ke toko: kita menunggu, dan ia bisa kembali membawa jawaban atau tanpa kabar. Persis seperti dialog di Pertemuan 5 yang ditutup dengan mengetuk area gelap. Kuis: halaman B ditutup dengan Navigator.pop(context, 5), tetapi A memakai push&lt;String&gt;. Apa yang salah? Jenis datanya tidak cocok.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PopScope hanya menahan tombol dan gerakan kembali (panah AppBar, tombol kembali Android). WillPopScope usang sejak Flutter 3.12, onPopInvoked usang sejak Flutter 3.22; jika VS Code mencoret kode Anda, berarti memakai versi yang 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Paket dari tim Flutter untuk navigasi berbasis alamat. Semua alamat ditulis di satu peta rute.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Istilah: alamat (path) seperti /tentang; rute (GoRoute) = pasangan alamat dan halaman; peta rute (GoRouter) = kumpulan semua rute; parameter alamat seperti /fakultas/:kode yang isinya berubah-ubah.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Tanda ^ pada ^17.5.0 berarti versi 17.5.0 atau lebih baru selama masih versi 17. Rute anak (tanpa garis miring di depan) berarti halaman itu ditumpuk di atas induknya, sehingga otomatis punya panah kembali menuju beranda. Di DartPad paket sudah tersedia; cukup tulis import.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di slide: dari halaman Fakultas Teknik membuka halaman Tentang. Setelah go, panah kembali menuju Beranda. Setelah push, panah kembali menuju Fakultas Teknik.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Tanpa errorBuilder, go_router menampilkan halaman bawaan Page Not Found dengan pesan no routes for location: /beasiswa. Parameter kueri seperti /cari?q=soto dibaca dengan state.uri.queryParameters["q"]. Objek di extra tidak tertulis di alamat, sehingga hilang saat halaman web dimuat ulang atau dibuka dari tautan.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error yang sering muncul: No GoRouter found in context (masih memakai MaterialApp biasa), dan The method go isn't defined for the type BuildContext (lupa import go_router).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Merangkai semua materi hari ini menjadi aplikasi beberapa halaman dengan pencarian, alamat, hasil yang dikirim balik, dan keranjang.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Halaman dan alamatnya: / untuk HalamanKatalog (StatefulWidget), /menu/:id untuk HalamanDetailMenu (StatefulWidget, jumlah porsi), alamat lain untuk HalamanTidakDitemukan. Biasakan membuat tabel ini sebelum menulis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Baris kuncinya: _keranjang[menu.id] = (_keranjang[menu.id] ?? 0) + jumlah; artinya ambil jumlah yang sudah ada (atau 0 jika belum pernah dipesan), lalu tambahkan jumlah baru. Selalu periksa mounted dan null setelah await.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Skenario uji di modul Bagian 14.4: cari "es", pilih chip Camilan, tambah 2 Nasi Goreng Spesial, buka Es Teh Manis lalu kembali tanpa menambah (tidak ada yang berubah), tambah 1 Es Teh Manis, buka keranjang, pesan. Di Chrome, coba juga alamat /#/menu/3 dan /#/menu/99.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lengkap ada di modul bagian 15, termasuk WillPopScope yang usang dan peringatan use_build_context_synchronously.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menjelaskan perjalanan data saat menambah menu ke keranjang: dari katalog ke detail lewat apa, dan kembali lewat 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praktikum 5 memakai go_router; di VS Code tambahkan go_router: ^17.5.0 di pubspec.yaml. Tugas mandiri wajib diuji seperti pengguna sungguhan (cari yang tidak ada, daftar lalu batalkan, kembali tanpa memilih, sembunyikan lalu urungkan) dan bebas overflow di 360 dan 320.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8412480" y="2926080"/>
            <a:ext cx="5669280" cy="5669280"/>
          </a:xfrm>
          <a:prstGeom prst="ellipse">
            <a:avLst/>
          </a:prstGeom>
          <a:solidFill>
            <a:schemeClr val="accent1">
              <a:alpha val="30000"/>
            </a:schemeClr>
          </a:solidFill>
          <a:ln/>
        </p:spPr>
        <p:txBody>
          <a:bodyPr wrap="square" rtlCol="0" anchor="ctr"/>
          <a:lstStyle/>
          <a:p>
            <a:pPr indent="0" marL="0">
              <a:buNone/>
            </a:pPr>
            <a:endParaRPr lang="en-US" dirty="0"/>
          </a:p>
        </p:txBody>
      </p:sp>
      <p:sp>
        <p:nvSpPr>
          <p:cNvPr id="3" name="Text 1"/>
          <p:cNvSpPr/>
          <p:nvPr/>
        </p:nvSpPr>
        <p:spPr>
          <a:xfrm>
            <a:off x="9692640" y="-1280160"/>
            <a:ext cx="3291840" cy="3291840"/>
          </a:xfrm>
          <a:prstGeom prst="ellipse">
            <a:avLst/>
          </a:prstGeom>
          <a:solidFill>
            <a:schemeClr val="accent2">
              <a:alpha val="20000"/>
            </a:schemeClr>
          </a:solidFill>
          <a:ln/>
        </p:spPr>
        <p:txBody>
          <a:bodyPr wrap="square" rtlCol="0" anchor="ctr"/>
          <a:lstStyle/>
          <a:p>
            <a:pPr indent="0" marL="0">
              <a:buNone/>
            </a:pPr>
            <a:endParaRPr lang="en-US" dirty="0"/>
          </a:p>
        </p:txBody>
      </p:sp>
      <p:sp>
        <p:nvSpPr>
          <p:cNvPr id="4" name="Text 2"/>
          <p:cNvSpPr/>
          <p:nvPr/>
        </p:nvSpPr>
        <p:spPr>
          <a:xfrm>
            <a:off x="731520" y="1005840"/>
            <a:ext cx="82296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PEMROGRAMAN PIRANTI BERGERAK  ·  INFORMATIKA S1</a:t>
            </a:r>
            <a:endParaRPr lang="en-US" sz="1400" dirty="0"/>
          </a:p>
        </p:txBody>
      </p:sp>
      <p:sp>
        <p:nvSpPr>
          <p:cNvPr id="5" name="Text 3"/>
          <p:cNvSpPr/>
          <p:nvPr/>
        </p:nvSpPr>
        <p:spPr>
          <a:xfrm>
            <a:off x="731520" y="5989320"/>
            <a:ext cx="7315200" cy="320040"/>
          </a:xfrm>
          <a:prstGeom prst="rect">
            <a:avLst/>
          </a:prstGeom>
          <a:noFill/>
          <a:ln/>
        </p:spPr>
        <p:txBody>
          <a:bodyPr wrap="square" lIns="0" tIns="0" rIns="0" bIns="0" rtlCol="0" anchor="ctr"/>
          <a:lstStyle/>
          <a:p>
            <a:pPr indent="0" marL="0">
              <a:buNone/>
            </a:pPr>
            <a:r>
              <a:rPr lang="en-US" sz="1300" dirty="0">
                <a:solidFill>
                  <a:schemeClr val="bg2"/>
                </a:solidFill>
              </a:rPr>
              <a:t>github.com/antonprafanto/mobile2026</a:t>
            </a:r>
            <a:endParaRPr lang="en-US" sz="1300" dirty="0"/>
          </a:p>
        </p:txBody>
      </p:sp>
      <p:sp>
        <p:nvSpPr>
          <p:cNvPr id="6" name="Text 4"/>
          <p:cNvSpPr/>
          <p:nvPr>
            <p:ph idx="104" type="title" hasCustomPrompt="1"/>
          </p:nvPr>
        </p:nvSpPr>
        <p:spPr>
          <a:xfrm>
            <a:off x="731520" y="1554480"/>
            <a:ext cx="87782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7" name="Text 4"/>
          <p:cNvSpPr/>
          <p:nvPr>
            <p:ph idx="105" type="body" hasCustomPrompt="1"/>
          </p:nvPr>
        </p:nvSpPr>
        <p:spPr>
          <a:xfrm>
            <a:off x="731520" y="3840480"/>
            <a:ext cx="8412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1645920" y="4023360"/>
            <a:ext cx="4572000" cy="4572000"/>
          </a:xfrm>
          <a:prstGeom prst="ellipse">
            <a:avLst/>
          </a:prstGeom>
          <a:solidFill>
            <a:schemeClr val="accent1">
              <a:alpha val="25000"/>
            </a:schemeClr>
          </a:solidFill>
          <a:ln/>
        </p:spPr>
        <p:txBody>
          <a:bodyPr wrap="square" rtlCol="0" anchor="ctr"/>
          <a:lstStyle/>
          <a:p>
            <a:pPr indent="0" marL="0">
              <a:buNone/>
            </a:pPr>
            <a:endParaRPr lang="en-US" dirty="0"/>
          </a:p>
        </p:txBody>
      </p:sp>
      <p:sp>
        <p:nvSpPr>
          <p:cNvPr id="3" name="Text 1"/>
          <p:cNvSpPr/>
          <p:nvPr>
            <p:ph idx="101" type="body" hasCustomPrompt="1"/>
          </p:nvPr>
        </p:nvSpPr>
        <p:spPr>
          <a:xfrm>
            <a:off x="3840480" y="2103120"/>
            <a:ext cx="768096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bg2"/>
                </a:solidFill>
              </a:rPr>
              <a:t>Pemrograman Piranti Bergerak  ·  Pertemuan 06  ·  Daftar Data &amp; Navigasi</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6B7A90"/>
                </a:solidFill>
              </a:rPr>
              <a:t>Pemrograman Piranti Bergerak  ·  Pertemuan 06  ·  Daftar Data &amp; Navigasi</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2-1.png"/><Relationship Id="rId8" Type="http://schemas.openxmlformats.org/officeDocument/2006/relationships/slideLayout" Target="../slideLayouts/slideLayout4.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antonprafanto/mobile2026/blob/main/pertemuan_06_daftar_dan_navigasi/kode/contoh_01_listview_builder.dart" TargetMode="External"/><Relationship Id="rId4" Type="http://schemas.openxmlformats.org/officeDocument/2006/relationships/hyperlink" Target="https://github.com/antonprafanto/mobile2026/blob/main/pertemuan_06_daftar_dan_navigasi/kode/contoh_01_listview_builder.dart" TargetMode="External"/><Relationship Id="rId1" Type="http://schemas.openxmlformats.org/officeDocument/2006/relationships/image" Target="../media/image-7-1.jpg"/><Relationship Id="rId3" Type="http://schemas.openxmlformats.org/officeDocument/2006/relationships/image" Target="../media/image-7-2.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antonprafanto/mobile2026/blob/main/pertemuan_06_daftar_dan_navigasi/kode/contoh_02_model_dan_listview_separated.dart" TargetMode="External"/><Relationship Id="rId4" Type="http://schemas.openxmlformats.org/officeDocument/2006/relationships/hyperlink" Target="https://github.com/antonprafanto/mobile2026/blob/main/pertemuan_06_daftar_dan_navigasi/kode/contoh_02_model_dan_listview_separated.dart" TargetMode="External"/><Relationship Id="rId1" Type="http://schemas.openxmlformats.org/officeDocument/2006/relationships/image" Target="../media/image-8-1.jpg"/><Relationship Id="rId3" Type="http://schemas.openxmlformats.org/officeDocument/2006/relationships/image" Target="../media/image-8-2.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antonprafanto/mobile2026/blob/main/pertemuan_06_daftar_dan_navigasi/kode/contoh_03_gridview.dart" TargetMode="External"/><Relationship Id="rId5" Type="http://schemas.openxmlformats.org/officeDocument/2006/relationships/hyperlink" Target="https://github.com/antonprafanto/mobile2026/blob/main/pertemuan_06_daftar_dan_navigasi/kode/contoh_03_gridview.dart" TargetMode="External"/><Relationship Id="rId1" Type="http://schemas.openxmlformats.org/officeDocument/2006/relationships/image" Target="../media/image-10-1.jpg"/><Relationship Id="rId2" Type="http://schemas.openxmlformats.org/officeDocument/2006/relationships/image" Target="../media/image-10-2.jpg"/><Relationship Id="rId4" Type="http://schemas.openxmlformats.org/officeDocument/2006/relationships/image" Target="../media/image-10-3.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ntonprafanto/mobile2026/blob/main/pertemuan_06_daftar_dan_navigasi/kode/contoh_04_daftar_dalam_column.dart" TargetMode="External"/><Relationship Id="rId5" Type="http://schemas.openxmlformats.org/officeDocument/2006/relationships/hyperlink" Target="https://github.com/antonprafanto/mobile2026/blob/main/pertemuan_06_daftar_dan_navigasi/kode/contoh_04_daftar_dalam_column.dart" TargetMode="External"/><Relationship Id="rId1" Type="http://schemas.openxmlformats.org/officeDocument/2006/relationships/image" Target="../media/image-12-1.jpg"/><Relationship Id="rId2" Type="http://schemas.openxmlformats.org/officeDocument/2006/relationships/image" Target="../media/image-12-2.jpg"/><Relationship Id="rId4" Type="http://schemas.openxmlformats.org/officeDocument/2006/relationships/image" Target="../media/image-12-3.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antonprafanto/mobile2026/blob/main/pertemuan_06_daftar_dan_navigasi/kode/contoh_05_dismissible_dan_urungkan.dart" TargetMode="External"/><Relationship Id="rId4" Type="http://schemas.openxmlformats.org/officeDocument/2006/relationships/hyperlink" Target="https://github.com/antonprafanto/mobile2026/blob/main/pertemuan_06_daftar_dan_navigasi/kode/contoh_05_dismissible_dan_urungkan.dart" TargetMode="External"/><Relationship Id="rId1" Type="http://schemas.openxmlformats.org/officeDocument/2006/relationships/image" Target="../media/image-14-1.jpg"/><Relationship Id="rId3" Type="http://schemas.openxmlformats.org/officeDocument/2006/relationships/image" Target="../media/image-14-2.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antonprafanto/mobile2026/blob/main/pertemuan_06_daftar_dan_navigasi/kode/contoh_05_dismissible_dan_urungkan.dart" TargetMode="External"/><Relationship Id="rId3" Type="http://schemas.openxmlformats.org/officeDocument/2006/relationships/hyperlink" Target="https://github.com/antonprafanto/mobile2026/blob/main/pertemuan_06_daftar_dan_navigasi/kode/contoh_05_dismissible_dan_urungkan.dart" TargetMode="External"/><Relationship Id="rId2" Type="http://schemas.openxmlformats.org/officeDocument/2006/relationships/image" Target="../media/image-16-1.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antonprafanto/mobile2026/blob/main/pertemuan_06_daftar_dan_navigasi/kode/contoh_06_pencarian_dan_filter.dart" TargetMode="External"/><Relationship Id="rId5" Type="http://schemas.openxmlformats.org/officeDocument/2006/relationships/hyperlink" Target="https://github.com/antonprafanto/mobile2026/blob/main/pertemuan_06_daftar_dan_navigasi/kode/contoh_06_pencarian_dan_filter.dart" TargetMode="External"/><Relationship Id="rId1" Type="http://schemas.openxmlformats.org/officeDocument/2006/relationships/image" Target="../media/image-19-1.jpg"/><Relationship Id="rId2" Type="http://schemas.openxmlformats.org/officeDocument/2006/relationships/image" Target="../media/image-19-2.jpg"/><Relationship Id="rId4" Type="http://schemas.openxmlformats.org/officeDocument/2006/relationships/image" Target="../media/image-19-3.png"/><Relationship Id="rId6" Type="http://schemas.openxmlformats.org/officeDocument/2006/relationships/slideLayout" Target="../slideLayouts/slideLayout4.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hyperlink" Target="https://github.com/antonprafanto/mobile2026/blob/main/pertemuan_06_daftar_dan_navigasi/kode/contoh_07_navigator_push_pop.dart" TargetMode="External"/><Relationship Id="rId4" Type="http://schemas.openxmlformats.org/officeDocument/2006/relationships/hyperlink" Target="https://github.com/antonprafanto/mobile2026/blob/main/pertemuan_06_daftar_dan_navigasi/kode/contoh_07_navigator_push_pop.dart" TargetMode="External"/><Relationship Id="rId1" Type="http://schemas.openxmlformats.org/officeDocument/2006/relationships/image" Target="../media/image-21-1.jpg"/><Relationship Id="rId3" Type="http://schemas.openxmlformats.org/officeDocument/2006/relationships/image" Target="../media/image-21-2.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antonprafanto/mobile2026/blob/main/pertemuan_06_daftar_dan_navigasi/kode/contoh_08_mengirim_data.dart" TargetMode="External"/><Relationship Id="rId5" Type="http://schemas.openxmlformats.org/officeDocument/2006/relationships/hyperlink" Target="https://github.com/antonprafanto/mobile2026/blob/main/pertemuan_06_daftar_dan_navigasi/kode/contoh_08_mengirim_data.dart" TargetMode="External"/><Relationship Id="rId1" Type="http://schemas.openxmlformats.org/officeDocument/2006/relationships/image" Target="../media/image-23-1.jpg"/><Relationship Id="rId2" Type="http://schemas.openxmlformats.org/officeDocument/2006/relationships/image" Target="../media/image-23-2.jpg"/><Relationship Id="rId4" Type="http://schemas.openxmlformats.org/officeDocument/2006/relationships/image" Target="../media/image-23-3.png"/><Relationship Id="rId6" Type="http://schemas.openxmlformats.org/officeDocument/2006/relationships/slideLayout" Target="../slideLayouts/slideLayout4.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antonprafanto/mobile2026/blob/main/pertemuan_06_daftar_dan_navigasi/kode/contoh_09_menerima_hasil.dart" TargetMode="External"/><Relationship Id="rId5" Type="http://schemas.openxmlformats.org/officeDocument/2006/relationships/hyperlink" Target="https://github.com/antonprafanto/mobile2026/blob/main/pertemuan_06_daftar_dan_navigasi/kode/contoh_09_menerima_hasil.dart" TargetMode="External"/><Relationship Id="rId1" Type="http://schemas.openxmlformats.org/officeDocument/2006/relationships/image" Target="../media/image-24-1.jpg"/><Relationship Id="rId2" Type="http://schemas.openxmlformats.org/officeDocument/2006/relationships/image" Target="../media/image-24-2.jpg"/><Relationship Id="rId4" Type="http://schemas.openxmlformats.org/officeDocument/2006/relationships/image" Target="../media/image-24-3.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hyperlink" Target="https://github.com/antonprafanto/mobile2026/blob/main/pertemuan_06_daftar_dan_navigasi/kode/contoh_10_popscope.dart" TargetMode="External"/><Relationship Id="rId4" Type="http://schemas.openxmlformats.org/officeDocument/2006/relationships/hyperlink" Target="https://github.com/antonprafanto/mobile2026/blob/main/pertemuan_06_daftar_dan_navigasi/kode/contoh_10_popscope.dart" TargetMode="External"/><Relationship Id="rId1" Type="http://schemas.openxmlformats.org/officeDocument/2006/relationships/image" Target="../media/image-25-1.jpg"/><Relationship Id="rId3" Type="http://schemas.openxmlformats.org/officeDocument/2006/relationships/image" Target="../media/image-25-2.png"/><Relationship Id="rId5" Type="http://schemas.openxmlformats.org/officeDocument/2006/relationships/slideLayout" Target="../slideLayouts/slideLayout4.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github.com/antonprafanto/mobile2026/blob/main/pertemuan_06_daftar_dan_navigasi/kode/contoh_11_go_router.dart" TargetMode="External"/><Relationship Id="rId3" Type="http://schemas.openxmlformats.org/officeDocument/2006/relationships/hyperlink" Target="https://github.com/antonprafanto/mobile2026/blob/main/pertemuan_06_daftar_dan_navigasi/kode/contoh_11_go_router.dart" TargetMode="External"/><Relationship Id="rId2" Type="http://schemas.openxmlformats.org/officeDocument/2006/relationships/image" Target="../media/image-28-1.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4" Type="http://schemas.openxmlformats.org/officeDocument/2006/relationships/hyperlink" Target="https://github.com/antonprafanto/mobile2026/blob/main/pertemuan_06_daftar_dan_navigasi/kode/contoh_11_go_router.dart" TargetMode="External"/><Relationship Id="rId6" Type="http://schemas.openxmlformats.org/officeDocument/2006/relationships/hyperlink" Target="https://github.com/antonprafanto/mobile2026/blob/main/pertemuan_06_daftar_dan_navigasi/kode/contoh_11_go_router.dart" TargetMode="External"/><Relationship Id="rId1" Type="http://schemas.openxmlformats.org/officeDocument/2006/relationships/image" Target="../media/image-30-1.jpg"/><Relationship Id="rId2" Type="http://schemas.openxmlformats.org/officeDocument/2006/relationships/image" Target="../media/image-30-2.jpg"/><Relationship Id="rId3" Type="http://schemas.openxmlformats.org/officeDocument/2006/relationships/image" Target="../media/image-30-3.jpg"/><Relationship Id="rId5" Type="http://schemas.openxmlformats.org/officeDocument/2006/relationships/image" Target="../media/image-30-4.png"/><Relationship Id="rId7" Type="http://schemas.openxmlformats.org/officeDocument/2006/relationships/slideLayout" Target="../slideLayouts/slideLayout4.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4.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4" Type="http://schemas.openxmlformats.org/officeDocument/2006/relationships/hyperlink" Target="https://github.com/antonprafanto/mobile2026/blob/main/pertemuan_06_daftar_dan_navigasi/kode/contoh_12_studi_kasus_katalog_menu.dart" TargetMode="External"/><Relationship Id="rId6" Type="http://schemas.openxmlformats.org/officeDocument/2006/relationships/hyperlink" Target="https://github.com/antonprafanto/mobile2026/blob/main/pertemuan_06_daftar_dan_navigasi/kode/contoh_12_studi_kasus_katalog_menu.dart" TargetMode="External"/><Relationship Id="rId1" Type="http://schemas.openxmlformats.org/officeDocument/2006/relationships/image" Target="../media/image-35-1.jpg"/><Relationship Id="rId2" Type="http://schemas.openxmlformats.org/officeDocument/2006/relationships/image" Target="../media/image-35-2.jpg"/><Relationship Id="rId3" Type="http://schemas.openxmlformats.org/officeDocument/2006/relationships/image" Target="../media/image-35-3.jpg"/><Relationship Id="rId5" Type="http://schemas.openxmlformats.org/officeDocument/2006/relationships/image" Target="../media/image-35-4.png"/><Relationship Id="rId7" Type="http://schemas.openxmlformats.org/officeDocument/2006/relationships/slideLayout" Target="../slideLayouts/slideLayout4.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hyperlink" Target="https://github.com/antonprafanto/mobile2026/blob/main/pertemuan_06_daftar_dan_navigasi/JOBSHEET.md" TargetMode="External"/><Relationship Id="rId3" Type="http://schemas.openxmlformats.org/officeDocument/2006/relationships/hyperlink" Target="https://github.com/antonprafanto/mobile2026/blob/main/pertemuan_06_daftar_dan_navigasi/JOBSHEET.md" TargetMode="External"/><Relationship Id="rId4" Type="http://schemas.openxmlformats.org/officeDocument/2006/relationships/hyperlink" Target="https://github.com/antonprafanto/mobile2026/blob/main/pertemuan_06_daftar_dan_navigasi/LATIHAN.md" TargetMode="External"/><Relationship Id="rId6" Type="http://schemas.openxmlformats.org/officeDocument/2006/relationships/hyperlink" Target="https://github.com/antonprafanto/mobile2026/blob/main/pertemuan_06_daftar_dan_navigasi/LATIHAN.md" TargetMode="External"/><Relationship Id="rId7" Type="http://schemas.openxmlformats.org/officeDocument/2006/relationships/hyperlink" Target="https://github.com/antonprafanto/mobile2026/blob/main/pertemuan_06_daftar_dan_navigasi/README.md" TargetMode="External"/><Relationship Id="rId9" Type="http://schemas.openxmlformats.org/officeDocument/2006/relationships/hyperlink" Target="https://github.com/antonprafanto/mobile2026/blob/main/pertemuan_06_daftar_dan_navigasi/README.md" TargetMode="External"/><Relationship Id="rId2" Type="http://schemas.openxmlformats.org/officeDocument/2006/relationships/image" Target="../media/image-38-1.png"/><Relationship Id="rId5" Type="http://schemas.openxmlformats.org/officeDocument/2006/relationships/image" Target="../media/image-38-2.png"/><Relationship Id="rId8" Type="http://schemas.openxmlformats.org/officeDocument/2006/relationships/image" Target="../media/image-38-3.png"/><Relationship Id="rId10" Type="http://schemas.openxmlformats.org/officeDocument/2006/relationships/image" Target="../media/image-38-4.png"/><Relationship Id="rId11" Type="http://schemas.openxmlformats.org/officeDocument/2006/relationships/slideLayout" Target="../slideLayouts/slideLayout2.xml"/><Relationship Id="rId1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Daftar Data &amp; Navigasi Antarhalaman</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Pertemuan 6  ·  class model, ListView.builder, GridView, Dismissible &amp; Key, pencarian, Navigator, PopScope, dan go_router</a:t>
            </a:r>
            <a:endParaRPr lang="en-US" sz="2000" dirty="0"/>
          </a:p>
        </p:txBody>
      </p:sp>
      <p:sp>
        <p:nvSpPr>
          <p:cNvPr id="5" name="lingkaran hp"/>
          <p:cNvSpPr/>
          <p:nvPr/>
        </p:nvSpPr>
        <p:spPr>
          <a:xfrm>
            <a:off x="9646920" y="1828800"/>
            <a:ext cx="1737360" cy="1737360"/>
          </a:xfrm>
          <a:prstGeom prst="ellipse">
            <a:avLst/>
          </a:prstGeom>
          <a:solidFill>
            <a:schemeClr val="accent1"/>
          </a:solidFill>
          <a:ln/>
        </p:spPr>
      </p:sp>
      <p:pic>
        <p:nvPicPr>
          <p:cNvPr id="6" name="Image 0" descr="hp">    </p:cNvPr>
          <p:cNvPicPr>
            <a:picLocks noChangeAspect="1"/>
          </p:cNvPicPr>
          <p:nvPr/>
        </p:nvPicPr>
        <p:blipFill>
          <a:blip r:embed="rId1"/>
          <a:stretch>
            <a:fillRect/>
          </a:stretch>
        </p:blipFill>
        <p:spPr>
          <a:xfrm>
            <a:off x="10029139" y="2211019"/>
            <a:ext cx="972922" cy="9729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Tujuan Pembelajaran</a:t>
            </a:r>
            <a:endParaRPr lang="en-US" sz="3200" dirty="0"/>
          </a:p>
        </p:txBody>
      </p:sp>
      <p:sp>
        <p:nvSpPr>
          <p:cNvPr id="4" name="Text 1"/>
          <p:cNvSpPr txBox="1"/>
          <p:nvPr/>
        </p:nvSpPr>
        <p:spPr>
          <a:xfrm>
            <a:off x="548640" y="1325880"/>
            <a:ext cx="11094415" cy="411480"/>
          </a:xfrm>
          <a:prstGeom prst="rect">
            <a:avLst/>
          </a:prstGeom>
          <a:noFill/>
          <a:ln/>
        </p:spPr>
        <p:txBody>
          <a:bodyPr wrap="square" lIns="0" tIns="0" rIns="0" bIns="0" rtlCol="0" anchor="ctr"/>
          <a:lstStyle/>
          <a:p>
            <a:pPr indent="0" marL="0">
              <a:buNone/>
            </a:pPr>
            <a:r>
              <a:rPr lang="en-US" sz="1800" i="1" dirty="0">
                <a:solidFill>
                  <a:srgbClr val="4A5870"/>
                </a:solidFill>
              </a:rPr>
              <a:t>Setelah pertemuan ini, Anda mampu:</a:t>
            </a:r>
            <a:endParaRPr lang="en-US" sz="1800" dirty="0"/>
          </a:p>
        </p:txBody>
      </p:sp>
      <p:sp>
        <p:nvSpPr>
          <p:cNvPr id="5" name="lingkaran centang"/>
          <p:cNvSpPr/>
          <p:nvPr/>
        </p:nvSpPr>
        <p:spPr>
          <a:xfrm>
            <a:off x="548640" y="2011680"/>
            <a:ext cx="594360" cy="594360"/>
          </a:xfrm>
          <a:prstGeom prst="ellipse">
            <a:avLst/>
          </a:prstGeom>
          <a:solidFill>
            <a:schemeClr val="accent4"/>
          </a:solidFill>
          <a:ln/>
        </p:spPr>
      </p:sp>
      <p:pic>
        <p:nvPicPr>
          <p:cNvPr id="6" name="Image 0" descr="centang">    </p:cNvPr>
          <p:cNvPicPr>
            <a:picLocks noChangeAspect="1"/>
          </p:cNvPicPr>
          <p:nvPr/>
        </p:nvPicPr>
        <p:blipFill>
          <a:blip r:embed="rId1"/>
          <a:stretch>
            <a:fillRect/>
          </a:stretch>
        </p:blipFill>
        <p:spPr>
          <a:xfrm>
            <a:off x="679399" y="2142439"/>
            <a:ext cx="332842" cy="332842"/>
          </a:xfrm>
          <a:prstGeom prst="rect">
            <a:avLst/>
          </a:prstGeom>
        </p:spPr>
      </p:pic>
      <p:sp>
        <p:nvSpPr>
          <p:cNvPr id="7" name="Text 3"/>
          <p:cNvSpPr txBox="1"/>
          <p:nvPr/>
        </p:nvSpPr>
        <p:spPr>
          <a:xfrm>
            <a:off x="1325880"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Menyimpan data sebagai class model dan menampilkannya dengan ListView.builder</a:t>
            </a:r>
            <a:endParaRPr lang="en-US" sz="1900" dirty="0"/>
          </a:p>
        </p:txBody>
      </p:sp>
      <p:sp>
        <p:nvSpPr>
          <p:cNvPr id="8" name="lingkaran centang"/>
          <p:cNvSpPr/>
          <p:nvPr/>
        </p:nvSpPr>
        <p:spPr>
          <a:xfrm>
            <a:off x="548640" y="3086100"/>
            <a:ext cx="594360" cy="594360"/>
          </a:xfrm>
          <a:prstGeom prst="ellipse">
            <a:avLst/>
          </a:prstGeom>
          <a:solidFill>
            <a:schemeClr val="accent4"/>
          </a:solidFill>
          <a:ln/>
        </p:spPr>
      </p:sp>
      <p:pic>
        <p:nvPicPr>
          <p:cNvPr id="9" name="Image 1" descr="centang">    </p:cNvPr>
          <p:cNvPicPr>
            <a:picLocks noChangeAspect="1"/>
          </p:cNvPicPr>
          <p:nvPr/>
        </p:nvPicPr>
        <p:blipFill>
          <a:blip r:embed="rId2"/>
          <a:stretch>
            <a:fillRect/>
          </a:stretch>
        </p:blipFill>
        <p:spPr>
          <a:xfrm>
            <a:off x="679399" y="3216859"/>
            <a:ext cx="332842" cy="332842"/>
          </a:xfrm>
          <a:prstGeom prst="rect">
            <a:avLst/>
          </a:prstGeom>
        </p:spPr>
      </p:pic>
      <p:sp>
        <p:nvSpPr>
          <p:cNvPr id="10" name="Text 5"/>
          <p:cNvSpPr txBox="1"/>
          <p:nvPr/>
        </p:nvSpPr>
        <p:spPr>
          <a:xfrm>
            <a:off x="1325880" y="29946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Membuat ListView.separated dan GridView yang menyesuaikan lebar layar</a:t>
            </a:r>
            <a:endParaRPr lang="en-US" sz="1900" dirty="0"/>
          </a:p>
        </p:txBody>
      </p:sp>
      <p:sp>
        <p:nvSpPr>
          <p:cNvPr id="11" name="lingkaran centang"/>
          <p:cNvSpPr/>
          <p:nvPr/>
        </p:nvSpPr>
        <p:spPr>
          <a:xfrm>
            <a:off x="548640" y="4160520"/>
            <a:ext cx="594360" cy="594360"/>
          </a:xfrm>
          <a:prstGeom prst="ellipse">
            <a:avLst/>
          </a:prstGeom>
          <a:solidFill>
            <a:schemeClr val="accent4"/>
          </a:solidFill>
          <a:ln/>
        </p:spPr>
      </p:sp>
      <p:pic>
        <p:nvPicPr>
          <p:cNvPr id="12" name="Image 2" descr="centang">    </p:cNvPr>
          <p:cNvPicPr>
            <a:picLocks noChangeAspect="1"/>
          </p:cNvPicPr>
          <p:nvPr/>
        </p:nvPicPr>
        <p:blipFill>
          <a:blip r:embed="rId3"/>
          <a:stretch>
            <a:fillRect/>
          </a:stretch>
        </p:blipFill>
        <p:spPr>
          <a:xfrm>
            <a:off x="679399" y="4291279"/>
            <a:ext cx="332842" cy="332842"/>
          </a:xfrm>
          <a:prstGeom prst="rect">
            <a:avLst/>
          </a:prstGeom>
        </p:spPr>
      </p:pic>
      <p:sp>
        <p:nvSpPr>
          <p:cNvPr id="13" name="Text 7"/>
          <p:cNvSpPr txBox="1"/>
          <p:nvPr/>
        </p:nvSpPr>
        <p:spPr>
          <a:xfrm>
            <a:off x="1325880" y="40690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Menaruh daftar di dalam Column tanpa error unbounded height</a:t>
            </a:r>
            <a:endParaRPr lang="en-US" sz="1900" dirty="0"/>
          </a:p>
        </p:txBody>
      </p:sp>
      <p:sp>
        <p:nvSpPr>
          <p:cNvPr id="14" name="lingkaran centang"/>
          <p:cNvSpPr/>
          <p:nvPr/>
        </p:nvSpPr>
        <p:spPr>
          <a:xfrm>
            <a:off x="548640" y="5234940"/>
            <a:ext cx="594360" cy="594360"/>
          </a:xfrm>
          <a:prstGeom prst="ellipse">
            <a:avLst/>
          </a:prstGeom>
          <a:solidFill>
            <a:schemeClr val="accent4"/>
          </a:solidFill>
          <a:ln/>
        </p:spPr>
      </p:sp>
      <p:pic>
        <p:nvPicPr>
          <p:cNvPr id="15" name="Image 3" descr="centang">    </p:cNvPr>
          <p:cNvPicPr>
            <a:picLocks noChangeAspect="1"/>
          </p:cNvPicPr>
          <p:nvPr/>
        </p:nvPicPr>
        <p:blipFill>
          <a:blip r:embed="rId4"/>
          <a:stretch>
            <a:fillRect/>
          </a:stretch>
        </p:blipFill>
        <p:spPr>
          <a:xfrm>
            <a:off x="679399" y="5365699"/>
            <a:ext cx="332842" cy="332842"/>
          </a:xfrm>
          <a:prstGeom prst="rect">
            <a:avLst/>
          </a:prstGeom>
        </p:spPr>
      </p:pic>
      <p:sp>
        <p:nvSpPr>
          <p:cNvPr id="16" name="Text 9"/>
          <p:cNvSpPr txBox="1"/>
          <p:nvPr/>
        </p:nvSpPr>
        <p:spPr>
          <a:xfrm>
            <a:off x="1325880" y="514350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Menghapus item dengan geser, memakai Key yang benar, dan menyediakan "Urungkan"</a:t>
            </a:r>
            <a:endParaRPr lang="en-US" sz="1900" dirty="0"/>
          </a:p>
        </p:txBody>
      </p:sp>
      <p:sp>
        <p:nvSpPr>
          <p:cNvPr id="17" name="lingkaran centang"/>
          <p:cNvSpPr/>
          <p:nvPr/>
        </p:nvSpPr>
        <p:spPr>
          <a:xfrm>
            <a:off x="6278728" y="2011680"/>
            <a:ext cx="594360" cy="594360"/>
          </a:xfrm>
          <a:prstGeom prst="ellipse">
            <a:avLst/>
          </a:prstGeom>
          <a:solidFill>
            <a:schemeClr val="accent4"/>
          </a:solidFill>
          <a:ln/>
        </p:spPr>
      </p:sp>
      <p:pic>
        <p:nvPicPr>
          <p:cNvPr id="18" name="Image 4" descr="centang">    </p:cNvPr>
          <p:cNvPicPr>
            <a:picLocks noChangeAspect="1"/>
          </p:cNvPicPr>
          <p:nvPr/>
        </p:nvPicPr>
        <p:blipFill>
          <a:blip r:embed="rId5"/>
          <a:stretch>
            <a:fillRect/>
          </a:stretch>
        </p:blipFill>
        <p:spPr>
          <a:xfrm>
            <a:off x="6409487" y="2142439"/>
            <a:ext cx="332842" cy="332842"/>
          </a:xfrm>
          <a:prstGeom prst="rect">
            <a:avLst/>
          </a:prstGeom>
        </p:spPr>
      </p:pic>
      <p:sp>
        <p:nvSpPr>
          <p:cNvPr id="19" name="Text 11"/>
          <p:cNvSpPr txBox="1"/>
          <p:nvPr/>
        </p:nvSpPr>
        <p:spPr>
          <a:xfrm>
            <a:off x="7055968"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Membuat pencarian dan saringan tanpa mengubah data asli</a:t>
            </a:r>
            <a:endParaRPr lang="en-US" sz="1900" dirty="0"/>
          </a:p>
        </p:txBody>
      </p:sp>
      <p:sp>
        <p:nvSpPr>
          <p:cNvPr id="20" name="lingkaran centang"/>
          <p:cNvSpPr/>
          <p:nvPr/>
        </p:nvSpPr>
        <p:spPr>
          <a:xfrm>
            <a:off x="6278728" y="3086100"/>
            <a:ext cx="594360" cy="594360"/>
          </a:xfrm>
          <a:prstGeom prst="ellipse">
            <a:avLst/>
          </a:prstGeom>
          <a:solidFill>
            <a:schemeClr val="accent4"/>
          </a:solidFill>
          <a:ln/>
        </p:spPr>
      </p:sp>
      <p:pic>
        <p:nvPicPr>
          <p:cNvPr id="21" name="Image 5" descr="centang">    </p:cNvPr>
          <p:cNvPicPr>
            <a:picLocks noChangeAspect="1"/>
          </p:cNvPicPr>
          <p:nvPr/>
        </p:nvPicPr>
        <p:blipFill>
          <a:blip r:embed="rId6"/>
          <a:stretch>
            <a:fillRect/>
          </a:stretch>
        </p:blipFill>
        <p:spPr>
          <a:xfrm>
            <a:off x="6409487" y="3216859"/>
            <a:ext cx="332842" cy="332842"/>
          </a:xfrm>
          <a:prstGeom prst="rect">
            <a:avLst/>
          </a:prstGeom>
        </p:spPr>
      </p:pic>
      <p:sp>
        <p:nvSpPr>
          <p:cNvPr id="22" name="Text 13"/>
          <p:cNvSpPr txBox="1"/>
          <p:nvPr/>
        </p:nvSpPr>
        <p:spPr>
          <a:xfrm>
            <a:off x="7055968" y="2994660"/>
            <a:ext cx="4587088" cy="777240"/>
          </a:xfrm>
          <a:prstGeom prst="rect">
            <a:avLst/>
          </a:prstGeom>
          <a:noFill/>
          <a:ln/>
        </p:spPr>
        <p:txBody>
          <a:bodyPr wrap="square" lIns="0" tIns="0" rIns="0" bIns="0" rtlCol="0" anchor="ctr"/>
          <a:lstStyle/>
          <a:p>
            <a:pPr indent="0" marL="0">
              <a:buNone/>
            </a:pPr>
            <a:r>
              <a:rPr lang="en-US" sz="1900" dirty="0">
                <a:solidFill>
                  <a:schemeClr val="tx1"/>
                </a:solidFill>
              </a:rPr>
              <a:t>Berpindah halaman, mengirim data, menerima hasil, dan menahan tombol kembali</a:t>
            </a:r>
            <a:endParaRPr lang="en-US" sz="1900" dirty="0"/>
          </a:p>
        </p:txBody>
      </p:sp>
      <p:sp>
        <p:nvSpPr>
          <p:cNvPr id="23" name="lingkaran centang"/>
          <p:cNvSpPr/>
          <p:nvPr/>
        </p:nvSpPr>
        <p:spPr>
          <a:xfrm>
            <a:off x="6278728" y="4160520"/>
            <a:ext cx="594360" cy="594360"/>
          </a:xfrm>
          <a:prstGeom prst="ellipse">
            <a:avLst/>
          </a:prstGeom>
          <a:solidFill>
            <a:schemeClr val="accent4"/>
          </a:solidFill>
          <a:ln/>
        </p:spPr>
      </p:sp>
      <p:pic>
        <p:nvPicPr>
          <p:cNvPr id="24" name="Image 6" descr="centang">    </p:cNvPr>
          <p:cNvPicPr>
            <a:picLocks noChangeAspect="1"/>
          </p:cNvPicPr>
          <p:nvPr/>
        </p:nvPicPr>
        <p:blipFill>
          <a:blip r:embed="rId7"/>
          <a:stretch>
            <a:fillRect/>
          </a:stretch>
        </p:blipFill>
        <p:spPr>
          <a:xfrm>
            <a:off x="6409487" y="4291279"/>
            <a:ext cx="332842" cy="332842"/>
          </a:xfrm>
          <a:prstGeom prst="rect">
            <a:avLst/>
          </a:prstGeom>
        </p:spPr>
      </p:pic>
      <p:sp>
        <p:nvSpPr>
          <p:cNvPr id="25" name="Text 15"/>
          <p:cNvSpPr txBox="1"/>
          <p:nvPr/>
        </p:nvSpPr>
        <p:spPr>
          <a:xfrm>
            <a:off x="7055968" y="40690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Menyusun peta rute go_router dengan parameter alamat</a:t>
            </a:r>
            <a:endParaRPr lang="en-US" sz="19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Peta Materi Hari Ini</a:t>
            </a:r>
            <a:endParaRPr lang="en-US" sz="3200" dirty="0"/>
          </a:p>
        </p:txBody>
      </p:sp>
      <p:sp>
        <p:nvSpPr>
          <p:cNvPr id="4" name="langkah 1"/>
          <p:cNvSpPr/>
          <p:nvPr/>
        </p:nvSpPr>
        <p:spPr>
          <a:xfrm>
            <a:off x="548640" y="1828800"/>
            <a:ext cx="1962851" cy="3566160"/>
          </a:xfrm>
          <a:prstGeom prst="roundRect">
            <a:avLst>
              <a:gd name="adj" fmla="val 6988"/>
            </a:avLst>
          </a:prstGeom>
          <a:solidFill>
            <a:schemeClr val="bg2"/>
          </a:solidFill>
          <a:ln/>
        </p:spPr>
      </p:sp>
      <p:sp>
        <p:nvSpPr>
          <p:cNvPr id="5" name="lingkaran daftar"/>
          <p:cNvSpPr/>
          <p:nvPr/>
        </p:nvSpPr>
        <p:spPr>
          <a:xfrm>
            <a:off x="1095726" y="2103120"/>
            <a:ext cx="868680" cy="868680"/>
          </a:xfrm>
          <a:prstGeom prst="ellipse">
            <a:avLst/>
          </a:prstGeom>
          <a:solidFill>
            <a:schemeClr val="accent1"/>
          </a:solidFill>
          <a:ln/>
        </p:spPr>
      </p:sp>
      <p:pic>
        <p:nvPicPr>
          <p:cNvPr id="6" name="Image 0" descr="daftar">    </p:cNvPr>
          <p:cNvPicPr>
            <a:picLocks noChangeAspect="1"/>
          </p:cNvPicPr>
          <p:nvPr/>
        </p:nvPicPr>
        <p:blipFill>
          <a:blip r:embed="rId1"/>
          <a:stretch>
            <a:fillRect/>
          </a:stretch>
        </p:blipFill>
        <p:spPr>
          <a:xfrm>
            <a:off x="1286835"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A. Menampilkan daftar</a:t>
            </a:r>
            <a:endParaRPr lang="en-US" sz="1700" dirty="0"/>
          </a:p>
        </p:txBody>
      </p:sp>
      <p:sp>
        <p:nvSpPr>
          <p:cNvPr id="9" name="Text 5"/>
          <p:cNvSpPr txBox="1"/>
          <p:nvPr/>
        </p:nvSpPr>
        <p:spPr>
          <a:xfrm>
            <a:off x="685800"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Class model, ListView.builder, separated, GridView</a:t>
            </a:r>
            <a:endParaRPr lang="en-US" sz="1400" dirty="0"/>
          </a:p>
        </p:txBody>
      </p:sp>
      <p:sp>
        <p:nvSpPr>
          <p:cNvPr id="10" name="Shape 6"/>
          <p:cNvSpPr/>
          <p:nvPr/>
        </p:nvSpPr>
        <p:spPr>
          <a:xfrm>
            <a:off x="2548067" y="2395728"/>
            <a:ext cx="246888" cy="274320"/>
          </a:xfrm>
          <a:prstGeom prst="rightArrow">
            <a:avLst/>
          </a:prstGeom>
          <a:solidFill>
            <a:schemeClr val="accent2"/>
          </a:solidFill>
          <a:ln/>
        </p:spPr>
      </p:sp>
      <p:sp>
        <p:nvSpPr>
          <p:cNvPr id="11" name="langkah 2"/>
          <p:cNvSpPr/>
          <p:nvPr/>
        </p:nvSpPr>
        <p:spPr>
          <a:xfrm>
            <a:off x="2831531" y="1828800"/>
            <a:ext cx="1962851" cy="3566160"/>
          </a:xfrm>
          <a:prstGeom prst="roundRect">
            <a:avLst>
              <a:gd name="adj" fmla="val 6988"/>
            </a:avLst>
          </a:prstGeom>
          <a:solidFill>
            <a:schemeClr val="bg2"/>
          </a:solidFill>
          <a:ln/>
        </p:spPr>
      </p:sp>
      <p:sp>
        <p:nvSpPr>
          <p:cNvPr id="12" name="lingkaran geser"/>
          <p:cNvSpPr/>
          <p:nvPr/>
        </p:nvSpPr>
        <p:spPr>
          <a:xfrm>
            <a:off x="3378617" y="2103120"/>
            <a:ext cx="868680" cy="868680"/>
          </a:xfrm>
          <a:prstGeom prst="ellipse">
            <a:avLst/>
          </a:prstGeom>
          <a:solidFill>
            <a:schemeClr val="accent1"/>
          </a:solidFill>
          <a:ln/>
        </p:spPr>
      </p:sp>
      <p:pic>
        <p:nvPicPr>
          <p:cNvPr id="13" name="Image 1" descr="geser">    </p:cNvPr>
          <p:cNvPicPr>
            <a:picLocks noChangeAspect="1"/>
          </p:cNvPicPr>
          <p:nvPr/>
        </p:nvPicPr>
        <p:blipFill>
          <a:blip r:embed="rId2"/>
          <a:stretch>
            <a:fillRect/>
          </a:stretch>
        </p:blipFill>
        <p:spPr>
          <a:xfrm>
            <a:off x="3569726" y="2294230"/>
            <a:ext cx="486461" cy="486461"/>
          </a:xfrm>
          <a:prstGeom prst="rect">
            <a:avLst/>
          </a:prstGeom>
        </p:spPr>
      </p:pic>
      <p:sp>
        <p:nvSpPr>
          <p:cNvPr id="14" name="Text 9"/>
          <p:cNvSpPr txBox="1"/>
          <p:nvPr/>
        </p:nvSpPr>
        <p:spPr>
          <a:xfrm>
            <a:off x="2941259"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968691"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B. Daftar yang hidup</a:t>
            </a:r>
            <a:endParaRPr lang="en-US" sz="1700" dirty="0"/>
          </a:p>
        </p:txBody>
      </p:sp>
      <p:sp>
        <p:nvSpPr>
          <p:cNvPr id="16" name="Text 11"/>
          <p:cNvSpPr txBox="1"/>
          <p:nvPr/>
        </p:nvSpPr>
        <p:spPr>
          <a:xfrm>
            <a:off x="2968691"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Geser untuk menghapus, Key, pencarian</a:t>
            </a:r>
            <a:endParaRPr lang="en-US" sz="1400" dirty="0"/>
          </a:p>
        </p:txBody>
      </p:sp>
      <p:sp>
        <p:nvSpPr>
          <p:cNvPr id="17" name="Shape 12"/>
          <p:cNvSpPr/>
          <p:nvPr/>
        </p:nvSpPr>
        <p:spPr>
          <a:xfrm>
            <a:off x="4830958" y="2395728"/>
            <a:ext cx="246888" cy="274320"/>
          </a:xfrm>
          <a:prstGeom prst="rightArrow">
            <a:avLst/>
          </a:prstGeom>
          <a:solidFill>
            <a:schemeClr val="accent2"/>
          </a:solidFill>
          <a:ln/>
        </p:spPr>
      </p:sp>
      <p:sp>
        <p:nvSpPr>
          <p:cNvPr id="18" name="langkah 3"/>
          <p:cNvSpPr/>
          <p:nvPr/>
        </p:nvSpPr>
        <p:spPr>
          <a:xfrm>
            <a:off x="5114422" y="1828800"/>
            <a:ext cx="1962851" cy="3566160"/>
          </a:xfrm>
          <a:prstGeom prst="roundRect">
            <a:avLst>
              <a:gd name="adj" fmla="val 6988"/>
            </a:avLst>
          </a:prstGeom>
          <a:solidFill>
            <a:schemeClr val="bg2"/>
          </a:solidFill>
          <a:ln/>
        </p:spPr>
      </p:sp>
      <p:sp>
        <p:nvSpPr>
          <p:cNvPr id="19" name="lingkaran lapisan"/>
          <p:cNvSpPr/>
          <p:nvPr/>
        </p:nvSpPr>
        <p:spPr>
          <a:xfrm>
            <a:off x="5661508" y="2103120"/>
            <a:ext cx="868680" cy="868680"/>
          </a:xfrm>
          <a:prstGeom prst="ellipse">
            <a:avLst/>
          </a:prstGeom>
          <a:solidFill>
            <a:schemeClr val="accent1"/>
          </a:solidFill>
          <a:ln/>
        </p:spPr>
      </p:sp>
      <p:pic>
        <p:nvPicPr>
          <p:cNvPr id="20" name="Image 2" descr="lapisan">    </p:cNvPr>
          <p:cNvPicPr>
            <a:picLocks noChangeAspect="1"/>
          </p:cNvPicPr>
          <p:nvPr/>
        </p:nvPicPr>
        <p:blipFill>
          <a:blip r:embed="rId3"/>
          <a:stretch>
            <a:fillRect/>
          </a:stretch>
        </p:blipFill>
        <p:spPr>
          <a:xfrm>
            <a:off x="5852617" y="2294230"/>
            <a:ext cx="486461" cy="486461"/>
          </a:xfrm>
          <a:prstGeom prst="rect">
            <a:avLst/>
          </a:prstGeom>
        </p:spPr>
      </p:pic>
      <p:sp>
        <p:nvSpPr>
          <p:cNvPr id="21" name="Text 15"/>
          <p:cNvSpPr txBox="1"/>
          <p:nvPr/>
        </p:nvSpPr>
        <p:spPr>
          <a:xfrm>
            <a:off x="5224150"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5251582"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C. Berpindah halaman</a:t>
            </a:r>
            <a:endParaRPr lang="en-US" sz="1700" dirty="0"/>
          </a:p>
        </p:txBody>
      </p:sp>
      <p:sp>
        <p:nvSpPr>
          <p:cNvPr id="23" name="Text 17"/>
          <p:cNvSpPr txBox="1"/>
          <p:nvPr/>
        </p:nvSpPr>
        <p:spPr>
          <a:xfrm>
            <a:off x="5251582"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Navigator, kirim data, terima hasil, PopScope</a:t>
            </a:r>
            <a:endParaRPr lang="en-US" sz="1400" dirty="0"/>
          </a:p>
        </p:txBody>
      </p:sp>
      <p:sp>
        <p:nvSpPr>
          <p:cNvPr id="24" name="Shape 18"/>
          <p:cNvSpPr/>
          <p:nvPr/>
        </p:nvSpPr>
        <p:spPr>
          <a:xfrm>
            <a:off x="7113849" y="2395728"/>
            <a:ext cx="246888" cy="274320"/>
          </a:xfrm>
          <a:prstGeom prst="rightArrow">
            <a:avLst/>
          </a:prstGeom>
          <a:solidFill>
            <a:schemeClr val="accent2"/>
          </a:solidFill>
          <a:ln/>
        </p:spPr>
      </p:sp>
      <p:sp>
        <p:nvSpPr>
          <p:cNvPr id="25" name="langkah 4"/>
          <p:cNvSpPr/>
          <p:nvPr/>
        </p:nvSpPr>
        <p:spPr>
          <a:xfrm>
            <a:off x="7397313" y="1828800"/>
            <a:ext cx="1962851" cy="3566160"/>
          </a:xfrm>
          <a:prstGeom prst="roundRect">
            <a:avLst>
              <a:gd name="adj" fmla="val 6988"/>
            </a:avLst>
          </a:prstGeom>
          <a:solidFill>
            <a:schemeClr val="bg2"/>
          </a:solidFill>
          <a:ln/>
        </p:spPr>
      </p:sp>
      <p:sp>
        <p:nvSpPr>
          <p:cNvPr id="26" name="lingkaran rute"/>
          <p:cNvSpPr/>
          <p:nvPr/>
        </p:nvSpPr>
        <p:spPr>
          <a:xfrm>
            <a:off x="7944399" y="2103120"/>
            <a:ext cx="868680" cy="868680"/>
          </a:xfrm>
          <a:prstGeom prst="ellipse">
            <a:avLst/>
          </a:prstGeom>
          <a:solidFill>
            <a:schemeClr val="accent1"/>
          </a:solidFill>
          <a:ln/>
        </p:spPr>
      </p:sp>
      <p:pic>
        <p:nvPicPr>
          <p:cNvPr id="27" name="Image 3" descr="rute">    </p:cNvPr>
          <p:cNvPicPr>
            <a:picLocks noChangeAspect="1"/>
          </p:cNvPicPr>
          <p:nvPr/>
        </p:nvPicPr>
        <p:blipFill>
          <a:blip r:embed="rId4"/>
          <a:stretch>
            <a:fillRect/>
          </a:stretch>
        </p:blipFill>
        <p:spPr>
          <a:xfrm>
            <a:off x="8135508" y="2294230"/>
            <a:ext cx="486461" cy="486461"/>
          </a:xfrm>
          <a:prstGeom prst="rect">
            <a:avLst/>
          </a:prstGeom>
        </p:spPr>
      </p:pic>
      <p:sp>
        <p:nvSpPr>
          <p:cNvPr id="28" name="Text 21"/>
          <p:cNvSpPr txBox="1"/>
          <p:nvPr/>
        </p:nvSpPr>
        <p:spPr>
          <a:xfrm>
            <a:off x="7507041"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7534473"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D. Alamat halaman</a:t>
            </a:r>
            <a:endParaRPr lang="en-US" sz="1700" dirty="0"/>
          </a:p>
        </p:txBody>
      </p:sp>
      <p:sp>
        <p:nvSpPr>
          <p:cNvPr id="30" name="Text 23"/>
          <p:cNvSpPr txBox="1"/>
          <p:nvPr/>
        </p:nvSpPr>
        <p:spPr>
          <a:xfrm>
            <a:off x="7534473"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go_router, parameter alamat, halaman tidak ditemukan</a:t>
            </a:r>
            <a:endParaRPr lang="en-US" sz="1400" dirty="0"/>
          </a:p>
        </p:txBody>
      </p:sp>
      <p:sp>
        <p:nvSpPr>
          <p:cNvPr id="31" name="Shape 24"/>
          <p:cNvSpPr/>
          <p:nvPr/>
        </p:nvSpPr>
        <p:spPr>
          <a:xfrm>
            <a:off x="9396740" y="2395728"/>
            <a:ext cx="246888" cy="274320"/>
          </a:xfrm>
          <a:prstGeom prst="rightArrow">
            <a:avLst/>
          </a:prstGeom>
          <a:solidFill>
            <a:schemeClr val="accent2"/>
          </a:solidFill>
          <a:ln/>
        </p:spPr>
      </p:sp>
      <p:sp>
        <p:nvSpPr>
          <p:cNvPr id="32" name="langkah 5"/>
          <p:cNvSpPr/>
          <p:nvPr/>
        </p:nvSpPr>
        <p:spPr>
          <a:xfrm>
            <a:off x="9680204" y="1828800"/>
            <a:ext cx="1962851" cy="3566160"/>
          </a:xfrm>
          <a:prstGeom prst="roundRect">
            <a:avLst>
              <a:gd name="adj" fmla="val 6988"/>
            </a:avLst>
          </a:prstGeom>
          <a:solidFill>
            <a:schemeClr val="bg2"/>
          </a:solidFill>
          <a:ln/>
        </p:spPr>
      </p:sp>
      <p:sp>
        <p:nvSpPr>
          <p:cNvPr id="33" name="lingkaran keranjang"/>
          <p:cNvSpPr/>
          <p:nvPr/>
        </p:nvSpPr>
        <p:spPr>
          <a:xfrm>
            <a:off x="10227290" y="2103120"/>
            <a:ext cx="868680" cy="868680"/>
          </a:xfrm>
          <a:prstGeom prst="ellipse">
            <a:avLst/>
          </a:prstGeom>
          <a:solidFill>
            <a:schemeClr val="accent4"/>
          </a:solidFill>
          <a:ln/>
        </p:spPr>
      </p:sp>
      <p:pic>
        <p:nvPicPr>
          <p:cNvPr id="34" name="Image 4" descr="keranjang">    </p:cNvPr>
          <p:cNvPicPr>
            <a:picLocks noChangeAspect="1"/>
          </p:cNvPicPr>
          <p:nvPr/>
        </p:nvPicPr>
        <p:blipFill>
          <a:blip r:embed="rId5"/>
          <a:stretch>
            <a:fillRect/>
          </a:stretch>
        </p:blipFill>
        <p:spPr>
          <a:xfrm>
            <a:off x="10418399" y="2294230"/>
            <a:ext cx="486461" cy="486461"/>
          </a:xfrm>
          <a:prstGeom prst="rect">
            <a:avLst/>
          </a:prstGeom>
        </p:spPr>
      </p:pic>
      <p:sp>
        <p:nvSpPr>
          <p:cNvPr id="35" name="Text 27"/>
          <p:cNvSpPr txBox="1"/>
          <p:nvPr/>
        </p:nvSpPr>
        <p:spPr>
          <a:xfrm>
            <a:off x="9789932"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9817364"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E. Merangkai</a:t>
            </a:r>
            <a:endParaRPr lang="en-US" sz="1700" dirty="0"/>
          </a:p>
        </p:txBody>
      </p:sp>
      <p:sp>
        <p:nvSpPr>
          <p:cNvPr id="37" name="Text 29"/>
          <p:cNvSpPr txBox="1"/>
          <p:nvPr/>
        </p:nvSpPr>
        <p:spPr>
          <a:xfrm>
            <a:off x="9817364"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Studi kasus Katalog Menu Kantin</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Dua Kemampuan yang Dimiliki Hampir Semua Aplikasi</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486679"/>
                <a:gridCol w="3730019"/>
                <a:gridCol w="4877717"/>
              </a:tblGrid>
              <a:tr h="68580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Aplikasi</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Daftar yang tampil</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Setelah item diketuk</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85800">
                <a:tc>
                  <a:txBody>
                    <a:bodyPr/>
                    <a:lstStyle/>
                    <a:p>
                      <a:pPr indent="0" marL="0">
                        <a:buNone/>
                      </a:pPr>
                      <a:r>
                        <a:rPr lang="en-US" sz="1700" b="1" dirty="0">
                          <a:solidFill>
                            <a:srgbClr val="1B2333"/>
                          </a:solidFill>
                          <a:latin typeface="Calibri" pitchFamily="34" charset="0"/>
                          <a:ea typeface="Calibri" pitchFamily="34" charset="-122"/>
                          <a:cs typeface="Calibri" pitchFamily="34" charset="-120"/>
                        </a:rPr>
                        <a:t>WhatsApp</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Daftar obrolan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Pindah ke halaman obrolan dengan orang itu</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85800">
                <a:tc>
                  <a:txBody>
                    <a:bodyPr/>
                    <a:lstStyle/>
                    <a:p>
                      <a:pPr indent="0" marL="0">
                        <a:buNone/>
                      </a:pPr>
                      <a:r>
                        <a:rPr lang="en-US" sz="1700" b="1" dirty="0">
                          <a:solidFill>
                            <a:srgbClr val="1B2333"/>
                          </a:solidFill>
                          <a:latin typeface="Calibri" pitchFamily="34" charset="0"/>
                          <a:ea typeface="Calibri" pitchFamily="34" charset="-122"/>
                          <a:cs typeface="Calibri" pitchFamily="34" charset="-120"/>
                        </a:rPr>
                        <a:t>Aplikasi belanja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Kotak-kotak produk</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Pindah ke halaman detail produk</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85800">
                <a:tc>
                  <a:txBody>
                    <a:bodyPr/>
                    <a:lstStyle/>
                    <a:p>
                      <a:pPr indent="0" marL="0">
                        <a:buNone/>
                      </a:pPr>
                      <a:r>
                        <a:rPr lang="en-US" sz="1700" b="1" dirty="0">
                          <a:solidFill>
                            <a:srgbClr val="1B2333"/>
                          </a:solidFill>
                          <a:latin typeface="Calibri" pitchFamily="34" charset="0"/>
                          <a:ea typeface="Calibri" pitchFamily="34" charset="-122"/>
                          <a:cs typeface="Calibri" pitchFamily="34" charset="-120"/>
                        </a:rPr>
                        <a:t>Ojek daring</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Daftar layanan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Pindah ke halaman layanan tersebut</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85800">
                <a:tc>
                  <a:txBody>
                    <a:bodyPr/>
                    <a:lstStyle/>
                    <a:p>
                      <a:pPr indent="0" marL="0">
                        <a:buNone/>
                      </a:pPr>
                      <a:r>
                        <a:rPr lang="en-US" sz="1700" b="1" dirty="0">
                          <a:solidFill>
                            <a:srgbClr val="1B2333"/>
                          </a:solidFill>
                          <a:latin typeface="Calibri" pitchFamily="34" charset="0"/>
                          <a:ea typeface="Calibri" pitchFamily="34" charset="-122"/>
                          <a:cs typeface="Calibri" pitchFamily="34" charset="-120"/>
                        </a:rPr>
                        <a:t>Galeri foto</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Kotak-kotak foto</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Foto dibuka besar; tombol kembali menuju galeri lagi</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Pola yang sama: menampilkan daftar data, lalu berpindah halaman sambil membawa data item yang diketuk.</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Class Model dan ListView.builder</a:t>
            </a:r>
            <a:endParaRPr lang="en-US" sz="4000" dirty="0"/>
          </a:p>
        </p:txBody>
      </p:sp>
      <p:sp>
        <p:nvSpPr>
          <p:cNvPr id="5" name="lingkaran daftar"/>
          <p:cNvSpPr/>
          <p:nvPr/>
        </p:nvSpPr>
        <p:spPr>
          <a:xfrm>
            <a:off x="1097280" y="2148840"/>
            <a:ext cx="2011680" cy="2011680"/>
          </a:xfrm>
          <a:prstGeom prst="ellipse">
            <a:avLst/>
          </a:prstGeom>
          <a:solidFill>
            <a:schemeClr val="accent1"/>
          </a:solidFill>
          <a:ln/>
        </p:spPr>
      </p:sp>
      <p:pic>
        <p:nvPicPr>
          <p:cNvPr id="6" name="Image 0" descr="daftar">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Menyiapkan Data: Satu Class untuk Satu Jenis Data</a:t>
            </a:r>
            <a:endParaRPr lang="en-US" sz="3200" dirty="0"/>
          </a:p>
        </p:txBody>
      </p:sp>
      <p:sp>
        <p:nvSpPr>
          <p:cNvPr id="4" name="kolom 1"/>
          <p:cNvSpPr/>
          <p:nvPr/>
        </p:nvSpPr>
        <p:spPr>
          <a:xfrm>
            <a:off x="548640" y="1371600"/>
            <a:ext cx="5387188" cy="4754880"/>
          </a:xfrm>
          <a:prstGeom prst="roundRect">
            <a:avLst>
              <a:gd name="adj" fmla="val 2308"/>
            </a:avLst>
          </a:prstGeom>
          <a:solidFill>
            <a:schemeClr val="bg2"/>
          </a:solidFill>
          <a:ln/>
        </p:spPr>
      </p:sp>
      <p:sp>
        <p:nvSpPr>
          <p:cNvPr id="5" name="lingkaran galat"/>
          <p:cNvSpPr/>
          <p:nvPr/>
        </p:nvSpPr>
        <p:spPr>
          <a:xfrm>
            <a:off x="777240" y="1600200"/>
            <a:ext cx="685800" cy="685800"/>
          </a:xfrm>
          <a:prstGeom prst="ellipse">
            <a:avLst/>
          </a:prstGeom>
          <a:solidFill>
            <a:schemeClr val="accent5"/>
          </a:solidFill>
          <a:ln/>
        </p:spPr>
      </p:sp>
      <p:pic>
        <p:nvPicPr>
          <p:cNvPr id="6" name="Image 0" descr="galat">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Beberapa list terpisah</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5"/>
                </a:solidFill>
              </a:rPr>
              <a:t>Rawan tertukar</a:t>
            </a:r>
            <a:endParaRPr lang="en-US" sz="1400" dirty="0"/>
          </a:p>
        </p:txBody>
      </p:sp>
      <p:sp>
        <p:nvSpPr>
          <p:cNvPr id="9" name="daftar poin"/>
          <p:cNvSpPr txBox="1"/>
          <p:nvPr/>
        </p:nvSpPr>
        <p:spPr>
          <a:xfrm>
            <a:off x="777240" y="2926080"/>
            <a:ext cx="4929988" cy="2112264"/>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Empat list harus selalu sejajar</a:t>
            </a:r>
            <a:endParaRPr lang="en-US" sz="1600" dirty="0"/>
          </a:p>
          <a:p>
            <a:pPr marL="228600" indent="-228600">
              <a:spcAft>
                <a:spcPts val="800"/>
              </a:spcAft>
              <a:buSzPct val="100000"/>
              <a:buChar char="•"/>
            </a:pPr>
            <a:r>
              <a:rPr lang="en-US" sz="1600" dirty="0">
                <a:solidFill>
                  <a:schemeClr val="tx1"/>
                </a:solidFill>
              </a:rPr>
              <a:t>Hapus satu judul tetapi lupa penulisnya → data bergeser</a:t>
            </a:r>
            <a:endParaRPr lang="en-US" sz="1600" dirty="0"/>
          </a:p>
          <a:p>
            <a:pPr marL="228600" indent="-228600">
              <a:spcAft>
                <a:spcPts val="800"/>
              </a:spcAft>
              <a:buSzPct val="100000"/>
              <a:buChar char="•"/>
            </a:pPr>
            <a:r>
              <a:rPr lang="en-US" sz="1600" dirty="0">
                <a:solidFill>
                  <a:schemeClr val="tx1"/>
                </a:solidFill>
              </a:rPr>
              <a:t>Makin banyak keterangan, makin besar peluang salah</a:t>
            </a:r>
            <a:endParaRPr lang="en-US" sz="1600" dirty="0"/>
          </a:p>
        </p:txBody>
      </p:sp>
      <p:sp>
        <p:nvSpPr>
          <p:cNvPr id="10" name="kotak kode"/>
          <p:cNvSpPr txBox="1"/>
          <p:nvPr/>
        </p:nvSpPr>
        <p:spPr>
          <a:xfrm>
            <a:off x="731520" y="4992624"/>
            <a:ext cx="5021428" cy="950976"/>
          </a:xfrm>
          <a:prstGeom prst="roundRect">
            <a:avLst>
              <a:gd name="adj" fmla="val 9615"/>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&gt; judul = [...];</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&gt; penulis = [...];</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&gt; tahun = [...];</a:t>
            </a:r>
            <a:endParaRPr lang="en-US" sz="1200" dirty="0"/>
          </a:p>
        </p:txBody>
      </p:sp>
      <p:sp>
        <p:nvSpPr>
          <p:cNvPr id="11" name="kolom 2"/>
          <p:cNvSpPr/>
          <p:nvPr/>
        </p:nvSpPr>
        <p:spPr>
          <a:xfrm>
            <a:off x="6255868" y="1371600"/>
            <a:ext cx="5387188" cy="4754880"/>
          </a:xfrm>
          <a:prstGeom prst="roundRect">
            <a:avLst>
              <a:gd name="adj" fmla="val 2308"/>
            </a:avLst>
          </a:prstGeom>
          <a:solidFill>
            <a:srgbClr val="E3F2FD"/>
          </a:solidFill>
          <a:ln w="25400">
            <a:solidFill>
              <a:schemeClr val="accent1"/>
            </a:solidFill>
            <a:prstDash val="solid"/>
          </a:ln>
        </p:spPr>
      </p:sp>
      <p:sp>
        <p:nvSpPr>
          <p:cNvPr id="12" name="lingkaran centang"/>
          <p:cNvSpPr/>
          <p:nvPr/>
        </p:nvSpPr>
        <p:spPr>
          <a:xfrm>
            <a:off x="6484468" y="1600200"/>
            <a:ext cx="685800" cy="685800"/>
          </a:xfrm>
          <a:prstGeom prst="ellipse">
            <a:avLst/>
          </a:prstGeom>
          <a:solidFill>
            <a:schemeClr val="accent4"/>
          </a:solidFill>
          <a:ln/>
        </p:spPr>
      </p:sp>
      <p:pic>
        <p:nvPicPr>
          <p:cNvPr id="13" name="Image 1" descr="centang">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Class model + satu List</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Satu buku = satu paket utuh</a:t>
            </a:r>
            <a:endParaRPr lang="en-US" sz="1400" dirty="0"/>
          </a:p>
        </p:txBody>
      </p:sp>
      <p:sp>
        <p:nvSpPr>
          <p:cNvPr id="16" name="daftar poin"/>
          <p:cNvSpPr txBox="1"/>
          <p:nvPr/>
        </p:nvSpPr>
        <p:spPr>
          <a:xfrm>
            <a:off x="6484468" y="2926080"/>
            <a:ext cx="4929988" cy="1453896"/>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Semua keterangan buku dibungkus satu class</a:t>
            </a:r>
            <a:endParaRPr lang="en-US" sz="1600" dirty="0"/>
          </a:p>
          <a:p>
            <a:pPr marL="228600" indent="-228600">
              <a:spcAft>
                <a:spcPts val="800"/>
              </a:spcAft>
              <a:buSzPct val="100000"/>
              <a:buChar char="•"/>
            </a:pPr>
            <a:r>
              <a:rPr lang="en-US" sz="1600" dirty="0">
                <a:solidFill>
                  <a:schemeClr val="tx1"/>
                </a:solidFill>
              </a:rPr>
              <a:t>Properti final, constructor const</a:t>
            </a:r>
            <a:endParaRPr lang="en-US" sz="1600" dirty="0"/>
          </a:p>
          <a:p>
            <a:pPr marL="228600" indent="-228600">
              <a:spcAft>
                <a:spcPts val="800"/>
              </a:spcAft>
              <a:buSzPct val="100000"/>
              <a:buChar char="•"/>
            </a:pPr>
            <a:r>
              <a:rPr lang="en-US" sz="1600" dirty="0">
                <a:solidFill>
                  <a:schemeClr val="tx1"/>
                </a:solidFill>
              </a:rPr>
              <a:t>Menghapus buku = menghapus semua keterangannya</a:t>
            </a:r>
            <a:endParaRPr lang="en-US" sz="1600" dirty="0"/>
          </a:p>
        </p:txBody>
      </p:sp>
      <p:sp>
        <p:nvSpPr>
          <p:cNvPr id="17" name="kotak kode"/>
          <p:cNvSpPr txBox="1"/>
          <p:nvPr/>
        </p:nvSpPr>
        <p:spPr>
          <a:xfrm>
            <a:off x="6438748" y="4334256"/>
            <a:ext cx="5021428" cy="1609344"/>
          </a:xfrm>
          <a:prstGeom prst="roundRect">
            <a:avLst>
              <a:gd name="adj" fmla="val 5682"/>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class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Buku</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judul;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penulis;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 tahun, tersedia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Buku</a:t>
            </a:r>
            <a:r>
              <a:rPr lang="en-US" sz="1200" dirty="0">
                <a:solidFill>
                  <a:srgbClr val="E6EDF3"/>
                </a:solidFill>
                <a:latin typeface="Consolas" pitchFamily="34" charset="0"/>
                <a:ea typeface="Consolas" pitchFamily="34" charset="-122"/>
                <a:cs typeface="Consolas" pitchFamily="34" charset="-120"/>
              </a:rPr>
              <a:t>&gt; daftarBuku = [...];</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ListView.builder: Bangun Hanya yang Terlihat</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1.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875788"/>
          </a:xfrm>
          <a:prstGeom prst="roundRect">
            <a:avLst>
              <a:gd name="adj" fmla="val 3180"/>
            </a:avLst>
          </a:prstGeom>
          <a:solidFill>
            <a:srgbClr val="0E1A2B"/>
          </a:solidFill>
          <a:ln/>
        </p:spPr>
        <p:txBody>
          <a:bodyPr wrap="square" lIns="177800" tIns="152400" rIns="152400" bIns="177800" rtlCol="0" anchor="t"/>
          <a:lstStyle/>
          <a:p>
            <a:pPr indent="0" marL="0">
              <a:lnSpc>
                <a:spcPct val="105000"/>
              </a:lnSpc>
              <a:buNone/>
            </a:pPr>
            <a:r>
              <a:rPr lang="en-US" sz="1400" dirty="0">
                <a:solidFill>
                  <a:srgbClr val="FFCB6B"/>
                </a:solidFill>
                <a:latin typeface="Consolas" pitchFamily="34" charset="0"/>
                <a:ea typeface="Consolas" pitchFamily="34" charset="-122"/>
                <a:cs typeface="Consolas" pitchFamily="34" charset="-120"/>
              </a:rPr>
              <a:t>ListView</a:t>
            </a:r>
            <a:r>
              <a:rPr lang="en-US" sz="1400" dirty="0">
                <a:solidFill>
                  <a:srgbClr val="E6EDF3"/>
                </a:solidFill>
                <a:latin typeface="Consolas" pitchFamily="34" charset="0"/>
                <a:ea typeface="Consolas" pitchFamily="34" charset="-122"/>
                <a:cs typeface="Consolas" pitchFamily="34" charset="-120"/>
              </a:rPr>
              <a:t>.builder(</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i="1" dirty="0">
                <a:solidFill>
                  <a:srgbClr val="8FA3BC"/>
                </a:solidFill>
                <a:latin typeface="Consolas" pitchFamily="34" charset="0"/>
                <a:ea typeface="Consolas" pitchFamily="34" charset="-122"/>
                <a:cs typeface="Consolas" pitchFamily="34" charset="-120"/>
              </a:rPr>
              <a:t>// berapa banyak baris seluruhnya</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itemCount: </a:t>
            </a:r>
            <a:r>
              <a:rPr lang="en-US" sz="1400" dirty="0">
                <a:solidFill>
                  <a:srgbClr val="F78C6C"/>
                </a:solidFill>
                <a:latin typeface="Consolas" pitchFamily="34" charset="0"/>
                <a:ea typeface="Consolas" pitchFamily="34" charset="-122"/>
                <a:cs typeface="Consolas" pitchFamily="34" charset="-120"/>
              </a:rPr>
              <a:t>1000</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i="1" dirty="0">
                <a:solidFill>
                  <a:srgbClr val="8FA3BC"/>
                </a:solidFill>
                <a:latin typeface="Consolas" pitchFamily="34" charset="0"/>
                <a:ea typeface="Consolas" pitchFamily="34" charset="-122"/>
                <a:cs typeface="Consolas" pitchFamily="34" charset="-120"/>
              </a:rPr>
              <a:t>// resep untuk membuat SATU baris</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itemBuilder: (</a:t>
            </a:r>
            <a:r>
              <a:rPr lang="en-US" sz="1400" dirty="0">
                <a:solidFill>
                  <a:srgbClr val="FFCB6B"/>
                </a:solidFill>
                <a:latin typeface="Consolas" pitchFamily="34" charset="0"/>
                <a:ea typeface="Consolas" pitchFamily="34" charset="-122"/>
                <a:cs typeface="Consolas" pitchFamily="34" charset="-120"/>
              </a:rPr>
              <a:t>BuildContext</a:t>
            </a:r>
            <a:r>
              <a:rPr lang="en-US" sz="1400" dirty="0">
                <a:solidFill>
                  <a:srgbClr val="E6EDF3"/>
                </a:solidFill>
                <a:latin typeface="Consolas" pitchFamily="34" charset="0"/>
                <a:ea typeface="Consolas" pitchFamily="34" charset="-122"/>
                <a:cs typeface="Consolas" pitchFamily="34" charset="-120"/>
              </a:rPr>
              <a:t> context, </a:t>
            </a:r>
            <a:r>
              <a:rPr lang="en-US" sz="1400" dirty="0">
                <a:solidFill>
                  <a:srgbClr val="FFCB6B"/>
                </a:solidFill>
                <a:latin typeface="Consolas" pitchFamily="34" charset="0"/>
                <a:ea typeface="Consolas" pitchFamily="34" charset="-122"/>
                <a:cs typeface="Consolas" pitchFamily="34" charset="-120"/>
              </a:rPr>
              <a:t>int</a:t>
            </a:r>
            <a:r>
              <a:rPr lang="en-US" sz="1400" dirty="0">
                <a:solidFill>
                  <a:srgbClr val="E6EDF3"/>
                </a:solidFill>
                <a:latin typeface="Consolas" pitchFamily="34" charset="0"/>
                <a:ea typeface="Consolas" pitchFamily="34" charset="-122"/>
                <a:cs typeface="Consolas" pitchFamily="34" charset="-120"/>
              </a:rPr>
              <a:t> index)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final</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int</a:t>
            </a:r>
            <a:r>
              <a:rPr lang="en-US" sz="1400" dirty="0">
                <a:solidFill>
                  <a:srgbClr val="E6EDF3"/>
                </a:solidFill>
                <a:latin typeface="Consolas" pitchFamily="34" charset="0"/>
                <a:ea typeface="Consolas" pitchFamily="34" charset="-122"/>
                <a:cs typeface="Consolas" pitchFamily="34" charset="-120"/>
              </a:rPr>
              <a:t> nomor = index + </a:t>
            </a:r>
            <a:r>
              <a:rPr lang="en-US" sz="1400" dirty="0">
                <a:solidFill>
                  <a:srgbClr val="F78C6C"/>
                </a:solidFill>
                <a:latin typeface="Consolas" pitchFamily="34" charset="0"/>
                <a:ea typeface="Consolas" pitchFamily="34" charset="-122"/>
                <a:cs typeface="Consolas" pitchFamily="34" charset="-120"/>
              </a:rPr>
              <a:t>1</a:t>
            </a:r>
            <a:r>
              <a:rPr lang="en-US" sz="1400" dirty="0">
                <a:solidFill>
                  <a:srgbClr val="E6EDF3"/>
                </a:solidFill>
                <a:latin typeface="Consolas" pitchFamily="34" charset="0"/>
                <a:ea typeface="Consolas" pitchFamily="34" charset="-122"/>
                <a:cs typeface="Consolas" pitchFamily="34" charset="-120"/>
              </a:rPr>
              <a:t>; </a:t>
            </a:r>
            <a:r>
              <a:rPr lang="en-US" sz="1400" i="1" dirty="0">
                <a:solidFill>
                  <a:srgbClr val="8FA3BC"/>
                </a:solidFill>
                <a:latin typeface="Consolas" pitchFamily="34" charset="0"/>
                <a:ea typeface="Consolas" pitchFamily="34" charset="-122"/>
                <a:cs typeface="Consolas" pitchFamily="34" charset="-120"/>
              </a:rPr>
              <a:t>// index mulai 0</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return</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ListTile</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title: </a:t>
            </a:r>
            <a:r>
              <a:rPr lang="en-US" sz="1400" dirty="0">
                <a:solidFill>
                  <a:srgbClr val="FFCB6B"/>
                </a:solidFill>
                <a:latin typeface="Consolas" pitchFamily="34" charset="0"/>
                <a:ea typeface="Consolas" pitchFamily="34" charset="-122"/>
                <a:cs typeface="Consolas" pitchFamily="34" charset="-120"/>
              </a:rPr>
              <a:t>Text</a:t>
            </a:r>
            <a:r>
              <a:rPr lang="en-US" sz="1400" dirty="0">
                <a:solidFill>
                  <a:srgbClr val="E6EDF3"/>
                </a:solidFill>
                <a:latin typeface="Consolas" pitchFamily="34" charset="0"/>
                <a:ea typeface="Consolas" pitchFamily="34" charset="-122"/>
                <a:cs typeface="Consolas" pitchFamily="34" charset="-120"/>
              </a:rPr>
              <a:t>(</a:t>
            </a:r>
            <a:r>
              <a:rPr lang="en-US" sz="1400" dirty="0">
                <a:solidFill>
                  <a:srgbClr val="C3E88D"/>
                </a:solidFill>
                <a:latin typeface="Consolas" pitchFamily="34" charset="0"/>
                <a:ea typeface="Consolas" pitchFamily="34" charset="-122"/>
                <a:cs typeface="Consolas" pitchFamily="34" charset="-120"/>
              </a:rPr>
              <a:t>'Nomor antrean $nomor'</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7" name="tombol tautan">
            <a:hlinkClick r:id="rId2" tooltip="https://github.com/antonprafanto/mobile2026/blob/main/pertemuan_06_daftar_dan_navigasi/kode/contoh_01_listview_builder.dart"/>
          </p:cNvPr>
          <p:cNvSpPr txBox="1"/>
          <p:nvPr/>
        </p:nvSpPr>
        <p:spPr>
          <a:xfrm>
            <a:off x="548640" y="4430268"/>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contoh_01_listview_builder.dart</a:t>
            </a:r>
            <a:endParaRPr lang="en-US" sz="1300" dirty="0"/>
          </a:p>
        </p:txBody>
      </p:sp>
      <p:pic>
        <p:nvPicPr>
          <p:cNvPr id="8" name="Image 1" descr="ikon tautan">
            <a:hlinkClick r:id="rId4" tooltip="https://github.com/antonprafanto/mobile2026/blob/main/pertemuan_06_daftar_dan_navigasi/kode/contoh_01_listview_builder.dart"/>
          </p:cNvPr>
          <p:cNvPicPr>
            <a:picLocks noChangeAspect="1"/>
          </p:cNvPicPr>
          <p:nvPr/>
        </p:nvPicPr>
        <p:blipFill>
          <a:blip r:embed="rId3"/>
          <a:stretch>
            <a:fillRect/>
          </a:stretch>
        </p:blipFill>
        <p:spPr>
          <a:xfrm>
            <a:off x="694944" y="4521708"/>
            <a:ext cx="274320" cy="274320"/>
          </a:xfrm>
          <a:prstGeom prst="rect">
            <a:avLst/>
          </a:prstGeom>
        </p:spPr>
      </p:pic>
      <p:sp>
        <p:nvSpPr>
          <p:cNvPr id="9" name="daftar poin"/>
          <p:cNvSpPr txBox="1"/>
          <p:nvPr/>
        </p:nvSpPr>
        <p:spPr>
          <a:xfrm>
            <a:off x="548640" y="5161788"/>
            <a:ext cx="7608319" cy="105613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Seperti juru masak warung: memasak sesuai pesanan, bukan seribu porsi sekaligus.</a:t>
            </a:r>
            <a:endParaRPr lang="en-US" sz="1600" dirty="0"/>
          </a:p>
          <a:p>
            <a:pPr marL="228600" indent="-228600">
              <a:spcAft>
                <a:spcPts val="800"/>
              </a:spcAft>
              <a:buSzPct val="100000"/>
              <a:buChar char="•"/>
            </a:pPr>
            <a:r>
              <a:rPr lang="en-US" sz="1600" dirty="0">
                <a:solidFill>
                  <a:schemeClr val="tx1"/>
                </a:solidFill>
              </a:rPr>
              <a:t>Saat dibuka, konsol hanya mencatat belasan baris pertama (yang terlihat + cadangan ±250 piksel).</a:t>
            </a:r>
            <a:endParaRPr lang="en-US" sz="1600" dirty="0"/>
          </a:p>
          <a:p>
            <a:pPr marL="228600" indent="-228600">
              <a:spcAft>
                <a:spcPts val="800"/>
              </a:spcAft>
              <a:buSzPct val="100000"/>
              <a:buChar char="•"/>
            </a:pPr>
            <a:r>
              <a:rPr lang="en-US" sz="1600" dirty="0">
                <a:solidFill>
                  <a:schemeClr val="tx1"/>
                </a:solidFill>
              </a:rPr>
              <a:t>Jangan simpan data penting di widget baris: baris bisa dibuang lalu dibuat ulang.</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ListView.separated dan Widget Satu Baris</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2.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3115818"/>
          </a:xfrm>
          <a:prstGeom prst="roundRect">
            <a:avLst>
              <a:gd name="adj" fmla="val 293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ListView</a:t>
            </a:r>
            <a:r>
              <a:rPr lang="en-US" sz="1300" dirty="0">
                <a:solidFill>
                  <a:srgbClr val="E6EDF3"/>
                </a:solidFill>
                <a:latin typeface="Consolas" pitchFamily="34" charset="0"/>
                <a:ea typeface="Consolas" pitchFamily="34" charset="-122"/>
                <a:cs typeface="Consolas" pitchFamily="34" charset="-120"/>
              </a:rPr>
              <a:t>.separated(</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itemCount: daftarBuku.length,</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separatorBuilder: (context, index) =&gt;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const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Divider</a:t>
            </a:r>
            <a:r>
              <a:rPr lang="en-US" sz="1300" dirty="0">
                <a:solidFill>
                  <a:srgbClr val="E6EDF3"/>
                </a:solidFill>
                <a:latin typeface="Consolas" pitchFamily="34" charset="0"/>
                <a:ea typeface="Consolas" pitchFamily="34" charset="-122"/>
                <a:cs typeface="Consolas" pitchFamily="34" charset="-120"/>
              </a:rPr>
              <a:t>(height: </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itemBuilder: (context, index)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return</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BarisBuku</a:t>
            </a:r>
            <a:r>
              <a:rPr lang="en-US" sz="1300" dirty="0">
                <a:solidFill>
                  <a:srgbClr val="E6EDF3"/>
                </a:solidFill>
                <a:latin typeface="Consolas" pitchFamily="34" charset="0"/>
                <a:ea typeface="Consolas" pitchFamily="34" charset="-122"/>
                <a:cs typeface="Consolas" pitchFamily="34" charset="-120"/>
              </a:rPr>
              <a:t>(buku: daftarBuku[index]);</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di dalam BarisBuku: data menentukan tampilan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trailing: </a:t>
            </a:r>
            <a:r>
              <a:rPr lang="en-US" sz="1300" dirty="0">
                <a:solidFill>
                  <a:srgbClr val="FFCB6B"/>
                </a:solidFill>
                <a:latin typeface="Consolas" pitchFamily="34" charset="0"/>
                <a:ea typeface="Consolas" pitchFamily="34" charset="-122"/>
                <a:cs typeface="Consolas" pitchFamily="34" charset="-120"/>
              </a:rPr>
              <a:t>Text</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buku.tersedia ? </a:t>
            </a:r>
            <a:r>
              <a:rPr lang="en-US" sz="1300" dirty="0">
                <a:solidFill>
                  <a:srgbClr val="C3E88D"/>
                </a:solidFill>
                <a:latin typeface="Consolas" pitchFamily="34" charset="0"/>
                <a:ea typeface="Consolas" pitchFamily="34" charset="-122"/>
                <a:cs typeface="Consolas" pitchFamily="34" charset="-120"/>
              </a:rPr>
              <a:t>'Tersedia'</a:t>
            </a: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C3E88D"/>
                </a:solidFill>
                <a:latin typeface="Consolas" pitchFamily="34" charset="0"/>
                <a:ea typeface="Consolas" pitchFamily="34" charset="-122"/>
                <a:cs typeface="Consolas" pitchFamily="34" charset="-120"/>
              </a:rPr>
              <a:t>'Dipinjam'</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7" name="tombol tautan">
            <a:hlinkClick r:id="rId2" tooltip="https://github.com/antonprafanto/mobile2026/blob/main/pertemuan_06_daftar_dan_navigasi/kode/contoh_02_model_dan_listview_separated.dart"/>
          </p:cNvPr>
          <p:cNvSpPr txBox="1"/>
          <p:nvPr/>
        </p:nvSpPr>
        <p:spPr>
          <a:xfrm>
            <a:off x="548640" y="4670298"/>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contoh_02_model_dan_listview_separated.dart</a:t>
            </a:r>
            <a:endParaRPr lang="en-US" sz="1300" dirty="0"/>
          </a:p>
        </p:txBody>
      </p:sp>
      <p:pic>
        <p:nvPicPr>
          <p:cNvPr id="8" name="Image 1" descr="ikon tautan">
            <a:hlinkClick r:id="rId4" tooltip="https://github.com/antonprafanto/mobile2026/blob/main/pertemuan_06_daftar_dan_navigasi/kode/contoh_02_model_dan_listview_separated.dart"/>
          </p:cNvPr>
          <p:cNvPicPr>
            <a:picLocks noChangeAspect="1"/>
          </p:cNvPicPr>
          <p:nvPr/>
        </p:nvPicPr>
        <p:blipFill>
          <a:blip r:embed="rId3"/>
          <a:stretch>
            <a:fillRect/>
          </a:stretch>
        </p:blipFill>
        <p:spPr>
          <a:xfrm>
            <a:off x="694944" y="4761738"/>
            <a:ext cx="274320" cy="274320"/>
          </a:xfrm>
          <a:prstGeom prst="rect">
            <a:avLst/>
          </a:prstGeom>
        </p:spPr>
      </p:pic>
      <p:sp>
        <p:nvSpPr>
          <p:cNvPr id="9" name="daftar poin"/>
          <p:cNvSpPr txBox="1"/>
          <p:nvPr/>
        </p:nvSpPr>
        <p:spPr>
          <a:xfrm>
            <a:off x="548640" y="5401818"/>
            <a:ext cx="7608319" cy="81610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7 buku → 6 garis pemisah (hanya di antara baris).</a:t>
            </a:r>
            <a:endParaRPr lang="en-US" sz="1600" dirty="0"/>
          </a:p>
          <a:p>
            <a:pPr marL="228600" indent="-228600">
              <a:spcAft>
                <a:spcPts val="800"/>
              </a:spcAft>
              <a:buSzPct val="100000"/>
              <a:buChar char="•"/>
            </a:pPr>
            <a:r>
              <a:rPr lang="en-US" sz="1600" dirty="0">
                <a:solidFill>
                  <a:schemeClr val="tx1"/>
                </a:solidFill>
              </a:rPr>
              <a:t>Satu aturan untuk semua baris, bukan tujuh ListTile yang ditulis satu per satu.</a:t>
            </a:r>
            <a:endParaRPr lang="en-US" sz="1600" dirty="0"/>
          </a:p>
          <a:p>
            <a:pPr marL="228600" indent="-228600">
              <a:spcAft>
                <a:spcPts val="800"/>
              </a:spcAft>
              <a:buSzPct val="100000"/>
              <a:buChar char="•"/>
            </a:pPr>
            <a:r>
              <a:rPr lang="en-US" sz="1600" dirty="0">
                <a:solidFill>
                  <a:schemeClr val="tx1"/>
                </a:solidFill>
              </a:rPr>
              <a:t>Judul 'Rak Buku (7 judul)' diambil dari daftarBuku.length.</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2</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GridView dan Daftar di Dalam Column</a:t>
            </a:r>
            <a:endParaRPr lang="en-US" sz="4000" dirty="0"/>
          </a:p>
        </p:txBody>
      </p:sp>
      <p:sp>
        <p:nvSpPr>
          <p:cNvPr id="5" name="lingkaran grid"/>
          <p:cNvSpPr/>
          <p:nvPr/>
        </p:nvSpPr>
        <p:spPr>
          <a:xfrm>
            <a:off x="1097280" y="2148840"/>
            <a:ext cx="2011680" cy="2011680"/>
          </a:xfrm>
          <a:prstGeom prst="ellipse">
            <a:avLst/>
          </a:prstGeom>
          <a:solidFill>
            <a:schemeClr val="accent1"/>
          </a:solidFill>
          <a:ln/>
        </p:spPr>
      </p:sp>
      <p:pic>
        <p:nvPicPr>
          <p:cNvPr id="6" name="Image 0" descr="grid">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GridView: Daftar Berbentuk Kotak</a:t>
            </a:r>
            <a:endParaRPr lang="en-US" sz="3200" dirty="0"/>
          </a:p>
        </p:txBody>
      </p:sp>
      <p:sp>
        <p:nvSpPr>
          <p:cNvPr id="4" name="bingkai layar 1"/>
          <p:cNvSpPr/>
          <p:nvPr/>
        </p:nvSpPr>
        <p:spPr>
          <a:xfrm>
            <a:off x="6284671" y="1316736"/>
            <a:ext cx="1719233" cy="2612096"/>
          </a:xfrm>
          <a:prstGeom prst="roundRect">
            <a:avLst>
              <a:gd name="adj" fmla="val 5319"/>
            </a:avLst>
          </a:prstGeom>
          <a:solidFill>
            <a:srgbClr val="FFFFFF"/>
          </a:solidFill>
          <a:ln w="12700">
            <a:solidFill>
              <a:srgbClr val="C9D3E0"/>
            </a:solidFill>
            <a:prstDash val="solid"/>
          </a:ln>
        </p:spPr>
      </p:sp>
      <p:pic>
        <p:nvPicPr>
          <p:cNvPr id="5" name="layar 1" descr="Tangkapan layar aplikasi (hasil_contoh_03a.jpg)">    </p:cNvPr>
          <p:cNvPicPr>
            <a:picLocks noChangeAspect="1"/>
          </p:cNvPicPr>
          <p:nvPr/>
        </p:nvPicPr>
        <p:blipFill>
          <a:blip r:embed="rId1"/>
          <a:stretch>
            <a:fillRect/>
          </a:stretch>
        </p:blipFill>
        <p:spPr>
          <a:xfrm>
            <a:off x="6339535" y="1371600"/>
            <a:ext cx="1609505" cy="2502368"/>
          </a:xfrm>
          <a:prstGeom prst="rect">
            <a:avLst/>
          </a:prstGeom>
        </p:spPr>
      </p:pic>
      <p:sp>
        <p:nvSpPr>
          <p:cNvPr id="6" name="bingkai layar 2"/>
          <p:cNvSpPr/>
          <p:nvPr/>
        </p:nvSpPr>
        <p:spPr>
          <a:xfrm>
            <a:off x="8168496" y="1316736"/>
            <a:ext cx="3529423" cy="2612096"/>
          </a:xfrm>
          <a:prstGeom prst="roundRect">
            <a:avLst>
              <a:gd name="adj" fmla="val 3501"/>
            </a:avLst>
          </a:prstGeom>
          <a:solidFill>
            <a:srgbClr val="FFFFFF"/>
          </a:solidFill>
          <a:ln w="12700">
            <a:solidFill>
              <a:srgbClr val="C9D3E0"/>
            </a:solidFill>
            <a:prstDash val="solid"/>
          </a:ln>
        </p:spPr>
      </p:sp>
      <p:pic>
        <p:nvPicPr>
          <p:cNvPr id="7" name="layar 2" descr="Tangkapan layar aplikasi (hasil_contoh_03b.jpg)">    </p:cNvPr>
          <p:cNvPicPr>
            <a:picLocks noChangeAspect="1"/>
          </p:cNvPicPr>
          <p:nvPr/>
        </p:nvPicPr>
        <p:blipFill>
          <a:blip r:embed="rId2"/>
          <a:stretch>
            <a:fillRect/>
          </a:stretch>
        </p:blipFill>
        <p:spPr>
          <a:xfrm>
            <a:off x="8223360" y="1371600"/>
            <a:ext cx="3419695" cy="2502368"/>
          </a:xfrm>
          <a:prstGeom prst="rect">
            <a:avLst/>
          </a:prstGeom>
        </p:spPr>
      </p:pic>
      <p:sp>
        <p:nvSpPr>
          <p:cNvPr id="8" name="kotak kode"/>
          <p:cNvSpPr txBox="1"/>
          <p:nvPr/>
        </p:nvSpPr>
        <p:spPr>
          <a:xfrm>
            <a:off x="548640" y="1371600"/>
            <a:ext cx="5333695" cy="2715768"/>
          </a:xfrm>
          <a:prstGeom prst="roundRect">
            <a:avLst>
              <a:gd name="adj" fmla="val 3367"/>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GridView</a:t>
            </a:r>
            <a:r>
              <a:rPr lang="en-US" sz="1200" dirty="0">
                <a:solidFill>
                  <a:srgbClr val="E6EDF3"/>
                </a:solidFill>
                <a:latin typeface="Consolas" pitchFamily="34" charset="0"/>
                <a:ea typeface="Consolas" pitchFamily="34" charset="-122"/>
                <a:cs typeface="Consolas" pitchFamily="34" charset="-120"/>
              </a:rPr>
              <a:t>.builder(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padding: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EdgeInsets</a:t>
            </a:r>
            <a:r>
              <a:rPr lang="en-US" sz="1200" dirty="0">
                <a:solidFill>
                  <a:srgbClr val="E6EDF3"/>
                </a:solidFill>
                <a:latin typeface="Consolas" pitchFamily="34" charset="0"/>
                <a:ea typeface="Consolas" pitchFamily="34" charset="-122"/>
                <a:cs typeface="Consolas" pitchFamily="34" charset="-120"/>
              </a:rPr>
              <a:t>.all(</a:t>
            </a:r>
            <a:r>
              <a:rPr lang="en-US" sz="1200" dirty="0">
                <a:solidFill>
                  <a:srgbClr val="F78C6C"/>
                </a:solidFill>
                <a:latin typeface="Consolas" pitchFamily="34" charset="0"/>
                <a:ea typeface="Consolas" pitchFamily="34" charset="-122"/>
                <a:cs typeface="Consolas" pitchFamily="34" charset="-120"/>
              </a:rPr>
              <a:t>16</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gridDelegate: </a:t>
            </a:r>
            <a:r>
              <a:rPr lang="en-US" sz="1200" dirty="0">
                <a:solidFill>
                  <a:srgbClr val="C792EA"/>
                </a:solidFill>
                <a:latin typeface="Consolas" pitchFamily="34" charset="0"/>
                <a:ea typeface="Consolas" pitchFamily="34" charset="-122"/>
                <a:cs typeface="Consolas" pitchFamily="34" charset="-120"/>
              </a:rPr>
              <a:t>const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SliverGridDelegateWithMaxCrossAxisExtent</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maxCrossAxisExtent: </a:t>
            </a:r>
            <a:r>
              <a:rPr lang="en-US" sz="1200" dirty="0">
                <a:solidFill>
                  <a:srgbClr val="F78C6C"/>
                </a:solidFill>
                <a:latin typeface="Consolas" pitchFamily="34" charset="0"/>
                <a:ea typeface="Consolas" pitchFamily="34" charset="-122"/>
                <a:cs typeface="Consolas" pitchFamily="34" charset="-120"/>
              </a:rPr>
              <a:t>180</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lebar maks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mainAxisExtent: </a:t>
            </a:r>
            <a:r>
              <a:rPr lang="en-US" sz="1200" dirty="0">
                <a:solidFill>
                  <a:srgbClr val="F78C6C"/>
                </a:solidFill>
                <a:latin typeface="Consolas" pitchFamily="34" charset="0"/>
                <a:ea typeface="Consolas" pitchFamily="34" charset="-122"/>
                <a:cs typeface="Consolas" pitchFamily="34" charset="-120"/>
              </a:rPr>
              <a:t>160</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tinggi tetap</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mainAxisSpacing: </a:t>
            </a:r>
            <a:r>
              <a:rPr lang="en-US" sz="1200" dirty="0">
                <a:solidFill>
                  <a:srgbClr val="F78C6C"/>
                </a:solidFill>
                <a:latin typeface="Consolas" pitchFamily="34" charset="0"/>
                <a:ea typeface="Consolas" pitchFamily="34" charset="-122"/>
                <a:cs typeface="Consolas" pitchFamily="34" charset="-120"/>
              </a:rPr>
              <a:t>12</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crossAxisSpacing: </a:t>
            </a:r>
            <a:r>
              <a:rPr lang="en-US" sz="1200" dirty="0">
                <a:solidFill>
                  <a:srgbClr val="F78C6C"/>
                </a:solidFill>
                <a:latin typeface="Consolas" pitchFamily="34" charset="0"/>
                <a:ea typeface="Consolas" pitchFamily="34" charset="-122"/>
                <a:cs typeface="Consolas" pitchFamily="34" charset="-120"/>
              </a:rPr>
              <a:t>12</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itemCount: daftarProduk.length,</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itemBuilder: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9" name="tombol tautan">
            <a:hlinkClick r:id="rId3" tooltip="https://github.com/antonprafanto/mobile2026/blob/main/pertemuan_06_daftar_dan_navigasi/kode/contoh_03_gridview.dart"/>
          </p:cNvPr>
          <p:cNvSpPr txBox="1"/>
          <p:nvPr/>
        </p:nvSpPr>
        <p:spPr>
          <a:xfrm>
            <a:off x="548640" y="4270248"/>
            <a:ext cx="533369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contoh_03_gridview.dart</a:t>
            </a:r>
            <a:endParaRPr lang="en-US" sz="1300" dirty="0"/>
          </a:p>
        </p:txBody>
      </p:sp>
      <p:pic>
        <p:nvPicPr>
          <p:cNvPr id="10" name="Image 2" descr="ikon tautan">
            <a:hlinkClick r:id="rId5" tooltip="https://github.com/antonprafanto/mobile2026/blob/main/pertemuan_06_daftar_dan_navigasi/kode/contoh_03_gridview.dart"/>
          </p:cNvPr>
          <p:cNvPicPr>
            <a:picLocks noChangeAspect="1"/>
          </p:cNvPicPr>
          <p:nvPr/>
        </p:nvPicPr>
        <p:blipFill>
          <a:blip r:embed="rId4"/>
          <a:stretch>
            <a:fillRect/>
          </a:stretch>
        </p:blipFill>
        <p:spPr>
          <a:xfrm>
            <a:off x="694944" y="4361688"/>
            <a:ext cx="274320" cy="274320"/>
          </a:xfrm>
          <a:prstGeom prst="rect">
            <a:avLst/>
          </a:prstGeom>
        </p:spPr>
      </p:pic>
      <p:sp>
        <p:nvSpPr>
          <p:cNvPr id="11" name="daftar poin"/>
          <p:cNvSpPr txBox="1"/>
          <p:nvPr/>
        </p:nvSpPr>
        <p:spPr>
          <a:xfrm>
            <a:off x="548640" y="5001768"/>
            <a:ext cx="5333695" cy="121615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Ponsel: 2 kolom. Layar lebar: 3 kolom atau lebih.</a:t>
            </a:r>
            <a:endParaRPr lang="en-US" sz="1500" dirty="0"/>
          </a:p>
          <a:p>
            <a:pPr marL="228600" indent="-228600">
              <a:spcAft>
                <a:spcPts val="800"/>
              </a:spcAft>
              <a:buSzPct val="100000"/>
              <a:buChar char="•"/>
            </a:pPr>
            <a:r>
              <a:rPr lang="en-US" sz="1500" dirty="0">
                <a:solidFill>
                  <a:schemeClr val="tx1"/>
                </a:solidFill>
              </a:rPr>
              <a:t>Kotak = Card + InkWell (Clip.antiAlias).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Mengatur Jumlah Kolom dan Tinggi Kotak</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kolom"/>
          <p:cNvSpPr/>
          <p:nvPr/>
        </p:nvSpPr>
        <p:spPr>
          <a:xfrm>
            <a:off x="777240" y="1600200"/>
            <a:ext cx="685800" cy="685800"/>
          </a:xfrm>
          <a:prstGeom prst="ellipse">
            <a:avLst/>
          </a:prstGeom>
          <a:solidFill>
            <a:schemeClr val="accent1"/>
          </a:solidFill>
          <a:ln/>
        </p:spPr>
      </p:sp>
      <p:pic>
        <p:nvPicPr>
          <p:cNvPr id="6" name="Image 0" descr="kolom">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Jumlah kolom</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1"/>
                </a:solidFill>
              </a:rPr>
              <a:t>Pilih MaxCrossAxisExtent</a:t>
            </a:r>
            <a:endParaRPr lang="en-US" sz="1400" dirty="0"/>
          </a:p>
        </p:txBody>
      </p:sp>
      <p:sp>
        <p:nvSpPr>
          <p:cNvPr id="9" name="daftar poin"/>
          <p:cNvSpPr txBox="1"/>
          <p:nvPr/>
        </p:nvSpPr>
        <p:spPr>
          <a:xfrm>
            <a:off x="777240"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latin typeface="Consolas" pitchFamily="34" charset="0"/>
                <a:ea typeface="Consolas" pitchFamily="34" charset="-122"/>
                <a:cs typeface="Consolas" pitchFamily="34" charset="-120"/>
              </a:rPr>
              <a:t>FixedCrossAxisCount</a:t>
            </a:r>
            <a:r>
              <a:rPr lang="en-US" sz="1600" dirty="0">
                <a:solidFill>
                  <a:schemeClr val="tx1"/>
                </a:solidFill>
              </a:rPr>
              <a:t>: kolom selalu sama; di tablet kotaknya jadi sangat lebar.</a:t>
            </a:r>
            <a:endParaRPr lang="en-US" sz="1600" dirty="0"/>
          </a:p>
          <a:p>
            <a:pPr marL="228600" indent="-228600">
              <a:spcAft>
                <a:spcPts val="800"/>
              </a:spcAft>
              <a:buSzPct val="100000"/>
              <a:buChar char="•"/>
            </a:pPr>
            <a:r>
              <a:rPr lang="en-US" sz="1600" b="1" dirty="0">
                <a:solidFill>
                  <a:schemeClr val="tx1"/>
                </a:solidFill>
                <a:latin typeface="Consolas" pitchFamily="34" charset="0"/>
                <a:ea typeface="Consolas" pitchFamily="34" charset="-122"/>
                <a:cs typeface="Consolas" pitchFamily="34" charset="-120"/>
              </a:rPr>
              <a:t>MaxCrossAxisExtent</a:t>
            </a:r>
            <a:r>
              <a:rPr lang="en-US" sz="1600" dirty="0">
                <a:solidFill>
                  <a:schemeClr val="tx1"/>
                </a:solidFill>
              </a:rPr>
              <a:t>: lebar maksimal kotak; jumlah kolom dihitung sendiri.</a:t>
            </a:r>
            <a:endParaRPr lang="en-US" sz="1600" dirty="0"/>
          </a:p>
        </p:txBody>
      </p:sp>
      <p:sp>
        <p:nvSpPr>
          <p:cNvPr id="10" name="kolom 2"/>
          <p:cNvSpPr/>
          <p:nvPr/>
        </p:nvSpPr>
        <p:spPr>
          <a:xfrm>
            <a:off x="6255868" y="1371600"/>
            <a:ext cx="5387188" cy="3931920"/>
          </a:xfrm>
          <a:prstGeom prst="roundRect">
            <a:avLst>
              <a:gd name="adj" fmla="val 2791"/>
            </a:avLst>
          </a:prstGeom>
          <a:solidFill>
            <a:srgbClr val="E3F2FD"/>
          </a:solidFill>
          <a:ln w="25400">
            <a:solidFill>
              <a:schemeClr val="accent1"/>
            </a:solidFill>
            <a:prstDash val="solid"/>
          </a:ln>
        </p:spPr>
      </p:sp>
      <p:sp>
        <p:nvSpPr>
          <p:cNvPr id="11" name="lingkaran ukur"/>
          <p:cNvSpPr/>
          <p:nvPr/>
        </p:nvSpPr>
        <p:spPr>
          <a:xfrm>
            <a:off x="6484468" y="1600200"/>
            <a:ext cx="685800" cy="685800"/>
          </a:xfrm>
          <a:prstGeom prst="ellipse">
            <a:avLst/>
          </a:prstGeom>
          <a:solidFill>
            <a:schemeClr val="accent4"/>
          </a:solidFill>
          <a:ln/>
        </p:spPr>
      </p:sp>
      <p:pic>
        <p:nvPicPr>
          <p:cNvPr id="12" name="Image 1" descr="ukur">    </p:cNvPr>
          <p:cNvPicPr>
            <a:picLocks noChangeAspect="1"/>
          </p:cNvPicPr>
          <p:nvPr/>
        </p:nvPicPr>
        <p:blipFill>
          <a:blip r:embed="rId2"/>
          <a:stretch>
            <a:fillRect/>
          </a:stretch>
        </p:blipFill>
        <p:spPr>
          <a:xfrm>
            <a:off x="6635344" y="1751076"/>
            <a:ext cx="384048" cy="384048"/>
          </a:xfrm>
          <a:prstGeom prst="rect">
            <a:avLst/>
          </a:prstGeom>
        </p:spPr>
      </p:pic>
      <p:sp>
        <p:nvSpPr>
          <p:cNvPr id="13" name="Text 8"/>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Tinggi kotak</a:t>
            </a:r>
            <a:endParaRPr lang="en-US" sz="1900" dirty="0"/>
          </a:p>
        </p:txBody>
      </p:sp>
      <p:sp>
        <p:nvSpPr>
          <p:cNvPr id="14" name="Text 9"/>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Pilih mainAxisExtent</a:t>
            </a:r>
            <a:endParaRPr lang="en-US" sz="1400" dirty="0"/>
          </a:p>
        </p:txBody>
      </p:sp>
      <p:sp>
        <p:nvSpPr>
          <p:cNvPr id="15" name="daftar poin"/>
          <p:cNvSpPr txBox="1"/>
          <p:nvPr/>
        </p:nvSpPr>
        <p:spPr>
          <a:xfrm>
            <a:off x="6484468"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latin typeface="Consolas" pitchFamily="34" charset="0"/>
                <a:ea typeface="Consolas" pitchFamily="34" charset="-122"/>
                <a:cs typeface="Consolas" pitchFamily="34" charset="-120"/>
              </a:rPr>
              <a:t>childAspectRatio</a:t>
            </a:r>
            <a:r>
              <a:rPr lang="en-US" sz="1600" dirty="0">
                <a:solidFill>
                  <a:schemeClr val="tx1"/>
                </a:solidFill>
              </a:rPr>
              <a:t>: tinggi ikut menyusut di layar sempit → teks bisa overflow.</a:t>
            </a:r>
            <a:endParaRPr lang="en-US" sz="1600" dirty="0"/>
          </a:p>
          <a:p>
            <a:pPr marL="228600" indent="-228600">
              <a:spcAft>
                <a:spcPts val="800"/>
              </a:spcAft>
              <a:buSzPct val="100000"/>
              <a:buChar char="•"/>
            </a:pPr>
            <a:r>
              <a:rPr lang="en-US" sz="1600" b="1" dirty="0">
                <a:solidFill>
                  <a:schemeClr val="tx1"/>
                </a:solidFill>
                <a:latin typeface="Consolas" pitchFamily="34" charset="0"/>
                <a:ea typeface="Consolas" pitchFamily="34" charset="-122"/>
                <a:cs typeface="Consolas" pitchFamily="34" charset="-120"/>
              </a:rPr>
              <a:t>mainAxisExtent</a:t>
            </a:r>
            <a:r>
              <a:rPr lang="en-US" sz="1600" dirty="0">
                <a:solidFill>
                  <a:schemeClr val="tx1"/>
                </a:solidFill>
              </a:rPr>
              <a:t>: tinggi tetap dalam piksel, isi kotak selalu muat.</a:t>
            </a:r>
            <a:endParaRPr lang="en-US" sz="1600" dirty="0"/>
          </a:p>
        </p:txBody>
      </p:sp>
      <p:sp>
        <p:nvSpPr>
          <p:cNvPr id="16" name="lingkaran lampu"/>
          <p:cNvSpPr/>
          <p:nvPr/>
        </p:nvSpPr>
        <p:spPr>
          <a:xfrm>
            <a:off x="548640" y="5532120"/>
            <a:ext cx="548640" cy="548640"/>
          </a:xfrm>
          <a:prstGeom prst="ellipse">
            <a:avLst/>
          </a:prstGeom>
          <a:solidFill>
            <a:schemeClr val="accent3"/>
          </a:solidFill>
          <a:ln/>
        </p:spPr>
      </p:sp>
      <p:pic>
        <p:nvPicPr>
          <p:cNvPr id="17"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18" name="Text 12"/>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Kuis: galeri foto 2 kolom di ponsel tetapi 5 kolom di monitor lebar → SliverGridDelegateWithMaxCrossAxisExtent.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Daftar di Dalam Column: Wajib Expanded</a:t>
            </a:r>
            <a:endParaRPr lang="en-US" sz="3200" dirty="0"/>
          </a:p>
        </p:txBody>
      </p:sp>
      <p:sp>
        <p:nvSpPr>
          <p:cNvPr id="4" name="bingkai layar 1"/>
          <p:cNvSpPr/>
          <p:nvPr/>
        </p:nvSpPr>
        <p:spPr>
          <a:xfrm>
            <a:off x="6467551" y="1316736"/>
            <a:ext cx="2532888" cy="3877123"/>
          </a:xfrm>
          <a:prstGeom prst="roundRect">
            <a:avLst>
              <a:gd name="adj" fmla="val 3610"/>
            </a:avLst>
          </a:prstGeom>
          <a:solidFill>
            <a:srgbClr val="FFFFFF"/>
          </a:solidFill>
          <a:ln w="12700">
            <a:solidFill>
              <a:srgbClr val="C9D3E0"/>
            </a:solidFill>
            <a:prstDash val="solid"/>
          </a:ln>
        </p:spPr>
      </p:sp>
      <p:pic>
        <p:nvPicPr>
          <p:cNvPr id="5" name="layar 1" descr="Tangkapan layar aplikasi (hasil_contoh_04_masalah.jpg)">    </p:cNvPr>
          <p:cNvPicPr>
            <a:picLocks noChangeAspect="1"/>
          </p:cNvPicPr>
          <p:nvPr/>
        </p:nvPicPr>
        <p:blipFill>
          <a:blip r:embed="rId1"/>
          <a:stretch>
            <a:fillRect/>
          </a:stretch>
        </p:blipFill>
        <p:spPr>
          <a:xfrm>
            <a:off x="6522415" y="1371600"/>
            <a:ext cx="2423160" cy="3767395"/>
          </a:xfrm>
          <a:prstGeom prst="rect">
            <a:avLst/>
          </a:prstGeom>
        </p:spPr>
      </p:pic>
      <p:sp>
        <p:nvSpPr>
          <p:cNvPr id="6" name="bingkai layar 2"/>
          <p:cNvSpPr/>
          <p:nvPr/>
        </p:nvSpPr>
        <p:spPr>
          <a:xfrm>
            <a:off x="9165031" y="1316736"/>
            <a:ext cx="2532888" cy="3877123"/>
          </a:xfrm>
          <a:prstGeom prst="roundRect">
            <a:avLst>
              <a:gd name="adj" fmla="val 3610"/>
            </a:avLst>
          </a:prstGeom>
          <a:solidFill>
            <a:srgbClr val="FFFFFF"/>
          </a:solidFill>
          <a:ln w="12700">
            <a:solidFill>
              <a:srgbClr val="C9D3E0"/>
            </a:solidFill>
            <a:prstDash val="solid"/>
          </a:ln>
        </p:spPr>
      </p:sp>
      <p:pic>
        <p:nvPicPr>
          <p:cNvPr id="7" name="layar 2" descr="Tangkapan layar aplikasi (hasil_contoh_04.jpg)">    </p:cNvPr>
          <p:cNvPicPr>
            <a:picLocks noChangeAspect="1"/>
          </p:cNvPicPr>
          <p:nvPr/>
        </p:nvPicPr>
        <p:blipFill>
          <a:blip r:embed="rId2"/>
          <a:stretch>
            <a:fillRect/>
          </a:stretch>
        </p:blipFill>
        <p:spPr>
          <a:xfrm>
            <a:off x="9219895" y="1371600"/>
            <a:ext cx="2423160" cy="3767395"/>
          </a:xfrm>
          <a:prstGeom prst="rect">
            <a:avLst/>
          </a:prstGeom>
        </p:spPr>
      </p:pic>
      <p:sp>
        <p:nvSpPr>
          <p:cNvPr id="8" name="kotak kode"/>
          <p:cNvSpPr txBox="1"/>
          <p:nvPr/>
        </p:nvSpPr>
        <p:spPr>
          <a:xfrm>
            <a:off x="548640" y="1371600"/>
            <a:ext cx="5516575" cy="2427732"/>
          </a:xfrm>
          <a:prstGeom prst="roundRect">
            <a:avLst>
              <a:gd name="adj" fmla="val 3766"/>
            </a:avLst>
          </a:prstGeom>
          <a:solidFill>
            <a:srgbClr val="0E1A2B"/>
          </a:solidFill>
          <a:ln/>
        </p:spPr>
        <p:txBody>
          <a:bodyPr wrap="square" lIns="177800" tIns="152400" rIns="152400" bIns="177800" rtlCol="0" anchor="t"/>
          <a:lstStyle/>
          <a:p>
            <a:pPr indent="0" marL="0">
              <a:lnSpc>
                <a:spcPct val="105000"/>
              </a:lnSpc>
              <a:buNone/>
            </a:pPr>
            <a:r>
              <a:rPr lang="en-US" sz="1400" dirty="0">
                <a:solidFill>
                  <a:srgbClr val="FFCB6B"/>
                </a:solidFill>
                <a:latin typeface="Consolas" pitchFamily="34" charset="0"/>
                <a:ea typeface="Consolas" pitchFamily="34" charset="-122"/>
                <a:cs typeface="Consolas" pitchFamily="34" charset="-120"/>
              </a:rPr>
              <a:t>Column</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children: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KartuRingkasan</a:t>
            </a:r>
            <a:r>
              <a:rPr lang="en-US" sz="1400" dirty="0">
                <a:solidFill>
                  <a:srgbClr val="E6EDF3"/>
                </a:solidFill>
                <a:latin typeface="Consolas" pitchFamily="34" charset="0"/>
                <a:ea typeface="Consolas" pitchFamily="34" charset="-122"/>
                <a:cs typeface="Consolas" pitchFamily="34" charset="-120"/>
              </a:rPr>
              <a:t>(...), </a:t>
            </a:r>
            <a:r>
              <a:rPr lang="en-US" sz="1400" i="1" dirty="0">
                <a:solidFill>
                  <a:srgbClr val="8FA3BC"/>
                </a:solidFill>
                <a:latin typeface="Consolas" pitchFamily="34" charset="0"/>
                <a:ea typeface="Consolas" pitchFamily="34" charset="-122"/>
                <a:cs typeface="Consolas" pitchFamily="34" charset="-120"/>
              </a:rPr>
              <a:t>// diam</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Expanded</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i="1" dirty="0">
                <a:solidFill>
                  <a:srgbClr val="8FA3BC"/>
                </a:solidFill>
                <a:latin typeface="Consolas" pitchFamily="34" charset="0"/>
                <a:ea typeface="Consolas" pitchFamily="34" charset="-122"/>
                <a:cs typeface="Consolas" pitchFamily="34" charset="-120"/>
              </a:rPr>
              <a:t>// pakai SEMUA sisa tinggi layar</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child: </a:t>
            </a:r>
            <a:r>
              <a:rPr lang="en-US" sz="1400" dirty="0">
                <a:solidFill>
                  <a:srgbClr val="FFCB6B"/>
                </a:solidFill>
                <a:latin typeface="Consolas" pitchFamily="34" charset="0"/>
                <a:ea typeface="Consolas" pitchFamily="34" charset="-122"/>
                <a:cs typeface="Consolas" pitchFamily="34" charset="-120"/>
              </a:rPr>
              <a:t>ListView</a:t>
            </a:r>
            <a:r>
              <a:rPr lang="en-US" sz="1400" dirty="0">
                <a:solidFill>
                  <a:srgbClr val="E6EDF3"/>
                </a:solidFill>
                <a:latin typeface="Consolas" pitchFamily="34" charset="0"/>
                <a:ea typeface="Consolas" pitchFamily="34" charset="-122"/>
                <a:cs typeface="Consolas" pitchFamily="34" charset="-120"/>
              </a:rPr>
              <a:t>.builder(...),</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9" name="tombol tautan">
            <a:hlinkClick r:id="rId3" tooltip="https://github.com/antonprafanto/mobile2026/blob/main/pertemuan_06_daftar_dan_navigasi/kode/contoh_04_daftar_dalam_column.dart"/>
          </p:cNvPr>
          <p:cNvSpPr txBox="1"/>
          <p:nvPr/>
        </p:nvSpPr>
        <p:spPr>
          <a:xfrm>
            <a:off x="548640" y="3982212"/>
            <a:ext cx="5516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contoh_04_daftar_dalam_column.dart</a:t>
            </a:r>
            <a:endParaRPr lang="en-US" sz="1300" dirty="0"/>
          </a:p>
        </p:txBody>
      </p:sp>
      <p:pic>
        <p:nvPicPr>
          <p:cNvPr id="10" name="Image 2" descr="ikon tautan">
            <a:hlinkClick r:id="rId5" tooltip="https://github.com/antonprafanto/mobile2026/blob/main/pertemuan_06_daftar_dan_navigasi/kode/contoh_04_daftar_dalam_column.dart"/>
          </p:cNvPr>
          <p:cNvPicPr>
            <a:picLocks noChangeAspect="1"/>
          </p:cNvPicPr>
          <p:nvPr/>
        </p:nvPicPr>
        <p:blipFill>
          <a:blip r:embed="rId4"/>
          <a:stretch>
            <a:fillRect/>
          </a:stretch>
        </p:blipFill>
        <p:spPr>
          <a:xfrm>
            <a:off x="694944" y="4073652"/>
            <a:ext cx="274320" cy="274320"/>
          </a:xfrm>
          <a:prstGeom prst="rect">
            <a:avLst/>
          </a:prstGeom>
        </p:spPr>
      </p:pic>
      <p:sp>
        <p:nvSpPr>
          <p:cNvPr id="11" name="daftar poin"/>
          <p:cNvSpPr txBox="1"/>
          <p:nvPr/>
        </p:nvSpPr>
        <p:spPr>
          <a:xfrm>
            <a:off x="548640" y="4713732"/>
            <a:ext cx="5516575" cy="1504188"/>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Tanpa Expanded (kiri): </a:t>
            </a:r>
            <a:r>
              <a:rPr lang="en-US" sz="1500" dirty="0">
                <a:solidFill>
                  <a:schemeClr val="tx1"/>
                </a:solidFill>
                <a:latin typeface="Consolas" pitchFamily="34" charset="0"/>
                <a:ea typeface="Consolas" pitchFamily="34" charset="-122"/>
                <a:cs typeface="Consolas" pitchFamily="34" charset="-120"/>
              </a:rPr>
              <a:t>Vertical viewport was given unbounded height.</a:t>
            </a:r>
            <a:endParaRPr lang="en-US" sz="1500" dirty="0"/>
          </a:p>
          <a:p>
            <a:pPr marL="228600" indent="-228600">
              <a:spcAft>
                <a:spcPts val="800"/>
              </a:spcAft>
              <a:buSzPct val="100000"/>
              <a:buChar char="•"/>
            </a:pPr>
            <a:r>
              <a:rPr lang="en-US" sz="1500" dirty="0">
                <a:solidFill>
                  <a:schemeClr val="tx1"/>
                </a:solidFill>
              </a:rPr>
              <a:t>Column berkata "setinggi apa pun boleh", ListView ingin setinggi mungkin → tinggi tak hingga.</a:t>
            </a:r>
            <a:endParaRPr lang="en-US" sz="1500" dirty="0"/>
          </a:p>
          <a:p>
            <a:pPr marL="228600" indent="-228600">
              <a:spcAft>
                <a:spcPts val="800"/>
              </a:spcAft>
              <a:buSzPct val="100000"/>
              <a:buChar char="•"/>
            </a:pPr>
            <a:r>
              <a:rPr lang="en-US" sz="1500" dirty="0">
                <a:solidFill>
                  <a:schemeClr val="tx1"/>
                </a:solidFill>
              </a:rPr>
              <a:t>Seperti memesan lemari "setinggi mungkin" di ruangan tanpa atap.</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3</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Geser untuk Menghapus dan Peran Key</a:t>
            </a:r>
            <a:endParaRPr lang="en-US" sz="4000" dirty="0"/>
          </a:p>
        </p:txBody>
      </p:sp>
      <p:sp>
        <p:nvSpPr>
          <p:cNvPr id="5" name="lingkaran geser"/>
          <p:cNvSpPr/>
          <p:nvPr/>
        </p:nvSpPr>
        <p:spPr>
          <a:xfrm>
            <a:off x="1097280" y="2148840"/>
            <a:ext cx="2011680" cy="2011680"/>
          </a:xfrm>
          <a:prstGeom prst="ellipse">
            <a:avLst/>
          </a:prstGeom>
          <a:solidFill>
            <a:schemeClr val="accent1"/>
          </a:solidFill>
          <a:ln/>
        </p:spPr>
      </p:sp>
      <p:pic>
        <p:nvPicPr>
          <p:cNvPr id="6" name="Image 0" descr="geser">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Dismissible: Item yang Bisa "Diusir"</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5.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3115818"/>
          </a:xfrm>
          <a:prstGeom prst="roundRect">
            <a:avLst>
              <a:gd name="adj" fmla="val 293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Dismissible</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key: </a:t>
            </a:r>
            <a:r>
              <a:rPr lang="en-US" sz="1300" dirty="0">
                <a:solidFill>
                  <a:srgbClr val="FFCB6B"/>
                </a:solidFill>
                <a:latin typeface="Consolas" pitchFamily="34" charset="0"/>
                <a:ea typeface="Consolas" pitchFamily="34" charset="-122"/>
                <a:cs typeface="Consolas" pitchFamily="34" charset="-120"/>
              </a:rPr>
              <a:t>ValueKey</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int</a:t>
            </a:r>
            <a:r>
              <a:rPr lang="en-US" sz="1300" dirty="0">
                <a:solidFill>
                  <a:srgbClr val="E6EDF3"/>
                </a:solidFill>
                <a:latin typeface="Consolas" pitchFamily="34" charset="0"/>
                <a:ea typeface="Consolas" pitchFamily="34" charset="-122"/>
                <a:cs typeface="Consolas" pitchFamily="34" charset="-120"/>
              </a:rPr>
              <a:t>&gt;(tugas.id), </a:t>
            </a:r>
            <a:r>
              <a:rPr lang="en-US" sz="1300" i="1" dirty="0">
                <a:solidFill>
                  <a:srgbClr val="8FA3BC"/>
                </a:solidFill>
                <a:latin typeface="Consolas" pitchFamily="34" charset="0"/>
                <a:ea typeface="Consolas" pitchFamily="34" charset="-122"/>
                <a:cs typeface="Consolas" pitchFamily="34" charset="-120"/>
              </a:rPr>
              <a:t>// wajib</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direction: </a:t>
            </a:r>
            <a:r>
              <a:rPr lang="en-US" sz="1300" dirty="0">
                <a:solidFill>
                  <a:srgbClr val="FFCB6B"/>
                </a:solidFill>
                <a:latin typeface="Consolas" pitchFamily="34" charset="0"/>
                <a:ea typeface="Consolas" pitchFamily="34" charset="-122"/>
                <a:cs typeface="Consolas" pitchFamily="34" charset="-120"/>
              </a:rPr>
              <a:t>DismissDirection</a:t>
            </a:r>
            <a:r>
              <a:rPr lang="en-US" sz="1300" dirty="0">
                <a:solidFill>
                  <a:srgbClr val="E6EDF3"/>
                </a:solidFill>
                <a:latin typeface="Consolas" pitchFamily="34" charset="0"/>
                <a:ea typeface="Consolas" pitchFamily="34" charset="-122"/>
                <a:cs typeface="Consolas" pitchFamily="34" charset="-120"/>
              </a:rPr>
              <a:t>.endToStart,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background: </a:t>
            </a:r>
            <a:r>
              <a:rPr lang="en-US" sz="1300" dirty="0">
                <a:solidFill>
                  <a:srgbClr val="FFCB6B"/>
                </a:solidFill>
                <a:latin typeface="Consolas" pitchFamily="34" charset="0"/>
                <a:ea typeface="Consolas" pitchFamily="34" charset="-122"/>
                <a:cs typeface="Consolas" pitchFamily="34" charset="-120"/>
              </a:rPr>
              <a:t>Container</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color: warna.errorContainer,</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alignment: </a:t>
            </a:r>
            <a:r>
              <a:rPr lang="en-US" sz="1300" dirty="0">
                <a:solidFill>
                  <a:srgbClr val="FFCB6B"/>
                </a:solidFill>
                <a:latin typeface="Consolas" pitchFamily="34" charset="0"/>
                <a:ea typeface="Consolas" pitchFamily="34" charset="-122"/>
                <a:cs typeface="Consolas" pitchFamily="34" charset="-120"/>
              </a:rPr>
              <a:t>Alignment</a:t>
            </a:r>
            <a:r>
              <a:rPr lang="en-US" sz="1300" dirty="0">
                <a:solidFill>
                  <a:srgbClr val="E6EDF3"/>
                </a:solidFill>
                <a:latin typeface="Consolas" pitchFamily="34" charset="0"/>
                <a:ea typeface="Consolas" pitchFamily="34" charset="-122"/>
                <a:cs typeface="Consolas" pitchFamily="34" charset="-120"/>
              </a:rPr>
              <a:t>.centerRight,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child: </a:t>
            </a:r>
            <a:r>
              <a:rPr lang="en-US" sz="1300" dirty="0">
                <a:solidFill>
                  <a:srgbClr val="C792EA"/>
                </a:solidFill>
                <a:latin typeface="Consolas" pitchFamily="34" charset="0"/>
                <a:ea typeface="Consolas" pitchFamily="34" charset="-122"/>
                <a:cs typeface="Consolas" pitchFamily="34" charset="-120"/>
              </a:rPr>
              <a:t>const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Icon</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FCB6B"/>
                </a:solidFill>
                <a:latin typeface="Consolas" pitchFamily="34" charset="0"/>
                <a:ea typeface="Consolas" pitchFamily="34" charset="-122"/>
                <a:cs typeface="Consolas" pitchFamily="34" charset="-120"/>
              </a:rPr>
              <a:t>Icons</a:t>
            </a:r>
            <a:r>
              <a:rPr lang="en-US" sz="1300" dirty="0">
                <a:solidFill>
                  <a:srgbClr val="E6EDF3"/>
                </a:solidFill>
                <a:latin typeface="Consolas" pitchFamily="34" charset="0"/>
                <a:ea typeface="Consolas" pitchFamily="34" charset="-122"/>
                <a:cs typeface="Consolas" pitchFamily="34" charset="-120"/>
              </a:rPr>
              <a:t>.delete),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onDismissed: (</a:t>
            </a:r>
            <a:r>
              <a:rPr lang="en-US" sz="1300" dirty="0">
                <a:solidFill>
                  <a:srgbClr val="FFCB6B"/>
                </a:solidFill>
                <a:latin typeface="Consolas" pitchFamily="34" charset="0"/>
                <a:ea typeface="Consolas" pitchFamily="34" charset="-122"/>
                <a:cs typeface="Consolas" pitchFamily="34" charset="-120"/>
              </a:rPr>
              <a:t>DismissDirection</a:t>
            </a:r>
            <a:r>
              <a:rPr lang="en-US" sz="1300" dirty="0">
                <a:solidFill>
                  <a:srgbClr val="E6EDF3"/>
                </a:solidFill>
                <a:latin typeface="Consolas" pitchFamily="34" charset="0"/>
                <a:ea typeface="Consolas" pitchFamily="34" charset="-122"/>
                <a:cs typeface="Consolas" pitchFamily="34" charset="-120"/>
              </a:rPr>
              <a:t> arah)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_hapus(index); </a:t>
            </a:r>
            <a:r>
              <a:rPr lang="en-US" sz="1300" i="1" dirty="0">
                <a:solidFill>
                  <a:srgbClr val="8FA3BC"/>
                </a:solidFill>
                <a:latin typeface="Consolas" pitchFamily="34" charset="0"/>
                <a:ea typeface="Consolas" pitchFamily="34" charset="-122"/>
                <a:cs typeface="Consolas" pitchFamily="34" charset="-120"/>
              </a:rPr>
              <a:t>// hapus dari daftar!</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child: </a:t>
            </a:r>
            <a:r>
              <a:rPr lang="en-US" sz="1300" dirty="0">
                <a:solidFill>
                  <a:srgbClr val="FFCB6B"/>
                </a:solidFill>
                <a:latin typeface="Consolas" pitchFamily="34" charset="0"/>
                <a:ea typeface="Consolas" pitchFamily="34" charset="-122"/>
                <a:cs typeface="Consolas" pitchFamily="34" charset="-120"/>
              </a:rPr>
              <a:t>ListTile</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7" name="tombol tautan">
            <a:hlinkClick r:id="rId2" tooltip="https://github.com/antonprafanto/mobile2026/blob/main/pertemuan_06_daftar_dan_navigasi/kode/contoh_05_dismissible_dan_urungkan.dart"/>
          </p:cNvPr>
          <p:cNvSpPr txBox="1"/>
          <p:nvPr/>
        </p:nvSpPr>
        <p:spPr>
          <a:xfrm>
            <a:off x="548640" y="4670298"/>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contoh_05_dismissible_dan_urungkan.dart</a:t>
            </a:r>
            <a:endParaRPr lang="en-US" sz="1300" dirty="0"/>
          </a:p>
        </p:txBody>
      </p:sp>
      <p:pic>
        <p:nvPicPr>
          <p:cNvPr id="8" name="Image 1" descr="ikon tautan">
            <a:hlinkClick r:id="rId4" tooltip="https://github.com/antonprafanto/mobile2026/blob/main/pertemuan_06_daftar_dan_navigasi/kode/contoh_05_dismissible_dan_urungkan.dart"/>
          </p:cNvPr>
          <p:cNvPicPr>
            <a:picLocks noChangeAspect="1"/>
          </p:cNvPicPr>
          <p:nvPr/>
        </p:nvPicPr>
        <p:blipFill>
          <a:blip r:embed="rId3"/>
          <a:stretch>
            <a:fillRect/>
          </a:stretch>
        </p:blipFill>
        <p:spPr>
          <a:xfrm>
            <a:off x="694944" y="4761738"/>
            <a:ext cx="274320" cy="274320"/>
          </a:xfrm>
          <a:prstGeom prst="rect">
            <a:avLst/>
          </a:prstGeom>
        </p:spPr>
      </p:pic>
      <p:sp>
        <p:nvSpPr>
          <p:cNvPr id="9" name="daftar poin"/>
          <p:cNvSpPr txBox="1"/>
          <p:nvPr/>
        </p:nvSpPr>
        <p:spPr>
          <a:xfrm>
            <a:off x="548640" y="5401818"/>
            <a:ext cx="7608319" cy="81610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Lupa menghapus: </a:t>
            </a:r>
            <a:r>
              <a:rPr lang="en-US" sz="1500" dirty="0">
                <a:solidFill>
                  <a:schemeClr val="tx1"/>
                </a:solidFill>
                <a:latin typeface="Consolas" pitchFamily="34" charset="0"/>
                <a:ea typeface="Consolas" pitchFamily="34" charset="-122"/>
                <a:cs typeface="Consolas" pitchFamily="34" charset="-120"/>
              </a:rPr>
              <a:t>A dismissed Dismissible widget is still part of the tree.</a:t>
            </a:r>
            <a:endParaRPr lang="en-US" sz="1500" dirty="0"/>
          </a:p>
          <a:p>
            <a:pPr marL="228600" indent="-228600">
              <a:spcAft>
                <a:spcPts val="800"/>
              </a:spcAft>
              <a:buSzPct val="100000"/>
              <a:buChar char="•"/>
            </a:pPr>
            <a:r>
              <a:rPr lang="en-US" sz="1500" dirty="0">
                <a:solidFill>
                  <a:schemeClr val="tx1"/>
                </a:solidFill>
              </a:rPr>
              <a:t>Di browser: tahan klik, tarik ke kiri, lepaskan.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Mengapa Key Wajib Unik dan Tetap?</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Analogi: dosen yang mengenali mahasiswa dari nomor kursi. Jika satu mahasiswa keluar, semua di belakangnya bergeser dan salah dikenali. Key adalah nama di punggung mahasiswa.</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3443094"/>
                <a:gridCol w="1338981"/>
                <a:gridCol w="6312340"/>
              </a:tblGrid>
              <a:tr h="73152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Pilihan key</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Bagus?</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Alasan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31520">
                <a:tc>
                  <a:txBody>
                    <a:bodyPr/>
                    <a:lstStyle/>
                    <a:p>
                      <a:pPr indent="0" marL="0">
                        <a:buNone/>
                      </a:pPr>
                      <a:r>
                        <a:rPr lang="en-US" sz="1700" dirty="0">
                          <a:solidFill>
                            <a:srgbClr val="1B2333"/>
                          </a:solidFill>
                          <a:latin typeface="Consolas" pitchFamily="34" charset="0"/>
                          <a:ea typeface="Consolas" pitchFamily="34" charset="-122"/>
                          <a:cs typeface="Consolas" pitchFamily="34" charset="-120"/>
                        </a:rPr>
                        <a:t>ValueKey&lt;int&gt;(tugas.id)</a:t>
                      </a:r>
                      <a:endParaRPr lang="en-US" sz="17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b="1" dirty="0">
                          <a:solidFill>
                            <a:srgbClr val="2E7D32"/>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id unik dan tidak pernah berubah</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31520">
                <a:tc>
                  <a:txBody>
                    <a:bodyPr/>
                    <a:lstStyle/>
                    <a:p>
                      <a:pPr indent="0" marL="0">
                        <a:buNone/>
                      </a:pPr>
                      <a:r>
                        <a:rPr lang="en-US" sz="1700" dirty="0">
                          <a:solidFill>
                            <a:srgbClr val="1B2333"/>
                          </a:solidFill>
                          <a:latin typeface="Consolas" pitchFamily="34" charset="0"/>
                          <a:ea typeface="Consolas" pitchFamily="34" charset="-122"/>
                          <a:cs typeface="Consolas" pitchFamily="34" charset="-120"/>
                        </a:rPr>
                        <a:t>ValueKey&lt;int&gt;(index)</a:t>
                      </a:r>
                      <a:endParaRPr lang="en-US" sz="17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b="1" dirty="0">
                          <a:solidFill>
                            <a:srgbClr val="C62828"/>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index berubah setiap kali ada item yang dihapus ("nomor kursi")</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31520">
                <a:tc>
                  <a:txBody>
                    <a:bodyPr/>
                    <a:lstStyle/>
                    <a:p>
                      <a:pPr indent="0" marL="0">
                        <a:buNone/>
                      </a:pPr>
                      <a:r>
                        <a:rPr lang="en-US" sz="1700" dirty="0">
                          <a:solidFill>
                            <a:srgbClr val="1B2333"/>
                          </a:solidFill>
                          <a:latin typeface="Consolas" pitchFamily="34" charset="0"/>
                          <a:ea typeface="Consolas" pitchFamily="34" charset="-122"/>
                          <a:cs typeface="Consolas" pitchFamily="34" charset="-120"/>
                        </a:rPr>
                        <a:t>UniqueKey()</a:t>
                      </a:r>
                      <a:endParaRPr lang="en-US" sz="17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b="1" dirty="0">
                          <a:solidFill>
                            <a:srgbClr val="C62828"/>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key baru setiap build, item tidak pernah dikenali sebagai item yang sama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6" name="lingkaran lampu"/>
          <p:cNvSpPr/>
          <p:nvPr/>
        </p:nvSpPr>
        <p:spPr>
          <a:xfrm>
            <a:off x="548640" y="5486400"/>
            <a:ext cx="502920" cy="502920"/>
          </a:xfrm>
          <a:prstGeom prst="ellipse">
            <a:avLst/>
          </a:prstGeom>
          <a:solidFill>
            <a:schemeClr val="accent3"/>
          </a:solidFill>
          <a:ln/>
        </p:spPr>
      </p:sp>
      <p:pic>
        <p:nvPicPr>
          <p:cNvPr id="7"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8" name="Text 3"/>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Karena itu class model Tugas diberi properti id.</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Tombol "Urungkan": Catat Dulu, Baru Hapus</a:t>
            </a:r>
            <a:endParaRPr lang="en-US" sz="3200" dirty="0"/>
          </a:p>
        </p:txBody>
      </p:sp>
      <p:sp>
        <p:nvSpPr>
          <p:cNvPr id="4" name="kotak kode"/>
          <p:cNvSpPr txBox="1"/>
          <p:nvPr/>
        </p:nvSpPr>
        <p:spPr>
          <a:xfrm>
            <a:off x="548640" y="1371600"/>
            <a:ext cx="6766560" cy="3947922"/>
          </a:xfrm>
          <a:prstGeom prst="roundRect">
            <a:avLst>
              <a:gd name="adj" fmla="val 2316"/>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void</a:t>
            </a:r>
            <a:r>
              <a:rPr lang="en-US" sz="1300" dirty="0">
                <a:solidFill>
                  <a:srgbClr val="E6EDF3"/>
                </a:solidFill>
                <a:latin typeface="Consolas" pitchFamily="34" charset="0"/>
                <a:ea typeface="Consolas" pitchFamily="34" charset="-122"/>
                <a:cs typeface="Consolas" pitchFamily="34" charset="-120"/>
              </a:rPr>
              <a:t> _hapus(</a:t>
            </a:r>
            <a:r>
              <a:rPr lang="en-US" sz="1300" dirty="0">
                <a:solidFill>
                  <a:srgbClr val="FFCB6B"/>
                </a:solidFill>
                <a:latin typeface="Consolas" pitchFamily="34" charset="0"/>
                <a:ea typeface="Consolas" pitchFamily="34" charset="-122"/>
                <a:cs typeface="Consolas" pitchFamily="34" charset="-120"/>
              </a:rPr>
              <a:t>int</a:t>
            </a:r>
            <a:r>
              <a:rPr lang="en-US" sz="1300" dirty="0">
                <a:solidFill>
                  <a:srgbClr val="E6EDF3"/>
                </a:solidFill>
                <a:latin typeface="Consolas" pitchFamily="34" charset="0"/>
                <a:ea typeface="Consolas" pitchFamily="34" charset="-122"/>
                <a:cs typeface="Consolas" pitchFamily="34" charset="-120"/>
              </a:rPr>
              <a:t> indeks)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1) catat DULU barang dan posisinya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Tugas</a:t>
            </a:r>
            <a:r>
              <a:rPr lang="en-US" sz="1300" dirty="0">
                <a:solidFill>
                  <a:srgbClr val="E6EDF3"/>
                </a:solidFill>
                <a:latin typeface="Consolas" pitchFamily="34" charset="0"/>
                <a:ea typeface="Consolas" pitchFamily="34" charset="-122"/>
                <a:cs typeface="Consolas" pitchFamily="34" charset="-120"/>
              </a:rPr>
              <a:t> terhapus = _daftar[indeks];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2) baru hapus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setState(() { _daftar.removeAt(indeks);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pesan.showSnackBar(</a:t>
            </a:r>
            <a:r>
              <a:rPr lang="en-US" sz="1300" dirty="0">
                <a:solidFill>
                  <a:srgbClr val="FFCB6B"/>
                </a:solidFill>
                <a:latin typeface="Consolas" pitchFamily="34" charset="0"/>
                <a:ea typeface="Consolas" pitchFamily="34" charset="-122"/>
                <a:cs typeface="Consolas" pitchFamily="34" charset="-120"/>
              </a:rPr>
              <a:t>SnackBar</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content: </a:t>
            </a:r>
            <a:r>
              <a:rPr lang="en-US" sz="1300" dirty="0">
                <a:solidFill>
                  <a:srgbClr val="FFCB6B"/>
                </a:solidFill>
                <a:latin typeface="Consolas" pitchFamily="34" charset="0"/>
                <a:ea typeface="Consolas" pitchFamily="34" charset="-122"/>
                <a:cs typeface="Consolas" pitchFamily="34" charset="-120"/>
              </a:rPr>
              <a:t>Text</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C3E88D"/>
                </a:solidFill>
                <a:latin typeface="Consolas" pitchFamily="34" charset="0"/>
                <a:ea typeface="Consolas" pitchFamily="34" charset="-122"/>
                <a:cs typeface="Consolas" pitchFamily="34" charset="-120"/>
              </a:rPr>
              <a:t>'"${terhapus.judul}" dihapus.'</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action: </a:t>
            </a:r>
            <a:r>
              <a:rPr lang="en-US" sz="1300" dirty="0">
                <a:solidFill>
                  <a:srgbClr val="FFCB6B"/>
                </a:solidFill>
                <a:latin typeface="Consolas" pitchFamily="34" charset="0"/>
                <a:ea typeface="Consolas" pitchFamily="34" charset="-122"/>
                <a:cs typeface="Consolas" pitchFamily="34" charset="-120"/>
              </a:rPr>
              <a:t>SnackBarAction</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label: </a:t>
            </a:r>
            <a:r>
              <a:rPr lang="en-US" sz="1300" dirty="0">
                <a:solidFill>
                  <a:srgbClr val="C3E88D"/>
                </a:solidFill>
                <a:latin typeface="Consolas" pitchFamily="34" charset="0"/>
                <a:ea typeface="Consolas" pitchFamily="34" charset="-122"/>
                <a:cs typeface="Consolas" pitchFamily="34" charset="-120"/>
              </a:rPr>
              <a:t>'Urungkan'</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onPressed: () =&gt; setState(()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_daftar.insert(indeks, terhapus);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persist: </a:t>
            </a:r>
            <a:r>
              <a:rPr lang="en-US" sz="1300" dirty="0">
                <a:solidFill>
                  <a:srgbClr val="C792EA"/>
                </a:solidFill>
                <a:latin typeface="Consolas" pitchFamily="34" charset="0"/>
                <a:ea typeface="Consolas" pitchFamily="34" charset="-122"/>
                <a:cs typeface="Consolas" pitchFamily="34" charset="-120"/>
              </a:rPr>
              <a:t>false</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5" name="tombol tautan">
            <a:hlinkClick r:id="rId1" tooltip="https://github.com/antonprafanto/mobile2026/blob/main/pertemuan_06_daftar_dan_navigasi/kode/contoh_05_dismissible_dan_urungkan.dart"/>
          </p:cNvPr>
          <p:cNvSpPr txBox="1"/>
          <p:nvPr/>
        </p:nvSpPr>
        <p:spPr>
          <a:xfrm>
            <a:off x="548640" y="5548122"/>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contoh_05_dismissible_dan_urungkan.dart</a:t>
            </a:r>
            <a:endParaRPr lang="en-US" sz="1300" dirty="0"/>
          </a:p>
        </p:txBody>
      </p:sp>
      <p:pic>
        <p:nvPicPr>
          <p:cNvPr id="6" name="Image 0" descr="ikon tautan">
            <a:hlinkClick r:id="rId3" tooltip="https://github.com/antonprafanto/mobile2026/blob/main/pertemuan_06_daftar_dan_navigasi/kode/contoh_05_dismissible_dan_urungkan.dart"/>
          </p:cNvPr>
          <p:cNvPicPr>
            <a:picLocks noChangeAspect="1"/>
          </p:cNvPicPr>
          <p:nvPr/>
        </p:nvPicPr>
        <p:blipFill>
          <a:blip r:embed="rId2"/>
          <a:stretch>
            <a:fillRect/>
          </a:stretch>
        </p:blipFill>
        <p:spPr>
          <a:xfrm>
            <a:off x="694944" y="5639562"/>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insert(indeks, ...) mengembalikan ke posisi semula; add selalu ke ujung daftar.</a:t>
            </a:r>
            <a:endParaRPr lang="en-US" sz="1700" dirty="0"/>
          </a:p>
          <a:p>
            <a:pPr marL="228600" indent="-228600">
              <a:spcAft>
                <a:spcPts val="800"/>
              </a:spcAft>
              <a:buSzPct val="100000"/>
              <a:buChar char="•"/>
            </a:pPr>
            <a:r>
              <a:rPr lang="en-US" sz="1700" dirty="0">
                <a:solidFill>
                  <a:schemeClr val="tx1"/>
                </a:solidFill>
              </a:rPr>
              <a:t>persist: false membuat SnackBar bertombol tetap hilang sendiri (Pertemuan 5).</a:t>
            </a:r>
            <a:endParaRPr lang="en-US" sz="1700" dirty="0"/>
          </a:p>
          <a:p>
            <a:pPr marL="228600" indent="-228600">
              <a:spcAft>
                <a:spcPts val="800"/>
              </a:spcAft>
              <a:buSzPct val="100000"/>
              <a:buChar char="•"/>
            </a:pPr>
            <a:r>
              <a:rPr lang="en-US" sz="1700" dirty="0">
                <a:solidFill>
                  <a:schemeClr val="tx1"/>
                </a:solidFill>
              </a:rPr>
              <a:t>Sebelum showSnackBar, panggil hideCurrentSnackBar() agar pesan tidak antre.</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4</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Mencari dan Menyaring Daftar</a:t>
            </a:r>
            <a:endParaRPr lang="en-US" sz="4000" dirty="0"/>
          </a:p>
        </p:txBody>
      </p:sp>
      <p:sp>
        <p:nvSpPr>
          <p:cNvPr id="5" name="lingkaran cari"/>
          <p:cNvSpPr/>
          <p:nvPr/>
        </p:nvSpPr>
        <p:spPr>
          <a:xfrm>
            <a:off x="1097280" y="2148840"/>
            <a:ext cx="2011680" cy="2011680"/>
          </a:xfrm>
          <a:prstGeom prst="ellipse">
            <a:avLst/>
          </a:prstGeom>
          <a:solidFill>
            <a:schemeClr val="accent1"/>
          </a:solidFill>
          <a:ln/>
        </p:spPr>
      </p:sp>
      <p:pic>
        <p:nvPicPr>
          <p:cNvPr id="6" name="Image 0" descr="cari">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Data Asli Tidak Pernah Diubah</a:t>
            </a:r>
            <a:endParaRPr lang="en-US" sz="3200" dirty="0"/>
          </a:p>
        </p:txBody>
      </p:sp>
      <p:sp>
        <p:nvSpPr>
          <p:cNvPr id="4" name="Text 1"/>
          <p:cNvSpPr txBox="1"/>
          <p:nvPr/>
        </p:nvSpPr>
        <p:spPr>
          <a:xfrm>
            <a:off x="548640" y="1325880"/>
            <a:ext cx="11094415" cy="548640"/>
          </a:xfrm>
          <a:prstGeom prst="rect">
            <a:avLst/>
          </a:prstGeom>
          <a:noFill/>
          <a:ln/>
        </p:spPr>
        <p:txBody>
          <a:bodyPr wrap="square" lIns="0" tIns="0" rIns="0" bIns="0" rtlCol="0" anchor="ctr"/>
          <a:lstStyle/>
          <a:p>
            <a:pPr indent="0" marL="0">
              <a:buNone/>
            </a:pPr>
            <a:r>
              <a:rPr lang="en-US" sz="1800" dirty="0">
                <a:solidFill>
                  <a:srgbClr val="4A5870"/>
                </a:solidFill>
              </a:rPr>
              <a:t>Hasil pencarian adalah nilai turunan (Pertemuan 5): dihitung ulang setiap build().</a:t>
            </a:r>
            <a:endParaRPr lang="en-US" sz="1800" dirty="0"/>
          </a:p>
        </p:txBody>
      </p:sp>
      <p:sp>
        <p:nvSpPr>
          <p:cNvPr id="5" name="langkah 1"/>
          <p:cNvSpPr/>
          <p:nvPr/>
        </p:nvSpPr>
        <p:spPr>
          <a:xfrm>
            <a:off x="548640" y="2103120"/>
            <a:ext cx="2533574" cy="2926080"/>
          </a:xfrm>
          <a:prstGeom prst="roundRect">
            <a:avLst>
              <a:gd name="adj" fmla="val 5414"/>
            </a:avLst>
          </a:prstGeom>
          <a:solidFill>
            <a:schemeClr val="bg2"/>
          </a:solidFill>
          <a:ln/>
        </p:spPr>
      </p:sp>
      <p:sp>
        <p:nvSpPr>
          <p:cNvPr id="6" name="lingkaran data"/>
          <p:cNvSpPr/>
          <p:nvPr/>
        </p:nvSpPr>
        <p:spPr>
          <a:xfrm>
            <a:off x="1381087" y="2377440"/>
            <a:ext cx="868680" cy="868680"/>
          </a:xfrm>
          <a:prstGeom prst="ellipse">
            <a:avLst/>
          </a:prstGeom>
          <a:solidFill>
            <a:schemeClr val="accent1"/>
          </a:solidFill>
          <a:ln/>
        </p:spPr>
      </p:sp>
      <p:pic>
        <p:nvPicPr>
          <p:cNvPr id="7" name="Image 0" descr="data">    </p:cNvPr>
          <p:cNvPicPr>
            <a:picLocks noChangeAspect="1"/>
          </p:cNvPicPr>
          <p:nvPr/>
        </p:nvPicPr>
        <p:blipFill>
          <a:blip r:embed="rId1"/>
          <a:stretch>
            <a:fillRect/>
          </a:stretch>
        </p:blipFill>
        <p:spPr>
          <a:xfrm>
            <a:off x="1572197" y="2568550"/>
            <a:ext cx="486461" cy="486461"/>
          </a:xfrm>
          <a:prstGeom prst="rect">
            <a:avLst/>
          </a:prstGeom>
        </p:spPr>
      </p:pic>
      <p:sp>
        <p:nvSpPr>
          <p:cNvPr id="8" name="Text 4"/>
          <p:cNvSpPr txBox="1"/>
          <p:nvPr/>
        </p:nvSpPr>
        <p:spPr>
          <a:xfrm>
            <a:off x="658368"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9" name="Text 5"/>
          <p:cNvSpPr txBox="1"/>
          <p:nvPr/>
        </p:nvSpPr>
        <p:spPr>
          <a:xfrm>
            <a:off x="685800"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Data asli</a:t>
            </a:r>
            <a:endParaRPr lang="en-US" sz="1700" dirty="0"/>
          </a:p>
        </p:txBody>
      </p:sp>
      <p:sp>
        <p:nvSpPr>
          <p:cNvPr id="10" name="Text 6"/>
          <p:cNvSpPr txBox="1"/>
          <p:nvPr/>
        </p:nvSpPr>
        <p:spPr>
          <a:xfrm>
            <a:off x="685800" y="4206240"/>
            <a:ext cx="2259254" cy="731520"/>
          </a:xfrm>
          <a:prstGeom prst="rect">
            <a:avLst/>
          </a:prstGeom>
          <a:noFill/>
          <a:ln/>
        </p:spPr>
        <p:txBody>
          <a:bodyPr wrap="square" lIns="0" tIns="0" rIns="0" bIns="0" rtlCol="0" anchor="t"/>
          <a:lstStyle/>
          <a:p>
            <a:pPr algn="ctr" indent="0" marL="0">
              <a:buNone/>
            </a:pPr>
            <a:r>
              <a:rPr lang="en-US" sz="1400" dirty="0">
                <a:solidFill>
                  <a:schemeClr val="tx1"/>
                </a:solidFill>
              </a:rPr>
              <a:t>semuaUkm (const), tidak pernah berubah.</a:t>
            </a:r>
            <a:endParaRPr lang="en-US" sz="1400" dirty="0"/>
          </a:p>
        </p:txBody>
      </p:sp>
      <p:sp>
        <p:nvSpPr>
          <p:cNvPr id="11" name="Shape 7"/>
          <p:cNvSpPr/>
          <p:nvPr/>
        </p:nvSpPr>
        <p:spPr>
          <a:xfrm>
            <a:off x="3118790" y="2670048"/>
            <a:ext cx="246888" cy="274320"/>
          </a:xfrm>
          <a:prstGeom prst="rightArrow">
            <a:avLst/>
          </a:prstGeom>
          <a:solidFill>
            <a:schemeClr val="accent2"/>
          </a:solidFill>
          <a:ln/>
        </p:spPr>
      </p:sp>
      <p:sp>
        <p:nvSpPr>
          <p:cNvPr id="12" name="langkah 2"/>
          <p:cNvSpPr/>
          <p:nvPr/>
        </p:nvSpPr>
        <p:spPr>
          <a:xfrm>
            <a:off x="3402254" y="2103120"/>
            <a:ext cx="2533574" cy="2926080"/>
          </a:xfrm>
          <a:prstGeom prst="roundRect">
            <a:avLst>
              <a:gd name="adj" fmla="val 5414"/>
            </a:avLst>
          </a:prstGeom>
          <a:solidFill>
            <a:schemeClr val="bg2"/>
          </a:solidFill>
          <a:ln/>
        </p:spPr>
      </p:sp>
      <p:sp>
        <p:nvSpPr>
          <p:cNvPr id="13" name="lingkaran cari"/>
          <p:cNvSpPr/>
          <p:nvPr/>
        </p:nvSpPr>
        <p:spPr>
          <a:xfrm>
            <a:off x="4234701" y="2377440"/>
            <a:ext cx="868680" cy="868680"/>
          </a:xfrm>
          <a:prstGeom prst="ellipse">
            <a:avLst/>
          </a:prstGeom>
          <a:solidFill>
            <a:schemeClr val="accent1"/>
          </a:solidFill>
          <a:ln/>
        </p:spPr>
      </p:sp>
      <p:pic>
        <p:nvPicPr>
          <p:cNvPr id="14" name="Image 1" descr="cari">    </p:cNvPr>
          <p:cNvPicPr>
            <a:picLocks noChangeAspect="1"/>
          </p:cNvPicPr>
          <p:nvPr/>
        </p:nvPicPr>
        <p:blipFill>
          <a:blip r:embed="rId2"/>
          <a:stretch>
            <a:fillRect/>
          </a:stretch>
        </p:blipFill>
        <p:spPr>
          <a:xfrm>
            <a:off x="4425810" y="2568550"/>
            <a:ext cx="486461" cy="486461"/>
          </a:xfrm>
          <a:prstGeom prst="rect">
            <a:avLst/>
          </a:prstGeom>
        </p:spPr>
      </p:pic>
      <p:sp>
        <p:nvSpPr>
          <p:cNvPr id="15" name="Text 10"/>
          <p:cNvSpPr txBox="1"/>
          <p:nvPr/>
        </p:nvSpPr>
        <p:spPr>
          <a:xfrm>
            <a:off x="3511982"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6" name="Text 11"/>
          <p:cNvSpPr txBox="1"/>
          <p:nvPr/>
        </p:nvSpPr>
        <p:spPr>
          <a:xfrm>
            <a:off x="3539414"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State</a:t>
            </a:r>
            <a:endParaRPr lang="en-US" sz="1700" dirty="0"/>
          </a:p>
        </p:txBody>
      </p:sp>
      <p:sp>
        <p:nvSpPr>
          <p:cNvPr id="17" name="Text 12"/>
          <p:cNvSpPr txBox="1"/>
          <p:nvPr/>
        </p:nvSpPr>
        <p:spPr>
          <a:xfrm>
            <a:off x="3539414" y="4206240"/>
            <a:ext cx="2259254" cy="731520"/>
          </a:xfrm>
          <a:prstGeom prst="rect">
            <a:avLst/>
          </a:prstGeom>
          <a:noFill/>
          <a:ln/>
        </p:spPr>
        <p:txBody>
          <a:bodyPr wrap="square" lIns="0" tIns="0" rIns="0" bIns="0" rtlCol="0" anchor="t"/>
          <a:lstStyle/>
          <a:p>
            <a:pPr algn="ctr" indent="0" marL="0">
              <a:buNone/>
            </a:pPr>
            <a:r>
              <a:rPr lang="en-US" sz="1400" dirty="0">
                <a:solidFill>
                  <a:schemeClr val="tx1"/>
                </a:solidFill>
              </a:rPr>
              <a:t>Hanya _kataKunci dan _kategori.</a:t>
            </a:r>
            <a:endParaRPr lang="en-US" sz="1400" dirty="0"/>
          </a:p>
        </p:txBody>
      </p:sp>
      <p:sp>
        <p:nvSpPr>
          <p:cNvPr id="18" name="Shape 13"/>
          <p:cNvSpPr/>
          <p:nvPr/>
        </p:nvSpPr>
        <p:spPr>
          <a:xfrm>
            <a:off x="5972404" y="2670048"/>
            <a:ext cx="246888" cy="274320"/>
          </a:xfrm>
          <a:prstGeom prst="rightArrow">
            <a:avLst/>
          </a:prstGeom>
          <a:solidFill>
            <a:schemeClr val="accent2"/>
          </a:solidFill>
          <a:ln/>
        </p:spPr>
      </p:sp>
      <p:sp>
        <p:nvSpPr>
          <p:cNvPr id="19" name="langkah 3"/>
          <p:cNvSpPr/>
          <p:nvPr/>
        </p:nvSpPr>
        <p:spPr>
          <a:xfrm>
            <a:off x="6255868" y="2103120"/>
            <a:ext cx="2533574" cy="2926080"/>
          </a:xfrm>
          <a:prstGeom prst="roundRect">
            <a:avLst>
              <a:gd name="adj" fmla="val 5414"/>
            </a:avLst>
          </a:prstGeom>
          <a:solidFill>
            <a:schemeClr val="bg2"/>
          </a:solidFill>
          <a:ln/>
        </p:spPr>
      </p:sp>
      <p:sp>
        <p:nvSpPr>
          <p:cNvPr id="20" name="lingkaran saring"/>
          <p:cNvSpPr/>
          <p:nvPr/>
        </p:nvSpPr>
        <p:spPr>
          <a:xfrm>
            <a:off x="7088315" y="2377440"/>
            <a:ext cx="868680" cy="868680"/>
          </a:xfrm>
          <a:prstGeom prst="ellipse">
            <a:avLst/>
          </a:prstGeom>
          <a:solidFill>
            <a:schemeClr val="accent1"/>
          </a:solidFill>
          <a:ln/>
        </p:spPr>
      </p:sp>
      <p:pic>
        <p:nvPicPr>
          <p:cNvPr id="21" name="Image 2" descr="saring">    </p:cNvPr>
          <p:cNvPicPr>
            <a:picLocks noChangeAspect="1"/>
          </p:cNvPicPr>
          <p:nvPr/>
        </p:nvPicPr>
        <p:blipFill>
          <a:blip r:embed="rId3"/>
          <a:stretch>
            <a:fillRect/>
          </a:stretch>
        </p:blipFill>
        <p:spPr>
          <a:xfrm>
            <a:off x="7279424" y="2568550"/>
            <a:ext cx="486461" cy="486461"/>
          </a:xfrm>
          <a:prstGeom prst="rect">
            <a:avLst/>
          </a:prstGeom>
        </p:spPr>
      </p:pic>
      <p:sp>
        <p:nvSpPr>
          <p:cNvPr id="22" name="Text 16"/>
          <p:cNvSpPr txBox="1"/>
          <p:nvPr/>
        </p:nvSpPr>
        <p:spPr>
          <a:xfrm>
            <a:off x="6365596"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3" name="Text 17"/>
          <p:cNvSpPr txBox="1"/>
          <p:nvPr/>
        </p:nvSpPr>
        <p:spPr>
          <a:xfrm>
            <a:off x="6393028"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Getter _hasil</a:t>
            </a:r>
            <a:endParaRPr lang="en-US" sz="1700" dirty="0"/>
          </a:p>
        </p:txBody>
      </p:sp>
      <p:sp>
        <p:nvSpPr>
          <p:cNvPr id="24" name="Text 18"/>
          <p:cNvSpPr txBox="1"/>
          <p:nvPr/>
        </p:nvSpPr>
        <p:spPr>
          <a:xfrm>
            <a:off x="6393028" y="4206240"/>
            <a:ext cx="2259254" cy="731520"/>
          </a:xfrm>
          <a:prstGeom prst="rect">
            <a:avLst/>
          </a:prstGeom>
          <a:noFill/>
          <a:ln/>
        </p:spPr>
        <p:txBody>
          <a:bodyPr wrap="square" lIns="0" tIns="0" rIns="0" bIns="0" rtlCol="0" anchor="t"/>
          <a:lstStyle/>
          <a:p>
            <a:pPr algn="ctr" indent="0" marL="0">
              <a:buNone/>
            </a:pPr>
            <a:r>
              <a:rPr lang="en-US" sz="1400" dirty="0">
                <a:solidFill>
                  <a:schemeClr val="tx1"/>
                </a:solidFill>
              </a:rPr>
              <a:t>where(...).toList() dari data asli + state.</a:t>
            </a:r>
            <a:endParaRPr lang="en-US" sz="1400" dirty="0"/>
          </a:p>
        </p:txBody>
      </p:sp>
      <p:sp>
        <p:nvSpPr>
          <p:cNvPr id="25" name="Shape 19"/>
          <p:cNvSpPr/>
          <p:nvPr/>
        </p:nvSpPr>
        <p:spPr>
          <a:xfrm>
            <a:off x="8826017" y="2670048"/>
            <a:ext cx="246888" cy="274320"/>
          </a:xfrm>
          <a:prstGeom prst="rightArrow">
            <a:avLst/>
          </a:prstGeom>
          <a:solidFill>
            <a:schemeClr val="accent2"/>
          </a:solidFill>
          <a:ln/>
        </p:spPr>
      </p:sp>
      <p:sp>
        <p:nvSpPr>
          <p:cNvPr id="26" name="langkah 4"/>
          <p:cNvSpPr/>
          <p:nvPr/>
        </p:nvSpPr>
        <p:spPr>
          <a:xfrm>
            <a:off x="9109481" y="2103120"/>
            <a:ext cx="2533574" cy="2926080"/>
          </a:xfrm>
          <a:prstGeom prst="roundRect">
            <a:avLst>
              <a:gd name="adj" fmla="val 5414"/>
            </a:avLst>
          </a:prstGeom>
          <a:solidFill>
            <a:schemeClr val="bg2"/>
          </a:solidFill>
          <a:ln/>
        </p:spPr>
      </p:sp>
      <p:sp>
        <p:nvSpPr>
          <p:cNvPr id="27" name="lingkaran daftar"/>
          <p:cNvSpPr/>
          <p:nvPr/>
        </p:nvSpPr>
        <p:spPr>
          <a:xfrm>
            <a:off x="9941928" y="2377440"/>
            <a:ext cx="868680" cy="868680"/>
          </a:xfrm>
          <a:prstGeom prst="ellipse">
            <a:avLst/>
          </a:prstGeom>
          <a:solidFill>
            <a:schemeClr val="accent4"/>
          </a:solidFill>
          <a:ln/>
        </p:spPr>
      </p:sp>
      <p:pic>
        <p:nvPicPr>
          <p:cNvPr id="28" name="Image 3" descr="daftar">    </p:cNvPr>
          <p:cNvPicPr>
            <a:picLocks noChangeAspect="1"/>
          </p:cNvPicPr>
          <p:nvPr/>
        </p:nvPicPr>
        <p:blipFill>
          <a:blip r:embed="rId4"/>
          <a:stretch>
            <a:fillRect/>
          </a:stretch>
        </p:blipFill>
        <p:spPr>
          <a:xfrm>
            <a:off x="10133038" y="2568550"/>
            <a:ext cx="486461" cy="486461"/>
          </a:xfrm>
          <a:prstGeom prst="rect">
            <a:avLst/>
          </a:prstGeom>
        </p:spPr>
      </p:pic>
      <p:sp>
        <p:nvSpPr>
          <p:cNvPr id="29" name="Text 22"/>
          <p:cNvSpPr txBox="1"/>
          <p:nvPr/>
        </p:nvSpPr>
        <p:spPr>
          <a:xfrm>
            <a:off x="9219209"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30" name="Text 23"/>
          <p:cNvSpPr txBox="1"/>
          <p:nvPr/>
        </p:nvSpPr>
        <p:spPr>
          <a:xfrm>
            <a:off x="9246641"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Daftar yang tampil</a:t>
            </a:r>
            <a:endParaRPr lang="en-US" sz="1700" dirty="0"/>
          </a:p>
        </p:txBody>
      </p:sp>
      <p:sp>
        <p:nvSpPr>
          <p:cNvPr id="31" name="Text 24"/>
          <p:cNvSpPr txBox="1"/>
          <p:nvPr/>
        </p:nvSpPr>
        <p:spPr>
          <a:xfrm>
            <a:off x="9246641" y="4206240"/>
            <a:ext cx="2259254" cy="731520"/>
          </a:xfrm>
          <a:prstGeom prst="rect">
            <a:avLst/>
          </a:prstGeom>
          <a:noFill/>
          <a:ln/>
        </p:spPr>
        <p:txBody>
          <a:bodyPr wrap="square" lIns="0" tIns="0" rIns="0" bIns="0" rtlCol="0" anchor="t"/>
          <a:lstStyle/>
          <a:p>
            <a:pPr algn="ctr" indent="0" marL="0">
              <a:buNone/>
            </a:pPr>
            <a:r>
              <a:rPr lang="en-US" sz="1400" dirty="0">
                <a:solidFill>
                  <a:schemeClr val="tx1"/>
                </a:solidFill>
              </a:rPr>
              <a:t>Menyesuaikan setiap kali state berubah.</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SearchBar, ChoiceChip, dan Hasil Kosong</a:t>
            </a:r>
            <a:endParaRPr lang="en-US" sz="3200" dirty="0"/>
          </a:p>
        </p:txBody>
      </p:sp>
      <p:sp>
        <p:nvSpPr>
          <p:cNvPr id="4" name="bingkai layar 1"/>
          <p:cNvSpPr/>
          <p:nvPr/>
        </p:nvSpPr>
        <p:spPr>
          <a:xfrm>
            <a:off x="6101791" y="1316736"/>
            <a:ext cx="2715768" cy="4161454"/>
          </a:xfrm>
          <a:prstGeom prst="roundRect">
            <a:avLst>
              <a:gd name="adj" fmla="val 3367"/>
            </a:avLst>
          </a:prstGeom>
          <a:solidFill>
            <a:srgbClr val="FFFFFF"/>
          </a:solidFill>
          <a:ln w="12700">
            <a:solidFill>
              <a:srgbClr val="C9D3E0"/>
            </a:solidFill>
            <a:prstDash val="solid"/>
          </a:ln>
        </p:spPr>
      </p:sp>
      <p:pic>
        <p:nvPicPr>
          <p:cNvPr id="5" name="layar 1" descr="Tangkapan layar aplikasi (hasil_contoh_06a.jpg)">    </p:cNvPr>
          <p:cNvPicPr>
            <a:picLocks noChangeAspect="1"/>
          </p:cNvPicPr>
          <p:nvPr/>
        </p:nvPicPr>
        <p:blipFill>
          <a:blip r:embed="rId1"/>
          <a:stretch>
            <a:fillRect/>
          </a:stretch>
        </p:blipFill>
        <p:spPr>
          <a:xfrm>
            <a:off x="6156655" y="1371600"/>
            <a:ext cx="2606040" cy="4051726"/>
          </a:xfrm>
          <a:prstGeom prst="rect">
            <a:avLst/>
          </a:prstGeom>
        </p:spPr>
      </p:pic>
      <p:sp>
        <p:nvSpPr>
          <p:cNvPr id="6" name="bingkai layar 2"/>
          <p:cNvSpPr/>
          <p:nvPr/>
        </p:nvSpPr>
        <p:spPr>
          <a:xfrm>
            <a:off x="8982151" y="1316736"/>
            <a:ext cx="2715768" cy="4161454"/>
          </a:xfrm>
          <a:prstGeom prst="roundRect">
            <a:avLst>
              <a:gd name="adj" fmla="val 3367"/>
            </a:avLst>
          </a:prstGeom>
          <a:solidFill>
            <a:srgbClr val="FFFFFF"/>
          </a:solidFill>
          <a:ln w="12700">
            <a:solidFill>
              <a:srgbClr val="C9D3E0"/>
            </a:solidFill>
            <a:prstDash val="solid"/>
          </a:ln>
        </p:spPr>
      </p:sp>
      <p:pic>
        <p:nvPicPr>
          <p:cNvPr id="7" name="layar 2" descr="Tangkapan layar aplikasi (hasil_contoh_06b.jpg)">    </p:cNvPr>
          <p:cNvPicPr>
            <a:picLocks noChangeAspect="1"/>
          </p:cNvPicPr>
          <p:nvPr/>
        </p:nvPicPr>
        <p:blipFill>
          <a:blip r:embed="rId2"/>
          <a:stretch>
            <a:fillRect/>
          </a:stretch>
        </p:blipFill>
        <p:spPr>
          <a:xfrm>
            <a:off x="9037015" y="1371600"/>
            <a:ext cx="2606040" cy="4051726"/>
          </a:xfrm>
          <a:prstGeom prst="rect">
            <a:avLst/>
          </a:prstGeom>
        </p:spPr>
      </p:pic>
      <p:sp>
        <p:nvSpPr>
          <p:cNvPr id="8" name="kotak kode"/>
          <p:cNvSpPr txBox="1"/>
          <p:nvPr/>
        </p:nvSpPr>
        <p:spPr>
          <a:xfrm>
            <a:off x="548640" y="1371600"/>
            <a:ext cx="5150815" cy="2715768"/>
          </a:xfrm>
          <a:prstGeom prst="roundRect">
            <a:avLst>
              <a:gd name="adj" fmla="val 3367"/>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Ukm</a:t>
            </a:r>
            <a:r>
              <a:rPr lang="en-US" sz="1200" dirty="0">
                <a:solidFill>
                  <a:srgbClr val="E6EDF3"/>
                </a:solidFill>
                <a:latin typeface="Consolas" pitchFamily="34" charset="0"/>
                <a:ea typeface="Consolas" pitchFamily="34" charset="-122"/>
                <a:cs typeface="Consolas" pitchFamily="34" charset="-120"/>
              </a:rPr>
              <a:t>&gt; </a:t>
            </a:r>
            <a:r>
              <a:rPr lang="en-US" sz="1200" dirty="0">
                <a:solidFill>
                  <a:srgbClr val="C792EA"/>
                </a:solidFill>
                <a:latin typeface="Consolas" pitchFamily="34" charset="0"/>
                <a:ea typeface="Consolas" pitchFamily="34" charset="-122"/>
                <a:cs typeface="Consolas" pitchFamily="34" charset="-120"/>
              </a:rPr>
              <a:t>get</a:t>
            </a:r>
            <a:r>
              <a:rPr lang="en-US" sz="1200" dirty="0">
                <a:solidFill>
                  <a:srgbClr val="E6EDF3"/>
                </a:solidFill>
                <a:latin typeface="Consolas" pitchFamily="34" charset="0"/>
                <a:ea typeface="Consolas" pitchFamily="34" charset="-122"/>
                <a:cs typeface="Consolas" pitchFamily="34" charset="-120"/>
              </a:rPr>
              <a:t> _hasil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kunci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_kataKunci.trim().toLowerCase();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semuaUkm.where((</a:t>
            </a:r>
            <a:r>
              <a:rPr lang="en-US" sz="1200" dirty="0">
                <a:solidFill>
                  <a:srgbClr val="FFCB6B"/>
                </a:solidFill>
                <a:latin typeface="Consolas" pitchFamily="34" charset="0"/>
                <a:ea typeface="Consolas" pitchFamily="34" charset="-122"/>
                <a:cs typeface="Consolas" pitchFamily="34" charset="-120"/>
              </a:rPr>
              <a:t>Ukm</a:t>
            </a:r>
            <a:r>
              <a:rPr lang="en-US" sz="1200" dirty="0">
                <a:solidFill>
                  <a:srgbClr val="E6EDF3"/>
                </a:solidFill>
                <a:latin typeface="Consolas" pitchFamily="34" charset="0"/>
                <a:ea typeface="Consolas" pitchFamily="34" charset="-122"/>
                <a:cs typeface="Consolas" pitchFamily="34" charset="-120"/>
              </a:rPr>
              <a:t> ukm)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bool</a:t>
            </a:r>
            <a:r>
              <a:rPr lang="en-US" sz="1200" dirty="0">
                <a:solidFill>
                  <a:srgbClr val="E6EDF3"/>
                </a:solidFill>
                <a:latin typeface="Consolas" pitchFamily="34" charset="0"/>
                <a:ea typeface="Consolas" pitchFamily="34" charset="-122"/>
                <a:cs typeface="Consolas" pitchFamily="34" charset="-120"/>
              </a:rPr>
              <a:t> cocokNama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ukm.nama.toLowerCase().contains(kunci);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bool</a:t>
            </a:r>
            <a:r>
              <a:rPr lang="en-US" sz="1200" dirty="0">
                <a:solidFill>
                  <a:srgbClr val="E6EDF3"/>
                </a:solidFill>
                <a:latin typeface="Consolas" pitchFamily="34" charset="0"/>
                <a:ea typeface="Consolas" pitchFamily="34" charset="-122"/>
                <a:cs typeface="Consolas" pitchFamily="34" charset="-120"/>
              </a:rPr>
              <a:t> cocokKategori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_kategori ==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ukm.kategori == _kategori;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cocokNama &amp;&amp; cocokKategori;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}).toList();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9" name="tombol tautan">
            <a:hlinkClick r:id="rId3" tooltip="https://github.com/antonprafanto/mobile2026/blob/main/pertemuan_06_daftar_dan_navigasi/kode/contoh_06_pencarian_dan_filter.dart"/>
          </p:cNvPr>
          <p:cNvSpPr txBox="1"/>
          <p:nvPr/>
        </p:nvSpPr>
        <p:spPr>
          <a:xfrm>
            <a:off x="548640" y="4270248"/>
            <a:ext cx="515081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contoh_06_pencarian_dan_filter.dart</a:t>
            </a:r>
            <a:endParaRPr lang="en-US" sz="1300" dirty="0"/>
          </a:p>
        </p:txBody>
      </p:sp>
      <p:pic>
        <p:nvPicPr>
          <p:cNvPr id="10" name="Image 2" descr="ikon tautan">
            <a:hlinkClick r:id="rId5" tooltip="https://github.com/antonprafanto/mobile2026/blob/main/pertemuan_06_daftar_dan_navigasi/kode/contoh_06_pencarian_dan_filter.dart"/>
          </p:cNvPr>
          <p:cNvPicPr>
            <a:picLocks noChangeAspect="1"/>
          </p:cNvPicPr>
          <p:nvPr/>
        </p:nvPicPr>
        <p:blipFill>
          <a:blip r:embed="rId4"/>
          <a:stretch>
            <a:fillRect/>
          </a:stretch>
        </p:blipFill>
        <p:spPr>
          <a:xfrm>
            <a:off x="694944" y="4361688"/>
            <a:ext cx="274320" cy="274320"/>
          </a:xfrm>
          <a:prstGeom prst="rect">
            <a:avLst/>
          </a:prstGeom>
        </p:spPr>
      </p:pic>
      <p:sp>
        <p:nvSpPr>
          <p:cNvPr id="11" name="daftar poin"/>
          <p:cNvSpPr txBox="1"/>
          <p:nvPr/>
        </p:nvSpPr>
        <p:spPr>
          <a:xfrm>
            <a:off x="548640" y="5001768"/>
            <a:ext cx="5150815" cy="121615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Kata kunci DAN nama sama-sama toLowerCase().</a:t>
            </a:r>
            <a:endParaRPr lang="en-US" sz="1500" dirty="0"/>
          </a:p>
          <a:p>
            <a:pPr marL="228600" indent="-228600">
              <a:spcAft>
                <a:spcPts val="800"/>
              </a:spcAft>
              <a:buSzPct val="100000"/>
              <a:buChar char="•"/>
            </a:pPr>
            <a:r>
              <a:rPr lang="en-US" sz="1500" dirty="0">
                <a:solidFill>
                  <a:schemeClr val="tx1"/>
                </a:solidFill>
              </a:rPr>
              <a:t>clear() tidak memanggil onChanged: kosongkan juga _kataKunci.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5</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Navigator: Berpindah Halaman</a:t>
            </a:r>
            <a:endParaRPr lang="en-US" sz="4000" dirty="0"/>
          </a:p>
        </p:txBody>
      </p:sp>
      <p:sp>
        <p:nvSpPr>
          <p:cNvPr id="5" name="lingkaran lapisan"/>
          <p:cNvSpPr/>
          <p:nvPr/>
        </p:nvSpPr>
        <p:spPr>
          <a:xfrm>
            <a:off x="1097280" y="2148840"/>
            <a:ext cx="2011680" cy="2011680"/>
          </a:xfrm>
          <a:prstGeom prst="ellipse">
            <a:avLst/>
          </a:prstGeom>
          <a:solidFill>
            <a:schemeClr val="accent1"/>
          </a:solidFill>
          <a:ln/>
        </p:spPr>
      </p:sp>
      <p:pic>
        <p:nvPicPr>
          <p:cNvPr id="6" name="Image 0" descr="lapisan">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Halaman Ditumpuk Seperti Piring</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7.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875788"/>
          </a:xfrm>
          <a:prstGeom prst="roundRect">
            <a:avLst>
              <a:gd name="adj" fmla="val 3180"/>
            </a:avLst>
          </a:prstGeom>
          <a:solidFill>
            <a:srgbClr val="0E1A2B"/>
          </a:solidFill>
          <a:ln/>
        </p:spPr>
        <p:txBody>
          <a:bodyPr wrap="square" lIns="177800" tIns="152400" rIns="152400" bIns="177800" rtlCol="0" anchor="t"/>
          <a:lstStyle/>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push: taruh halaman baru di ATAS</a:t>
            </a:r>
            <a:endParaRPr lang="en-US" sz="1400" dirty="0"/>
          </a:p>
          <a:p>
            <a:pPr indent="0" marL="0">
              <a:lnSpc>
                <a:spcPct val="105000"/>
              </a:lnSpc>
              <a:buNone/>
            </a:pPr>
            <a:r>
              <a:rPr lang="en-US" sz="1400" dirty="0">
                <a:solidFill>
                  <a:srgbClr val="FFCB6B"/>
                </a:solidFill>
                <a:latin typeface="Consolas" pitchFamily="34" charset="0"/>
                <a:ea typeface="Consolas" pitchFamily="34" charset="-122"/>
                <a:cs typeface="Consolas" pitchFamily="34" charset="-120"/>
              </a:rPr>
              <a:t>Navigator</a:t>
            </a:r>
            <a:r>
              <a:rPr lang="en-US" sz="1400" dirty="0">
                <a:solidFill>
                  <a:srgbClr val="E6EDF3"/>
                </a:solidFill>
                <a:latin typeface="Consolas" pitchFamily="34" charset="0"/>
                <a:ea typeface="Consolas" pitchFamily="34" charset="-122"/>
                <a:cs typeface="Consolas" pitchFamily="34" charset="-120"/>
              </a:rPr>
              <a:t>.push(</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context,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MaterialPageRoute</a:t>
            </a:r>
            <a:r>
              <a:rPr lang="en-US" sz="1400" dirty="0">
                <a:solidFill>
                  <a:srgbClr val="E6EDF3"/>
                </a:solidFill>
                <a:latin typeface="Consolas" pitchFamily="34" charset="0"/>
                <a:ea typeface="Consolas" pitchFamily="34" charset="-122"/>
                <a:cs typeface="Consolas" pitchFamily="34" charset="-120"/>
              </a:rPr>
              <a:t>&lt;</a:t>
            </a:r>
            <a:r>
              <a:rPr lang="en-US" sz="1400" dirty="0">
                <a:solidFill>
                  <a:srgbClr val="C792EA"/>
                </a:solidFill>
                <a:latin typeface="Consolas" pitchFamily="34" charset="0"/>
                <a:ea typeface="Consolas" pitchFamily="34" charset="-122"/>
                <a:cs typeface="Consolas" pitchFamily="34" charset="-120"/>
              </a:rPr>
              <a:t>void</a:t>
            </a:r>
            <a:r>
              <a:rPr lang="en-US" sz="1400" dirty="0">
                <a:solidFill>
                  <a:srgbClr val="E6EDF3"/>
                </a:solidFill>
                <a:latin typeface="Consolas" pitchFamily="34" charset="0"/>
                <a:ea typeface="Consolas" pitchFamily="34" charset="-122"/>
                <a:cs typeface="Consolas" pitchFamily="34" charset="-120"/>
              </a:rPr>
              <a:t>&gt;(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builder: (</a:t>
            </a:r>
            <a:r>
              <a:rPr lang="en-US" sz="1400" dirty="0">
                <a:solidFill>
                  <a:srgbClr val="FFCB6B"/>
                </a:solidFill>
                <a:latin typeface="Consolas" pitchFamily="34" charset="0"/>
                <a:ea typeface="Consolas" pitchFamily="34" charset="-122"/>
                <a:cs typeface="Consolas" pitchFamily="34" charset="-120"/>
              </a:rPr>
              <a:t>BuildContext</a:t>
            </a:r>
            <a:r>
              <a:rPr lang="en-US" sz="1400" dirty="0">
                <a:solidFill>
                  <a:srgbClr val="E6EDF3"/>
                </a:solidFill>
                <a:latin typeface="Consolas" pitchFamily="34" charset="0"/>
                <a:ea typeface="Consolas" pitchFamily="34" charset="-122"/>
                <a:cs typeface="Consolas" pitchFamily="34" charset="-120"/>
              </a:rPr>
              <a:t> context) =&gt;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const</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HalamanProfil</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pop: ambil halaman teratas</a:t>
            </a:r>
            <a:endParaRPr lang="en-US" sz="1400" dirty="0"/>
          </a:p>
          <a:p>
            <a:pPr indent="0" marL="0">
              <a:lnSpc>
                <a:spcPct val="105000"/>
              </a:lnSpc>
              <a:buNone/>
            </a:pPr>
            <a:r>
              <a:rPr lang="en-US" sz="1400" dirty="0">
                <a:solidFill>
                  <a:srgbClr val="FFCB6B"/>
                </a:solidFill>
                <a:latin typeface="Consolas" pitchFamily="34" charset="0"/>
                <a:ea typeface="Consolas" pitchFamily="34" charset="-122"/>
                <a:cs typeface="Consolas" pitchFamily="34" charset="-120"/>
              </a:rPr>
              <a:t>Navigator</a:t>
            </a:r>
            <a:r>
              <a:rPr lang="en-US" sz="1400" dirty="0">
                <a:solidFill>
                  <a:srgbClr val="E6EDF3"/>
                </a:solidFill>
                <a:latin typeface="Consolas" pitchFamily="34" charset="0"/>
                <a:ea typeface="Consolas" pitchFamily="34" charset="-122"/>
                <a:cs typeface="Consolas" pitchFamily="34" charset="-120"/>
              </a:rPr>
              <a:t>.pop(context);</a:t>
            </a:r>
            <a:endParaRPr lang="en-US" sz="1400" dirty="0"/>
          </a:p>
        </p:txBody>
      </p:sp>
      <p:sp>
        <p:nvSpPr>
          <p:cNvPr id="7" name="tombol tautan">
            <a:hlinkClick r:id="rId2" tooltip="https://github.com/antonprafanto/mobile2026/blob/main/pertemuan_06_daftar_dan_navigasi/kode/contoh_07_navigator_push_pop.dart"/>
          </p:cNvPr>
          <p:cNvSpPr txBox="1"/>
          <p:nvPr/>
        </p:nvSpPr>
        <p:spPr>
          <a:xfrm>
            <a:off x="548640" y="4430268"/>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contoh_07_navigator_push_pop.dart</a:t>
            </a:r>
            <a:endParaRPr lang="en-US" sz="1300" dirty="0"/>
          </a:p>
        </p:txBody>
      </p:sp>
      <p:pic>
        <p:nvPicPr>
          <p:cNvPr id="8" name="Image 1" descr="ikon tautan">
            <a:hlinkClick r:id="rId4" tooltip="https://github.com/antonprafanto/mobile2026/blob/main/pertemuan_06_daftar_dan_navigasi/kode/contoh_07_navigator_push_pop.dart"/>
          </p:cNvPr>
          <p:cNvPicPr>
            <a:picLocks noChangeAspect="1"/>
          </p:cNvPicPr>
          <p:nvPr/>
        </p:nvPicPr>
        <p:blipFill>
          <a:blip r:embed="rId3"/>
          <a:stretch>
            <a:fillRect/>
          </a:stretch>
        </p:blipFill>
        <p:spPr>
          <a:xfrm>
            <a:off x="694944" y="4521708"/>
            <a:ext cx="274320" cy="274320"/>
          </a:xfrm>
          <a:prstGeom prst="rect">
            <a:avLst/>
          </a:prstGeom>
        </p:spPr>
      </p:pic>
      <p:sp>
        <p:nvSpPr>
          <p:cNvPr id="9" name="daftar poin"/>
          <p:cNvSpPr txBox="1"/>
          <p:nvPr/>
        </p:nvSpPr>
        <p:spPr>
          <a:xfrm>
            <a:off x="548640" y="5161788"/>
            <a:ext cx="7608319" cy="105613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Halaman di bawah tidak dibuang; state-nya tetap ada.</a:t>
            </a:r>
            <a:endParaRPr lang="en-US" sz="1600" dirty="0"/>
          </a:p>
          <a:p>
            <a:pPr marL="228600" indent="-228600">
              <a:spcAft>
                <a:spcPts val="800"/>
              </a:spcAft>
              <a:buSzPct val="100000"/>
              <a:buChar char="•"/>
            </a:pPr>
            <a:r>
              <a:rPr lang="en-US" sz="1600" dirty="0">
                <a:solidFill>
                  <a:schemeClr val="tx1"/>
                </a:solidFill>
              </a:rPr>
              <a:t>AppBar otomatis menampilkan panah kembali selama masih ada halaman di bawah.</a:t>
            </a:r>
            <a:endParaRPr lang="en-US" sz="1600" dirty="0"/>
          </a:p>
          <a:p>
            <a:pPr marL="228600" indent="-228600">
              <a:spcAft>
                <a:spcPts val="800"/>
              </a:spcAft>
              <a:buSzPct val="100000"/>
              <a:buChar char="•"/>
            </a:pPr>
            <a:r>
              <a:rPr lang="en-US" sz="1600" dirty="0">
                <a:solidFill>
                  <a:schemeClr val="tx1"/>
                </a:solidFill>
              </a:rPr>
              <a:t>Yang terakhir masuk, yang pertama keluar.</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Perintah Navigator</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677962"/>
                <a:gridCol w="4112585"/>
                <a:gridCol w="4303868"/>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Perintah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Yang terjadi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Contoh penggunaan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8580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push</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Tambah halaman di atas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Membuka halaman detail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8580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pop</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Ambil halaman teratas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Kembali dari halaman detail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8580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popUntil</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Terus pop sampai syarat terpenuhi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"Kembali ke beranda" dari halaman yang dalam</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8580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pushReplacement</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Ganti halaman teratas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Dari login ke beranda, agar tidak bisa kembali ke login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8580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maybePop</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pop jika diizinkan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Dipakai panah kembali; menghormati PopScope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8580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canPop</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Masih ada halaman di bawah?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Menentukan perlu tidaknya tombol Kembali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Mengirim Data lewat Constructor</a:t>
            </a:r>
            <a:endParaRPr lang="en-US" sz="3200" dirty="0"/>
          </a:p>
        </p:txBody>
      </p:sp>
      <p:sp>
        <p:nvSpPr>
          <p:cNvPr id="4" name="bingkai layar 1"/>
          <p:cNvSpPr/>
          <p:nvPr/>
        </p:nvSpPr>
        <p:spPr>
          <a:xfrm>
            <a:off x="6101791" y="1316736"/>
            <a:ext cx="2715768" cy="4161454"/>
          </a:xfrm>
          <a:prstGeom prst="roundRect">
            <a:avLst>
              <a:gd name="adj" fmla="val 3367"/>
            </a:avLst>
          </a:prstGeom>
          <a:solidFill>
            <a:srgbClr val="FFFFFF"/>
          </a:solidFill>
          <a:ln w="12700">
            <a:solidFill>
              <a:srgbClr val="C9D3E0"/>
            </a:solidFill>
            <a:prstDash val="solid"/>
          </a:ln>
        </p:spPr>
      </p:sp>
      <p:pic>
        <p:nvPicPr>
          <p:cNvPr id="5" name="layar 1" descr="Tangkapan layar aplikasi (hasil_contoh_08a.jpg)">    </p:cNvPr>
          <p:cNvPicPr>
            <a:picLocks noChangeAspect="1"/>
          </p:cNvPicPr>
          <p:nvPr/>
        </p:nvPicPr>
        <p:blipFill>
          <a:blip r:embed="rId1"/>
          <a:stretch>
            <a:fillRect/>
          </a:stretch>
        </p:blipFill>
        <p:spPr>
          <a:xfrm>
            <a:off x="6156655" y="1371600"/>
            <a:ext cx="2606040" cy="4051726"/>
          </a:xfrm>
          <a:prstGeom prst="rect">
            <a:avLst/>
          </a:prstGeom>
        </p:spPr>
      </p:pic>
      <p:sp>
        <p:nvSpPr>
          <p:cNvPr id="6" name="bingkai layar 2"/>
          <p:cNvSpPr/>
          <p:nvPr/>
        </p:nvSpPr>
        <p:spPr>
          <a:xfrm>
            <a:off x="8982151" y="1316736"/>
            <a:ext cx="2715768" cy="4161454"/>
          </a:xfrm>
          <a:prstGeom prst="roundRect">
            <a:avLst>
              <a:gd name="adj" fmla="val 3367"/>
            </a:avLst>
          </a:prstGeom>
          <a:solidFill>
            <a:srgbClr val="FFFFFF"/>
          </a:solidFill>
          <a:ln w="12700">
            <a:solidFill>
              <a:srgbClr val="C9D3E0"/>
            </a:solidFill>
            <a:prstDash val="solid"/>
          </a:ln>
        </p:spPr>
      </p:sp>
      <p:pic>
        <p:nvPicPr>
          <p:cNvPr id="7" name="layar 2" descr="Tangkapan layar aplikasi (hasil_contoh_08b.jpg)">    </p:cNvPr>
          <p:cNvPicPr>
            <a:picLocks noChangeAspect="1"/>
          </p:cNvPicPr>
          <p:nvPr/>
        </p:nvPicPr>
        <p:blipFill>
          <a:blip r:embed="rId2"/>
          <a:stretch>
            <a:fillRect/>
          </a:stretch>
        </p:blipFill>
        <p:spPr>
          <a:xfrm>
            <a:off x="9037015" y="1371600"/>
            <a:ext cx="2606040" cy="4051726"/>
          </a:xfrm>
          <a:prstGeom prst="rect">
            <a:avLst/>
          </a:prstGeom>
        </p:spPr>
      </p:pic>
      <p:sp>
        <p:nvSpPr>
          <p:cNvPr id="8" name="kotak kode"/>
          <p:cNvSpPr txBox="1"/>
          <p:nvPr/>
        </p:nvSpPr>
        <p:spPr>
          <a:xfrm>
            <a:off x="548640" y="1371600"/>
            <a:ext cx="5150815"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class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HalamanDetailGedung</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extends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StatelessWidget</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HalamanDetailGedung</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super</a:t>
            </a:r>
            <a:r>
              <a:rPr lang="en-US" sz="1200" dirty="0">
                <a:solidFill>
                  <a:srgbClr val="E6EDF3"/>
                </a:solidFill>
                <a:latin typeface="Consolas" pitchFamily="34" charset="0"/>
                <a:ea typeface="Consolas" pitchFamily="34" charset="-122"/>
                <a:cs typeface="Consolas" pitchFamily="34" charset="-120"/>
              </a:rPr>
              <a:t>.key,</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required</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this</a:t>
            </a:r>
            <a:r>
              <a:rPr lang="en-US" sz="1200" dirty="0">
                <a:solidFill>
                  <a:srgbClr val="E6EDF3"/>
                </a:solidFill>
                <a:latin typeface="Consolas" pitchFamily="34" charset="0"/>
                <a:ea typeface="Consolas" pitchFamily="34" charset="-122"/>
                <a:cs typeface="Consolas" pitchFamily="34" charset="-120"/>
              </a:rPr>
              <a:t>.gedung,</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Gedung</a:t>
            </a:r>
            <a:r>
              <a:rPr lang="en-US" sz="1200" dirty="0">
                <a:solidFill>
                  <a:srgbClr val="E6EDF3"/>
                </a:solidFill>
                <a:latin typeface="Consolas" pitchFamily="34" charset="0"/>
                <a:ea typeface="Consolas" pitchFamily="34" charset="-122"/>
                <a:cs typeface="Consolas" pitchFamily="34" charset="-120"/>
              </a:rPr>
              <a:t> gedung; </a:t>
            </a:r>
            <a:r>
              <a:rPr lang="en-US" sz="1200" i="1" dirty="0">
                <a:solidFill>
                  <a:srgbClr val="8FA3BC"/>
                </a:solidFill>
                <a:latin typeface="Consolas" pitchFamily="34" charset="0"/>
                <a:ea typeface="Consolas" pitchFamily="34" charset="-122"/>
                <a:cs typeface="Consolas" pitchFamily="34" charset="-120"/>
              </a:rPr>
              <a:t>// data masuk</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build(): gedung.nama, gedung.jamBuka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di halaman daftar, saat diketuk:</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builder: (</a:t>
            </a:r>
            <a:r>
              <a:rPr lang="en-US" sz="1200" dirty="0">
                <a:solidFill>
                  <a:srgbClr val="FFCB6B"/>
                </a:solidFill>
                <a:latin typeface="Consolas" pitchFamily="34" charset="0"/>
                <a:ea typeface="Consolas" pitchFamily="34" charset="-122"/>
                <a:cs typeface="Consolas" pitchFamily="34" charset="-120"/>
              </a:rPr>
              <a:t>BuildContext</a:t>
            </a:r>
            <a:r>
              <a:rPr lang="en-US" sz="1200" dirty="0">
                <a:solidFill>
                  <a:srgbClr val="E6EDF3"/>
                </a:solidFill>
                <a:latin typeface="Consolas" pitchFamily="34" charset="0"/>
                <a:ea typeface="Consolas" pitchFamily="34" charset="-122"/>
                <a:cs typeface="Consolas" pitchFamily="34" charset="-120"/>
              </a:rPr>
              <a:t> context)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HalamanDetailGedung</a:t>
            </a:r>
            <a:r>
              <a:rPr lang="en-US" sz="1200" dirty="0">
                <a:solidFill>
                  <a:srgbClr val="E6EDF3"/>
                </a:solidFill>
                <a:latin typeface="Consolas" pitchFamily="34" charset="0"/>
                <a:ea typeface="Consolas" pitchFamily="34" charset="-122"/>
                <a:cs typeface="Consolas" pitchFamily="34" charset="-120"/>
              </a:rPr>
              <a:t>(gedung: gedung),</a:t>
            </a:r>
            <a:endParaRPr lang="en-US" sz="1200" dirty="0"/>
          </a:p>
        </p:txBody>
      </p:sp>
      <p:sp>
        <p:nvSpPr>
          <p:cNvPr id="9" name="tombol tautan">
            <a:hlinkClick r:id="rId3" tooltip="https://github.com/antonprafanto/mobile2026/blob/main/pertemuan_06_daftar_dan_navigasi/kode/contoh_08_mengirim_data.dart"/>
          </p:cNvPr>
          <p:cNvSpPr txBox="1"/>
          <p:nvPr/>
        </p:nvSpPr>
        <p:spPr>
          <a:xfrm>
            <a:off x="548640" y="4462272"/>
            <a:ext cx="515081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contoh_08_mengirim_data.dart</a:t>
            </a:r>
            <a:endParaRPr lang="en-US" sz="1300" dirty="0"/>
          </a:p>
        </p:txBody>
      </p:sp>
      <p:pic>
        <p:nvPicPr>
          <p:cNvPr id="10" name="Image 2" descr="ikon tautan">
            <a:hlinkClick r:id="rId5" tooltip="https://github.com/antonprafanto/mobile2026/blob/main/pertemuan_06_daftar_dan_navigasi/kode/contoh_08_mengirim_data.dart"/>
          </p:cNvPr>
          <p:cNvPicPr>
            <a:picLocks noChangeAspect="1"/>
          </p:cNvPicPr>
          <p:nvPr/>
        </p:nvPicPr>
        <p:blipFill>
          <a:blip r:embed="rId4"/>
          <a:stretch>
            <a:fillRect/>
          </a:stretch>
        </p:blipFill>
        <p:spPr>
          <a:xfrm>
            <a:off x="694944" y="4553712"/>
            <a:ext cx="274320" cy="274320"/>
          </a:xfrm>
          <a:prstGeom prst="rect">
            <a:avLst/>
          </a:prstGeom>
        </p:spPr>
      </p:pic>
      <p:sp>
        <p:nvSpPr>
          <p:cNvPr id="11" name="daftar poin"/>
          <p:cNvSpPr txBox="1"/>
          <p:nvPr/>
        </p:nvSpPr>
        <p:spPr>
          <a:xfrm>
            <a:off x="548640" y="5193792"/>
            <a:ext cx="5150815" cy="1024128"/>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Halaman = widget biasa (Pertemuan 4).</a:t>
            </a:r>
            <a:endParaRPr lang="en-US" sz="1500" dirty="0"/>
          </a:p>
          <a:p>
            <a:pPr marL="228600" indent="-228600">
              <a:spcAft>
                <a:spcPts val="800"/>
              </a:spcAft>
              <a:buSzPct val="100000"/>
              <a:buChar char="•"/>
            </a:pPr>
            <a:r>
              <a:rPr lang="en-US" sz="1500" dirty="0">
                <a:solidFill>
                  <a:schemeClr val="tx1"/>
                </a:solidFill>
              </a:rPr>
              <a:t>Hindari variabel global untuk data.</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Menerima Hasil dari Halaman</a:t>
            </a:r>
            <a:endParaRPr lang="en-US" sz="3200" dirty="0"/>
          </a:p>
        </p:txBody>
      </p:sp>
      <p:sp>
        <p:nvSpPr>
          <p:cNvPr id="4" name="bingkai layar 1"/>
          <p:cNvSpPr/>
          <p:nvPr/>
        </p:nvSpPr>
        <p:spPr>
          <a:xfrm>
            <a:off x="6101791" y="1316736"/>
            <a:ext cx="2715768" cy="4161454"/>
          </a:xfrm>
          <a:prstGeom prst="roundRect">
            <a:avLst>
              <a:gd name="adj" fmla="val 3367"/>
            </a:avLst>
          </a:prstGeom>
          <a:solidFill>
            <a:srgbClr val="FFFFFF"/>
          </a:solidFill>
          <a:ln w="12700">
            <a:solidFill>
              <a:srgbClr val="C9D3E0"/>
            </a:solidFill>
            <a:prstDash val="solid"/>
          </a:ln>
        </p:spPr>
      </p:sp>
      <p:pic>
        <p:nvPicPr>
          <p:cNvPr id="5" name="layar 1" descr="Tangkapan layar aplikasi (hasil_contoh_09a.jpg)">    </p:cNvPr>
          <p:cNvPicPr>
            <a:picLocks noChangeAspect="1"/>
          </p:cNvPicPr>
          <p:nvPr/>
        </p:nvPicPr>
        <p:blipFill>
          <a:blip r:embed="rId1"/>
          <a:stretch>
            <a:fillRect/>
          </a:stretch>
        </p:blipFill>
        <p:spPr>
          <a:xfrm>
            <a:off x="6156655" y="1371600"/>
            <a:ext cx="2606040" cy="4051726"/>
          </a:xfrm>
          <a:prstGeom prst="rect">
            <a:avLst/>
          </a:prstGeom>
        </p:spPr>
      </p:pic>
      <p:sp>
        <p:nvSpPr>
          <p:cNvPr id="6" name="bingkai layar 2"/>
          <p:cNvSpPr/>
          <p:nvPr/>
        </p:nvSpPr>
        <p:spPr>
          <a:xfrm>
            <a:off x="8982151" y="1316736"/>
            <a:ext cx="2715768" cy="4161454"/>
          </a:xfrm>
          <a:prstGeom prst="roundRect">
            <a:avLst>
              <a:gd name="adj" fmla="val 3367"/>
            </a:avLst>
          </a:prstGeom>
          <a:solidFill>
            <a:srgbClr val="FFFFFF"/>
          </a:solidFill>
          <a:ln w="12700">
            <a:solidFill>
              <a:srgbClr val="C9D3E0"/>
            </a:solidFill>
            <a:prstDash val="solid"/>
          </a:ln>
        </p:spPr>
      </p:sp>
      <p:pic>
        <p:nvPicPr>
          <p:cNvPr id="7" name="layar 2" descr="Tangkapan layar aplikasi (hasil_contoh_09b.jpg)">    </p:cNvPr>
          <p:cNvPicPr>
            <a:picLocks noChangeAspect="1"/>
          </p:cNvPicPr>
          <p:nvPr/>
        </p:nvPicPr>
        <p:blipFill>
          <a:blip r:embed="rId2"/>
          <a:stretch>
            <a:fillRect/>
          </a:stretch>
        </p:blipFill>
        <p:spPr>
          <a:xfrm>
            <a:off x="9037015" y="1371600"/>
            <a:ext cx="2606040" cy="4051726"/>
          </a:xfrm>
          <a:prstGeom prst="rect">
            <a:avLst/>
          </a:prstGeom>
        </p:spPr>
      </p:pic>
      <p:sp>
        <p:nvSpPr>
          <p:cNvPr id="8" name="kotak kode"/>
          <p:cNvSpPr txBox="1"/>
          <p:nvPr/>
        </p:nvSpPr>
        <p:spPr>
          <a:xfrm>
            <a:off x="548640" y="1371600"/>
            <a:ext cx="5150815" cy="2715768"/>
          </a:xfrm>
          <a:prstGeom prst="roundRect">
            <a:avLst>
              <a:gd name="adj" fmla="val 3367"/>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Halaman pertama: TUNGGU hasilnya</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kota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Navigator</a:t>
            </a:r>
            <a:r>
              <a:rPr lang="en-US" sz="1200" dirty="0">
                <a:solidFill>
                  <a:srgbClr val="E6EDF3"/>
                </a:solidFill>
                <a:latin typeface="Consolas" pitchFamily="34" charset="0"/>
                <a:ea typeface="Consolas" pitchFamily="34" charset="-122"/>
                <a:cs typeface="Consolas" pitchFamily="34" charset="-120"/>
              </a:rPr>
              <a:t>.push&lt;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context,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MaterialPageRoute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&gt;(builder: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(!mounted)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(kota ==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tanpa memilih</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setState(() { _kotaTujuan = kota;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Halaman kedua: tutup SAMBIL membawa hasil</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Navigator</a:t>
            </a:r>
            <a:r>
              <a:rPr lang="en-US" sz="1200" dirty="0">
                <a:solidFill>
                  <a:srgbClr val="E6EDF3"/>
                </a:solidFill>
                <a:latin typeface="Consolas" pitchFamily="34" charset="0"/>
                <a:ea typeface="Consolas" pitchFamily="34" charset="-122"/>
                <a:cs typeface="Consolas" pitchFamily="34" charset="-120"/>
              </a:rPr>
              <a:t>.pop(context, kota);</a:t>
            </a:r>
            <a:endParaRPr lang="en-US" sz="1200" dirty="0"/>
          </a:p>
        </p:txBody>
      </p:sp>
      <p:sp>
        <p:nvSpPr>
          <p:cNvPr id="9" name="tombol tautan">
            <a:hlinkClick r:id="rId3" tooltip="https://github.com/antonprafanto/mobile2026/blob/main/pertemuan_06_daftar_dan_navigasi/kode/contoh_09_menerima_hasil.dart"/>
          </p:cNvPr>
          <p:cNvSpPr txBox="1"/>
          <p:nvPr/>
        </p:nvSpPr>
        <p:spPr>
          <a:xfrm>
            <a:off x="548640" y="4270248"/>
            <a:ext cx="515081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contoh_09_menerima_hasil.dart</a:t>
            </a:r>
            <a:endParaRPr lang="en-US" sz="1300" dirty="0"/>
          </a:p>
        </p:txBody>
      </p:sp>
      <p:pic>
        <p:nvPicPr>
          <p:cNvPr id="10" name="Image 2" descr="ikon tautan">
            <a:hlinkClick r:id="rId5" tooltip="https://github.com/antonprafanto/mobile2026/blob/main/pertemuan_06_daftar_dan_navigasi/kode/contoh_09_menerima_hasil.dart"/>
          </p:cNvPr>
          <p:cNvPicPr>
            <a:picLocks noChangeAspect="1"/>
          </p:cNvPicPr>
          <p:nvPr/>
        </p:nvPicPr>
        <p:blipFill>
          <a:blip r:embed="rId4"/>
          <a:stretch>
            <a:fillRect/>
          </a:stretch>
        </p:blipFill>
        <p:spPr>
          <a:xfrm>
            <a:off x="694944" y="4361688"/>
            <a:ext cx="274320" cy="274320"/>
          </a:xfrm>
          <a:prstGeom prst="rect">
            <a:avLst/>
          </a:prstGeom>
        </p:spPr>
      </p:pic>
      <p:sp>
        <p:nvSpPr>
          <p:cNvPr id="11" name="daftar poin"/>
          <p:cNvSpPr txBox="1"/>
          <p:nvPr/>
        </p:nvSpPr>
        <p:spPr>
          <a:xfrm>
            <a:off x="548640" y="5001768"/>
            <a:ext cx="5150815" cy="121615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Tipe hasil ditulis dua kali: push&lt;String&gt; dan MaterialPageRoute&lt;String&gt;.</a:t>
            </a:r>
            <a:endParaRPr lang="en-US" sz="1500" dirty="0"/>
          </a:p>
          <a:p>
            <a:pPr marL="228600" indent="-228600">
              <a:spcAft>
                <a:spcPts val="800"/>
              </a:spcAft>
              <a:buSzPct val="100000"/>
              <a:buChar char="•"/>
            </a:pPr>
            <a:r>
              <a:rPr lang="en-US" sz="1500" dirty="0">
                <a:solidFill>
                  <a:schemeClr val="tx1"/>
                </a:solidFill>
              </a:rPr>
              <a:t>Panah kembali = hasil null.</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PopScope: Menahan Tombol Kembali</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10.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PopScope</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false = tombol kembali DITAHAN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canPop: !_adaIsi,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onPopInvokedWithResult: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bool</a:t>
            </a:r>
            <a:r>
              <a:rPr lang="en-US" sz="1300" dirty="0">
                <a:solidFill>
                  <a:srgbClr val="E6EDF3"/>
                </a:solidFill>
                <a:latin typeface="Consolas" pitchFamily="34" charset="0"/>
                <a:ea typeface="Consolas" pitchFamily="34" charset="-122"/>
                <a:cs typeface="Consolas" pitchFamily="34" charset="-120"/>
              </a:rPr>
              <a:t> sudahTertutup, </a:t>
            </a:r>
            <a:r>
              <a:rPr lang="en-US" sz="1300" dirty="0">
                <a:solidFill>
                  <a:srgbClr val="FFCB6B"/>
                </a:solidFill>
                <a:latin typeface="Consolas" pitchFamily="34" charset="0"/>
                <a:ea typeface="Consolas" pitchFamily="34" charset="-122"/>
                <a:cs typeface="Consolas" pitchFamily="34" charset="-120"/>
              </a:rPr>
              <a:t>Object</a:t>
            </a:r>
            <a:r>
              <a:rPr lang="en-US" sz="1300" dirty="0">
                <a:solidFill>
                  <a:srgbClr val="E6EDF3"/>
                </a:solidFill>
                <a:latin typeface="Consolas" pitchFamily="34" charset="0"/>
                <a:ea typeface="Consolas" pitchFamily="34" charset="-122"/>
                <a:cs typeface="Consolas" pitchFamily="34" charset="-120"/>
              </a:rPr>
              <a:t>? hasil) </a:t>
            </a:r>
            <a:r>
              <a:rPr lang="en-US" sz="1300" dirty="0">
                <a:solidFill>
                  <a:srgbClr val="C792EA"/>
                </a:solidFill>
                <a:latin typeface="Consolas" pitchFamily="34" charset="0"/>
                <a:ea typeface="Consolas" pitchFamily="34" charset="-122"/>
                <a:cs typeface="Consolas" pitchFamily="34" charset="-120"/>
              </a:rPr>
              <a:t>async</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if</a:t>
            </a:r>
            <a:r>
              <a:rPr lang="en-US" sz="1300" dirty="0">
                <a:solidFill>
                  <a:srgbClr val="E6EDF3"/>
                </a:solidFill>
                <a:latin typeface="Consolas" pitchFamily="34" charset="0"/>
                <a:ea typeface="Consolas" pitchFamily="34" charset="-122"/>
                <a:cs typeface="Consolas" pitchFamily="34" charset="-120"/>
              </a:rPr>
              <a:t> (sudahTertutup) </a:t>
            </a:r>
            <a:r>
              <a:rPr lang="en-US" sz="1300" dirty="0">
                <a:solidFill>
                  <a:srgbClr val="C792EA"/>
                </a:solidFill>
                <a:latin typeface="Consolas" pitchFamily="34" charset="0"/>
                <a:ea typeface="Consolas" pitchFamily="34" charset="-122"/>
                <a:cs typeface="Consolas" pitchFamily="34" charset="-120"/>
              </a:rPr>
              <a:t>return</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bool</a:t>
            </a:r>
            <a:r>
              <a:rPr lang="en-US" sz="1300" dirty="0">
                <a:solidFill>
                  <a:srgbClr val="E6EDF3"/>
                </a:solidFill>
                <a:latin typeface="Consolas" pitchFamily="34" charset="0"/>
                <a:ea typeface="Consolas" pitchFamily="34" charset="-122"/>
                <a:cs typeface="Consolas" pitchFamily="34" charset="-120"/>
              </a:rPr>
              <a:t> buang = </a:t>
            </a:r>
            <a:r>
              <a:rPr lang="en-US" sz="1300" dirty="0">
                <a:solidFill>
                  <a:srgbClr val="C792EA"/>
                </a:solidFill>
                <a:latin typeface="Consolas" pitchFamily="34" charset="0"/>
                <a:ea typeface="Consolas" pitchFamily="34" charset="-122"/>
                <a:cs typeface="Consolas" pitchFamily="34" charset="-120"/>
              </a:rPr>
              <a:t>await</a:t>
            </a:r>
            <a:r>
              <a:rPr lang="en-US" sz="1300" dirty="0">
                <a:solidFill>
                  <a:srgbClr val="E6EDF3"/>
                </a:solidFill>
                <a:latin typeface="Consolas" pitchFamily="34" charset="0"/>
                <a:ea typeface="Consolas" pitchFamily="34" charset="-122"/>
                <a:cs typeface="Consolas" pitchFamily="34" charset="-120"/>
              </a:rPr>
              <a:t> _tanyaBuang();</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if</a:t>
            </a:r>
            <a:r>
              <a:rPr lang="en-US" sz="1300" dirty="0">
                <a:solidFill>
                  <a:srgbClr val="E6EDF3"/>
                </a:solidFill>
                <a:latin typeface="Consolas" pitchFamily="34" charset="0"/>
                <a:ea typeface="Consolas" pitchFamily="34" charset="-122"/>
                <a:cs typeface="Consolas" pitchFamily="34" charset="-120"/>
              </a:rPr>
              <a:t> (!context.mounted) </a:t>
            </a:r>
            <a:r>
              <a:rPr lang="en-US" sz="1300" dirty="0">
                <a:solidFill>
                  <a:srgbClr val="C792EA"/>
                </a:solidFill>
                <a:latin typeface="Consolas" pitchFamily="34" charset="0"/>
                <a:ea typeface="Consolas" pitchFamily="34" charset="-122"/>
                <a:cs typeface="Consolas" pitchFamily="34" charset="-120"/>
              </a:rPr>
              <a:t>return</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if</a:t>
            </a:r>
            <a:r>
              <a:rPr lang="en-US" sz="1300" dirty="0">
                <a:solidFill>
                  <a:srgbClr val="E6EDF3"/>
                </a:solidFill>
                <a:latin typeface="Consolas" pitchFamily="34" charset="0"/>
                <a:ea typeface="Consolas" pitchFamily="34" charset="-122"/>
                <a:cs typeface="Consolas" pitchFamily="34" charset="-120"/>
              </a:rPr>
              <a:t> (buang) </a:t>
            </a:r>
            <a:r>
              <a:rPr lang="en-US" sz="1300" dirty="0">
                <a:solidFill>
                  <a:srgbClr val="FFCB6B"/>
                </a:solidFill>
                <a:latin typeface="Consolas" pitchFamily="34" charset="0"/>
                <a:ea typeface="Consolas" pitchFamily="34" charset="-122"/>
                <a:cs typeface="Consolas" pitchFamily="34" charset="-120"/>
              </a:rPr>
              <a:t>Navigator</a:t>
            </a:r>
            <a:r>
              <a:rPr lang="en-US" sz="1300" dirty="0">
                <a:solidFill>
                  <a:srgbClr val="E6EDF3"/>
                </a:solidFill>
                <a:latin typeface="Consolas" pitchFamily="34" charset="0"/>
                <a:ea typeface="Consolas" pitchFamily="34" charset="-122"/>
                <a:cs typeface="Consolas" pitchFamily="34" charset="-120"/>
              </a:rPr>
              <a:t>.pop(context);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child: </a:t>
            </a:r>
            <a:r>
              <a:rPr lang="en-US" sz="1300" dirty="0">
                <a:solidFill>
                  <a:srgbClr val="FFCB6B"/>
                </a:solidFill>
                <a:latin typeface="Consolas" pitchFamily="34" charset="0"/>
                <a:ea typeface="Consolas" pitchFamily="34" charset="-122"/>
                <a:cs typeface="Consolas" pitchFamily="34" charset="-120"/>
              </a:rPr>
              <a:t>Scaffold</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7" name="tombol tautan">
            <a:hlinkClick r:id="rId2" tooltip="https://github.com/antonprafanto/mobile2026/blob/main/pertemuan_06_daftar_dan_navigasi/kode/contoh_10_popscope.dart"/>
          </p:cNvPr>
          <p:cNvSpPr txBox="1"/>
          <p:nvPr/>
        </p:nvSpPr>
        <p:spPr>
          <a:xfrm>
            <a:off x="548640" y="4462272"/>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contoh_10_popscope.dart</a:t>
            </a:r>
            <a:endParaRPr lang="en-US" sz="1300" dirty="0"/>
          </a:p>
        </p:txBody>
      </p:sp>
      <p:pic>
        <p:nvPicPr>
          <p:cNvPr id="8" name="Image 1" descr="ikon tautan">
            <a:hlinkClick r:id="rId4" tooltip="https://github.com/antonprafanto/mobile2026/blob/main/pertemuan_06_daftar_dan_navigasi/kode/contoh_10_popscope.dart"/>
          </p:cNvPr>
          <p:cNvPicPr>
            <a:picLocks noChangeAspect="1"/>
          </p:cNvPicPr>
          <p:nvPr/>
        </p:nvPicPr>
        <p:blipFill>
          <a:blip r:embed="rId3"/>
          <a:stretch>
            <a:fillRect/>
          </a:stretch>
        </p:blipFill>
        <p:spPr>
          <a:xfrm>
            <a:off x="694944" y="4553712"/>
            <a:ext cx="274320" cy="274320"/>
          </a:xfrm>
          <a:prstGeom prst="rect">
            <a:avLst/>
          </a:prstGeom>
        </p:spPr>
      </p:pic>
      <p:sp>
        <p:nvSpPr>
          <p:cNvPr id="9" name="daftar poin"/>
          <p:cNvSpPr txBox="1"/>
          <p:nvPr/>
        </p:nvSpPr>
        <p:spPr>
          <a:xfrm>
            <a:off x="548640" y="5193792"/>
            <a:ext cx="7608319" cy="1024128"/>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Kosong → langsung tertutup. Ada tulisan → tanya dulu.</a:t>
            </a:r>
            <a:endParaRPr lang="en-US" sz="1500" dirty="0"/>
          </a:p>
          <a:p>
            <a:pPr marL="228600" indent="-228600">
              <a:spcAft>
                <a:spcPts val="800"/>
              </a:spcAft>
              <a:buSzPct val="100000"/>
              <a:buChar char="•"/>
            </a:pPr>
            <a:r>
              <a:rPr lang="en-US" sz="1500" dirty="0">
                <a:solidFill>
                  <a:schemeClr val="tx1"/>
                </a:solidFill>
              </a:rPr>
              <a:t>Navigator.pop buatan kita sendiri (tombol Simpan) tidak ditahan.</a:t>
            </a:r>
            <a:endParaRPr lang="en-US" sz="1500" dirty="0"/>
          </a:p>
          <a:p>
            <a:pPr marL="228600" indent="-228600">
              <a:spcAft>
                <a:spcPts val="800"/>
              </a:spcAft>
              <a:buSzPct val="100000"/>
              <a:buChar char="•"/>
            </a:pPr>
            <a:r>
              <a:rPr lang="en-US" sz="1500" dirty="0">
                <a:solidFill>
                  <a:schemeClr val="tx1"/>
                </a:solidFill>
              </a:rPr>
              <a:t>WillPopScope dan onPopInvoked sudah usang.</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6</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go_router: Setiap Halaman Punya Alamat</a:t>
            </a:r>
            <a:endParaRPr lang="en-US" sz="4000" dirty="0"/>
          </a:p>
        </p:txBody>
      </p:sp>
      <p:sp>
        <p:nvSpPr>
          <p:cNvPr id="5" name="lingkaran rute"/>
          <p:cNvSpPr/>
          <p:nvPr/>
        </p:nvSpPr>
        <p:spPr>
          <a:xfrm>
            <a:off x="1097280" y="2148840"/>
            <a:ext cx="2011680" cy="2011680"/>
          </a:xfrm>
          <a:prstGeom prst="ellipse">
            <a:avLst/>
          </a:prstGeom>
          <a:solidFill>
            <a:schemeClr val="accent1"/>
          </a:solidFill>
          <a:ln/>
        </p:spPr>
      </p:sp>
      <p:pic>
        <p:nvPicPr>
          <p:cNvPr id="6" name="Image 0" descr="rute">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Mengapa Halaman Butuh Alamat?</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Analogi: denah gedung kampus di pintu masuk. Cukup sebut alamatnya ("Gedung B, lantai 2"), denah yang menentukan jalannya.</a:t>
            </a:r>
            <a:endParaRPr lang="en-US" sz="1800" dirty="0"/>
          </a:p>
        </p:txBody>
      </p:sp>
      <p:sp>
        <p:nvSpPr>
          <p:cNvPr id="5" name="kartu 1"/>
          <p:cNvSpPr/>
          <p:nvPr/>
        </p:nvSpPr>
        <p:spPr>
          <a:xfrm>
            <a:off x="548640" y="2011680"/>
            <a:ext cx="3484778" cy="2377440"/>
          </a:xfrm>
          <a:prstGeom prst="roundRect">
            <a:avLst>
              <a:gd name="adj" fmla="val 4615"/>
            </a:avLst>
          </a:prstGeom>
          <a:solidFill>
            <a:schemeClr val="bg2"/>
          </a:solidFill>
          <a:ln/>
        </p:spPr>
      </p:sp>
      <p:sp>
        <p:nvSpPr>
          <p:cNvPr id="6" name="lingkaran web"/>
          <p:cNvSpPr/>
          <p:nvPr/>
        </p:nvSpPr>
        <p:spPr>
          <a:xfrm>
            <a:off x="777240" y="2240280"/>
            <a:ext cx="685800" cy="685800"/>
          </a:xfrm>
          <a:prstGeom prst="ellipse">
            <a:avLst/>
          </a:prstGeom>
          <a:solidFill>
            <a:schemeClr val="accent1"/>
          </a:solidFill>
          <a:ln/>
        </p:spPr>
      </p:sp>
      <p:pic>
        <p:nvPicPr>
          <p:cNvPr id="7" name="Image 0" descr="web">    </p:cNvPr>
          <p:cNvPicPr>
            <a:picLocks noChangeAspect="1"/>
          </p:cNvPicPr>
          <p:nvPr/>
        </p:nvPicPr>
        <p:blipFill>
          <a:blip r:embed="rId1"/>
          <a:stretch>
            <a:fillRect/>
          </a:stretch>
        </p:blipFill>
        <p:spPr>
          <a:xfrm>
            <a:off x="928116" y="2391156"/>
            <a:ext cx="384048" cy="384048"/>
          </a:xfrm>
          <a:prstGeom prst="rect">
            <a:avLst/>
          </a:prstGeom>
        </p:spPr>
      </p:pic>
      <p:sp>
        <p:nvSpPr>
          <p:cNvPr id="8" name="Text 4"/>
          <p:cNvSpPr txBox="1"/>
          <p:nvPr/>
        </p:nvSpPr>
        <p:spPr>
          <a:xfrm>
            <a:off x="1600200"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Alamat di browser</a:t>
            </a:r>
            <a:endParaRPr lang="en-US" sz="1800" dirty="0"/>
          </a:p>
        </p:txBody>
      </p:sp>
      <p:sp>
        <p:nvSpPr>
          <p:cNvPr id="9" name="Text 5"/>
          <p:cNvSpPr txBox="1"/>
          <p:nvPr/>
        </p:nvSpPr>
        <p:spPr>
          <a:xfrm>
            <a:off x="777240" y="3063240"/>
            <a:ext cx="3027578" cy="1188720"/>
          </a:xfrm>
          <a:prstGeom prst="rect">
            <a:avLst/>
          </a:prstGeom>
          <a:noFill/>
          <a:ln/>
        </p:spPr>
        <p:txBody>
          <a:bodyPr wrap="square" lIns="0" tIns="0" rIns="0" bIns="0" rtlCol="0" anchor="t"/>
          <a:lstStyle/>
          <a:p>
            <a:pPr indent="0" marL="0">
              <a:buNone/>
            </a:pPr>
            <a:r>
              <a:rPr lang="en-US" sz="1500" dirty="0">
                <a:solidFill>
                  <a:schemeClr val="tx1"/>
                </a:solidFill>
              </a:rPr>
              <a:t>Setiap halaman punya alamat seperti …/menu/3 yang bisa disalin dan dibagikan.</a:t>
            </a:r>
            <a:endParaRPr lang="en-US" sz="1500" dirty="0"/>
          </a:p>
        </p:txBody>
      </p:sp>
      <p:sp>
        <p:nvSpPr>
          <p:cNvPr id="10" name="kartu 2"/>
          <p:cNvSpPr/>
          <p:nvPr/>
        </p:nvSpPr>
        <p:spPr>
          <a:xfrm>
            <a:off x="4353458" y="2011680"/>
            <a:ext cx="3484778" cy="2377440"/>
          </a:xfrm>
          <a:prstGeom prst="roundRect">
            <a:avLst>
              <a:gd name="adj" fmla="val 4615"/>
            </a:avLst>
          </a:prstGeom>
          <a:solidFill>
            <a:schemeClr val="bg2"/>
          </a:solidFill>
          <a:ln/>
        </p:spPr>
      </p:sp>
      <p:sp>
        <p:nvSpPr>
          <p:cNvPr id="11" name="lingkaran tautan"/>
          <p:cNvSpPr/>
          <p:nvPr/>
        </p:nvSpPr>
        <p:spPr>
          <a:xfrm>
            <a:off x="4582058" y="2240280"/>
            <a:ext cx="685800" cy="685800"/>
          </a:xfrm>
          <a:prstGeom prst="ellipse">
            <a:avLst/>
          </a:prstGeom>
          <a:solidFill>
            <a:schemeClr val="accent1"/>
          </a:solidFill>
          <a:ln/>
        </p:spPr>
      </p:sp>
      <p:pic>
        <p:nvPicPr>
          <p:cNvPr id="12" name="Image 1" descr="tautan">    </p:cNvPr>
          <p:cNvPicPr>
            <a:picLocks noChangeAspect="1"/>
          </p:cNvPicPr>
          <p:nvPr/>
        </p:nvPicPr>
        <p:blipFill>
          <a:blip r:embed="rId2"/>
          <a:stretch>
            <a:fillRect/>
          </a:stretch>
        </p:blipFill>
        <p:spPr>
          <a:xfrm>
            <a:off x="4732934" y="2391156"/>
            <a:ext cx="384048" cy="384048"/>
          </a:xfrm>
          <a:prstGeom prst="rect">
            <a:avLst/>
          </a:prstGeom>
        </p:spPr>
      </p:pic>
      <p:sp>
        <p:nvSpPr>
          <p:cNvPr id="13" name="Text 8"/>
          <p:cNvSpPr txBox="1"/>
          <p:nvPr/>
        </p:nvSpPr>
        <p:spPr>
          <a:xfrm>
            <a:off x="5405018"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Deep linking</a:t>
            </a:r>
            <a:endParaRPr lang="en-US" sz="1800" dirty="0"/>
          </a:p>
        </p:txBody>
      </p:sp>
      <p:sp>
        <p:nvSpPr>
          <p:cNvPr id="14" name="Text 9"/>
          <p:cNvSpPr txBox="1"/>
          <p:nvPr/>
        </p:nvSpPr>
        <p:spPr>
          <a:xfrm>
            <a:off x="4582058" y="3063240"/>
            <a:ext cx="3027578" cy="1188720"/>
          </a:xfrm>
          <a:prstGeom prst="rect">
            <a:avLst/>
          </a:prstGeom>
          <a:noFill/>
          <a:ln/>
        </p:spPr>
        <p:txBody>
          <a:bodyPr wrap="square" lIns="0" tIns="0" rIns="0" bIns="0" rtlCol="0" anchor="t"/>
          <a:lstStyle/>
          <a:p>
            <a:pPr indent="0" marL="0">
              <a:buNone/>
            </a:pPr>
            <a:r>
              <a:rPr lang="en-US" sz="1500" dirty="0">
                <a:solidFill>
                  <a:schemeClr val="tx1"/>
                </a:solidFill>
              </a:rPr>
              <a:t>Notifikasi atau tautan langsung membuka halaman tertentu di dalam aplikasi.</a:t>
            </a:r>
            <a:endParaRPr lang="en-US" sz="1500" dirty="0"/>
          </a:p>
        </p:txBody>
      </p:sp>
      <p:sp>
        <p:nvSpPr>
          <p:cNvPr id="15" name="kartu 3"/>
          <p:cNvSpPr/>
          <p:nvPr/>
        </p:nvSpPr>
        <p:spPr>
          <a:xfrm>
            <a:off x="8158277" y="2011680"/>
            <a:ext cx="3484778" cy="2377440"/>
          </a:xfrm>
          <a:prstGeom prst="roundRect">
            <a:avLst>
              <a:gd name="adj" fmla="val 4615"/>
            </a:avLst>
          </a:prstGeom>
          <a:solidFill>
            <a:schemeClr val="bg2"/>
          </a:solidFill>
          <a:ln/>
        </p:spPr>
      </p:sp>
      <p:sp>
        <p:nvSpPr>
          <p:cNvPr id="16" name="lingkaran rambu"/>
          <p:cNvSpPr/>
          <p:nvPr/>
        </p:nvSpPr>
        <p:spPr>
          <a:xfrm>
            <a:off x="8386877" y="2240280"/>
            <a:ext cx="685800" cy="685800"/>
          </a:xfrm>
          <a:prstGeom prst="ellipse">
            <a:avLst/>
          </a:prstGeom>
          <a:solidFill>
            <a:schemeClr val="accent1"/>
          </a:solidFill>
          <a:ln/>
        </p:spPr>
      </p:sp>
      <p:pic>
        <p:nvPicPr>
          <p:cNvPr id="17" name="Image 2" descr="rambu">    </p:cNvPr>
          <p:cNvPicPr>
            <a:picLocks noChangeAspect="1"/>
          </p:cNvPicPr>
          <p:nvPr/>
        </p:nvPicPr>
        <p:blipFill>
          <a:blip r:embed="rId3"/>
          <a:stretch>
            <a:fillRect/>
          </a:stretch>
        </p:blipFill>
        <p:spPr>
          <a:xfrm>
            <a:off x="8537753" y="2391156"/>
            <a:ext cx="384048" cy="384048"/>
          </a:xfrm>
          <a:prstGeom prst="rect">
            <a:avLst/>
          </a:prstGeom>
        </p:spPr>
      </p:pic>
      <p:sp>
        <p:nvSpPr>
          <p:cNvPr id="18" name="Text 12"/>
          <p:cNvSpPr txBox="1"/>
          <p:nvPr/>
        </p:nvSpPr>
        <p:spPr>
          <a:xfrm>
            <a:off x="9209837"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Satu peta rute</a:t>
            </a:r>
            <a:endParaRPr lang="en-US" sz="1800" dirty="0"/>
          </a:p>
        </p:txBody>
      </p:sp>
      <p:sp>
        <p:nvSpPr>
          <p:cNvPr id="19" name="Text 13"/>
          <p:cNvSpPr txBox="1"/>
          <p:nvPr/>
        </p:nvSpPr>
        <p:spPr>
          <a:xfrm>
            <a:off x="8386877" y="3063240"/>
            <a:ext cx="3027578" cy="1188720"/>
          </a:xfrm>
          <a:prstGeom prst="rect">
            <a:avLst/>
          </a:prstGeom>
          <a:noFill/>
          <a:ln/>
        </p:spPr>
        <p:txBody>
          <a:bodyPr wrap="square" lIns="0" tIns="0" rIns="0" bIns="0" rtlCol="0" anchor="t"/>
          <a:lstStyle/>
          <a:p>
            <a:pPr indent="0" marL="0">
              <a:buNone/>
            </a:pPr>
            <a:r>
              <a:rPr lang="en-US" sz="1500" dirty="0">
                <a:solidFill>
                  <a:schemeClr val="tx1"/>
                </a:solidFill>
              </a:rPr>
              <a:t>Semua halaman dan alamatnya terkumpul di satu tempat, tidak tersebar.</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Memasang go_router dan Menulis Peta Rute</a:t>
            </a:r>
            <a:endParaRPr lang="en-US" sz="3200" dirty="0"/>
          </a:p>
        </p:txBody>
      </p:sp>
      <p:sp>
        <p:nvSpPr>
          <p:cNvPr id="4" name="kotak kode"/>
          <p:cNvSpPr txBox="1"/>
          <p:nvPr/>
        </p:nvSpPr>
        <p:spPr>
          <a:xfrm>
            <a:off x="548640" y="1371600"/>
            <a:ext cx="6400800" cy="3531870"/>
          </a:xfrm>
          <a:prstGeom prst="roundRect">
            <a:avLst>
              <a:gd name="adj" fmla="val 2589"/>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GoRouter</a:t>
            </a:r>
            <a:r>
              <a:rPr lang="en-US" sz="1300" dirty="0">
                <a:solidFill>
                  <a:srgbClr val="E6EDF3"/>
                </a:solidFill>
                <a:latin typeface="Consolas" pitchFamily="34" charset="0"/>
                <a:ea typeface="Consolas" pitchFamily="34" charset="-122"/>
                <a:cs typeface="Consolas" pitchFamily="34" charset="-120"/>
              </a:rPr>
              <a:t> petaRute = </a:t>
            </a:r>
            <a:r>
              <a:rPr lang="en-US" sz="1300" dirty="0">
                <a:solidFill>
                  <a:srgbClr val="FFCB6B"/>
                </a:solidFill>
                <a:latin typeface="Consolas" pitchFamily="34" charset="0"/>
                <a:ea typeface="Consolas" pitchFamily="34" charset="-122"/>
                <a:cs typeface="Consolas" pitchFamily="34" charset="-120"/>
              </a:rPr>
              <a:t>GoRouter</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routes: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GoRoute</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path: </a:t>
            </a:r>
            <a:r>
              <a:rPr lang="en-US" sz="1300" dirty="0">
                <a:solidFill>
                  <a:srgbClr val="C3E88D"/>
                </a:solidFill>
                <a:latin typeface="Consolas" pitchFamily="34" charset="0"/>
                <a:ea typeface="Consolas" pitchFamily="34" charset="-122"/>
                <a:cs typeface="Consolas" pitchFamily="34" charset="-120"/>
              </a:rPr>
              <a:t>'/'</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builder: (context, state) =&gt; </a:t>
            </a:r>
            <a:r>
              <a:rPr lang="en-US" sz="1300" dirty="0">
                <a:solidFill>
                  <a:srgbClr val="C792EA"/>
                </a:solidFill>
                <a:latin typeface="Consolas" pitchFamily="34" charset="0"/>
                <a:ea typeface="Consolas" pitchFamily="34" charset="-122"/>
                <a:cs typeface="Consolas" pitchFamily="34" charset="-120"/>
              </a:rPr>
              <a:t>const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HalamanBeranda</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routes: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GoRoute</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path: </a:t>
            </a:r>
            <a:r>
              <a:rPr lang="en-US" sz="1300" dirty="0">
                <a:solidFill>
                  <a:srgbClr val="C3E88D"/>
                </a:solidFill>
                <a:latin typeface="Consolas" pitchFamily="34" charset="0"/>
                <a:ea typeface="Consolas" pitchFamily="34" charset="-122"/>
                <a:cs typeface="Consolas" pitchFamily="34" charset="-120"/>
              </a:rPr>
              <a:t>'fakultas/:kode'</a:t>
            </a: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tanpa / di depan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builder: (context, state) =&gt; </a:t>
            </a:r>
            <a:r>
              <a:rPr lang="en-US" sz="1300" dirty="0">
                <a:solidFill>
                  <a:srgbClr val="FFCB6B"/>
                </a:solidFill>
                <a:latin typeface="Consolas" pitchFamily="34" charset="0"/>
                <a:ea typeface="Consolas" pitchFamily="34" charset="-122"/>
                <a:cs typeface="Consolas" pitchFamily="34" charset="-120"/>
              </a:rPr>
              <a:t>HalamanFakultas</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kode: state.pathParameters[</a:t>
            </a:r>
            <a:r>
              <a:rPr lang="en-US" sz="1300" dirty="0">
                <a:solidFill>
                  <a:srgbClr val="C3E88D"/>
                </a:solidFill>
                <a:latin typeface="Consolas" pitchFamily="34" charset="0"/>
                <a:ea typeface="Consolas" pitchFamily="34" charset="-122"/>
                <a:cs typeface="Consolas" pitchFamily="34" charset="-120"/>
              </a:rPr>
              <a:t>'kode'</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5" name="tombol tautan">
            <a:hlinkClick r:id="rId1" tooltip="https://github.com/antonprafanto/mobile2026/blob/main/pertemuan_06_daftar_dan_navigasi/kode/contoh_11_go_router.dart"/>
          </p:cNvPr>
          <p:cNvSpPr txBox="1"/>
          <p:nvPr/>
        </p:nvSpPr>
        <p:spPr>
          <a:xfrm>
            <a:off x="548640" y="5132070"/>
            <a:ext cx="64008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contoh_11_go_router.dart</a:t>
            </a:r>
            <a:endParaRPr lang="en-US" sz="1300" dirty="0"/>
          </a:p>
        </p:txBody>
      </p:sp>
      <p:pic>
        <p:nvPicPr>
          <p:cNvPr id="6" name="Image 0" descr="ikon tautan">
            <a:hlinkClick r:id="rId3" tooltip="https://github.com/antonprafanto/mobile2026/blob/main/pertemuan_06_daftar_dan_navigasi/kode/contoh_11_go_router.dart"/>
          </p:cNvPr>
          <p:cNvPicPr>
            <a:picLocks noChangeAspect="1"/>
          </p:cNvPicPr>
          <p:nvPr/>
        </p:nvPicPr>
        <p:blipFill>
          <a:blip r:embed="rId2"/>
          <a:stretch>
            <a:fillRect/>
          </a:stretch>
        </p:blipFill>
        <p:spPr>
          <a:xfrm>
            <a:off x="694944" y="5223510"/>
            <a:ext cx="274320" cy="274320"/>
          </a:xfrm>
          <a:prstGeom prst="rect">
            <a:avLst/>
          </a:prstGeom>
        </p:spPr>
      </p:pic>
      <p:sp>
        <p:nvSpPr>
          <p:cNvPr id="7" name="daftar poin"/>
          <p:cNvSpPr txBox="1"/>
          <p:nvPr/>
        </p:nvSpPr>
        <p:spPr>
          <a:xfrm>
            <a:off x="7360920" y="1417320"/>
            <a:ext cx="42821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pubspec.yaml: </a:t>
            </a:r>
            <a:r>
              <a:rPr lang="en-US" sz="1700" dirty="0">
                <a:solidFill>
                  <a:schemeClr val="tx1"/>
                </a:solidFill>
                <a:latin typeface="Consolas" pitchFamily="34" charset="0"/>
                <a:ea typeface="Consolas" pitchFamily="34" charset="-122"/>
                <a:cs typeface="Consolas" pitchFamily="34" charset="-120"/>
              </a:rPr>
              <a:t>go_router: ^17.5.0</a:t>
            </a:r>
            <a:r>
              <a:rPr lang="en-US" sz="1700" dirty="0">
                <a:solidFill>
                  <a:schemeClr val="tx1"/>
                </a:solidFill>
              </a:rPr>
              <a:t>, lalu import package:go_router/go_router.dart.</a:t>
            </a:r>
            <a:endParaRPr lang="en-US" sz="1700" dirty="0"/>
          </a:p>
          <a:p>
            <a:pPr marL="228600" indent="-228600">
              <a:spcAft>
                <a:spcPts val="800"/>
              </a:spcAft>
              <a:buSzPct val="100000"/>
              <a:buChar char="•"/>
            </a:pPr>
            <a:r>
              <a:rPr lang="en-US" sz="1700" dirty="0">
                <a:solidFill>
                  <a:schemeClr val="tx1"/>
                </a:solidFill>
              </a:rPr>
              <a:t>Mengapa versi 17? Mulai versi 18, go_router dibuat untuk paket material_ui; proyek Flutter 3.47 masih memakai flutter/material.dart.</a:t>
            </a:r>
            <a:endParaRPr lang="en-US" sz="1700" dirty="0"/>
          </a:p>
          <a:p>
            <a:pPr marL="228600" indent="-228600">
              <a:spcAft>
                <a:spcPts val="800"/>
              </a:spcAft>
              <a:buSzPct val="100000"/>
              <a:buChar char="•"/>
            </a:pPr>
            <a:r>
              <a:rPr lang="en-US" sz="1700" dirty="0">
                <a:solidFill>
                  <a:schemeClr val="tx1"/>
                </a:solidFill>
              </a:rPr>
              <a:t>DartPad sudah memakai versi 18: perpindahan tampil tanpa animasi, wajar.</a:t>
            </a:r>
            <a:endParaRPr lang="en-US" sz="1700" dirty="0"/>
          </a:p>
          <a:p>
            <a:pPr marL="228600" indent="-228600">
              <a:spcAft>
                <a:spcPts val="800"/>
              </a:spcAft>
              <a:buSzPct val="100000"/>
              <a:buChar char="•"/>
            </a:pPr>
            <a:r>
              <a:rPr lang="en-US" sz="1700" dirty="0">
                <a:solidFill>
                  <a:schemeClr val="tx1"/>
                </a:solidFill>
              </a:rPr>
              <a:t>Aplikasi memakai MaterialApp.router dengan routerConfig: petaRute, menggantikan home:.</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context.go atau context.push?</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rambu"/>
          <p:cNvSpPr/>
          <p:nvPr/>
        </p:nvSpPr>
        <p:spPr>
          <a:xfrm>
            <a:off x="777240" y="1600200"/>
            <a:ext cx="685800" cy="685800"/>
          </a:xfrm>
          <a:prstGeom prst="ellipse">
            <a:avLst/>
          </a:prstGeom>
          <a:solidFill>
            <a:schemeClr val="accent1"/>
          </a:solidFill>
          <a:ln/>
        </p:spPr>
      </p:sp>
      <p:pic>
        <p:nvPicPr>
          <p:cNvPr id="6" name="Image 0" descr="rambu">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context.go('/tentang')</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1"/>
                </a:solidFill>
              </a:rPr>
              <a:t>Pindah tempat</a:t>
            </a:r>
            <a:endParaRPr lang="en-US" sz="1400" dirty="0"/>
          </a:p>
        </p:txBody>
      </p:sp>
      <p:sp>
        <p:nvSpPr>
          <p:cNvPr id="9" name="daftar poin"/>
          <p:cNvSpPr txBox="1"/>
          <p:nvPr/>
        </p:nvSpPr>
        <p:spPr>
          <a:xfrm>
            <a:off x="777240" y="2926080"/>
            <a:ext cx="4929988" cy="1472184"/>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Tumpukan disusun ulang mengikuti peta rute</a:t>
            </a:r>
            <a:endParaRPr lang="en-US" sz="1600" dirty="0"/>
          </a:p>
          <a:p>
            <a:pPr marL="228600" indent="-228600">
              <a:spcAft>
                <a:spcPts val="800"/>
              </a:spcAft>
              <a:buSzPct val="100000"/>
              <a:buChar char="•"/>
            </a:pPr>
            <a:r>
              <a:rPr lang="en-US" sz="1600" dirty="0">
                <a:solidFill>
                  <a:schemeClr val="tx1"/>
                </a:solidFill>
              </a:rPr>
              <a:t>Tentang adalah anak "/" → di bawahnya Beranda</a:t>
            </a:r>
            <a:endParaRPr lang="en-US" sz="1600" dirty="0"/>
          </a:p>
          <a:p>
            <a:pPr marL="228600" indent="-228600">
              <a:spcAft>
                <a:spcPts val="800"/>
              </a:spcAft>
              <a:buSzPct val="100000"/>
              <a:buChar char="•"/>
            </a:pPr>
            <a:r>
              <a:rPr lang="en-US" sz="1600" dirty="0">
                <a:solidFill>
                  <a:schemeClr val="tx1"/>
                </a:solidFill>
              </a:rPr>
              <a:t>Untuk berpindah ke "tempat" lain di aplikasi</a:t>
            </a:r>
            <a:endParaRPr lang="en-US" sz="1600" dirty="0"/>
          </a:p>
        </p:txBody>
      </p:sp>
      <p:sp>
        <p:nvSpPr>
          <p:cNvPr id="10" name="kotak kode"/>
          <p:cNvSpPr txBox="1"/>
          <p:nvPr/>
        </p:nvSpPr>
        <p:spPr>
          <a:xfrm>
            <a:off x="731520" y="4352544"/>
            <a:ext cx="5021428" cy="768096"/>
          </a:xfrm>
          <a:prstGeom prst="roundRect">
            <a:avLst>
              <a:gd name="adj" fmla="val 1190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Tentang</a:t>
            </a:r>
            <a:r>
              <a:rPr lang="en-US" sz="1300" dirty="0">
                <a:solidFill>
                  <a:srgbClr val="E6EDF3"/>
                </a:solidFill>
                <a:latin typeface="Consolas" pitchFamily="34" charset="0"/>
                <a:ea typeface="Consolas" pitchFamily="34" charset="-122"/>
                <a:cs typeface="Consolas" pitchFamily="34" charset="-120"/>
              </a:rPr>
              <a:t>  ← tampil</a:t>
            </a:r>
            <a:endParaRPr lang="en-US" sz="1300" dirty="0"/>
          </a:p>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Beranda</a:t>
            </a:r>
            <a:endParaRPr lang="en-US" sz="1300" dirty="0"/>
          </a:p>
        </p:txBody>
      </p:sp>
      <p:sp>
        <p:nvSpPr>
          <p:cNvPr id="11" name="kolom 2"/>
          <p:cNvSpPr/>
          <p:nvPr/>
        </p:nvSpPr>
        <p:spPr>
          <a:xfrm>
            <a:off x="6255868" y="1371600"/>
            <a:ext cx="5387188" cy="3931920"/>
          </a:xfrm>
          <a:prstGeom prst="roundRect">
            <a:avLst>
              <a:gd name="adj" fmla="val 2791"/>
            </a:avLst>
          </a:prstGeom>
          <a:solidFill>
            <a:srgbClr val="E3F2FD"/>
          </a:solidFill>
          <a:ln w="25400">
            <a:solidFill>
              <a:schemeClr val="accent1"/>
            </a:solidFill>
            <a:prstDash val="solid"/>
          </a:ln>
        </p:spPr>
      </p:sp>
      <p:sp>
        <p:nvSpPr>
          <p:cNvPr id="12" name="lingkaran lapisan"/>
          <p:cNvSpPr/>
          <p:nvPr/>
        </p:nvSpPr>
        <p:spPr>
          <a:xfrm>
            <a:off x="6484468" y="1600200"/>
            <a:ext cx="685800" cy="685800"/>
          </a:xfrm>
          <a:prstGeom prst="ellipse">
            <a:avLst/>
          </a:prstGeom>
          <a:solidFill>
            <a:schemeClr val="accent4"/>
          </a:solidFill>
          <a:ln/>
        </p:spPr>
      </p:sp>
      <p:pic>
        <p:nvPicPr>
          <p:cNvPr id="13" name="Image 1" descr="lapisan">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context.push('/tentang')</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Menumpuk</a:t>
            </a:r>
            <a:endParaRPr lang="en-US" sz="1400" dirty="0"/>
          </a:p>
        </p:txBody>
      </p:sp>
      <p:sp>
        <p:nvSpPr>
          <p:cNvPr id="16" name="daftar poin"/>
          <p:cNvSpPr txBox="1"/>
          <p:nvPr/>
        </p:nvSpPr>
        <p:spPr>
          <a:xfrm>
            <a:off x="6484468" y="2926080"/>
            <a:ext cx="4929988" cy="12344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Ditumpuk di atas halaman sekarang, seperti Navigator.push</a:t>
            </a:r>
            <a:endParaRPr lang="en-US" sz="1600" dirty="0"/>
          </a:p>
          <a:p>
            <a:pPr marL="228600" indent="-228600">
              <a:spcAft>
                <a:spcPts val="800"/>
              </a:spcAft>
              <a:buSzPct val="100000"/>
              <a:buChar char="•"/>
            </a:pPr>
            <a:r>
              <a:rPr lang="en-US" sz="1600" dirty="0">
                <a:solidFill>
                  <a:schemeClr val="tx1"/>
                </a:solidFill>
              </a:rPr>
              <a:t>Panah kembali menuju halaman sebelumnya</a:t>
            </a:r>
            <a:endParaRPr lang="en-US" sz="1600" dirty="0"/>
          </a:p>
          <a:p>
            <a:pPr marL="228600" indent="-228600">
              <a:spcAft>
                <a:spcPts val="800"/>
              </a:spcAft>
              <a:buSzPct val="100000"/>
              <a:buChar char="•"/>
            </a:pPr>
            <a:r>
              <a:rPr lang="en-US" sz="1600" dirty="0">
                <a:solidFill>
                  <a:schemeClr val="tx1"/>
                </a:solidFill>
              </a:rPr>
              <a:t>Bisa ditunggu hasilnya: await context.push&lt;int&gt;(...)</a:t>
            </a:r>
            <a:endParaRPr lang="en-US" sz="1600" dirty="0"/>
          </a:p>
        </p:txBody>
      </p:sp>
      <p:sp>
        <p:nvSpPr>
          <p:cNvPr id="17" name="kotak kode"/>
          <p:cNvSpPr txBox="1"/>
          <p:nvPr/>
        </p:nvSpPr>
        <p:spPr>
          <a:xfrm>
            <a:off x="6438748" y="4114800"/>
            <a:ext cx="5021428" cy="1005840"/>
          </a:xfrm>
          <a:prstGeom prst="roundRect">
            <a:avLst>
              <a:gd name="adj" fmla="val 9091"/>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Tentang</a:t>
            </a:r>
            <a:r>
              <a:rPr lang="en-US" sz="1300" dirty="0">
                <a:solidFill>
                  <a:srgbClr val="E6EDF3"/>
                </a:solidFill>
                <a:latin typeface="Consolas" pitchFamily="34" charset="0"/>
                <a:ea typeface="Consolas" pitchFamily="34" charset="-122"/>
                <a:cs typeface="Consolas" pitchFamily="34" charset="-120"/>
              </a:rPr>
              <a:t>  ← tampil</a:t>
            </a:r>
            <a:endParaRPr lang="en-US" sz="1300" dirty="0"/>
          </a:p>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Fakultas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Teknik</a:t>
            </a:r>
            <a:endParaRPr lang="en-US" sz="1300" dirty="0"/>
          </a:p>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Beranda</a:t>
            </a:r>
            <a:endParaRPr lang="en-US" sz="1300" dirty="0"/>
          </a:p>
        </p:txBody>
      </p:sp>
      <p:sp>
        <p:nvSpPr>
          <p:cNvPr id="18" name="lingkaran lampu"/>
          <p:cNvSpPr/>
          <p:nvPr/>
        </p:nvSpPr>
        <p:spPr>
          <a:xfrm>
            <a:off x="548640" y="5532120"/>
            <a:ext cx="548640" cy="548640"/>
          </a:xfrm>
          <a:prstGeom prst="ellipse">
            <a:avLst/>
          </a:prstGeom>
          <a:solidFill>
            <a:schemeClr val="accent3"/>
          </a:solidFill>
          <a:ln/>
        </p:spPr>
      </p:sp>
      <p:pic>
        <p:nvPicPr>
          <p:cNvPr id="19"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20" name="Text 14"/>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context.pop(hasil) bekerja seperti Navigator.pop. Untuk halaman pemilih yang hasilnya ditunggu, selalu push.</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Parameter Alamat dan Halaman Tidak Ditemukan</a:t>
            </a:r>
            <a:endParaRPr lang="en-US" sz="3200" dirty="0"/>
          </a:p>
        </p:txBody>
      </p:sp>
      <p:sp>
        <p:nvSpPr>
          <p:cNvPr id="4" name="bingkai layar 1"/>
          <p:cNvSpPr/>
          <p:nvPr/>
        </p:nvSpPr>
        <p:spPr>
          <a:xfrm>
            <a:off x="5187391" y="1316736"/>
            <a:ext cx="2060448" cy="3142599"/>
          </a:xfrm>
          <a:prstGeom prst="roundRect">
            <a:avLst>
              <a:gd name="adj" fmla="val 4438"/>
            </a:avLst>
          </a:prstGeom>
          <a:solidFill>
            <a:srgbClr val="FFFFFF"/>
          </a:solidFill>
          <a:ln w="12700">
            <a:solidFill>
              <a:srgbClr val="C9D3E0"/>
            </a:solidFill>
            <a:prstDash val="solid"/>
          </a:ln>
        </p:spPr>
      </p:sp>
      <p:pic>
        <p:nvPicPr>
          <p:cNvPr id="5" name="layar 1" descr="Tangkapan layar aplikasi (hasil_contoh_11a.jpg)">    </p:cNvPr>
          <p:cNvPicPr>
            <a:picLocks noChangeAspect="1"/>
          </p:cNvPicPr>
          <p:nvPr/>
        </p:nvPicPr>
        <p:blipFill>
          <a:blip r:embed="rId1"/>
          <a:stretch>
            <a:fillRect/>
          </a:stretch>
        </p:blipFill>
        <p:spPr>
          <a:xfrm>
            <a:off x="5242255" y="1371600"/>
            <a:ext cx="1950720" cy="3032871"/>
          </a:xfrm>
          <a:prstGeom prst="rect">
            <a:avLst/>
          </a:prstGeom>
        </p:spPr>
      </p:pic>
      <p:sp>
        <p:nvSpPr>
          <p:cNvPr id="6" name="bingkai layar 2"/>
          <p:cNvSpPr/>
          <p:nvPr/>
        </p:nvSpPr>
        <p:spPr>
          <a:xfrm>
            <a:off x="7412431" y="1316736"/>
            <a:ext cx="2060448" cy="3142599"/>
          </a:xfrm>
          <a:prstGeom prst="roundRect">
            <a:avLst>
              <a:gd name="adj" fmla="val 4438"/>
            </a:avLst>
          </a:prstGeom>
          <a:solidFill>
            <a:srgbClr val="FFFFFF"/>
          </a:solidFill>
          <a:ln w="12700">
            <a:solidFill>
              <a:srgbClr val="C9D3E0"/>
            </a:solidFill>
            <a:prstDash val="solid"/>
          </a:ln>
        </p:spPr>
      </p:sp>
      <p:pic>
        <p:nvPicPr>
          <p:cNvPr id="7" name="layar 2" descr="Tangkapan layar aplikasi (hasil_contoh_11b.jpg)">    </p:cNvPr>
          <p:cNvPicPr>
            <a:picLocks noChangeAspect="1"/>
          </p:cNvPicPr>
          <p:nvPr/>
        </p:nvPicPr>
        <p:blipFill>
          <a:blip r:embed="rId2"/>
          <a:stretch>
            <a:fillRect/>
          </a:stretch>
        </p:blipFill>
        <p:spPr>
          <a:xfrm>
            <a:off x="7467295" y="1371600"/>
            <a:ext cx="1950720" cy="3032871"/>
          </a:xfrm>
          <a:prstGeom prst="rect">
            <a:avLst/>
          </a:prstGeom>
        </p:spPr>
      </p:pic>
      <p:sp>
        <p:nvSpPr>
          <p:cNvPr id="8" name="bingkai layar 3"/>
          <p:cNvSpPr/>
          <p:nvPr/>
        </p:nvSpPr>
        <p:spPr>
          <a:xfrm>
            <a:off x="9637471" y="1316736"/>
            <a:ext cx="2060448" cy="3142599"/>
          </a:xfrm>
          <a:prstGeom prst="roundRect">
            <a:avLst>
              <a:gd name="adj" fmla="val 4438"/>
            </a:avLst>
          </a:prstGeom>
          <a:solidFill>
            <a:srgbClr val="FFFFFF"/>
          </a:solidFill>
          <a:ln w="12700">
            <a:solidFill>
              <a:srgbClr val="C9D3E0"/>
            </a:solidFill>
            <a:prstDash val="solid"/>
          </a:ln>
        </p:spPr>
      </p:sp>
      <p:pic>
        <p:nvPicPr>
          <p:cNvPr id="9" name="layar 3" descr="Tangkapan layar aplikasi (hasil_contoh_11c.jpg)">    </p:cNvPr>
          <p:cNvPicPr>
            <a:picLocks noChangeAspect="1"/>
          </p:cNvPicPr>
          <p:nvPr/>
        </p:nvPicPr>
        <p:blipFill>
          <a:blip r:embed="rId3"/>
          <a:stretch>
            <a:fillRect/>
          </a:stretch>
        </p:blipFill>
        <p:spPr>
          <a:xfrm>
            <a:off x="9692335" y="1371600"/>
            <a:ext cx="1950720" cy="3032871"/>
          </a:xfrm>
          <a:prstGeom prst="rect">
            <a:avLst/>
          </a:prstGeom>
        </p:spPr>
      </p:pic>
      <p:sp>
        <p:nvSpPr>
          <p:cNvPr id="10" name="kotak kode"/>
          <p:cNvSpPr txBox="1"/>
          <p:nvPr/>
        </p:nvSpPr>
        <p:spPr>
          <a:xfrm>
            <a:off x="548640" y="1371600"/>
            <a:ext cx="4236415" cy="2523744"/>
          </a:xfrm>
          <a:prstGeom prst="roundRect">
            <a:avLst>
              <a:gd name="adj" fmla="val 3623"/>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isi alamat SELALU String</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teks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state.pathParameters[</a:t>
            </a:r>
            <a:r>
              <a:rPr lang="en-US" sz="1200" dirty="0">
                <a:solidFill>
                  <a:srgbClr val="C3E88D"/>
                </a:solidFill>
                <a:latin typeface="Consolas" pitchFamily="34" charset="0"/>
                <a:ea typeface="Consolas" pitchFamily="34" charset="-122"/>
                <a:cs typeface="Consolas" pitchFamily="34" charset="-120"/>
              </a:rPr>
              <a:t>'id'</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id =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.tryParse(teks);</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null → halaman "tidak ditemukan"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alamat yang tidak ada di peta rute: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errorBuilder: (context, state)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HalamanTidakDitemukan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alamat: state.uri.toString(),</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p:txBody>
      </p:sp>
      <p:sp>
        <p:nvSpPr>
          <p:cNvPr id="11" name="tombol tautan">
            <a:hlinkClick r:id="rId4" tooltip="https://github.com/antonprafanto/mobile2026/blob/main/pertemuan_06_daftar_dan_navigasi/kode/contoh_11_go_router.dart"/>
          </p:cNvPr>
          <p:cNvSpPr txBox="1"/>
          <p:nvPr/>
        </p:nvSpPr>
        <p:spPr>
          <a:xfrm>
            <a:off x="548640" y="4078224"/>
            <a:ext cx="423641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contoh_11_go_router.dart</a:t>
            </a:r>
            <a:endParaRPr lang="en-US" sz="1300" dirty="0"/>
          </a:p>
        </p:txBody>
      </p:sp>
      <p:pic>
        <p:nvPicPr>
          <p:cNvPr id="12" name="Image 3" descr="ikon tautan">
            <a:hlinkClick r:id="rId6" tooltip="https://github.com/antonprafanto/mobile2026/blob/main/pertemuan_06_daftar_dan_navigasi/kode/contoh_11_go_router.dart"/>
          </p:cNvPr>
          <p:cNvPicPr>
            <a:picLocks noChangeAspect="1"/>
          </p:cNvPicPr>
          <p:nvPr/>
        </p:nvPicPr>
        <p:blipFill>
          <a:blip r:embed="rId5"/>
          <a:stretch>
            <a:fillRect/>
          </a:stretch>
        </p:blipFill>
        <p:spPr>
          <a:xfrm>
            <a:off x="694944" y="4169664"/>
            <a:ext cx="274320" cy="274320"/>
          </a:xfrm>
          <a:prstGeom prst="rect">
            <a:avLst/>
          </a:prstGeom>
        </p:spPr>
      </p:pic>
      <p:sp>
        <p:nvSpPr>
          <p:cNvPr id="13" name="daftar poin"/>
          <p:cNvSpPr txBox="1"/>
          <p:nvPr/>
        </p:nvSpPr>
        <p:spPr>
          <a:xfrm>
            <a:off x="548640" y="4809744"/>
            <a:ext cx="4236415" cy="1408176"/>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/menu/abc dan /menu/99 tetap cocok dengan rute: periksa datanya.</a:t>
            </a:r>
            <a:endParaRPr lang="en-US" sz="1400" dirty="0"/>
          </a:p>
          <a:p>
            <a:pPr marL="228600" indent="-228600">
              <a:spcAft>
                <a:spcPts val="800"/>
              </a:spcAft>
              <a:buSzPct val="100000"/>
              <a:buChar char="•"/>
            </a:pPr>
            <a:r>
              <a:rPr lang="en-US" sz="1400" dirty="0">
                <a:solidFill>
                  <a:schemeClr val="tx1"/>
                </a:solidFill>
              </a:rPr>
              <a:t>Kirim id di alamat, bukan objek di extra.</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Navigator atau go_router?</a:t>
            </a:r>
            <a:endParaRPr lang="en-US" sz="3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443094"/>
                <a:gridCol w="3730019"/>
                <a:gridCol w="3921302"/>
              </a:tblGrid>
              <a:tr h="647700">
                <a:tc>
                  <a:txBody>
                    <a:bodyPr/>
                    <a:lstStyle/>
                    <a:p>
                      <a:pPr indent="0" marL="0">
                        <a:buNone/>
                      </a:pP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Navigator.push</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go_router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47700">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Cara membuka halaman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Menunjuk widget langsung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Menyebut alamat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7700">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Paket tambahan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Tidak perlu</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Perlu (go_router)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7700">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Alamat &amp; deep linking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Tidak</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Ya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7700">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Daftar semua halaman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Tersebar di banyak tempat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Terkumpul di satu peta rute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7700">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Cocok untuk</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Aplikasi kecil, latihan, halaman sementara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Aplikasi nyata, apalagi yang berjalan di web</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Keduanya bisa dipakai bersama: dialog dan bottom sheet tetap dibuka dengan cara Pertemuan 5.</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7</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Studi Kasus: Katalog Menu Kantin</a:t>
            </a:r>
            <a:endParaRPr lang="en-US" sz="4000" dirty="0"/>
          </a:p>
        </p:txBody>
      </p:sp>
      <p:sp>
        <p:nvSpPr>
          <p:cNvPr id="5" name="lingkaran keranjang"/>
          <p:cNvSpPr/>
          <p:nvPr/>
        </p:nvSpPr>
        <p:spPr>
          <a:xfrm>
            <a:off x="1097280" y="2148840"/>
            <a:ext cx="2011680" cy="2011680"/>
          </a:xfrm>
          <a:prstGeom prst="ellipse">
            <a:avLst/>
          </a:prstGeom>
          <a:solidFill>
            <a:schemeClr val="accent1"/>
          </a:solidFill>
          <a:ln/>
        </p:spPr>
      </p:sp>
      <p:pic>
        <p:nvPicPr>
          <p:cNvPr id="6" name="Image 0" descr="keranjang">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Rancangan: Di Mana State Disimpan?</a:t>
            </a:r>
            <a:endParaRPr lang="en-US" sz="3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782076"/>
                <a:gridCol w="3730019"/>
                <a:gridCol w="2582321"/>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Data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Disimpan di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Jenis</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5836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Daftar menu</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const daftarMenu</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data tetap</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Kata kunci &amp; kategori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State katalog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state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5836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Isi keranjang (id menu → jumlah porsi)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Map&lt;int, int&gt;</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state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Hasil pencarian, total porsi, total harga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getter di State katalog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nilai turunan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5836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Jumlah porsi yang sedang dipilih</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State halaman detail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state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Keranjang menyimpan id menu, bukan objeknya: id unik dan tetap, alasannya sama seperti key di Bagian 3.</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Alur Data Antarhalaman</a:t>
            </a:r>
            <a:endParaRPr lang="en-US" sz="3200" dirty="0"/>
          </a:p>
        </p:txBody>
      </p:sp>
      <p:sp>
        <p:nvSpPr>
          <p:cNvPr id="4" name="langkah 1"/>
          <p:cNvSpPr/>
          <p:nvPr/>
        </p:nvSpPr>
        <p:spPr>
          <a:xfrm>
            <a:off x="548640" y="1828800"/>
            <a:ext cx="1962851" cy="2926080"/>
          </a:xfrm>
          <a:prstGeom prst="roundRect">
            <a:avLst>
              <a:gd name="adj" fmla="val 6988"/>
            </a:avLst>
          </a:prstGeom>
          <a:solidFill>
            <a:schemeClr val="bg2"/>
          </a:solidFill>
          <a:ln/>
        </p:spPr>
      </p:sp>
      <p:sp>
        <p:nvSpPr>
          <p:cNvPr id="5" name="lingkaran sentuh"/>
          <p:cNvSpPr/>
          <p:nvPr/>
        </p:nvSpPr>
        <p:spPr>
          <a:xfrm>
            <a:off x="1095726" y="2103120"/>
            <a:ext cx="868680" cy="868680"/>
          </a:xfrm>
          <a:prstGeom prst="ellipse">
            <a:avLst/>
          </a:prstGeom>
          <a:solidFill>
            <a:schemeClr val="accent1"/>
          </a:solidFill>
          <a:ln/>
        </p:spPr>
      </p:sp>
      <p:pic>
        <p:nvPicPr>
          <p:cNvPr id="6" name="Image 0" descr="sentuh">    </p:cNvPr>
          <p:cNvPicPr>
            <a:picLocks noChangeAspect="1"/>
          </p:cNvPicPr>
          <p:nvPr/>
        </p:nvPicPr>
        <p:blipFill>
          <a:blip r:embed="rId1"/>
          <a:stretch>
            <a:fillRect/>
          </a:stretch>
        </p:blipFill>
        <p:spPr>
          <a:xfrm>
            <a:off x="1286835"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1. push</a:t>
            </a:r>
            <a:endParaRPr lang="en-US" sz="1700" dirty="0"/>
          </a:p>
        </p:txBody>
      </p:sp>
      <p:sp>
        <p:nvSpPr>
          <p:cNvPr id="9" name="Text 5"/>
          <p:cNvSpPr txBox="1"/>
          <p:nvPr/>
        </p:nvSpPr>
        <p:spPr>
          <a:xfrm>
            <a:off x="685800" y="3931920"/>
            <a:ext cx="1688531" cy="731520"/>
          </a:xfrm>
          <a:prstGeom prst="rect">
            <a:avLst/>
          </a:prstGeom>
          <a:noFill/>
          <a:ln/>
        </p:spPr>
        <p:txBody>
          <a:bodyPr wrap="square" lIns="0" tIns="0" rIns="0" bIns="0" rtlCol="0" anchor="t"/>
          <a:lstStyle/>
          <a:p>
            <a:pPr algn="ctr" indent="0" marL="0">
              <a:buNone/>
            </a:pPr>
            <a:r>
              <a:rPr lang="en-US" sz="1400" dirty="0">
                <a:solidFill>
                  <a:schemeClr val="tx1"/>
                </a:solidFill>
              </a:rPr>
              <a:t>Ketuk menu → push&lt;int&gt;('/menu/1').</a:t>
            </a:r>
            <a:endParaRPr lang="en-US" sz="1400" dirty="0"/>
          </a:p>
        </p:txBody>
      </p:sp>
      <p:sp>
        <p:nvSpPr>
          <p:cNvPr id="10" name="Shape 6"/>
          <p:cNvSpPr/>
          <p:nvPr/>
        </p:nvSpPr>
        <p:spPr>
          <a:xfrm>
            <a:off x="2548067" y="2395728"/>
            <a:ext cx="246888" cy="274320"/>
          </a:xfrm>
          <a:prstGeom prst="rightArrow">
            <a:avLst/>
          </a:prstGeom>
          <a:solidFill>
            <a:schemeClr val="accent2"/>
          </a:solidFill>
          <a:ln/>
        </p:spPr>
      </p:sp>
      <p:sp>
        <p:nvSpPr>
          <p:cNvPr id="11" name="langkah 2"/>
          <p:cNvSpPr/>
          <p:nvPr/>
        </p:nvSpPr>
        <p:spPr>
          <a:xfrm>
            <a:off x="2831531" y="1828800"/>
            <a:ext cx="1962851" cy="2926080"/>
          </a:xfrm>
          <a:prstGeom prst="roundRect">
            <a:avLst>
              <a:gd name="adj" fmla="val 6988"/>
            </a:avLst>
          </a:prstGeom>
          <a:solidFill>
            <a:schemeClr val="bg2"/>
          </a:solidFill>
          <a:ln/>
        </p:spPr>
      </p:sp>
      <p:sp>
        <p:nvSpPr>
          <p:cNvPr id="12" name="lingkaran hitung"/>
          <p:cNvSpPr/>
          <p:nvPr/>
        </p:nvSpPr>
        <p:spPr>
          <a:xfrm>
            <a:off x="3378617" y="2103120"/>
            <a:ext cx="868680" cy="868680"/>
          </a:xfrm>
          <a:prstGeom prst="ellipse">
            <a:avLst/>
          </a:prstGeom>
          <a:solidFill>
            <a:schemeClr val="accent1"/>
          </a:solidFill>
          <a:ln/>
        </p:spPr>
      </p:sp>
      <p:pic>
        <p:nvPicPr>
          <p:cNvPr id="13" name="Image 1" descr="hitung">    </p:cNvPr>
          <p:cNvPicPr>
            <a:picLocks noChangeAspect="1"/>
          </p:cNvPicPr>
          <p:nvPr/>
        </p:nvPicPr>
        <p:blipFill>
          <a:blip r:embed="rId2"/>
          <a:stretch>
            <a:fillRect/>
          </a:stretch>
        </p:blipFill>
        <p:spPr>
          <a:xfrm>
            <a:off x="3569726" y="2294230"/>
            <a:ext cx="486461" cy="486461"/>
          </a:xfrm>
          <a:prstGeom prst="rect">
            <a:avLst/>
          </a:prstGeom>
        </p:spPr>
      </p:pic>
      <p:sp>
        <p:nvSpPr>
          <p:cNvPr id="14" name="Text 9"/>
          <p:cNvSpPr txBox="1"/>
          <p:nvPr/>
        </p:nvSpPr>
        <p:spPr>
          <a:xfrm>
            <a:off x="2941259"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968691"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2. Pilih porsi</a:t>
            </a:r>
            <a:endParaRPr lang="en-US" sz="1700" dirty="0"/>
          </a:p>
        </p:txBody>
      </p:sp>
      <p:sp>
        <p:nvSpPr>
          <p:cNvPr id="16" name="Text 11"/>
          <p:cNvSpPr txBox="1"/>
          <p:nvPr/>
        </p:nvSpPr>
        <p:spPr>
          <a:xfrm>
            <a:off x="2968691" y="3931920"/>
            <a:ext cx="1688531" cy="731520"/>
          </a:xfrm>
          <a:prstGeom prst="rect">
            <a:avLst/>
          </a:prstGeom>
          <a:noFill/>
          <a:ln/>
        </p:spPr>
        <p:txBody>
          <a:bodyPr wrap="square" lIns="0" tIns="0" rIns="0" bIns="0" rtlCol="0" anchor="t"/>
          <a:lstStyle/>
          <a:p>
            <a:pPr algn="ctr" indent="0" marL="0">
              <a:buNone/>
            </a:pPr>
            <a:r>
              <a:rPr lang="en-US" sz="1400" dirty="0">
                <a:solidFill>
                  <a:schemeClr val="tx1"/>
                </a:solidFill>
              </a:rPr>
              <a:t>Pengguna memilih 2 porsi di halaman detail.</a:t>
            </a:r>
            <a:endParaRPr lang="en-US" sz="1400" dirty="0"/>
          </a:p>
        </p:txBody>
      </p:sp>
      <p:sp>
        <p:nvSpPr>
          <p:cNvPr id="17" name="Shape 12"/>
          <p:cNvSpPr/>
          <p:nvPr/>
        </p:nvSpPr>
        <p:spPr>
          <a:xfrm>
            <a:off x="4830958" y="2395728"/>
            <a:ext cx="246888" cy="274320"/>
          </a:xfrm>
          <a:prstGeom prst="rightArrow">
            <a:avLst/>
          </a:prstGeom>
          <a:solidFill>
            <a:schemeClr val="accent2"/>
          </a:solidFill>
          <a:ln/>
        </p:spPr>
      </p:sp>
      <p:sp>
        <p:nvSpPr>
          <p:cNvPr id="18" name="langkah 3"/>
          <p:cNvSpPr/>
          <p:nvPr/>
        </p:nvSpPr>
        <p:spPr>
          <a:xfrm>
            <a:off x="5114422" y="1828800"/>
            <a:ext cx="1962851" cy="2926080"/>
          </a:xfrm>
          <a:prstGeom prst="roundRect">
            <a:avLst>
              <a:gd name="adj" fmla="val 6988"/>
            </a:avLst>
          </a:prstGeom>
          <a:solidFill>
            <a:schemeClr val="bg2"/>
          </a:solidFill>
          <a:ln/>
        </p:spPr>
      </p:sp>
      <p:sp>
        <p:nvSpPr>
          <p:cNvPr id="19" name="lingkaran kembali"/>
          <p:cNvSpPr/>
          <p:nvPr/>
        </p:nvSpPr>
        <p:spPr>
          <a:xfrm>
            <a:off x="5661508" y="2103120"/>
            <a:ext cx="868680" cy="868680"/>
          </a:xfrm>
          <a:prstGeom prst="ellipse">
            <a:avLst/>
          </a:prstGeom>
          <a:solidFill>
            <a:schemeClr val="accent1"/>
          </a:solidFill>
          <a:ln/>
        </p:spPr>
      </p:sp>
      <p:pic>
        <p:nvPicPr>
          <p:cNvPr id="20" name="Image 2" descr="kembali">    </p:cNvPr>
          <p:cNvPicPr>
            <a:picLocks noChangeAspect="1"/>
          </p:cNvPicPr>
          <p:nvPr/>
        </p:nvPicPr>
        <p:blipFill>
          <a:blip r:embed="rId3"/>
          <a:stretch>
            <a:fillRect/>
          </a:stretch>
        </p:blipFill>
        <p:spPr>
          <a:xfrm>
            <a:off x="5852617" y="2294230"/>
            <a:ext cx="486461" cy="486461"/>
          </a:xfrm>
          <a:prstGeom prst="rect">
            <a:avLst/>
          </a:prstGeom>
        </p:spPr>
      </p:pic>
      <p:sp>
        <p:nvSpPr>
          <p:cNvPr id="21" name="Text 15"/>
          <p:cNvSpPr txBox="1"/>
          <p:nvPr/>
        </p:nvSpPr>
        <p:spPr>
          <a:xfrm>
            <a:off x="5224150"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5251582"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3. pop(2)</a:t>
            </a:r>
            <a:endParaRPr lang="en-US" sz="1700" dirty="0"/>
          </a:p>
        </p:txBody>
      </p:sp>
      <p:sp>
        <p:nvSpPr>
          <p:cNvPr id="23" name="Text 17"/>
          <p:cNvSpPr txBox="1"/>
          <p:nvPr/>
        </p:nvSpPr>
        <p:spPr>
          <a:xfrm>
            <a:off x="5251582" y="3931920"/>
            <a:ext cx="1688531" cy="731520"/>
          </a:xfrm>
          <a:prstGeom prst="rect">
            <a:avLst/>
          </a:prstGeom>
          <a:noFill/>
          <a:ln/>
        </p:spPr>
        <p:txBody>
          <a:bodyPr wrap="square" lIns="0" tIns="0" rIns="0" bIns="0" rtlCol="0" anchor="t"/>
          <a:lstStyle/>
          <a:p>
            <a:pPr algn="ctr" indent="0" marL="0">
              <a:buNone/>
            </a:pPr>
            <a:r>
              <a:rPr lang="en-US" sz="1400" dirty="0">
                <a:solidFill>
                  <a:schemeClr val="tx1"/>
                </a:solidFill>
              </a:rPr>
              <a:t>context.pop(_jumlah) membawa jumlah pulang.</a:t>
            </a:r>
            <a:endParaRPr lang="en-US" sz="1400" dirty="0"/>
          </a:p>
        </p:txBody>
      </p:sp>
      <p:sp>
        <p:nvSpPr>
          <p:cNvPr id="24" name="Shape 18"/>
          <p:cNvSpPr/>
          <p:nvPr/>
        </p:nvSpPr>
        <p:spPr>
          <a:xfrm>
            <a:off x="7113849" y="2395728"/>
            <a:ext cx="246888" cy="274320"/>
          </a:xfrm>
          <a:prstGeom prst="rightArrow">
            <a:avLst/>
          </a:prstGeom>
          <a:solidFill>
            <a:schemeClr val="accent2"/>
          </a:solidFill>
          <a:ln/>
        </p:spPr>
      </p:sp>
      <p:sp>
        <p:nvSpPr>
          <p:cNvPr id="25" name="langkah 4"/>
          <p:cNvSpPr/>
          <p:nvPr/>
        </p:nvSpPr>
        <p:spPr>
          <a:xfrm>
            <a:off x="7397313" y="1828800"/>
            <a:ext cx="1962851" cy="2926080"/>
          </a:xfrm>
          <a:prstGeom prst="roundRect">
            <a:avLst>
              <a:gd name="adj" fmla="val 6988"/>
            </a:avLst>
          </a:prstGeom>
          <a:solidFill>
            <a:schemeClr val="bg2"/>
          </a:solidFill>
          <a:ln/>
        </p:spPr>
      </p:sp>
      <p:sp>
        <p:nvSpPr>
          <p:cNvPr id="26" name="lingkaran keranjang"/>
          <p:cNvSpPr/>
          <p:nvPr/>
        </p:nvSpPr>
        <p:spPr>
          <a:xfrm>
            <a:off x="7944399" y="2103120"/>
            <a:ext cx="868680" cy="868680"/>
          </a:xfrm>
          <a:prstGeom prst="ellipse">
            <a:avLst/>
          </a:prstGeom>
          <a:solidFill>
            <a:schemeClr val="accent1"/>
          </a:solidFill>
          <a:ln/>
        </p:spPr>
      </p:sp>
      <p:pic>
        <p:nvPicPr>
          <p:cNvPr id="27" name="Image 3" descr="keranjang">    </p:cNvPr>
          <p:cNvPicPr>
            <a:picLocks noChangeAspect="1"/>
          </p:cNvPicPr>
          <p:nvPr/>
        </p:nvPicPr>
        <p:blipFill>
          <a:blip r:embed="rId4"/>
          <a:stretch>
            <a:fillRect/>
          </a:stretch>
        </p:blipFill>
        <p:spPr>
          <a:xfrm>
            <a:off x="8135508" y="2294230"/>
            <a:ext cx="486461" cy="486461"/>
          </a:xfrm>
          <a:prstGeom prst="rect">
            <a:avLst/>
          </a:prstGeom>
        </p:spPr>
      </p:pic>
      <p:sp>
        <p:nvSpPr>
          <p:cNvPr id="28" name="Text 21"/>
          <p:cNvSpPr txBox="1"/>
          <p:nvPr/>
        </p:nvSpPr>
        <p:spPr>
          <a:xfrm>
            <a:off x="7507041"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7534473"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4. Keranjang</a:t>
            </a:r>
            <a:endParaRPr lang="en-US" sz="1700" dirty="0"/>
          </a:p>
        </p:txBody>
      </p:sp>
      <p:sp>
        <p:nvSpPr>
          <p:cNvPr id="30" name="Text 23"/>
          <p:cNvSpPr txBox="1"/>
          <p:nvPr/>
        </p:nvSpPr>
        <p:spPr>
          <a:xfrm>
            <a:off x="7534473" y="3931920"/>
            <a:ext cx="1688531" cy="731520"/>
          </a:xfrm>
          <a:prstGeom prst="rect">
            <a:avLst/>
          </a:prstGeom>
          <a:noFill/>
          <a:ln/>
        </p:spPr>
        <p:txBody>
          <a:bodyPr wrap="square" lIns="0" tIns="0" rIns="0" bIns="0" rtlCol="0" anchor="t"/>
          <a:lstStyle/>
          <a:p>
            <a:pPr algn="ctr" indent="0" marL="0">
              <a:buNone/>
            </a:pPr>
            <a:r>
              <a:rPr lang="en-US" sz="1400" dirty="0">
                <a:solidFill>
                  <a:schemeClr val="tx1"/>
                </a:solidFill>
              </a:rPr>
              <a:t>_keranjang[1] = 2 → tombol "2 porsi · Rp30.000".</a:t>
            </a:r>
            <a:endParaRPr lang="en-US" sz="1400" dirty="0"/>
          </a:p>
        </p:txBody>
      </p:sp>
      <p:sp>
        <p:nvSpPr>
          <p:cNvPr id="31" name="Shape 24"/>
          <p:cNvSpPr/>
          <p:nvPr/>
        </p:nvSpPr>
        <p:spPr>
          <a:xfrm>
            <a:off x="9396740" y="2395728"/>
            <a:ext cx="246888" cy="274320"/>
          </a:xfrm>
          <a:prstGeom prst="rightArrow">
            <a:avLst/>
          </a:prstGeom>
          <a:solidFill>
            <a:schemeClr val="accent2"/>
          </a:solidFill>
          <a:ln/>
        </p:spPr>
      </p:sp>
      <p:sp>
        <p:nvSpPr>
          <p:cNvPr id="32" name="langkah 5"/>
          <p:cNvSpPr/>
          <p:nvPr/>
        </p:nvSpPr>
        <p:spPr>
          <a:xfrm>
            <a:off x="9680204" y="1828800"/>
            <a:ext cx="1962851" cy="2926080"/>
          </a:xfrm>
          <a:prstGeom prst="roundRect">
            <a:avLst>
              <a:gd name="adj" fmla="val 6988"/>
            </a:avLst>
          </a:prstGeom>
          <a:solidFill>
            <a:schemeClr val="bg2"/>
          </a:solidFill>
          <a:ln/>
        </p:spPr>
      </p:sp>
      <p:sp>
        <p:nvSpPr>
          <p:cNvPr id="33" name="lingkaran centang"/>
          <p:cNvSpPr/>
          <p:nvPr/>
        </p:nvSpPr>
        <p:spPr>
          <a:xfrm>
            <a:off x="10227290" y="2103120"/>
            <a:ext cx="868680" cy="868680"/>
          </a:xfrm>
          <a:prstGeom prst="ellipse">
            <a:avLst/>
          </a:prstGeom>
          <a:solidFill>
            <a:schemeClr val="accent4"/>
          </a:solidFill>
          <a:ln/>
        </p:spPr>
      </p:sp>
      <p:pic>
        <p:nvPicPr>
          <p:cNvPr id="34" name="Image 4" descr="centang">    </p:cNvPr>
          <p:cNvPicPr>
            <a:picLocks noChangeAspect="1"/>
          </p:cNvPicPr>
          <p:nvPr/>
        </p:nvPicPr>
        <p:blipFill>
          <a:blip r:embed="rId5"/>
          <a:stretch>
            <a:fillRect/>
          </a:stretch>
        </p:blipFill>
        <p:spPr>
          <a:xfrm>
            <a:off x="10418399" y="2294230"/>
            <a:ext cx="486461" cy="486461"/>
          </a:xfrm>
          <a:prstGeom prst="rect">
            <a:avLst/>
          </a:prstGeom>
        </p:spPr>
      </p:pic>
      <p:sp>
        <p:nvSpPr>
          <p:cNvPr id="35" name="Text 27"/>
          <p:cNvSpPr txBox="1"/>
          <p:nvPr/>
        </p:nvSpPr>
        <p:spPr>
          <a:xfrm>
            <a:off x="9789932"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9817364"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5. Pesan</a:t>
            </a:r>
            <a:endParaRPr lang="en-US" sz="1700" dirty="0"/>
          </a:p>
        </p:txBody>
      </p:sp>
      <p:sp>
        <p:nvSpPr>
          <p:cNvPr id="37" name="Text 29"/>
          <p:cNvSpPr txBox="1"/>
          <p:nvPr/>
        </p:nvSpPr>
        <p:spPr>
          <a:xfrm>
            <a:off x="9817364" y="3931920"/>
            <a:ext cx="1688531" cy="731520"/>
          </a:xfrm>
          <a:prstGeom prst="rect">
            <a:avLst/>
          </a:prstGeom>
          <a:noFill/>
          <a:ln/>
        </p:spPr>
        <p:txBody>
          <a:bodyPr wrap="square" lIns="0" tIns="0" rIns="0" bIns="0" rtlCol="0" anchor="t"/>
          <a:lstStyle/>
          <a:p>
            <a:pPr algn="ctr" indent="0" marL="0">
              <a:buNone/>
            </a:pPr>
            <a:r>
              <a:rPr lang="en-US" sz="1400" dirty="0">
                <a:solidFill>
                  <a:schemeClr val="tx1"/>
                </a:solidFill>
              </a:rPr>
              <a:t>Bottom sheet → keranjang kosong → SnackBar.</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Studi Kasus: Katalog Menu Kantin</a:t>
            </a:r>
            <a:endParaRPr lang="en-US" sz="3200" dirty="0"/>
          </a:p>
        </p:txBody>
      </p:sp>
      <p:sp>
        <p:nvSpPr>
          <p:cNvPr id="4" name="bingkai layar 1"/>
          <p:cNvSpPr/>
          <p:nvPr/>
        </p:nvSpPr>
        <p:spPr>
          <a:xfrm>
            <a:off x="5553151" y="1316736"/>
            <a:ext cx="1938528" cy="2953045"/>
          </a:xfrm>
          <a:prstGeom prst="roundRect">
            <a:avLst>
              <a:gd name="adj" fmla="val 4717"/>
            </a:avLst>
          </a:prstGeom>
          <a:solidFill>
            <a:srgbClr val="FFFFFF"/>
          </a:solidFill>
          <a:ln w="12700">
            <a:solidFill>
              <a:srgbClr val="C9D3E0"/>
            </a:solidFill>
            <a:prstDash val="solid"/>
          </a:ln>
        </p:spPr>
      </p:sp>
      <p:pic>
        <p:nvPicPr>
          <p:cNvPr id="5" name="layar 1" descr="Tangkapan layar aplikasi (hasil_contoh_12a.jpg)">    </p:cNvPr>
          <p:cNvPicPr>
            <a:picLocks noChangeAspect="1"/>
          </p:cNvPicPr>
          <p:nvPr/>
        </p:nvPicPr>
        <p:blipFill>
          <a:blip r:embed="rId1"/>
          <a:stretch>
            <a:fillRect/>
          </a:stretch>
        </p:blipFill>
        <p:spPr>
          <a:xfrm>
            <a:off x="5608015" y="1371600"/>
            <a:ext cx="1828800" cy="2843317"/>
          </a:xfrm>
          <a:prstGeom prst="rect">
            <a:avLst/>
          </a:prstGeom>
        </p:spPr>
      </p:pic>
      <p:sp>
        <p:nvSpPr>
          <p:cNvPr id="6" name="bingkai layar 2"/>
          <p:cNvSpPr/>
          <p:nvPr/>
        </p:nvSpPr>
        <p:spPr>
          <a:xfrm>
            <a:off x="7656271" y="1316736"/>
            <a:ext cx="1938528" cy="2953045"/>
          </a:xfrm>
          <a:prstGeom prst="roundRect">
            <a:avLst>
              <a:gd name="adj" fmla="val 4717"/>
            </a:avLst>
          </a:prstGeom>
          <a:solidFill>
            <a:srgbClr val="FFFFFF"/>
          </a:solidFill>
          <a:ln w="12700">
            <a:solidFill>
              <a:srgbClr val="C9D3E0"/>
            </a:solidFill>
            <a:prstDash val="solid"/>
          </a:ln>
        </p:spPr>
      </p:sp>
      <p:pic>
        <p:nvPicPr>
          <p:cNvPr id="7" name="layar 2" descr="Tangkapan layar aplikasi (hasil_contoh_12b.jpg)">    </p:cNvPr>
          <p:cNvPicPr>
            <a:picLocks noChangeAspect="1"/>
          </p:cNvPicPr>
          <p:nvPr/>
        </p:nvPicPr>
        <p:blipFill>
          <a:blip r:embed="rId2"/>
          <a:stretch>
            <a:fillRect/>
          </a:stretch>
        </p:blipFill>
        <p:spPr>
          <a:xfrm>
            <a:off x="7711135" y="1371600"/>
            <a:ext cx="1828800" cy="2843317"/>
          </a:xfrm>
          <a:prstGeom prst="rect">
            <a:avLst/>
          </a:prstGeom>
        </p:spPr>
      </p:pic>
      <p:sp>
        <p:nvSpPr>
          <p:cNvPr id="8" name="bingkai layar 3"/>
          <p:cNvSpPr/>
          <p:nvPr/>
        </p:nvSpPr>
        <p:spPr>
          <a:xfrm>
            <a:off x="9759391" y="1316736"/>
            <a:ext cx="1938528" cy="2953045"/>
          </a:xfrm>
          <a:prstGeom prst="roundRect">
            <a:avLst>
              <a:gd name="adj" fmla="val 4717"/>
            </a:avLst>
          </a:prstGeom>
          <a:solidFill>
            <a:srgbClr val="FFFFFF"/>
          </a:solidFill>
          <a:ln w="12700">
            <a:solidFill>
              <a:srgbClr val="C9D3E0"/>
            </a:solidFill>
            <a:prstDash val="solid"/>
          </a:ln>
        </p:spPr>
      </p:sp>
      <p:pic>
        <p:nvPicPr>
          <p:cNvPr id="9" name="layar 3" descr="Tangkapan layar aplikasi (hasil_contoh_12c.jpg)">    </p:cNvPr>
          <p:cNvPicPr>
            <a:picLocks noChangeAspect="1"/>
          </p:cNvPicPr>
          <p:nvPr/>
        </p:nvPicPr>
        <p:blipFill>
          <a:blip r:embed="rId3"/>
          <a:stretch>
            <a:fillRect/>
          </a:stretch>
        </p:blipFill>
        <p:spPr>
          <a:xfrm>
            <a:off x="9814255" y="1371600"/>
            <a:ext cx="1828800" cy="2843317"/>
          </a:xfrm>
          <a:prstGeom prst="rect">
            <a:avLst/>
          </a:prstGeom>
        </p:spPr>
      </p:pic>
      <p:sp>
        <p:nvSpPr>
          <p:cNvPr id="10" name="tombol tautan">
            <a:hlinkClick r:id="rId4" tooltip="https://github.com/antonprafanto/mobile2026/blob/main/pertemuan_06_daftar_dan_navigasi/kode/contoh_12_studi_kasus_katalog_menu.dart"/>
          </p:cNvPr>
          <p:cNvSpPr txBox="1"/>
          <p:nvPr/>
        </p:nvSpPr>
        <p:spPr>
          <a:xfrm>
            <a:off x="548640" y="1371600"/>
            <a:ext cx="46021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contoh_12_studi_kasus_katalog_menu.dart</a:t>
            </a:r>
            <a:endParaRPr lang="en-US" sz="1300" dirty="0"/>
          </a:p>
        </p:txBody>
      </p:sp>
      <p:pic>
        <p:nvPicPr>
          <p:cNvPr id="11" name="Image 3" descr="ikon tautan">
            <a:hlinkClick r:id="rId6" tooltip="https://github.com/antonprafanto/mobile2026/blob/main/pertemuan_06_daftar_dan_navigasi/kode/contoh_12_studi_kasus_katalog_menu.dart"/>
          </p:cNvPr>
          <p:cNvPicPr>
            <a:picLocks noChangeAspect="1"/>
          </p:cNvPicPr>
          <p:nvPr/>
        </p:nvPicPr>
        <p:blipFill>
          <a:blip r:embed="rId5"/>
          <a:stretch>
            <a:fillRect/>
          </a:stretch>
        </p:blipFill>
        <p:spPr>
          <a:xfrm>
            <a:off x="694944" y="1463040"/>
            <a:ext cx="274320" cy="274320"/>
          </a:xfrm>
          <a:prstGeom prst="rect">
            <a:avLst/>
          </a:prstGeom>
        </p:spPr>
      </p:pic>
      <p:sp>
        <p:nvSpPr>
          <p:cNvPr id="12" name="daftar poin"/>
          <p:cNvSpPr txBox="1"/>
          <p:nvPr/>
        </p:nvSpPr>
        <p:spPr>
          <a:xfrm>
            <a:off x="548640" y="2103120"/>
            <a:ext cx="4602175" cy="41148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Pencarian + chip kategori (Bagian 4).</a:t>
            </a:r>
            <a:endParaRPr lang="en-US" sz="1400" dirty="0"/>
          </a:p>
          <a:p>
            <a:pPr marL="228600" indent="-228600">
              <a:spcAft>
                <a:spcPts val="800"/>
              </a:spcAft>
              <a:buSzPct val="100000"/>
              <a:buChar char="•"/>
            </a:pPr>
            <a:r>
              <a:rPr lang="en-US" sz="1400" dirty="0">
                <a:solidFill>
                  <a:schemeClr val="tx1"/>
                </a:solidFill>
              </a:rPr>
              <a:t>Kartu bertanda ×2 dan ×1.</a:t>
            </a:r>
            <a:endParaRPr lang="en-US" sz="1400" dirty="0"/>
          </a:p>
          <a:p>
            <a:pPr marL="228600" indent="-228600">
              <a:spcAft>
                <a:spcPts val="800"/>
              </a:spcAft>
              <a:buSzPct val="100000"/>
              <a:buChar char="•"/>
            </a:pPr>
            <a:r>
              <a:rPr lang="en-US" sz="1400" dirty="0">
                <a:solidFill>
                  <a:schemeClr val="tx1"/>
                </a:solidFill>
              </a:rPr>
              <a:t>Detail /menu/:id + TombolJumlah.</a:t>
            </a:r>
            <a:endParaRPr lang="en-US" sz="1400" dirty="0"/>
          </a:p>
          <a:p>
            <a:pPr marL="228600" indent="-228600">
              <a:spcAft>
                <a:spcPts val="800"/>
              </a:spcAft>
              <a:buSzPct val="100000"/>
              <a:buChar char="•"/>
            </a:pPr>
            <a:r>
              <a:rPr lang="en-US" sz="1400" dirty="0">
                <a:solidFill>
                  <a:schemeClr val="tx1"/>
                </a:solidFill>
              </a:rPr>
              <a:t>Tombol keranjang muncul jika ada isi.</a:t>
            </a:r>
            <a:endParaRPr lang="en-US" sz="1400" dirty="0"/>
          </a:p>
          <a:p>
            <a:pPr marL="228600" indent="-228600">
              <a:spcAft>
                <a:spcPts val="800"/>
              </a:spcAft>
              <a:buSzPct val="100000"/>
              <a:buChar char="•"/>
            </a:pPr>
            <a:r>
              <a:rPr lang="en-US" sz="1400" dirty="0">
                <a:solidFill>
                  <a:schemeClr val="tx1"/>
                </a:solidFill>
              </a:rPr>
              <a:t>Cek: 2 × 15.000 + 1 × 4.000 = Rp34.000.</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Kesalahan Umum Pemula</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738491"/>
                <a:gridCol w="5355925"/>
              </a:tblGrid>
              <a:tr h="60579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Pesan error / gejala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Penyebab dan solusi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0579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Vertical viewport was given unbounded height.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ListView di dalam Column: bungkus dengan Expanded</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579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RangeError (index): Index out of range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itemCount kosong atau salah: itemCount: daftar.length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579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 dismissed Dismissible widget is still part of the tree.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Item tidak dihapus di onDismissed, atau key memakai index</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579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Kolom pencarian kosong, daftar masih tersaring</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clear() tidak memanggil onChanged: kosongkan juga kata kuncinya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579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Hasil dari halaman kedua selalu null</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Kirim dengan Navigator.pop(context, nilai); tangani null</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579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No GoRouter found in context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Gunakan MaterialApp.router(routerConfig: petaRute)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579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Perpindahan go_router tanpa animasi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Pakai go_router: ^17.5.0 di proyek (di DartPad wajar)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Ringkasan</a:t>
            </a:r>
            <a:endParaRPr lang="en-US" sz="3200" dirty="0"/>
          </a:p>
        </p:txBody>
      </p:sp>
      <p:sp>
        <p:nvSpPr>
          <p:cNvPr id="4" name="Text 1"/>
          <p:cNvSpPr txBox="1"/>
          <p:nvPr/>
        </p:nvSpPr>
        <p:spPr>
          <a:xfrm>
            <a:off x="548640"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1234440"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Data dibungkus class model dan disimpan sebagai satu List objek.</a:t>
            </a:r>
            <a:endParaRPr lang="en-US" sz="1700" dirty="0"/>
          </a:p>
        </p:txBody>
      </p:sp>
      <p:sp>
        <p:nvSpPr>
          <p:cNvPr id="6" name="Text 3"/>
          <p:cNvSpPr txBox="1"/>
          <p:nvPr/>
        </p:nvSpPr>
        <p:spPr>
          <a:xfrm>
            <a:off x="548640"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4"/>
          <p:cNvSpPr txBox="1"/>
          <p:nvPr/>
        </p:nvSpPr>
        <p:spPr>
          <a:xfrm>
            <a:off x="1234440"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ListView.builder hanya membangun baris yang dibutuhkan; isi itemCount.</a:t>
            </a:r>
            <a:endParaRPr lang="en-US" sz="1700" dirty="0"/>
          </a:p>
        </p:txBody>
      </p:sp>
      <p:sp>
        <p:nvSpPr>
          <p:cNvPr id="8" name="Text 5"/>
          <p:cNvSpPr txBox="1"/>
          <p:nvPr/>
        </p:nvSpPr>
        <p:spPr>
          <a:xfrm>
            <a:off x="548640"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6"/>
          <p:cNvSpPr txBox="1"/>
          <p:nvPr/>
        </p:nvSpPr>
        <p:spPr>
          <a:xfrm>
            <a:off x="1234440"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separated menambah pemisah; GridView + MaxCrossAxisExtent + mainAxisExtent.</a:t>
            </a:r>
            <a:endParaRPr lang="en-US" sz="1700" dirty="0"/>
          </a:p>
        </p:txBody>
      </p:sp>
      <p:sp>
        <p:nvSpPr>
          <p:cNvPr id="10" name="Text 7"/>
          <p:cNvSpPr txBox="1"/>
          <p:nvPr/>
        </p:nvSpPr>
        <p:spPr>
          <a:xfrm>
            <a:off x="548640"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Text 8"/>
          <p:cNvSpPr txBox="1"/>
          <p:nvPr/>
        </p:nvSpPr>
        <p:spPr>
          <a:xfrm>
            <a:off x="1234440"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Daftar di dalam Column wajib Expanded.</a:t>
            </a:r>
            <a:endParaRPr lang="en-US" sz="1700" dirty="0"/>
          </a:p>
        </p:txBody>
      </p:sp>
      <p:sp>
        <p:nvSpPr>
          <p:cNvPr id="12" name="Text 9"/>
          <p:cNvSpPr txBox="1"/>
          <p:nvPr/>
        </p:nvSpPr>
        <p:spPr>
          <a:xfrm>
            <a:off x="6324448"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3" name="Text 10"/>
          <p:cNvSpPr txBox="1"/>
          <p:nvPr/>
        </p:nvSpPr>
        <p:spPr>
          <a:xfrm>
            <a:off x="7010248"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Dismissible: hapus item di onDismissed, key unik dan tetap, Urungkan dengan insert.</a:t>
            </a:r>
            <a:endParaRPr lang="en-US" sz="1700" dirty="0"/>
          </a:p>
        </p:txBody>
      </p:sp>
      <p:sp>
        <p:nvSpPr>
          <p:cNvPr id="14" name="Text 11"/>
          <p:cNvSpPr txBox="1"/>
          <p:nvPr/>
        </p:nvSpPr>
        <p:spPr>
          <a:xfrm>
            <a:off x="6324448"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5" name="Text 12"/>
          <p:cNvSpPr txBox="1"/>
          <p:nvPr/>
        </p:nvSpPr>
        <p:spPr>
          <a:xfrm>
            <a:off x="7010248"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Pencarian = nilai turunan; data asli tidak diubah.</a:t>
            </a:r>
            <a:endParaRPr lang="en-US" sz="1700" dirty="0"/>
          </a:p>
        </p:txBody>
      </p:sp>
      <p:sp>
        <p:nvSpPr>
          <p:cNvPr id="16" name="Text 13"/>
          <p:cNvSpPr txBox="1"/>
          <p:nvPr/>
        </p:nvSpPr>
        <p:spPr>
          <a:xfrm>
            <a:off x="6324448"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17" name="Text 14"/>
          <p:cNvSpPr txBox="1"/>
          <p:nvPr/>
        </p:nvSpPr>
        <p:spPr>
          <a:xfrm>
            <a:off x="7010248"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Navigator: push/pop; data masuk lewat constructor, hasil lewat await + pop(nilai).</a:t>
            </a:r>
            <a:endParaRPr lang="en-US" sz="1700" dirty="0"/>
          </a:p>
        </p:txBody>
      </p:sp>
      <p:sp>
        <p:nvSpPr>
          <p:cNvPr id="18" name="Text 15"/>
          <p:cNvSpPr txBox="1"/>
          <p:nvPr/>
        </p:nvSpPr>
        <p:spPr>
          <a:xfrm>
            <a:off x="6324448"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19" name="Text 16"/>
          <p:cNvSpPr txBox="1"/>
          <p:nvPr/>
        </p:nvSpPr>
        <p:spPr>
          <a:xfrm>
            <a:off x="7010248"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PopScope menahan tombol kembali; go_router memberi setiap halaman alamat.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Saatnya Praktik!</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Kerjakan Jobsheet Pertemuan 6 (lima praktikum + tugas Agenda Acara Kampus), lalu uji diri di Latihan. Pertemuan berikutnya: Material Design 3 dan tampilan responsif.</a:t>
            </a:r>
            <a:endParaRPr lang="en-US" sz="2000" dirty="0"/>
          </a:p>
        </p:txBody>
      </p:sp>
      <p:sp>
        <p:nvSpPr>
          <p:cNvPr id="5" name="tombol tautan">
            <a:hlinkClick r:id="rId1" tooltip="https://github.com/antonprafanto/mobile2026/blob/main/pertemuan_06_daftar_dan_navigasi/JOBSHEET.md"/>
          </p:cNvPr>
          <p:cNvSpPr txBox="1"/>
          <p:nvPr/>
        </p:nvSpPr>
        <p:spPr>
          <a:xfrm>
            <a:off x="731520" y="5166360"/>
            <a:ext cx="2697480" cy="548640"/>
          </a:xfrm>
          <a:prstGeom prst="roundRect">
            <a:avLst>
              <a:gd name="adj" fmla="val 20000"/>
            </a:avLst>
          </a:prstGeom>
          <a:solidFill>
            <a:schemeClr val="accent1"/>
          </a:solidFill>
          <a:ln/>
        </p:spPr>
        <p:txBody>
          <a:bodyPr wrap="square" lIns="622300" tIns="0" rIns="76200" bIns="0" rtlCol="0" anchor="ctr"/>
          <a:lstStyle/>
          <a:p>
            <a:pPr algn="l" indent="0" marL="0">
              <a:buNone/>
            </a:pPr>
            <a:r>
              <a:rPr lang="en-US" sz="1600" b="1" dirty="0">
                <a:solidFill>
                  <a:schemeClr val="bg1"/>
                </a:solidFill>
              </a:rPr>
              <a:t>Jobsheet P6</a:t>
            </a:r>
            <a:endParaRPr lang="en-US" sz="1600" dirty="0"/>
          </a:p>
        </p:txBody>
      </p:sp>
      <p:pic>
        <p:nvPicPr>
          <p:cNvPr id="6" name="Image 0" descr="ikon tautan">
            <a:hlinkClick r:id="rId3" tooltip="https://github.com/antonprafanto/mobile2026/blob/main/pertemuan_06_daftar_dan_navigasi/JOBSHEET.md"/>
          </p:cNvPr>
          <p:cNvPicPr>
            <a:picLocks noChangeAspect="1"/>
          </p:cNvPicPr>
          <p:nvPr/>
        </p:nvPicPr>
        <p:blipFill>
          <a:blip r:embed="rId2"/>
          <a:stretch>
            <a:fillRect/>
          </a:stretch>
        </p:blipFill>
        <p:spPr>
          <a:xfrm>
            <a:off x="877824" y="5276088"/>
            <a:ext cx="329184" cy="329184"/>
          </a:xfrm>
          <a:prstGeom prst="rect">
            <a:avLst/>
          </a:prstGeom>
        </p:spPr>
      </p:pic>
      <p:sp>
        <p:nvSpPr>
          <p:cNvPr id="7" name="tombol tautan">
            <a:hlinkClick r:id="rId4" tooltip="https://github.com/antonprafanto/mobile2026/blob/main/pertemuan_06_daftar_dan_navigasi/LATIHAN.md"/>
          </p:cNvPr>
          <p:cNvSpPr txBox="1"/>
          <p:nvPr/>
        </p:nvSpPr>
        <p:spPr>
          <a:xfrm>
            <a:off x="361188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Latihan P6</a:t>
            </a:r>
            <a:endParaRPr lang="en-US" sz="1600" dirty="0"/>
          </a:p>
        </p:txBody>
      </p:sp>
      <p:pic>
        <p:nvPicPr>
          <p:cNvPr id="8" name="Image 1" descr="ikon tautan">
            <a:hlinkClick r:id="rId6" tooltip="https://github.com/antonprafanto/mobile2026/blob/main/pertemuan_06_daftar_dan_navigasi/LATIHAN.md"/>
          </p:cNvPr>
          <p:cNvPicPr>
            <a:picLocks noChangeAspect="1"/>
          </p:cNvPicPr>
          <p:nvPr/>
        </p:nvPicPr>
        <p:blipFill>
          <a:blip r:embed="rId5"/>
          <a:stretch>
            <a:fillRect/>
          </a:stretch>
        </p:blipFill>
        <p:spPr>
          <a:xfrm>
            <a:off x="3758184" y="5276088"/>
            <a:ext cx="329184" cy="329184"/>
          </a:xfrm>
          <a:prstGeom prst="rect">
            <a:avLst/>
          </a:prstGeom>
        </p:spPr>
      </p:pic>
      <p:sp>
        <p:nvSpPr>
          <p:cNvPr id="9" name="tombol tautan">
            <a:hlinkClick r:id="rId7" tooltip="https://github.com/antonprafanto/mobile2026/blob/main/pertemuan_06_daftar_dan_navigasi/README.md"/>
          </p:cNvPr>
          <p:cNvSpPr txBox="1"/>
          <p:nvPr/>
        </p:nvSpPr>
        <p:spPr>
          <a:xfrm>
            <a:off x="649224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Modul P6</a:t>
            </a:r>
            <a:endParaRPr lang="en-US" sz="1600" dirty="0"/>
          </a:p>
        </p:txBody>
      </p:sp>
      <p:pic>
        <p:nvPicPr>
          <p:cNvPr id="10" name="Image 2" descr="ikon tautan">
            <a:hlinkClick r:id="rId9" tooltip="https://github.com/antonprafanto/mobile2026/blob/main/pertemuan_06_daftar_dan_navigasi/README.md"/>
          </p:cNvPr>
          <p:cNvPicPr>
            <a:picLocks noChangeAspect="1"/>
          </p:cNvPicPr>
          <p:nvPr/>
        </p:nvPicPr>
        <p:blipFill>
          <a:blip r:embed="rId8"/>
          <a:stretch>
            <a:fillRect/>
          </a:stretch>
        </p:blipFill>
        <p:spPr>
          <a:xfrm>
            <a:off x="6638544" y="5276088"/>
            <a:ext cx="329184" cy="329184"/>
          </a:xfrm>
          <a:prstGeom prst="rect">
            <a:avLst/>
          </a:prstGeom>
        </p:spPr>
      </p:pic>
      <p:sp>
        <p:nvSpPr>
          <p:cNvPr id="11" name="lingkaran roket"/>
          <p:cNvSpPr/>
          <p:nvPr/>
        </p:nvSpPr>
        <p:spPr>
          <a:xfrm>
            <a:off x="9646920" y="1828800"/>
            <a:ext cx="1737360" cy="1737360"/>
          </a:xfrm>
          <a:prstGeom prst="ellipse">
            <a:avLst/>
          </a:prstGeom>
          <a:solidFill>
            <a:schemeClr val="accent1"/>
          </a:solidFill>
          <a:ln/>
        </p:spPr>
      </p:sp>
      <p:pic>
        <p:nvPicPr>
          <p:cNvPr id="12" name="Image 3" descr="roket">    </p:cNvPr>
          <p:cNvPicPr>
            <a:picLocks noChangeAspect="1"/>
          </p:cNvPicPr>
          <p:nvPr/>
        </p:nvPicPr>
        <p:blipFill>
          <a:blip r:embed="rId10"/>
          <a:stretch>
            <a:fillRect/>
          </a:stretch>
        </p:blipFill>
        <p:spPr>
          <a:xfrm>
            <a:off x="10029139" y="2211019"/>
            <a:ext cx="972922" cy="972922"/>
          </a:xfrm>
          <a:prstGeom prst="rect">
            <a:avLst/>
          </a:prstGeom>
        </p:spPr>
      </p:pic>
    </p:spTree>
  </p:cSld>
  <p:clrMapOvr>
    <a:masterClrMapping/>
  </p:clrMapOvr>
</p:sld>
</file>

<file path=ppt/theme/theme1.xml><?xml version="1.0" encoding="utf-8"?>
<a:theme xmlns:a="http://schemas.openxmlformats.org/drawingml/2006/main" name="PPB Flutter 2026">
  <a:themeElements>
    <a:clrScheme name="PPB Flutter 2026">
      <a:dk1>
        <a:srgbClr val="1B2333"/>
      </a:dk1>
      <a:lt1>
        <a:srgbClr val="FFFFFF"/>
      </a:lt1>
      <a:dk2>
        <a:srgbClr val="0B2545"/>
      </a:dk2>
      <a:lt2>
        <a:srgbClr val="EEF3FA"/>
      </a:lt2>
      <a:accent1>
        <a:srgbClr val="0175C2"/>
      </a:accent1>
      <a:accent2>
        <a:srgbClr val="13B9FD"/>
      </a:accent2>
      <a:accent3>
        <a:srgbClr val="F2A900"/>
      </a:accent3>
      <a:accent4>
        <a:srgbClr val="2E7D32"/>
      </a:accent4>
      <a:accent5>
        <a:srgbClr val="C62828"/>
      </a:accent5>
      <a:accent6>
        <a:srgbClr val="6750A4"/>
      </a:accent6>
      <a:hlink>
        <a:srgbClr val="0175C2"/>
      </a:hlink>
      <a:folHlink>
        <a:srgbClr val="6750A4"/>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06 - Daftar Data &amp; Navigasi</dc:title>
  <dc:subject>Materi kuliah Pemrograman Piranti Bergerak (Flutter 2026)</dc:subject>
  <dc:creator>Pemrograman Piranti Bergerak - Informatika S1</dc:creator>
  <cp:lastModifiedBy>Pemrograman Piranti Bergerak - Informatika S1</cp:lastModifiedBy>
  <cp:revision>1</cp:revision>
  <dcterms:created xsi:type="dcterms:W3CDTF">2026-10-15T18:45:22Z</dcterms:created>
  <dcterms:modified xsi:type="dcterms:W3CDTF">2026-10-15T18:45:22Z</dcterms:modified>
</cp:coreProperties>
</file>