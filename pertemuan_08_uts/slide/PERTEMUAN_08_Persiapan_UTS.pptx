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c8e78021-eb81-a123-e481-1e1d13dc2b7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Empat Pola yang Pasti Dipakai" id="{900f5d31-b8a2-7b0c-846c-beb5e03d1739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ini ditayangkan di akhir Pertemuan 7 atau sepekan sebelum UTS. Tujuannya: mahasiswa tahu persis bentuk soal, aturan, cara dinilai, dan cara berlatih (simulasi + latihan persiapan). Semua yang diujikan sudah dipraktikkan di jobsheet Pertemuan 1–7.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Tekankan: tidak ada materi baru. Bahan awal (enum, class model, 8 data) diberikan, jadi waktu dipakai untuk tampilan dan logika. Paket soal berbeda tema tetapi setara tingkat kesulitan dan rubriknya.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Kisi-kisi lengkap ada di Panduan UTS Bagian 2. Sarankan mahasiswa menandai pertemuan yang masih lemah dan mengulang jobsheet-nya tanpa melihat kode terbimbing.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Pola sembilan ketentuan ini sama persis dengan Simulasi UTS (Sewa Alat Mapala). Yang berbeda di hari ujian: tema, data, kalimat SnackBar, dan fitur khusus.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Jalankan bahan sekali sampai muncul "Bahan siap: 8 ...". Itu tanda berkas bahan terbaca. Aplikasi yang gagal dijalankan dinilai maksimal 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Jelaskan alasannya: UTS mengukur kemampuan individu. Menyalin pola dari modul diizinkan karena yang dinilai pemahaman; itu dibuktikan lewat tanya jawab setelah mengumpulkan.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memakai tabel ini saat mengerjakan simulasi dan mencatat menit selesainya setiap ketentuan. Dari situ mereka tahu bagian mana yang perlu dilatih.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Kebiasaan nomor 1 dan 2 paling sering menyelamatkan nilai: banyak mahasiswa kehilangan nilai karena perubahan terakhir membuat aplikasi tidak bisa dijalankan dan versi sebelumnya tidak tersimpan.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Empat potongan kode ini muncul di setiap paket soal. Semuanya sudah dipelajari di Pertemuan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P6 Bagian 8. Kesalahan yang paling sering: menyimpan hasil sebagai List di state lalu lupa memperbaruinya saat chip berganti atau saat data baru ditambahkan.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P6 Bagian 11. Tanya jawab sering menanyakan urutan kejadian dari ketukan sampai label berubah, dan apa yang terjadi jika baris mounted dihapus.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P5 Bagian 9 dan P6 Bagian 11. Ingatkan: data awal adalah List const; salin dulu dengan List.of(dataAwal) agar bisa ditambah.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 P7 Bagian 13 dan studi kasus Pustaka Kampus (Bagian 16). Ini ketentuan pengayaan bernilai 10, jadi kerjakan setelah inti selesai.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Kiri: daftar alat dengan ringkasan sewa dan label Disewa. Tengah: halaman detail. Kanan: formulir dengan pesan validasi. Contoh jawaban dibahas setelah mahasiswa mencoba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Ketentuan 9 (pengayaan). Uji dengan mengubah lebar jendela Chrome atau device toolbar (F12, lalu Ctrl+Shift+M).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Rubrik lengkap ada di Panduan UTS Bagian 8. Minta mahasiswa memakai rubrik ini untuk menilai hasil simulasinya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 jawab bukan hafalan istilah. Jawaban dengan bahasa sendiri tentang apa yang terjadi saat kode berjalan sudah cukup. Mahasiswa boleh menjalankan atau mengubah kodenya untuk menjelaskan.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Sisakan 10 menit terakhir untuk daftar ini. Setelah mengunggah, buka lagi berkas yang terunggah untuk memastikan isinya lengkap.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Hari ke-4 adalah yang terpenting: simulasi berbatas waktu memberi gambaran paling jujur tentang kesiapan.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Tutup dengan mengingatkan jadwal, ruang, tempat pengumpulan, dan apa yang harus dibawa (laptop + pengisi daya bila memakai laptop sendiri).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Ingatkan bahwa simulasi tidak dinilai (kecuali diumumkan lain) dan contoh jawabannya dibahas setelah mahasiswa mencoba sendiri.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2926080"/>
            <a:ext cx="5669280" cy="5669280"/>
          </a:xfrm>
          <a:prstGeom prst="ellipse">
            <a:avLst/>
          </a:prstGeom>
          <a:solidFill>
            <a:schemeClr val="accent1">
              <a:alpha val="3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692640" y="-1280160"/>
            <a:ext cx="3291840" cy="3291840"/>
          </a:xfrm>
          <a:prstGeom prst="ellipse">
            <a:avLst/>
          </a:prstGeom>
          <a:solidFill>
            <a:schemeClr val="accent2">
              <a:alpha val="20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2"/>
                </a:solidFill>
              </a:rPr>
              <a:t>PEMROGRAMAN PIRANTI BERGERAK  ·  INFORMATIKA S1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github.com/antonprafanto/mobile2026</a:t>
            </a:r>
            <a:endParaRPr lang="en-US" sz="13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645920" y="4023360"/>
            <a:ext cx="4572000" cy="4572000"/>
          </a:xfrm>
          <a:prstGeom prst="ellipse">
            <a:avLst/>
          </a:prstGeom>
          <a:solidFill>
            <a:schemeClr val="accent1">
              <a:alpha val="25000"/>
            </a:scheme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Pemrograman Piranti Bergerak  ·  Pertemuan 08  ·  Persiapan UTS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EN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90"/>
                </a:solidFill>
              </a:rPr>
              <a:t>Pemrograman Piranti Bergerak  ·  Pertemuan 08  ·  Persiapan UTS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antonprafanto/mobile2026/blob/main/pertemuan_08_uts/kode/bahan_simulasi_sewa_alat.dart" TargetMode="External"/><Relationship Id="rId6" Type="http://schemas.openxmlformats.org/officeDocument/2006/relationships/hyperlink" Target="https://github.com/antonprafanto/mobile2026/blob/main/pertemuan_08_uts/kode/bahan_simulasi_sewa_alat.dart" TargetMode="External"/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5" Type="http://schemas.openxmlformats.org/officeDocument/2006/relationships/image" Target="../media/image-14-4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antonprafanto/mobile2026/blob/main/pertemuan_08_uts/README.md" TargetMode="External"/><Relationship Id="rId3" Type="http://schemas.openxmlformats.org/officeDocument/2006/relationships/hyperlink" Target="https://github.com/antonprafanto/mobile2026/blob/main/pertemuan_08_uts/README.md" TargetMode="External"/><Relationship Id="rId4" Type="http://schemas.openxmlformats.org/officeDocument/2006/relationships/hyperlink" Target="https://github.com/antonprafanto/mobile2026/blob/main/pertemuan_08_uts/SIMULASI_UTS.md" TargetMode="External"/><Relationship Id="rId6" Type="http://schemas.openxmlformats.org/officeDocument/2006/relationships/hyperlink" Target="https://github.com/antonprafanto/mobile2026/blob/main/pertemuan_08_uts/SIMULASI_UTS.md" TargetMode="External"/><Relationship Id="rId7" Type="http://schemas.openxmlformats.org/officeDocument/2006/relationships/hyperlink" Target="https://github.com/antonprafanto/mobile2026/blob/main/pertemuan_08_uts/LATIHAN.md" TargetMode="External"/><Relationship Id="rId9" Type="http://schemas.openxmlformats.org/officeDocument/2006/relationships/hyperlink" Target="https://github.com/antonprafanto/mobile2026/blob/main/pertemuan_08_uts/LATIHAN.md" TargetMode="External"/><Relationship Id="rId2" Type="http://schemas.openxmlformats.org/officeDocument/2006/relationships/image" Target="../media/image-21-1.png"/><Relationship Id="rId5" Type="http://schemas.openxmlformats.org/officeDocument/2006/relationships/image" Target="../media/image-21-2.png"/><Relationship Id="rId8" Type="http://schemas.openxmlformats.org/officeDocument/2006/relationships/image" Target="../media/image-21-3.png"/><Relationship Id="rId10" Type="http://schemas.openxmlformats.org/officeDocument/2006/relationships/image" Target="../media/image-21-4.pn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Persiapan Ujian Tengah Semester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Pertemuan 8  ·  ujian praktik 120 menit: satu aplikasi Flutter multi-halaman, sembilan ketentuan, dan tanya jawab pemahaman</a:t>
            </a:r>
            <a:endParaRPr lang="en-US" sz="2000" dirty="0"/>
          </a:p>
        </p:txBody>
      </p:sp>
      <p:sp>
        <p:nvSpPr>
          <p:cNvPr id="5" name="lingkaran hp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h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UTS dalam Angka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2430704" cy="2926080"/>
          </a:xfrm>
          <a:prstGeom prst="roundRect">
            <a:avLst>
              <a:gd name="adj" fmla="val 5643"/>
            </a:avLst>
          </a:prstGeom>
          <a:solidFill>
            <a:schemeClr val="bg2"/>
          </a:solidFill>
          <a:ln/>
        </p:spPr>
      </p:sp>
      <p:sp>
        <p:nvSpPr>
          <p:cNvPr id="5" name="lingkaran jam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j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22960" y="2468880"/>
            <a:ext cx="188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120</a:t>
            </a:r>
            <a:endParaRPr lang="en-US" sz="66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3657600"/>
            <a:ext cx="179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menit mengerjakan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3436544" y="1417320"/>
            <a:ext cx="2430704" cy="2926080"/>
          </a:xfrm>
          <a:prstGeom prst="roundRect">
            <a:avLst>
              <a:gd name="adj" fmla="val 5643"/>
            </a:avLst>
          </a:prstGeom>
          <a:solidFill>
            <a:schemeClr val="bg2"/>
          </a:solidFill>
          <a:ln/>
        </p:spPr>
      </p:sp>
      <p:sp>
        <p:nvSpPr>
          <p:cNvPr id="10" name="lingkaran daftar"/>
          <p:cNvSpPr/>
          <p:nvPr/>
        </p:nvSpPr>
        <p:spPr>
          <a:xfrm>
            <a:off x="3756584" y="1691640"/>
            <a:ext cx="731520" cy="7315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daft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518" y="1852574"/>
            <a:ext cx="409651" cy="409651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710864" y="2468880"/>
            <a:ext cx="188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6"/>
                </a:solidFill>
              </a:rPr>
              <a:t>9</a:t>
            </a:r>
            <a:endParaRPr lang="en-US" sz="6600" dirty="0"/>
          </a:p>
        </p:txBody>
      </p:sp>
      <p:sp>
        <p:nvSpPr>
          <p:cNvPr id="13" name="Text 8"/>
          <p:cNvSpPr txBox="1"/>
          <p:nvPr/>
        </p:nvSpPr>
        <p:spPr>
          <a:xfrm>
            <a:off x="3756584" y="3657600"/>
            <a:ext cx="179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ketentuan dalam satu soal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6324448" y="1417320"/>
            <a:ext cx="2430704" cy="2926080"/>
          </a:xfrm>
          <a:prstGeom prst="roundRect">
            <a:avLst>
              <a:gd name="adj" fmla="val 5643"/>
            </a:avLst>
          </a:prstGeom>
          <a:solidFill>
            <a:schemeClr val="bg2"/>
          </a:solidFill>
          <a:ln/>
        </p:spPr>
      </p:sp>
      <p:sp>
        <p:nvSpPr>
          <p:cNvPr id="15" name="lingkaran bintang"/>
          <p:cNvSpPr/>
          <p:nvPr/>
        </p:nvSpPr>
        <p:spPr>
          <a:xfrm>
            <a:off x="6644488" y="169164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Image 2" descr="binta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422" y="1852574"/>
            <a:ext cx="409651" cy="40965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98768" y="2468880"/>
            <a:ext cx="188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4"/>
                </a:solidFill>
              </a:rPr>
              <a:t>80</a:t>
            </a:r>
            <a:endParaRPr lang="en-US" sz="6600" dirty="0"/>
          </a:p>
        </p:txBody>
      </p:sp>
      <p:sp>
        <p:nvSpPr>
          <p:cNvPr id="18" name="Text 12"/>
          <p:cNvSpPr txBox="1"/>
          <p:nvPr/>
        </p:nvSpPr>
        <p:spPr>
          <a:xfrm>
            <a:off x="6644488" y="3657600"/>
            <a:ext cx="179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poin dari ketentuan inti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9212351" y="1417320"/>
            <a:ext cx="2430704" cy="2926080"/>
          </a:xfrm>
          <a:prstGeom prst="roundRect">
            <a:avLst>
              <a:gd name="adj" fmla="val 5643"/>
            </a:avLst>
          </a:prstGeom>
          <a:solidFill>
            <a:schemeClr val="bg2"/>
          </a:solidFill>
          <a:ln/>
        </p:spPr>
      </p:sp>
      <p:sp>
        <p:nvSpPr>
          <p:cNvPr id="20" name="lingkaran dokumen"/>
          <p:cNvSpPr/>
          <p:nvPr/>
        </p:nvSpPr>
        <p:spPr>
          <a:xfrm>
            <a:off x="9532391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Image 3" descr="dokume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326" y="1852574"/>
            <a:ext cx="409651" cy="409651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86671" y="2468880"/>
            <a:ext cx="1882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5"/>
                </a:solidFill>
              </a:rPr>
              <a:t>1</a:t>
            </a:r>
            <a:endParaRPr lang="en-US" sz="6600" dirty="0"/>
          </a:p>
        </p:txBody>
      </p:sp>
      <p:sp>
        <p:nvSpPr>
          <p:cNvPr id="23" name="Text 16"/>
          <p:cNvSpPr txBox="1"/>
          <p:nvPr/>
        </p:nvSpPr>
        <p:spPr>
          <a:xfrm>
            <a:off x="9532391" y="3657600"/>
            <a:ext cx="179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berkas .dart dikumpulkan</a:t>
            </a:r>
            <a:endParaRPr lang="en-US" sz="1800" dirty="0"/>
          </a:p>
        </p:txBody>
      </p:sp>
      <p:sp>
        <p:nvSpPr>
          <p:cNvPr id="24" name="lingkaran lampu"/>
          <p:cNvSpPr/>
          <p:nvPr/>
        </p:nvSpPr>
        <p:spPr>
          <a:xfrm>
            <a:off x="548640" y="46177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Image 4" descr="lamp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738421"/>
            <a:ext cx="307238" cy="30723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280160" y="452628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Ujian praktik individu, buku terbuka terbatas: boleh membuka materi dan berkas praktikum sendiri, tanpa AI dan tanpa bantuan orang lain.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Materi yang Diujikan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530264"/>
                <a:gridCol w="9564151"/>
              </a:tblGrid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Pertemuan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Kemampuan yang diuji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Menjalankan aplikasi (DartPad atau Chrome), MaterialApp dan Scaffold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 data, null safety (?, ??, !), percabangan, List dan Set, fungsi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dan constructor bernama, enum berproperti, async/await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Row, Column, Expanded, Padding, ListTile, Card, mengatasi overflow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setState, ChoiceChip, Switch, Slider, Form + validator, dropdown, SnackBar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model, ListView.builder, SearchBar, nilai turunan, Navigator + hasil, mounted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ColorScheme.fromSeed, darkTheme/themeMode, peran warna, MediaQuery, daftar–detail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Tidak diujikan: Stream, go_router, NavigationRail, ThemeExtension, dan paket di luar Flutter.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Satu Aplikasi, Sembilan Ketentuan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765132"/>
                <a:gridCol w="7268755"/>
                <a:gridCol w="1721547"/>
                <a:gridCol w="1338981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Ketentuan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Jenis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dari warna benih dan tombol mode gelap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daftar: ListView.builder, baris = class, label status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Pencarian dan saringan kategori, tampilan kosong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detail dan perubahan status (hasil true)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Formulir tambah data dengan validasi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Kualitas kode, lebar 320/360, mode gelap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Ringkasan (angka dihitung dari data)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Pengayaan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Fitur khusus paket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Pengayaan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 panel mulai lebar 840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Pengayaan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Inti (1–6) = 80 poin, cukup ± 90 menit bagi yang menuntaskan jobsheet P5–P7 sendiri. Pengayaan (7–9) = 20 poin.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Jalannya Ujian</a:t>
            </a:r>
            <a:endParaRPr lang="en-US" sz="3200" dirty="0"/>
          </a:p>
        </p:txBody>
      </p:sp>
      <p:sp>
        <p:nvSpPr>
          <p:cNvPr id="4" name="langkah 1"/>
          <p:cNvSpPr/>
          <p:nvPr/>
        </p:nvSpPr>
        <p:spPr>
          <a:xfrm>
            <a:off x="548640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5" name="lingkaran unduh"/>
          <p:cNvSpPr/>
          <p:nvPr/>
        </p:nvSpPr>
        <p:spPr>
          <a:xfrm>
            <a:off x="1095726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undu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6835" y="2294230"/>
            <a:ext cx="486461" cy="48646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58368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85800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Terima soal dan bahan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Paket soal dan berkas bahan awal dari pengawas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548067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1" name="langkah 2"/>
          <p:cNvSpPr/>
          <p:nvPr/>
        </p:nvSpPr>
        <p:spPr>
          <a:xfrm>
            <a:off x="2831531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2" name="lingkaran orang"/>
          <p:cNvSpPr/>
          <p:nvPr/>
        </p:nvSpPr>
        <p:spPr>
          <a:xfrm>
            <a:off x="3378617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ora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26" y="2294230"/>
            <a:ext cx="486461" cy="4864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2941259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968691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Isi identitas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2968691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Nama, NIM, paket, dan pernyataan di atas berkas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830958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8" name="langkah 3"/>
          <p:cNvSpPr/>
          <p:nvPr/>
        </p:nvSpPr>
        <p:spPr>
          <a:xfrm>
            <a:off x="5114422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19" name="lingkaran kode"/>
          <p:cNvSpPr/>
          <p:nvPr/>
        </p:nvSpPr>
        <p:spPr>
          <a:xfrm>
            <a:off x="5661508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2" descr="kod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617" y="229423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2415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251582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Kerjakan 120 menit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251582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Pengingat di sisa 30 dan 10 menit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7113849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5" name="langkah 4"/>
          <p:cNvSpPr/>
          <p:nvPr/>
        </p:nvSpPr>
        <p:spPr>
          <a:xfrm>
            <a:off x="7397313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26" name="lingkaran simpan"/>
          <p:cNvSpPr/>
          <p:nvPr/>
        </p:nvSpPr>
        <p:spPr>
          <a:xfrm>
            <a:off x="7944399" y="2103120"/>
            <a:ext cx="868680" cy="868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3" descr="simp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5508" y="2294230"/>
            <a:ext cx="486461" cy="486461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507041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4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7534473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Kumpulkan</a:t>
            </a:r>
            <a:endParaRPr lang="en-US" sz="1700" dirty="0"/>
          </a:p>
        </p:txBody>
      </p:sp>
      <p:sp>
        <p:nvSpPr>
          <p:cNvPr id="30" name="Text 23"/>
          <p:cNvSpPr txBox="1"/>
          <p:nvPr/>
        </p:nvSpPr>
        <p:spPr>
          <a:xfrm>
            <a:off x="7534473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Satu berkas .dart sebelum waktu habis</a:t>
            </a:r>
            <a:endParaRPr lang="en-US" sz="1400" dirty="0"/>
          </a:p>
        </p:txBody>
      </p:sp>
      <p:sp>
        <p:nvSpPr>
          <p:cNvPr id="31" name="Shape 24"/>
          <p:cNvSpPr/>
          <p:nvPr/>
        </p:nvSpPr>
        <p:spPr>
          <a:xfrm>
            <a:off x="9396740" y="2395728"/>
            <a:ext cx="246888" cy="27432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32" name="langkah 5"/>
          <p:cNvSpPr/>
          <p:nvPr/>
        </p:nvSpPr>
        <p:spPr>
          <a:xfrm>
            <a:off x="9680204" y="1828800"/>
            <a:ext cx="1962851" cy="3566160"/>
          </a:xfrm>
          <a:prstGeom prst="roundRect">
            <a:avLst>
              <a:gd name="adj" fmla="val 6988"/>
            </a:avLst>
          </a:prstGeom>
          <a:solidFill>
            <a:schemeClr val="bg2"/>
          </a:solidFill>
          <a:ln/>
        </p:spPr>
      </p:sp>
      <p:sp>
        <p:nvSpPr>
          <p:cNvPr id="33" name="lingkaran tanya"/>
          <p:cNvSpPr/>
          <p:nvPr/>
        </p:nvSpPr>
        <p:spPr>
          <a:xfrm>
            <a:off x="10227290" y="2103120"/>
            <a:ext cx="868680" cy="8686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Image 4" descr="tanya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8399" y="2294230"/>
            <a:ext cx="486461" cy="486461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789932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A90"/>
                </a:solidFill>
              </a:rPr>
              <a:t>5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9817364" y="3108960"/>
            <a:ext cx="16885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Tanya jawab</a:t>
            </a:r>
            <a:endParaRPr lang="en-US" sz="1700" dirty="0"/>
          </a:p>
        </p:txBody>
      </p:sp>
      <p:sp>
        <p:nvSpPr>
          <p:cNvPr id="37" name="Text 29"/>
          <p:cNvSpPr txBox="1"/>
          <p:nvPr/>
        </p:nvSpPr>
        <p:spPr>
          <a:xfrm>
            <a:off x="9817364" y="3931920"/>
            <a:ext cx="1688531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3–5 menit menjelaskan kode Anda sendiri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Tata Tertib</a:t>
            </a:r>
            <a:endParaRPr lang="en-US" sz="3200" dirty="0"/>
          </a:p>
        </p:txBody>
      </p:sp>
      <p:sp>
        <p:nvSpPr>
          <p:cNvPr id="4" name="kolom 1"/>
          <p:cNvSpPr/>
          <p:nvPr/>
        </p:nvSpPr>
        <p:spPr>
          <a:xfrm>
            <a:off x="548640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rgbClr val="E3F2FD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5" name="lingkaran centang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6" name="Image 0" descr="centa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Boleh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Buku terbuka terbatas</a:t>
            </a:r>
            <a:endParaRPr lang="en-US" sz="1400" dirty="0"/>
          </a:p>
        </p:txBody>
      </p:sp>
      <p:sp>
        <p:nvSpPr>
          <p:cNvPr id="9" name="daftar poin"/>
          <p:cNvSpPr txBox="1"/>
          <p:nvPr/>
        </p:nvSpPr>
        <p:spPr>
          <a:xfrm>
            <a:off x="777240" y="2926080"/>
            <a:ext cx="49299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Membuka repositori materi: modul, kode contoh, jobsheet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Membuka berkas praktikum milik sendiri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Dokumentasi resmi: docs.flutter.dev, api.flutter.dev, dart.dev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Menyalin pola lalu menyesuaikannya, asalkan paham setiap barisnya</a:t>
            </a:r>
            <a:endParaRPr lang="en-US" sz="1600" dirty="0"/>
          </a:p>
        </p:txBody>
      </p:sp>
      <p:sp>
        <p:nvSpPr>
          <p:cNvPr id="10" name="kolom 2"/>
          <p:cNvSpPr/>
          <p:nvPr/>
        </p:nvSpPr>
        <p:spPr>
          <a:xfrm>
            <a:off x="6255868" y="1371600"/>
            <a:ext cx="5387188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1" name="lingkaran galat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mage 1" descr="gala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07428" y="1554480"/>
            <a:ext cx="41984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Tidak boleh</a:t>
            </a:r>
            <a:endParaRPr lang="en-US" sz="1900" dirty="0"/>
          </a:p>
        </p:txBody>
      </p:sp>
      <p:sp>
        <p:nvSpPr>
          <p:cNvPr id="14" name="Text 9"/>
          <p:cNvSpPr txBox="1"/>
          <p:nvPr/>
        </p:nvSpPr>
        <p:spPr>
          <a:xfrm>
            <a:off x="6484468" y="2423160"/>
            <a:ext cx="49299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Ditangani sesuai peraturan akademik</a:t>
            </a:r>
            <a:endParaRPr lang="en-US" sz="1400" dirty="0"/>
          </a:p>
        </p:txBody>
      </p:sp>
      <p:sp>
        <p:nvSpPr>
          <p:cNvPr id="15" name="daftar poin"/>
          <p:cNvSpPr txBox="1"/>
          <p:nvPr/>
        </p:nvSpPr>
        <p:spPr>
          <a:xfrm>
            <a:off x="6484468" y="2926080"/>
            <a:ext cx="492998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Asisten AI dalam bentuk apa pun, termasuk fitur AI di editor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Bertanya, berdiskusi, atau bertukar berkas dengan orang lain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Situs tanya jawab, forum, atau kode internet di luar daftar kiri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Mengumpulkan kode yang tidak bisa dijelaskan</a:t>
            </a:r>
            <a:endParaRPr lang="en-US" sz="1600" dirty="0"/>
          </a:p>
        </p:txBody>
      </p:sp>
      <p:sp>
        <p:nvSpPr>
          <p:cNvPr id="16" name="lingkaran lampu"/>
          <p:cNvSpPr/>
          <p:nvPr/>
        </p:nvSpPr>
        <p:spPr>
          <a:xfrm>
            <a:off x="548640" y="55321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Image 2" descr="lam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565282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544068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Matikan fitur pelengkap kode berbasis AI (misalnya GitHub Copilot) SEBELUM ujian dimulai.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Strategi 120 Menit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530264"/>
                <a:gridCol w="8033887"/>
                <a:gridCol w="1530264"/>
              </a:tblGrid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Kegiatan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Ketentuan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Baca SELURUH soal, salin bahan, jalankan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Akar aplikasi, tema dari benih, darkTheme, tombol mode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20–50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daftar, widget baris, pencarian, ChoiceChip, tampilan kosong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 detail, halaman detail, perubahan 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70–90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Formulir tambah 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90–110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Pengayaan, mulai dari yang paling mudah bagi Anda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7, 8, 9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110–120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Format, hilangkan peringatan, uji 320 dan mode gelap, kumpulkan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Macet lebih dari 10 menit di satu bagian? Pindah ke ketentuan lain dulu.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Delapan Kebiasaan Penyelamat Nilai</a:t>
            </a:r>
            <a:endParaRPr lang="en-US" sz="3200" dirty="0"/>
          </a:p>
        </p:txBody>
      </p:sp>
      <p:sp>
        <p:nvSpPr>
          <p:cNvPr id="4" name="kartu 1"/>
          <p:cNvSpPr/>
          <p:nvPr/>
        </p:nvSpPr>
        <p:spPr>
          <a:xfrm>
            <a:off x="548640" y="137160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lingkaran jalankan"/>
          <p:cNvSpPr/>
          <p:nvPr/>
        </p:nvSpPr>
        <p:spPr>
          <a:xfrm>
            <a:off x="77724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jalank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1751076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00200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Selalu bisa jalan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242316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Tambah satu bagian, jalankan, baru lanjut. Gagal jalan = maks 40.</a:t>
            </a:r>
            <a:endParaRPr lang="en-US" sz="1500" dirty="0"/>
          </a:p>
        </p:txBody>
      </p:sp>
      <p:sp>
        <p:nvSpPr>
          <p:cNvPr id="9" name="kartu 2"/>
          <p:cNvSpPr/>
          <p:nvPr/>
        </p:nvSpPr>
        <p:spPr>
          <a:xfrm>
            <a:off x="3402254" y="137160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lingkaran simpan"/>
          <p:cNvSpPr/>
          <p:nvPr/>
        </p:nvSpPr>
        <p:spPr>
          <a:xfrm>
            <a:off x="3630854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simp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730" y="1751076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453814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Simpan versi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3630854" y="242316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uts_v1.dart, uts_v2.dart setiap selesai satu ketentuan.</a:t>
            </a:r>
            <a:endParaRPr lang="en-US" sz="1500" dirty="0"/>
          </a:p>
        </p:txBody>
      </p:sp>
      <p:sp>
        <p:nvSpPr>
          <p:cNvPr id="14" name="kartu 3"/>
          <p:cNvSpPr/>
          <p:nvPr/>
        </p:nvSpPr>
        <p:spPr>
          <a:xfrm>
            <a:off x="6255868" y="137160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5" name="lingkaran data"/>
          <p:cNvSpPr/>
          <p:nvPr/>
        </p:nvSpPr>
        <p:spPr>
          <a:xfrm>
            <a:off x="6484468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dat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344" y="175107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07428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State dulu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6484468" y="242316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Tentukan variabel yang berubah dan di class mana ia tinggal.</a:t>
            </a:r>
            <a:endParaRPr lang="en-US" sz="1500" dirty="0"/>
          </a:p>
        </p:txBody>
      </p:sp>
      <p:sp>
        <p:nvSpPr>
          <p:cNvPr id="19" name="kartu 4"/>
          <p:cNvSpPr/>
          <p:nvPr/>
        </p:nvSpPr>
        <p:spPr>
          <a:xfrm>
            <a:off x="9109481" y="137160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0" name="lingkaran hitung"/>
          <p:cNvSpPr/>
          <p:nvPr/>
        </p:nvSpPr>
        <p:spPr>
          <a:xfrm>
            <a:off x="9338081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3" descr="hitu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8957" y="1751076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161041" y="157276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Hitung, jangan simpan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9338081" y="242316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Hasil cari, jumlah, total = nilai turunan.</a:t>
            </a:r>
            <a:endParaRPr lang="en-US" sz="1500" dirty="0"/>
          </a:p>
        </p:txBody>
      </p:sp>
      <p:sp>
        <p:nvSpPr>
          <p:cNvPr id="24" name="kartu 5"/>
          <p:cNvSpPr/>
          <p:nvPr/>
        </p:nvSpPr>
        <p:spPr>
          <a:xfrm>
            <a:off x="548640" y="393192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5" name="lingkaran buku"/>
          <p:cNvSpPr/>
          <p:nvPr/>
        </p:nvSpPr>
        <p:spPr>
          <a:xfrm>
            <a:off x="777240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Image 4" descr="buku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31139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00200" y="413308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Pakai pola modul</a:t>
            </a:r>
            <a:endParaRPr lang="en-US" sz="1800" dirty="0"/>
          </a:p>
        </p:txBody>
      </p:sp>
      <p:sp>
        <p:nvSpPr>
          <p:cNvPr id="28" name="Text 20"/>
          <p:cNvSpPr txBox="1"/>
          <p:nvPr/>
        </p:nvSpPr>
        <p:spPr>
          <a:xfrm>
            <a:off x="777240" y="498348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Studi kasus P6 dan P7 memuat hampir semua pola.</a:t>
            </a:r>
            <a:endParaRPr lang="en-US" sz="1500" dirty="0"/>
          </a:p>
        </p:txBody>
      </p:sp>
      <p:sp>
        <p:nvSpPr>
          <p:cNvPr id="29" name="kartu 6"/>
          <p:cNvSpPr/>
          <p:nvPr/>
        </p:nvSpPr>
        <p:spPr>
          <a:xfrm>
            <a:off x="3402254" y="393192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0" name="lingkaran peringatan"/>
          <p:cNvSpPr/>
          <p:nvPr/>
        </p:nvSpPr>
        <p:spPr>
          <a:xfrm>
            <a:off x="3630854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mage 5" descr="peringat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730" y="4311396"/>
            <a:ext cx="384048" cy="38404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453814" y="413308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Jangan terjebak</a:t>
            </a:r>
            <a:endParaRPr lang="en-US" sz="1800" dirty="0"/>
          </a:p>
        </p:txBody>
      </p:sp>
      <p:sp>
        <p:nvSpPr>
          <p:cNvPr id="33" name="Text 24"/>
          <p:cNvSpPr txBox="1"/>
          <p:nvPr/>
        </p:nvSpPr>
        <p:spPr>
          <a:xfrm>
            <a:off x="3630854" y="498348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Lebih dari 10 menit macet → kerjakan bagian lain.</a:t>
            </a:r>
            <a:endParaRPr lang="en-US" sz="1500" dirty="0"/>
          </a:p>
        </p:txBody>
      </p:sp>
      <p:sp>
        <p:nvSpPr>
          <p:cNvPr id="34" name="kartu 7"/>
          <p:cNvSpPr/>
          <p:nvPr/>
        </p:nvSpPr>
        <p:spPr>
          <a:xfrm>
            <a:off x="6255868" y="393192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35" name="lingkaran gelap"/>
          <p:cNvSpPr/>
          <p:nvPr/>
        </p:nvSpPr>
        <p:spPr>
          <a:xfrm>
            <a:off x="6484468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mage 6" descr="gelap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5344" y="4311396"/>
            <a:ext cx="384048" cy="384048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7307428" y="413308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Uji dua mode</a:t>
            </a:r>
            <a:endParaRPr lang="en-US" sz="1800" dirty="0"/>
          </a:p>
        </p:txBody>
      </p:sp>
      <p:sp>
        <p:nvSpPr>
          <p:cNvPr id="38" name="Text 28"/>
          <p:cNvSpPr txBox="1"/>
          <p:nvPr/>
        </p:nvSpPr>
        <p:spPr>
          <a:xfrm>
            <a:off x="6484468" y="498348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Terang dan gelap, lebar 320 dan 360.</a:t>
            </a:r>
            <a:endParaRPr lang="en-US" sz="1500" dirty="0"/>
          </a:p>
        </p:txBody>
      </p:sp>
      <p:sp>
        <p:nvSpPr>
          <p:cNvPr id="39" name="kartu 8"/>
          <p:cNvSpPr/>
          <p:nvPr/>
        </p:nvSpPr>
        <p:spPr>
          <a:xfrm>
            <a:off x="9109481" y="3931920"/>
            <a:ext cx="2533574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0" name="lingkaran jam"/>
          <p:cNvSpPr/>
          <p:nvPr/>
        </p:nvSpPr>
        <p:spPr>
          <a:xfrm>
            <a:off x="9338081" y="416052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mage 7" descr="ja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8957" y="4311396"/>
            <a:ext cx="384048" cy="384048"/>
          </a:xfrm>
          <a:prstGeom prst="rect">
            <a:avLst/>
          </a:prstGeom>
        </p:spPr>
      </p:pic>
      <p:sp>
        <p:nvSpPr>
          <p:cNvPr id="42" name="Text 31"/>
          <p:cNvSpPr txBox="1"/>
          <p:nvPr/>
        </p:nvSpPr>
        <p:spPr>
          <a:xfrm>
            <a:off x="10161041" y="4133088"/>
            <a:ext cx="129913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10 menit terakhir</a:t>
            </a:r>
            <a:endParaRPr lang="en-US" sz="1800" dirty="0"/>
          </a:p>
        </p:txBody>
      </p:sp>
      <p:sp>
        <p:nvSpPr>
          <p:cNvPr id="43" name="Text 32"/>
          <p:cNvSpPr txBox="1"/>
          <p:nvPr/>
        </p:nvSpPr>
        <p:spPr>
          <a:xfrm>
            <a:off x="9338081" y="4983480"/>
            <a:ext cx="207637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Untuk merapikan dan menguji, bukan fitur baru.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>
            <p:ph idx="101" type="body" hasCustomPrompt="1"/>
          </p:nvPr>
        </p:nvSpPr>
        <p:spPr>
          <a:xfrm>
            <a:off x="3840480" y="2103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chemeClr val="accent2"/>
                </a:solidFill>
              </a:rPr>
              <a:t>POLA KUNCI</a:t>
            </a:r>
            <a:endParaRPr lang="en-US" sz="1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3840480" y="2606040"/>
            <a:ext cx="7680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Empat Pola yang Pasti Dipakai</a:t>
            </a:r>
            <a:endParaRPr lang="en-US" sz="4000" dirty="0"/>
          </a:p>
        </p:txBody>
      </p:sp>
      <p:sp>
        <p:nvSpPr>
          <p:cNvPr id="5" name="lingkaran kunci"/>
          <p:cNvSpPr/>
          <p:nvPr/>
        </p:nvSpPr>
        <p:spPr>
          <a:xfrm>
            <a:off x="1097280" y="2148840"/>
            <a:ext cx="2011680" cy="20116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kunci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9850" y="2591410"/>
            <a:ext cx="1126541" cy="11265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2F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Pola 1 — Hasil Pencarian sebagai Nilai Turunan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217920" cy="3051810"/>
          </a:xfrm>
          <a:prstGeom prst="roundRect">
            <a:avLst>
              <a:gd name="adj" fmla="val 2996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_hasil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kunci 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_kataKunci.trim().toLowerCase();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_semuaAlat.where((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alat)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cocokNama 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alat.nama.toLowerCase().contains(kunci);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cocokJenis =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_jenis ==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|| alat.jenis == _jenis;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5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cocokNama &amp;&amp; cocokJenis;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}).toList();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</p:txBody>
      </p:sp>
      <p:sp>
        <p:nvSpPr>
          <p:cNvPr id="5" name="daftar poin"/>
          <p:cNvSpPr txBox="1"/>
          <p:nvPr/>
        </p:nvSpPr>
        <p:spPr>
          <a:xfrm>
            <a:off x="7178040" y="141732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State sebenarnya: _semuaAlat, _kataKunci, _jenis.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Hasil dihitung ulang setiap build, jadi selalu sinkron, termasuk setelah data baru ditambahkan.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_jenis == null berarti "Semua".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toLowerCase() di kedua sisi: pencarian tidak membedakan huruf besar/kecil.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Pola 2 — Detail yang Mengirim Hasil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40080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Future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_bukaDetail(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alat)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ubah 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.push&lt;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context,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MaterialPageRoute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builder: (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BuildContext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context) =&gt;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HalamanDetail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(alat: alat, ...),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(!mounted)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(ubah ==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_ubahSewa(alat);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 halaman detail: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onTombol: () =&gt;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.pop(context,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</p:txBody>
      </p:sp>
      <p:sp>
        <p:nvSpPr>
          <p:cNvPr id="5" name="daftar poin"/>
          <p:cNvSpPr txBox="1"/>
          <p:nvPr/>
        </p:nvSpPr>
        <p:spPr>
          <a:xfrm>
            <a:off x="7360920" y="1417320"/>
            <a:ext cx="428213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await menunggu sampai halaman detail ditutup.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Tombol kembali → hasil null → status tidak berubah.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ubah == true, bukan if (ubah): bool? tidak boleh langsung jadi kondisi.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mounted dicek dulu sebelum setState atau context.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Pola 3 — Formulir: Validasi, lalu Kirim Objek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21792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_simpan()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(!_kunciForm.currentState!.validate()) {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baru =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widget.idBaru,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nama: _kontrolNama.text.trim(),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jenis: _jenis!,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hargaPerHari: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.parse(_kontrolHarga.text.trim()),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keterangan: ...,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Navigator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.pop(context, baru);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5" name="daftar poin"/>
          <p:cNvSpPr txBox="1"/>
          <p:nvPr/>
        </p:nvSpPr>
        <p:spPr>
          <a:xfrm>
            <a:off x="7178040" y="141732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Validator: kembalikan null jika benar, teks pesan jika salah.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Angka: int.tryParse di validator, baru int.parse setelah lolos.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Halaman daftar menerima objek lewat await Navigator.push&lt;Alat&gt;, lalu setState menambahkannya.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Controller dibuat sebagai field State dan dibuang di dispose.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Pola 4 — Satu Widget Detail, Dua Tempat</a:t>
            </a:r>
            <a:endParaRPr lang="en-US" sz="3200" dirty="0"/>
          </a:p>
        </p:txBody>
      </p:sp>
      <p:sp>
        <p:nvSpPr>
          <p:cNvPr id="4" name="kotak kode"/>
          <p:cNvSpPr txBox="1"/>
          <p:nvPr/>
        </p:nvSpPr>
        <p:spPr>
          <a:xfrm>
            <a:off x="548640" y="1371600"/>
            <a:ext cx="6217920" cy="3547872"/>
          </a:xfrm>
          <a:prstGeom prst="roundRect">
            <a:avLst>
              <a:gd name="adj" fmla="val 2577"/>
            </a:avLst>
          </a:prstGeom>
          <a:solidFill>
            <a:srgbClr val="0E1A2B"/>
          </a:solidFill>
          <a:ln/>
        </p:spPr>
        <p:txBody>
          <a:bodyPr wrap="square" lIns="177800" tIns="152400" rIns="152400" bIns="17780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duaPanel =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MediaQuery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.widthOf(context) &gt;=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840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(duaPanel)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(children: [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SizedBox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child: daftar),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C792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VerticalDivider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(width: </a:t>
            </a:r>
            <a:r>
              <a:rPr lang="en-US" sz="1400" dirty="0">
                <a:solidFill>
                  <a:srgbClr val="F78C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Expanded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(child: </a:t>
            </a:r>
            <a:r>
              <a:rPr lang="en-US" sz="1400" dirty="0">
                <a:solidFill>
                  <a:srgbClr val="FFC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DetailAlat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alat: terpilih, ...,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onTombol: () =&gt; _ubahSewa(terpilih),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)),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halaman detail: DetailAlat(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onTombol: () =&gt; Navigator.pop(context, true))</a:t>
            </a:r>
            <a:endParaRPr lang="en-US" sz="1400" dirty="0"/>
          </a:p>
        </p:txBody>
      </p:sp>
      <p:sp>
        <p:nvSpPr>
          <p:cNvPr id="5" name="daftar poin"/>
          <p:cNvSpPr txBox="1"/>
          <p:nvPr/>
        </p:nvSpPr>
        <p:spPr>
          <a:xfrm>
            <a:off x="7178040" y="1417320"/>
            <a:ext cx="4465015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Ketukan di layar sempit: buka halaman detail.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Ketukan di layar lebar: setState mengganti _idTerpilih, panel kanan berganti.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Widget detail menerima data dan callback, jadi bisa dipakai di dua tempat.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_idTerpilih tetap tersimpan walaupun lebar jendela berubah.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Simulasi UTS: Sewa Alat Mapala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4638751" y="1316736"/>
            <a:ext cx="2243328" cy="3426931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simulasi_a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371600"/>
            <a:ext cx="2133600" cy="3317203"/>
          </a:xfrm>
          <a:prstGeom prst="rect">
            <a:avLst/>
          </a:prstGeom>
        </p:spPr>
      </p:pic>
      <p:sp>
        <p:nvSpPr>
          <p:cNvPr id="6" name="bingkai layar 2"/>
          <p:cNvSpPr/>
          <p:nvPr/>
        </p:nvSpPr>
        <p:spPr>
          <a:xfrm>
            <a:off x="7046671" y="1316736"/>
            <a:ext cx="2243328" cy="3426931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7" name="layar 2" descr="Tangkapan layar aplikasi (hasil_simulasi_b.jpg)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1535" y="1371600"/>
            <a:ext cx="2133600" cy="3317203"/>
          </a:xfrm>
          <a:prstGeom prst="rect">
            <a:avLst/>
          </a:prstGeom>
        </p:spPr>
      </p:pic>
      <p:sp>
        <p:nvSpPr>
          <p:cNvPr id="8" name="bingkai layar 3"/>
          <p:cNvSpPr/>
          <p:nvPr/>
        </p:nvSpPr>
        <p:spPr>
          <a:xfrm>
            <a:off x="9454591" y="1316736"/>
            <a:ext cx="2243328" cy="3426931"/>
          </a:xfrm>
          <a:prstGeom prst="roundRect">
            <a:avLst>
              <a:gd name="adj" fmla="val 407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9" name="layar 3" descr="Tangkapan layar aplikasi (hasil_simulasi_c.jpg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455" y="1371600"/>
            <a:ext cx="2133600" cy="3317203"/>
          </a:xfrm>
          <a:prstGeom prst="rect">
            <a:avLst/>
          </a:prstGeom>
        </p:spPr>
      </p:pic>
      <p:sp>
        <p:nvSpPr>
          <p:cNvPr id="10" name="tombol tautan">
            <a:hlinkClick r:id="rId4" tooltip="https://github.com/antonprafanto/mobile2026/blob/main/pertemuan_08_uts/kode/bahan_simulasi_sewa_alat.dart"/>
          </p:cNvPr>
          <p:cNvSpPr txBox="1"/>
          <p:nvPr/>
        </p:nvSpPr>
        <p:spPr>
          <a:xfrm>
            <a:off x="548640" y="1371600"/>
            <a:ext cx="3687775" cy="457200"/>
          </a:xfrm>
          <a:prstGeom prst="roundRect">
            <a:avLst>
              <a:gd name="adj" fmla="val 24000"/>
            </a:avLst>
          </a:prstGeom>
          <a:solidFill>
            <a:schemeClr val="accent1"/>
          </a:solidFill>
          <a:ln/>
        </p:spPr>
        <p:txBody>
          <a:bodyPr wrap="square" lIns="571500" tIns="0" rIns="7620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Kode di GitHub  ·  bahan_simulasi_sewa_alat.dart</a:t>
            </a:r>
            <a:endParaRPr lang="en-US" sz="1300" dirty="0"/>
          </a:p>
        </p:txBody>
      </p:sp>
      <p:pic>
        <p:nvPicPr>
          <p:cNvPr id="11" name="Image 3" descr="ikon tautan">
            <a:hlinkClick r:id="rId6" tooltip="https://github.com/antonprafanto/mobile2026/blob/main/pertemuan_08_uts/kode/bahan_simulasi_sewa_alat.dart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63040"/>
            <a:ext cx="274320" cy="274320"/>
          </a:xfrm>
          <a:prstGeom prst="rect">
            <a:avLst/>
          </a:prstGeom>
        </p:spPr>
      </p:pic>
      <p:sp>
        <p:nvSpPr>
          <p:cNvPr id="12" name="daftar poin"/>
          <p:cNvSpPr txBox="1"/>
          <p:nvPr/>
        </p:nvSpPr>
        <p:spPr>
          <a:xfrm>
            <a:off x="548640" y="2103120"/>
            <a:ext cx="368777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Pola soalnya sama dengan UTS; temanya berbeda.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Kerjakan 120 menit, tanpa AI, lalu nilai sendiri dengan rubrik.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Catat menit selesainya setiap ketentuan.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Simulasi di Layar Lebar</a:t>
            </a:r>
            <a:endParaRPr lang="en-US" sz="3200" dirty="0"/>
          </a:p>
        </p:txBody>
      </p:sp>
      <p:sp>
        <p:nvSpPr>
          <p:cNvPr id="4" name="bingkai layar 1"/>
          <p:cNvSpPr/>
          <p:nvPr/>
        </p:nvSpPr>
        <p:spPr>
          <a:xfrm>
            <a:off x="4638751" y="1316736"/>
            <a:ext cx="7059168" cy="3999953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C9D3E0"/>
            </a:solidFill>
            <a:prstDash val="solid"/>
          </a:ln>
        </p:spPr>
      </p:sp>
      <p:pic>
        <p:nvPicPr>
          <p:cNvPr id="5" name="layar 1" descr="Tangkapan layar aplikasi (hasil_simulasi_d.jpg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3615" y="1371600"/>
            <a:ext cx="6949440" cy="3890225"/>
          </a:xfrm>
          <a:prstGeom prst="rect">
            <a:avLst/>
          </a:prstGeom>
        </p:spPr>
      </p:pic>
      <p:sp>
        <p:nvSpPr>
          <p:cNvPr id="6" name="daftar poin"/>
          <p:cNvSpPr txBox="1"/>
          <p:nvPr/>
        </p:nvSpPr>
        <p:spPr>
          <a:xfrm>
            <a:off x="548640" y="1417320"/>
            <a:ext cx="3687775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Mulai lebar 840: daftar di kiri, detail di kanan.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Ketukan hanya mengganti panel kanan; baris ditandai terpilih.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Detail di panel kanan = widget yang sama dengan halaman detail.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Rubrik Penilaian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573849"/>
                <a:gridCol w="2773604"/>
                <a:gridCol w="860774"/>
                <a:gridCol w="6886189"/>
              </a:tblGrid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Ketentuan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penuh jika ...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Tema dan mode gelap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 + darkTheme dari benih sama; tombol mode; tanpa Colors.xxx/fontSize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Halaman daftar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ListView.builder; baris = class; label peran warna + tulisan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Pencarian dan saringan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peka huruf besar/kecil; chip dari .values; nilai turunan; tampilan kosong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 dan status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 membawa objek; pop(true); mounted; kembali tidak mengubah apa pun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+ GlobalKey; validator sesuai soal; dropdown; dispose; data baru muncul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Kualitas dan uji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terformat, tanpa peringatan, tanpa overflow 320/360, terbaca di mode gelap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Pengayaan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ringkasan (5), fitur khusus (5), dua panel (10)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Dinilai per ketentuan: yang baru sebagian berjalan tetap mendapat sebagian nilai. Aplikasi gagal dijalankan: maksimal 40.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Tanya Jawab Pemahaman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32588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5870"/>
                </a:solidFill>
              </a:rPr>
              <a:t>Setelah mengumpulkan, dosen menunjuk 2–3 bagian kode Anda. Contoh pertanyaannya:</a:t>
            </a:r>
            <a:endParaRPr lang="en-US" sz="1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94415" cy="914400"/>
        </p:xfrm>
        <a:graphic>
          <a:graphicData uri="http://schemas.openxmlformats.org/drawingml/2006/table">
            <a:tbl>
              <a:tblPr/>
              <a:tblGrid>
                <a:gridCol w="6694906"/>
                <a:gridCol w="4399509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Pertanyaan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Yang ingin diketahui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"Variabel apa saja yang menjadi state? Mengapa hasil pencarian tidak termasuk?"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Paham state vs nilai turunan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"Apa yang terjadi jika if (!mounted) return; dihapus?"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Paham await dan siklus hidup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"Mengapa ditulis ubah == true, bukan if (ubah)?"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Paham null safety pada hasil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"Ganti warna benih. Apa saja yang ikut berubah?"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Paham tema dan peran warna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"Mengapa daftar ini dibungkus Expanded?"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Paham constraints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lingkaran lampu"/>
          <p:cNvSpPr/>
          <p:nvPr/>
        </p:nvSpPr>
        <p:spPr>
          <a:xfrm>
            <a:off x="548640" y="548640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mage 0" descr="lampu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5597042"/>
            <a:ext cx="281635" cy="28163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34440" y="5394960"/>
            <a:ext cx="104086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Bagian yang sama sekali tidak bisa dijelaskan tidak diberi nilai. Latih dengan bagian B Latihan Persiapan.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Daftar Periksa Sebelum Mengumpulkan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4782076"/>
                <a:gridCol w="6312340"/>
              </a:tblGrid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Periksa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Caranya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Identitas terisi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Nama, NIM, paket, pernyataan di atas berkas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Berjalan tanpa layar merah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Jalankan dari awal sampai formulir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Terformat, tanpa peringatan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DartPad: Format · VS Code: Shift+Alt+F, panel Problems kosong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Lebar 320 dan 360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Daftar, detail, formulir tanpa garis kuning-hitam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gelap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teks terbaca, tidak ada kotak putih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Cari + saring bersamaan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Tampilan kosong muncul jika tidak ada yang cocok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Tombol kembali di detail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tidak berubah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Nama berkas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B23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uts_nim_namapanggilan.dart</a:t>
                      </a:r>
                      <a:endParaRPr lang="en-US" sz="15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Rencana Belajar Satu Minggu</a:t>
            </a:r>
            <a:endParaRPr lang="en-US" sz="3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147698"/>
                <a:gridCol w="9946717"/>
              </a:tblGrid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Kegiatan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Tulis ulang praktikum P5 (state, formulir, validasi) tanpa melihat jobsheet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Ulangi daftar, pencarian, dan navigasi dengan hasil (P6 Bagian 8–11 dan 14)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Ulangi tema, mode gelap, dan daftar–detail (P7 Bagian 7, 13, dan 16)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Kerjakan Simulasi UTS 120 menit dengan pengatur waktu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hasil simulasi dengan rubrik, perbaiki bagian yang kurang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Kerjakan Latihan Persiapan, terutama bagian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A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Persiapan teknis (Flutter/Chrome atau DartPad, akun LMS) dan istirahat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Ringkasan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1234440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Ujian praktik 120 menit: satu aplikasi, sembilan ketentuan.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Inti 80 poin (tema, daftar, cari, detail, formulir, kualitas).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234440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Pengayaan 20 poin (ringkasan, fitur khusus, dua panel).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234440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Buku terbuka terbatas; tanpa AI, tanpa bantuan orang lain.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6324448" y="1417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010248" y="1371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Empat pola kunci: nilai turunan, hasil dari detail, formulir, detail dua tempat.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6324448" y="2560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010248" y="2514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Jaga aplikasi selalu bisa dijalankan; simpan versi.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6324448" y="3703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657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Tanya jawab: jelaskan kode Anda sendiri.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6324448" y="48463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010248" y="4800600"/>
            <a:ext cx="4632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Berlatih: simulasi 120 menit + latihan persiapan.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A9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4"/>
          <p:cNvSpPr/>
          <p:nvPr>
            <p:ph idx="104" type="title" hasCustomPrompt="1"/>
          </p:nvPr>
        </p:nvSpPr>
        <p:spPr>
          <a:xfrm>
            <a:off x="731520" y="155448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Siap Menghadapi UTS!</a:t>
            </a:r>
            <a:endParaRPr lang="en-US" sz="4400" dirty="0"/>
          </a:p>
        </p:txBody>
      </p:sp>
      <p:sp>
        <p:nvSpPr>
          <p:cNvPr id="4" name="Text 4"/>
          <p:cNvSpPr/>
          <p:nvPr>
            <p:ph idx="105" type="body" hasCustomPrompt="1"/>
          </p:nvPr>
        </p:nvSpPr>
        <p:spPr>
          <a:xfrm>
            <a:off x="731520" y="384048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Baca panduannya, kerjakan simulasi dalam 120 menit, lalu latihan persiapan. Setelah UTS, Pertemuan 9 membahas manajemen state dengan pola MVVM.</a:t>
            </a:r>
            <a:endParaRPr lang="en-US" sz="2000" dirty="0"/>
          </a:p>
        </p:txBody>
      </p:sp>
      <p:sp>
        <p:nvSpPr>
          <p:cNvPr id="5" name="tombol tautan">
            <a:hlinkClick r:id="rId1" tooltip="https://github.com/antonprafanto/mobile2026/blob/main/pertemuan_08_uts/README.md"/>
          </p:cNvPr>
          <p:cNvSpPr txBox="1"/>
          <p:nvPr/>
        </p:nvSpPr>
        <p:spPr>
          <a:xfrm>
            <a:off x="73152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Panduan UTS</a:t>
            </a:r>
            <a:endParaRPr lang="en-US" sz="1600" dirty="0"/>
          </a:p>
        </p:txBody>
      </p:sp>
      <p:pic>
        <p:nvPicPr>
          <p:cNvPr id="6" name="Image 0" descr="ikon tautan">
            <a:hlinkClick r:id="rId3" tooltip="https://github.com/antonprafanto/mobile2026/blob/main/pertemuan_08_uts/README.md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5276088"/>
            <a:ext cx="329184" cy="329184"/>
          </a:xfrm>
          <a:prstGeom prst="rect">
            <a:avLst/>
          </a:prstGeom>
        </p:spPr>
      </p:pic>
      <p:sp>
        <p:nvSpPr>
          <p:cNvPr id="7" name="tombol tautan">
            <a:hlinkClick r:id="rId4" tooltip="https://github.com/antonprafanto/mobile2026/blob/main/pertemuan_08_uts/SIMULASI_UTS.md"/>
          </p:cNvPr>
          <p:cNvSpPr txBox="1"/>
          <p:nvPr/>
        </p:nvSpPr>
        <p:spPr>
          <a:xfrm>
            <a:off x="361188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Simulasi UTS</a:t>
            </a:r>
            <a:endParaRPr lang="en-US" sz="1600" dirty="0"/>
          </a:p>
        </p:txBody>
      </p:sp>
      <p:pic>
        <p:nvPicPr>
          <p:cNvPr id="8" name="Image 1" descr="ikon tautan">
            <a:hlinkClick r:id="rId6" tooltip="https://github.com/antonprafanto/mobile2026/blob/main/pertemuan_08_uts/SIMULASI_UTS.md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8184" y="5276088"/>
            <a:ext cx="329184" cy="329184"/>
          </a:xfrm>
          <a:prstGeom prst="rect">
            <a:avLst/>
          </a:prstGeom>
        </p:spPr>
      </p:pic>
      <p:sp>
        <p:nvSpPr>
          <p:cNvPr id="9" name="tombol tautan">
            <a:hlinkClick r:id="rId7" tooltip="https://github.com/antonprafanto/mobile2026/blob/main/pertemuan_08_uts/LATIHAN.md"/>
          </p:cNvPr>
          <p:cNvSpPr txBox="1"/>
          <p:nvPr/>
        </p:nvSpPr>
        <p:spPr>
          <a:xfrm>
            <a:off x="6492240" y="5166360"/>
            <a:ext cx="2697480" cy="548640"/>
          </a:xfrm>
          <a:prstGeom prst="roundRect">
            <a:avLst>
              <a:gd name="adj" fmla="val 20000"/>
            </a:avLst>
          </a:prstGeom>
          <a:solidFill>
            <a:schemeClr val="accent6"/>
          </a:solidFill>
          <a:ln/>
        </p:spPr>
        <p:txBody>
          <a:bodyPr wrap="square" lIns="622300" tIns="0" rIns="7620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Latihan Persiapan</a:t>
            </a:r>
            <a:endParaRPr lang="en-US" sz="1600" dirty="0"/>
          </a:p>
        </p:txBody>
      </p:sp>
      <p:pic>
        <p:nvPicPr>
          <p:cNvPr id="10" name="Image 2" descr="ikon tautan">
            <a:hlinkClick r:id="rId9" tooltip="https://github.com/antonprafanto/mobile2026/blob/main/pertemuan_08_uts/LATIHAN.md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8544" y="5276088"/>
            <a:ext cx="329184" cy="329184"/>
          </a:xfrm>
          <a:prstGeom prst="rect">
            <a:avLst/>
          </a:prstGeom>
        </p:spPr>
      </p:pic>
      <p:sp>
        <p:nvSpPr>
          <p:cNvPr id="11" name="lingkaran roket"/>
          <p:cNvSpPr/>
          <p:nvPr/>
        </p:nvSpPr>
        <p:spPr>
          <a:xfrm>
            <a:off x="9646920" y="182880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Image 3" descr="roket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29139" y="2211019"/>
            <a:ext cx="972922" cy="9729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PB Flutter 2026">
  <a:themeElements>
    <a:clrScheme name="PPB Flutter 2026">
      <a:dk1>
        <a:srgbClr val="1B2333"/>
      </a:dk1>
      <a:lt1>
        <a:srgbClr val="FFFFFF"/>
      </a:lt1>
      <a:dk2>
        <a:srgbClr val="0B2545"/>
      </a:dk2>
      <a:lt2>
        <a:srgbClr val="EEF3FA"/>
      </a:lt2>
      <a:accent1>
        <a:srgbClr val="0175C2"/>
      </a:accent1>
      <a:accent2>
        <a:srgbClr val="13B9FD"/>
      </a:accent2>
      <a:accent3>
        <a:srgbClr val="F2A900"/>
      </a:accent3>
      <a:accent4>
        <a:srgbClr val="2E7D32"/>
      </a:accent4>
      <a:accent5>
        <a:srgbClr val="C62828"/>
      </a:accent5>
      <a:accent6>
        <a:srgbClr val="6750A4"/>
      </a:accent6>
      <a:hlink>
        <a:srgbClr val="0175C2"/>
      </a:hlink>
      <a:folHlink>
        <a:srgbClr val="6750A4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08 - Persiapan UTS</dc:title>
  <dc:subject>Materi kuliah Pemrograman Piranti Bergerak (Flutter 2026)</dc:subject>
  <dc:creator>Pemrograman Piranti Bergerak - Informatika S1</dc:creator>
  <cp:lastModifiedBy>Pemrograman Piranti Bergerak - Informatika S1</cp:lastModifiedBy>
  <cp:revision>1</cp:revision>
  <dcterms:created xsi:type="dcterms:W3CDTF">2026-10-15T18:45:24Z</dcterms:created>
  <dcterms:modified xsi:type="dcterms:W3CDTF">2026-10-15T18:45:24Z</dcterms:modified>
</cp:coreProperties>
</file>