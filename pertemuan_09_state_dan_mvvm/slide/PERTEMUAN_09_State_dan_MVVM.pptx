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Lst>
  <p:notesMasterIdLst>
    <p:notesMasterId r:id="rId5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embuka" id="{4f36033b-b722-c913-3b5a-301ed6318fa6}">
          <p14:sldIdLst>
            <p14:sldId id="256"/>
            <p14:sldId id="257"/>
            <p14:sldId id="258"/>
          </p14:sldIdLst>
        </p14:section>
        <p14:section name="Mengapa setState Saja Tidak Cukup?" id="{b80764a0-f835-a92c-1578-d33c44f2f9ef}">
          <p14:sldIdLst>
            <p14:sldId id="259"/>
            <p14:sldId id="260"/>
            <p14:sldId id="261"/>
            <p14:sldId id="262"/>
            <p14:sldId id="263"/>
          </p14:sldIdLst>
        </p14:section>
        <p14:section name="ChangeNotifier, ListenableBuilder, dan ValueNotifier" id="{3d7a0f9d-6f9f-a9cc-018d-b5fa24de11c6}">
          <p14:sldIdLst>
            <p14:sldId id="264"/>
            <p14:sldId id="265"/>
            <p14:sldId id="266"/>
            <p14:sldId id="267"/>
            <p14:sldId id="268"/>
          </p14:sldIdLst>
        </p14:section>
        <p14:section name="Paket provider: Menitipkan Objek di Pohon Widget" id="{3a22e7a3-d259-5253-e6cd-1c01370c710b}">
          <p14:sldIdLst>
            <p14:sldId id="269"/>
            <p14:sldId id="270"/>
            <p14:sldId id="271"/>
            <p14:sldId id="272"/>
            <p14:sldId id="273"/>
            <p14:sldId id="274"/>
            <p14:sldId id="275"/>
            <p14:sldId id="276"/>
            <p14:sldId id="277"/>
            <p14:sldId id="278"/>
            <p14:sldId id="279"/>
            <p14:sldId id="280"/>
            <p14:sldId id="281"/>
            <p14:sldId id="282"/>
          </p14:sldIdLst>
        </p14:section>
        <p14:section name="Pola MVVM" id="{9a05bb72-9f69-7792-f2e2-06acb5ef6d2d}">
          <p14:sldIdLst>
            <p14:sldId id="283"/>
            <p14:sldId id="284"/>
            <p14:sldId id="285"/>
            <p14:sldId id="286"/>
            <p14:sldId id="287"/>
            <p14:sldId id="288"/>
          </p14:sldIdLst>
        </p14:section>
        <p14:section name="Repository dan Status Memuat" id="{76a0ebad-edb3-79cc-0606-870b106e97ba}">
          <p14:sldIdLst>
            <p14:sldId id="289"/>
            <p14:sldId id="290"/>
            <p14:sldId id="291"/>
            <p14:sldId id="292"/>
            <p14:sldId id="293"/>
          </p14:sldIdLst>
        </p14:section>
        <p14:section name="Cakupan dan Umur Provider" id="{3d3f304f-f19a-13a3-cf79-ef00c7ceb63e}">
          <p14:sldIdLst>
            <p14:sldId id="294"/>
            <p14:sldId id="295"/>
            <p14:sldId id="296"/>
            <p14:sldId id="297"/>
            <p14:sldId id="298"/>
          </p14:sldIdLst>
        </p14:section>
        <p14:section name="Menguji ViewModel dan Menata Folder" id="{788696fa-eda6-ce52-35ce-f7223f9859b6}">
          <p14:sldIdLst>
            <p14:sldId id="299"/>
            <p14:sldId id="300"/>
            <p14:sldId id="301"/>
            <p14:sldId id="302"/>
          </p14:sldIdLst>
        </p14:section>
        <p14:section name="Studi Kasus: Kuis Kampus" id="{9ffd573c-6c3c-52ca-a0e4-6a8268ac07df}">
          <p14:sldIdLst>
            <p14:sldId id="303"/>
            <p14:sldId id="304"/>
            <p14:sldId id="305"/>
            <p14:sldId id="306"/>
            <p14:sldId id="307"/>
            <p14:sldId id="308"/>
            <p14:sldId id="309"/>
            <p14:sldId id="310"/>
            <p14:sldId id="31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notesMaster" Target="notesMasters/notesMaster1.xml"/><Relationship Id="rId59" Type="http://schemas.openxmlformats.org/officeDocument/2006/relationships/presProps" Target="presProps.xml"/><Relationship Id="rId60" Type="http://schemas.openxmlformats.org/officeDocument/2006/relationships/viewProps" Target="viewProps.xml"/><Relationship Id="rId61" Type="http://schemas.openxmlformats.org/officeDocument/2006/relationships/theme" Target="theme/theme1.xml"/><Relationship Id="rId6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Sampai Pertemuan 7, data yang berubah selalu disimpan di State milik sebuah widget. Hari ini kita mengeluarkan data yang dipakai banyak halaman dari widget, lalu menata aplikasi dengan pola MVVM yang direkomendasikan panduan arsitektur resmi Flutter. Bekal: class, getter, Future/async (P3), setState, mengangkat state, dispose (P5), Navigator.push (P6), tema dan mode gelap (P7).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akhir hari ini: aplikasi Kuis Kampus. Soal diambil dari repository, skor dihitung oleh ViewModel, dan skor terbaik setiap topik tetap tampil di beranda walaupun halaman kuisnya sudah ditutup. Mulai hari ini proyek akhir juga dimulai: proposal dikumpulkan sesuai arahan dosen.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Bagian A menunjukkan mengapa setState saja tidak cukup untuk data yang dipakai banyak halaman. Bagian B membuat objek yang bisa mengumumkan perubahan. Bagian C membuat objek itu bisa diambil widget mana pun. Bagian D menata kode agar rapi dan mudah diuji. Bagian E merangkai semuanya.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Dua masalah dalam satu contoh, lalu cara memilih: state lokal atau state aplikasi.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 drilling = mengoper data lewat constructor dari tingkat ke tingkat, termasuk melewati widget yang tidak memakainya. Di Contoh 01 baru tiga tingkat, jadi masih terasa wajar; masalahnya membesar seiring aplikasi.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Cek cepat: mengapa lencana jumlah barang di AppBar ikut berubah, padahal halaman Keranjang tidak? Karena lencana itu bagian dari HalamanToko yang dibangun ulang oleh setState. Halaman Keranjang adalah halaman lain di atasnya. Demo: hapus barang ketiga lalu tekan lagi tombol hapusnya → RangeError di konsol.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Istilah dokumentasi Flutter: ephemeral state dan app state. Satu aplikasi hampir selalu memakai keduanya: di Contoh 07 nanti, isi formulir tambah tugas tetap memakai setState, sedangkan daftar tugasnya disimpan di luar widget.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Ketiga sifat ini yang akan kita bangun satu per satu. Poin 1 dan 2 dipenuhi ChangeNotifier (bawaan Flutter); poin 3 dipenuhi paket provider.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Objek yang bisa mengumumkan perubahan, widget yang mendengarkannya, dan versi siap pakai untuk satu nilai.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ChangeNotifier adalah class bawaan Flutter (package:flutter/foundation.dart). Tidak perlu paket tambahan.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Mengapa privat? Jika _dipanggil publik, kode lain bisa menulis antrean.dipanggil = 5 tanpa notifyListeners(): data berubah, tetapi layar tidak. Objek ini dibuat sekali di State dan dibuang di dispose(). Jika dipakai setelah dibuang: "A AntreanLayanan was used after being disposed." Cek cepat: void reset() { _nomorTerakhir = 0; _dipanggil = 0; } kurang apa? notifyListeners().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PanelMahasiswa hanya membungkus teks nomor terakhir dengan ListenableBuilder; tombolnya cukup memanggil antrean.ambilNomor dan tidak perlu dibangun ulang. Di tutorial lama, AnimatedBuilder dipakai untuk tujuan yang sama; sekarang AnimatedBuilder adalah turunan ListenableBuilder.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ValueNotifier hanya mengumumkan jika .value DIGANTI dengan nilai yang berbeda. .add(...) tidak mengganti objek List-nya, jadi tidak ada pengumuman. Dua nama yang ditambahkan diam-diam ikut terlihat saat tampilan akhirnya dibangun ulang oleh cara yang benar. Cek cepat: ValueNotifier&lt;int&gt; bernilai 3, lalu notifier.value = 3. Apakah pendengarnya dibangun ulang? Tidak, karena 3 == 3. ValueNotifier juga harus dibuang di dispose().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Membuat objek bisa diambil widget mana pun tanpa dioper lewat constructor.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Orang di gedung lain tidak bisa memintanya: widget yang tidak berada di bawah provider tidak bisa mengambil objeknya. Paket provider dipakai dokumentasi resmi Flutter di panduan simple app state management dan di contoh panduan arsitekturnya.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flutter pub add provider menambahkan baris provider: ^6.1.5 (angka mengikuti versi terbaru) di bagian dependencies pada pubspec.yaml. Setiap berkas yang memakainya menulis import 'package:provider/provider.dart';. Contoh 04 adalah toko yang sama dengan Contoh 01, ditulis ulang dengan provider.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Tanpa UnmodifiableListView, kode lain bisa menulis keranjang.isi.add('Sabun') dan isi keranjang berubah tanpa notifyListeners(). Dengan kaca etalase, kesalahan seperti itu langsung ketahuan saat dijalankan.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Gambar pohonnya: ChangeNotifierProvider → MaterialApp → Navigator → HalamanToko (watch jumlah) dan HalamanKeranjang (watch isi). Semua halaman berada "di dalam gedung yang sama".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Cek cepat: HalamanToko berubah dari StatefulWidget menjadi StatelessWidget. Mengapa tetap bisa menampilkan jumlah barang yang selalu baru? Datanya kini di objek Keranjang, dan context.watch mendaftarkan HalamanToko sebagai pendengar.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Pemakaian .value yang benar (meneruskan ViewModel yang sudah ada ke halaman berikutnya) dibahas di Bagian 11 modul.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Contoh select: context.select((Pertandingan p) =&gt; p.skorBiru). Consumer dipakai di tengah sebuah widget untuk membungkus bagian kecil yang berubah.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Penghitung build di Contoh 05 hanya untuk pembuktian. Pada aplikasi sungguhan jangan menaruh perhitungan atau efek samping di dalam build, karena Flutter boleh memanggil build kapan saja.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Angka "1×" adalah build pertama saat halaman dibuka. Di Latihan, mahasiswa mengganti watch di KartuKeterangan dengan select lalu memprediksi angkanya.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Kode di slide disederhanakan; di Contoh 05, teks Consumer juga menuliskan berapa kali Consumer dibangun.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Cek cepat: di Contoh 05, jika tombol Ulang ditulis context.watch&lt;Pertandingan&gt;().ulang(), lalu ditekan? Konsol menampilkan error pertama di tabel, dan skor tidak kembali ke 0 karena error terjadi sebelum ulang() sempat dipanggil.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Versi bertingkat: ChangeNotifierProvider(create: ... PengaturanTampilan(), child: ChangeNotifierProvider(create: ... ProfilPengguna(), child: const AplikasiKu())). Semakin banyak objek, semakin dalam tingkatannya.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Dibandingkan P7: dulu mode disimpan di State akar dan halaman pengaturan menerima mode + onModeBerubah lewat constructor. Kini halaman pengaturan tidak menerima apa pun; ia mengambil sendiri dengan watch dan read. Nilai awal kolom nama diambil dengan context.read&lt;ProfilPengguna&gt;().nama di initState. Judul beranda baru berubah setelah tombol ✓ ditekan.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Memisahkan bentuk data, tampilan, dan logika halaman.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Sampai P7, satu class State biasanya berisi data, aturan menyaring, perhitungan, dan widget sekaligus. Untuk aplikasi kecil itu wajar; saat aplikasi membesar, satu berkas berisi ratusan baris campuran logika dan tampilan.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Istilahnya unidirectional data flow, sangat disarankan dokumentasi resmi Flutter. Karena arahnya selalu sama, sumber masalah mudah dilacak: data salah → periksa ViewModel; tampilan salah → periksa 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Aturan 1–4 diringkas dari panduan arsitektur resmi Flutter; aturan 5 adalah kebiasaan baik untuk mata kuliah ini. Di pertemuan ini, perintah cukup berupa metode biasa. Contoh 07 masih menyimpan data awal di ViewModel agar sederhana; Bagian 10 menunjukkan cara yang benar dengan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Getter tampil hampir sama dengan _hasil di P6 Bagian 8.1; yang berbeda hanya tempatnya: dulu di State halaman, kini di ViewModel. Model Tugas immutable: semua field final dan constructor const; status selesai disimpan di _selesai milik ViewModel. HalamanTambahTugas: isi kolom dan pilihan prioritas tetap state lokal (setState); saat disimpan memanggil vm.tambah(...). Cek cepat: tugas Tinggi harus selalu di atas → ubah getter tampil di ViewModel; View tidak berubah sama sekali.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Catatan untuk yang membaca studi kasus resmi Flutter: di sana ViewModel diberikan ke View lewat constructor lalu didengarkan dengan ListenableBuilder, dan provider dipakai untuk menitipkan repository. Cara itu dan cara context.watch di modul ini sama-sama benar.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Sumber data yang bisa diganti, dan tiga keadaan data yang butuh waktu.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bisa datang dari kode (sekarang), REST API (P10), atau penyimpanan perangkat (P11). Jika ViewModel mengambil data sendiri, setiap sumber berganti ViewModel harus ditulis ulang. Repository = pemasok bahan; dapur tetap memasak dengan cara yang sama.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Tanpa penjaga _sudahDibuang, kembali sebelum 1,5 detik membuat muat() memanggil notifyListeners() pada ViewModel yang sudah dibuang: "A PengumumanViewModel was used after being disposed." Penjaganya: di dispose() set _sudahDibuang = true lalu super.dispose(); periksa tanda itu setelah setiap await.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Selama memuat, ikon muat ulang di AppBar nonaktif (onPressed: null), sehingga data tidak dimuat dua kali bersamaan. Saat gagal, konsol menampilkan: Galat saat memuat: Exception: Server tidak dapat dihubungi.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Cek cepat: P10 membuat RepositoriPengumumanApi. Selain menulis class barunya, apa yang diubah? Hanya baris create di main. ViewModel dan View hanya mengenal kontrak RepositoriPengumuman. Dependency injection dibahas lebih dalam di P12.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Letak provider menentukan siapa yang bisa memakai objeknya dan berapa lama objek itu hidup.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demo: ketuk Desain UI dengan Figma (ViewModel ke-1), tambah peserta menjadi 3 (Rp150.000), Simpan workshop ini, kembali (lencana simpanan 1), buka lagi. Konsol: ViewModel ke-1 DIBUAT untuk "Desain UI dengan Figma" / ViewModel ke-1 DIBUANG / ViewModel ke-2 DIBUAT untuk "Desain UI dengan Figma".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Cek cepat Kuis Kampus: RiwayatSkor di atas MaterialApp (skor terbaik harus tetap ada setelah kuis ditutup); KuisViewModel di dalam rute halaman kuis (setiap kuis mulai dari soal pertama).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Pengantar tabel adalah pesan error aslinya; nama class menyesuaikan. Dua penyebab terakhir dibahas di slide berikutnya.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Pada kolom kanan, context milik widget yang membuat provider berada DI ATAS provider itu, sehingga context.watch di sana tidak menemukannya. Consumer (atau class widget tersendiri) punya context baru yang berada di bawah provider.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ViewModel adalah class Dart biasa, sehingga logikanya bisa diperiksa tanpa layar. Lalu memecah proyek ke banyak berkas.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Fungsi periksa hanya membandingkan dua nilai dan mencatat hasilnya (HasilUji: nama, lulus, keterangan). Contoh 10 menampilkan hasil di layar agar mudah diamati di DartPad. Mengumumkan perubahan padahal tidak ada yang berubah tidak merusak tampilan, tetapi membuat widget dibangun ulang tanpa perlu.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Bug nilai batas (boundary bug) sangat sering terjadi. Cek cepat: tulis pemeriksaan bahwa Rp99.999 tidak mendapat diskon: final KeranjangViewModel buku = KeranjangViewModel()..tambah('Buku', 99999); hasil.add(periksa('Belanja Rp99.999 tanpa diskon', buku.diskon, 0)); — jangan lupa membuang buku di akhir.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Struktur ini disederhanakan dari studi kasus panduan arsitektur resmi Flutter. Semua contoh hari ini satu berkas agar bisa jalan di DartPad; Praktikum 5 Jobsheet memecah Tugas Kuliahku ke struktur ini. Jangan membuat folder yang belum dibutuhkan; data/services/ misalnya baru muncul di P10.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Merangkai Model, repository, state aplikasi, ViewModel halaman, dan 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RiwayatSkor adalah state aplikasi yang dipanggil langsung oleh KuisViewModel agar contoh sederhana. Saat skor perlu disimpan permanen (P11), data seperti ini sebaiknya dipindahkan ke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privat KuisViewModel: _status (memuat, gagal, menjawab, selesai), _soal, _jawaban (List&lt;int?&gt;, null = belum dijawab), _indeks. Perintah: muat, pilih, lanjut, ulangi (mengosongkan jawaban tanpa memuat ulang soal).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Kiri: beranda awal (0 kuis, semua topik belum dicoba). Tengah: soal 2 setelah menjawab salah (pilihan salah errorContainer + ikon silang, jawaban benar primaryContainer + ikon centang, kartu pembahasan). Kanan: hasil 3/5 "Bagus! Tinggal sedikit lagi."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Daftar uji mandiri lengkap ada di modul Bagian 14.8. Status gagal belum pernah muncul karena RepositoriSoalLokal tidak pernah gagal; status itu disiapkan untuk P10 saat soal diambil dari internet.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Tabel lengkap ada di modul Bagian 15, termasuk pesan error watch/select di luar build, ProviderNotFound, jebakan ValueNotifier&lt;List&gt;, dan watch di widget besar.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Minta mahasiswa memetakan aplikasi proyek akhir mereka: data apa saja yang lokal, data apa saja yang dipakai banyak halaman, dan dari mana datanya berasal.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Minta mahasiswa menjelaskan dengan kata-kata sendiri: di Kuis Kampus, mengapa RiwayatSkor dititipkan di atas MaterialApp sedangkan KuisViewModel di rute, dan apa yang terjadi jika keduanya ditukar.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Praktikum 5 Jobsheet dikerjakan di VS Code (flutter create, flutter pub add provider), bukan DartPad. Ingatkan: tugas mandiri wajib punya jalankanUji() yang dijalankan sebelum runApp dan diuji di lebar 360 dalam mode terang dan gelap. Di P10, repository palsu diganti repository yang benar-benar mengambil data dari internet tanpa mengubah ViewModel dan 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JUDUL">
    <p:bg>
      <p:bgPr>
        <a:solidFill>
          <a:schemeClr val="tx2"/>
        </a:solidFill>
      </p:bgPr>
    </p:bg>
    <p:spTree>
      <p:nvGrpSpPr>
        <p:cNvPr id="1" name=""/>
        <p:cNvGrpSpPr/>
        <p:nvPr/>
      </p:nvGrpSpPr>
      <p:grpSpPr>
        <a:xfrm>
          <a:off x="0" y="0"/>
          <a:ext cx="0" cy="0"/>
          <a:chOff x="0" y="0"/>
          <a:chExt cx="0" cy="0"/>
        </a:xfrm>
      </p:grpSpPr>
      <p:sp>
        <p:nvSpPr>
          <p:cNvPr id="2" name="Text 0"/>
          <p:cNvSpPr/>
          <p:nvPr/>
        </p:nvSpPr>
        <p:spPr>
          <a:xfrm>
            <a:off x="8412480" y="2926080"/>
            <a:ext cx="5669280" cy="5669280"/>
          </a:xfrm>
          <a:prstGeom prst="ellipse">
            <a:avLst/>
          </a:prstGeom>
          <a:solidFill>
            <a:schemeClr val="accent1">
              <a:alpha val="30000"/>
            </a:schemeClr>
          </a:solidFill>
          <a:ln/>
        </p:spPr>
        <p:txBody>
          <a:bodyPr wrap="square" rtlCol="0" anchor="ctr"/>
          <a:lstStyle/>
          <a:p>
            <a:pPr indent="0" marL="0">
              <a:buNone/>
            </a:pPr>
            <a:endParaRPr lang="en-US" dirty="0"/>
          </a:p>
        </p:txBody>
      </p:sp>
      <p:sp>
        <p:nvSpPr>
          <p:cNvPr id="3" name="Text 1"/>
          <p:cNvSpPr/>
          <p:nvPr/>
        </p:nvSpPr>
        <p:spPr>
          <a:xfrm>
            <a:off x="9692640" y="-1280160"/>
            <a:ext cx="3291840" cy="3291840"/>
          </a:xfrm>
          <a:prstGeom prst="ellipse">
            <a:avLst/>
          </a:prstGeom>
          <a:solidFill>
            <a:schemeClr val="accent2">
              <a:alpha val="20000"/>
            </a:schemeClr>
          </a:solidFill>
          <a:ln/>
        </p:spPr>
        <p:txBody>
          <a:bodyPr wrap="square" rtlCol="0" anchor="ctr"/>
          <a:lstStyle/>
          <a:p>
            <a:pPr indent="0" marL="0">
              <a:buNone/>
            </a:pPr>
            <a:endParaRPr lang="en-US" dirty="0"/>
          </a:p>
        </p:txBody>
      </p:sp>
      <p:sp>
        <p:nvSpPr>
          <p:cNvPr id="4" name="Text 2"/>
          <p:cNvSpPr/>
          <p:nvPr/>
        </p:nvSpPr>
        <p:spPr>
          <a:xfrm>
            <a:off x="731520" y="1005840"/>
            <a:ext cx="8229600" cy="365760"/>
          </a:xfrm>
          <a:prstGeom prst="rect">
            <a:avLst/>
          </a:prstGeom>
          <a:noFill/>
          <a:ln/>
        </p:spPr>
        <p:txBody>
          <a:bodyPr wrap="square" lIns="0" tIns="0" rIns="0" bIns="0" rtlCol="0" anchor="ctr"/>
          <a:lstStyle/>
          <a:p>
            <a:pPr indent="0" marL="0">
              <a:buNone/>
            </a:pPr>
            <a:r>
              <a:rPr lang="en-US" sz="1400" b="1" spc="200" kern="0" dirty="0">
                <a:solidFill>
                  <a:schemeClr val="accent2"/>
                </a:solidFill>
              </a:rPr>
              <a:t>PEMROGRAMAN PIRANTI BERGERAK  ·  INFORMATIKA S1</a:t>
            </a:r>
            <a:endParaRPr lang="en-US" sz="1400" dirty="0"/>
          </a:p>
        </p:txBody>
      </p:sp>
      <p:sp>
        <p:nvSpPr>
          <p:cNvPr id="5" name="Text 3"/>
          <p:cNvSpPr/>
          <p:nvPr/>
        </p:nvSpPr>
        <p:spPr>
          <a:xfrm>
            <a:off x="731520" y="5989320"/>
            <a:ext cx="7315200" cy="320040"/>
          </a:xfrm>
          <a:prstGeom prst="rect">
            <a:avLst/>
          </a:prstGeom>
          <a:noFill/>
          <a:ln/>
        </p:spPr>
        <p:txBody>
          <a:bodyPr wrap="square" lIns="0" tIns="0" rIns="0" bIns="0" rtlCol="0" anchor="ctr"/>
          <a:lstStyle/>
          <a:p>
            <a:pPr indent="0" marL="0">
              <a:buNone/>
            </a:pPr>
            <a:r>
              <a:rPr lang="en-US" sz="1300" dirty="0">
                <a:solidFill>
                  <a:schemeClr val="bg2"/>
                </a:solidFill>
              </a:rPr>
              <a:t>github.com/antonprafanto/mobile2026</a:t>
            </a:r>
            <a:endParaRPr lang="en-US" sz="1300" dirty="0"/>
          </a:p>
        </p:txBody>
      </p:sp>
      <p:sp>
        <p:nvSpPr>
          <p:cNvPr id="6" name="Text 4"/>
          <p:cNvSpPr/>
          <p:nvPr>
            <p:ph idx="104" type="title" hasCustomPrompt="1"/>
          </p:nvPr>
        </p:nvSpPr>
        <p:spPr>
          <a:xfrm>
            <a:off x="731520" y="1554480"/>
            <a:ext cx="8778240" cy="210312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7" name="Text 4"/>
          <p:cNvSpPr/>
          <p:nvPr>
            <p:ph idx="105" type="body" hasCustomPrompt="1"/>
          </p:nvPr>
        </p:nvSpPr>
        <p:spPr>
          <a:xfrm>
            <a:off x="731520" y="3840480"/>
            <a:ext cx="8412480" cy="128016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BAGIAN">
    <p:bg>
      <p:bgPr>
        <a:solidFill>
          <a:schemeClr val="tx2"/>
        </a:solidFill>
      </p:bgPr>
    </p:bg>
    <p:spTree>
      <p:nvGrpSpPr>
        <p:cNvPr id="1" name=""/>
        <p:cNvGrpSpPr/>
        <p:nvPr/>
      </p:nvGrpSpPr>
      <p:grpSpPr>
        <a:xfrm>
          <a:off x="0" y="0"/>
          <a:ext cx="0" cy="0"/>
          <a:chOff x="0" y="0"/>
          <a:chExt cx="0" cy="0"/>
        </a:xfrm>
      </p:grpSpPr>
      <p:sp>
        <p:nvSpPr>
          <p:cNvPr id="2" name="Text 0"/>
          <p:cNvSpPr/>
          <p:nvPr/>
        </p:nvSpPr>
        <p:spPr>
          <a:xfrm>
            <a:off x="-1645920" y="4023360"/>
            <a:ext cx="4572000" cy="4572000"/>
          </a:xfrm>
          <a:prstGeom prst="ellipse">
            <a:avLst/>
          </a:prstGeom>
          <a:solidFill>
            <a:schemeClr val="accent1">
              <a:alpha val="25000"/>
            </a:schemeClr>
          </a:solidFill>
          <a:ln/>
        </p:spPr>
        <p:txBody>
          <a:bodyPr wrap="square" rtlCol="0" anchor="ctr"/>
          <a:lstStyle/>
          <a:p>
            <a:pPr indent="0" marL="0">
              <a:buNone/>
            </a:pPr>
            <a:endParaRPr lang="en-US" dirty="0"/>
          </a:p>
        </p:txBody>
      </p:sp>
      <p:sp>
        <p:nvSpPr>
          <p:cNvPr id="3" name="Text 1"/>
          <p:cNvSpPr/>
          <p:nvPr>
            <p:ph idx="101" type="body" hasCustomPrompt="1"/>
          </p:nvPr>
        </p:nvSpPr>
        <p:spPr>
          <a:xfrm>
            <a:off x="3840480" y="2103120"/>
            <a:ext cx="7680960" cy="457200"/>
          </a:xfrm>
          <a:prstGeom prst="rect">
            <a:avLst/>
          </a:prstGeom>
          <a:noFill/>
          <a:ln/>
        </p:spPr>
        <p:txBody>
          <a:bodyPr wrap="square" rtlCol="0"/>
          <a:lstStyle>
            <a:lvl1pPr indent="0" marL="0">
              <a:buNone/>
              <a:defRPr lang="en-US" sz="1800" b="1" spc="200" kern="0" dirty="0">
                <a:solidFill>
                  <a:schemeClr val="accent2"/>
                </a:solidFill>
              </a:defRPr>
            </a:lvl1pPr>
          </a:lstStyle>
          <a:p>
            <a:pPr indent="0" marL="0">
              <a:buNone/>
            </a:pPr>
            <a:endParaRPr lang="en-US" sz="1800" dirty="0"/>
          </a:p>
        </p:txBody>
      </p:sp>
      <p:sp>
        <p:nvSpPr>
          <p:cNvPr id="4" name="Text 1"/>
          <p:cNvSpPr/>
          <p:nvPr>
            <p:ph idx="102" type="title" hasCustomPrompt="1"/>
          </p:nvPr>
        </p:nvSpPr>
        <p:spPr>
          <a:xfrm>
            <a:off x="3840480" y="2606040"/>
            <a:ext cx="7680960" cy="173736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5" name="Text 1"/>
          <p:cNvSpPr/>
          <p:nvPr/>
        </p:nvSpPr>
        <p:spPr>
          <a:xfrm>
            <a:off x="548640" y="6355080"/>
            <a:ext cx="8229600" cy="274320"/>
          </a:xfrm>
          <a:prstGeom prst="rect">
            <a:avLst/>
          </a:prstGeom>
          <a:noFill/>
          <a:ln/>
        </p:spPr>
        <p:txBody>
          <a:bodyPr wrap="square" lIns="0" tIns="0" rIns="0" bIns="0" rtlCol="0" anchor="ctr"/>
          <a:lstStyle/>
          <a:p>
            <a:pPr indent="0" marL="0">
              <a:buNone/>
            </a:pPr>
            <a:r>
              <a:rPr lang="en-US" sz="1000" dirty="0">
                <a:solidFill>
                  <a:schemeClr val="bg2"/>
                </a:solidFill>
              </a:rPr>
              <a:t>Pemrograman Piranti Bergerak  ·  Pertemuan 09  ·  Manajemen State &amp; MVVM</a:t>
            </a:r>
            <a:endParaRPr lang="en-US" sz="10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KONTEN">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3" name="Text 0"/>
          <p:cNvSpPr/>
          <p:nvPr/>
        </p:nvSpPr>
        <p:spPr>
          <a:xfrm>
            <a:off x="548640" y="6355080"/>
            <a:ext cx="8229600" cy="274320"/>
          </a:xfrm>
          <a:prstGeom prst="rect">
            <a:avLst/>
          </a:prstGeom>
          <a:noFill/>
          <a:ln/>
        </p:spPr>
        <p:txBody>
          <a:bodyPr wrap="square" lIns="0" tIns="0" rIns="0" bIns="0" rtlCol="0" anchor="ctr"/>
          <a:lstStyle/>
          <a:p>
            <a:pPr indent="0" marL="0">
              <a:buNone/>
            </a:pPr>
            <a:r>
              <a:rPr lang="en-US" sz="1000" dirty="0">
                <a:solidFill>
                  <a:srgbClr val="6B7A90"/>
                </a:solidFill>
              </a:rPr>
              <a:t>Pemrograman Piranti Bergerak  ·  Pertemuan 09  ·  Manajemen State &amp; MVVM</a:t>
            </a:r>
            <a:endParaRPr lang="en-US" sz="10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1.png"/><Relationship Id="rId3" Type="http://schemas.openxmlformats.org/officeDocument/2006/relationships/image" Target="../media/image-2-1.png"/><Relationship Id="rId4" Type="http://schemas.openxmlformats.org/officeDocument/2006/relationships/image" Target="../media/image-2-1.png"/><Relationship Id="rId5" Type="http://schemas.openxmlformats.org/officeDocument/2006/relationships/image" Target="../media/image-2-1.png"/><Relationship Id="rId6" Type="http://schemas.openxmlformats.org/officeDocument/2006/relationships/image" Target="../media/image-2-1.png"/><Relationship Id="rId7" Type="http://schemas.openxmlformats.org/officeDocument/2006/relationships/image" Target="../media/image-2-1.png"/><Relationship Id="rId8" Type="http://schemas.openxmlformats.org/officeDocument/2006/relationships/image" Target="../media/image-2-1.png"/><Relationship Id="rId9" Type="http://schemas.openxmlformats.org/officeDocument/2006/relationships/slideLayout" Target="../slideLayouts/slideLayout4.xml"/><Relationship Id="rId1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4.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4.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hyperlink" Target="https://github.com/antonprafanto/mobile2026/blob/main/pertemuan_09_state_dan_mvvm/kode/contoh_01_masalah_state_bertingkat.dart" TargetMode="External"/><Relationship Id="rId4" Type="http://schemas.openxmlformats.org/officeDocument/2006/relationships/hyperlink" Target="https://github.com/antonprafanto/mobile2026/blob/main/pertemuan_09_state_dan_mvvm/kode/contoh_01_masalah_state_bertingkat.dart" TargetMode="External"/><Relationship Id="rId1" Type="http://schemas.openxmlformats.org/officeDocument/2006/relationships/image" Target="../media/image-6-1.jpg"/><Relationship Id="rId3" Type="http://schemas.openxmlformats.org/officeDocument/2006/relationships/image" Target="../media/image-6-2.png"/><Relationship Id="rId5" Type="http://schemas.openxmlformats.org/officeDocument/2006/relationships/slideLayout" Target="../slideLayouts/slideLayout4.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4.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4.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github.com/antonprafanto/mobile2026/blob/main/pertemuan_09_state_dan_mvvm/kode/contoh_02_changenotifier_dasar.dart" TargetMode="External"/><Relationship Id="rId3" Type="http://schemas.openxmlformats.org/officeDocument/2006/relationships/hyperlink" Target="https://github.com/antonprafanto/mobile2026/blob/main/pertemuan_09_state_dan_mvvm/kode/contoh_02_changenotifier_dasar.dart" TargetMode="External"/><Relationship Id="rId2" Type="http://schemas.openxmlformats.org/officeDocument/2006/relationships/image" Target="../media/image-11-1.png"/><Relationship Id="rId4" Type="http://schemas.openxmlformats.org/officeDocument/2006/relationships/slideLayout" Target="../slideLayouts/slideLayout4.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2" Type="http://schemas.openxmlformats.org/officeDocument/2006/relationships/hyperlink" Target="https://github.com/antonprafanto/mobile2026/blob/main/pertemuan_09_state_dan_mvvm/kode/contoh_02_changenotifier_dasar.dart" TargetMode="External"/><Relationship Id="rId4" Type="http://schemas.openxmlformats.org/officeDocument/2006/relationships/hyperlink" Target="https://github.com/antonprafanto/mobile2026/blob/main/pertemuan_09_state_dan_mvvm/kode/contoh_02_changenotifier_dasar.dart" TargetMode="External"/><Relationship Id="rId1" Type="http://schemas.openxmlformats.org/officeDocument/2006/relationships/image" Target="../media/image-12-1.jpg"/><Relationship Id="rId3" Type="http://schemas.openxmlformats.org/officeDocument/2006/relationships/image" Target="../media/image-12-2.png"/><Relationship Id="rId5" Type="http://schemas.openxmlformats.org/officeDocument/2006/relationships/slideLayout" Target="../slideLayouts/slideLayout4.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2" Type="http://schemas.openxmlformats.org/officeDocument/2006/relationships/hyperlink" Target="https://github.com/antonprafanto/mobile2026/blob/main/pertemuan_09_state_dan_mvvm/kode/contoh_03_valuenotifier.dart" TargetMode="External"/><Relationship Id="rId4" Type="http://schemas.openxmlformats.org/officeDocument/2006/relationships/hyperlink" Target="https://github.com/antonprafanto/mobile2026/blob/main/pertemuan_09_state_dan_mvvm/kode/contoh_03_valuenotifier.dart" TargetMode="External"/><Relationship Id="rId1" Type="http://schemas.openxmlformats.org/officeDocument/2006/relationships/image" Target="../media/image-13-1.jpg"/><Relationship Id="rId3" Type="http://schemas.openxmlformats.org/officeDocument/2006/relationships/image" Target="../media/image-13-2.png"/><Relationship Id="rId5" Type="http://schemas.openxmlformats.org/officeDocument/2006/relationships/slideLayout" Target="../slideLayouts/slideLayout4.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4.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4.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hyperlink" Target="https://github.com/antonprafanto/mobile2026/blob/main/pertemuan_09_state_dan_mvvm/kode/contoh_04_provider_dasar.dart" TargetMode="External"/><Relationship Id="rId3" Type="http://schemas.openxmlformats.org/officeDocument/2006/relationships/hyperlink" Target="https://github.com/antonprafanto/mobile2026/blob/main/pertemuan_09_state_dan_mvvm/kode/contoh_04_provider_dasar.dart" TargetMode="External"/><Relationship Id="rId2" Type="http://schemas.openxmlformats.org/officeDocument/2006/relationships/image" Target="../media/image-17-1.png"/><Relationship Id="rId4" Type="http://schemas.openxmlformats.org/officeDocument/2006/relationships/slideLayout" Target="../slideLayouts/slideLayout4.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hyperlink" Target="https://github.com/antonprafanto/mobile2026/blob/main/pertemuan_09_state_dan_mvvm/kode/contoh_04_provider_dasar.dart" TargetMode="External"/><Relationship Id="rId3" Type="http://schemas.openxmlformats.org/officeDocument/2006/relationships/hyperlink" Target="https://github.com/antonprafanto/mobile2026/blob/main/pertemuan_09_state_dan_mvvm/kode/contoh_04_provider_dasar.dart" TargetMode="External"/><Relationship Id="rId2" Type="http://schemas.openxmlformats.org/officeDocument/2006/relationships/image" Target="../media/image-18-1.png"/><Relationship Id="rId4" Type="http://schemas.openxmlformats.org/officeDocument/2006/relationships/slideLayout" Target="../slideLayouts/slideLayout4.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2" Type="http://schemas.openxmlformats.org/officeDocument/2006/relationships/hyperlink" Target="https://github.com/antonprafanto/mobile2026/blob/main/pertemuan_09_state_dan_mvvm/kode/contoh_04_provider_dasar.dart" TargetMode="External"/><Relationship Id="rId4" Type="http://schemas.openxmlformats.org/officeDocument/2006/relationships/hyperlink" Target="https://github.com/antonprafanto/mobile2026/blob/main/pertemuan_09_state_dan_mvvm/kode/contoh_04_provider_dasar.dart" TargetMode="External"/><Relationship Id="rId1" Type="http://schemas.openxmlformats.org/officeDocument/2006/relationships/image" Target="../media/image-19-1.jpg"/><Relationship Id="rId3" Type="http://schemas.openxmlformats.org/officeDocument/2006/relationships/image" Target="../media/image-19-2.png"/><Relationship Id="rId5" Type="http://schemas.openxmlformats.org/officeDocument/2006/relationships/slideLayout" Target="../slideLayouts/slideLayout4.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4.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4.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2" Type="http://schemas.openxmlformats.org/officeDocument/2006/relationships/hyperlink" Target="https://github.com/antonprafanto/mobile2026/blob/main/pertemuan_09_state_dan_mvvm/kode/contoh_05_watch_read_select.dart" TargetMode="External"/><Relationship Id="rId4" Type="http://schemas.openxmlformats.org/officeDocument/2006/relationships/hyperlink" Target="https://github.com/antonprafanto/mobile2026/blob/main/pertemuan_09_state_dan_mvvm/kode/contoh_05_watch_read_select.dart" TargetMode="External"/><Relationship Id="rId1" Type="http://schemas.openxmlformats.org/officeDocument/2006/relationships/image" Target="../media/image-22-1.jpg"/><Relationship Id="rId3" Type="http://schemas.openxmlformats.org/officeDocument/2006/relationships/image" Target="../media/image-22-2.png"/><Relationship Id="rId5" Type="http://schemas.openxmlformats.org/officeDocument/2006/relationships/slideLayout" Target="../slideLayouts/slideLayout4.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4.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hyperlink" Target="https://github.com/antonprafanto/mobile2026/blob/main/pertemuan_09_state_dan_mvvm/kode/contoh_05_watch_read_select.dart" TargetMode="External"/><Relationship Id="rId3" Type="http://schemas.openxmlformats.org/officeDocument/2006/relationships/hyperlink" Target="https://github.com/antonprafanto/mobile2026/blob/main/pertemuan_09_state_dan_mvvm/kode/contoh_05_watch_read_select.dart" TargetMode="External"/><Relationship Id="rId2" Type="http://schemas.openxmlformats.org/officeDocument/2006/relationships/image" Target="../media/image-24-1.png"/><Relationship Id="rId4" Type="http://schemas.openxmlformats.org/officeDocument/2006/relationships/slideLayout" Target="../slideLayouts/slideLayout4.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4.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hyperlink" Target="https://github.com/antonprafanto/mobile2026/blob/main/pertemuan_09_state_dan_mvvm/kode/contoh_06_multiprovider.dart" TargetMode="External"/><Relationship Id="rId3" Type="http://schemas.openxmlformats.org/officeDocument/2006/relationships/hyperlink" Target="https://github.com/antonprafanto/mobile2026/blob/main/pertemuan_09_state_dan_mvvm/kode/contoh_06_multiprovider.dart" TargetMode="External"/><Relationship Id="rId2" Type="http://schemas.openxmlformats.org/officeDocument/2006/relationships/image" Target="../media/image-26-1.png"/><Relationship Id="rId4" Type="http://schemas.openxmlformats.org/officeDocument/2006/relationships/slideLayout" Target="../slideLayouts/slideLayout4.xml"/><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3" Type="http://schemas.openxmlformats.org/officeDocument/2006/relationships/hyperlink" Target="https://github.com/antonprafanto/mobile2026/blob/main/pertemuan_09_state_dan_mvvm/kode/contoh_06_multiprovider.dart" TargetMode="External"/><Relationship Id="rId5" Type="http://schemas.openxmlformats.org/officeDocument/2006/relationships/hyperlink" Target="https://github.com/antonprafanto/mobile2026/blob/main/pertemuan_09_state_dan_mvvm/kode/contoh_06_multiprovider.dart" TargetMode="External"/><Relationship Id="rId1" Type="http://schemas.openxmlformats.org/officeDocument/2006/relationships/image" Target="../media/image-27-1.jpg"/><Relationship Id="rId2" Type="http://schemas.openxmlformats.org/officeDocument/2006/relationships/image" Target="../media/image-27-2.jpg"/><Relationship Id="rId4" Type="http://schemas.openxmlformats.org/officeDocument/2006/relationships/image" Target="../media/image-27-3.png"/><Relationship Id="rId6" Type="http://schemas.openxmlformats.org/officeDocument/2006/relationships/slideLayout" Target="../slideLayouts/slideLayout4.xml"/><Relationship Id="rId7"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3.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4.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image" Target="../media/image-30-5.png"/><Relationship Id="rId6" Type="http://schemas.openxmlformats.org/officeDocument/2006/relationships/slideLayout" Target="../slideLayouts/slideLayout4.xml"/><Relationship Id="rId7"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image" Target="../media/image-31-5.png"/><Relationship Id="rId6" Type="http://schemas.openxmlformats.org/officeDocument/2006/relationships/slideLayout" Target="../slideLayouts/slideLayout4.xml"/><Relationship Id="rId7"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2" Type="http://schemas.openxmlformats.org/officeDocument/2006/relationships/hyperlink" Target="https://github.com/antonprafanto/mobile2026/blob/main/pertemuan_09_state_dan_mvvm/kode/contoh_07_mvvm_dasar.dart" TargetMode="External"/><Relationship Id="rId4" Type="http://schemas.openxmlformats.org/officeDocument/2006/relationships/hyperlink" Target="https://github.com/antonprafanto/mobile2026/blob/main/pertemuan_09_state_dan_mvvm/kode/contoh_07_mvvm_dasar.dart" TargetMode="External"/><Relationship Id="rId1" Type="http://schemas.openxmlformats.org/officeDocument/2006/relationships/image" Target="../media/image-32-1.jpg"/><Relationship Id="rId3" Type="http://schemas.openxmlformats.org/officeDocument/2006/relationships/image" Target="../media/image-32-2.png"/><Relationship Id="rId5" Type="http://schemas.openxmlformats.org/officeDocument/2006/relationships/slideLayout" Target="../slideLayouts/slideLayout4.xml"/><Relationship Id="rId6"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slideLayout" Target="../slideLayouts/slideLayout4.xml"/><Relationship Id="rId6"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3.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hyperlink" Target="https://github.com/antonprafanto/mobile2026/blob/main/pertemuan_09_state_dan_mvvm/kode/contoh_08_repository_dan_status_muat.dart" TargetMode="External"/><Relationship Id="rId3" Type="http://schemas.openxmlformats.org/officeDocument/2006/relationships/hyperlink" Target="https://github.com/antonprafanto/mobile2026/blob/main/pertemuan_09_state_dan_mvvm/kode/contoh_08_repository_dan_status_muat.dart" TargetMode="External"/><Relationship Id="rId2" Type="http://schemas.openxmlformats.org/officeDocument/2006/relationships/image" Target="../media/image-35-1.png"/><Relationship Id="rId4" Type="http://schemas.openxmlformats.org/officeDocument/2006/relationships/slideLayout" Target="../slideLayouts/slideLayout4.xml"/><Relationship Id="rId5"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hyperlink" Target="https://github.com/antonprafanto/mobile2026/blob/main/pertemuan_09_state_dan_mvvm/kode/contoh_08_repository_dan_status_muat.dart" TargetMode="External"/><Relationship Id="rId3" Type="http://schemas.openxmlformats.org/officeDocument/2006/relationships/hyperlink" Target="https://github.com/antonprafanto/mobile2026/blob/main/pertemuan_09_state_dan_mvvm/kode/contoh_08_repository_dan_status_muat.dart" TargetMode="External"/><Relationship Id="rId2" Type="http://schemas.openxmlformats.org/officeDocument/2006/relationships/image" Target="../media/image-36-1.png"/><Relationship Id="rId4" Type="http://schemas.openxmlformats.org/officeDocument/2006/relationships/slideLayout" Target="../slideLayouts/slideLayout4.xml"/><Relationship Id="rId5"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4" Type="http://schemas.openxmlformats.org/officeDocument/2006/relationships/hyperlink" Target="https://github.com/antonprafanto/mobile2026/blob/main/pertemuan_09_state_dan_mvvm/kode/contoh_08_repository_dan_status_muat.dart" TargetMode="External"/><Relationship Id="rId6" Type="http://schemas.openxmlformats.org/officeDocument/2006/relationships/hyperlink" Target="https://github.com/antonprafanto/mobile2026/blob/main/pertemuan_09_state_dan_mvvm/kode/contoh_08_repository_dan_status_muat.dart" TargetMode="External"/><Relationship Id="rId1" Type="http://schemas.openxmlformats.org/officeDocument/2006/relationships/image" Target="../media/image-37-1.jpg"/><Relationship Id="rId2" Type="http://schemas.openxmlformats.org/officeDocument/2006/relationships/image" Target="../media/image-37-2.jpg"/><Relationship Id="rId3" Type="http://schemas.openxmlformats.org/officeDocument/2006/relationships/image" Target="../media/image-37-3.jpg"/><Relationship Id="rId5" Type="http://schemas.openxmlformats.org/officeDocument/2006/relationships/image" Target="../media/image-37-4.png"/><Relationship Id="rId7" Type="http://schemas.openxmlformats.org/officeDocument/2006/relationships/slideLayout" Target="../slideLayouts/slideLayout4.xml"/><Relationship Id="rId8"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hyperlink" Target="https://github.com/antonprafanto/mobile2026/blob/main/pertemuan_09_state_dan_mvvm/kode/contoh_08_repository_dan_status_muat.dart" TargetMode="External"/><Relationship Id="rId3" Type="http://schemas.openxmlformats.org/officeDocument/2006/relationships/hyperlink" Target="https://github.com/antonprafanto/mobile2026/blob/main/pertemuan_09_state_dan_mvvm/kode/contoh_08_repository_dan_status_muat.dart" TargetMode="External"/><Relationship Id="rId2" Type="http://schemas.openxmlformats.org/officeDocument/2006/relationships/image" Target="../media/image-38-1.png"/><Relationship Id="rId4" Type="http://schemas.openxmlformats.org/officeDocument/2006/relationships/slideLayout" Target="../slideLayouts/slideLayout4.xml"/><Relationship Id="rId5"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3.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2" Type="http://schemas.openxmlformats.org/officeDocument/2006/relationships/hyperlink" Target="https://github.com/antonprafanto/mobile2026/blob/main/pertemuan_09_state_dan_mvvm/kode/contoh_09_cakupan_provider.dart" TargetMode="External"/><Relationship Id="rId4" Type="http://schemas.openxmlformats.org/officeDocument/2006/relationships/hyperlink" Target="https://github.com/antonprafanto/mobile2026/blob/main/pertemuan_09_state_dan_mvvm/kode/contoh_09_cakupan_provider.dart" TargetMode="External"/><Relationship Id="rId1" Type="http://schemas.openxmlformats.org/officeDocument/2006/relationships/image" Target="../media/image-40-1.jpg"/><Relationship Id="rId3" Type="http://schemas.openxmlformats.org/officeDocument/2006/relationships/image" Target="../media/image-40-2.png"/><Relationship Id="rId5" Type="http://schemas.openxmlformats.org/officeDocument/2006/relationships/slideLayout" Target="../slideLayouts/slideLayout4.xml"/><Relationship Id="rId6"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4.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slideLayout" Target="../slideLayouts/slideLayout4.xml"/><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3.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hyperlink" Target="https://github.com/antonprafanto/mobile2026/blob/main/pertemuan_09_state_dan_mvvm/kode/contoh_10_menguji_viewmodel.dart" TargetMode="External"/><Relationship Id="rId3" Type="http://schemas.openxmlformats.org/officeDocument/2006/relationships/hyperlink" Target="https://github.com/antonprafanto/mobile2026/blob/main/pertemuan_09_state_dan_mvvm/kode/contoh_10_menguji_viewmodel.dart" TargetMode="External"/><Relationship Id="rId2" Type="http://schemas.openxmlformats.org/officeDocument/2006/relationships/image" Target="../media/image-45-1.png"/><Relationship Id="rId4" Type="http://schemas.openxmlformats.org/officeDocument/2006/relationships/slideLayout" Target="../slideLayouts/slideLayout4.xml"/><Relationship Id="rId5"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2" Type="http://schemas.openxmlformats.org/officeDocument/2006/relationships/hyperlink" Target="https://github.com/antonprafanto/mobile2026/blob/main/pertemuan_09_state_dan_mvvm/kode/contoh_10_menguji_viewmodel.dart" TargetMode="External"/><Relationship Id="rId4" Type="http://schemas.openxmlformats.org/officeDocument/2006/relationships/hyperlink" Target="https://github.com/antonprafanto/mobile2026/blob/main/pertemuan_09_state_dan_mvvm/kode/contoh_10_menguji_viewmodel.dart" TargetMode="External"/><Relationship Id="rId1" Type="http://schemas.openxmlformats.org/officeDocument/2006/relationships/image" Target="../media/image-46-1.jpg"/><Relationship Id="rId3" Type="http://schemas.openxmlformats.org/officeDocument/2006/relationships/image" Target="../media/image-46-2.png"/><Relationship Id="rId5" Type="http://schemas.openxmlformats.org/officeDocument/2006/relationships/slideLayout" Target="../slideLayouts/slideLayout4.xml"/><Relationship Id="rId6"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3.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image" Target="../media/image-49-2.png"/><Relationship Id="rId3" Type="http://schemas.openxmlformats.org/officeDocument/2006/relationships/image" Target="../media/image-49-3.png"/><Relationship Id="rId4" Type="http://schemas.openxmlformats.org/officeDocument/2006/relationships/image" Target="../media/image-49-4.png"/><Relationship Id="rId5" Type="http://schemas.openxmlformats.org/officeDocument/2006/relationships/slideLayout" Target="../slideLayouts/slideLayout4.xml"/><Relationship Id="rId6"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hyperlink" Target="https://github.com/antonprafanto/mobile2026/blob/main/pertemuan_09_state_dan_mvvm/kode/contoh_11_studi_kasus_kuis_kampus.dart" TargetMode="External"/><Relationship Id="rId3" Type="http://schemas.openxmlformats.org/officeDocument/2006/relationships/hyperlink" Target="https://github.com/antonprafanto/mobile2026/blob/main/pertemuan_09_state_dan_mvvm/kode/contoh_11_studi_kasus_kuis_kampus.dart" TargetMode="External"/><Relationship Id="rId2" Type="http://schemas.openxmlformats.org/officeDocument/2006/relationships/image" Target="../media/image-50-1.png"/><Relationship Id="rId4" Type="http://schemas.openxmlformats.org/officeDocument/2006/relationships/slideLayout" Target="../slideLayouts/slideLayout4.xml"/><Relationship Id="rId5"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4" Type="http://schemas.openxmlformats.org/officeDocument/2006/relationships/hyperlink" Target="https://github.com/antonprafanto/mobile2026/blob/main/pertemuan_09_state_dan_mvvm/kode/contoh_11_studi_kasus_kuis_kampus.dart" TargetMode="External"/><Relationship Id="rId6" Type="http://schemas.openxmlformats.org/officeDocument/2006/relationships/hyperlink" Target="https://github.com/antonprafanto/mobile2026/blob/main/pertemuan_09_state_dan_mvvm/kode/contoh_11_studi_kasus_kuis_kampus.dart" TargetMode="External"/><Relationship Id="rId1" Type="http://schemas.openxmlformats.org/officeDocument/2006/relationships/image" Target="../media/image-51-1.jpg"/><Relationship Id="rId2" Type="http://schemas.openxmlformats.org/officeDocument/2006/relationships/image" Target="../media/image-51-2.jpg"/><Relationship Id="rId3" Type="http://schemas.openxmlformats.org/officeDocument/2006/relationships/image" Target="../media/image-51-3.jpg"/><Relationship Id="rId5" Type="http://schemas.openxmlformats.org/officeDocument/2006/relationships/image" Target="../media/image-51-4.png"/><Relationship Id="rId7" Type="http://schemas.openxmlformats.org/officeDocument/2006/relationships/slideLayout" Target="../slideLayouts/slideLayout4.xml"/><Relationship Id="rId8"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2" Type="http://schemas.openxmlformats.org/officeDocument/2006/relationships/hyperlink" Target="https://github.com/antonprafanto/mobile2026/blob/main/pertemuan_09_state_dan_mvvm/kode/contoh_11_studi_kasus_kuis_kampus.dart" TargetMode="External"/><Relationship Id="rId4" Type="http://schemas.openxmlformats.org/officeDocument/2006/relationships/hyperlink" Target="https://github.com/antonprafanto/mobile2026/blob/main/pertemuan_09_state_dan_mvvm/kode/contoh_11_studi_kasus_kuis_kampus.dart" TargetMode="External"/><Relationship Id="rId1" Type="http://schemas.openxmlformats.org/officeDocument/2006/relationships/image" Target="../media/image-52-1.jpg"/><Relationship Id="rId3" Type="http://schemas.openxmlformats.org/officeDocument/2006/relationships/image" Target="../media/image-52-2.png"/><Relationship Id="rId5" Type="http://schemas.openxmlformats.org/officeDocument/2006/relationships/slideLayout" Target="../slideLayouts/slideLayout4.xml"/><Relationship Id="rId6"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4.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hyperlink" Target="https://github.com/antonprafanto/mobile2026/blob/main/pertemuan_09_state_dan_mvvm/JOBSHEET.md" TargetMode="External"/><Relationship Id="rId3" Type="http://schemas.openxmlformats.org/officeDocument/2006/relationships/hyperlink" Target="https://github.com/antonprafanto/mobile2026/blob/main/pertemuan_09_state_dan_mvvm/JOBSHEET.md" TargetMode="External"/><Relationship Id="rId4" Type="http://schemas.openxmlformats.org/officeDocument/2006/relationships/hyperlink" Target="https://github.com/antonprafanto/mobile2026/blob/main/pertemuan_09_state_dan_mvvm/LATIHAN.md" TargetMode="External"/><Relationship Id="rId6" Type="http://schemas.openxmlformats.org/officeDocument/2006/relationships/hyperlink" Target="https://github.com/antonprafanto/mobile2026/blob/main/pertemuan_09_state_dan_mvvm/LATIHAN.md" TargetMode="External"/><Relationship Id="rId7" Type="http://schemas.openxmlformats.org/officeDocument/2006/relationships/hyperlink" Target="https://github.com/antonprafanto/mobile2026/blob/main/panduan/05_proyek_akhir.md" TargetMode="External"/><Relationship Id="rId9" Type="http://schemas.openxmlformats.org/officeDocument/2006/relationships/hyperlink" Target="https://github.com/antonprafanto/mobile2026/blob/main/panduan/05_proyek_akhir.md" TargetMode="External"/><Relationship Id="rId2" Type="http://schemas.openxmlformats.org/officeDocument/2006/relationships/image" Target="../media/image-56-1.png"/><Relationship Id="rId5" Type="http://schemas.openxmlformats.org/officeDocument/2006/relationships/image" Target="../media/image-56-2.png"/><Relationship Id="rId8" Type="http://schemas.openxmlformats.org/officeDocument/2006/relationships/image" Target="../media/image-56-3.png"/><Relationship Id="rId10" Type="http://schemas.openxmlformats.org/officeDocument/2006/relationships/image" Target="../media/image-56-3.png"/><Relationship Id="rId11" Type="http://schemas.openxmlformats.org/officeDocument/2006/relationships/slideLayout" Target="../slideLayouts/slideLayout2.xml"/><Relationship Id="rId12" Type="http://schemas.openxmlformats.org/officeDocument/2006/relationships/notesSlide" Target="../notesSlides/notesSlide5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4"/>
          <p:cNvSpPr/>
          <p:nvPr>
            <p:ph idx="104" type="title" hasCustomPrompt="1"/>
          </p:nvPr>
        </p:nvSpPr>
        <p:spPr>
          <a:xfrm>
            <a:off x="731520" y="1554480"/>
            <a:ext cx="8778240" cy="2103120"/>
          </a:xfrm>
          <a:prstGeom prst="rect">
            <a:avLst/>
          </a:prstGeom>
          <a:noFill/>
          <a:ln/>
        </p:spPr>
        <p:txBody>
          <a:bodyPr wrap="square" lIns="0" tIns="0" rIns="0" bIns="0" rtlCol="0" anchor="b"/>
          <a:lstStyle/>
          <a:p>
            <a:pPr algn="l" indent="0" marL="0">
              <a:buNone/>
            </a:pPr>
            <a:r>
              <a:rPr lang="en-US" sz="4400" b="1" dirty="0">
                <a:solidFill>
                  <a:schemeClr val="bg1"/>
                </a:solidFill>
              </a:rPr>
              <a:t>Manajemen State &amp; Pola MVVM</a:t>
            </a:r>
            <a:endParaRPr lang="en-US" sz="4400" dirty="0"/>
          </a:p>
        </p:txBody>
      </p:sp>
      <p:sp>
        <p:nvSpPr>
          <p:cNvPr id="4" name="Text 4"/>
          <p:cNvSpPr/>
          <p:nvPr>
            <p:ph idx="105" type="body" hasCustomPrompt="1"/>
          </p:nvPr>
        </p:nvSpPr>
        <p:spPr>
          <a:xfrm>
            <a:off x="731520" y="3840480"/>
            <a:ext cx="8412480" cy="1280160"/>
          </a:xfrm>
          <a:prstGeom prst="rect">
            <a:avLst/>
          </a:prstGeom>
          <a:noFill/>
          <a:ln/>
        </p:spPr>
        <p:txBody>
          <a:bodyPr wrap="square" lIns="0" tIns="0" rIns="0" bIns="0" rtlCol="0" anchor="t"/>
          <a:lstStyle/>
          <a:p>
            <a:pPr algn="l" indent="0" marL="0">
              <a:buNone/>
            </a:pPr>
            <a:r>
              <a:rPr lang="en-US" sz="2000" dirty="0">
                <a:solidFill>
                  <a:schemeClr val="bg2"/>
                </a:solidFill>
              </a:rPr>
              <a:t>Pertemuan 9  ·  ChangeNotifier, ListenableBuilder, ValueNotifier, paket provider (watch, read, select, Consumer, MultiProvider), MVVM, repository, status memuat, cakupan provider, dan menguji ViewModel</a:t>
            </a:r>
            <a:endParaRPr lang="en-US" sz="2000" dirty="0"/>
          </a:p>
        </p:txBody>
      </p:sp>
      <p:sp>
        <p:nvSpPr>
          <p:cNvPr id="5" name="lingkaran hp"/>
          <p:cNvSpPr/>
          <p:nvPr/>
        </p:nvSpPr>
        <p:spPr>
          <a:xfrm>
            <a:off x="9646920" y="1828800"/>
            <a:ext cx="1737360" cy="1737360"/>
          </a:xfrm>
          <a:prstGeom prst="ellipse">
            <a:avLst/>
          </a:prstGeom>
          <a:solidFill>
            <a:schemeClr val="accent1"/>
          </a:solidFill>
          <a:ln/>
        </p:spPr>
      </p:sp>
      <p:pic>
        <p:nvPicPr>
          <p:cNvPr id="6" name="Image 0" descr="hp">    </p:cNvPr>
          <p:cNvPicPr>
            <a:picLocks noChangeAspect="1"/>
          </p:cNvPicPr>
          <p:nvPr/>
        </p:nvPicPr>
        <p:blipFill>
          <a:blip r:embed="rId1"/>
          <a:stretch>
            <a:fillRect/>
          </a:stretch>
        </p:blipFill>
        <p:spPr>
          <a:xfrm>
            <a:off x="10029139" y="2211019"/>
            <a:ext cx="972922" cy="97292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Tujuan Pembelajaran</a:t>
            </a:r>
            <a:endParaRPr lang="en-US" sz="3200" dirty="0"/>
          </a:p>
        </p:txBody>
      </p:sp>
      <p:sp>
        <p:nvSpPr>
          <p:cNvPr id="4" name="Text 1"/>
          <p:cNvSpPr txBox="1"/>
          <p:nvPr/>
        </p:nvSpPr>
        <p:spPr>
          <a:xfrm>
            <a:off x="548640" y="1325880"/>
            <a:ext cx="11094415" cy="411480"/>
          </a:xfrm>
          <a:prstGeom prst="rect">
            <a:avLst/>
          </a:prstGeom>
          <a:noFill/>
          <a:ln/>
        </p:spPr>
        <p:txBody>
          <a:bodyPr wrap="square" lIns="0" tIns="0" rIns="0" bIns="0" rtlCol="0" anchor="ctr"/>
          <a:lstStyle/>
          <a:p>
            <a:pPr indent="0" marL="0">
              <a:buNone/>
            </a:pPr>
            <a:r>
              <a:rPr lang="en-US" sz="1800" i="1" dirty="0">
                <a:solidFill>
                  <a:srgbClr val="4A5870"/>
                </a:solidFill>
              </a:rPr>
              <a:t>Setelah pertemuan ini, Anda mampu:</a:t>
            </a:r>
            <a:endParaRPr lang="en-US" sz="1800" dirty="0"/>
          </a:p>
        </p:txBody>
      </p:sp>
      <p:sp>
        <p:nvSpPr>
          <p:cNvPr id="5" name="lingkaran centang"/>
          <p:cNvSpPr/>
          <p:nvPr/>
        </p:nvSpPr>
        <p:spPr>
          <a:xfrm>
            <a:off x="548640" y="2011680"/>
            <a:ext cx="594360" cy="594360"/>
          </a:xfrm>
          <a:prstGeom prst="ellipse">
            <a:avLst/>
          </a:prstGeom>
          <a:solidFill>
            <a:schemeClr val="accent4"/>
          </a:solidFill>
          <a:ln/>
        </p:spPr>
      </p:sp>
      <p:pic>
        <p:nvPicPr>
          <p:cNvPr id="6" name="Image 0" descr="centang">    </p:cNvPr>
          <p:cNvPicPr>
            <a:picLocks noChangeAspect="1"/>
          </p:cNvPicPr>
          <p:nvPr/>
        </p:nvPicPr>
        <p:blipFill>
          <a:blip r:embed="rId1"/>
          <a:stretch>
            <a:fillRect/>
          </a:stretch>
        </p:blipFill>
        <p:spPr>
          <a:xfrm>
            <a:off x="679399" y="2142439"/>
            <a:ext cx="332842" cy="332842"/>
          </a:xfrm>
          <a:prstGeom prst="rect">
            <a:avLst/>
          </a:prstGeom>
        </p:spPr>
      </p:pic>
      <p:sp>
        <p:nvSpPr>
          <p:cNvPr id="7" name="Text 3"/>
          <p:cNvSpPr txBox="1"/>
          <p:nvPr/>
        </p:nvSpPr>
        <p:spPr>
          <a:xfrm>
            <a:off x="1325880" y="1920240"/>
            <a:ext cx="4587088" cy="777240"/>
          </a:xfrm>
          <a:prstGeom prst="rect">
            <a:avLst/>
          </a:prstGeom>
          <a:noFill/>
          <a:ln/>
        </p:spPr>
        <p:txBody>
          <a:bodyPr wrap="square" lIns="0" tIns="0" rIns="0" bIns="0" rtlCol="0" anchor="ctr"/>
          <a:lstStyle/>
          <a:p>
            <a:pPr indent="0" marL="0">
              <a:buNone/>
            </a:pPr>
            <a:r>
              <a:rPr lang="en-US" sz="1900" dirty="0">
                <a:solidFill>
                  <a:schemeClr val="tx1"/>
                </a:solidFill>
              </a:rPr>
              <a:t>Membedakan state lokal dan state aplikasi, lalu memilih tempatnya</a:t>
            </a:r>
            <a:endParaRPr lang="en-US" sz="1900" dirty="0"/>
          </a:p>
        </p:txBody>
      </p:sp>
      <p:sp>
        <p:nvSpPr>
          <p:cNvPr id="8" name="lingkaran centang"/>
          <p:cNvSpPr/>
          <p:nvPr/>
        </p:nvSpPr>
        <p:spPr>
          <a:xfrm>
            <a:off x="548640" y="3086100"/>
            <a:ext cx="594360" cy="594360"/>
          </a:xfrm>
          <a:prstGeom prst="ellipse">
            <a:avLst/>
          </a:prstGeom>
          <a:solidFill>
            <a:schemeClr val="accent4"/>
          </a:solidFill>
          <a:ln/>
        </p:spPr>
      </p:sp>
      <p:pic>
        <p:nvPicPr>
          <p:cNvPr id="9" name="Image 1" descr="centang">    </p:cNvPr>
          <p:cNvPicPr>
            <a:picLocks noChangeAspect="1"/>
          </p:cNvPicPr>
          <p:nvPr/>
        </p:nvPicPr>
        <p:blipFill>
          <a:blip r:embed="rId2"/>
          <a:stretch>
            <a:fillRect/>
          </a:stretch>
        </p:blipFill>
        <p:spPr>
          <a:xfrm>
            <a:off x="679399" y="3216859"/>
            <a:ext cx="332842" cy="332842"/>
          </a:xfrm>
          <a:prstGeom prst="rect">
            <a:avLst/>
          </a:prstGeom>
        </p:spPr>
      </p:pic>
      <p:sp>
        <p:nvSpPr>
          <p:cNvPr id="10" name="Text 5"/>
          <p:cNvSpPr txBox="1"/>
          <p:nvPr/>
        </p:nvSpPr>
        <p:spPr>
          <a:xfrm>
            <a:off x="1325880" y="2994660"/>
            <a:ext cx="4587088" cy="777240"/>
          </a:xfrm>
          <a:prstGeom prst="rect">
            <a:avLst/>
          </a:prstGeom>
          <a:noFill/>
          <a:ln/>
        </p:spPr>
        <p:txBody>
          <a:bodyPr wrap="square" lIns="0" tIns="0" rIns="0" bIns="0" rtlCol="0" anchor="ctr"/>
          <a:lstStyle/>
          <a:p>
            <a:pPr indent="0" marL="0">
              <a:buNone/>
            </a:pPr>
            <a:r>
              <a:rPr lang="en-US" sz="1900" dirty="0">
                <a:solidFill>
                  <a:schemeClr val="tx1"/>
                </a:solidFill>
              </a:rPr>
              <a:t>Membuat ChangeNotifier: data privat, getter, dan notifyListeners()</a:t>
            </a:r>
            <a:endParaRPr lang="en-US" sz="1900" dirty="0"/>
          </a:p>
        </p:txBody>
      </p:sp>
      <p:sp>
        <p:nvSpPr>
          <p:cNvPr id="11" name="lingkaran centang"/>
          <p:cNvSpPr/>
          <p:nvPr/>
        </p:nvSpPr>
        <p:spPr>
          <a:xfrm>
            <a:off x="548640" y="4160520"/>
            <a:ext cx="594360" cy="594360"/>
          </a:xfrm>
          <a:prstGeom prst="ellipse">
            <a:avLst/>
          </a:prstGeom>
          <a:solidFill>
            <a:schemeClr val="accent4"/>
          </a:solidFill>
          <a:ln/>
        </p:spPr>
      </p:sp>
      <p:pic>
        <p:nvPicPr>
          <p:cNvPr id="12" name="Image 2" descr="centang">    </p:cNvPr>
          <p:cNvPicPr>
            <a:picLocks noChangeAspect="1"/>
          </p:cNvPicPr>
          <p:nvPr/>
        </p:nvPicPr>
        <p:blipFill>
          <a:blip r:embed="rId3"/>
          <a:stretch>
            <a:fillRect/>
          </a:stretch>
        </p:blipFill>
        <p:spPr>
          <a:xfrm>
            <a:off x="679399" y="4291279"/>
            <a:ext cx="332842" cy="332842"/>
          </a:xfrm>
          <a:prstGeom prst="rect">
            <a:avLst/>
          </a:prstGeom>
        </p:spPr>
      </p:pic>
      <p:sp>
        <p:nvSpPr>
          <p:cNvPr id="13" name="Text 7"/>
          <p:cNvSpPr txBox="1"/>
          <p:nvPr/>
        </p:nvSpPr>
        <p:spPr>
          <a:xfrm>
            <a:off x="1325880" y="4069080"/>
            <a:ext cx="4587088" cy="777240"/>
          </a:xfrm>
          <a:prstGeom prst="rect">
            <a:avLst/>
          </a:prstGeom>
          <a:noFill/>
          <a:ln/>
        </p:spPr>
        <p:txBody>
          <a:bodyPr wrap="square" lIns="0" tIns="0" rIns="0" bIns="0" rtlCol="0" anchor="ctr"/>
          <a:lstStyle/>
          <a:p>
            <a:pPr indent="0" marL="0">
              <a:buNone/>
            </a:pPr>
            <a:r>
              <a:rPr lang="en-US" sz="1900" dirty="0">
                <a:solidFill>
                  <a:schemeClr val="tx1"/>
                </a:solidFill>
              </a:rPr>
              <a:t>Mendengarkan perubahan dengan ListenableBuilder dan ValueNotifier</a:t>
            </a:r>
            <a:endParaRPr lang="en-US" sz="1900" dirty="0"/>
          </a:p>
        </p:txBody>
      </p:sp>
      <p:sp>
        <p:nvSpPr>
          <p:cNvPr id="14" name="lingkaran centang"/>
          <p:cNvSpPr/>
          <p:nvPr/>
        </p:nvSpPr>
        <p:spPr>
          <a:xfrm>
            <a:off x="548640" y="5234940"/>
            <a:ext cx="594360" cy="594360"/>
          </a:xfrm>
          <a:prstGeom prst="ellipse">
            <a:avLst/>
          </a:prstGeom>
          <a:solidFill>
            <a:schemeClr val="accent4"/>
          </a:solidFill>
          <a:ln/>
        </p:spPr>
      </p:sp>
      <p:pic>
        <p:nvPicPr>
          <p:cNvPr id="15" name="Image 3" descr="centang">    </p:cNvPr>
          <p:cNvPicPr>
            <a:picLocks noChangeAspect="1"/>
          </p:cNvPicPr>
          <p:nvPr/>
        </p:nvPicPr>
        <p:blipFill>
          <a:blip r:embed="rId4"/>
          <a:stretch>
            <a:fillRect/>
          </a:stretch>
        </p:blipFill>
        <p:spPr>
          <a:xfrm>
            <a:off x="679399" y="5365699"/>
            <a:ext cx="332842" cy="332842"/>
          </a:xfrm>
          <a:prstGeom prst="rect">
            <a:avLst/>
          </a:prstGeom>
        </p:spPr>
      </p:pic>
      <p:sp>
        <p:nvSpPr>
          <p:cNvPr id="16" name="Text 9"/>
          <p:cNvSpPr txBox="1"/>
          <p:nvPr/>
        </p:nvSpPr>
        <p:spPr>
          <a:xfrm>
            <a:off x="1325880" y="5143500"/>
            <a:ext cx="4587088" cy="777240"/>
          </a:xfrm>
          <a:prstGeom prst="rect">
            <a:avLst/>
          </a:prstGeom>
          <a:noFill/>
          <a:ln/>
        </p:spPr>
        <p:txBody>
          <a:bodyPr wrap="square" lIns="0" tIns="0" rIns="0" bIns="0" rtlCol="0" anchor="ctr"/>
          <a:lstStyle/>
          <a:p>
            <a:pPr indent="0" marL="0">
              <a:buNone/>
            </a:pPr>
            <a:r>
              <a:rPr lang="en-US" sz="1900" dirty="0">
                <a:solidFill>
                  <a:schemeClr val="tx1"/>
                </a:solidFill>
              </a:rPr>
              <a:t>Berbagi state dengan provider: watch, read, select, dan Consumer</a:t>
            </a:r>
            <a:endParaRPr lang="en-US" sz="1900" dirty="0"/>
          </a:p>
        </p:txBody>
      </p:sp>
      <p:sp>
        <p:nvSpPr>
          <p:cNvPr id="17" name="lingkaran centang"/>
          <p:cNvSpPr/>
          <p:nvPr/>
        </p:nvSpPr>
        <p:spPr>
          <a:xfrm>
            <a:off x="6278728" y="2011680"/>
            <a:ext cx="594360" cy="594360"/>
          </a:xfrm>
          <a:prstGeom prst="ellipse">
            <a:avLst/>
          </a:prstGeom>
          <a:solidFill>
            <a:schemeClr val="accent4"/>
          </a:solidFill>
          <a:ln/>
        </p:spPr>
      </p:sp>
      <p:pic>
        <p:nvPicPr>
          <p:cNvPr id="18" name="Image 4" descr="centang">    </p:cNvPr>
          <p:cNvPicPr>
            <a:picLocks noChangeAspect="1"/>
          </p:cNvPicPr>
          <p:nvPr/>
        </p:nvPicPr>
        <p:blipFill>
          <a:blip r:embed="rId5"/>
          <a:stretch>
            <a:fillRect/>
          </a:stretch>
        </p:blipFill>
        <p:spPr>
          <a:xfrm>
            <a:off x="6409487" y="2142439"/>
            <a:ext cx="332842" cy="332842"/>
          </a:xfrm>
          <a:prstGeom prst="rect">
            <a:avLst/>
          </a:prstGeom>
        </p:spPr>
      </p:pic>
      <p:sp>
        <p:nvSpPr>
          <p:cNvPr id="19" name="Text 11"/>
          <p:cNvSpPr txBox="1"/>
          <p:nvPr/>
        </p:nvSpPr>
        <p:spPr>
          <a:xfrm>
            <a:off x="7055968" y="1920240"/>
            <a:ext cx="4587088" cy="777240"/>
          </a:xfrm>
          <a:prstGeom prst="rect">
            <a:avLst/>
          </a:prstGeom>
          <a:noFill/>
          <a:ln/>
        </p:spPr>
        <p:txBody>
          <a:bodyPr wrap="square" lIns="0" tIns="0" rIns="0" bIns="0" rtlCol="0" anchor="ctr"/>
          <a:lstStyle/>
          <a:p>
            <a:pPr indent="0" marL="0">
              <a:buNone/>
            </a:pPr>
            <a:r>
              <a:rPr lang="en-US" sz="1900" dirty="0">
                <a:solidFill>
                  <a:schemeClr val="tx1"/>
                </a:solidFill>
              </a:rPr>
              <a:t>Menata aplikasi dengan MVVM dan repository (memuat, berhasil, gagal)</a:t>
            </a:r>
            <a:endParaRPr lang="en-US" sz="1900" dirty="0"/>
          </a:p>
        </p:txBody>
      </p:sp>
      <p:sp>
        <p:nvSpPr>
          <p:cNvPr id="20" name="lingkaran centang"/>
          <p:cNvSpPr/>
          <p:nvPr/>
        </p:nvSpPr>
        <p:spPr>
          <a:xfrm>
            <a:off x="6278728" y="3086100"/>
            <a:ext cx="594360" cy="594360"/>
          </a:xfrm>
          <a:prstGeom prst="ellipse">
            <a:avLst/>
          </a:prstGeom>
          <a:solidFill>
            <a:schemeClr val="accent4"/>
          </a:solidFill>
          <a:ln/>
        </p:spPr>
      </p:sp>
      <p:pic>
        <p:nvPicPr>
          <p:cNvPr id="21" name="Image 5" descr="centang">    </p:cNvPr>
          <p:cNvPicPr>
            <a:picLocks noChangeAspect="1"/>
          </p:cNvPicPr>
          <p:nvPr/>
        </p:nvPicPr>
        <p:blipFill>
          <a:blip r:embed="rId6"/>
          <a:stretch>
            <a:fillRect/>
          </a:stretch>
        </p:blipFill>
        <p:spPr>
          <a:xfrm>
            <a:off x="6409487" y="3216859"/>
            <a:ext cx="332842" cy="332842"/>
          </a:xfrm>
          <a:prstGeom prst="rect">
            <a:avLst/>
          </a:prstGeom>
        </p:spPr>
      </p:pic>
      <p:sp>
        <p:nvSpPr>
          <p:cNvPr id="22" name="Text 13"/>
          <p:cNvSpPr txBox="1"/>
          <p:nvPr/>
        </p:nvSpPr>
        <p:spPr>
          <a:xfrm>
            <a:off x="7055968" y="2994660"/>
            <a:ext cx="4587088" cy="777240"/>
          </a:xfrm>
          <a:prstGeom prst="rect">
            <a:avLst/>
          </a:prstGeom>
          <a:noFill/>
          <a:ln/>
        </p:spPr>
        <p:txBody>
          <a:bodyPr wrap="square" lIns="0" tIns="0" rIns="0" bIns="0" rtlCol="0" anchor="ctr"/>
          <a:lstStyle/>
          <a:p>
            <a:pPr indent="0" marL="0">
              <a:buNone/>
            </a:pPr>
            <a:r>
              <a:rPr lang="en-US" sz="1900" dirty="0">
                <a:solidFill>
                  <a:schemeClr val="tx1"/>
                </a:solidFill>
              </a:rPr>
              <a:t>Mengatur cakupan provider: seluruh aplikasi atau satu halaman</a:t>
            </a:r>
            <a:endParaRPr lang="en-US" sz="1900" dirty="0"/>
          </a:p>
        </p:txBody>
      </p:sp>
      <p:sp>
        <p:nvSpPr>
          <p:cNvPr id="23" name="lingkaran centang"/>
          <p:cNvSpPr/>
          <p:nvPr/>
        </p:nvSpPr>
        <p:spPr>
          <a:xfrm>
            <a:off x="6278728" y="4160520"/>
            <a:ext cx="594360" cy="594360"/>
          </a:xfrm>
          <a:prstGeom prst="ellipse">
            <a:avLst/>
          </a:prstGeom>
          <a:solidFill>
            <a:schemeClr val="accent4"/>
          </a:solidFill>
          <a:ln/>
        </p:spPr>
      </p:sp>
      <p:pic>
        <p:nvPicPr>
          <p:cNvPr id="24" name="Image 6" descr="centang">    </p:cNvPr>
          <p:cNvPicPr>
            <a:picLocks noChangeAspect="1"/>
          </p:cNvPicPr>
          <p:nvPr/>
        </p:nvPicPr>
        <p:blipFill>
          <a:blip r:embed="rId7"/>
          <a:stretch>
            <a:fillRect/>
          </a:stretch>
        </p:blipFill>
        <p:spPr>
          <a:xfrm>
            <a:off x="6409487" y="4291279"/>
            <a:ext cx="332842" cy="332842"/>
          </a:xfrm>
          <a:prstGeom prst="rect">
            <a:avLst/>
          </a:prstGeom>
        </p:spPr>
      </p:pic>
      <p:sp>
        <p:nvSpPr>
          <p:cNvPr id="25" name="Text 15"/>
          <p:cNvSpPr txBox="1"/>
          <p:nvPr/>
        </p:nvSpPr>
        <p:spPr>
          <a:xfrm>
            <a:off x="7055968" y="4069080"/>
            <a:ext cx="4587088" cy="777240"/>
          </a:xfrm>
          <a:prstGeom prst="rect">
            <a:avLst/>
          </a:prstGeom>
          <a:noFill/>
          <a:ln/>
        </p:spPr>
        <p:txBody>
          <a:bodyPr wrap="square" lIns="0" tIns="0" rIns="0" bIns="0" rtlCol="0" anchor="ctr"/>
          <a:lstStyle/>
          <a:p>
            <a:pPr indent="0" marL="0">
              <a:buNone/>
            </a:pPr>
            <a:r>
              <a:rPr lang="en-US" sz="1900" dirty="0">
                <a:solidFill>
                  <a:schemeClr val="tx1"/>
                </a:solidFill>
              </a:rPr>
              <a:t>Memeriksa logika ViewModel tanpa mengetuk layar</a:t>
            </a:r>
            <a:endParaRPr lang="en-US" sz="1900" dirty="0"/>
          </a:p>
        </p:txBody>
      </p:sp>
      <p:sp>
        <p:nvSpPr>
          <p:cNvPr id="26" name="lingkaran centang"/>
          <p:cNvSpPr/>
          <p:nvPr/>
        </p:nvSpPr>
        <p:spPr>
          <a:xfrm>
            <a:off x="6278728" y="5234940"/>
            <a:ext cx="594360" cy="594360"/>
          </a:xfrm>
          <a:prstGeom prst="ellipse">
            <a:avLst/>
          </a:prstGeom>
          <a:solidFill>
            <a:schemeClr val="accent4"/>
          </a:solidFill>
          <a:ln/>
        </p:spPr>
      </p:sp>
      <p:pic>
        <p:nvPicPr>
          <p:cNvPr id="27" name="Image 7" descr="centang">    </p:cNvPr>
          <p:cNvPicPr>
            <a:picLocks noChangeAspect="1"/>
          </p:cNvPicPr>
          <p:nvPr/>
        </p:nvPicPr>
        <p:blipFill>
          <a:blip r:embed="rId8"/>
          <a:stretch>
            <a:fillRect/>
          </a:stretch>
        </p:blipFill>
        <p:spPr>
          <a:xfrm>
            <a:off x="6409487" y="5365699"/>
            <a:ext cx="332842" cy="332842"/>
          </a:xfrm>
          <a:prstGeom prst="rect">
            <a:avLst/>
          </a:prstGeom>
        </p:spPr>
      </p:pic>
      <p:sp>
        <p:nvSpPr>
          <p:cNvPr id="28" name="Text 17"/>
          <p:cNvSpPr txBox="1"/>
          <p:nvPr/>
        </p:nvSpPr>
        <p:spPr>
          <a:xfrm>
            <a:off x="7055968" y="5143500"/>
            <a:ext cx="4587088" cy="777240"/>
          </a:xfrm>
          <a:prstGeom prst="rect">
            <a:avLst/>
          </a:prstGeom>
          <a:noFill/>
          <a:ln/>
        </p:spPr>
        <p:txBody>
          <a:bodyPr wrap="square" lIns="0" tIns="0" rIns="0" bIns="0" rtlCol="0" anchor="ctr"/>
          <a:lstStyle/>
          <a:p>
            <a:pPr indent="0" marL="0">
              <a:buNone/>
            </a:pPr>
            <a:r>
              <a:rPr lang="en-US" sz="1900" dirty="0">
                <a:solidFill>
                  <a:schemeClr val="tx1"/>
                </a:solidFill>
              </a:rPr>
              <a:t>Memecah proyek menjadi folder MVVM yang rapi</a:t>
            </a:r>
            <a:endParaRPr lang="en-US" sz="19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Peta Materi Hari Ini</a:t>
            </a:r>
            <a:endParaRPr lang="en-US" sz="3200" dirty="0"/>
          </a:p>
        </p:txBody>
      </p:sp>
      <p:sp>
        <p:nvSpPr>
          <p:cNvPr id="4" name="langkah 1"/>
          <p:cNvSpPr/>
          <p:nvPr/>
        </p:nvSpPr>
        <p:spPr>
          <a:xfrm>
            <a:off x="548640" y="1828800"/>
            <a:ext cx="1962851" cy="3566160"/>
          </a:xfrm>
          <a:prstGeom prst="roundRect">
            <a:avLst>
              <a:gd name="adj" fmla="val 6988"/>
            </a:avLst>
          </a:prstGeom>
          <a:solidFill>
            <a:schemeClr val="bg2"/>
          </a:solidFill>
          <a:ln/>
        </p:spPr>
      </p:sp>
      <p:sp>
        <p:nvSpPr>
          <p:cNvPr id="5" name="lingkaran peringatan"/>
          <p:cNvSpPr/>
          <p:nvPr/>
        </p:nvSpPr>
        <p:spPr>
          <a:xfrm>
            <a:off x="1095726" y="2103120"/>
            <a:ext cx="868680" cy="868680"/>
          </a:xfrm>
          <a:prstGeom prst="ellipse">
            <a:avLst/>
          </a:prstGeom>
          <a:solidFill>
            <a:schemeClr val="accent1"/>
          </a:solidFill>
          <a:ln/>
        </p:spPr>
      </p:sp>
      <p:pic>
        <p:nvPicPr>
          <p:cNvPr id="6" name="Image 0" descr="peringatan">    </p:cNvPr>
          <p:cNvPicPr>
            <a:picLocks noChangeAspect="1"/>
          </p:cNvPicPr>
          <p:nvPr/>
        </p:nvPicPr>
        <p:blipFill>
          <a:blip r:embed="rId1"/>
          <a:stretch>
            <a:fillRect/>
          </a:stretch>
        </p:blipFill>
        <p:spPr>
          <a:xfrm>
            <a:off x="1286835" y="2294230"/>
            <a:ext cx="486461" cy="486461"/>
          </a:xfrm>
          <a:prstGeom prst="rect">
            <a:avLst/>
          </a:prstGeom>
        </p:spPr>
      </p:pic>
      <p:sp>
        <p:nvSpPr>
          <p:cNvPr id="7" name="Text 3"/>
          <p:cNvSpPr txBox="1"/>
          <p:nvPr/>
        </p:nvSpPr>
        <p:spPr>
          <a:xfrm>
            <a:off x="658368" y="192024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1</a:t>
            </a:r>
            <a:endParaRPr lang="en-US" sz="1400" dirty="0"/>
          </a:p>
        </p:txBody>
      </p:sp>
      <p:sp>
        <p:nvSpPr>
          <p:cNvPr id="8" name="Text 4"/>
          <p:cNvSpPr txBox="1"/>
          <p:nvPr/>
        </p:nvSpPr>
        <p:spPr>
          <a:xfrm>
            <a:off x="685800" y="3108960"/>
            <a:ext cx="1688531" cy="777240"/>
          </a:xfrm>
          <a:prstGeom prst="rect">
            <a:avLst/>
          </a:prstGeom>
          <a:noFill/>
          <a:ln/>
        </p:spPr>
        <p:txBody>
          <a:bodyPr wrap="square" lIns="0" tIns="0" rIns="0" bIns="0" rtlCol="0" anchor="t"/>
          <a:lstStyle/>
          <a:p>
            <a:pPr algn="ctr" indent="0" marL="0">
              <a:buNone/>
            </a:pPr>
            <a:r>
              <a:rPr lang="en-US" sz="1700" b="1" dirty="0">
                <a:solidFill>
                  <a:schemeClr val="tx2"/>
                </a:solidFill>
              </a:rPr>
              <a:t>A. Masalah setState</a:t>
            </a:r>
            <a:endParaRPr lang="en-US" sz="1700" dirty="0"/>
          </a:p>
        </p:txBody>
      </p:sp>
      <p:sp>
        <p:nvSpPr>
          <p:cNvPr id="9" name="Text 5"/>
          <p:cNvSpPr txBox="1"/>
          <p:nvPr/>
        </p:nvSpPr>
        <p:spPr>
          <a:xfrm>
            <a:off x="685800" y="3931920"/>
            <a:ext cx="1688531" cy="1371600"/>
          </a:xfrm>
          <a:prstGeom prst="rect">
            <a:avLst/>
          </a:prstGeom>
          <a:noFill/>
          <a:ln/>
        </p:spPr>
        <p:txBody>
          <a:bodyPr wrap="square" lIns="0" tIns="0" rIns="0" bIns="0" rtlCol="0" anchor="t"/>
          <a:lstStyle/>
          <a:p>
            <a:pPr algn="ctr" indent="0" marL="0">
              <a:buNone/>
            </a:pPr>
            <a:r>
              <a:rPr lang="en-US" sz="1400" dirty="0">
                <a:solidFill>
                  <a:schemeClr val="tx1"/>
                </a:solidFill>
              </a:rPr>
              <a:t>Data dioper berantai, halaman usang, state lokal vs aplikasi</a:t>
            </a:r>
            <a:endParaRPr lang="en-US" sz="1400" dirty="0"/>
          </a:p>
        </p:txBody>
      </p:sp>
      <p:sp>
        <p:nvSpPr>
          <p:cNvPr id="10" name="Shape 6"/>
          <p:cNvSpPr/>
          <p:nvPr/>
        </p:nvSpPr>
        <p:spPr>
          <a:xfrm>
            <a:off x="2548067" y="2395728"/>
            <a:ext cx="246888" cy="274320"/>
          </a:xfrm>
          <a:prstGeom prst="rightArrow">
            <a:avLst/>
          </a:prstGeom>
          <a:solidFill>
            <a:schemeClr val="accent2"/>
          </a:solidFill>
          <a:ln/>
        </p:spPr>
      </p:sp>
      <p:sp>
        <p:nvSpPr>
          <p:cNvPr id="11" name="langkah 2"/>
          <p:cNvSpPr/>
          <p:nvPr/>
        </p:nvSpPr>
        <p:spPr>
          <a:xfrm>
            <a:off x="2831531" y="1828800"/>
            <a:ext cx="1962851" cy="3566160"/>
          </a:xfrm>
          <a:prstGeom prst="roundRect">
            <a:avLst>
              <a:gd name="adj" fmla="val 6988"/>
            </a:avLst>
          </a:prstGeom>
          <a:solidFill>
            <a:schemeClr val="bg2"/>
          </a:solidFill>
          <a:ln/>
        </p:spPr>
      </p:sp>
      <p:sp>
        <p:nvSpPr>
          <p:cNvPr id="12" name="lingkaran pengeras"/>
          <p:cNvSpPr/>
          <p:nvPr/>
        </p:nvSpPr>
        <p:spPr>
          <a:xfrm>
            <a:off x="3378617" y="2103120"/>
            <a:ext cx="868680" cy="868680"/>
          </a:xfrm>
          <a:prstGeom prst="ellipse">
            <a:avLst/>
          </a:prstGeom>
          <a:solidFill>
            <a:schemeClr val="accent1"/>
          </a:solidFill>
          <a:ln/>
        </p:spPr>
      </p:sp>
      <p:pic>
        <p:nvPicPr>
          <p:cNvPr id="13" name="Image 1" descr="pengeras">    </p:cNvPr>
          <p:cNvPicPr>
            <a:picLocks noChangeAspect="1"/>
          </p:cNvPicPr>
          <p:nvPr/>
        </p:nvPicPr>
        <p:blipFill>
          <a:blip r:embed="rId2"/>
          <a:stretch>
            <a:fillRect/>
          </a:stretch>
        </p:blipFill>
        <p:spPr>
          <a:xfrm>
            <a:off x="3569726" y="2294230"/>
            <a:ext cx="486461" cy="486461"/>
          </a:xfrm>
          <a:prstGeom prst="rect">
            <a:avLst/>
          </a:prstGeom>
        </p:spPr>
      </p:pic>
      <p:sp>
        <p:nvSpPr>
          <p:cNvPr id="14" name="Text 9"/>
          <p:cNvSpPr txBox="1"/>
          <p:nvPr/>
        </p:nvSpPr>
        <p:spPr>
          <a:xfrm>
            <a:off x="2941259" y="192024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2</a:t>
            </a:r>
            <a:endParaRPr lang="en-US" sz="1400" dirty="0"/>
          </a:p>
        </p:txBody>
      </p:sp>
      <p:sp>
        <p:nvSpPr>
          <p:cNvPr id="15" name="Text 10"/>
          <p:cNvSpPr txBox="1"/>
          <p:nvPr/>
        </p:nvSpPr>
        <p:spPr>
          <a:xfrm>
            <a:off x="2968691" y="3108960"/>
            <a:ext cx="1688531" cy="777240"/>
          </a:xfrm>
          <a:prstGeom prst="rect">
            <a:avLst/>
          </a:prstGeom>
          <a:noFill/>
          <a:ln/>
        </p:spPr>
        <p:txBody>
          <a:bodyPr wrap="square" lIns="0" tIns="0" rIns="0" bIns="0" rtlCol="0" anchor="t"/>
          <a:lstStyle/>
          <a:p>
            <a:pPr algn="ctr" indent="0" marL="0">
              <a:buNone/>
            </a:pPr>
            <a:r>
              <a:rPr lang="en-US" sz="1700" b="1" dirty="0">
                <a:solidFill>
                  <a:schemeClr val="tx2"/>
                </a:solidFill>
              </a:rPr>
              <a:t>B. Mengumumkan perubahan</a:t>
            </a:r>
            <a:endParaRPr lang="en-US" sz="1700" dirty="0"/>
          </a:p>
        </p:txBody>
      </p:sp>
      <p:sp>
        <p:nvSpPr>
          <p:cNvPr id="16" name="Text 11"/>
          <p:cNvSpPr txBox="1"/>
          <p:nvPr/>
        </p:nvSpPr>
        <p:spPr>
          <a:xfrm>
            <a:off x="2968691" y="3931920"/>
            <a:ext cx="1688531" cy="1371600"/>
          </a:xfrm>
          <a:prstGeom prst="rect">
            <a:avLst/>
          </a:prstGeom>
          <a:noFill/>
          <a:ln/>
        </p:spPr>
        <p:txBody>
          <a:bodyPr wrap="square" lIns="0" tIns="0" rIns="0" bIns="0" rtlCol="0" anchor="t"/>
          <a:lstStyle/>
          <a:p>
            <a:pPr algn="ctr" indent="0" marL="0">
              <a:buNone/>
            </a:pPr>
            <a:r>
              <a:rPr lang="en-US" sz="1400" dirty="0">
                <a:solidFill>
                  <a:schemeClr val="tx1"/>
                </a:solidFill>
              </a:rPr>
              <a:t>ChangeNotifier, ListenableBuilder, ValueNotifier</a:t>
            </a:r>
            <a:endParaRPr lang="en-US" sz="1400" dirty="0"/>
          </a:p>
        </p:txBody>
      </p:sp>
      <p:sp>
        <p:nvSpPr>
          <p:cNvPr id="17" name="Shape 12"/>
          <p:cNvSpPr/>
          <p:nvPr/>
        </p:nvSpPr>
        <p:spPr>
          <a:xfrm>
            <a:off x="4830958" y="2395728"/>
            <a:ext cx="246888" cy="274320"/>
          </a:xfrm>
          <a:prstGeom prst="rightArrow">
            <a:avLst/>
          </a:prstGeom>
          <a:solidFill>
            <a:schemeClr val="accent2"/>
          </a:solidFill>
          <a:ln/>
        </p:spPr>
      </p:sp>
      <p:sp>
        <p:nvSpPr>
          <p:cNvPr id="18" name="langkah 3"/>
          <p:cNvSpPr/>
          <p:nvPr/>
        </p:nvSpPr>
        <p:spPr>
          <a:xfrm>
            <a:off x="5114422" y="1828800"/>
            <a:ext cx="1962851" cy="3566160"/>
          </a:xfrm>
          <a:prstGeom prst="roundRect">
            <a:avLst>
              <a:gd name="adj" fmla="val 6988"/>
            </a:avLst>
          </a:prstGeom>
          <a:solidFill>
            <a:schemeClr val="bg2"/>
          </a:solidFill>
          <a:ln/>
        </p:spPr>
      </p:sp>
      <p:sp>
        <p:nvSpPr>
          <p:cNvPr id="19" name="lingkaran gedung"/>
          <p:cNvSpPr/>
          <p:nvPr/>
        </p:nvSpPr>
        <p:spPr>
          <a:xfrm>
            <a:off x="5661508" y="2103120"/>
            <a:ext cx="868680" cy="868680"/>
          </a:xfrm>
          <a:prstGeom prst="ellipse">
            <a:avLst/>
          </a:prstGeom>
          <a:solidFill>
            <a:schemeClr val="accent1"/>
          </a:solidFill>
          <a:ln/>
        </p:spPr>
      </p:sp>
      <p:pic>
        <p:nvPicPr>
          <p:cNvPr id="20" name="Image 2" descr="gedung">    </p:cNvPr>
          <p:cNvPicPr>
            <a:picLocks noChangeAspect="1"/>
          </p:cNvPicPr>
          <p:nvPr/>
        </p:nvPicPr>
        <p:blipFill>
          <a:blip r:embed="rId3"/>
          <a:stretch>
            <a:fillRect/>
          </a:stretch>
        </p:blipFill>
        <p:spPr>
          <a:xfrm>
            <a:off x="5852617" y="2294230"/>
            <a:ext cx="486461" cy="486461"/>
          </a:xfrm>
          <a:prstGeom prst="rect">
            <a:avLst/>
          </a:prstGeom>
        </p:spPr>
      </p:pic>
      <p:sp>
        <p:nvSpPr>
          <p:cNvPr id="21" name="Text 15"/>
          <p:cNvSpPr txBox="1"/>
          <p:nvPr/>
        </p:nvSpPr>
        <p:spPr>
          <a:xfrm>
            <a:off x="5224150" y="192024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3</a:t>
            </a:r>
            <a:endParaRPr lang="en-US" sz="1400" dirty="0"/>
          </a:p>
        </p:txBody>
      </p:sp>
      <p:sp>
        <p:nvSpPr>
          <p:cNvPr id="22" name="Text 16"/>
          <p:cNvSpPr txBox="1"/>
          <p:nvPr/>
        </p:nvSpPr>
        <p:spPr>
          <a:xfrm>
            <a:off x="5251582" y="3108960"/>
            <a:ext cx="1688531" cy="777240"/>
          </a:xfrm>
          <a:prstGeom prst="rect">
            <a:avLst/>
          </a:prstGeom>
          <a:noFill/>
          <a:ln/>
        </p:spPr>
        <p:txBody>
          <a:bodyPr wrap="square" lIns="0" tIns="0" rIns="0" bIns="0" rtlCol="0" anchor="t"/>
          <a:lstStyle/>
          <a:p>
            <a:pPr algn="ctr" indent="0" marL="0">
              <a:buNone/>
            </a:pPr>
            <a:r>
              <a:rPr lang="en-US" sz="1700" b="1" dirty="0">
                <a:solidFill>
                  <a:schemeClr val="tx2"/>
                </a:solidFill>
              </a:rPr>
              <a:t>C. Paket provider</a:t>
            </a:r>
            <a:endParaRPr lang="en-US" sz="1700" dirty="0"/>
          </a:p>
        </p:txBody>
      </p:sp>
      <p:sp>
        <p:nvSpPr>
          <p:cNvPr id="23" name="Text 17"/>
          <p:cNvSpPr txBox="1"/>
          <p:nvPr/>
        </p:nvSpPr>
        <p:spPr>
          <a:xfrm>
            <a:off x="5251582" y="3931920"/>
            <a:ext cx="1688531" cy="1371600"/>
          </a:xfrm>
          <a:prstGeom prst="rect">
            <a:avLst/>
          </a:prstGeom>
          <a:noFill/>
          <a:ln/>
        </p:spPr>
        <p:txBody>
          <a:bodyPr wrap="square" lIns="0" tIns="0" rIns="0" bIns="0" rtlCol="0" anchor="t"/>
          <a:lstStyle/>
          <a:p>
            <a:pPr algn="ctr" indent="0" marL="0">
              <a:buNone/>
            </a:pPr>
            <a:r>
              <a:rPr lang="en-US" sz="1400" dirty="0">
                <a:solidFill>
                  <a:schemeClr val="tx1"/>
                </a:solidFill>
              </a:rPr>
              <a:t>Menitipkan objek; watch, read, select, Consumer, MultiProvider</a:t>
            </a:r>
            <a:endParaRPr lang="en-US" sz="1400" dirty="0"/>
          </a:p>
        </p:txBody>
      </p:sp>
      <p:sp>
        <p:nvSpPr>
          <p:cNvPr id="24" name="Shape 18"/>
          <p:cNvSpPr/>
          <p:nvPr/>
        </p:nvSpPr>
        <p:spPr>
          <a:xfrm>
            <a:off x="7113849" y="2395728"/>
            <a:ext cx="246888" cy="274320"/>
          </a:xfrm>
          <a:prstGeom prst="rightArrow">
            <a:avLst/>
          </a:prstGeom>
          <a:solidFill>
            <a:schemeClr val="accent2"/>
          </a:solidFill>
          <a:ln/>
        </p:spPr>
      </p:sp>
      <p:sp>
        <p:nvSpPr>
          <p:cNvPr id="25" name="langkah 4"/>
          <p:cNvSpPr/>
          <p:nvPr/>
        </p:nvSpPr>
        <p:spPr>
          <a:xfrm>
            <a:off x="7397313" y="1828800"/>
            <a:ext cx="1962851" cy="3566160"/>
          </a:xfrm>
          <a:prstGeom prst="roundRect">
            <a:avLst>
              <a:gd name="adj" fmla="val 6988"/>
            </a:avLst>
          </a:prstGeom>
          <a:solidFill>
            <a:schemeClr val="bg2"/>
          </a:solidFill>
          <a:ln/>
        </p:spPr>
      </p:sp>
      <p:sp>
        <p:nvSpPr>
          <p:cNvPr id="26" name="lingkaran lapisan"/>
          <p:cNvSpPr/>
          <p:nvPr/>
        </p:nvSpPr>
        <p:spPr>
          <a:xfrm>
            <a:off x="7944399" y="2103120"/>
            <a:ext cx="868680" cy="868680"/>
          </a:xfrm>
          <a:prstGeom prst="ellipse">
            <a:avLst/>
          </a:prstGeom>
          <a:solidFill>
            <a:schemeClr val="accent1"/>
          </a:solidFill>
          <a:ln/>
        </p:spPr>
      </p:sp>
      <p:pic>
        <p:nvPicPr>
          <p:cNvPr id="27" name="Image 3" descr="lapisan">    </p:cNvPr>
          <p:cNvPicPr>
            <a:picLocks noChangeAspect="1"/>
          </p:cNvPicPr>
          <p:nvPr/>
        </p:nvPicPr>
        <p:blipFill>
          <a:blip r:embed="rId4"/>
          <a:stretch>
            <a:fillRect/>
          </a:stretch>
        </p:blipFill>
        <p:spPr>
          <a:xfrm>
            <a:off x="8135508" y="2294230"/>
            <a:ext cx="486461" cy="486461"/>
          </a:xfrm>
          <a:prstGeom prst="rect">
            <a:avLst/>
          </a:prstGeom>
        </p:spPr>
      </p:pic>
      <p:sp>
        <p:nvSpPr>
          <p:cNvPr id="28" name="Text 21"/>
          <p:cNvSpPr txBox="1"/>
          <p:nvPr/>
        </p:nvSpPr>
        <p:spPr>
          <a:xfrm>
            <a:off x="7507041" y="192024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4</a:t>
            </a:r>
            <a:endParaRPr lang="en-US" sz="1400" dirty="0"/>
          </a:p>
        </p:txBody>
      </p:sp>
      <p:sp>
        <p:nvSpPr>
          <p:cNvPr id="29" name="Text 22"/>
          <p:cNvSpPr txBox="1"/>
          <p:nvPr/>
        </p:nvSpPr>
        <p:spPr>
          <a:xfrm>
            <a:off x="7534473" y="3108960"/>
            <a:ext cx="1688531" cy="777240"/>
          </a:xfrm>
          <a:prstGeom prst="rect">
            <a:avLst/>
          </a:prstGeom>
          <a:noFill/>
          <a:ln/>
        </p:spPr>
        <p:txBody>
          <a:bodyPr wrap="square" lIns="0" tIns="0" rIns="0" bIns="0" rtlCol="0" anchor="t"/>
          <a:lstStyle/>
          <a:p>
            <a:pPr algn="ctr" indent="0" marL="0">
              <a:buNone/>
            </a:pPr>
            <a:r>
              <a:rPr lang="en-US" sz="1700" b="1" dirty="0">
                <a:solidFill>
                  <a:schemeClr val="tx2"/>
                </a:solidFill>
              </a:rPr>
              <a:t>D. Pola MVVM</a:t>
            </a:r>
            <a:endParaRPr lang="en-US" sz="1700" dirty="0"/>
          </a:p>
        </p:txBody>
      </p:sp>
      <p:sp>
        <p:nvSpPr>
          <p:cNvPr id="30" name="Text 23"/>
          <p:cNvSpPr txBox="1"/>
          <p:nvPr/>
        </p:nvSpPr>
        <p:spPr>
          <a:xfrm>
            <a:off x="7534473" y="3931920"/>
            <a:ext cx="1688531" cy="1371600"/>
          </a:xfrm>
          <a:prstGeom prst="rect">
            <a:avLst/>
          </a:prstGeom>
          <a:noFill/>
          <a:ln/>
        </p:spPr>
        <p:txBody>
          <a:bodyPr wrap="square" lIns="0" tIns="0" rIns="0" bIns="0" rtlCol="0" anchor="t"/>
          <a:lstStyle/>
          <a:p>
            <a:pPr algn="ctr" indent="0" marL="0">
              <a:buNone/>
            </a:pPr>
            <a:r>
              <a:rPr lang="en-US" sz="1400" dirty="0">
                <a:solidFill>
                  <a:schemeClr val="tx1"/>
                </a:solidFill>
              </a:rPr>
              <a:t>ViewModel, repository, status memuat, cakupan, pengujian, folder</a:t>
            </a:r>
            <a:endParaRPr lang="en-US" sz="1400" dirty="0"/>
          </a:p>
        </p:txBody>
      </p:sp>
      <p:sp>
        <p:nvSpPr>
          <p:cNvPr id="31" name="Shape 24"/>
          <p:cNvSpPr/>
          <p:nvPr/>
        </p:nvSpPr>
        <p:spPr>
          <a:xfrm>
            <a:off x="9396740" y="2395728"/>
            <a:ext cx="246888" cy="274320"/>
          </a:xfrm>
          <a:prstGeom prst="rightArrow">
            <a:avLst/>
          </a:prstGeom>
          <a:solidFill>
            <a:schemeClr val="accent2"/>
          </a:solidFill>
          <a:ln/>
        </p:spPr>
      </p:sp>
      <p:sp>
        <p:nvSpPr>
          <p:cNvPr id="32" name="langkah 5"/>
          <p:cNvSpPr/>
          <p:nvPr/>
        </p:nvSpPr>
        <p:spPr>
          <a:xfrm>
            <a:off x="9680204" y="1828800"/>
            <a:ext cx="1962851" cy="3566160"/>
          </a:xfrm>
          <a:prstGeom prst="roundRect">
            <a:avLst>
              <a:gd name="adj" fmla="val 6988"/>
            </a:avLst>
          </a:prstGeom>
          <a:solidFill>
            <a:schemeClr val="bg2"/>
          </a:solidFill>
          <a:ln/>
        </p:spPr>
      </p:sp>
      <p:sp>
        <p:nvSpPr>
          <p:cNvPr id="33" name="lingkaran kuis"/>
          <p:cNvSpPr/>
          <p:nvPr/>
        </p:nvSpPr>
        <p:spPr>
          <a:xfrm>
            <a:off x="10227290" y="2103120"/>
            <a:ext cx="868680" cy="868680"/>
          </a:xfrm>
          <a:prstGeom prst="ellipse">
            <a:avLst/>
          </a:prstGeom>
          <a:solidFill>
            <a:schemeClr val="accent4"/>
          </a:solidFill>
          <a:ln/>
        </p:spPr>
      </p:sp>
      <p:pic>
        <p:nvPicPr>
          <p:cNvPr id="34" name="Image 4" descr="kuis">    </p:cNvPr>
          <p:cNvPicPr>
            <a:picLocks noChangeAspect="1"/>
          </p:cNvPicPr>
          <p:nvPr/>
        </p:nvPicPr>
        <p:blipFill>
          <a:blip r:embed="rId5"/>
          <a:stretch>
            <a:fillRect/>
          </a:stretch>
        </p:blipFill>
        <p:spPr>
          <a:xfrm>
            <a:off x="10418399" y="2294230"/>
            <a:ext cx="486461" cy="486461"/>
          </a:xfrm>
          <a:prstGeom prst="rect">
            <a:avLst/>
          </a:prstGeom>
        </p:spPr>
      </p:pic>
      <p:sp>
        <p:nvSpPr>
          <p:cNvPr id="35" name="Text 27"/>
          <p:cNvSpPr txBox="1"/>
          <p:nvPr/>
        </p:nvSpPr>
        <p:spPr>
          <a:xfrm>
            <a:off x="9789932" y="192024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5</a:t>
            </a:r>
            <a:endParaRPr lang="en-US" sz="1400" dirty="0"/>
          </a:p>
        </p:txBody>
      </p:sp>
      <p:sp>
        <p:nvSpPr>
          <p:cNvPr id="36" name="Text 28"/>
          <p:cNvSpPr txBox="1"/>
          <p:nvPr/>
        </p:nvSpPr>
        <p:spPr>
          <a:xfrm>
            <a:off x="9817364" y="3108960"/>
            <a:ext cx="1688531" cy="777240"/>
          </a:xfrm>
          <a:prstGeom prst="rect">
            <a:avLst/>
          </a:prstGeom>
          <a:noFill/>
          <a:ln/>
        </p:spPr>
        <p:txBody>
          <a:bodyPr wrap="square" lIns="0" tIns="0" rIns="0" bIns="0" rtlCol="0" anchor="t"/>
          <a:lstStyle/>
          <a:p>
            <a:pPr algn="ctr" indent="0" marL="0">
              <a:buNone/>
            </a:pPr>
            <a:r>
              <a:rPr lang="en-US" sz="1700" b="1" dirty="0">
                <a:solidFill>
                  <a:schemeClr val="tx2"/>
                </a:solidFill>
              </a:rPr>
              <a:t>E. Merangkai</a:t>
            </a:r>
            <a:endParaRPr lang="en-US" sz="1700" dirty="0"/>
          </a:p>
        </p:txBody>
      </p:sp>
      <p:sp>
        <p:nvSpPr>
          <p:cNvPr id="37" name="Text 29"/>
          <p:cNvSpPr txBox="1"/>
          <p:nvPr/>
        </p:nvSpPr>
        <p:spPr>
          <a:xfrm>
            <a:off x="9817364" y="3931920"/>
            <a:ext cx="1688531" cy="1371600"/>
          </a:xfrm>
          <a:prstGeom prst="rect">
            <a:avLst/>
          </a:prstGeom>
          <a:noFill/>
          <a:ln/>
        </p:spPr>
        <p:txBody>
          <a:bodyPr wrap="square" lIns="0" tIns="0" rIns="0" bIns="0" rtlCol="0" anchor="t"/>
          <a:lstStyle/>
          <a:p>
            <a:pPr algn="ctr" indent="0" marL="0">
              <a:buNone/>
            </a:pPr>
            <a:r>
              <a:rPr lang="en-US" sz="1400" dirty="0">
                <a:solidFill>
                  <a:schemeClr val="tx1"/>
                </a:solidFill>
              </a:rPr>
              <a:t>Studi kasus Kuis Kampus</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1"/>
          <p:cNvSpPr/>
          <p:nvPr>
            <p:ph idx="101" type="body" hasCustomPrompt="1"/>
          </p:nvPr>
        </p:nvSpPr>
        <p:spPr>
          <a:xfrm>
            <a:off x="3840480" y="2103120"/>
            <a:ext cx="7680960" cy="457200"/>
          </a:xfrm>
          <a:prstGeom prst="rect">
            <a:avLst/>
          </a:prstGeom>
          <a:noFill/>
          <a:ln/>
        </p:spPr>
        <p:txBody>
          <a:bodyPr wrap="square" lIns="0" tIns="0" rIns="0" bIns="0" rtlCol="0"/>
          <a:lstStyle/>
          <a:p>
            <a:pPr indent="0" marL="0">
              <a:buNone/>
            </a:pPr>
            <a:r>
              <a:rPr lang="en-US" sz="1800" b="1" spc="200" kern="0" dirty="0">
                <a:solidFill>
                  <a:schemeClr val="accent2"/>
                </a:solidFill>
              </a:rPr>
              <a:t>BAGIAN 1</a:t>
            </a:r>
            <a:endParaRPr lang="en-US" sz="1800" dirty="0"/>
          </a:p>
        </p:txBody>
      </p:sp>
      <p:sp>
        <p:nvSpPr>
          <p:cNvPr id="4" name="Text 1"/>
          <p:cNvSpPr/>
          <p:nvPr>
            <p:ph idx="102" type="title" hasCustomPrompt="1"/>
          </p:nvPr>
        </p:nvSpPr>
        <p:spPr>
          <a:xfrm>
            <a:off x="3840480" y="2606040"/>
            <a:ext cx="7680960" cy="1737360"/>
          </a:xfrm>
          <a:prstGeom prst="rect">
            <a:avLst/>
          </a:prstGeom>
          <a:noFill/>
          <a:ln/>
        </p:spPr>
        <p:txBody>
          <a:bodyPr wrap="square" lIns="0" tIns="0" rIns="0" bIns="0" rtlCol="0" anchor="t"/>
          <a:lstStyle/>
          <a:p>
            <a:pPr algn="l" indent="0" marL="0">
              <a:buNone/>
            </a:pPr>
            <a:r>
              <a:rPr lang="en-US" sz="4000" b="1" dirty="0">
                <a:solidFill>
                  <a:schemeClr val="bg1"/>
                </a:solidFill>
              </a:rPr>
              <a:t>Mengapa setState Saja Tidak Cukup?</a:t>
            </a:r>
            <a:endParaRPr lang="en-US" sz="4000" dirty="0"/>
          </a:p>
        </p:txBody>
      </p:sp>
      <p:sp>
        <p:nvSpPr>
          <p:cNvPr id="5" name="lingkaran peringatan"/>
          <p:cNvSpPr/>
          <p:nvPr/>
        </p:nvSpPr>
        <p:spPr>
          <a:xfrm>
            <a:off x="1097280" y="2148840"/>
            <a:ext cx="2011680" cy="2011680"/>
          </a:xfrm>
          <a:prstGeom prst="ellipse">
            <a:avLst/>
          </a:prstGeom>
          <a:solidFill>
            <a:schemeClr val="accent1"/>
          </a:solidFill>
          <a:ln/>
        </p:spPr>
      </p:sp>
      <p:pic>
        <p:nvPicPr>
          <p:cNvPr id="6" name="Image 0" descr="peringatan">    </p:cNvPr>
          <p:cNvPicPr>
            <a:picLocks noChangeAspect="1"/>
          </p:cNvPicPr>
          <p:nvPr/>
        </p:nvPicPr>
        <p:blipFill>
          <a:blip r:embed="rId1"/>
          <a:stretch>
            <a:fillRect/>
          </a:stretch>
        </p:blipFill>
        <p:spPr>
          <a:xfrm>
            <a:off x="1539850" y="2591410"/>
            <a:ext cx="1126541" cy="1126541"/>
          </a:xfrm>
          <a:prstGeom prst="rect">
            <a:avLst/>
          </a:prstGeom>
        </p:spPr>
      </p:pic>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Masalah 1: Data Dioper Berantai (Prop Drilling)</a:t>
            </a:r>
            <a:endParaRPr lang="en-US" sz="3200" dirty="0"/>
          </a:p>
        </p:txBody>
      </p:sp>
      <p:sp>
        <p:nvSpPr>
          <p:cNvPr id="4" name="lapisan 1"/>
          <p:cNvSpPr/>
          <p:nvPr/>
        </p:nvSpPr>
        <p:spPr>
          <a:xfrm>
            <a:off x="548640" y="1371600"/>
            <a:ext cx="6583680" cy="868680"/>
          </a:xfrm>
          <a:prstGeom prst="roundRect">
            <a:avLst>
              <a:gd name="adj" fmla="val 12632"/>
            </a:avLst>
          </a:prstGeom>
          <a:solidFill>
            <a:schemeClr val="bg2"/>
          </a:solidFill>
          <a:ln/>
        </p:spPr>
      </p:sp>
      <p:sp>
        <p:nvSpPr>
          <p:cNvPr id="5" name="lingkaran pohon"/>
          <p:cNvSpPr/>
          <p:nvPr/>
        </p:nvSpPr>
        <p:spPr>
          <a:xfrm>
            <a:off x="731520" y="1485900"/>
            <a:ext cx="640080" cy="640080"/>
          </a:xfrm>
          <a:prstGeom prst="ellipse">
            <a:avLst/>
          </a:prstGeom>
          <a:solidFill>
            <a:schemeClr val="accent1"/>
          </a:solidFill>
          <a:ln/>
        </p:spPr>
      </p:sp>
      <p:pic>
        <p:nvPicPr>
          <p:cNvPr id="6" name="Image 0" descr="pohon">    </p:cNvPr>
          <p:cNvPicPr>
            <a:picLocks noChangeAspect="1"/>
          </p:cNvPicPr>
          <p:nvPr/>
        </p:nvPicPr>
        <p:blipFill>
          <a:blip r:embed="rId1"/>
          <a:stretch>
            <a:fillRect/>
          </a:stretch>
        </p:blipFill>
        <p:spPr>
          <a:xfrm>
            <a:off x="872338" y="1626718"/>
            <a:ext cx="358445" cy="358445"/>
          </a:xfrm>
          <a:prstGeom prst="rect">
            <a:avLst/>
          </a:prstGeom>
        </p:spPr>
      </p:pic>
      <p:sp>
        <p:nvSpPr>
          <p:cNvPr id="7" name="Text 3"/>
          <p:cNvSpPr txBox="1"/>
          <p:nvPr/>
        </p:nvSpPr>
        <p:spPr>
          <a:xfrm>
            <a:off x="1554480" y="1371600"/>
            <a:ext cx="5394960" cy="868680"/>
          </a:xfrm>
          <a:prstGeom prst="rect">
            <a:avLst/>
          </a:prstGeom>
          <a:noFill/>
          <a:ln/>
        </p:spPr>
        <p:txBody>
          <a:bodyPr wrap="square" lIns="0" tIns="0" rIns="0" bIns="0" rtlCol="0" anchor="ctr"/>
          <a:lstStyle/>
          <a:p>
            <a:pPr indent="0" marL="0">
              <a:buNone/>
            </a:pPr>
            <a:r>
              <a:rPr lang="en-US" sz="1800" b="1" dirty="0">
                <a:solidFill>
                  <a:schemeClr val="tx2"/>
                </a:solidFill>
              </a:rPr>
              <a:t>HalamanToko (StatefulWidget)</a:t>
            </a:r>
            <a:endParaRPr lang="en-US" sz="1800" dirty="0"/>
          </a:p>
          <a:p>
            <a:pPr indent="0" marL="0">
              <a:buNone/>
            </a:pPr>
            <a:r>
              <a:rPr lang="en-US" sz="1500" dirty="0">
                <a:solidFill>
                  <a:schemeClr val="tx1"/>
                </a:solidFill>
              </a:rPr>
              <a:t>Menyimpan _keranjang, _tambah, dan _hapus</a:t>
            </a:r>
            <a:endParaRPr lang="en-US" sz="1800" dirty="0"/>
          </a:p>
        </p:txBody>
      </p:sp>
      <p:sp>
        <p:nvSpPr>
          <p:cNvPr id="8" name="Shape 4"/>
          <p:cNvSpPr/>
          <p:nvPr/>
        </p:nvSpPr>
        <p:spPr>
          <a:xfrm>
            <a:off x="3703320" y="2221992"/>
            <a:ext cx="274320" cy="219456"/>
          </a:xfrm>
          <a:prstGeom prst="downArrow">
            <a:avLst/>
          </a:prstGeom>
          <a:solidFill>
            <a:schemeClr val="accent2"/>
          </a:solidFill>
          <a:ln/>
        </p:spPr>
      </p:sp>
      <p:sp>
        <p:nvSpPr>
          <p:cNvPr id="9" name="lapisan 2"/>
          <p:cNvSpPr/>
          <p:nvPr/>
        </p:nvSpPr>
        <p:spPr>
          <a:xfrm>
            <a:off x="548640" y="2423160"/>
            <a:ext cx="6583680" cy="868680"/>
          </a:xfrm>
          <a:prstGeom prst="roundRect">
            <a:avLst>
              <a:gd name="adj" fmla="val 12632"/>
            </a:avLst>
          </a:prstGeom>
          <a:solidFill>
            <a:schemeClr val="bg2"/>
          </a:solidFill>
          <a:ln/>
        </p:spPr>
      </p:sp>
      <p:sp>
        <p:nvSpPr>
          <p:cNvPr id="10" name="lingkaran daftar"/>
          <p:cNvSpPr/>
          <p:nvPr/>
        </p:nvSpPr>
        <p:spPr>
          <a:xfrm>
            <a:off x="731520" y="2537460"/>
            <a:ext cx="640080" cy="640080"/>
          </a:xfrm>
          <a:prstGeom prst="ellipse">
            <a:avLst/>
          </a:prstGeom>
          <a:solidFill>
            <a:schemeClr val="accent5"/>
          </a:solidFill>
          <a:ln/>
        </p:spPr>
      </p:sp>
      <p:pic>
        <p:nvPicPr>
          <p:cNvPr id="11" name="Image 1" descr="daftar">    </p:cNvPr>
          <p:cNvPicPr>
            <a:picLocks noChangeAspect="1"/>
          </p:cNvPicPr>
          <p:nvPr/>
        </p:nvPicPr>
        <p:blipFill>
          <a:blip r:embed="rId2"/>
          <a:stretch>
            <a:fillRect/>
          </a:stretch>
        </p:blipFill>
        <p:spPr>
          <a:xfrm>
            <a:off x="872338" y="2678278"/>
            <a:ext cx="358445" cy="358445"/>
          </a:xfrm>
          <a:prstGeom prst="rect">
            <a:avLst/>
          </a:prstGeom>
        </p:spPr>
      </p:pic>
      <p:sp>
        <p:nvSpPr>
          <p:cNvPr id="12" name="Text 7"/>
          <p:cNvSpPr txBox="1"/>
          <p:nvPr/>
        </p:nvSpPr>
        <p:spPr>
          <a:xfrm>
            <a:off x="1554480" y="2423160"/>
            <a:ext cx="5394960" cy="868680"/>
          </a:xfrm>
          <a:prstGeom prst="rect">
            <a:avLst/>
          </a:prstGeom>
          <a:noFill/>
          <a:ln/>
        </p:spPr>
        <p:txBody>
          <a:bodyPr wrap="square" lIns="0" tIns="0" rIns="0" bIns="0" rtlCol="0" anchor="ctr"/>
          <a:lstStyle/>
          <a:p>
            <a:pPr indent="0" marL="0">
              <a:buNone/>
            </a:pPr>
            <a:r>
              <a:rPr lang="en-US" sz="1800" b="1" dirty="0">
                <a:solidFill>
                  <a:schemeClr val="tx2"/>
                </a:solidFill>
              </a:rPr>
              <a:t>DaftarBarang</a:t>
            </a:r>
            <a:endParaRPr lang="en-US" sz="1800" dirty="0"/>
          </a:p>
          <a:p>
            <a:pPr indent="0" marL="0">
              <a:buNone/>
            </a:pPr>
            <a:r>
              <a:rPr lang="en-US" sz="1500" dirty="0">
                <a:solidFill>
                  <a:schemeClr val="tx1"/>
                </a:solidFill>
              </a:rPr>
              <a:t>Tidak memakai onTambah, hanya MENERUSKAN</a:t>
            </a:r>
            <a:endParaRPr lang="en-US" sz="1800" dirty="0"/>
          </a:p>
        </p:txBody>
      </p:sp>
      <p:sp>
        <p:nvSpPr>
          <p:cNvPr id="13" name="Shape 8"/>
          <p:cNvSpPr/>
          <p:nvPr/>
        </p:nvSpPr>
        <p:spPr>
          <a:xfrm>
            <a:off x="3703320" y="3273552"/>
            <a:ext cx="274320" cy="219456"/>
          </a:xfrm>
          <a:prstGeom prst="downArrow">
            <a:avLst/>
          </a:prstGeom>
          <a:solidFill>
            <a:schemeClr val="accent2"/>
          </a:solidFill>
          <a:ln/>
        </p:spPr>
      </p:sp>
      <p:sp>
        <p:nvSpPr>
          <p:cNvPr id="14" name="lapisan 3"/>
          <p:cNvSpPr/>
          <p:nvPr/>
        </p:nvSpPr>
        <p:spPr>
          <a:xfrm>
            <a:off x="548640" y="3474720"/>
            <a:ext cx="6583680" cy="868680"/>
          </a:xfrm>
          <a:prstGeom prst="roundRect">
            <a:avLst>
              <a:gd name="adj" fmla="val 12632"/>
            </a:avLst>
          </a:prstGeom>
          <a:solidFill>
            <a:schemeClr val="bg2"/>
          </a:solidFill>
          <a:ln/>
        </p:spPr>
      </p:sp>
      <p:sp>
        <p:nvSpPr>
          <p:cNvPr id="15" name="lingkaran baris"/>
          <p:cNvSpPr/>
          <p:nvPr/>
        </p:nvSpPr>
        <p:spPr>
          <a:xfrm>
            <a:off x="731520" y="3589020"/>
            <a:ext cx="640080" cy="640080"/>
          </a:xfrm>
          <a:prstGeom prst="ellipse">
            <a:avLst/>
          </a:prstGeom>
          <a:solidFill>
            <a:schemeClr val="accent4"/>
          </a:solidFill>
          <a:ln/>
        </p:spPr>
      </p:sp>
      <p:pic>
        <p:nvPicPr>
          <p:cNvPr id="16" name="Image 2" descr="baris">    </p:cNvPr>
          <p:cNvPicPr>
            <a:picLocks noChangeAspect="1"/>
          </p:cNvPicPr>
          <p:nvPr/>
        </p:nvPicPr>
        <p:blipFill>
          <a:blip r:embed="rId3"/>
          <a:stretch>
            <a:fillRect/>
          </a:stretch>
        </p:blipFill>
        <p:spPr>
          <a:xfrm>
            <a:off x="872338" y="3729838"/>
            <a:ext cx="358445" cy="358445"/>
          </a:xfrm>
          <a:prstGeom prst="rect">
            <a:avLst/>
          </a:prstGeom>
        </p:spPr>
      </p:pic>
      <p:sp>
        <p:nvSpPr>
          <p:cNvPr id="17" name="Text 11"/>
          <p:cNvSpPr txBox="1"/>
          <p:nvPr/>
        </p:nvSpPr>
        <p:spPr>
          <a:xfrm>
            <a:off x="1554480" y="3474720"/>
            <a:ext cx="5394960" cy="868680"/>
          </a:xfrm>
          <a:prstGeom prst="rect">
            <a:avLst/>
          </a:prstGeom>
          <a:noFill/>
          <a:ln/>
        </p:spPr>
        <p:txBody>
          <a:bodyPr wrap="square" lIns="0" tIns="0" rIns="0" bIns="0" rtlCol="0" anchor="ctr"/>
          <a:lstStyle/>
          <a:p>
            <a:pPr indent="0" marL="0">
              <a:buNone/>
            </a:pPr>
            <a:r>
              <a:rPr lang="en-US" sz="1800" b="1" dirty="0">
                <a:solidFill>
                  <a:schemeClr val="tx2"/>
                </a:solidFill>
              </a:rPr>
              <a:t>BarisBarang</a:t>
            </a:r>
            <a:endParaRPr lang="en-US" sz="1800" dirty="0"/>
          </a:p>
          <a:p>
            <a:pPr indent="0" marL="0">
              <a:buNone/>
            </a:pPr>
            <a:r>
              <a:rPr lang="en-US" sz="1500" dirty="0">
                <a:solidFill>
                  <a:schemeClr val="tx1"/>
                </a:solidFill>
              </a:rPr>
              <a:t>Baru di sini onTambah benar-benar dipakai</a:t>
            </a:r>
            <a:endParaRPr lang="en-US" sz="1800" dirty="0"/>
          </a:p>
        </p:txBody>
      </p:sp>
      <p:sp>
        <p:nvSpPr>
          <p:cNvPr id="18" name="daftar poin"/>
          <p:cNvSpPr txBox="1"/>
          <p:nvPr/>
        </p:nvSpPr>
        <p:spPr>
          <a:xfrm>
            <a:off x="7589520" y="1417320"/>
            <a:ext cx="4053535" cy="4572000"/>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chemeClr val="tx1"/>
                </a:solidFill>
              </a:rPr>
              <a:t>Contoh 01: toko belanja yang isi keranjangnya disimpan di HalamanToko.</a:t>
            </a:r>
            <a:endParaRPr lang="en-US" sz="1800" dirty="0"/>
          </a:p>
          <a:p>
            <a:pPr marL="228600" indent="-228600">
              <a:spcAft>
                <a:spcPts val="800"/>
              </a:spcAft>
              <a:buSzPct val="100000"/>
              <a:buChar char="•"/>
            </a:pPr>
            <a:r>
              <a:rPr lang="en-US" sz="1800" dirty="0">
                <a:solidFill>
                  <a:schemeClr val="tx1"/>
                </a:solidFill>
              </a:rPr>
              <a:t>Setiap tingkat harus menerima dan meneruskan data yang tidak dipakainya.</a:t>
            </a:r>
            <a:endParaRPr lang="en-US" sz="1800" dirty="0"/>
          </a:p>
          <a:p>
            <a:pPr marL="228600" indent="-228600">
              <a:spcAft>
                <a:spcPts val="800"/>
              </a:spcAft>
              <a:buSzPct val="100000"/>
              <a:buChar char="•"/>
            </a:pPr>
            <a:r>
              <a:rPr lang="en-US" sz="1800" dirty="0">
                <a:solidFill>
                  <a:schemeClr val="tx1"/>
                </a:solidFill>
              </a:rPr>
              <a:t>Bayangkan lima tingkat widget: kelimanya ikut menerima onTambah.</a:t>
            </a:r>
            <a:endParaRPr lang="en-US" sz="18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Masalah 2: Halaman Keranjang Tidak Ikut Berubah</a:t>
            </a:r>
            <a:endParaRPr lang="en-US" sz="3200" dirty="0"/>
          </a:p>
        </p:txBody>
      </p:sp>
      <p:sp>
        <p:nvSpPr>
          <p:cNvPr id="4" name="bingkai layar 1"/>
          <p:cNvSpPr/>
          <p:nvPr/>
        </p:nvSpPr>
        <p:spPr>
          <a:xfrm>
            <a:off x="8559295" y="1316736"/>
            <a:ext cx="3138624" cy="4818888"/>
          </a:xfrm>
          <a:prstGeom prst="roundRect">
            <a:avLst>
              <a:gd name="adj" fmla="val 2913"/>
            </a:avLst>
          </a:prstGeom>
          <a:solidFill>
            <a:srgbClr val="FFFFFF"/>
          </a:solidFill>
          <a:ln w="12700">
            <a:solidFill>
              <a:srgbClr val="C9D3E0"/>
            </a:solidFill>
            <a:prstDash val="solid"/>
          </a:ln>
        </p:spPr>
      </p:sp>
      <p:pic>
        <p:nvPicPr>
          <p:cNvPr id="5" name="layar 1" descr="Tangkapan layar aplikasi (hasil_contoh_01.jpg)">    </p:cNvPr>
          <p:cNvPicPr>
            <a:picLocks noChangeAspect="1"/>
          </p:cNvPicPr>
          <p:nvPr/>
        </p:nvPicPr>
        <p:blipFill>
          <a:blip r:embed="rId1"/>
          <a:stretch>
            <a:fillRect/>
          </a:stretch>
        </p:blipFill>
        <p:spPr>
          <a:xfrm>
            <a:off x="8614159" y="1371600"/>
            <a:ext cx="3028896" cy="4709160"/>
          </a:xfrm>
          <a:prstGeom prst="rect">
            <a:avLst/>
          </a:prstGeom>
        </p:spPr>
      </p:pic>
      <p:sp>
        <p:nvSpPr>
          <p:cNvPr id="6" name="kotak kode"/>
          <p:cNvSpPr txBox="1"/>
          <p:nvPr/>
        </p:nvSpPr>
        <p:spPr>
          <a:xfrm>
            <a:off x="548640" y="1371600"/>
            <a:ext cx="7608319" cy="2203704"/>
          </a:xfrm>
          <a:prstGeom prst="roundRect">
            <a:avLst>
              <a:gd name="adj" fmla="val 4149"/>
            </a:avLst>
          </a:prstGeom>
          <a:solidFill>
            <a:srgbClr val="0E1A2B"/>
          </a:solidFill>
          <a:ln/>
        </p:spPr>
        <p:txBody>
          <a:bodyPr wrap="square" lIns="177800" tIns="152400" rIns="152400" bIns="177800" rtlCol="0" anchor="t"/>
          <a:lstStyle/>
          <a:p>
            <a:pPr indent="0" marL="0">
              <a:lnSpc>
                <a:spcPct val="105000"/>
              </a:lnSpc>
              <a:buNone/>
            </a:pPr>
            <a:r>
              <a:rPr lang="en-US" sz="1400" i="1" dirty="0">
                <a:solidFill>
                  <a:srgbClr val="8FA3BC"/>
                </a:solidFill>
                <a:latin typeface="Consolas" pitchFamily="34" charset="0"/>
                <a:ea typeface="Consolas" pitchFamily="34" charset="-122"/>
                <a:cs typeface="Consolas" pitchFamily="34" charset="-120"/>
              </a:rPr>
              <a:t>// Di HalamanToko: membuka halaman Keranjang</a:t>
            </a:r>
            <a:endParaRPr lang="en-US" sz="1400" dirty="0"/>
          </a:p>
          <a:p>
            <a:pPr indent="0" marL="0">
              <a:lnSpc>
                <a:spcPct val="105000"/>
              </a:lnSpc>
              <a:buNone/>
            </a:pPr>
            <a:r>
              <a:rPr lang="en-US" sz="1400" dirty="0">
                <a:solidFill>
                  <a:srgbClr val="FFCB6B"/>
                </a:solidFill>
                <a:latin typeface="Consolas" pitchFamily="34" charset="0"/>
                <a:ea typeface="Consolas" pitchFamily="34" charset="-122"/>
                <a:cs typeface="Consolas" pitchFamily="34" charset="-120"/>
              </a:rPr>
              <a:t>Navigator</a:t>
            </a:r>
            <a:r>
              <a:rPr lang="en-US" sz="1400" dirty="0">
                <a:solidFill>
                  <a:srgbClr val="E6EDF3"/>
                </a:solidFill>
                <a:latin typeface="Consolas" pitchFamily="34" charset="0"/>
                <a:ea typeface="Consolas" pitchFamily="34" charset="-122"/>
                <a:cs typeface="Consolas" pitchFamily="34" charset="-120"/>
              </a:rPr>
              <a:t>.push(</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context,</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a:t>
            </a:r>
            <a:r>
              <a:rPr lang="en-US" sz="1400" dirty="0">
                <a:solidFill>
                  <a:srgbClr val="FFCB6B"/>
                </a:solidFill>
                <a:latin typeface="Consolas" pitchFamily="34" charset="0"/>
                <a:ea typeface="Consolas" pitchFamily="34" charset="-122"/>
                <a:cs typeface="Consolas" pitchFamily="34" charset="-120"/>
              </a:rPr>
              <a:t>MaterialPageRoute</a:t>
            </a:r>
            <a:r>
              <a:rPr lang="en-US" sz="1400" dirty="0">
                <a:solidFill>
                  <a:srgbClr val="E6EDF3"/>
                </a:solidFill>
                <a:latin typeface="Consolas" pitchFamily="34" charset="0"/>
                <a:ea typeface="Consolas" pitchFamily="34" charset="-122"/>
                <a:cs typeface="Consolas" pitchFamily="34" charset="-120"/>
              </a:rPr>
              <a:t>&lt;</a:t>
            </a:r>
            <a:r>
              <a:rPr lang="en-US" sz="1400" dirty="0">
                <a:solidFill>
                  <a:srgbClr val="C792EA"/>
                </a:solidFill>
                <a:latin typeface="Consolas" pitchFamily="34" charset="0"/>
                <a:ea typeface="Consolas" pitchFamily="34" charset="-122"/>
                <a:cs typeface="Consolas" pitchFamily="34" charset="-120"/>
              </a:rPr>
              <a:t>void</a:t>
            </a:r>
            <a:r>
              <a:rPr lang="en-US" sz="1400" dirty="0">
                <a:solidFill>
                  <a:srgbClr val="E6EDF3"/>
                </a:solidFill>
                <a:latin typeface="Consolas" pitchFamily="34" charset="0"/>
                <a:ea typeface="Consolas" pitchFamily="34" charset="-122"/>
                <a:cs typeface="Consolas" pitchFamily="34" charset="-120"/>
              </a:rPr>
              <a:t>&gt;(</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builder: (</a:t>
            </a:r>
            <a:r>
              <a:rPr lang="en-US" sz="1400" dirty="0">
                <a:solidFill>
                  <a:srgbClr val="FFCB6B"/>
                </a:solidFill>
                <a:latin typeface="Consolas" pitchFamily="34" charset="0"/>
                <a:ea typeface="Consolas" pitchFamily="34" charset="-122"/>
                <a:cs typeface="Consolas" pitchFamily="34" charset="-120"/>
              </a:rPr>
              <a:t>BuildContext</a:t>
            </a:r>
            <a:r>
              <a:rPr lang="en-US" sz="1400" dirty="0">
                <a:solidFill>
                  <a:srgbClr val="E6EDF3"/>
                </a:solidFill>
                <a:latin typeface="Consolas" pitchFamily="34" charset="0"/>
                <a:ea typeface="Consolas" pitchFamily="34" charset="-122"/>
                <a:cs typeface="Consolas" pitchFamily="34" charset="-120"/>
              </a:rPr>
              <a:t> context) =&gt;</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a:t>
            </a:r>
            <a:r>
              <a:rPr lang="en-US" sz="1400" dirty="0">
                <a:solidFill>
                  <a:srgbClr val="FFCB6B"/>
                </a:solidFill>
                <a:latin typeface="Consolas" pitchFamily="34" charset="0"/>
                <a:ea typeface="Consolas" pitchFamily="34" charset="-122"/>
                <a:cs typeface="Consolas" pitchFamily="34" charset="-120"/>
              </a:rPr>
              <a:t>HalamanKeranjang</a:t>
            </a:r>
            <a:r>
              <a:rPr lang="en-US" sz="1400" dirty="0">
                <a:solidFill>
                  <a:srgbClr val="E6EDF3"/>
                </a:solidFill>
                <a:latin typeface="Consolas" pitchFamily="34" charset="0"/>
                <a:ea typeface="Consolas" pitchFamily="34" charset="-122"/>
                <a:cs typeface="Consolas" pitchFamily="34" charset="-120"/>
              </a:rPr>
              <a:t>(keranjang: _keranjang, onHapus: _hapus),</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a:t>
            </a:r>
            <a:endParaRPr lang="en-US" sz="1400" dirty="0"/>
          </a:p>
        </p:txBody>
      </p:sp>
      <p:sp>
        <p:nvSpPr>
          <p:cNvPr id="7" name="tombol tautan">
            <a:hlinkClick r:id="rId2" tooltip="https://github.com/antonprafanto/mobile2026/blob/main/pertemuan_09_state_dan_mvvm/kode/contoh_01_masalah_state_bertingkat.dart"/>
          </p:cNvPr>
          <p:cNvSpPr txBox="1"/>
          <p:nvPr/>
        </p:nvSpPr>
        <p:spPr>
          <a:xfrm>
            <a:off x="548640" y="3758184"/>
            <a:ext cx="7608319"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contoh_01_masalah_state_bertingkat.dart</a:t>
            </a:r>
            <a:endParaRPr lang="en-US" sz="1300" dirty="0"/>
          </a:p>
        </p:txBody>
      </p:sp>
      <p:pic>
        <p:nvPicPr>
          <p:cNvPr id="8" name="Image 1" descr="ikon tautan">
            <a:hlinkClick r:id="rId4" tooltip="https://github.com/antonprafanto/mobile2026/blob/main/pertemuan_09_state_dan_mvvm/kode/contoh_01_masalah_state_bertingkat.dart"/>
          </p:cNvPr>
          <p:cNvPicPr>
            <a:picLocks noChangeAspect="1"/>
          </p:cNvPicPr>
          <p:nvPr/>
        </p:nvPicPr>
        <p:blipFill>
          <a:blip r:embed="rId3"/>
          <a:stretch>
            <a:fillRect/>
          </a:stretch>
        </p:blipFill>
        <p:spPr>
          <a:xfrm>
            <a:off x="694944" y="3849624"/>
            <a:ext cx="274320" cy="274320"/>
          </a:xfrm>
          <a:prstGeom prst="rect">
            <a:avLst/>
          </a:prstGeom>
        </p:spPr>
      </p:pic>
      <p:sp>
        <p:nvSpPr>
          <p:cNvPr id="9" name="daftar poin"/>
          <p:cNvSpPr txBox="1"/>
          <p:nvPr/>
        </p:nvSpPr>
        <p:spPr>
          <a:xfrm>
            <a:off x="548640" y="4489704"/>
            <a:ext cx="7608319" cy="1728216"/>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Tambah 3 barang, buka Keranjang, hapus 1: barangnya tetap terlihat, judul tetap "Keranjang (3)".</a:t>
            </a:r>
            <a:endParaRPr lang="en-US" sz="1600" dirty="0"/>
          </a:p>
          <a:p>
            <a:pPr marL="228600" indent="-228600">
              <a:spcAft>
                <a:spcPts val="800"/>
              </a:spcAft>
              <a:buSzPct val="100000"/>
              <a:buChar char="•"/>
            </a:pPr>
            <a:r>
              <a:rPr lang="en-US" sz="1600" dirty="0">
                <a:solidFill>
                  <a:schemeClr val="tx1"/>
                </a:solidFill>
              </a:rPr>
              <a:t>setState hanya membangun ulang HalamanToko. Halaman yang di-push seperti fotokopi saat dibuka.</a:t>
            </a:r>
            <a:endParaRPr lang="en-US" sz="1600" dirty="0"/>
          </a:p>
          <a:p>
            <a:pPr marL="228600" indent="-228600">
              <a:spcAft>
                <a:spcPts val="800"/>
              </a:spcAft>
              <a:buSzPct val="100000"/>
              <a:buChar char="•"/>
            </a:pPr>
            <a:r>
              <a:rPr lang="en-US" sz="1600" dirty="0">
                <a:solidFill>
                  <a:schemeClr val="tx1"/>
                </a:solidFill>
              </a:rPr>
              <a:t>Bahaya: tombol hapus di layar usang menunjuk posisi yang salah (RangeError, atau barang lain yang terhapus).</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State Lokal vs State Aplikasi</a:t>
            </a:r>
            <a:endParaRPr lang="en-US" sz="3200" dirty="0"/>
          </a:p>
        </p:txBody>
      </p:sp>
      <p:sp>
        <p:nvSpPr>
          <p:cNvPr id="4" name="kolom 1"/>
          <p:cNvSpPr/>
          <p:nvPr/>
        </p:nvSpPr>
        <p:spPr>
          <a:xfrm>
            <a:off x="548640" y="1371600"/>
            <a:ext cx="5387188" cy="3931920"/>
          </a:xfrm>
          <a:prstGeom prst="roundRect">
            <a:avLst>
              <a:gd name="adj" fmla="val 2791"/>
            </a:avLst>
          </a:prstGeom>
          <a:solidFill>
            <a:schemeClr val="bg2"/>
          </a:solidFill>
          <a:ln/>
        </p:spPr>
      </p:sp>
      <p:sp>
        <p:nvSpPr>
          <p:cNvPr id="5" name="lingkaran orang"/>
          <p:cNvSpPr/>
          <p:nvPr/>
        </p:nvSpPr>
        <p:spPr>
          <a:xfrm>
            <a:off x="777240" y="1600200"/>
            <a:ext cx="685800" cy="685800"/>
          </a:xfrm>
          <a:prstGeom prst="ellipse">
            <a:avLst/>
          </a:prstGeom>
          <a:solidFill>
            <a:schemeClr val="accent6"/>
          </a:solidFill>
          <a:ln/>
        </p:spPr>
      </p:sp>
      <p:pic>
        <p:nvPicPr>
          <p:cNvPr id="6" name="Image 0" descr="orang">    </p:cNvPr>
          <p:cNvPicPr>
            <a:picLocks noChangeAspect="1"/>
          </p:cNvPicPr>
          <p:nvPr/>
        </p:nvPicPr>
        <p:blipFill>
          <a:blip r:embed="rId1"/>
          <a:stretch>
            <a:fillRect/>
          </a:stretch>
        </p:blipFill>
        <p:spPr>
          <a:xfrm>
            <a:off x="928116" y="1751076"/>
            <a:ext cx="384048" cy="384048"/>
          </a:xfrm>
          <a:prstGeom prst="rect">
            <a:avLst/>
          </a:prstGeom>
        </p:spPr>
      </p:pic>
      <p:sp>
        <p:nvSpPr>
          <p:cNvPr id="7" name="Text 3"/>
          <p:cNvSpPr txBox="1"/>
          <p:nvPr/>
        </p:nvSpPr>
        <p:spPr>
          <a:xfrm>
            <a:off x="1600200" y="1554480"/>
            <a:ext cx="4198468" cy="777240"/>
          </a:xfrm>
          <a:prstGeom prst="rect">
            <a:avLst/>
          </a:prstGeom>
          <a:noFill/>
          <a:ln/>
        </p:spPr>
        <p:txBody>
          <a:bodyPr wrap="square" lIns="0" tIns="0" rIns="0" bIns="0" rtlCol="0" anchor="ctr"/>
          <a:lstStyle/>
          <a:p>
            <a:pPr indent="0" marL="0">
              <a:buNone/>
            </a:pPr>
            <a:r>
              <a:rPr lang="en-US" sz="1900" b="1" dirty="0">
                <a:solidFill>
                  <a:schemeClr val="tx2"/>
                </a:solidFill>
              </a:rPr>
              <a:t>State lokal</a:t>
            </a:r>
            <a:endParaRPr lang="en-US" sz="1900" dirty="0"/>
          </a:p>
        </p:txBody>
      </p:sp>
      <p:sp>
        <p:nvSpPr>
          <p:cNvPr id="8" name="Text 4"/>
          <p:cNvSpPr txBox="1"/>
          <p:nvPr/>
        </p:nvSpPr>
        <p:spPr>
          <a:xfrm>
            <a:off x="777240" y="2423160"/>
            <a:ext cx="4929988" cy="365760"/>
          </a:xfrm>
          <a:prstGeom prst="rect">
            <a:avLst/>
          </a:prstGeom>
          <a:noFill/>
          <a:ln/>
        </p:spPr>
        <p:txBody>
          <a:bodyPr wrap="square" lIns="0" tIns="0" rIns="0" bIns="0" rtlCol="0" anchor="ctr"/>
          <a:lstStyle/>
          <a:p>
            <a:pPr indent="0" marL="0">
              <a:buNone/>
            </a:pPr>
            <a:r>
              <a:rPr lang="en-US" sz="1400" b="1" dirty="0">
                <a:solidFill>
                  <a:schemeClr val="accent6"/>
                </a:solidFill>
              </a:rPr>
              <a:t>Satu widget atau halaman, boleh hilang</a:t>
            </a:r>
            <a:endParaRPr lang="en-US" sz="1400" dirty="0"/>
          </a:p>
        </p:txBody>
      </p:sp>
      <p:sp>
        <p:nvSpPr>
          <p:cNvPr id="9" name="daftar poin"/>
          <p:cNvSpPr txBox="1"/>
          <p:nvPr/>
        </p:nvSpPr>
        <p:spPr>
          <a:xfrm>
            <a:off x="777240" y="2926080"/>
            <a:ext cx="4929988" cy="123444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Teks yang sedang diketik di formulir</a:t>
            </a:r>
            <a:endParaRPr lang="en-US" sz="1600" dirty="0"/>
          </a:p>
          <a:p>
            <a:pPr marL="228600" indent="-228600">
              <a:spcAft>
                <a:spcPts val="800"/>
              </a:spcAft>
              <a:buSzPct val="100000"/>
              <a:buChar char="•"/>
            </a:pPr>
            <a:r>
              <a:rPr lang="en-US" sz="1600" dirty="0">
                <a:solidFill>
                  <a:schemeClr val="tx1"/>
                </a:solidFill>
              </a:rPr>
              <a:t>Tab atau chip yang sedang dipilih</a:t>
            </a:r>
            <a:endParaRPr lang="en-US" sz="1600" dirty="0"/>
          </a:p>
          <a:p>
            <a:pPr marL="228600" indent="-228600">
              <a:spcAft>
                <a:spcPts val="800"/>
              </a:spcAft>
              <a:buSzPct val="100000"/>
              <a:buChar char="•"/>
            </a:pPr>
            <a:r>
              <a:rPr lang="en-US" sz="1600" dirty="0">
                <a:solidFill>
                  <a:schemeClr val="tx1"/>
                </a:solidFill>
              </a:rPr>
              <a:t>Jumlah porsi sebelum dipesan</a:t>
            </a:r>
            <a:endParaRPr lang="en-US" sz="1600" dirty="0"/>
          </a:p>
        </p:txBody>
      </p:sp>
      <p:sp>
        <p:nvSpPr>
          <p:cNvPr id="10" name="kotak kode"/>
          <p:cNvSpPr txBox="1"/>
          <p:nvPr/>
        </p:nvSpPr>
        <p:spPr>
          <a:xfrm>
            <a:off x="731520" y="4114800"/>
            <a:ext cx="5021428" cy="1005840"/>
          </a:xfrm>
          <a:prstGeom prst="roundRect">
            <a:avLst>
              <a:gd name="adj" fmla="val 9091"/>
            </a:avLst>
          </a:prstGeom>
          <a:solidFill>
            <a:srgbClr val="0E1A2B"/>
          </a:solidFill>
          <a:ln/>
        </p:spPr>
        <p:txBody>
          <a:bodyPr wrap="square" lIns="177800" tIns="152400" rIns="152400" bIns="177800" rtlCol="0" anchor="t"/>
          <a:lstStyle/>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setState(() {</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_tabTerpilih = </a:t>
            </a:r>
            <a:r>
              <a:rPr lang="en-US" sz="1300" dirty="0">
                <a:solidFill>
                  <a:srgbClr val="F78C6C"/>
                </a:solidFill>
                <a:latin typeface="Consolas" pitchFamily="34" charset="0"/>
                <a:ea typeface="Consolas" pitchFamily="34" charset="-122"/>
                <a:cs typeface="Consolas" pitchFamily="34" charset="-120"/>
              </a:rPr>
              <a:t>1</a:t>
            </a: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endParaRPr lang="en-US" sz="1300" dirty="0"/>
          </a:p>
        </p:txBody>
      </p:sp>
      <p:sp>
        <p:nvSpPr>
          <p:cNvPr id="11" name="kolom 2"/>
          <p:cNvSpPr/>
          <p:nvPr/>
        </p:nvSpPr>
        <p:spPr>
          <a:xfrm>
            <a:off x="6255868" y="1371600"/>
            <a:ext cx="5387188" cy="3931920"/>
          </a:xfrm>
          <a:prstGeom prst="roundRect">
            <a:avLst>
              <a:gd name="adj" fmla="val 2791"/>
            </a:avLst>
          </a:prstGeom>
          <a:solidFill>
            <a:srgbClr val="E3F2FD"/>
          </a:solidFill>
          <a:ln w="25400">
            <a:solidFill>
              <a:schemeClr val="accent1"/>
            </a:solidFill>
            <a:prstDash val="solid"/>
          </a:ln>
        </p:spPr>
      </p:sp>
      <p:sp>
        <p:nvSpPr>
          <p:cNvPr id="12" name="lingkaran grup"/>
          <p:cNvSpPr/>
          <p:nvPr/>
        </p:nvSpPr>
        <p:spPr>
          <a:xfrm>
            <a:off x="6484468" y="1600200"/>
            <a:ext cx="685800" cy="685800"/>
          </a:xfrm>
          <a:prstGeom prst="ellipse">
            <a:avLst/>
          </a:prstGeom>
          <a:solidFill>
            <a:schemeClr val="accent1"/>
          </a:solidFill>
          <a:ln/>
        </p:spPr>
      </p:sp>
      <p:pic>
        <p:nvPicPr>
          <p:cNvPr id="13" name="Image 1" descr="grup">    </p:cNvPr>
          <p:cNvPicPr>
            <a:picLocks noChangeAspect="1"/>
          </p:cNvPicPr>
          <p:nvPr/>
        </p:nvPicPr>
        <p:blipFill>
          <a:blip r:embed="rId2"/>
          <a:stretch>
            <a:fillRect/>
          </a:stretch>
        </p:blipFill>
        <p:spPr>
          <a:xfrm>
            <a:off x="6635344" y="1751076"/>
            <a:ext cx="384048" cy="384048"/>
          </a:xfrm>
          <a:prstGeom prst="rect">
            <a:avLst/>
          </a:prstGeom>
        </p:spPr>
      </p:pic>
      <p:sp>
        <p:nvSpPr>
          <p:cNvPr id="14" name="Text 9"/>
          <p:cNvSpPr txBox="1"/>
          <p:nvPr/>
        </p:nvSpPr>
        <p:spPr>
          <a:xfrm>
            <a:off x="7307428" y="1554480"/>
            <a:ext cx="4198468" cy="777240"/>
          </a:xfrm>
          <a:prstGeom prst="rect">
            <a:avLst/>
          </a:prstGeom>
          <a:noFill/>
          <a:ln/>
        </p:spPr>
        <p:txBody>
          <a:bodyPr wrap="square" lIns="0" tIns="0" rIns="0" bIns="0" rtlCol="0" anchor="ctr"/>
          <a:lstStyle/>
          <a:p>
            <a:pPr indent="0" marL="0">
              <a:buNone/>
            </a:pPr>
            <a:r>
              <a:rPr lang="en-US" sz="1900" b="1" dirty="0">
                <a:solidFill>
                  <a:schemeClr val="tx2"/>
                </a:solidFill>
              </a:rPr>
              <a:t>State aplikasi</a:t>
            </a:r>
            <a:endParaRPr lang="en-US" sz="1900" dirty="0"/>
          </a:p>
        </p:txBody>
      </p:sp>
      <p:sp>
        <p:nvSpPr>
          <p:cNvPr id="15" name="Text 10"/>
          <p:cNvSpPr txBox="1"/>
          <p:nvPr/>
        </p:nvSpPr>
        <p:spPr>
          <a:xfrm>
            <a:off x="6484468" y="2423160"/>
            <a:ext cx="4929988" cy="365760"/>
          </a:xfrm>
          <a:prstGeom prst="rect">
            <a:avLst/>
          </a:prstGeom>
          <a:noFill/>
          <a:ln/>
        </p:spPr>
        <p:txBody>
          <a:bodyPr wrap="square" lIns="0" tIns="0" rIns="0" bIns="0" rtlCol="0" anchor="ctr"/>
          <a:lstStyle/>
          <a:p>
            <a:pPr indent="0" marL="0">
              <a:buNone/>
            </a:pPr>
            <a:r>
              <a:rPr lang="en-US" sz="1400" b="1" dirty="0">
                <a:solidFill>
                  <a:schemeClr val="accent1"/>
                </a:solidFill>
              </a:rPr>
              <a:t>Banyak halaman, harus tetap ada</a:t>
            </a:r>
            <a:endParaRPr lang="en-US" sz="1400" dirty="0"/>
          </a:p>
        </p:txBody>
      </p:sp>
      <p:sp>
        <p:nvSpPr>
          <p:cNvPr id="16" name="daftar poin"/>
          <p:cNvSpPr txBox="1"/>
          <p:nvPr/>
        </p:nvSpPr>
        <p:spPr>
          <a:xfrm>
            <a:off x="6484468" y="2926080"/>
            <a:ext cx="4929988" cy="1472184"/>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Isi keranjang belanja</a:t>
            </a:r>
            <a:endParaRPr lang="en-US" sz="1600" dirty="0"/>
          </a:p>
          <a:p>
            <a:pPr marL="228600" indent="-228600">
              <a:spcAft>
                <a:spcPts val="800"/>
              </a:spcAft>
              <a:buSzPct val="100000"/>
              <a:buChar char="•"/>
            </a:pPr>
            <a:r>
              <a:rPr lang="en-US" sz="1600" dirty="0">
                <a:solidFill>
                  <a:schemeClr val="tx1"/>
                </a:solidFill>
              </a:rPr>
              <a:t>Pengguna yang masuk, pilihan mode gelap</a:t>
            </a:r>
            <a:endParaRPr lang="en-US" sz="1600" dirty="0"/>
          </a:p>
          <a:p>
            <a:pPr marL="228600" indent="-228600">
              <a:spcAft>
                <a:spcPts val="800"/>
              </a:spcAft>
              <a:buSzPct val="100000"/>
              <a:buChar char="•"/>
            </a:pPr>
            <a:r>
              <a:rPr lang="en-US" sz="1600" dirty="0">
                <a:solidFill>
                  <a:schemeClr val="tx1"/>
                </a:solidFill>
              </a:rPr>
              <a:t>Data dari server, skor yang dicapai</a:t>
            </a:r>
            <a:endParaRPr lang="en-US" sz="1600" dirty="0"/>
          </a:p>
        </p:txBody>
      </p:sp>
      <p:sp>
        <p:nvSpPr>
          <p:cNvPr id="17" name="kotak kode"/>
          <p:cNvSpPr txBox="1"/>
          <p:nvPr/>
        </p:nvSpPr>
        <p:spPr>
          <a:xfrm>
            <a:off x="6438748" y="4352544"/>
            <a:ext cx="5021428" cy="768096"/>
          </a:xfrm>
          <a:prstGeom prst="roundRect">
            <a:avLst>
              <a:gd name="adj" fmla="val 11905"/>
            </a:avLst>
          </a:prstGeom>
          <a:solidFill>
            <a:srgbClr val="0E1A2B"/>
          </a:solidFill>
          <a:ln/>
        </p:spPr>
        <p:txBody>
          <a:bodyPr wrap="square" lIns="177800" tIns="152400" rIns="152400" bIns="177800" rtlCol="0" anchor="t"/>
          <a:lstStyle/>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context.read&lt;</a:t>
            </a:r>
            <a:r>
              <a:rPr lang="en-US" sz="1300" dirty="0">
                <a:solidFill>
                  <a:srgbClr val="FFCB6B"/>
                </a:solidFill>
                <a:latin typeface="Consolas" pitchFamily="34" charset="0"/>
                <a:ea typeface="Consolas" pitchFamily="34" charset="-122"/>
                <a:cs typeface="Consolas" pitchFamily="34" charset="-120"/>
              </a:rPr>
              <a:t>Keranjang</a:t>
            </a:r>
            <a:r>
              <a:rPr lang="en-US" sz="1300" dirty="0">
                <a:solidFill>
                  <a:srgbClr val="E6EDF3"/>
                </a:solidFill>
                <a:latin typeface="Consolas" pitchFamily="34" charset="0"/>
                <a:ea typeface="Consolas" pitchFamily="34" charset="-122"/>
                <a:cs typeface="Consolas" pitchFamily="34" charset="-120"/>
              </a:rPr>
              <a:t>&gt;()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.tambah(nama);</a:t>
            </a:r>
            <a:endParaRPr lang="en-US" sz="1300" dirty="0"/>
          </a:p>
        </p:txBody>
      </p:sp>
      <p:sp>
        <p:nvSpPr>
          <p:cNvPr id="18" name="lingkaran lampu"/>
          <p:cNvSpPr/>
          <p:nvPr/>
        </p:nvSpPr>
        <p:spPr>
          <a:xfrm>
            <a:off x="548640" y="5532120"/>
            <a:ext cx="548640" cy="548640"/>
          </a:xfrm>
          <a:prstGeom prst="ellipse">
            <a:avLst/>
          </a:prstGeom>
          <a:solidFill>
            <a:schemeClr val="accent3"/>
          </a:solidFill>
          <a:ln/>
        </p:spPr>
      </p:sp>
      <p:pic>
        <p:nvPicPr>
          <p:cNvPr id="19" name="Image 2" descr="lampu">    </p:cNvPr>
          <p:cNvPicPr>
            <a:picLocks noChangeAspect="1"/>
          </p:cNvPicPr>
          <p:nvPr/>
        </p:nvPicPr>
        <p:blipFill>
          <a:blip r:embed="rId3"/>
          <a:stretch>
            <a:fillRect/>
          </a:stretch>
        </p:blipFill>
        <p:spPr>
          <a:xfrm>
            <a:off x="669341" y="5652821"/>
            <a:ext cx="307238" cy="307238"/>
          </a:xfrm>
          <a:prstGeom prst="rect">
            <a:avLst/>
          </a:prstGeom>
        </p:spPr>
      </p:pic>
      <p:sp>
        <p:nvSpPr>
          <p:cNvPr id="20" name="Text 14"/>
          <p:cNvSpPr txBox="1"/>
          <p:nvPr/>
        </p:nvSpPr>
        <p:spPr>
          <a:xfrm>
            <a:off x="1280160" y="5440680"/>
            <a:ext cx="10362895" cy="731520"/>
          </a:xfrm>
          <a:prstGeom prst="rect">
            <a:avLst/>
          </a:prstGeom>
          <a:noFill/>
          <a:ln/>
        </p:spPr>
        <p:txBody>
          <a:bodyPr wrap="square" lIns="0" tIns="0" rIns="0" bIns="0" rtlCol="0" anchor="ctr"/>
          <a:lstStyle/>
          <a:p>
            <a:pPr indent="0" marL="0">
              <a:buNone/>
            </a:pPr>
            <a:r>
              <a:rPr lang="en-US" sz="1700" dirty="0">
                <a:solidFill>
                  <a:schemeClr val="tx1"/>
                </a:solidFill>
              </a:rPr>
              <a:t>Tanyakan: dipakai lebih dari satu halaman? Harus tetap ada setelah halamannya ditutup? Jika salah satunya "ya" → state aplikasi.</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Ide Penyelesaian: Objek Tersendiri</a:t>
            </a:r>
            <a:endParaRPr lang="en-US" sz="3200" dirty="0"/>
          </a:p>
        </p:txBody>
      </p:sp>
      <p:sp>
        <p:nvSpPr>
          <p:cNvPr id="4" name="Text 1"/>
          <p:cNvSpPr txBox="1"/>
          <p:nvPr/>
        </p:nvSpPr>
        <p:spPr>
          <a:xfrm>
            <a:off x="548640" y="1325880"/>
            <a:ext cx="11094415" cy="502920"/>
          </a:xfrm>
          <a:prstGeom prst="rect">
            <a:avLst/>
          </a:prstGeom>
          <a:noFill/>
          <a:ln/>
        </p:spPr>
        <p:txBody>
          <a:bodyPr wrap="square" lIns="0" tIns="0" rIns="0" bIns="0" rtlCol="0" anchor="ctr"/>
          <a:lstStyle/>
          <a:p>
            <a:pPr indent="0" marL="0">
              <a:buNone/>
            </a:pPr>
            <a:r>
              <a:rPr lang="en-US" sz="1800" dirty="0">
                <a:solidFill>
                  <a:srgbClr val="4A5870"/>
                </a:solidFill>
              </a:rPr>
              <a:t>Keluarkan data yang dipakai bersama dari widget, lalu simpan di objek yang:</a:t>
            </a:r>
            <a:endParaRPr lang="en-US" sz="1800" dirty="0"/>
          </a:p>
        </p:txBody>
      </p:sp>
      <p:sp>
        <p:nvSpPr>
          <p:cNvPr id="5" name="kartu 1"/>
          <p:cNvSpPr/>
          <p:nvPr/>
        </p:nvSpPr>
        <p:spPr>
          <a:xfrm>
            <a:off x="548640" y="2011680"/>
            <a:ext cx="3484778" cy="3291840"/>
          </a:xfrm>
          <a:prstGeom prst="roundRect">
            <a:avLst>
              <a:gd name="adj" fmla="val 3333"/>
            </a:avLst>
          </a:prstGeom>
          <a:solidFill>
            <a:schemeClr val="bg2"/>
          </a:solidFill>
          <a:ln/>
        </p:spPr>
      </p:sp>
      <p:sp>
        <p:nvSpPr>
          <p:cNvPr id="6" name="lingkaran kotak"/>
          <p:cNvSpPr/>
          <p:nvPr/>
        </p:nvSpPr>
        <p:spPr>
          <a:xfrm>
            <a:off x="777240" y="2240280"/>
            <a:ext cx="685800" cy="685800"/>
          </a:xfrm>
          <a:prstGeom prst="ellipse">
            <a:avLst/>
          </a:prstGeom>
          <a:solidFill>
            <a:schemeClr val="accent1"/>
          </a:solidFill>
          <a:ln/>
        </p:spPr>
      </p:sp>
      <p:pic>
        <p:nvPicPr>
          <p:cNvPr id="7" name="Image 0" descr="kotak">    </p:cNvPr>
          <p:cNvPicPr>
            <a:picLocks noChangeAspect="1"/>
          </p:cNvPicPr>
          <p:nvPr/>
        </p:nvPicPr>
        <p:blipFill>
          <a:blip r:embed="rId1"/>
          <a:stretch>
            <a:fillRect/>
          </a:stretch>
        </p:blipFill>
        <p:spPr>
          <a:xfrm>
            <a:off x="928116" y="2391156"/>
            <a:ext cx="384048" cy="384048"/>
          </a:xfrm>
          <a:prstGeom prst="rect">
            <a:avLst/>
          </a:prstGeom>
        </p:spPr>
      </p:pic>
      <p:sp>
        <p:nvSpPr>
          <p:cNvPr id="8" name="Text 4"/>
          <p:cNvSpPr txBox="1"/>
          <p:nvPr/>
        </p:nvSpPr>
        <p:spPr>
          <a:xfrm>
            <a:off x="1600200" y="2212848"/>
            <a:ext cx="2250338" cy="731520"/>
          </a:xfrm>
          <a:prstGeom prst="rect">
            <a:avLst/>
          </a:prstGeom>
          <a:noFill/>
          <a:ln/>
        </p:spPr>
        <p:txBody>
          <a:bodyPr wrap="square" lIns="0" tIns="0" rIns="0" bIns="0" rtlCol="0" anchor="ctr"/>
          <a:lstStyle/>
          <a:p>
            <a:pPr indent="0" marL="0">
              <a:buNone/>
            </a:pPr>
            <a:r>
              <a:rPr lang="en-US" sz="1800" b="1" dirty="0">
                <a:solidFill>
                  <a:schemeClr val="tx2"/>
                </a:solidFill>
              </a:rPr>
              <a:t>Menyimpan data</a:t>
            </a:r>
            <a:endParaRPr lang="en-US" sz="1800" dirty="0"/>
          </a:p>
        </p:txBody>
      </p:sp>
      <p:sp>
        <p:nvSpPr>
          <p:cNvPr id="9" name="Text 5"/>
          <p:cNvSpPr txBox="1"/>
          <p:nvPr/>
        </p:nvSpPr>
        <p:spPr>
          <a:xfrm>
            <a:off x="777240" y="3063240"/>
            <a:ext cx="3027578" cy="1335024"/>
          </a:xfrm>
          <a:prstGeom prst="rect">
            <a:avLst/>
          </a:prstGeom>
          <a:noFill/>
          <a:ln/>
        </p:spPr>
        <p:txBody>
          <a:bodyPr wrap="square" lIns="0" tIns="0" rIns="0" bIns="0" rtlCol="0" anchor="t"/>
          <a:lstStyle/>
          <a:p>
            <a:pPr indent="0" marL="0">
              <a:buNone/>
            </a:pPr>
            <a:r>
              <a:rPr lang="en-US" sz="1500" dirty="0">
                <a:solidFill>
                  <a:schemeClr val="tx1"/>
                </a:solidFill>
              </a:rPr>
              <a:t>Datanya dan semua cara mengubahnya berada di satu objek, di luar widget.</a:t>
            </a:r>
            <a:endParaRPr lang="en-US" sz="1500" dirty="0"/>
          </a:p>
        </p:txBody>
      </p:sp>
      <p:sp>
        <p:nvSpPr>
          <p:cNvPr id="10" name="kotak kode"/>
          <p:cNvSpPr txBox="1"/>
          <p:nvPr/>
        </p:nvSpPr>
        <p:spPr>
          <a:xfrm>
            <a:off x="731520" y="4352544"/>
            <a:ext cx="3119018" cy="768096"/>
          </a:xfrm>
          <a:prstGeom prst="roundRect">
            <a:avLst>
              <a:gd name="adj" fmla="val 11905"/>
            </a:avLst>
          </a:prstGeom>
          <a:solidFill>
            <a:srgbClr val="0E1A2B"/>
          </a:solidFill>
          <a:ln/>
        </p:spPr>
        <p:txBody>
          <a:bodyPr wrap="square" lIns="177800" tIns="152400" rIns="152400" bIns="177800" rtlCol="0" anchor="t"/>
          <a:lstStyle/>
          <a:p>
            <a:pPr indent="0" marL="0">
              <a:lnSpc>
                <a:spcPct val="105000"/>
              </a:lnSpc>
              <a:buNone/>
            </a:pPr>
            <a:r>
              <a:rPr lang="en-US" sz="1300" dirty="0">
                <a:solidFill>
                  <a:srgbClr val="C792EA"/>
                </a:solidFill>
                <a:latin typeface="Consolas" pitchFamily="34" charset="0"/>
                <a:ea typeface="Consolas" pitchFamily="34" charset="-122"/>
                <a:cs typeface="Consolas" pitchFamily="34" charset="-120"/>
              </a:rPr>
              <a:t>class</a:t>
            </a: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FCB6B"/>
                </a:solidFill>
                <a:latin typeface="Consolas" pitchFamily="34" charset="0"/>
                <a:ea typeface="Consolas" pitchFamily="34" charset="-122"/>
                <a:cs typeface="Consolas" pitchFamily="34" charset="-120"/>
              </a:rPr>
              <a:t>Keranjang</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C792EA"/>
                </a:solidFill>
                <a:latin typeface="Consolas" pitchFamily="34" charset="0"/>
                <a:ea typeface="Consolas" pitchFamily="34" charset="-122"/>
                <a:cs typeface="Consolas" pitchFamily="34" charset="-120"/>
              </a:rPr>
              <a:t>extends</a:t>
            </a: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FCB6B"/>
                </a:solidFill>
                <a:latin typeface="Consolas" pitchFamily="34" charset="0"/>
                <a:ea typeface="Consolas" pitchFamily="34" charset="-122"/>
                <a:cs typeface="Consolas" pitchFamily="34" charset="-120"/>
              </a:rPr>
              <a:t>ChangeNotifier</a:t>
            </a:r>
            <a:endParaRPr lang="en-US" sz="1300" dirty="0"/>
          </a:p>
        </p:txBody>
      </p:sp>
      <p:sp>
        <p:nvSpPr>
          <p:cNvPr id="11" name="kartu 2"/>
          <p:cNvSpPr/>
          <p:nvPr/>
        </p:nvSpPr>
        <p:spPr>
          <a:xfrm>
            <a:off x="4353458" y="2011680"/>
            <a:ext cx="3484778" cy="3291840"/>
          </a:xfrm>
          <a:prstGeom prst="roundRect">
            <a:avLst>
              <a:gd name="adj" fmla="val 3333"/>
            </a:avLst>
          </a:prstGeom>
          <a:solidFill>
            <a:schemeClr val="bg2"/>
          </a:solidFill>
          <a:ln/>
        </p:spPr>
      </p:sp>
      <p:sp>
        <p:nvSpPr>
          <p:cNvPr id="12" name="lingkaran pengeras"/>
          <p:cNvSpPr/>
          <p:nvPr/>
        </p:nvSpPr>
        <p:spPr>
          <a:xfrm>
            <a:off x="4582058" y="2240280"/>
            <a:ext cx="685800" cy="685800"/>
          </a:xfrm>
          <a:prstGeom prst="ellipse">
            <a:avLst/>
          </a:prstGeom>
          <a:solidFill>
            <a:schemeClr val="accent1"/>
          </a:solidFill>
          <a:ln/>
        </p:spPr>
      </p:sp>
      <p:pic>
        <p:nvPicPr>
          <p:cNvPr id="13" name="Image 1" descr="pengeras">    </p:cNvPr>
          <p:cNvPicPr>
            <a:picLocks noChangeAspect="1"/>
          </p:cNvPicPr>
          <p:nvPr/>
        </p:nvPicPr>
        <p:blipFill>
          <a:blip r:embed="rId2"/>
          <a:stretch>
            <a:fillRect/>
          </a:stretch>
        </p:blipFill>
        <p:spPr>
          <a:xfrm>
            <a:off x="4732934" y="2391156"/>
            <a:ext cx="384048" cy="384048"/>
          </a:xfrm>
          <a:prstGeom prst="rect">
            <a:avLst/>
          </a:prstGeom>
        </p:spPr>
      </p:pic>
      <p:sp>
        <p:nvSpPr>
          <p:cNvPr id="14" name="Text 9"/>
          <p:cNvSpPr txBox="1"/>
          <p:nvPr/>
        </p:nvSpPr>
        <p:spPr>
          <a:xfrm>
            <a:off x="5405018" y="2212848"/>
            <a:ext cx="2250338" cy="731520"/>
          </a:xfrm>
          <a:prstGeom prst="rect">
            <a:avLst/>
          </a:prstGeom>
          <a:noFill/>
          <a:ln/>
        </p:spPr>
        <p:txBody>
          <a:bodyPr wrap="square" lIns="0" tIns="0" rIns="0" bIns="0" rtlCol="0" anchor="ctr"/>
          <a:lstStyle/>
          <a:p>
            <a:pPr indent="0" marL="0">
              <a:buNone/>
            </a:pPr>
            <a:r>
              <a:rPr lang="en-US" sz="1800" b="1" dirty="0">
                <a:solidFill>
                  <a:schemeClr val="tx2"/>
                </a:solidFill>
              </a:rPr>
              <a:t>Mengumumkan perubahan</a:t>
            </a:r>
            <a:endParaRPr lang="en-US" sz="1800" dirty="0"/>
          </a:p>
        </p:txBody>
      </p:sp>
      <p:sp>
        <p:nvSpPr>
          <p:cNvPr id="15" name="Text 10"/>
          <p:cNvSpPr txBox="1"/>
          <p:nvPr/>
        </p:nvSpPr>
        <p:spPr>
          <a:xfrm>
            <a:off x="4582058" y="3063240"/>
            <a:ext cx="3027578" cy="1572768"/>
          </a:xfrm>
          <a:prstGeom prst="rect">
            <a:avLst/>
          </a:prstGeom>
          <a:noFill/>
          <a:ln/>
        </p:spPr>
        <p:txBody>
          <a:bodyPr wrap="square" lIns="0" tIns="0" rIns="0" bIns="0" rtlCol="0" anchor="t"/>
          <a:lstStyle/>
          <a:p>
            <a:pPr indent="0" marL="0">
              <a:buNone/>
            </a:pPr>
            <a:r>
              <a:rPr lang="en-US" sz="1500" dirty="0">
                <a:solidFill>
                  <a:schemeClr val="tx1"/>
                </a:solidFill>
              </a:rPr>
              <a:t>Memberi tahu semua yang mendengarkan bahwa datanya berubah. (Bagian 3–5)</a:t>
            </a:r>
            <a:endParaRPr lang="en-US" sz="1500" dirty="0"/>
          </a:p>
        </p:txBody>
      </p:sp>
      <p:sp>
        <p:nvSpPr>
          <p:cNvPr id="16" name="kotak kode"/>
          <p:cNvSpPr txBox="1"/>
          <p:nvPr/>
        </p:nvSpPr>
        <p:spPr>
          <a:xfrm>
            <a:off x="4536338" y="4590288"/>
            <a:ext cx="3119018" cy="530352"/>
          </a:xfrm>
          <a:prstGeom prst="roundRect">
            <a:avLst>
              <a:gd name="adj" fmla="val 17241"/>
            </a:avLst>
          </a:prstGeom>
          <a:solidFill>
            <a:srgbClr val="0E1A2B"/>
          </a:solidFill>
          <a:ln/>
        </p:spPr>
        <p:txBody>
          <a:bodyPr wrap="square" lIns="177800" tIns="152400" rIns="152400" bIns="177800" rtlCol="0" anchor="t"/>
          <a:lstStyle/>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notifyListeners();</a:t>
            </a:r>
            <a:endParaRPr lang="en-US" sz="1300" dirty="0"/>
          </a:p>
        </p:txBody>
      </p:sp>
      <p:sp>
        <p:nvSpPr>
          <p:cNvPr id="17" name="kartu 3"/>
          <p:cNvSpPr/>
          <p:nvPr/>
        </p:nvSpPr>
        <p:spPr>
          <a:xfrm>
            <a:off x="8158277" y="2011680"/>
            <a:ext cx="3484778" cy="3291840"/>
          </a:xfrm>
          <a:prstGeom prst="roundRect">
            <a:avLst>
              <a:gd name="adj" fmla="val 3333"/>
            </a:avLst>
          </a:prstGeom>
          <a:solidFill>
            <a:schemeClr val="bg2"/>
          </a:solidFill>
          <a:ln/>
        </p:spPr>
      </p:sp>
      <p:sp>
        <p:nvSpPr>
          <p:cNvPr id="18" name="lingkaran gedung"/>
          <p:cNvSpPr/>
          <p:nvPr/>
        </p:nvSpPr>
        <p:spPr>
          <a:xfrm>
            <a:off x="8386877" y="2240280"/>
            <a:ext cx="685800" cy="685800"/>
          </a:xfrm>
          <a:prstGeom prst="ellipse">
            <a:avLst/>
          </a:prstGeom>
          <a:solidFill>
            <a:schemeClr val="accent1"/>
          </a:solidFill>
          <a:ln/>
        </p:spPr>
      </p:sp>
      <p:pic>
        <p:nvPicPr>
          <p:cNvPr id="19" name="Image 2" descr="gedung">    </p:cNvPr>
          <p:cNvPicPr>
            <a:picLocks noChangeAspect="1"/>
          </p:cNvPicPr>
          <p:nvPr/>
        </p:nvPicPr>
        <p:blipFill>
          <a:blip r:embed="rId3"/>
          <a:stretch>
            <a:fillRect/>
          </a:stretch>
        </p:blipFill>
        <p:spPr>
          <a:xfrm>
            <a:off x="8537753" y="2391156"/>
            <a:ext cx="384048" cy="384048"/>
          </a:xfrm>
          <a:prstGeom prst="rect">
            <a:avLst/>
          </a:prstGeom>
        </p:spPr>
      </p:pic>
      <p:sp>
        <p:nvSpPr>
          <p:cNvPr id="20" name="Text 14"/>
          <p:cNvSpPr txBox="1"/>
          <p:nvPr/>
        </p:nvSpPr>
        <p:spPr>
          <a:xfrm>
            <a:off x="9209837" y="2212848"/>
            <a:ext cx="2250338" cy="731520"/>
          </a:xfrm>
          <a:prstGeom prst="rect">
            <a:avLst/>
          </a:prstGeom>
          <a:noFill/>
          <a:ln/>
        </p:spPr>
        <p:txBody>
          <a:bodyPr wrap="square" lIns="0" tIns="0" rIns="0" bIns="0" rtlCol="0" anchor="ctr"/>
          <a:lstStyle/>
          <a:p>
            <a:pPr indent="0" marL="0">
              <a:buNone/>
            </a:pPr>
            <a:r>
              <a:rPr lang="en-US" sz="1800" b="1" dirty="0">
                <a:solidFill>
                  <a:schemeClr val="tx2"/>
                </a:solidFill>
              </a:rPr>
              <a:t>Bisa diambil di mana saja</a:t>
            </a:r>
            <a:endParaRPr lang="en-US" sz="1800" dirty="0"/>
          </a:p>
        </p:txBody>
      </p:sp>
      <p:sp>
        <p:nvSpPr>
          <p:cNvPr id="21" name="Text 15"/>
          <p:cNvSpPr txBox="1"/>
          <p:nvPr/>
        </p:nvSpPr>
        <p:spPr>
          <a:xfrm>
            <a:off x="8386877" y="3063240"/>
            <a:ext cx="3027578" cy="1572768"/>
          </a:xfrm>
          <a:prstGeom prst="rect">
            <a:avLst/>
          </a:prstGeom>
          <a:noFill/>
          <a:ln/>
        </p:spPr>
        <p:txBody>
          <a:bodyPr wrap="square" lIns="0" tIns="0" rIns="0" bIns="0" rtlCol="0" anchor="t"/>
          <a:lstStyle/>
          <a:p>
            <a:pPr indent="0" marL="0">
              <a:buNone/>
            </a:pPr>
            <a:r>
              <a:rPr lang="en-US" sz="1500" dirty="0">
                <a:solidFill>
                  <a:schemeClr val="tx1"/>
                </a:solidFill>
              </a:rPr>
              <a:t>Widget mana pun, di halaman mana pun, mengambilnya sendiri. (Bagian 6–8)</a:t>
            </a:r>
            <a:endParaRPr lang="en-US" sz="1500" dirty="0"/>
          </a:p>
        </p:txBody>
      </p:sp>
      <p:sp>
        <p:nvSpPr>
          <p:cNvPr id="22" name="kotak kode"/>
          <p:cNvSpPr txBox="1"/>
          <p:nvPr/>
        </p:nvSpPr>
        <p:spPr>
          <a:xfrm>
            <a:off x="8341157" y="4590288"/>
            <a:ext cx="3119018" cy="530352"/>
          </a:xfrm>
          <a:prstGeom prst="roundRect">
            <a:avLst>
              <a:gd name="adj" fmla="val 17241"/>
            </a:avLst>
          </a:prstGeom>
          <a:solidFill>
            <a:srgbClr val="0E1A2B"/>
          </a:solidFill>
          <a:ln/>
        </p:spPr>
        <p:txBody>
          <a:bodyPr wrap="square" lIns="177800" tIns="152400" rIns="152400" bIns="177800" rtlCol="0" anchor="t"/>
          <a:lstStyle/>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context.watch&lt;</a:t>
            </a:r>
            <a:r>
              <a:rPr lang="en-US" sz="1300" dirty="0">
                <a:solidFill>
                  <a:srgbClr val="FFCB6B"/>
                </a:solidFill>
                <a:latin typeface="Consolas" pitchFamily="34" charset="0"/>
                <a:ea typeface="Consolas" pitchFamily="34" charset="-122"/>
                <a:cs typeface="Consolas" pitchFamily="34" charset="-120"/>
              </a:rPr>
              <a:t>Keranjang</a:t>
            </a:r>
            <a:r>
              <a:rPr lang="en-US" sz="1300" dirty="0">
                <a:solidFill>
                  <a:srgbClr val="E6EDF3"/>
                </a:solidFill>
                <a:latin typeface="Consolas" pitchFamily="34" charset="0"/>
                <a:ea typeface="Consolas" pitchFamily="34" charset="-122"/>
                <a:cs typeface="Consolas" pitchFamily="34" charset="-120"/>
              </a:rPr>
              <a:t>&gt;()</a:t>
            </a:r>
            <a:endParaRPr lang="en-US" sz="13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1"/>
          <p:cNvSpPr/>
          <p:nvPr>
            <p:ph idx="101" type="body" hasCustomPrompt="1"/>
          </p:nvPr>
        </p:nvSpPr>
        <p:spPr>
          <a:xfrm>
            <a:off x="3840480" y="2103120"/>
            <a:ext cx="7680960" cy="457200"/>
          </a:xfrm>
          <a:prstGeom prst="rect">
            <a:avLst/>
          </a:prstGeom>
          <a:noFill/>
          <a:ln/>
        </p:spPr>
        <p:txBody>
          <a:bodyPr wrap="square" lIns="0" tIns="0" rIns="0" bIns="0" rtlCol="0"/>
          <a:lstStyle/>
          <a:p>
            <a:pPr indent="0" marL="0">
              <a:buNone/>
            </a:pPr>
            <a:r>
              <a:rPr lang="en-US" sz="1800" b="1" spc="200" kern="0" dirty="0">
                <a:solidFill>
                  <a:schemeClr val="accent2"/>
                </a:solidFill>
              </a:rPr>
              <a:t>BAGIAN 2</a:t>
            </a:r>
            <a:endParaRPr lang="en-US" sz="1800" dirty="0"/>
          </a:p>
        </p:txBody>
      </p:sp>
      <p:sp>
        <p:nvSpPr>
          <p:cNvPr id="4" name="Text 1"/>
          <p:cNvSpPr/>
          <p:nvPr>
            <p:ph idx="102" type="title" hasCustomPrompt="1"/>
          </p:nvPr>
        </p:nvSpPr>
        <p:spPr>
          <a:xfrm>
            <a:off x="3840480" y="2606040"/>
            <a:ext cx="7680960" cy="1737360"/>
          </a:xfrm>
          <a:prstGeom prst="rect">
            <a:avLst/>
          </a:prstGeom>
          <a:noFill/>
          <a:ln/>
        </p:spPr>
        <p:txBody>
          <a:bodyPr wrap="square" lIns="0" tIns="0" rIns="0" bIns="0" rtlCol="0" anchor="t"/>
          <a:lstStyle/>
          <a:p>
            <a:pPr algn="l" indent="0" marL="0">
              <a:buNone/>
            </a:pPr>
            <a:r>
              <a:rPr lang="en-US" sz="4000" b="1" dirty="0">
                <a:solidFill>
                  <a:schemeClr val="bg1"/>
                </a:solidFill>
              </a:rPr>
              <a:t>ChangeNotifier, ListenableBuilder, dan ValueNotifier</a:t>
            </a:r>
            <a:endParaRPr lang="en-US" sz="4000" dirty="0"/>
          </a:p>
        </p:txBody>
      </p:sp>
      <p:sp>
        <p:nvSpPr>
          <p:cNvPr id="5" name="lingkaran pengeras"/>
          <p:cNvSpPr/>
          <p:nvPr/>
        </p:nvSpPr>
        <p:spPr>
          <a:xfrm>
            <a:off x="1097280" y="2148840"/>
            <a:ext cx="2011680" cy="2011680"/>
          </a:xfrm>
          <a:prstGeom prst="ellipse">
            <a:avLst/>
          </a:prstGeom>
          <a:solidFill>
            <a:schemeClr val="accent1"/>
          </a:solidFill>
          <a:ln/>
        </p:spPr>
      </p:sp>
      <p:pic>
        <p:nvPicPr>
          <p:cNvPr id="6" name="Image 0" descr="pengeras">    </p:cNvPr>
          <p:cNvPicPr>
            <a:picLocks noChangeAspect="1"/>
          </p:cNvPicPr>
          <p:nvPr/>
        </p:nvPicPr>
        <p:blipFill>
          <a:blip r:embed="rId1"/>
          <a:stretch>
            <a:fillRect/>
          </a:stretch>
        </p:blipFill>
        <p:spPr>
          <a:xfrm>
            <a:off x="1539850" y="2591410"/>
            <a:ext cx="1126541" cy="1126541"/>
          </a:xfrm>
          <a:prstGeom prst="rect">
            <a:avLst/>
          </a:prstGeom>
        </p:spPr>
      </p:pic>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Analogi: Petugas Antrean dengan Pengeras Suara</a:t>
            </a:r>
            <a:endParaRPr lang="en-US" sz="3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5738491"/>
                <a:gridCol w="5355925"/>
              </a:tblGrid>
              <a:tr h="86868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Di ruang layanan akademik</a:t>
                      </a:r>
                      <a:endParaRPr lang="en-US" sz="18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Di Flutter</a:t>
                      </a:r>
                      <a:endParaRPr lang="en-US" sz="18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868680">
                <a:tc>
                  <a:txBody>
                    <a:bodyPr/>
                    <a:lstStyle/>
                    <a:p>
                      <a:pPr indent="0" marL="0">
                        <a:buNone/>
                      </a:pPr>
                      <a:r>
                        <a:rPr lang="en-US" sz="1800" dirty="0">
                          <a:solidFill>
                            <a:srgbClr val="1B2333"/>
                          </a:solidFill>
                          <a:latin typeface="Calibri" pitchFamily="34" charset="0"/>
                          <a:ea typeface="Calibri" pitchFamily="34" charset="-122"/>
                          <a:cs typeface="Calibri" pitchFamily="34" charset="-120"/>
                        </a:rPr>
                        <a:t>Petugas yang memegang daftar antrean</a:t>
                      </a:r>
                      <a:endParaRPr lang="en-US" sz="18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800" dirty="0">
                          <a:solidFill>
                            <a:srgbClr val="1B2333"/>
                          </a:solidFill>
                          <a:latin typeface="Consolas" pitchFamily="34" charset="0"/>
                          <a:ea typeface="Consolas" pitchFamily="34" charset="-122"/>
                          <a:cs typeface="Consolas" pitchFamily="34" charset="-120"/>
                        </a:rPr>
                        <a:t>Objek turunan ChangeNotifier</a:t>
                      </a:r>
                      <a:endParaRPr lang="en-US" sz="18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868680">
                <a:tc>
                  <a:txBody>
                    <a:bodyPr/>
                    <a:lstStyle/>
                    <a:p>
                      <a:pPr indent="0" marL="0">
                        <a:buNone/>
                      </a:pPr>
                      <a:r>
                        <a:rPr lang="en-US" sz="1800" dirty="0">
                          <a:solidFill>
                            <a:srgbClr val="1B2333"/>
                          </a:solidFill>
                          <a:latin typeface="Calibri" pitchFamily="34" charset="0"/>
                          <a:ea typeface="Calibri" pitchFamily="34" charset="-122"/>
                          <a:cs typeface="Calibri" pitchFamily="34" charset="-120"/>
                        </a:rPr>
                        <a:t>Mengumumkan lewat pengeras suara</a:t>
                      </a:r>
                      <a:endParaRPr lang="en-US" sz="18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800" dirty="0">
                          <a:solidFill>
                            <a:srgbClr val="1B2333"/>
                          </a:solidFill>
                          <a:latin typeface="Consolas" pitchFamily="34" charset="0"/>
                          <a:ea typeface="Consolas" pitchFamily="34" charset="-122"/>
                          <a:cs typeface="Consolas" pitchFamily="34" charset="-120"/>
                        </a:rPr>
                        <a:t>notifyListeners()</a:t>
                      </a:r>
                      <a:endParaRPr lang="en-US" sz="18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868680">
                <a:tc>
                  <a:txBody>
                    <a:bodyPr/>
                    <a:lstStyle/>
                    <a:p>
                      <a:pPr indent="0" marL="0">
                        <a:buNone/>
                      </a:pPr>
                      <a:r>
                        <a:rPr lang="en-US" sz="1800" dirty="0">
                          <a:solidFill>
                            <a:srgbClr val="1B2333"/>
                          </a:solidFill>
                          <a:latin typeface="Calibri" pitchFamily="34" charset="0"/>
                          <a:ea typeface="Calibri" pitchFamily="34" charset="-122"/>
                          <a:cs typeface="Calibri" pitchFamily="34" charset="-120"/>
                        </a:rPr>
                        <a:t>Papan nomor, mahasiswa, petugas loket yang mendengarkan</a:t>
                      </a:r>
                      <a:endParaRPr lang="en-US" sz="18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800" dirty="0">
                          <a:solidFill>
                            <a:srgbClr val="1B2333"/>
                          </a:solidFill>
                          <a:latin typeface="Calibri" pitchFamily="34" charset="0"/>
                          <a:ea typeface="Calibri" pitchFamily="34" charset="-122"/>
                          <a:cs typeface="Calibri" pitchFamily="34" charset="-120"/>
                        </a:rPr>
                        <a:t>Widget pendengar (listener)</a:t>
                      </a:r>
                      <a:endParaRPr lang="en-US" sz="18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bl>
          </a:graphicData>
        </a:graphic>
      </p:graphicFrame>
      <p:sp>
        <p:nvSpPr>
          <p:cNvPr id="5" name="lingkaran lampu"/>
          <p:cNvSpPr/>
          <p:nvPr/>
        </p:nvSpPr>
        <p:spPr>
          <a:xfrm>
            <a:off x="548640" y="5486400"/>
            <a:ext cx="502920" cy="502920"/>
          </a:xfrm>
          <a:prstGeom prst="ellipse">
            <a:avLst/>
          </a:prstGeom>
          <a:solidFill>
            <a:schemeClr val="accent3"/>
          </a:solidFill>
          <a:ln/>
        </p:spPr>
      </p:sp>
      <p:pic>
        <p:nvPicPr>
          <p:cNvPr id="6" name="Image 0" descr="lampu">    </p:cNvPr>
          <p:cNvPicPr>
            <a:picLocks noChangeAspect="1"/>
          </p:cNvPicPr>
          <p:nvPr/>
        </p:nvPicPr>
        <p:blipFill>
          <a:blip r:embed="rId1"/>
          <a:stretch>
            <a:fillRect/>
          </a:stretch>
        </p:blipFill>
        <p:spPr>
          <a:xfrm>
            <a:off x="659282" y="5597042"/>
            <a:ext cx="281635" cy="281635"/>
          </a:xfrm>
          <a:prstGeom prst="rect">
            <a:avLst/>
          </a:prstGeom>
        </p:spPr>
      </p:pic>
      <p:sp>
        <p:nvSpPr>
          <p:cNvPr id="7" name="Text 2"/>
          <p:cNvSpPr txBox="1"/>
          <p:nvPr/>
        </p:nvSpPr>
        <p:spPr>
          <a:xfrm>
            <a:off x="1234440" y="5394960"/>
            <a:ext cx="10408615" cy="685800"/>
          </a:xfrm>
          <a:prstGeom prst="rect">
            <a:avLst/>
          </a:prstGeom>
          <a:noFill/>
          <a:ln/>
        </p:spPr>
        <p:txBody>
          <a:bodyPr wrap="square" lIns="0" tIns="0" rIns="0" bIns="0" rtlCol="0" anchor="ctr"/>
          <a:lstStyle/>
          <a:p>
            <a:pPr indent="0" marL="0">
              <a:buNone/>
            </a:pPr>
            <a:r>
              <a:rPr lang="en-US" sz="1600" dirty="0">
                <a:solidFill>
                  <a:schemeClr val="tx1"/>
                </a:solidFill>
              </a:rPr>
              <a:t>Tidak ada yang perlu bertanya terus-menerus "nomor berapa sekarang?". Cukup mendengarkan pengumuman.</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Anatomi Sebuah ChangeNotifier</a:t>
            </a:r>
            <a:endParaRPr lang="en-US" sz="3200" dirty="0"/>
          </a:p>
        </p:txBody>
      </p:sp>
      <p:sp>
        <p:nvSpPr>
          <p:cNvPr id="4" name="kotak kode"/>
          <p:cNvSpPr txBox="1"/>
          <p:nvPr/>
        </p:nvSpPr>
        <p:spPr>
          <a:xfrm>
            <a:off x="548640" y="1371600"/>
            <a:ext cx="6400800" cy="3531870"/>
          </a:xfrm>
          <a:prstGeom prst="roundRect">
            <a:avLst>
              <a:gd name="adj" fmla="val 2589"/>
            </a:avLst>
          </a:prstGeom>
          <a:solidFill>
            <a:srgbClr val="0E1A2B"/>
          </a:solidFill>
          <a:ln/>
        </p:spPr>
        <p:txBody>
          <a:bodyPr wrap="square" lIns="177800" tIns="152400" rIns="152400" bIns="177800" rtlCol="0" anchor="t"/>
          <a:lstStyle/>
          <a:p>
            <a:pPr indent="0" marL="0">
              <a:lnSpc>
                <a:spcPct val="105000"/>
              </a:lnSpc>
              <a:buNone/>
            </a:pPr>
            <a:r>
              <a:rPr lang="en-US" sz="1500" dirty="0">
                <a:solidFill>
                  <a:srgbClr val="C792EA"/>
                </a:solidFill>
                <a:latin typeface="Consolas" pitchFamily="34" charset="0"/>
                <a:ea typeface="Consolas" pitchFamily="34" charset="-122"/>
                <a:cs typeface="Consolas" pitchFamily="34" charset="-120"/>
              </a:rPr>
              <a:t>class</a:t>
            </a:r>
            <a:r>
              <a:rPr lang="en-US" sz="1500" dirty="0">
                <a:solidFill>
                  <a:srgbClr val="E6EDF3"/>
                </a:solidFill>
                <a:latin typeface="Consolas" pitchFamily="34" charset="0"/>
                <a:ea typeface="Consolas" pitchFamily="34" charset="-122"/>
                <a:cs typeface="Consolas" pitchFamily="34" charset="-120"/>
              </a:rPr>
              <a:t> </a:t>
            </a:r>
            <a:r>
              <a:rPr lang="en-US" sz="1500" dirty="0">
                <a:solidFill>
                  <a:srgbClr val="FFCB6B"/>
                </a:solidFill>
                <a:latin typeface="Consolas" pitchFamily="34" charset="0"/>
                <a:ea typeface="Consolas" pitchFamily="34" charset="-122"/>
                <a:cs typeface="Consolas" pitchFamily="34" charset="-120"/>
              </a:rPr>
              <a:t>AntreanLayanan</a:t>
            </a:r>
            <a:r>
              <a:rPr lang="en-US" sz="1500" dirty="0">
                <a:solidFill>
                  <a:srgbClr val="E6EDF3"/>
                </a:solidFill>
                <a:latin typeface="Consolas" pitchFamily="34" charset="0"/>
                <a:ea typeface="Consolas" pitchFamily="34" charset="-122"/>
                <a:cs typeface="Consolas" pitchFamily="34" charset="-120"/>
              </a:rPr>
              <a:t> </a:t>
            </a:r>
            <a:r>
              <a:rPr lang="en-US" sz="1500" dirty="0">
                <a:solidFill>
                  <a:srgbClr val="C792EA"/>
                </a:solidFill>
                <a:latin typeface="Consolas" pitchFamily="34" charset="0"/>
                <a:ea typeface="Consolas" pitchFamily="34" charset="-122"/>
                <a:cs typeface="Consolas" pitchFamily="34" charset="-120"/>
              </a:rPr>
              <a:t>extends</a:t>
            </a:r>
            <a:r>
              <a:rPr lang="en-US" sz="1500" dirty="0">
                <a:solidFill>
                  <a:srgbClr val="E6EDF3"/>
                </a:solidFill>
                <a:latin typeface="Consolas" pitchFamily="34" charset="0"/>
                <a:ea typeface="Consolas" pitchFamily="34" charset="-122"/>
                <a:cs typeface="Consolas" pitchFamily="34" charset="-120"/>
              </a:rPr>
              <a:t> </a:t>
            </a:r>
            <a:r>
              <a:rPr lang="en-US" sz="1500" dirty="0">
                <a:solidFill>
                  <a:srgbClr val="FFCB6B"/>
                </a:solidFill>
                <a:latin typeface="Consolas" pitchFamily="34" charset="0"/>
                <a:ea typeface="Consolas" pitchFamily="34" charset="-122"/>
                <a:cs typeface="Consolas" pitchFamily="34" charset="-120"/>
              </a:rPr>
              <a:t>ChangeNotifier</a:t>
            </a:r>
            <a:r>
              <a:rPr lang="en-US" sz="1500" dirty="0">
                <a:solidFill>
                  <a:srgbClr val="E6EDF3"/>
                </a:solidFill>
                <a:latin typeface="Consolas" pitchFamily="34" charset="0"/>
                <a:ea typeface="Consolas" pitchFamily="34" charset="-122"/>
                <a:cs typeface="Consolas" pitchFamily="34" charset="-120"/>
              </a:rPr>
              <a:t> { </a:t>
            </a:r>
            <a:r>
              <a:rPr lang="en-US" sz="1500" i="1" dirty="0">
                <a:solidFill>
                  <a:srgbClr val="8FA3BC"/>
                </a:solidFill>
                <a:latin typeface="Consolas" pitchFamily="34" charset="0"/>
                <a:ea typeface="Consolas" pitchFamily="34" charset="-122"/>
                <a:cs typeface="Consolas" pitchFamily="34" charset="-120"/>
              </a:rPr>
              <a:t>// 1</a:t>
            </a:r>
            <a:endParaRPr lang="en-US" sz="1500" dirty="0"/>
          </a:p>
          <a:p>
            <a:pPr indent="0" marL="0">
              <a:lnSpc>
                <a:spcPct val="105000"/>
              </a:lnSpc>
              <a:buNone/>
            </a:pPr>
            <a:r>
              <a:rPr lang="en-US" sz="1500" dirty="0">
                <a:solidFill>
                  <a:srgbClr val="E6EDF3"/>
                </a:solidFill>
                <a:latin typeface="Consolas" pitchFamily="34" charset="0"/>
                <a:ea typeface="Consolas" pitchFamily="34" charset="-122"/>
                <a:cs typeface="Consolas" pitchFamily="34" charset="-120"/>
              </a:rPr>
              <a:t>  </a:t>
            </a:r>
            <a:r>
              <a:rPr lang="en-US" sz="1500" dirty="0">
                <a:solidFill>
                  <a:srgbClr val="FFCB6B"/>
                </a:solidFill>
                <a:latin typeface="Consolas" pitchFamily="34" charset="0"/>
                <a:ea typeface="Consolas" pitchFamily="34" charset="-122"/>
                <a:cs typeface="Consolas" pitchFamily="34" charset="-120"/>
              </a:rPr>
              <a:t>int</a:t>
            </a:r>
            <a:r>
              <a:rPr lang="en-US" sz="1500" dirty="0">
                <a:solidFill>
                  <a:srgbClr val="E6EDF3"/>
                </a:solidFill>
                <a:latin typeface="Consolas" pitchFamily="34" charset="0"/>
                <a:ea typeface="Consolas" pitchFamily="34" charset="-122"/>
                <a:cs typeface="Consolas" pitchFamily="34" charset="-120"/>
              </a:rPr>
              <a:t> _nomorTerakhir = </a:t>
            </a:r>
            <a:r>
              <a:rPr lang="en-US" sz="1500" dirty="0">
                <a:solidFill>
                  <a:srgbClr val="F78C6C"/>
                </a:solidFill>
                <a:latin typeface="Consolas" pitchFamily="34" charset="0"/>
                <a:ea typeface="Consolas" pitchFamily="34" charset="-122"/>
                <a:cs typeface="Consolas" pitchFamily="34" charset="-120"/>
              </a:rPr>
              <a:t>0</a:t>
            </a:r>
            <a:r>
              <a:rPr lang="en-US" sz="1500" dirty="0">
                <a:solidFill>
                  <a:srgbClr val="E6EDF3"/>
                </a:solidFill>
                <a:latin typeface="Consolas" pitchFamily="34" charset="0"/>
                <a:ea typeface="Consolas" pitchFamily="34" charset="-122"/>
                <a:cs typeface="Consolas" pitchFamily="34" charset="-120"/>
              </a:rPr>
              <a:t>; </a:t>
            </a:r>
            <a:r>
              <a:rPr lang="en-US" sz="1500" i="1" dirty="0">
                <a:solidFill>
                  <a:srgbClr val="8FA3BC"/>
                </a:solidFill>
                <a:latin typeface="Consolas" pitchFamily="34" charset="0"/>
                <a:ea typeface="Consolas" pitchFamily="34" charset="-122"/>
                <a:cs typeface="Consolas" pitchFamily="34" charset="-120"/>
              </a:rPr>
              <a:t>// 2</a:t>
            </a:r>
            <a:endParaRPr lang="en-US" sz="1500" dirty="0"/>
          </a:p>
          <a:p>
            <a:pPr indent="0" marL="0">
              <a:lnSpc>
                <a:spcPct val="105000"/>
              </a:lnSpc>
              <a:buNone/>
            </a:pPr>
            <a:r>
              <a:rPr lang="en-US" sz="1500" dirty="0">
                <a:solidFill>
                  <a:srgbClr val="E6EDF3"/>
                </a:solidFill>
                <a:latin typeface="Consolas" pitchFamily="34" charset="0"/>
                <a:ea typeface="Consolas" pitchFamily="34" charset="-122"/>
                <a:cs typeface="Consolas" pitchFamily="34" charset="-120"/>
              </a:rPr>
              <a:t>  </a:t>
            </a:r>
            <a:r>
              <a:rPr lang="en-US" sz="1500" dirty="0">
                <a:solidFill>
                  <a:srgbClr val="FFCB6B"/>
                </a:solidFill>
                <a:latin typeface="Consolas" pitchFamily="34" charset="0"/>
                <a:ea typeface="Consolas" pitchFamily="34" charset="-122"/>
                <a:cs typeface="Consolas" pitchFamily="34" charset="-120"/>
              </a:rPr>
              <a:t>int</a:t>
            </a:r>
            <a:r>
              <a:rPr lang="en-US" sz="1500" dirty="0">
                <a:solidFill>
                  <a:srgbClr val="E6EDF3"/>
                </a:solidFill>
                <a:latin typeface="Consolas" pitchFamily="34" charset="0"/>
                <a:ea typeface="Consolas" pitchFamily="34" charset="-122"/>
                <a:cs typeface="Consolas" pitchFamily="34" charset="-120"/>
              </a:rPr>
              <a:t> _dipanggil = </a:t>
            </a:r>
            <a:r>
              <a:rPr lang="en-US" sz="1500" dirty="0">
                <a:solidFill>
                  <a:srgbClr val="F78C6C"/>
                </a:solidFill>
                <a:latin typeface="Consolas" pitchFamily="34" charset="0"/>
                <a:ea typeface="Consolas" pitchFamily="34" charset="-122"/>
                <a:cs typeface="Consolas" pitchFamily="34" charset="-120"/>
              </a:rPr>
              <a:t>0</a:t>
            </a:r>
            <a:r>
              <a:rPr lang="en-US" sz="1500" dirty="0">
                <a:solidFill>
                  <a:srgbClr val="E6EDF3"/>
                </a:solidFill>
                <a:latin typeface="Consolas" pitchFamily="34" charset="0"/>
                <a:ea typeface="Consolas" pitchFamily="34" charset="-122"/>
                <a:cs typeface="Consolas" pitchFamily="34" charset="-120"/>
              </a:rPr>
              <a:t>;</a:t>
            </a:r>
            <a:endParaRPr lang="en-US" sz="1500" dirty="0"/>
          </a:p>
          <a:p>
            <a:pPr indent="0" marL="0">
              <a:lnSpc>
                <a:spcPct val="105000"/>
              </a:lnSpc>
              <a:buNone/>
            </a:pPr>
            <a:r>
              <a:rPr lang="en-US" sz="1500" dirty="0">
                <a:solidFill>
                  <a:srgbClr val="E6EDF3"/>
                </a:solidFill>
                <a:latin typeface="Consolas" pitchFamily="34" charset="0"/>
                <a:ea typeface="Consolas" pitchFamily="34" charset="-122"/>
                <a:cs typeface="Consolas" pitchFamily="34" charset="-120"/>
              </a:rPr>
              <a:t> </a:t>
            </a:r>
            <a:endParaRPr lang="en-US" sz="1500" dirty="0"/>
          </a:p>
          <a:p>
            <a:pPr indent="0" marL="0">
              <a:lnSpc>
                <a:spcPct val="105000"/>
              </a:lnSpc>
              <a:buNone/>
            </a:pPr>
            <a:r>
              <a:rPr lang="en-US" sz="1500" dirty="0">
                <a:solidFill>
                  <a:srgbClr val="E6EDF3"/>
                </a:solidFill>
                <a:latin typeface="Consolas" pitchFamily="34" charset="0"/>
                <a:ea typeface="Consolas" pitchFamily="34" charset="-122"/>
                <a:cs typeface="Consolas" pitchFamily="34" charset="-120"/>
              </a:rPr>
              <a:t>  </a:t>
            </a:r>
            <a:r>
              <a:rPr lang="en-US" sz="1500" dirty="0">
                <a:solidFill>
                  <a:srgbClr val="FFCB6B"/>
                </a:solidFill>
                <a:latin typeface="Consolas" pitchFamily="34" charset="0"/>
                <a:ea typeface="Consolas" pitchFamily="34" charset="-122"/>
                <a:cs typeface="Consolas" pitchFamily="34" charset="-120"/>
              </a:rPr>
              <a:t>int</a:t>
            </a:r>
            <a:r>
              <a:rPr lang="en-US" sz="1500" dirty="0">
                <a:solidFill>
                  <a:srgbClr val="E6EDF3"/>
                </a:solidFill>
                <a:latin typeface="Consolas" pitchFamily="34" charset="0"/>
                <a:ea typeface="Consolas" pitchFamily="34" charset="-122"/>
                <a:cs typeface="Consolas" pitchFamily="34" charset="-120"/>
              </a:rPr>
              <a:t> </a:t>
            </a:r>
            <a:r>
              <a:rPr lang="en-US" sz="1500" dirty="0">
                <a:solidFill>
                  <a:srgbClr val="C792EA"/>
                </a:solidFill>
                <a:latin typeface="Consolas" pitchFamily="34" charset="0"/>
                <a:ea typeface="Consolas" pitchFamily="34" charset="-122"/>
                <a:cs typeface="Consolas" pitchFamily="34" charset="-120"/>
              </a:rPr>
              <a:t>get</a:t>
            </a:r>
            <a:r>
              <a:rPr lang="en-US" sz="1500" dirty="0">
                <a:solidFill>
                  <a:srgbClr val="E6EDF3"/>
                </a:solidFill>
                <a:latin typeface="Consolas" pitchFamily="34" charset="0"/>
                <a:ea typeface="Consolas" pitchFamily="34" charset="-122"/>
                <a:cs typeface="Consolas" pitchFamily="34" charset="-120"/>
              </a:rPr>
              <a:t> dipanggil =&gt; _dipanggil; </a:t>
            </a:r>
            <a:r>
              <a:rPr lang="en-US" sz="1500" i="1" dirty="0">
                <a:solidFill>
                  <a:srgbClr val="8FA3BC"/>
                </a:solidFill>
                <a:latin typeface="Consolas" pitchFamily="34" charset="0"/>
                <a:ea typeface="Consolas" pitchFamily="34" charset="-122"/>
                <a:cs typeface="Consolas" pitchFamily="34" charset="-120"/>
              </a:rPr>
              <a:t>// 3</a:t>
            </a:r>
            <a:endParaRPr lang="en-US" sz="1500" dirty="0"/>
          </a:p>
          <a:p>
            <a:pPr indent="0" marL="0">
              <a:lnSpc>
                <a:spcPct val="105000"/>
              </a:lnSpc>
              <a:buNone/>
            </a:pPr>
            <a:r>
              <a:rPr lang="en-US" sz="1500" dirty="0">
                <a:solidFill>
                  <a:srgbClr val="E6EDF3"/>
                </a:solidFill>
                <a:latin typeface="Consolas" pitchFamily="34" charset="0"/>
                <a:ea typeface="Consolas" pitchFamily="34" charset="-122"/>
                <a:cs typeface="Consolas" pitchFamily="34" charset="-120"/>
              </a:rPr>
              <a:t>  </a:t>
            </a:r>
            <a:r>
              <a:rPr lang="en-US" sz="1500" dirty="0">
                <a:solidFill>
                  <a:srgbClr val="FFCB6B"/>
                </a:solidFill>
                <a:latin typeface="Consolas" pitchFamily="34" charset="0"/>
                <a:ea typeface="Consolas" pitchFamily="34" charset="-122"/>
                <a:cs typeface="Consolas" pitchFamily="34" charset="-120"/>
              </a:rPr>
              <a:t>int</a:t>
            </a:r>
            <a:r>
              <a:rPr lang="en-US" sz="1500" dirty="0">
                <a:solidFill>
                  <a:srgbClr val="E6EDF3"/>
                </a:solidFill>
                <a:latin typeface="Consolas" pitchFamily="34" charset="0"/>
                <a:ea typeface="Consolas" pitchFamily="34" charset="-122"/>
                <a:cs typeface="Consolas" pitchFamily="34" charset="-120"/>
              </a:rPr>
              <a:t> </a:t>
            </a:r>
            <a:r>
              <a:rPr lang="en-US" sz="1500" dirty="0">
                <a:solidFill>
                  <a:srgbClr val="C792EA"/>
                </a:solidFill>
                <a:latin typeface="Consolas" pitchFamily="34" charset="0"/>
                <a:ea typeface="Consolas" pitchFamily="34" charset="-122"/>
                <a:cs typeface="Consolas" pitchFamily="34" charset="-120"/>
              </a:rPr>
              <a:t>get</a:t>
            </a:r>
            <a:r>
              <a:rPr lang="en-US" sz="1500" dirty="0">
                <a:solidFill>
                  <a:srgbClr val="E6EDF3"/>
                </a:solidFill>
                <a:latin typeface="Consolas" pitchFamily="34" charset="0"/>
                <a:ea typeface="Consolas" pitchFamily="34" charset="-122"/>
                <a:cs typeface="Consolas" pitchFamily="34" charset="-120"/>
              </a:rPr>
              <a:t> menunggu =&gt;</a:t>
            </a:r>
            <a:endParaRPr lang="en-US" sz="1500" dirty="0"/>
          </a:p>
          <a:p>
            <a:pPr indent="0" marL="0">
              <a:lnSpc>
                <a:spcPct val="105000"/>
              </a:lnSpc>
              <a:buNone/>
            </a:pPr>
            <a:r>
              <a:rPr lang="en-US" sz="1500" dirty="0">
                <a:solidFill>
                  <a:srgbClr val="E6EDF3"/>
                </a:solidFill>
                <a:latin typeface="Consolas" pitchFamily="34" charset="0"/>
                <a:ea typeface="Consolas" pitchFamily="34" charset="-122"/>
                <a:cs typeface="Consolas" pitchFamily="34" charset="-120"/>
              </a:rPr>
              <a:t>      _nomorTerakhir - _dipanggil; </a:t>
            </a:r>
            <a:r>
              <a:rPr lang="en-US" sz="1500" i="1" dirty="0">
                <a:solidFill>
                  <a:srgbClr val="8FA3BC"/>
                </a:solidFill>
                <a:latin typeface="Consolas" pitchFamily="34" charset="0"/>
                <a:ea typeface="Consolas" pitchFamily="34" charset="-122"/>
                <a:cs typeface="Consolas" pitchFamily="34" charset="-120"/>
              </a:rPr>
              <a:t>// 4</a:t>
            </a:r>
            <a:endParaRPr lang="en-US" sz="1500" dirty="0"/>
          </a:p>
          <a:p>
            <a:pPr indent="0" marL="0">
              <a:lnSpc>
                <a:spcPct val="105000"/>
              </a:lnSpc>
              <a:buNone/>
            </a:pPr>
            <a:r>
              <a:rPr lang="en-US" sz="1500" dirty="0">
                <a:solidFill>
                  <a:srgbClr val="E6EDF3"/>
                </a:solidFill>
                <a:latin typeface="Consolas" pitchFamily="34" charset="0"/>
                <a:ea typeface="Consolas" pitchFamily="34" charset="-122"/>
                <a:cs typeface="Consolas" pitchFamily="34" charset="-120"/>
              </a:rPr>
              <a:t> </a:t>
            </a:r>
            <a:endParaRPr lang="en-US" sz="1500" dirty="0"/>
          </a:p>
          <a:p>
            <a:pPr indent="0" marL="0">
              <a:lnSpc>
                <a:spcPct val="105000"/>
              </a:lnSpc>
              <a:buNone/>
            </a:pPr>
            <a:r>
              <a:rPr lang="en-US" sz="1500" dirty="0">
                <a:solidFill>
                  <a:srgbClr val="E6EDF3"/>
                </a:solidFill>
                <a:latin typeface="Consolas" pitchFamily="34" charset="0"/>
                <a:ea typeface="Consolas" pitchFamily="34" charset="-122"/>
                <a:cs typeface="Consolas" pitchFamily="34" charset="-120"/>
              </a:rPr>
              <a:t>  </a:t>
            </a:r>
            <a:r>
              <a:rPr lang="en-US" sz="1500" dirty="0">
                <a:solidFill>
                  <a:srgbClr val="C792EA"/>
                </a:solidFill>
                <a:latin typeface="Consolas" pitchFamily="34" charset="0"/>
                <a:ea typeface="Consolas" pitchFamily="34" charset="-122"/>
                <a:cs typeface="Consolas" pitchFamily="34" charset="-120"/>
              </a:rPr>
              <a:t>void</a:t>
            </a:r>
            <a:r>
              <a:rPr lang="en-US" sz="1500" dirty="0">
                <a:solidFill>
                  <a:srgbClr val="E6EDF3"/>
                </a:solidFill>
                <a:latin typeface="Consolas" pitchFamily="34" charset="0"/>
                <a:ea typeface="Consolas" pitchFamily="34" charset="-122"/>
                <a:cs typeface="Consolas" pitchFamily="34" charset="-120"/>
              </a:rPr>
              <a:t> ambilNomor() { </a:t>
            </a:r>
            <a:r>
              <a:rPr lang="en-US" sz="1500" i="1" dirty="0">
                <a:solidFill>
                  <a:srgbClr val="8FA3BC"/>
                </a:solidFill>
                <a:latin typeface="Consolas" pitchFamily="34" charset="0"/>
                <a:ea typeface="Consolas" pitchFamily="34" charset="-122"/>
                <a:cs typeface="Consolas" pitchFamily="34" charset="-120"/>
              </a:rPr>
              <a:t>// 5</a:t>
            </a:r>
            <a:endParaRPr lang="en-US" sz="1500" dirty="0"/>
          </a:p>
          <a:p>
            <a:pPr indent="0" marL="0">
              <a:lnSpc>
                <a:spcPct val="105000"/>
              </a:lnSpc>
              <a:buNone/>
            </a:pPr>
            <a:r>
              <a:rPr lang="en-US" sz="1500" dirty="0">
                <a:solidFill>
                  <a:srgbClr val="E6EDF3"/>
                </a:solidFill>
                <a:latin typeface="Consolas" pitchFamily="34" charset="0"/>
                <a:ea typeface="Consolas" pitchFamily="34" charset="-122"/>
                <a:cs typeface="Consolas" pitchFamily="34" charset="-120"/>
              </a:rPr>
              <a:t>    _nomorTerakhir++;</a:t>
            </a:r>
            <a:endParaRPr lang="en-US" sz="1500" dirty="0"/>
          </a:p>
          <a:p>
            <a:pPr indent="0" marL="0">
              <a:lnSpc>
                <a:spcPct val="105000"/>
              </a:lnSpc>
              <a:buNone/>
            </a:pPr>
            <a:r>
              <a:rPr lang="en-US" sz="1500" dirty="0">
                <a:solidFill>
                  <a:srgbClr val="E6EDF3"/>
                </a:solidFill>
                <a:latin typeface="Consolas" pitchFamily="34" charset="0"/>
                <a:ea typeface="Consolas" pitchFamily="34" charset="-122"/>
                <a:cs typeface="Consolas" pitchFamily="34" charset="-120"/>
              </a:rPr>
              <a:t>    notifyListeners(); </a:t>
            </a:r>
            <a:r>
              <a:rPr lang="en-US" sz="1500" i="1" dirty="0">
                <a:solidFill>
                  <a:srgbClr val="8FA3BC"/>
                </a:solidFill>
                <a:latin typeface="Consolas" pitchFamily="34" charset="0"/>
                <a:ea typeface="Consolas" pitchFamily="34" charset="-122"/>
                <a:cs typeface="Consolas" pitchFamily="34" charset="-120"/>
              </a:rPr>
              <a:t>// 6</a:t>
            </a:r>
            <a:endParaRPr lang="en-US" sz="1500" dirty="0"/>
          </a:p>
          <a:p>
            <a:pPr indent="0" marL="0">
              <a:lnSpc>
                <a:spcPct val="105000"/>
              </a:lnSpc>
              <a:buNone/>
            </a:pPr>
            <a:r>
              <a:rPr lang="en-US" sz="1500" dirty="0">
                <a:solidFill>
                  <a:srgbClr val="E6EDF3"/>
                </a:solidFill>
                <a:latin typeface="Consolas" pitchFamily="34" charset="0"/>
                <a:ea typeface="Consolas" pitchFamily="34" charset="-122"/>
                <a:cs typeface="Consolas" pitchFamily="34" charset="-120"/>
              </a:rPr>
              <a:t>  }</a:t>
            </a:r>
            <a:endParaRPr lang="en-US" sz="1500" dirty="0"/>
          </a:p>
          <a:p>
            <a:pPr indent="0" marL="0">
              <a:lnSpc>
                <a:spcPct val="105000"/>
              </a:lnSpc>
              <a:buNone/>
            </a:pPr>
            <a:r>
              <a:rPr lang="en-US" sz="1500" dirty="0">
                <a:solidFill>
                  <a:srgbClr val="E6EDF3"/>
                </a:solidFill>
                <a:latin typeface="Consolas" pitchFamily="34" charset="0"/>
                <a:ea typeface="Consolas" pitchFamily="34" charset="-122"/>
                <a:cs typeface="Consolas" pitchFamily="34" charset="-120"/>
              </a:rPr>
              <a:t>}</a:t>
            </a:r>
            <a:endParaRPr lang="en-US" sz="1500" dirty="0"/>
          </a:p>
        </p:txBody>
      </p:sp>
      <p:sp>
        <p:nvSpPr>
          <p:cNvPr id="5" name="tombol tautan">
            <a:hlinkClick r:id="rId1" tooltip="https://github.com/antonprafanto/mobile2026/blob/main/pertemuan_09_state_dan_mvvm/kode/contoh_02_changenotifier_dasar.dart"/>
          </p:cNvPr>
          <p:cNvSpPr txBox="1"/>
          <p:nvPr/>
        </p:nvSpPr>
        <p:spPr>
          <a:xfrm>
            <a:off x="548640" y="5132070"/>
            <a:ext cx="6400800"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contoh_02_changenotifier_dasar.dart</a:t>
            </a:r>
            <a:endParaRPr lang="en-US" sz="1300" dirty="0"/>
          </a:p>
        </p:txBody>
      </p:sp>
      <p:pic>
        <p:nvPicPr>
          <p:cNvPr id="6" name="Image 0" descr="ikon tautan">
            <a:hlinkClick r:id="rId3" tooltip="https://github.com/antonprafanto/mobile2026/blob/main/pertemuan_09_state_dan_mvvm/kode/contoh_02_changenotifier_dasar.dart"/>
          </p:cNvPr>
          <p:cNvPicPr>
            <a:picLocks noChangeAspect="1"/>
          </p:cNvPicPr>
          <p:nvPr/>
        </p:nvPicPr>
        <p:blipFill>
          <a:blip r:embed="rId2"/>
          <a:stretch>
            <a:fillRect/>
          </a:stretch>
        </p:blipFill>
        <p:spPr>
          <a:xfrm>
            <a:off x="694944" y="5223510"/>
            <a:ext cx="274320" cy="274320"/>
          </a:xfrm>
          <a:prstGeom prst="rect">
            <a:avLst/>
          </a:prstGeom>
        </p:spPr>
      </p:pic>
      <p:sp>
        <p:nvSpPr>
          <p:cNvPr id="7" name="daftar poin"/>
          <p:cNvSpPr txBox="1"/>
          <p:nvPr/>
        </p:nvSpPr>
        <p:spPr>
          <a:xfrm>
            <a:off x="7360920" y="1417320"/>
            <a:ext cx="428213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1  extends ChangeNotifier: bisa menyimpan pendengar dan mengumumkan.</a:t>
            </a:r>
            <a:endParaRPr lang="en-US" sz="1700" dirty="0"/>
          </a:p>
          <a:p>
            <a:pPr marL="228600" indent="-228600">
              <a:spcAft>
                <a:spcPts val="800"/>
              </a:spcAft>
              <a:buSzPct val="100000"/>
              <a:buChar char="•"/>
            </a:pPr>
            <a:r>
              <a:rPr lang="en-US" sz="1700" dirty="0">
                <a:solidFill>
                  <a:schemeClr val="tx1"/>
                </a:solidFill>
              </a:rPr>
              <a:t>2  Data diawali _ (privat): tidak bisa diubah langsung dari luar.</a:t>
            </a:r>
            <a:endParaRPr lang="en-US" sz="1700" dirty="0"/>
          </a:p>
          <a:p>
            <a:pPr marL="228600" indent="-228600">
              <a:spcAft>
                <a:spcPts val="800"/>
              </a:spcAft>
              <a:buSzPct val="100000"/>
              <a:buChar char="•"/>
            </a:pPr>
            <a:r>
              <a:rPr lang="en-US" sz="1700" dirty="0">
                <a:solidFill>
                  <a:schemeClr val="tx1"/>
                </a:solidFill>
              </a:rPr>
              <a:t>3  Getter: dari luar hanya bisa DIBACA.</a:t>
            </a:r>
            <a:endParaRPr lang="en-US" sz="1700" dirty="0"/>
          </a:p>
          <a:p>
            <a:pPr marL="228600" indent="-228600">
              <a:spcAft>
                <a:spcPts val="800"/>
              </a:spcAft>
              <a:buSzPct val="100000"/>
              <a:buChar char="•"/>
            </a:pPr>
            <a:r>
              <a:rPr lang="en-US" sz="1700" dirty="0">
                <a:solidFill>
                  <a:schemeClr val="tx1"/>
                </a:solidFill>
              </a:rPr>
              <a:t>4  Nilai turunan dihitung, tidak disimpan.</a:t>
            </a:r>
            <a:endParaRPr lang="en-US" sz="1700" dirty="0"/>
          </a:p>
          <a:p>
            <a:pPr marL="228600" indent="-228600">
              <a:spcAft>
                <a:spcPts val="800"/>
              </a:spcAft>
              <a:buSzPct val="100000"/>
              <a:buChar char="•"/>
            </a:pPr>
            <a:r>
              <a:rPr lang="en-US" sz="1700" dirty="0">
                <a:solidFill>
                  <a:schemeClr val="tx1"/>
                </a:solidFill>
              </a:rPr>
              <a:t>5  Satu-satunya cara mengubah data: lewat metode.</a:t>
            </a:r>
            <a:endParaRPr lang="en-US" sz="1700" dirty="0"/>
          </a:p>
          <a:p>
            <a:pPr marL="228600" indent="-228600">
              <a:spcAft>
                <a:spcPts val="800"/>
              </a:spcAft>
              <a:buSzPct val="100000"/>
              <a:buChar char="•"/>
            </a:pPr>
            <a:r>
              <a:rPr lang="en-US" sz="1700" dirty="0">
                <a:solidFill>
                  <a:schemeClr val="tx1"/>
                </a:solidFill>
              </a:rPr>
              <a:t>6  Setiap metode pengubah diakhiri notifyListeners().</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ListenableBuilder: Membangun Ulang Sebagian Layar</a:t>
            </a:r>
            <a:endParaRPr lang="en-US" sz="3200" dirty="0"/>
          </a:p>
        </p:txBody>
      </p:sp>
      <p:sp>
        <p:nvSpPr>
          <p:cNvPr id="4" name="bingkai layar 1"/>
          <p:cNvSpPr/>
          <p:nvPr/>
        </p:nvSpPr>
        <p:spPr>
          <a:xfrm>
            <a:off x="8559295" y="1316736"/>
            <a:ext cx="3138624" cy="4818888"/>
          </a:xfrm>
          <a:prstGeom prst="roundRect">
            <a:avLst>
              <a:gd name="adj" fmla="val 2913"/>
            </a:avLst>
          </a:prstGeom>
          <a:solidFill>
            <a:srgbClr val="FFFFFF"/>
          </a:solidFill>
          <a:ln w="12700">
            <a:solidFill>
              <a:srgbClr val="C9D3E0"/>
            </a:solidFill>
            <a:prstDash val="solid"/>
          </a:ln>
        </p:spPr>
      </p:sp>
      <p:pic>
        <p:nvPicPr>
          <p:cNvPr id="5" name="layar 1" descr="Tangkapan layar aplikasi (hasil_contoh_02.jpg)">    </p:cNvPr>
          <p:cNvPicPr>
            <a:picLocks noChangeAspect="1"/>
          </p:cNvPicPr>
          <p:nvPr/>
        </p:nvPicPr>
        <p:blipFill>
          <a:blip r:embed="rId1"/>
          <a:stretch>
            <a:fillRect/>
          </a:stretch>
        </p:blipFill>
        <p:spPr>
          <a:xfrm>
            <a:off x="8614159" y="1371600"/>
            <a:ext cx="3028896" cy="4709160"/>
          </a:xfrm>
          <a:prstGeom prst="rect">
            <a:avLst/>
          </a:prstGeom>
        </p:spPr>
      </p:pic>
      <p:sp>
        <p:nvSpPr>
          <p:cNvPr id="6" name="kotak kode"/>
          <p:cNvSpPr txBox="1"/>
          <p:nvPr/>
        </p:nvSpPr>
        <p:spPr>
          <a:xfrm>
            <a:off x="548640" y="1371600"/>
            <a:ext cx="7608319" cy="2203704"/>
          </a:xfrm>
          <a:prstGeom prst="roundRect">
            <a:avLst>
              <a:gd name="adj" fmla="val 4149"/>
            </a:avLst>
          </a:prstGeom>
          <a:solidFill>
            <a:srgbClr val="0E1A2B"/>
          </a:solidFill>
          <a:ln/>
        </p:spPr>
        <p:txBody>
          <a:bodyPr wrap="square" lIns="177800" tIns="152400" rIns="152400" bIns="177800" rtlCol="0" anchor="t"/>
          <a:lstStyle/>
          <a:p>
            <a:pPr indent="0" marL="0">
              <a:lnSpc>
                <a:spcPct val="105000"/>
              </a:lnSpc>
              <a:buNone/>
            </a:pPr>
            <a:r>
              <a:rPr lang="en-US" sz="1400" dirty="0">
                <a:solidFill>
                  <a:srgbClr val="FFCB6B"/>
                </a:solidFill>
                <a:latin typeface="Consolas" pitchFamily="34" charset="0"/>
                <a:ea typeface="Consolas" pitchFamily="34" charset="-122"/>
                <a:cs typeface="Consolas" pitchFamily="34" charset="-120"/>
              </a:rPr>
              <a:t>ListenableBuilder</a:t>
            </a:r>
            <a:r>
              <a:rPr lang="en-US" sz="1400" dirty="0">
                <a:solidFill>
                  <a:srgbClr val="E6EDF3"/>
                </a:solidFill>
                <a:latin typeface="Consolas" pitchFamily="34" charset="0"/>
                <a:ea typeface="Consolas" pitchFamily="34" charset="-122"/>
                <a:cs typeface="Consolas" pitchFamily="34" charset="-120"/>
              </a:rPr>
              <a:t>(</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listenable: antrean, </a:t>
            </a:r>
            <a:r>
              <a:rPr lang="en-US" sz="1400" i="1" dirty="0">
                <a:solidFill>
                  <a:srgbClr val="8FA3BC"/>
                </a:solidFill>
                <a:latin typeface="Consolas" pitchFamily="34" charset="0"/>
                <a:ea typeface="Consolas" pitchFamily="34" charset="-122"/>
                <a:cs typeface="Consolas" pitchFamily="34" charset="-120"/>
              </a:rPr>
              <a:t>// objek yang didengarkan</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builder: (</a:t>
            </a:r>
            <a:r>
              <a:rPr lang="en-US" sz="1400" dirty="0">
                <a:solidFill>
                  <a:srgbClr val="FFCB6B"/>
                </a:solidFill>
                <a:latin typeface="Consolas" pitchFamily="34" charset="0"/>
                <a:ea typeface="Consolas" pitchFamily="34" charset="-122"/>
                <a:cs typeface="Consolas" pitchFamily="34" charset="-120"/>
              </a:rPr>
              <a:t>BuildContext</a:t>
            </a:r>
            <a:r>
              <a:rPr lang="en-US" sz="1400" dirty="0">
                <a:solidFill>
                  <a:srgbClr val="E6EDF3"/>
                </a:solidFill>
                <a:latin typeface="Consolas" pitchFamily="34" charset="0"/>
                <a:ea typeface="Consolas" pitchFamily="34" charset="-122"/>
                <a:cs typeface="Consolas" pitchFamily="34" charset="-120"/>
              </a:rPr>
              <a:t> context, </a:t>
            </a:r>
            <a:r>
              <a:rPr lang="en-US" sz="1400" dirty="0">
                <a:solidFill>
                  <a:srgbClr val="FFCB6B"/>
                </a:solidFill>
                <a:latin typeface="Consolas" pitchFamily="34" charset="0"/>
                <a:ea typeface="Consolas" pitchFamily="34" charset="-122"/>
                <a:cs typeface="Consolas" pitchFamily="34" charset="-120"/>
              </a:rPr>
              <a:t>Widget</a:t>
            </a:r>
            <a:r>
              <a:rPr lang="en-US" sz="1400" dirty="0">
                <a:solidFill>
                  <a:srgbClr val="E6EDF3"/>
                </a:solidFill>
                <a:latin typeface="Consolas" pitchFamily="34" charset="0"/>
                <a:ea typeface="Consolas" pitchFamily="34" charset="-122"/>
                <a:cs typeface="Consolas" pitchFamily="34" charset="-120"/>
              </a:rPr>
              <a:t>? child) {</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a:t>
            </a:r>
            <a:r>
              <a:rPr lang="en-US" sz="1400" i="1" dirty="0">
                <a:solidFill>
                  <a:srgbClr val="8FA3BC"/>
                </a:solidFill>
                <a:latin typeface="Consolas" pitchFamily="34" charset="0"/>
                <a:ea typeface="Consolas" pitchFamily="34" charset="-122"/>
                <a:cs typeface="Consolas" pitchFamily="34" charset="-120"/>
              </a:rPr>
              <a:t>// Dijalankan lagi SETIAP KALI antrean</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a:t>
            </a:r>
            <a:r>
              <a:rPr lang="en-US" sz="1400" i="1" dirty="0">
                <a:solidFill>
                  <a:srgbClr val="8FA3BC"/>
                </a:solidFill>
                <a:latin typeface="Consolas" pitchFamily="34" charset="0"/>
                <a:ea typeface="Consolas" pitchFamily="34" charset="-122"/>
                <a:cs typeface="Consolas" pitchFamily="34" charset="-120"/>
              </a:rPr>
              <a:t>// memanggil notifyListeners().</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a:t>
            </a:r>
            <a:r>
              <a:rPr lang="en-US" sz="1400" dirty="0">
                <a:solidFill>
                  <a:srgbClr val="C792EA"/>
                </a:solidFill>
                <a:latin typeface="Consolas" pitchFamily="34" charset="0"/>
                <a:ea typeface="Consolas" pitchFamily="34" charset="-122"/>
                <a:cs typeface="Consolas" pitchFamily="34" charset="-120"/>
              </a:rPr>
              <a:t>return</a:t>
            </a:r>
            <a:r>
              <a:rPr lang="en-US" sz="1400" dirty="0">
                <a:solidFill>
                  <a:srgbClr val="E6EDF3"/>
                </a:solidFill>
                <a:latin typeface="Consolas" pitchFamily="34" charset="0"/>
                <a:ea typeface="Consolas" pitchFamily="34" charset="-122"/>
                <a:cs typeface="Consolas" pitchFamily="34" charset="-120"/>
              </a:rPr>
              <a:t> </a:t>
            </a:r>
            <a:r>
              <a:rPr lang="en-US" sz="1400" dirty="0">
                <a:solidFill>
                  <a:srgbClr val="FFCB6B"/>
                </a:solidFill>
                <a:latin typeface="Consolas" pitchFamily="34" charset="0"/>
                <a:ea typeface="Consolas" pitchFamily="34" charset="-122"/>
                <a:cs typeface="Consolas" pitchFamily="34" charset="-120"/>
              </a:rPr>
              <a:t>Text</a:t>
            </a:r>
            <a:r>
              <a:rPr lang="en-US" sz="1400" dirty="0">
                <a:solidFill>
                  <a:srgbClr val="E6EDF3"/>
                </a:solidFill>
                <a:latin typeface="Consolas" pitchFamily="34" charset="0"/>
                <a:ea typeface="Consolas" pitchFamily="34" charset="-122"/>
                <a:cs typeface="Consolas" pitchFamily="34" charset="-120"/>
              </a:rPr>
              <a:t>(</a:t>
            </a:r>
            <a:r>
              <a:rPr lang="en-US" sz="1400" dirty="0">
                <a:solidFill>
                  <a:srgbClr val="C3E88D"/>
                </a:solidFill>
                <a:latin typeface="Consolas" pitchFamily="34" charset="0"/>
                <a:ea typeface="Consolas" pitchFamily="34" charset="-122"/>
                <a:cs typeface="Consolas" pitchFamily="34" charset="-120"/>
              </a:rPr>
              <a:t>'${antrean.menunggu} orang menunggu'</a:t>
            </a:r>
            <a:r>
              <a:rPr lang="en-US" sz="1400" dirty="0">
                <a:solidFill>
                  <a:srgbClr val="E6EDF3"/>
                </a:solidFill>
                <a:latin typeface="Consolas" pitchFamily="34" charset="0"/>
                <a:ea typeface="Consolas" pitchFamily="34" charset="-122"/>
                <a:cs typeface="Consolas" pitchFamily="34" charset="-120"/>
              </a:rPr>
              <a:t>);</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a:t>
            </a:r>
            <a:endParaRPr lang="en-US" sz="1400" dirty="0"/>
          </a:p>
        </p:txBody>
      </p:sp>
      <p:sp>
        <p:nvSpPr>
          <p:cNvPr id="7" name="tombol tautan">
            <a:hlinkClick r:id="rId2" tooltip="https://github.com/antonprafanto/mobile2026/blob/main/pertemuan_09_state_dan_mvvm/kode/contoh_02_changenotifier_dasar.dart"/>
          </p:cNvPr>
          <p:cNvSpPr txBox="1"/>
          <p:nvPr/>
        </p:nvSpPr>
        <p:spPr>
          <a:xfrm>
            <a:off x="548640" y="3758184"/>
            <a:ext cx="7608319"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contoh_02_changenotifier_dasar.dart</a:t>
            </a:r>
            <a:endParaRPr lang="en-US" sz="1300" dirty="0"/>
          </a:p>
        </p:txBody>
      </p:sp>
      <p:pic>
        <p:nvPicPr>
          <p:cNvPr id="8" name="Image 1" descr="ikon tautan">
            <a:hlinkClick r:id="rId4" tooltip="https://github.com/antonprafanto/mobile2026/blob/main/pertemuan_09_state_dan_mvvm/kode/contoh_02_changenotifier_dasar.dart"/>
          </p:cNvPr>
          <p:cNvPicPr>
            <a:picLocks noChangeAspect="1"/>
          </p:cNvPicPr>
          <p:nvPr/>
        </p:nvPicPr>
        <p:blipFill>
          <a:blip r:embed="rId3"/>
          <a:stretch>
            <a:fillRect/>
          </a:stretch>
        </p:blipFill>
        <p:spPr>
          <a:xfrm>
            <a:off x="694944" y="3849624"/>
            <a:ext cx="274320" cy="274320"/>
          </a:xfrm>
          <a:prstGeom prst="rect">
            <a:avLst/>
          </a:prstGeom>
        </p:spPr>
      </p:pic>
      <p:sp>
        <p:nvSpPr>
          <p:cNvPr id="9" name="daftar poin"/>
          <p:cNvSpPr txBox="1"/>
          <p:nvPr/>
        </p:nvSpPr>
        <p:spPr>
          <a:xfrm>
            <a:off x="548640" y="4489704"/>
            <a:ext cx="7608319" cy="1728216"/>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Halaman ini TIDAK memanggil setState sama sekali.</a:t>
            </a:r>
            <a:endParaRPr lang="en-US" sz="1600" dirty="0"/>
          </a:p>
          <a:p>
            <a:pPr marL="228600" indent="-228600">
              <a:spcAft>
                <a:spcPts val="800"/>
              </a:spcAft>
              <a:buSzPct val="100000"/>
              <a:buChar char="•"/>
            </a:pPr>
            <a:r>
              <a:rPr lang="en-US" sz="1600" dirty="0">
                <a:solidFill>
                  <a:schemeClr val="tx1"/>
                </a:solidFill>
              </a:rPr>
              <a:t>Tiga widget mendengarkan objek antrean yang sama: PapanPanggilan, PanelPetugas, dan sebagian PanelMahasiswa.</a:t>
            </a:r>
            <a:endParaRPr lang="en-US" sz="1600" dirty="0"/>
          </a:p>
          <a:p>
            <a:pPr marL="228600" indent="-228600">
              <a:spcAft>
                <a:spcPts val="800"/>
              </a:spcAft>
              <a:buSzPct val="100000"/>
              <a:buChar char="•"/>
            </a:pPr>
            <a:r>
              <a:rPr lang="en-US" sz="1600" dirty="0">
                <a:solidFill>
                  <a:schemeClr val="tx1"/>
                </a:solidFill>
              </a:rPr>
              <a:t>Letakkan ListenableBuilder serendah mungkin: hanya bagian yang berubah.</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ValueNotifier dan Jebakan List</a:t>
            </a:r>
            <a:endParaRPr lang="en-US" sz="3200" dirty="0"/>
          </a:p>
        </p:txBody>
      </p:sp>
      <p:sp>
        <p:nvSpPr>
          <p:cNvPr id="4" name="bingkai layar 1"/>
          <p:cNvSpPr/>
          <p:nvPr/>
        </p:nvSpPr>
        <p:spPr>
          <a:xfrm>
            <a:off x="8559295" y="1316736"/>
            <a:ext cx="3138624" cy="4818888"/>
          </a:xfrm>
          <a:prstGeom prst="roundRect">
            <a:avLst>
              <a:gd name="adj" fmla="val 2913"/>
            </a:avLst>
          </a:prstGeom>
          <a:solidFill>
            <a:srgbClr val="FFFFFF"/>
          </a:solidFill>
          <a:ln w="12700">
            <a:solidFill>
              <a:srgbClr val="C9D3E0"/>
            </a:solidFill>
            <a:prstDash val="solid"/>
          </a:ln>
        </p:spPr>
      </p:sp>
      <p:pic>
        <p:nvPicPr>
          <p:cNvPr id="5" name="layar 1" descr="Tangkapan layar aplikasi (hasil_contoh_03.jpg)">    </p:cNvPr>
          <p:cNvPicPr>
            <a:picLocks noChangeAspect="1"/>
          </p:cNvPicPr>
          <p:nvPr/>
        </p:nvPicPr>
        <p:blipFill>
          <a:blip r:embed="rId1"/>
          <a:stretch>
            <a:fillRect/>
          </a:stretch>
        </p:blipFill>
        <p:spPr>
          <a:xfrm>
            <a:off x="8614159" y="1371600"/>
            <a:ext cx="3028896" cy="4709160"/>
          </a:xfrm>
          <a:prstGeom prst="rect">
            <a:avLst/>
          </a:prstGeom>
        </p:spPr>
      </p:pic>
      <p:sp>
        <p:nvSpPr>
          <p:cNvPr id="6" name="kotak kode"/>
          <p:cNvSpPr txBox="1"/>
          <p:nvPr/>
        </p:nvSpPr>
        <p:spPr>
          <a:xfrm>
            <a:off x="548640" y="1371600"/>
            <a:ext cx="7608319" cy="2491740"/>
          </a:xfrm>
          <a:prstGeom prst="roundRect">
            <a:avLst>
              <a:gd name="adj" fmla="val 3670"/>
            </a:avLst>
          </a:prstGeom>
          <a:solidFill>
            <a:srgbClr val="0E1A2B"/>
          </a:solidFill>
          <a:ln/>
        </p:spPr>
        <p:txBody>
          <a:bodyPr wrap="square" lIns="177800" tIns="152400" rIns="152400" bIns="177800" rtlCol="0" anchor="t"/>
          <a:lstStyle/>
          <a:p>
            <a:pPr indent="0" marL="0">
              <a:lnSpc>
                <a:spcPct val="105000"/>
              </a:lnSpc>
              <a:buNone/>
            </a:pPr>
            <a:r>
              <a:rPr lang="en-US" sz="1300" dirty="0">
                <a:solidFill>
                  <a:srgbClr val="C792EA"/>
                </a:solidFill>
                <a:latin typeface="Consolas" pitchFamily="34" charset="0"/>
                <a:ea typeface="Consolas" pitchFamily="34" charset="-122"/>
                <a:cs typeface="Consolas" pitchFamily="34" charset="-120"/>
              </a:rPr>
              <a:t>final</a:t>
            </a: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FCB6B"/>
                </a:solidFill>
                <a:latin typeface="Consolas" pitchFamily="34" charset="0"/>
                <a:ea typeface="Consolas" pitchFamily="34" charset="-122"/>
                <a:cs typeface="Consolas" pitchFamily="34" charset="-120"/>
              </a:rPr>
              <a:t>ValueNotifier</a:t>
            </a:r>
            <a:r>
              <a:rPr lang="en-US" sz="1300" dirty="0">
                <a:solidFill>
                  <a:srgbClr val="E6EDF3"/>
                </a:solidFill>
                <a:latin typeface="Consolas" pitchFamily="34" charset="0"/>
                <a:ea typeface="Consolas" pitchFamily="34" charset="-122"/>
                <a:cs typeface="Consolas" pitchFamily="34" charset="-120"/>
              </a:rPr>
              <a:t>&lt;</a:t>
            </a:r>
            <a:r>
              <a:rPr lang="en-US" sz="1300" dirty="0">
                <a:solidFill>
                  <a:srgbClr val="FFCB6B"/>
                </a:solidFill>
                <a:latin typeface="Consolas" pitchFamily="34" charset="0"/>
                <a:ea typeface="Consolas" pitchFamily="34" charset="-122"/>
                <a:cs typeface="Consolas" pitchFamily="34" charset="-120"/>
              </a:rPr>
              <a:t>int</a:t>
            </a:r>
            <a:r>
              <a:rPr lang="en-US" sz="1300" dirty="0">
                <a:solidFill>
                  <a:srgbClr val="E6EDF3"/>
                </a:solidFill>
                <a:latin typeface="Consolas" pitchFamily="34" charset="0"/>
                <a:ea typeface="Consolas" pitchFamily="34" charset="-122"/>
                <a:cs typeface="Consolas" pitchFamily="34" charset="-120"/>
              </a:rPr>
              <a:t>&gt; _jumlahTiket =</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FCB6B"/>
                </a:solidFill>
                <a:latin typeface="Consolas" pitchFamily="34" charset="0"/>
                <a:ea typeface="Consolas" pitchFamily="34" charset="-122"/>
                <a:cs typeface="Consolas" pitchFamily="34" charset="-120"/>
              </a:rPr>
              <a:t>ValueNotifier</a:t>
            </a:r>
            <a:r>
              <a:rPr lang="en-US" sz="1300" dirty="0">
                <a:solidFill>
                  <a:srgbClr val="E6EDF3"/>
                </a:solidFill>
                <a:latin typeface="Consolas" pitchFamily="34" charset="0"/>
                <a:ea typeface="Consolas" pitchFamily="34" charset="-122"/>
                <a:cs typeface="Consolas" pitchFamily="34" charset="-120"/>
              </a:rPr>
              <a:t>&lt;</a:t>
            </a:r>
            <a:r>
              <a:rPr lang="en-US" sz="1300" dirty="0">
                <a:solidFill>
                  <a:srgbClr val="FFCB6B"/>
                </a:solidFill>
                <a:latin typeface="Consolas" pitchFamily="34" charset="0"/>
                <a:ea typeface="Consolas" pitchFamily="34" charset="-122"/>
                <a:cs typeface="Consolas" pitchFamily="34" charset="-120"/>
              </a:rPr>
              <a:t>int</a:t>
            </a:r>
            <a:r>
              <a:rPr lang="en-US" sz="1300" dirty="0">
                <a:solidFill>
                  <a:srgbClr val="E6EDF3"/>
                </a:solidFill>
                <a:latin typeface="Consolas" pitchFamily="34" charset="0"/>
                <a:ea typeface="Consolas" pitchFamily="34" charset="-122"/>
                <a:cs typeface="Consolas" pitchFamily="34" charset="-120"/>
              </a:rPr>
              <a:t>&gt;(</a:t>
            </a:r>
            <a:r>
              <a:rPr lang="en-US" sz="1300" dirty="0">
                <a:solidFill>
                  <a:srgbClr val="F78C6C"/>
                </a:solidFill>
                <a:latin typeface="Consolas" pitchFamily="34" charset="0"/>
                <a:ea typeface="Consolas" pitchFamily="34" charset="-122"/>
                <a:cs typeface="Consolas" pitchFamily="34" charset="-120"/>
              </a:rPr>
              <a:t>1</a:t>
            </a: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_jumlahTiket.value++; </a:t>
            </a:r>
            <a:r>
              <a:rPr lang="en-US" sz="1300" i="1" dirty="0">
                <a:solidFill>
                  <a:srgbClr val="8FA3BC"/>
                </a:solidFill>
                <a:latin typeface="Consolas" pitchFamily="34" charset="0"/>
                <a:ea typeface="Consolas" pitchFamily="34" charset="-122"/>
                <a:cs typeface="Consolas" pitchFamily="34" charset="-120"/>
              </a:rPr>
              <a:t>// otomatis mengumumkan</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endParaRPr lang="en-US" sz="1300" dirty="0"/>
          </a:p>
          <a:p>
            <a:pPr indent="0" marL="0">
              <a:lnSpc>
                <a:spcPct val="105000"/>
              </a:lnSpc>
              <a:buNone/>
            </a:pPr>
            <a:r>
              <a:rPr lang="en-US" sz="1300" dirty="0">
                <a:solidFill>
                  <a:srgbClr val="C792EA"/>
                </a:solidFill>
                <a:latin typeface="Consolas" pitchFamily="34" charset="0"/>
                <a:ea typeface="Consolas" pitchFamily="34" charset="-122"/>
                <a:cs typeface="Consolas" pitchFamily="34" charset="-120"/>
              </a:rPr>
              <a:t>final</a:t>
            </a: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FCB6B"/>
                </a:solidFill>
                <a:latin typeface="Consolas" pitchFamily="34" charset="0"/>
                <a:ea typeface="Consolas" pitchFamily="34" charset="-122"/>
                <a:cs typeface="Consolas" pitchFamily="34" charset="-120"/>
              </a:rPr>
              <a:t>ValueNotifier</a:t>
            </a:r>
            <a:r>
              <a:rPr lang="en-US" sz="1300" dirty="0">
                <a:solidFill>
                  <a:srgbClr val="E6EDF3"/>
                </a:solidFill>
                <a:latin typeface="Consolas" pitchFamily="34" charset="0"/>
                <a:ea typeface="Consolas" pitchFamily="34" charset="-122"/>
                <a:cs typeface="Consolas" pitchFamily="34" charset="-120"/>
              </a:rPr>
              <a:t>&lt;</a:t>
            </a:r>
            <a:r>
              <a:rPr lang="en-US" sz="1300" dirty="0">
                <a:solidFill>
                  <a:srgbClr val="FFCB6B"/>
                </a:solidFill>
                <a:latin typeface="Consolas" pitchFamily="34" charset="0"/>
                <a:ea typeface="Consolas" pitchFamily="34" charset="-122"/>
                <a:cs typeface="Consolas" pitchFamily="34" charset="-120"/>
              </a:rPr>
              <a:t>List</a:t>
            </a:r>
            <a:r>
              <a:rPr lang="en-US" sz="1300" dirty="0">
                <a:solidFill>
                  <a:srgbClr val="E6EDF3"/>
                </a:solidFill>
                <a:latin typeface="Consolas" pitchFamily="34" charset="0"/>
                <a:ea typeface="Consolas" pitchFamily="34" charset="-122"/>
                <a:cs typeface="Consolas" pitchFamily="34" charset="-120"/>
              </a:rPr>
              <a:t>&lt;</a:t>
            </a:r>
            <a:r>
              <a:rPr lang="en-US" sz="1300" dirty="0">
                <a:solidFill>
                  <a:srgbClr val="FFCB6B"/>
                </a:solidFill>
                <a:latin typeface="Consolas" pitchFamily="34" charset="0"/>
                <a:ea typeface="Consolas" pitchFamily="34" charset="-122"/>
                <a:cs typeface="Consolas" pitchFamily="34" charset="-120"/>
              </a:rPr>
              <a:t>String</a:t>
            </a:r>
            <a:r>
              <a:rPr lang="en-US" sz="1300" dirty="0">
                <a:solidFill>
                  <a:srgbClr val="E6EDF3"/>
                </a:solidFill>
                <a:latin typeface="Consolas" pitchFamily="34" charset="0"/>
                <a:ea typeface="Consolas" pitchFamily="34" charset="-122"/>
                <a:cs typeface="Consolas" pitchFamily="34" charset="-120"/>
              </a:rPr>
              <a:t>&gt;&gt; _peserta =</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FCB6B"/>
                </a:solidFill>
                <a:latin typeface="Consolas" pitchFamily="34" charset="0"/>
                <a:ea typeface="Consolas" pitchFamily="34" charset="-122"/>
                <a:cs typeface="Consolas" pitchFamily="34" charset="-120"/>
              </a:rPr>
              <a:t>ValueNotifier</a:t>
            </a:r>
            <a:r>
              <a:rPr lang="en-US" sz="1300" dirty="0">
                <a:solidFill>
                  <a:srgbClr val="E6EDF3"/>
                </a:solidFill>
                <a:latin typeface="Consolas" pitchFamily="34" charset="0"/>
                <a:ea typeface="Consolas" pitchFamily="34" charset="-122"/>
                <a:cs typeface="Consolas" pitchFamily="34" charset="-120"/>
              </a:rPr>
              <a:t>&lt;</a:t>
            </a:r>
            <a:r>
              <a:rPr lang="en-US" sz="1300" dirty="0">
                <a:solidFill>
                  <a:srgbClr val="FFCB6B"/>
                </a:solidFill>
                <a:latin typeface="Consolas" pitchFamily="34" charset="0"/>
                <a:ea typeface="Consolas" pitchFamily="34" charset="-122"/>
                <a:cs typeface="Consolas" pitchFamily="34" charset="-120"/>
              </a:rPr>
              <a:t>List</a:t>
            </a:r>
            <a:r>
              <a:rPr lang="en-US" sz="1300" dirty="0">
                <a:solidFill>
                  <a:srgbClr val="E6EDF3"/>
                </a:solidFill>
                <a:latin typeface="Consolas" pitchFamily="34" charset="0"/>
                <a:ea typeface="Consolas" pitchFamily="34" charset="-122"/>
                <a:cs typeface="Consolas" pitchFamily="34" charset="-120"/>
              </a:rPr>
              <a:t>&lt;</a:t>
            </a:r>
            <a:r>
              <a:rPr lang="en-US" sz="1300" dirty="0">
                <a:solidFill>
                  <a:srgbClr val="FFCB6B"/>
                </a:solidFill>
                <a:latin typeface="Consolas" pitchFamily="34" charset="0"/>
                <a:ea typeface="Consolas" pitchFamily="34" charset="-122"/>
                <a:cs typeface="Consolas" pitchFamily="34" charset="-120"/>
              </a:rPr>
              <a:t>String</a:t>
            </a:r>
            <a:r>
              <a:rPr lang="en-US" sz="1300" dirty="0">
                <a:solidFill>
                  <a:srgbClr val="E6EDF3"/>
                </a:solidFill>
                <a:latin typeface="Consolas" pitchFamily="34" charset="0"/>
                <a:ea typeface="Consolas" pitchFamily="34" charset="-122"/>
                <a:cs typeface="Consolas" pitchFamily="34" charset="-120"/>
              </a:rPr>
              <a:t>&gt;&gt;([]);</a:t>
            </a:r>
            <a:endParaRPr lang="en-US" sz="1300" dirty="0"/>
          </a:p>
          <a:p>
            <a:pPr indent="0" marL="0">
              <a:lnSpc>
                <a:spcPct val="105000"/>
              </a:lnSpc>
              <a:buNone/>
            </a:pPr>
            <a:r>
              <a:rPr lang="en-US" sz="1300" i="1" dirty="0">
                <a:solidFill>
                  <a:srgbClr val="8FA3BC"/>
                </a:solidFill>
                <a:latin typeface="Consolas" pitchFamily="34" charset="0"/>
                <a:ea typeface="Consolas" pitchFamily="34" charset="-122"/>
                <a:cs typeface="Consolas" pitchFamily="34" charset="-120"/>
              </a:rPr>
              <a:t>// SALAH: isi bertambah, tanpa pengumuman.</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_peserta.value.add(</a:t>
            </a:r>
            <a:r>
              <a:rPr lang="en-US" sz="1300" dirty="0">
                <a:solidFill>
                  <a:srgbClr val="C3E88D"/>
                </a:solidFill>
                <a:latin typeface="Consolas" pitchFamily="34" charset="0"/>
                <a:ea typeface="Consolas" pitchFamily="34" charset="-122"/>
                <a:cs typeface="Consolas" pitchFamily="34" charset="-120"/>
              </a:rPr>
              <a:t>'Peserta baru'</a:t>
            </a: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i="1" dirty="0">
                <a:solidFill>
                  <a:srgbClr val="8FA3BC"/>
                </a:solidFill>
                <a:latin typeface="Consolas" pitchFamily="34" charset="0"/>
                <a:ea typeface="Consolas" pitchFamily="34" charset="-122"/>
                <a:cs typeface="Consolas" pitchFamily="34" charset="-120"/>
              </a:rPr>
              <a:t>// BENAR: List BARU, lalu ganti .value.</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_peserta.value = [..._peserta.value, </a:t>
            </a:r>
            <a:r>
              <a:rPr lang="en-US" sz="1300" dirty="0">
                <a:solidFill>
                  <a:srgbClr val="C3E88D"/>
                </a:solidFill>
                <a:latin typeface="Consolas" pitchFamily="34" charset="0"/>
                <a:ea typeface="Consolas" pitchFamily="34" charset="-122"/>
                <a:cs typeface="Consolas" pitchFamily="34" charset="-120"/>
              </a:rPr>
              <a:t>'Peserta baru'</a:t>
            </a:r>
            <a:r>
              <a:rPr lang="en-US" sz="1300" dirty="0">
                <a:solidFill>
                  <a:srgbClr val="E6EDF3"/>
                </a:solidFill>
                <a:latin typeface="Consolas" pitchFamily="34" charset="0"/>
                <a:ea typeface="Consolas" pitchFamily="34" charset="-122"/>
                <a:cs typeface="Consolas" pitchFamily="34" charset="-120"/>
              </a:rPr>
              <a:t>];</a:t>
            </a:r>
            <a:endParaRPr lang="en-US" sz="1300" dirty="0"/>
          </a:p>
        </p:txBody>
      </p:sp>
      <p:sp>
        <p:nvSpPr>
          <p:cNvPr id="7" name="tombol tautan">
            <a:hlinkClick r:id="rId2" tooltip="https://github.com/antonprafanto/mobile2026/blob/main/pertemuan_09_state_dan_mvvm/kode/contoh_03_valuenotifier.dart"/>
          </p:cNvPr>
          <p:cNvSpPr txBox="1"/>
          <p:nvPr/>
        </p:nvSpPr>
        <p:spPr>
          <a:xfrm>
            <a:off x="548640" y="4046220"/>
            <a:ext cx="7608319"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contoh_03_valuenotifier.dart</a:t>
            </a:r>
            <a:endParaRPr lang="en-US" sz="1300" dirty="0"/>
          </a:p>
        </p:txBody>
      </p:sp>
      <p:pic>
        <p:nvPicPr>
          <p:cNvPr id="8" name="Image 1" descr="ikon tautan">
            <a:hlinkClick r:id="rId4" tooltip="https://github.com/antonprafanto/mobile2026/blob/main/pertemuan_09_state_dan_mvvm/kode/contoh_03_valuenotifier.dart"/>
          </p:cNvPr>
          <p:cNvPicPr>
            <a:picLocks noChangeAspect="1"/>
          </p:cNvPicPr>
          <p:nvPr/>
        </p:nvPicPr>
        <p:blipFill>
          <a:blip r:embed="rId3"/>
          <a:stretch>
            <a:fillRect/>
          </a:stretch>
        </p:blipFill>
        <p:spPr>
          <a:xfrm>
            <a:off x="694944" y="4137660"/>
            <a:ext cx="274320" cy="274320"/>
          </a:xfrm>
          <a:prstGeom prst="rect">
            <a:avLst/>
          </a:prstGeom>
        </p:spPr>
      </p:pic>
      <p:sp>
        <p:nvSpPr>
          <p:cNvPr id="9" name="daftar poin"/>
          <p:cNvSpPr txBox="1"/>
          <p:nvPr/>
        </p:nvSpPr>
        <p:spPr>
          <a:xfrm>
            <a:off x="548640" y="4777740"/>
            <a:ext cx="7608319" cy="144018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Ditampilkan dengan ValueListenableBuilder&lt;int&gt;.</a:t>
            </a:r>
            <a:endParaRPr lang="en-US" sz="1600" dirty="0"/>
          </a:p>
          <a:p>
            <a:pPr marL="228600" indent="-228600">
              <a:spcAft>
                <a:spcPts val="800"/>
              </a:spcAft>
              <a:buSzPct val="100000"/>
              <a:buChar char="•"/>
            </a:pPr>
            <a:r>
              <a:rPr lang="en-US" sz="1600" dirty="0">
                <a:solidFill>
                  <a:schemeClr val="tx1"/>
                </a:solidFill>
              </a:rPr>
              <a:t>Satu nilai sederhana → ValueNotifier. Beberapa data, nilai turunan, atau aturan → class ChangeNotifier sendiri.</a:t>
            </a:r>
            <a:endParaRPr lang="en-US" sz="1600" dirty="0"/>
          </a:p>
          <a:p>
            <a:pPr marL="228600" indent="-228600">
              <a:spcAft>
                <a:spcPts val="800"/>
              </a:spcAft>
              <a:buSzPct val="100000"/>
              <a:buChar char="•"/>
            </a:pPr>
            <a:r>
              <a:rPr lang="en-US" sz="1600" dirty="0">
                <a:solidFill>
                  <a:schemeClr val="tx1"/>
                </a:solidFill>
              </a:rPr>
              <a:t>Bukti: 2× "cara salah", lalu 1× "cara benar" → tiba-tiba muncul 3 peserta.</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ext 1"/>
          <p:cNvSpPr/>
          <p:nvPr>
            <p:ph idx="101" type="body" hasCustomPrompt="1"/>
          </p:nvPr>
        </p:nvSpPr>
        <p:spPr>
          <a:xfrm>
            <a:off x="3840480" y="2103120"/>
            <a:ext cx="7680960" cy="457200"/>
          </a:xfrm>
          <a:prstGeom prst="rect">
            <a:avLst/>
          </a:prstGeom>
          <a:noFill/>
          <a:ln/>
        </p:spPr>
        <p:txBody>
          <a:bodyPr wrap="square" lIns="0" tIns="0" rIns="0" bIns="0" rtlCol="0"/>
          <a:lstStyle/>
          <a:p>
            <a:pPr indent="0" marL="0">
              <a:buNone/>
            </a:pPr>
            <a:r>
              <a:rPr lang="en-US" sz="1800" b="1" spc="200" kern="0" dirty="0">
                <a:solidFill>
                  <a:schemeClr val="accent2"/>
                </a:solidFill>
              </a:rPr>
              <a:t>BAGIAN 3</a:t>
            </a:r>
            <a:endParaRPr lang="en-US" sz="1800" dirty="0"/>
          </a:p>
        </p:txBody>
      </p:sp>
      <p:sp>
        <p:nvSpPr>
          <p:cNvPr id="4" name="Text 1"/>
          <p:cNvSpPr/>
          <p:nvPr>
            <p:ph idx="102" type="title" hasCustomPrompt="1"/>
          </p:nvPr>
        </p:nvSpPr>
        <p:spPr>
          <a:xfrm>
            <a:off x="3840480" y="2606040"/>
            <a:ext cx="7680960" cy="1737360"/>
          </a:xfrm>
          <a:prstGeom prst="rect">
            <a:avLst/>
          </a:prstGeom>
          <a:noFill/>
          <a:ln/>
        </p:spPr>
        <p:txBody>
          <a:bodyPr wrap="square" lIns="0" tIns="0" rIns="0" bIns="0" rtlCol="0" anchor="t"/>
          <a:lstStyle/>
          <a:p>
            <a:pPr algn="l" indent="0" marL="0">
              <a:buNone/>
            </a:pPr>
            <a:r>
              <a:rPr lang="en-US" sz="4000" b="1" dirty="0">
                <a:solidFill>
                  <a:schemeClr val="bg1"/>
                </a:solidFill>
              </a:rPr>
              <a:t>Paket provider: Menitipkan Objek di Pohon Widget</a:t>
            </a:r>
            <a:endParaRPr lang="en-US" sz="4000" dirty="0"/>
          </a:p>
        </p:txBody>
      </p:sp>
      <p:sp>
        <p:nvSpPr>
          <p:cNvPr id="5" name="lingkaran gedung"/>
          <p:cNvSpPr/>
          <p:nvPr/>
        </p:nvSpPr>
        <p:spPr>
          <a:xfrm>
            <a:off x="1097280" y="2148840"/>
            <a:ext cx="2011680" cy="2011680"/>
          </a:xfrm>
          <a:prstGeom prst="ellipse">
            <a:avLst/>
          </a:prstGeom>
          <a:solidFill>
            <a:schemeClr val="accent1"/>
          </a:solidFill>
          <a:ln/>
        </p:spPr>
      </p:sp>
      <p:pic>
        <p:nvPicPr>
          <p:cNvPr id="6" name="Image 0" descr="gedung">    </p:cNvPr>
          <p:cNvPicPr>
            <a:picLocks noChangeAspect="1"/>
          </p:cNvPicPr>
          <p:nvPr/>
        </p:nvPicPr>
        <p:blipFill>
          <a:blip r:embed="rId1"/>
          <a:stretch>
            <a:fillRect/>
          </a:stretch>
        </p:blipFill>
        <p:spPr>
          <a:xfrm>
            <a:off x="1539850" y="2591410"/>
            <a:ext cx="1126541" cy="1126541"/>
          </a:xfrm>
          <a:prstGeom prst="rect">
            <a:avLst/>
          </a:prstGeom>
        </p:spPr>
      </p:pic>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Analogi: Penitipan di Resepsionis Gedung</a:t>
            </a:r>
            <a:endParaRPr lang="en-US" sz="3200" dirty="0"/>
          </a:p>
        </p:txBody>
      </p:sp>
      <p:sp>
        <p:nvSpPr>
          <p:cNvPr id="4" name="Text 1"/>
          <p:cNvSpPr txBox="1"/>
          <p:nvPr/>
        </p:nvSpPr>
        <p:spPr>
          <a:xfrm>
            <a:off x="548640" y="1325880"/>
            <a:ext cx="11094415" cy="502920"/>
          </a:xfrm>
          <a:prstGeom prst="rect">
            <a:avLst/>
          </a:prstGeom>
          <a:noFill/>
          <a:ln/>
        </p:spPr>
        <p:txBody>
          <a:bodyPr wrap="square" lIns="0" tIns="0" rIns="0" bIns="0" rtlCol="0" anchor="ctr"/>
          <a:lstStyle/>
          <a:p>
            <a:pPr indent="0" marL="0">
              <a:buNone/>
            </a:pPr>
            <a:r>
              <a:rPr lang="en-US" sz="1800" dirty="0">
                <a:solidFill>
                  <a:srgbClr val="4A5870"/>
                </a:solidFill>
              </a:rPr>
              <a:t>Barang dititipkan di lobi. Siapa pun DI DALAM gedung itu, di lantai berapa pun, bisa memintanya.</a:t>
            </a:r>
            <a:endParaRPr lang="en-US" sz="1800" dirty="0"/>
          </a:p>
        </p:txBody>
      </p:sp>
      <p:sp>
        <p:nvSpPr>
          <p:cNvPr id="5" name="kartu 1"/>
          <p:cNvSpPr/>
          <p:nvPr/>
        </p:nvSpPr>
        <p:spPr>
          <a:xfrm>
            <a:off x="548640" y="2011680"/>
            <a:ext cx="3484778" cy="3108960"/>
          </a:xfrm>
          <a:prstGeom prst="roundRect">
            <a:avLst>
              <a:gd name="adj" fmla="val 3529"/>
            </a:avLst>
          </a:prstGeom>
          <a:solidFill>
            <a:schemeClr val="bg2"/>
          </a:solidFill>
          <a:ln/>
        </p:spPr>
      </p:sp>
      <p:sp>
        <p:nvSpPr>
          <p:cNvPr id="6" name="lingkaran gedung"/>
          <p:cNvSpPr/>
          <p:nvPr/>
        </p:nvSpPr>
        <p:spPr>
          <a:xfrm>
            <a:off x="777240" y="2240280"/>
            <a:ext cx="685800" cy="685800"/>
          </a:xfrm>
          <a:prstGeom prst="ellipse">
            <a:avLst/>
          </a:prstGeom>
          <a:solidFill>
            <a:schemeClr val="accent1"/>
          </a:solidFill>
          <a:ln/>
        </p:spPr>
      </p:sp>
      <p:pic>
        <p:nvPicPr>
          <p:cNvPr id="7" name="Image 0" descr="gedung">    </p:cNvPr>
          <p:cNvPicPr>
            <a:picLocks noChangeAspect="1"/>
          </p:cNvPicPr>
          <p:nvPr/>
        </p:nvPicPr>
        <p:blipFill>
          <a:blip r:embed="rId1"/>
          <a:stretch>
            <a:fillRect/>
          </a:stretch>
        </p:blipFill>
        <p:spPr>
          <a:xfrm>
            <a:off x="928116" y="2391156"/>
            <a:ext cx="384048" cy="384048"/>
          </a:xfrm>
          <a:prstGeom prst="rect">
            <a:avLst/>
          </a:prstGeom>
        </p:spPr>
      </p:pic>
      <p:sp>
        <p:nvSpPr>
          <p:cNvPr id="8" name="Text 4"/>
          <p:cNvSpPr txBox="1"/>
          <p:nvPr/>
        </p:nvSpPr>
        <p:spPr>
          <a:xfrm>
            <a:off x="1600200" y="2212848"/>
            <a:ext cx="2250338" cy="731520"/>
          </a:xfrm>
          <a:prstGeom prst="rect">
            <a:avLst/>
          </a:prstGeom>
          <a:noFill/>
          <a:ln/>
        </p:spPr>
        <p:txBody>
          <a:bodyPr wrap="square" lIns="0" tIns="0" rIns="0" bIns="0" rtlCol="0" anchor="ctr"/>
          <a:lstStyle/>
          <a:p>
            <a:pPr indent="0" marL="0">
              <a:buNone/>
            </a:pPr>
            <a:r>
              <a:rPr lang="en-US" sz="1800" b="1" dirty="0">
                <a:solidFill>
                  <a:schemeClr val="tx2"/>
                </a:solidFill>
              </a:rPr>
              <a:t>Meja resepsionis</a:t>
            </a:r>
            <a:endParaRPr lang="en-US" sz="1800" dirty="0"/>
          </a:p>
        </p:txBody>
      </p:sp>
      <p:sp>
        <p:nvSpPr>
          <p:cNvPr id="9" name="Text 5"/>
          <p:cNvSpPr txBox="1"/>
          <p:nvPr/>
        </p:nvSpPr>
        <p:spPr>
          <a:xfrm>
            <a:off x="777240" y="3063240"/>
            <a:ext cx="3027578" cy="676656"/>
          </a:xfrm>
          <a:prstGeom prst="rect">
            <a:avLst/>
          </a:prstGeom>
          <a:noFill/>
          <a:ln/>
        </p:spPr>
        <p:txBody>
          <a:bodyPr wrap="square" lIns="0" tIns="0" rIns="0" bIns="0" rtlCol="0" anchor="t"/>
          <a:lstStyle/>
          <a:p>
            <a:pPr indent="0" marL="0">
              <a:buNone/>
            </a:pPr>
            <a:r>
              <a:rPr lang="en-US" sz="1500" dirty="0">
                <a:solidFill>
                  <a:schemeClr val="tx1"/>
                </a:solidFill>
              </a:rPr>
              <a:t>Widget ChangeNotifierProvider: tempat objek dititipkan.</a:t>
            </a:r>
            <a:endParaRPr lang="en-US" sz="1500" dirty="0"/>
          </a:p>
        </p:txBody>
      </p:sp>
      <p:sp>
        <p:nvSpPr>
          <p:cNvPr id="10" name="kotak kode"/>
          <p:cNvSpPr txBox="1"/>
          <p:nvPr/>
        </p:nvSpPr>
        <p:spPr>
          <a:xfrm>
            <a:off x="731520" y="3694176"/>
            <a:ext cx="3119018" cy="1243584"/>
          </a:xfrm>
          <a:prstGeom prst="roundRect">
            <a:avLst>
              <a:gd name="adj" fmla="val 7353"/>
            </a:avLst>
          </a:prstGeom>
          <a:solidFill>
            <a:srgbClr val="0E1A2B"/>
          </a:solidFill>
          <a:ln/>
        </p:spPr>
        <p:txBody>
          <a:bodyPr wrap="square" lIns="177800" tIns="152400" rIns="152400" bIns="177800" rtlCol="0" anchor="t"/>
          <a:lstStyle/>
          <a:p>
            <a:pPr indent="0" marL="0">
              <a:lnSpc>
                <a:spcPct val="105000"/>
              </a:lnSpc>
              <a:buNone/>
            </a:pPr>
            <a:r>
              <a:rPr lang="en-US" sz="1300" dirty="0">
                <a:solidFill>
                  <a:srgbClr val="FFCB6B"/>
                </a:solidFill>
                <a:latin typeface="Consolas" pitchFamily="34" charset="0"/>
                <a:ea typeface="Consolas" pitchFamily="34" charset="-122"/>
                <a:cs typeface="Consolas" pitchFamily="34" charset="-120"/>
              </a:rPr>
              <a:t>ChangeNotifierProvider</a:t>
            </a: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create: ...,</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child: ...,</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endParaRPr lang="en-US" sz="1300" dirty="0"/>
          </a:p>
        </p:txBody>
      </p:sp>
      <p:sp>
        <p:nvSpPr>
          <p:cNvPr id="11" name="kartu 2"/>
          <p:cNvSpPr/>
          <p:nvPr/>
        </p:nvSpPr>
        <p:spPr>
          <a:xfrm>
            <a:off x="4353458" y="2011680"/>
            <a:ext cx="3484778" cy="3108960"/>
          </a:xfrm>
          <a:prstGeom prst="roundRect">
            <a:avLst>
              <a:gd name="adj" fmla="val 3529"/>
            </a:avLst>
          </a:prstGeom>
          <a:solidFill>
            <a:schemeClr val="bg2"/>
          </a:solidFill>
          <a:ln/>
        </p:spPr>
      </p:sp>
      <p:sp>
        <p:nvSpPr>
          <p:cNvPr id="12" name="lingkaran grup"/>
          <p:cNvSpPr/>
          <p:nvPr/>
        </p:nvSpPr>
        <p:spPr>
          <a:xfrm>
            <a:off x="4582058" y="2240280"/>
            <a:ext cx="685800" cy="685800"/>
          </a:xfrm>
          <a:prstGeom prst="ellipse">
            <a:avLst/>
          </a:prstGeom>
          <a:solidFill>
            <a:schemeClr val="accent1"/>
          </a:solidFill>
          <a:ln/>
        </p:spPr>
      </p:sp>
      <p:pic>
        <p:nvPicPr>
          <p:cNvPr id="13" name="Image 1" descr="grup">    </p:cNvPr>
          <p:cNvPicPr>
            <a:picLocks noChangeAspect="1"/>
          </p:cNvPicPr>
          <p:nvPr/>
        </p:nvPicPr>
        <p:blipFill>
          <a:blip r:embed="rId2"/>
          <a:stretch>
            <a:fillRect/>
          </a:stretch>
        </p:blipFill>
        <p:spPr>
          <a:xfrm>
            <a:off x="4732934" y="2391156"/>
            <a:ext cx="384048" cy="384048"/>
          </a:xfrm>
          <a:prstGeom prst="rect">
            <a:avLst/>
          </a:prstGeom>
        </p:spPr>
      </p:pic>
      <p:sp>
        <p:nvSpPr>
          <p:cNvPr id="14" name="Text 9"/>
          <p:cNvSpPr txBox="1"/>
          <p:nvPr/>
        </p:nvSpPr>
        <p:spPr>
          <a:xfrm>
            <a:off x="5405018" y="2212848"/>
            <a:ext cx="2250338" cy="731520"/>
          </a:xfrm>
          <a:prstGeom prst="rect">
            <a:avLst/>
          </a:prstGeom>
          <a:noFill/>
          <a:ln/>
        </p:spPr>
        <p:txBody>
          <a:bodyPr wrap="square" lIns="0" tIns="0" rIns="0" bIns="0" rtlCol="0" anchor="ctr"/>
          <a:lstStyle/>
          <a:p>
            <a:pPr indent="0" marL="0">
              <a:buNone/>
            </a:pPr>
            <a:r>
              <a:rPr lang="en-US" sz="1800" b="1" dirty="0">
                <a:solidFill>
                  <a:schemeClr val="tx2"/>
                </a:solidFill>
              </a:rPr>
              <a:t>Seisi gedung</a:t>
            </a:r>
            <a:endParaRPr lang="en-US" sz="1800" dirty="0"/>
          </a:p>
        </p:txBody>
      </p:sp>
      <p:sp>
        <p:nvSpPr>
          <p:cNvPr id="15" name="Text 10"/>
          <p:cNvSpPr txBox="1"/>
          <p:nvPr/>
        </p:nvSpPr>
        <p:spPr>
          <a:xfrm>
            <a:off x="4582058" y="3063240"/>
            <a:ext cx="3027578" cy="1920240"/>
          </a:xfrm>
          <a:prstGeom prst="rect">
            <a:avLst/>
          </a:prstGeom>
          <a:noFill/>
          <a:ln/>
        </p:spPr>
        <p:txBody>
          <a:bodyPr wrap="square" lIns="0" tIns="0" rIns="0" bIns="0" rtlCol="0" anchor="t"/>
          <a:lstStyle/>
          <a:p>
            <a:pPr indent="0" marL="0">
              <a:buNone/>
            </a:pPr>
            <a:r>
              <a:rPr lang="en-US" sz="1500" dirty="0">
                <a:solidFill>
                  <a:schemeClr val="tx1"/>
                </a:solidFill>
              </a:rPr>
              <a:t>Semua widget DI BAWAH provider itu di pohon widget.</a:t>
            </a:r>
            <a:endParaRPr lang="en-US" sz="1500" dirty="0"/>
          </a:p>
        </p:txBody>
      </p:sp>
      <p:sp>
        <p:nvSpPr>
          <p:cNvPr id="16" name="kartu 3"/>
          <p:cNvSpPr/>
          <p:nvPr/>
        </p:nvSpPr>
        <p:spPr>
          <a:xfrm>
            <a:off x="8158277" y="2011680"/>
            <a:ext cx="3484778" cy="3108960"/>
          </a:xfrm>
          <a:prstGeom prst="roundRect">
            <a:avLst>
              <a:gd name="adj" fmla="val 3529"/>
            </a:avLst>
          </a:prstGeom>
          <a:solidFill>
            <a:schemeClr val="bg2"/>
          </a:solidFill>
          <a:ln/>
        </p:spPr>
      </p:sp>
      <p:sp>
        <p:nvSpPr>
          <p:cNvPr id="17" name="lingkaran tanya"/>
          <p:cNvSpPr/>
          <p:nvPr/>
        </p:nvSpPr>
        <p:spPr>
          <a:xfrm>
            <a:off x="8386877" y="2240280"/>
            <a:ext cx="685800" cy="685800"/>
          </a:xfrm>
          <a:prstGeom prst="ellipse">
            <a:avLst/>
          </a:prstGeom>
          <a:solidFill>
            <a:schemeClr val="accent1"/>
          </a:solidFill>
          <a:ln/>
        </p:spPr>
      </p:sp>
      <p:pic>
        <p:nvPicPr>
          <p:cNvPr id="18" name="Image 2" descr="tanya">    </p:cNvPr>
          <p:cNvPicPr>
            <a:picLocks noChangeAspect="1"/>
          </p:cNvPicPr>
          <p:nvPr/>
        </p:nvPicPr>
        <p:blipFill>
          <a:blip r:embed="rId3"/>
          <a:stretch>
            <a:fillRect/>
          </a:stretch>
        </p:blipFill>
        <p:spPr>
          <a:xfrm>
            <a:off x="8537753" y="2391156"/>
            <a:ext cx="384048" cy="384048"/>
          </a:xfrm>
          <a:prstGeom prst="rect">
            <a:avLst/>
          </a:prstGeom>
        </p:spPr>
      </p:pic>
      <p:sp>
        <p:nvSpPr>
          <p:cNvPr id="19" name="Text 13"/>
          <p:cNvSpPr txBox="1"/>
          <p:nvPr/>
        </p:nvSpPr>
        <p:spPr>
          <a:xfrm>
            <a:off x="9209837" y="2212848"/>
            <a:ext cx="2250338" cy="731520"/>
          </a:xfrm>
          <a:prstGeom prst="rect">
            <a:avLst/>
          </a:prstGeom>
          <a:noFill/>
          <a:ln/>
        </p:spPr>
        <p:txBody>
          <a:bodyPr wrap="square" lIns="0" tIns="0" rIns="0" bIns="0" rtlCol="0" anchor="ctr"/>
          <a:lstStyle/>
          <a:p>
            <a:pPr indent="0" marL="0">
              <a:buNone/>
            </a:pPr>
            <a:r>
              <a:rPr lang="en-US" sz="1800" b="1" dirty="0">
                <a:solidFill>
                  <a:schemeClr val="tx2"/>
                </a:solidFill>
              </a:rPr>
              <a:t>Meminta barang</a:t>
            </a:r>
            <a:endParaRPr lang="en-US" sz="1800" dirty="0"/>
          </a:p>
        </p:txBody>
      </p:sp>
      <p:sp>
        <p:nvSpPr>
          <p:cNvPr id="20" name="Text 14"/>
          <p:cNvSpPr txBox="1"/>
          <p:nvPr/>
        </p:nvSpPr>
        <p:spPr>
          <a:xfrm>
            <a:off x="8386877" y="3063240"/>
            <a:ext cx="3027578" cy="1152144"/>
          </a:xfrm>
          <a:prstGeom prst="rect">
            <a:avLst/>
          </a:prstGeom>
          <a:noFill/>
          <a:ln/>
        </p:spPr>
        <p:txBody>
          <a:bodyPr wrap="square" lIns="0" tIns="0" rIns="0" bIns="0" rtlCol="0" anchor="t"/>
          <a:lstStyle/>
          <a:p>
            <a:pPr indent="0" marL="0">
              <a:buNone/>
            </a:pPr>
            <a:r>
              <a:rPr lang="en-US" sz="1500" dirty="0">
                <a:solidFill>
                  <a:schemeClr val="tx1"/>
                </a:solidFill>
              </a:rPr>
              <a:t>Cukup sebut jenisnya:</a:t>
            </a:r>
            <a:endParaRPr lang="en-US" sz="1500" dirty="0"/>
          </a:p>
        </p:txBody>
      </p:sp>
      <p:sp>
        <p:nvSpPr>
          <p:cNvPr id="21" name="kotak kode"/>
          <p:cNvSpPr txBox="1"/>
          <p:nvPr/>
        </p:nvSpPr>
        <p:spPr>
          <a:xfrm>
            <a:off x="8341157" y="4169664"/>
            <a:ext cx="3119018" cy="768096"/>
          </a:xfrm>
          <a:prstGeom prst="roundRect">
            <a:avLst>
              <a:gd name="adj" fmla="val 11905"/>
            </a:avLst>
          </a:prstGeom>
          <a:solidFill>
            <a:srgbClr val="0E1A2B"/>
          </a:solidFill>
          <a:ln/>
        </p:spPr>
        <p:txBody>
          <a:bodyPr wrap="square" lIns="177800" tIns="152400" rIns="152400" bIns="177800" rtlCol="0" anchor="t"/>
          <a:lstStyle/>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context.watch&lt;</a:t>
            </a:r>
            <a:r>
              <a:rPr lang="en-US" sz="1300" dirty="0">
                <a:solidFill>
                  <a:srgbClr val="FFCB6B"/>
                </a:solidFill>
                <a:latin typeface="Consolas" pitchFamily="34" charset="0"/>
                <a:ea typeface="Consolas" pitchFamily="34" charset="-122"/>
                <a:cs typeface="Consolas" pitchFamily="34" charset="-120"/>
              </a:rPr>
              <a:t>Keranjang</a:t>
            </a:r>
            <a:r>
              <a:rPr lang="en-US" sz="1300" dirty="0">
                <a:solidFill>
                  <a:srgbClr val="E6EDF3"/>
                </a:solidFill>
                <a:latin typeface="Consolas" pitchFamily="34" charset="0"/>
                <a:ea typeface="Consolas" pitchFamily="34" charset="-122"/>
                <a:cs typeface="Consolas" pitchFamily="34" charset="-120"/>
              </a:rPr>
              <a:t>&gt;()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context.read&lt;</a:t>
            </a:r>
            <a:r>
              <a:rPr lang="en-US" sz="1300" dirty="0">
                <a:solidFill>
                  <a:srgbClr val="FFCB6B"/>
                </a:solidFill>
                <a:latin typeface="Consolas" pitchFamily="34" charset="0"/>
                <a:ea typeface="Consolas" pitchFamily="34" charset="-122"/>
                <a:cs typeface="Consolas" pitchFamily="34" charset="-120"/>
              </a:rPr>
              <a:t>Keranjang</a:t>
            </a:r>
            <a:r>
              <a:rPr lang="en-US" sz="1300" dirty="0">
                <a:solidFill>
                  <a:srgbClr val="E6EDF3"/>
                </a:solidFill>
                <a:latin typeface="Consolas" pitchFamily="34" charset="0"/>
                <a:ea typeface="Consolas" pitchFamily="34" charset="-122"/>
                <a:cs typeface="Consolas" pitchFamily="34" charset="-120"/>
              </a:rPr>
              <a:t>&gt;()</a:t>
            </a:r>
            <a:endParaRPr lang="en-US" sz="13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Tiga Langkah Memakai provider</a:t>
            </a:r>
            <a:endParaRPr lang="en-US" sz="3200" dirty="0"/>
          </a:p>
        </p:txBody>
      </p:sp>
      <p:sp>
        <p:nvSpPr>
          <p:cNvPr id="4" name="Text 1"/>
          <p:cNvSpPr txBox="1"/>
          <p:nvPr/>
        </p:nvSpPr>
        <p:spPr>
          <a:xfrm>
            <a:off x="548640" y="1325880"/>
            <a:ext cx="11094415" cy="548640"/>
          </a:xfrm>
          <a:prstGeom prst="rect">
            <a:avLst/>
          </a:prstGeom>
          <a:noFill/>
          <a:ln/>
        </p:spPr>
        <p:txBody>
          <a:bodyPr wrap="square" lIns="0" tIns="0" rIns="0" bIns="0" rtlCol="0" anchor="ctr"/>
          <a:lstStyle/>
          <a:p>
            <a:pPr indent="0" marL="0">
              <a:buNone/>
            </a:pPr>
            <a:r>
              <a:rPr lang="en-US" sz="1800" dirty="0">
                <a:solidFill>
                  <a:srgbClr val="4A5870"/>
                </a:solidFill>
              </a:rPr>
              <a:t>Pasang paketnya sekali: flutter pub add provider (DartPad sudah menyediakannya).</a:t>
            </a:r>
            <a:endParaRPr lang="en-US" sz="1800" dirty="0"/>
          </a:p>
        </p:txBody>
      </p:sp>
      <p:sp>
        <p:nvSpPr>
          <p:cNvPr id="5" name="langkah 1"/>
          <p:cNvSpPr/>
          <p:nvPr/>
        </p:nvSpPr>
        <p:spPr>
          <a:xfrm>
            <a:off x="548640" y="2103120"/>
            <a:ext cx="3484778" cy="3291840"/>
          </a:xfrm>
          <a:prstGeom prst="roundRect">
            <a:avLst>
              <a:gd name="adj" fmla="val 4167"/>
            </a:avLst>
          </a:prstGeom>
          <a:solidFill>
            <a:schemeClr val="bg2"/>
          </a:solidFill>
          <a:ln/>
        </p:spPr>
      </p:sp>
      <p:sp>
        <p:nvSpPr>
          <p:cNvPr id="6" name="lingkaran kelas"/>
          <p:cNvSpPr/>
          <p:nvPr/>
        </p:nvSpPr>
        <p:spPr>
          <a:xfrm>
            <a:off x="1856689" y="2377440"/>
            <a:ext cx="868680" cy="868680"/>
          </a:xfrm>
          <a:prstGeom prst="ellipse">
            <a:avLst/>
          </a:prstGeom>
          <a:solidFill>
            <a:schemeClr val="accent1"/>
          </a:solidFill>
          <a:ln/>
        </p:spPr>
      </p:sp>
      <p:pic>
        <p:nvPicPr>
          <p:cNvPr id="7" name="Image 0" descr="kelas">    </p:cNvPr>
          <p:cNvPicPr>
            <a:picLocks noChangeAspect="1"/>
          </p:cNvPicPr>
          <p:nvPr/>
        </p:nvPicPr>
        <p:blipFill>
          <a:blip r:embed="rId1"/>
          <a:stretch>
            <a:fillRect/>
          </a:stretch>
        </p:blipFill>
        <p:spPr>
          <a:xfrm>
            <a:off x="2047799" y="2568550"/>
            <a:ext cx="486461" cy="486461"/>
          </a:xfrm>
          <a:prstGeom prst="rect">
            <a:avLst/>
          </a:prstGeom>
        </p:spPr>
      </p:pic>
      <p:sp>
        <p:nvSpPr>
          <p:cNvPr id="8" name="Text 4"/>
          <p:cNvSpPr txBox="1"/>
          <p:nvPr/>
        </p:nvSpPr>
        <p:spPr>
          <a:xfrm>
            <a:off x="658368" y="219456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1</a:t>
            </a:r>
            <a:endParaRPr lang="en-US" sz="1400" dirty="0"/>
          </a:p>
        </p:txBody>
      </p:sp>
      <p:sp>
        <p:nvSpPr>
          <p:cNvPr id="9" name="Text 5"/>
          <p:cNvSpPr txBox="1"/>
          <p:nvPr/>
        </p:nvSpPr>
        <p:spPr>
          <a:xfrm>
            <a:off x="685800" y="3383280"/>
            <a:ext cx="3210458" cy="777240"/>
          </a:xfrm>
          <a:prstGeom prst="rect">
            <a:avLst/>
          </a:prstGeom>
          <a:noFill/>
          <a:ln/>
        </p:spPr>
        <p:txBody>
          <a:bodyPr wrap="square" lIns="0" tIns="0" rIns="0" bIns="0" rtlCol="0" anchor="t"/>
          <a:lstStyle/>
          <a:p>
            <a:pPr algn="ctr" indent="0" marL="0">
              <a:buNone/>
            </a:pPr>
            <a:r>
              <a:rPr lang="en-US" sz="1700" b="1" dirty="0">
                <a:solidFill>
                  <a:schemeClr val="tx2"/>
                </a:solidFill>
              </a:rPr>
              <a:t>1. Buat class</a:t>
            </a:r>
            <a:endParaRPr lang="en-US" sz="1700" dirty="0"/>
          </a:p>
        </p:txBody>
      </p:sp>
      <p:sp>
        <p:nvSpPr>
          <p:cNvPr id="10" name="Text 6"/>
          <p:cNvSpPr txBox="1"/>
          <p:nvPr/>
        </p:nvSpPr>
        <p:spPr>
          <a:xfrm>
            <a:off x="685800" y="4206240"/>
            <a:ext cx="3210458" cy="1097280"/>
          </a:xfrm>
          <a:prstGeom prst="rect">
            <a:avLst/>
          </a:prstGeom>
          <a:noFill/>
          <a:ln/>
        </p:spPr>
        <p:txBody>
          <a:bodyPr wrap="square" lIns="0" tIns="0" rIns="0" bIns="0" rtlCol="0" anchor="t"/>
          <a:lstStyle/>
          <a:p>
            <a:pPr algn="ctr" indent="0" marL="0">
              <a:buNone/>
            </a:pPr>
            <a:r>
              <a:rPr lang="en-US" sz="1400" dirty="0">
                <a:solidFill>
                  <a:schemeClr val="tx1"/>
                </a:solidFill>
              </a:rPr>
              <a:t>Turunan ChangeNotifier: data privat, getter, metode + notifyListeners()</a:t>
            </a:r>
            <a:endParaRPr lang="en-US" sz="1400" dirty="0"/>
          </a:p>
        </p:txBody>
      </p:sp>
      <p:sp>
        <p:nvSpPr>
          <p:cNvPr id="11" name="Shape 7"/>
          <p:cNvSpPr/>
          <p:nvPr/>
        </p:nvSpPr>
        <p:spPr>
          <a:xfrm>
            <a:off x="4069994" y="2670048"/>
            <a:ext cx="246888" cy="274320"/>
          </a:xfrm>
          <a:prstGeom prst="rightArrow">
            <a:avLst/>
          </a:prstGeom>
          <a:solidFill>
            <a:schemeClr val="accent2"/>
          </a:solidFill>
          <a:ln/>
        </p:spPr>
      </p:sp>
      <p:sp>
        <p:nvSpPr>
          <p:cNvPr id="12" name="langkah 2"/>
          <p:cNvSpPr/>
          <p:nvPr/>
        </p:nvSpPr>
        <p:spPr>
          <a:xfrm>
            <a:off x="4353458" y="2103120"/>
            <a:ext cx="3484778" cy="3291840"/>
          </a:xfrm>
          <a:prstGeom prst="roundRect">
            <a:avLst>
              <a:gd name="adj" fmla="val 4167"/>
            </a:avLst>
          </a:prstGeom>
          <a:solidFill>
            <a:schemeClr val="bg2"/>
          </a:solidFill>
          <a:ln/>
        </p:spPr>
      </p:sp>
      <p:sp>
        <p:nvSpPr>
          <p:cNvPr id="13" name="lingkaran gedung"/>
          <p:cNvSpPr/>
          <p:nvPr/>
        </p:nvSpPr>
        <p:spPr>
          <a:xfrm>
            <a:off x="5661508" y="2377440"/>
            <a:ext cx="868680" cy="868680"/>
          </a:xfrm>
          <a:prstGeom prst="ellipse">
            <a:avLst/>
          </a:prstGeom>
          <a:solidFill>
            <a:schemeClr val="accent1"/>
          </a:solidFill>
          <a:ln/>
        </p:spPr>
      </p:sp>
      <p:pic>
        <p:nvPicPr>
          <p:cNvPr id="14" name="Image 1" descr="gedung">    </p:cNvPr>
          <p:cNvPicPr>
            <a:picLocks noChangeAspect="1"/>
          </p:cNvPicPr>
          <p:nvPr/>
        </p:nvPicPr>
        <p:blipFill>
          <a:blip r:embed="rId2"/>
          <a:stretch>
            <a:fillRect/>
          </a:stretch>
        </p:blipFill>
        <p:spPr>
          <a:xfrm>
            <a:off x="5852617" y="2568550"/>
            <a:ext cx="486461" cy="486461"/>
          </a:xfrm>
          <a:prstGeom prst="rect">
            <a:avLst/>
          </a:prstGeom>
        </p:spPr>
      </p:pic>
      <p:sp>
        <p:nvSpPr>
          <p:cNvPr id="15" name="Text 10"/>
          <p:cNvSpPr txBox="1"/>
          <p:nvPr/>
        </p:nvSpPr>
        <p:spPr>
          <a:xfrm>
            <a:off x="4463186" y="219456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2</a:t>
            </a:r>
            <a:endParaRPr lang="en-US" sz="1400" dirty="0"/>
          </a:p>
        </p:txBody>
      </p:sp>
      <p:sp>
        <p:nvSpPr>
          <p:cNvPr id="16" name="Text 11"/>
          <p:cNvSpPr txBox="1"/>
          <p:nvPr/>
        </p:nvSpPr>
        <p:spPr>
          <a:xfrm>
            <a:off x="4490618" y="3383280"/>
            <a:ext cx="3210458" cy="777240"/>
          </a:xfrm>
          <a:prstGeom prst="rect">
            <a:avLst/>
          </a:prstGeom>
          <a:noFill/>
          <a:ln/>
        </p:spPr>
        <p:txBody>
          <a:bodyPr wrap="square" lIns="0" tIns="0" rIns="0" bIns="0" rtlCol="0" anchor="t"/>
          <a:lstStyle/>
          <a:p>
            <a:pPr algn="ctr" indent="0" marL="0">
              <a:buNone/>
            </a:pPr>
            <a:r>
              <a:rPr lang="en-US" sz="1700" b="1" dirty="0">
                <a:solidFill>
                  <a:schemeClr val="tx2"/>
                </a:solidFill>
              </a:rPr>
              <a:t>2. Titipkan</a:t>
            </a:r>
            <a:endParaRPr lang="en-US" sz="1700" dirty="0"/>
          </a:p>
        </p:txBody>
      </p:sp>
      <p:sp>
        <p:nvSpPr>
          <p:cNvPr id="17" name="Text 12"/>
          <p:cNvSpPr txBox="1"/>
          <p:nvPr/>
        </p:nvSpPr>
        <p:spPr>
          <a:xfrm>
            <a:off x="4490618" y="4206240"/>
            <a:ext cx="3210458" cy="1097280"/>
          </a:xfrm>
          <a:prstGeom prst="rect">
            <a:avLst/>
          </a:prstGeom>
          <a:noFill/>
          <a:ln/>
        </p:spPr>
        <p:txBody>
          <a:bodyPr wrap="square" lIns="0" tIns="0" rIns="0" bIns="0" rtlCol="0" anchor="t"/>
          <a:lstStyle/>
          <a:p>
            <a:pPr algn="ctr" indent="0" marL="0">
              <a:buNone/>
            </a:pPr>
            <a:r>
              <a:rPr lang="en-US" sz="1400" dirty="0">
                <a:solidFill>
                  <a:schemeClr val="tx1"/>
                </a:solidFill>
              </a:rPr>
              <a:t>ChangeNotifierProvider di atas MaterialApp</a:t>
            </a:r>
            <a:endParaRPr lang="en-US" sz="1400" dirty="0"/>
          </a:p>
        </p:txBody>
      </p:sp>
      <p:sp>
        <p:nvSpPr>
          <p:cNvPr id="18" name="Shape 13"/>
          <p:cNvSpPr/>
          <p:nvPr/>
        </p:nvSpPr>
        <p:spPr>
          <a:xfrm>
            <a:off x="7874813" y="2670048"/>
            <a:ext cx="246888" cy="274320"/>
          </a:xfrm>
          <a:prstGeom prst="rightArrow">
            <a:avLst/>
          </a:prstGeom>
          <a:solidFill>
            <a:schemeClr val="accent2"/>
          </a:solidFill>
          <a:ln/>
        </p:spPr>
      </p:sp>
      <p:sp>
        <p:nvSpPr>
          <p:cNvPr id="19" name="langkah 3"/>
          <p:cNvSpPr/>
          <p:nvPr/>
        </p:nvSpPr>
        <p:spPr>
          <a:xfrm>
            <a:off x="8158277" y="2103120"/>
            <a:ext cx="3484778" cy="3291840"/>
          </a:xfrm>
          <a:prstGeom prst="roundRect">
            <a:avLst>
              <a:gd name="adj" fmla="val 4167"/>
            </a:avLst>
          </a:prstGeom>
          <a:solidFill>
            <a:schemeClr val="bg2"/>
          </a:solidFill>
          <a:ln/>
        </p:spPr>
      </p:sp>
      <p:sp>
        <p:nvSpPr>
          <p:cNvPr id="20" name="lingkaran lonceng"/>
          <p:cNvSpPr/>
          <p:nvPr/>
        </p:nvSpPr>
        <p:spPr>
          <a:xfrm>
            <a:off x="9466326" y="2377440"/>
            <a:ext cx="868680" cy="868680"/>
          </a:xfrm>
          <a:prstGeom prst="ellipse">
            <a:avLst/>
          </a:prstGeom>
          <a:solidFill>
            <a:schemeClr val="accent4"/>
          </a:solidFill>
          <a:ln/>
        </p:spPr>
      </p:sp>
      <p:pic>
        <p:nvPicPr>
          <p:cNvPr id="21" name="Image 2" descr="lonceng">    </p:cNvPr>
          <p:cNvPicPr>
            <a:picLocks noChangeAspect="1"/>
          </p:cNvPicPr>
          <p:nvPr/>
        </p:nvPicPr>
        <p:blipFill>
          <a:blip r:embed="rId3"/>
          <a:stretch>
            <a:fillRect/>
          </a:stretch>
        </p:blipFill>
        <p:spPr>
          <a:xfrm>
            <a:off x="9657436" y="2568550"/>
            <a:ext cx="486461" cy="486461"/>
          </a:xfrm>
          <a:prstGeom prst="rect">
            <a:avLst/>
          </a:prstGeom>
        </p:spPr>
      </p:pic>
      <p:sp>
        <p:nvSpPr>
          <p:cNvPr id="22" name="Text 16"/>
          <p:cNvSpPr txBox="1"/>
          <p:nvPr/>
        </p:nvSpPr>
        <p:spPr>
          <a:xfrm>
            <a:off x="8268005" y="219456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3</a:t>
            </a:r>
            <a:endParaRPr lang="en-US" sz="1400" dirty="0"/>
          </a:p>
        </p:txBody>
      </p:sp>
      <p:sp>
        <p:nvSpPr>
          <p:cNvPr id="23" name="Text 17"/>
          <p:cNvSpPr txBox="1"/>
          <p:nvPr/>
        </p:nvSpPr>
        <p:spPr>
          <a:xfrm>
            <a:off x="8295437" y="3383280"/>
            <a:ext cx="3210458" cy="777240"/>
          </a:xfrm>
          <a:prstGeom prst="rect">
            <a:avLst/>
          </a:prstGeom>
          <a:noFill/>
          <a:ln/>
        </p:spPr>
        <p:txBody>
          <a:bodyPr wrap="square" lIns="0" tIns="0" rIns="0" bIns="0" rtlCol="0" anchor="t"/>
          <a:lstStyle/>
          <a:p>
            <a:pPr algn="ctr" indent="0" marL="0">
              <a:buNone/>
            </a:pPr>
            <a:r>
              <a:rPr lang="en-US" sz="1700" b="1" dirty="0">
                <a:solidFill>
                  <a:schemeClr val="tx2"/>
                </a:solidFill>
              </a:rPr>
              <a:t>3. Ambil</a:t>
            </a:r>
            <a:endParaRPr lang="en-US" sz="1700" dirty="0"/>
          </a:p>
        </p:txBody>
      </p:sp>
      <p:sp>
        <p:nvSpPr>
          <p:cNvPr id="24" name="Text 18"/>
          <p:cNvSpPr txBox="1"/>
          <p:nvPr/>
        </p:nvSpPr>
        <p:spPr>
          <a:xfrm>
            <a:off x="8295437" y="4206240"/>
            <a:ext cx="3210458" cy="1097280"/>
          </a:xfrm>
          <a:prstGeom prst="rect">
            <a:avLst/>
          </a:prstGeom>
          <a:noFill/>
          <a:ln/>
        </p:spPr>
        <p:txBody>
          <a:bodyPr wrap="square" lIns="0" tIns="0" rIns="0" bIns="0" rtlCol="0" anchor="t"/>
          <a:lstStyle/>
          <a:p>
            <a:pPr algn="ctr" indent="0" marL="0">
              <a:buNone/>
            </a:pPr>
            <a:r>
              <a:rPr lang="en-US" sz="1400" dirty="0">
                <a:solidFill>
                  <a:schemeClr val="tx1"/>
                </a:solidFill>
              </a:rPr>
              <a:t>watch untuk menampilkan, read untuk memanggil metode</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Langkah 1: Class Keranjang</a:t>
            </a:r>
            <a:endParaRPr lang="en-US" sz="3200" dirty="0"/>
          </a:p>
        </p:txBody>
      </p:sp>
      <p:sp>
        <p:nvSpPr>
          <p:cNvPr id="4" name="kotak kode"/>
          <p:cNvSpPr txBox="1"/>
          <p:nvPr/>
        </p:nvSpPr>
        <p:spPr>
          <a:xfrm>
            <a:off x="548640" y="1371600"/>
            <a:ext cx="6035040" cy="4011930"/>
          </a:xfrm>
          <a:prstGeom prst="roundRect">
            <a:avLst>
              <a:gd name="adj" fmla="val 2279"/>
            </a:avLst>
          </a:prstGeom>
          <a:solidFill>
            <a:srgbClr val="0E1A2B"/>
          </a:solidFill>
          <a:ln/>
        </p:spPr>
        <p:txBody>
          <a:bodyPr wrap="square" lIns="177800" tIns="152400" rIns="152400" bIns="177800" rtlCol="0" anchor="t"/>
          <a:lstStyle/>
          <a:p>
            <a:pPr indent="0" marL="0">
              <a:lnSpc>
                <a:spcPct val="105000"/>
              </a:lnSpc>
              <a:buNone/>
            </a:pPr>
            <a:r>
              <a:rPr lang="en-US" sz="1500" dirty="0">
                <a:solidFill>
                  <a:srgbClr val="C792EA"/>
                </a:solidFill>
                <a:latin typeface="Consolas" pitchFamily="34" charset="0"/>
                <a:ea typeface="Consolas" pitchFamily="34" charset="-122"/>
                <a:cs typeface="Consolas" pitchFamily="34" charset="-120"/>
              </a:rPr>
              <a:t>class</a:t>
            </a:r>
            <a:r>
              <a:rPr lang="en-US" sz="1500" dirty="0">
                <a:solidFill>
                  <a:srgbClr val="E6EDF3"/>
                </a:solidFill>
                <a:latin typeface="Consolas" pitchFamily="34" charset="0"/>
                <a:ea typeface="Consolas" pitchFamily="34" charset="-122"/>
                <a:cs typeface="Consolas" pitchFamily="34" charset="-120"/>
              </a:rPr>
              <a:t> </a:t>
            </a:r>
            <a:r>
              <a:rPr lang="en-US" sz="1500" dirty="0">
                <a:solidFill>
                  <a:srgbClr val="FFCB6B"/>
                </a:solidFill>
                <a:latin typeface="Consolas" pitchFamily="34" charset="0"/>
                <a:ea typeface="Consolas" pitchFamily="34" charset="-122"/>
                <a:cs typeface="Consolas" pitchFamily="34" charset="-120"/>
              </a:rPr>
              <a:t>Keranjang</a:t>
            </a:r>
            <a:r>
              <a:rPr lang="en-US" sz="1500" dirty="0">
                <a:solidFill>
                  <a:srgbClr val="E6EDF3"/>
                </a:solidFill>
                <a:latin typeface="Consolas" pitchFamily="34" charset="0"/>
                <a:ea typeface="Consolas" pitchFamily="34" charset="-122"/>
                <a:cs typeface="Consolas" pitchFamily="34" charset="-120"/>
              </a:rPr>
              <a:t> </a:t>
            </a:r>
            <a:r>
              <a:rPr lang="en-US" sz="1500" dirty="0">
                <a:solidFill>
                  <a:srgbClr val="C792EA"/>
                </a:solidFill>
                <a:latin typeface="Consolas" pitchFamily="34" charset="0"/>
                <a:ea typeface="Consolas" pitchFamily="34" charset="-122"/>
                <a:cs typeface="Consolas" pitchFamily="34" charset="-120"/>
              </a:rPr>
              <a:t>extends</a:t>
            </a:r>
            <a:r>
              <a:rPr lang="en-US" sz="1500" dirty="0">
                <a:solidFill>
                  <a:srgbClr val="E6EDF3"/>
                </a:solidFill>
                <a:latin typeface="Consolas" pitchFamily="34" charset="0"/>
                <a:ea typeface="Consolas" pitchFamily="34" charset="-122"/>
                <a:cs typeface="Consolas" pitchFamily="34" charset="-120"/>
              </a:rPr>
              <a:t> </a:t>
            </a:r>
            <a:r>
              <a:rPr lang="en-US" sz="1500" dirty="0">
                <a:solidFill>
                  <a:srgbClr val="FFCB6B"/>
                </a:solidFill>
                <a:latin typeface="Consolas" pitchFamily="34" charset="0"/>
                <a:ea typeface="Consolas" pitchFamily="34" charset="-122"/>
                <a:cs typeface="Consolas" pitchFamily="34" charset="-120"/>
              </a:rPr>
              <a:t>ChangeNotifier</a:t>
            </a:r>
            <a:r>
              <a:rPr lang="en-US" sz="1500" dirty="0">
                <a:solidFill>
                  <a:srgbClr val="E6EDF3"/>
                </a:solidFill>
                <a:latin typeface="Consolas" pitchFamily="34" charset="0"/>
                <a:ea typeface="Consolas" pitchFamily="34" charset="-122"/>
                <a:cs typeface="Consolas" pitchFamily="34" charset="-120"/>
              </a:rPr>
              <a:t> {</a:t>
            </a:r>
            <a:endParaRPr lang="en-US" sz="1500" dirty="0"/>
          </a:p>
          <a:p>
            <a:pPr indent="0" marL="0">
              <a:lnSpc>
                <a:spcPct val="105000"/>
              </a:lnSpc>
              <a:buNone/>
            </a:pPr>
            <a:r>
              <a:rPr lang="en-US" sz="1500" dirty="0">
                <a:solidFill>
                  <a:srgbClr val="E6EDF3"/>
                </a:solidFill>
                <a:latin typeface="Consolas" pitchFamily="34" charset="0"/>
                <a:ea typeface="Consolas" pitchFamily="34" charset="-122"/>
                <a:cs typeface="Consolas" pitchFamily="34" charset="-120"/>
              </a:rPr>
              <a:t>  </a:t>
            </a:r>
            <a:r>
              <a:rPr lang="en-US" sz="1500" dirty="0">
                <a:solidFill>
                  <a:srgbClr val="C792EA"/>
                </a:solidFill>
                <a:latin typeface="Consolas" pitchFamily="34" charset="0"/>
                <a:ea typeface="Consolas" pitchFamily="34" charset="-122"/>
                <a:cs typeface="Consolas" pitchFamily="34" charset="-120"/>
              </a:rPr>
              <a:t>final</a:t>
            </a:r>
            <a:r>
              <a:rPr lang="en-US" sz="1500" dirty="0">
                <a:solidFill>
                  <a:srgbClr val="E6EDF3"/>
                </a:solidFill>
                <a:latin typeface="Consolas" pitchFamily="34" charset="0"/>
                <a:ea typeface="Consolas" pitchFamily="34" charset="-122"/>
                <a:cs typeface="Consolas" pitchFamily="34" charset="-120"/>
              </a:rPr>
              <a:t> </a:t>
            </a:r>
            <a:r>
              <a:rPr lang="en-US" sz="1500" dirty="0">
                <a:solidFill>
                  <a:srgbClr val="FFCB6B"/>
                </a:solidFill>
                <a:latin typeface="Consolas" pitchFamily="34" charset="0"/>
                <a:ea typeface="Consolas" pitchFamily="34" charset="-122"/>
                <a:cs typeface="Consolas" pitchFamily="34" charset="-120"/>
              </a:rPr>
              <a:t>List</a:t>
            </a:r>
            <a:r>
              <a:rPr lang="en-US" sz="1500" dirty="0">
                <a:solidFill>
                  <a:srgbClr val="E6EDF3"/>
                </a:solidFill>
                <a:latin typeface="Consolas" pitchFamily="34" charset="0"/>
                <a:ea typeface="Consolas" pitchFamily="34" charset="-122"/>
                <a:cs typeface="Consolas" pitchFamily="34" charset="-120"/>
              </a:rPr>
              <a:t>&lt;</a:t>
            </a:r>
            <a:r>
              <a:rPr lang="en-US" sz="1500" dirty="0">
                <a:solidFill>
                  <a:srgbClr val="FFCB6B"/>
                </a:solidFill>
                <a:latin typeface="Consolas" pitchFamily="34" charset="0"/>
                <a:ea typeface="Consolas" pitchFamily="34" charset="-122"/>
                <a:cs typeface="Consolas" pitchFamily="34" charset="-120"/>
              </a:rPr>
              <a:t>String</a:t>
            </a:r>
            <a:r>
              <a:rPr lang="en-US" sz="1500" dirty="0">
                <a:solidFill>
                  <a:srgbClr val="E6EDF3"/>
                </a:solidFill>
                <a:latin typeface="Consolas" pitchFamily="34" charset="0"/>
                <a:ea typeface="Consolas" pitchFamily="34" charset="-122"/>
                <a:cs typeface="Consolas" pitchFamily="34" charset="-120"/>
              </a:rPr>
              <a:t>&gt; _isi = [];</a:t>
            </a:r>
            <a:endParaRPr lang="en-US" sz="1500" dirty="0"/>
          </a:p>
          <a:p>
            <a:pPr indent="0" marL="0">
              <a:lnSpc>
                <a:spcPct val="105000"/>
              </a:lnSpc>
              <a:buNone/>
            </a:pPr>
            <a:r>
              <a:rPr lang="en-US" sz="1500" dirty="0">
                <a:solidFill>
                  <a:srgbClr val="E6EDF3"/>
                </a:solidFill>
                <a:latin typeface="Consolas" pitchFamily="34" charset="0"/>
                <a:ea typeface="Consolas" pitchFamily="34" charset="-122"/>
                <a:cs typeface="Consolas" pitchFamily="34" charset="-120"/>
              </a:rPr>
              <a:t> </a:t>
            </a:r>
            <a:endParaRPr lang="en-US" sz="1500" dirty="0"/>
          </a:p>
          <a:p>
            <a:pPr indent="0" marL="0">
              <a:lnSpc>
                <a:spcPct val="105000"/>
              </a:lnSpc>
              <a:buNone/>
            </a:pPr>
            <a:r>
              <a:rPr lang="en-US" sz="1500" dirty="0">
                <a:solidFill>
                  <a:srgbClr val="E6EDF3"/>
                </a:solidFill>
                <a:latin typeface="Consolas" pitchFamily="34" charset="0"/>
                <a:ea typeface="Consolas" pitchFamily="34" charset="-122"/>
                <a:cs typeface="Consolas" pitchFamily="34" charset="-120"/>
              </a:rPr>
              <a:t>  </a:t>
            </a:r>
            <a:r>
              <a:rPr lang="en-US" sz="1500" dirty="0">
                <a:solidFill>
                  <a:srgbClr val="FFCB6B"/>
                </a:solidFill>
                <a:latin typeface="Consolas" pitchFamily="34" charset="0"/>
                <a:ea typeface="Consolas" pitchFamily="34" charset="-122"/>
                <a:cs typeface="Consolas" pitchFamily="34" charset="-120"/>
              </a:rPr>
              <a:t>UnmodifiableListView</a:t>
            </a:r>
            <a:r>
              <a:rPr lang="en-US" sz="1500" dirty="0">
                <a:solidFill>
                  <a:srgbClr val="E6EDF3"/>
                </a:solidFill>
                <a:latin typeface="Consolas" pitchFamily="34" charset="0"/>
                <a:ea typeface="Consolas" pitchFamily="34" charset="-122"/>
                <a:cs typeface="Consolas" pitchFamily="34" charset="-120"/>
              </a:rPr>
              <a:t>&lt;</a:t>
            </a:r>
            <a:r>
              <a:rPr lang="en-US" sz="1500" dirty="0">
                <a:solidFill>
                  <a:srgbClr val="FFCB6B"/>
                </a:solidFill>
                <a:latin typeface="Consolas" pitchFamily="34" charset="0"/>
                <a:ea typeface="Consolas" pitchFamily="34" charset="-122"/>
                <a:cs typeface="Consolas" pitchFamily="34" charset="-120"/>
              </a:rPr>
              <a:t>String</a:t>
            </a:r>
            <a:r>
              <a:rPr lang="en-US" sz="1500" dirty="0">
                <a:solidFill>
                  <a:srgbClr val="E6EDF3"/>
                </a:solidFill>
                <a:latin typeface="Consolas" pitchFamily="34" charset="0"/>
                <a:ea typeface="Consolas" pitchFamily="34" charset="-122"/>
                <a:cs typeface="Consolas" pitchFamily="34" charset="-120"/>
              </a:rPr>
              <a:t>&gt; </a:t>
            </a:r>
            <a:r>
              <a:rPr lang="en-US" sz="1500" dirty="0">
                <a:solidFill>
                  <a:srgbClr val="C792EA"/>
                </a:solidFill>
                <a:latin typeface="Consolas" pitchFamily="34" charset="0"/>
                <a:ea typeface="Consolas" pitchFamily="34" charset="-122"/>
                <a:cs typeface="Consolas" pitchFamily="34" charset="-120"/>
              </a:rPr>
              <a:t>get</a:t>
            </a:r>
            <a:r>
              <a:rPr lang="en-US" sz="1500" dirty="0">
                <a:solidFill>
                  <a:srgbClr val="E6EDF3"/>
                </a:solidFill>
                <a:latin typeface="Consolas" pitchFamily="34" charset="0"/>
                <a:ea typeface="Consolas" pitchFamily="34" charset="-122"/>
                <a:cs typeface="Consolas" pitchFamily="34" charset="-120"/>
              </a:rPr>
              <a:t> isi =&gt;</a:t>
            </a:r>
            <a:endParaRPr lang="en-US" sz="1500" dirty="0"/>
          </a:p>
          <a:p>
            <a:pPr indent="0" marL="0">
              <a:lnSpc>
                <a:spcPct val="105000"/>
              </a:lnSpc>
              <a:buNone/>
            </a:pPr>
            <a:r>
              <a:rPr lang="en-US" sz="1500" dirty="0">
                <a:solidFill>
                  <a:srgbClr val="E6EDF3"/>
                </a:solidFill>
                <a:latin typeface="Consolas" pitchFamily="34" charset="0"/>
                <a:ea typeface="Consolas" pitchFamily="34" charset="-122"/>
                <a:cs typeface="Consolas" pitchFamily="34" charset="-120"/>
              </a:rPr>
              <a:t>      </a:t>
            </a:r>
            <a:r>
              <a:rPr lang="en-US" sz="1500" dirty="0">
                <a:solidFill>
                  <a:srgbClr val="FFCB6B"/>
                </a:solidFill>
                <a:latin typeface="Consolas" pitchFamily="34" charset="0"/>
                <a:ea typeface="Consolas" pitchFamily="34" charset="-122"/>
                <a:cs typeface="Consolas" pitchFamily="34" charset="-120"/>
              </a:rPr>
              <a:t>UnmodifiableListView</a:t>
            </a:r>
            <a:r>
              <a:rPr lang="en-US" sz="1500" dirty="0">
                <a:solidFill>
                  <a:srgbClr val="E6EDF3"/>
                </a:solidFill>
                <a:latin typeface="Consolas" pitchFamily="34" charset="0"/>
                <a:ea typeface="Consolas" pitchFamily="34" charset="-122"/>
                <a:cs typeface="Consolas" pitchFamily="34" charset="-120"/>
              </a:rPr>
              <a:t>(_isi);</a:t>
            </a:r>
            <a:endParaRPr lang="en-US" sz="1500" dirty="0"/>
          </a:p>
          <a:p>
            <a:pPr indent="0" marL="0">
              <a:lnSpc>
                <a:spcPct val="105000"/>
              </a:lnSpc>
              <a:buNone/>
            </a:pPr>
            <a:r>
              <a:rPr lang="en-US" sz="1500" dirty="0">
                <a:solidFill>
                  <a:srgbClr val="E6EDF3"/>
                </a:solidFill>
                <a:latin typeface="Consolas" pitchFamily="34" charset="0"/>
                <a:ea typeface="Consolas" pitchFamily="34" charset="-122"/>
                <a:cs typeface="Consolas" pitchFamily="34" charset="-120"/>
              </a:rPr>
              <a:t>  </a:t>
            </a:r>
            <a:r>
              <a:rPr lang="en-US" sz="1500" dirty="0">
                <a:solidFill>
                  <a:srgbClr val="FFCB6B"/>
                </a:solidFill>
                <a:latin typeface="Consolas" pitchFamily="34" charset="0"/>
                <a:ea typeface="Consolas" pitchFamily="34" charset="-122"/>
                <a:cs typeface="Consolas" pitchFamily="34" charset="-120"/>
              </a:rPr>
              <a:t>int</a:t>
            </a:r>
            <a:r>
              <a:rPr lang="en-US" sz="1500" dirty="0">
                <a:solidFill>
                  <a:srgbClr val="E6EDF3"/>
                </a:solidFill>
                <a:latin typeface="Consolas" pitchFamily="34" charset="0"/>
                <a:ea typeface="Consolas" pitchFamily="34" charset="-122"/>
                <a:cs typeface="Consolas" pitchFamily="34" charset="-120"/>
              </a:rPr>
              <a:t> </a:t>
            </a:r>
            <a:r>
              <a:rPr lang="en-US" sz="1500" dirty="0">
                <a:solidFill>
                  <a:srgbClr val="C792EA"/>
                </a:solidFill>
                <a:latin typeface="Consolas" pitchFamily="34" charset="0"/>
                <a:ea typeface="Consolas" pitchFamily="34" charset="-122"/>
                <a:cs typeface="Consolas" pitchFamily="34" charset="-120"/>
              </a:rPr>
              <a:t>get</a:t>
            </a:r>
            <a:r>
              <a:rPr lang="en-US" sz="1500" dirty="0">
                <a:solidFill>
                  <a:srgbClr val="E6EDF3"/>
                </a:solidFill>
                <a:latin typeface="Consolas" pitchFamily="34" charset="0"/>
                <a:ea typeface="Consolas" pitchFamily="34" charset="-122"/>
                <a:cs typeface="Consolas" pitchFamily="34" charset="-120"/>
              </a:rPr>
              <a:t> jumlah =&gt; _isi.length;</a:t>
            </a:r>
            <a:endParaRPr lang="en-US" sz="1500" dirty="0"/>
          </a:p>
          <a:p>
            <a:pPr indent="0" marL="0">
              <a:lnSpc>
                <a:spcPct val="105000"/>
              </a:lnSpc>
              <a:buNone/>
            </a:pPr>
            <a:r>
              <a:rPr lang="en-US" sz="1500" dirty="0">
                <a:solidFill>
                  <a:srgbClr val="E6EDF3"/>
                </a:solidFill>
                <a:latin typeface="Consolas" pitchFamily="34" charset="0"/>
                <a:ea typeface="Consolas" pitchFamily="34" charset="-122"/>
                <a:cs typeface="Consolas" pitchFamily="34" charset="-120"/>
              </a:rPr>
              <a:t> </a:t>
            </a:r>
            <a:endParaRPr lang="en-US" sz="1500" dirty="0"/>
          </a:p>
          <a:p>
            <a:pPr indent="0" marL="0">
              <a:lnSpc>
                <a:spcPct val="105000"/>
              </a:lnSpc>
              <a:buNone/>
            </a:pPr>
            <a:r>
              <a:rPr lang="en-US" sz="1500" dirty="0">
                <a:solidFill>
                  <a:srgbClr val="E6EDF3"/>
                </a:solidFill>
                <a:latin typeface="Consolas" pitchFamily="34" charset="0"/>
                <a:ea typeface="Consolas" pitchFamily="34" charset="-122"/>
                <a:cs typeface="Consolas" pitchFamily="34" charset="-120"/>
              </a:rPr>
              <a:t>  </a:t>
            </a:r>
            <a:r>
              <a:rPr lang="en-US" sz="1500" dirty="0">
                <a:solidFill>
                  <a:srgbClr val="C792EA"/>
                </a:solidFill>
                <a:latin typeface="Consolas" pitchFamily="34" charset="0"/>
                <a:ea typeface="Consolas" pitchFamily="34" charset="-122"/>
                <a:cs typeface="Consolas" pitchFamily="34" charset="-120"/>
              </a:rPr>
              <a:t>void</a:t>
            </a:r>
            <a:r>
              <a:rPr lang="en-US" sz="1500" dirty="0">
                <a:solidFill>
                  <a:srgbClr val="E6EDF3"/>
                </a:solidFill>
                <a:latin typeface="Consolas" pitchFamily="34" charset="0"/>
                <a:ea typeface="Consolas" pitchFamily="34" charset="-122"/>
                <a:cs typeface="Consolas" pitchFamily="34" charset="-120"/>
              </a:rPr>
              <a:t> tambah(</a:t>
            </a:r>
            <a:r>
              <a:rPr lang="en-US" sz="1500" dirty="0">
                <a:solidFill>
                  <a:srgbClr val="FFCB6B"/>
                </a:solidFill>
                <a:latin typeface="Consolas" pitchFamily="34" charset="0"/>
                <a:ea typeface="Consolas" pitchFamily="34" charset="-122"/>
                <a:cs typeface="Consolas" pitchFamily="34" charset="-120"/>
              </a:rPr>
              <a:t>String</a:t>
            </a:r>
            <a:r>
              <a:rPr lang="en-US" sz="1500" dirty="0">
                <a:solidFill>
                  <a:srgbClr val="E6EDF3"/>
                </a:solidFill>
                <a:latin typeface="Consolas" pitchFamily="34" charset="0"/>
                <a:ea typeface="Consolas" pitchFamily="34" charset="-122"/>
                <a:cs typeface="Consolas" pitchFamily="34" charset="-120"/>
              </a:rPr>
              <a:t> barang) {</a:t>
            </a:r>
            <a:endParaRPr lang="en-US" sz="1500" dirty="0"/>
          </a:p>
          <a:p>
            <a:pPr indent="0" marL="0">
              <a:lnSpc>
                <a:spcPct val="105000"/>
              </a:lnSpc>
              <a:buNone/>
            </a:pPr>
            <a:r>
              <a:rPr lang="en-US" sz="1500" dirty="0">
                <a:solidFill>
                  <a:srgbClr val="E6EDF3"/>
                </a:solidFill>
                <a:latin typeface="Consolas" pitchFamily="34" charset="0"/>
                <a:ea typeface="Consolas" pitchFamily="34" charset="-122"/>
                <a:cs typeface="Consolas" pitchFamily="34" charset="-120"/>
              </a:rPr>
              <a:t>    _isi.add(barang);</a:t>
            </a:r>
            <a:endParaRPr lang="en-US" sz="1500" dirty="0"/>
          </a:p>
          <a:p>
            <a:pPr indent="0" marL="0">
              <a:lnSpc>
                <a:spcPct val="105000"/>
              </a:lnSpc>
              <a:buNone/>
            </a:pPr>
            <a:r>
              <a:rPr lang="en-US" sz="1500" dirty="0">
                <a:solidFill>
                  <a:srgbClr val="E6EDF3"/>
                </a:solidFill>
                <a:latin typeface="Consolas" pitchFamily="34" charset="0"/>
                <a:ea typeface="Consolas" pitchFamily="34" charset="-122"/>
                <a:cs typeface="Consolas" pitchFamily="34" charset="-120"/>
              </a:rPr>
              <a:t>    notifyListeners();</a:t>
            </a:r>
            <a:endParaRPr lang="en-US" sz="1500" dirty="0"/>
          </a:p>
          <a:p>
            <a:pPr indent="0" marL="0">
              <a:lnSpc>
                <a:spcPct val="105000"/>
              </a:lnSpc>
              <a:buNone/>
            </a:pPr>
            <a:r>
              <a:rPr lang="en-US" sz="1500" dirty="0">
                <a:solidFill>
                  <a:srgbClr val="E6EDF3"/>
                </a:solidFill>
                <a:latin typeface="Consolas" pitchFamily="34" charset="0"/>
                <a:ea typeface="Consolas" pitchFamily="34" charset="-122"/>
                <a:cs typeface="Consolas" pitchFamily="34" charset="-120"/>
              </a:rPr>
              <a:t>  }</a:t>
            </a:r>
            <a:endParaRPr lang="en-US" sz="1500" dirty="0"/>
          </a:p>
          <a:p>
            <a:pPr indent="0" marL="0">
              <a:lnSpc>
                <a:spcPct val="105000"/>
              </a:lnSpc>
              <a:buNone/>
            </a:pPr>
            <a:r>
              <a:rPr lang="en-US" sz="1500" dirty="0">
                <a:solidFill>
                  <a:srgbClr val="E6EDF3"/>
                </a:solidFill>
                <a:latin typeface="Consolas" pitchFamily="34" charset="0"/>
                <a:ea typeface="Consolas" pitchFamily="34" charset="-122"/>
                <a:cs typeface="Consolas" pitchFamily="34" charset="-120"/>
              </a:rPr>
              <a:t> </a:t>
            </a:r>
            <a:endParaRPr lang="en-US" sz="1500" dirty="0"/>
          </a:p>
          <a:p>
            <a:pPr indent="0" marL="0">
              <a:lnSpc>
                <a:spcPct val="105000"/>
              </a:lnSpc>
              <a:buNone/>
            </a:pPr>
            <a:r>
              <a:rPr lang="en-US" sz="1500" dirty="0">
                <a:solidFill>
                  <a:srgbClr val="E6EDF3"/>
                </a:solidFill>
                <a:latin typeface="Consolas" pitchFamily="34" charset="0"/>
                <a:ea typeface="Consolas" pitchFamily="34" charset="-122"/>
                <a:cs typeface="Consolas" pitchFamily="34" charset="-120"/>
              </a:rPr>
              <a:t>  </a:t>
            </a:r>
            <a:r>
              <a:rPr lang="en-US" sz="1500" i="1" dirty="0">
                <a:solidFill>
                  <a:srgbClr val="8FA3BC"/>
                </a:solidFill>
                <a:latin typeface="Consolas" pitchFamily="34" charset="0"/>
                <a:ea typeface="Consolas" pitchFamily="34" charset="-122"/>
                <a:cs typeface="Consolas" pitchFamily="34" charset="-120"/>
              </a:rPr>
              <a:t>// hapus(int indeks) dan kosongkan()</a:t>
            </a:r>
            <a:endParaRPr lang="en-US" sz="1500" dirty="0"/>
          </a:p>
          <a:p>
            <a:pPr indent="0" marL="0">
              <a:lnSpc>
                <a:spcPct val="105000"/>
              </a:lnSpc>
              <a:buNone/>
            </a:pPr>
            <a:r>
              <a:rPr lang="en-US" sz="1500" dirty="0">
                <a:solidFill>
                  <a:srgbClr val="E6EDF3"/>
                </a:solidFill>
                <a:latin typeface="Consolas" pitchFamily="34" charset="0"/>
                <a:ea typeface="Consolas" pitchFamily="34" charset="-122"/>
                <a:cs typeface="Consolas" pitchFamily="34" charset="-120"/>
              </a:rPr>
              <a:t>  </a:t>
            </a:r>
            <a:r>
              <a:rPr lang="en-US" sz="1500" i="1" dirty="0">
                <a:solidFill>
                  <a:srgbClr val="8FA3BC"/>
                </a:solidFill>
                <a:latin typeface="Consolas" pitchFamily="34" charset="0"/>
                <a:ea typeface="Consolas" pitchFamily="34" charset="-122"/>
                <a:cs typeface="Consolas" pitchFamily="34" charset="-120"/>
              </a:rPr>
              <a:t>// juga diakhiri notifyListeners().</a:t>
            </a:r>
            <a:endParaRPr lang="en-US" sz="1500" dirty="0"/>
          </a:p>
          <a:p>
            <a:pPr indent="0" marL="0">
              <a:lnSpc>
                <a:spcPct val="105000"/>
              </a:lnSpc>
              <a:buNone/>
            </a:pPr>
            <a:r>
              <a:rPr lang="en-US" sz="1500" dirty="0">
                <a:solidFill>
                  <a:srgbClr val="E6EDF3"/>
                </a:solidFill>
                <a:latin typeface="Consolas" pitchFamily="34" charset="0"/>
                <a:ea typeface="Consolas" pitchFamily="34" charset="-122"/>
                <a:cs typeface="Consolas" pitchFamily="34" charset="-120"/>
              </a:rPr>
              <a:t>}</a:t>
            </a:r>
            <a:endParaRPr lang="en-US" sz="1500" dirty="0"/>
          </a:p>
        </p:txBody>
      </p:sp>
      <p:sp>
        <p:nvSpPr>
          <p:cNvPr id="5" name="tombol tautan">
            <a:hlinkClick r:id="rId1" tooltip="https://github.com/antonprafanto/mobile2026/blob/main/pertemuan_09_state_dan_mvvm/kode/contoh_04_provider_dasar.dart"/>
          </p:cNvPr>
          <p:cNvSpPr txBox="1"/>
          <p:nvPr/>
        </p:nvSpPr>
        <p:spPr>
          <a:xfrm>
            <a:off x="548640" y="5612130"/>
            <a:ext cx="6035040"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contoh_04_provider_dasar.dart</a:t>
            </a:r>
            <a:endParaRPr lang="en-US" sz="1300" dirty="0"/>
          </a:p>
        </p:txBody>
      </p:sp>
      <p:pic>
        <p:nvPicPr>
          <p:cNvPr id="6" name="Image 0" descr="ikon tautan">
            <a:hlinkClick r:id="rId3" tooltip="https://github.com/antonprafanto/mobile2026/blob/main/pertemuan_09_state_dan_mvvm/kode/contoh_04_provider_dasar.dart"/>
          </p:cNvPr>
          <p:cNvPicPr>
            <a:picLocks noChangeAspect="1"/>
          </p:cNvPicPr>
          <p:nvPr/>
        </p:nvPicPr>
        <p:blipFill>
          <a:blip r:embed="rId2"/>
          <a:stretch>
            <a:fillRect/>
          </a:stretch>
        </p:blipFill>
        <p:spPr>
          <a:xfrm>
            <a:off x="694944" y="5703570"/>
            <a:ext cx="274320" cy="274320"/>
          </a:xfrm>
          <a:prstGeom prst="rect">
            <a:avLst/>
          </a:prstGeom>
        </p:spPr>
      </p:pic>
      <p:sp>
        <p:nvSpPr>
          <p:cNvPr id="7" name="daftar poin"/>
          <p:cNvSpPr txBox="1"/>
          <p:nvPr/>
        </p:nvSpPr>
        <p:spPr>
          <a:xfrm>
            <a:off x="6995160" y="1417320"/>
            <a:ext cx="464789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Mengapa tidak mengembalikan _isi langsung? List bisa diubah siapa pun yang memegangnya.</a:t>
            </a:r>
            <a:endParaRPr lang="en-US" sz="1700" dirty="0"/>
          </a:p>
          <a:p>
            <a:pPr marL="228600" indent="-228600">
              <a:spcAft>
                <a:spcPts val="800"/>
              </a:spcAft>
              <a:buSzPct val="100000"/>
              <a:buChar char="•"/>
            </a:pPr>
            <a:r>
              <a:rPr lang="en-US" sz="1700" dirty="0">
                <a:solidFill>
                  <a:schemeClr val="tx1"/>
                </a:solidFill>
              </a:rPr>
              <a:t>UnmodifiableListView (dari dart:collection) = kaca etalase: isinya bisa dilihat, tidak bisa diubah.</a:t>
            </a:r>
            <a:endParaRPr lang="en-US" sz="1700" dirty="0"/>
          </a:p>
          <a:p>
            <a:pPr marL="228600" indent="-228600">
              <a:spcAft>
                <a:spcPts val="800"/>
              </a:spcAft>
              <a:buSzPct val="100000"/>
              <a:buChar char="•"/>
            </a:pPr>
            <a:r>
              <a:rPr lang="en-US" sz="1700" dirty="0">
                <a:solidFill>
                  <a:schemeClr val="tx1"/>
                </a:solidFill>
              </a:rPr>
              <a:t>keranjang.isi.add(...) dari luar → error Unsupported operation: Cannot add to an unmodifiable list.</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Langkah 2: Titipkan di Atas MaterialApp</a:t>
            </a:r>
            <a:endParaRPr lang="en-US" sz="3200" dirty="0"/>
          </a:p>
        </p:txBody>
      </p:sp>
      <p:sp>
        <p:nvSpPr>
          <p:cNvPr id="4" name="kotak kode"/>
          <p:cNvSpPr txBox="1"/>
          <p:nvPr/>
        </p:nvSpPr>
        <p:spPr>
          <a:xfrm>
            <a:off x="548640" y="1371600"/>
            <a:ext cx="6583680" cy="2331720"/>
          </a:xfrm>
          <a:prstGeom prst="roundRect">
            <a:avLst>
              <a:gd name="adj" fmla="val 3922"/>
            </a:avLst>
          </a:prstGeom>
          <a:solidFill>
            <a:srgbClr val="0E1A2B"/>
          </a:solidFill>
          <a:ln/>
        </p:spPr>
        <p:txBody>
          <a:bodyPr wrap="square" lIns="177800" tIns="152400" rIns="152400" bIns="177800" rtlCol="0" anchor="t"/>
          <a:lstStyle/>
          <a:p>
            <a:pPr indent="0" marL="0">
              <a:lnSpc>
                <a:spcPct val="105000"/>
              </a:lnSpc>
              <a:buNone/>
            </a:pPr>
            <a:r>
              <a:rPr lang="en-US" sz="1500" dirty="0">
                <a:solidFill>
                  <a:srgbClr val="C792EA"/>
                </a:solidFill>
                <a:latin typeface="Consolas" pitchFamily="34" charset="0"/>
                <a:ea typeface="Consolas" pitchFamily="34" charset="-122"/>
                <a:cs typeface="Consolas" pitchFamily="34" charset="-120"/>
              </a:rPr>
              <a:t>void</a:t>
            </a:r>
            <a:r>
              <a:rPr lang="en-US" sz="1500" dirty="0">
                <a:solidFill>
                  <a:srgbClr val="E6EDF3"/>
                </a:solidFill>
                <a:latin typeface="Consolas" pitchFamily="34" charset="0"/>
                <a:ea typeface="Consolas" pitchFamily="34" charset="-122"/>
                <a:cs typeface="Consolas" pitchFamily="34" charset="-120"/>
              </a:rPr>
              <a:t> main() {</a:t>
            </a:r>
            <a:endParaRPr lang="en-US" sz="1500" dirty="0"/>
          </a:p>
          <a:p>
            <a:pPr indent="0" marL="0">
              <a:lnSpc>
                <a:spcPct val="105000"/>
              </a:lnSpc>
              <a:buNone/>
            </a:pPr>
            <a:r>
              <a:rPr lang="en-US" sz="1500" dirty="0">
                <a:solidFill>
                  <a:srgbClr val="E6EDF3"/>
                </a:solidFill>
                <a:latin typeface="Consolas" pitchFamily="34" charset="0"/>
                <a:ea typeface="Consolas" pitchFamily="34" charset="-122"/>
                <a:cs typeface="Consolas" pitchFamily="34" charset="-120"/>
              </a:rPr>
              <a:t>  runApp(</a:t>
            </a:r>
            <a:endParaRPr lang="en-US" sz="1500" dirty="0"/>
          </a:p>
          <a:p>
            <a:pPr indent="0" marL="0">
              <a:lnSpc>
                <a:spcPct val="105000"/>
              </a:lnSpc>
              <a:buNone/>
            </a:pPr>
            <a:r>
              <a:rPr lang="en-US" sz="1500" dirty="0">
                <a:solidFill>
                  <a:srgbClr val="E6EDF3"/>
                </a:solidFill>
                <a:latin typeface="Consolas" pitchFamily="34" charset="0"/>
                <a:ea typeface="Consolas" pitchFamily="34" charset="-122"/>
                <a:cs typeface="Consolas" pitchFamily="34" charset="-120"/>
              </a:rPr>
              <a:t>    </a:t>
            </a:r>
            <a:r>
              <a:rPr lang="en-US" sz="1500" dirty="0">
                <a:solidFill>
                  <a:srgbClr val="FFCB6B"/>
                </a:solidFill>
                <a:latin typeface="Consolas" pitchFamily="34" charset="0"/>
                <a:ea typeface="Consolas" pitchFamily="34" charset="-122"/>
                <a:cs typeface="Consolas" pitchFamily="34" charset="-120"/>
              </a:rPr>
              <a:t>ChangeNotifierProvider</a:t>
            </a:r>
            <a:r>
              <a:rPr lang="en-US" sz="1500" dirty="0">
                <a:solidFill>
                  <a:srgbClr val="E6EDF3"/>
                </a:solidFill>
                <a:latin typeface="Consolas" pitchFamily="34" charset="0"/>
                <a:ea typeface="Consolas" pitchFamily="34" charset="-122"/>
                <a:cs typeface="Consolas" pitchFamily="34" charset="-120"/>
              </a:rPr>
              <a:t>(</a:t>
            </a:r>
            <a:endParaRPr lang="en-US" sz="1500" dirty="0"/>
          </a:p>
          <a:p>
            <a:pPr indent="0" marL="0">
              <a:lnSpc>
                <a:spcPct val="105000"/>
              </a:lnSpc>
              <a:buNone/>
            </a:pPr>
            <a:r>
              <a:rPr lang="en-US" sz="1500" dirty="0">
                <a:solidFill>
                  <a:srgbClr val="E6EDF3"/>
                </a:solidFill>
                <a:latin typeface="Consolas" pitchFamily="34" charset="0"/>
                <a:ea typeface="Consolas" pitchFamily="34" charset="-122"/>
                <a:cs typeface="Consolas" pitchFamily="34" charset="-120"/>
              </a:rPr>
              <a:t>      create: (</a:t>
            </a:r>
            <a:r>
              <a:rPr lang="en-US" sz="1500" dirty="0">
                <a:solidFill>
                  <a:srgbClr val="FFCB6B"/>
                </a:solidFill>
                <a:latin typeface="Consolas" pitchFamily="34" charset="0"/>
                <a:ea typeface="Consolas" pitchFamily="34" charset="-122"/>
                <a:cs typeface="Consolas" pitchFamily="34" charset="-120"/>
              </a:rPr>
              <a:t>BuildContext</a:t>
            </a:r>
            <a:r>
              <a:rPr lang="en-US" sz="1500" dirty="0">
                <a:solidFill>
                  <a:srgbClr val="E6EDF3"/>
                </a:solidFill>
                <a:latin typeface="Consolas" pitchFamily="34" charset="0"/>
                <a:ea typeface="Consolas" pitchFamily="34" charset="-122"/>
                <a:cs typeface="Consolas" pitchFamily="34" charset="-120"/>
              </a:rPr>
              <a:t> context) =&gt; </a:t>
            </a:r>
            <a:r>
              <a:rPr lang="en-US" sz="1500" dirty="0">
                <a:solidFill>
                  <a:srgbClr val="FFCB6B"/>
                </a:solidFill>
                <a:latin typeface="Consolas" pitchFamily="34" charset="0"/>
                <a:ea typeface="Consolas" pitchFamily="34" charset="-122"/>
                <a:cs typeface="Consolas" pitchFamily="34" charset="-120"/>
              </a:rPr>
              <a:t>Keranjang</a:t>
            </a:r>
            <a:r>
              <a:rPr lang="en-US" sz="1500" dirty="0">
                <a:solidFill>
                  <a:srgbClr val="E6EDF3"/>
                </a:solidFill>
                <a:latin typeface="Consolas" pitchFamily="34" charset="0"/>
                <a:ea typeface="Consolas" pitchFamily="34" charset="-122"/>
                <a:cs typeface="Consolas" pitchFamily="34" charset="-120"/>
              </a:rPr>
              <a:t>(),</a:t>
            </a:r>
            <a:endParaRPr lang="en-US" sz="1500" dirty="0"/>
          </a:p>
          <a:p>
            <a:pPr indent="0" marL="0">
              <a:lnSpc>
                <a:spcPct val="105000"/>
              </a:lnSpc>
              <a:buNone/>
            </a:pPr>
            <a:r>
              <a:rPr lang="en-US" sz="1500" dirty="0">
                <a:solidFill>
                  <a:srgbClr val="E6EDF3"/>
                </a:solidFill>
                <a:latin typeface="Consolas" pitchFamily="34" charset="0"/>
                <a:ea typeface="Consolas" pitchFamily="34" charset="-122"/>
                <a:cs typeface="Consolas" pitchFamily="34" charset="-120"/>
              </a:rPr>
              <a:t>      child: </a:t>
            </a:r>
            <a:r>
              <a:rPr lang="en-US" sz="1500" dirty="0">
                <a:solidFill>
                  <a:srgbClr val="C792EA"/>
                </a:solidFill>
                <a:latin typeface="Consolas" pitchFamily="34" charset="0"/>
                <a:ea typeface="Consolas" pitchFamily="34" charset="-122"/>
                <a:cs typeface="Consolas" pitchFamily="34" charset="-120"/>
              </a:rPr>
              <a:t>const</a:t>
            </a:r>
            <a:r>
              <a:rPr lang="en-US" sz="1500" dirty="0">
                <a:solidFill>
                  <a:srgbClr val="E6EDF3"/>
                </a:solidFill>
                <a:latin typeface="Consolas" pitchFamily="34" charset="0"/>
                <a:ea typeface="Consolas" pitchFamily="34" charset="-122"/>
                <a:cs typeface="Consolas" pitchFamily="34" charset="-120"/>
              </a:rPr>
              <a:t> </a:t>
            </a:r>
            <a:r>
              <a:rPr lang="en-US" sz="1500" dirty="0">
                <a:solidFill>
                  <a:srgbClr val="FFCB6B"/>
                </a:solidFill>
                <a:latin typeface="Consolas" pitchFamily="34" charset="0"/>
                <a:ea typeface="Consolas" pitchFamily="34" charset="-122"/>
                <a:cs typeface="Consolas" pitchFamily="34" charset="-120"/>
              </a:rPr>
              <a:t>AplikasiBelanja</a:t>
            </a:r>
            <a:r>
              <a:rPr lang="en-US" sz="1500" dirty="0">
                <a:solidFill>
                  <a:srgbClr val="E6EDF3"/>
                </a:solidFill>
                <a:latin typeface="Consolas" pitchFamily="34" charset="0"/>
                <a:ea typeface="Consolas" pitchFamily="34" charset="-122"/>
                <a:cs typeface="Consolas" pitchFamily="34" charset="-120"/>
              </a:rPr>
              <a:t>(),</a:t>
            </a:r>
            <a:endParaRPr lang="en-US" sz="1500" dirty="0"/>
          </a:p>
          <a:p>
            <a:pPr indent="0" marL="0">
              <a:lnSpc>
                <a:spcPct val="105000"/>
              </a:lnSpc>
              <a:buNone/>
            </a:pPr>
            <a:r>
              <a:rPr lang="en-US" sz="1500" dirty="0">
                <a:solidFill>
                  <a:srgbClr val="E6EDF3"/>
                </a:solidFill>
                <a:latin typeface="Consolas" pitchFamily="34" charset="0"/>
                <a:ea typeface="Consolas" pitchFamily="34" charset="-122"/>
                <a:cs typeface="Consolas" pitchFamily="34" charset="-120"/>
              </a:rPr>
              <a:t>    ),</a:t>
            </a:r>
            <a:endParaRPr lang="en-US" sz="1500" dirty="0"/>
          </a:p>
          <a:p>
            <a:pPr indent="0" marL="0">
              <a:lnSpc>
                <a:spcPct val="105000"/>
              </a:lnSpc>
              <a:buNone/>
            </a:pPr>
            <a:r>
              <a:rPr lang="en-US" sz="1500" dirty="0">
                <a:solidFill>
                  <a:srgbClr val="E6EDF3"/>
                </a:solidFill>
                <a:latin typeface="Consolas" pitchFamily="34" charset="0"/>
                <a:ea typeface="Consolas" pitchFamily="34" charset="-122"/>
                <a:cs typeface="Consolas" pitchFamily="34" charset="-120"/>
              </a:rPr>
              <a:t>  );</a:t>
            </a:r>
            <a:endParaRPr lang="en-US" sz="1500" dirty="0"/>
          </a:p>
          <a:p>
            <a:pPr indent="0" marL="0">
              <a:lnSpc>
                <a:spcPct val="105000"/>
              </a:lnSpc>
              <a:buNone/>
            </a:pPr>
            <a:r>
              <a:rPr lang="en-US" sz="1500" dirty="0">
                <a:solidFill>
                  <a:srgbClr val="E6EDF3"/>
                </a:solidFill>
                <a:latin typeface="Consolas" pitchFamily="34" charset="0"/>
                <a:ea typeface="Consolas" pitchFamily="34" charset="-122"/>
                <a:cs typeface="Consolas" pitchFamily="34" charset="-120"/>
              </a:rPr>
              <a:t>}</a:t>
            </a:r>
            <a:endParaRPr lang="en-US" sz="1500" dirty="0"/>
          </a:p>
        </p:txBody>
      </p:sp>
      <p:sp>
        <p:nvSpPr>
          <p:cNvPr id="5" name="tombol tautan">
            <a:hlinkClick r:id="rId1" tooltip="https://github.com/antonprafanto/mobile2026/blob/main/pertemuan_09_state_dan_mvvm/kode/contoh_04_provider_dasar.dart"/>
          </p:cNvPr>
          <p:cNvSpPr txBox="1"/>
          <p:nvPr/>
        </p:nvSpPr>
        <p:spPr>
          <a:xfrm>
            <a:off x="548640" y="3931920"/>
            <a:ext cx="6583680"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contoh_04_provider_dasar.dart</a:t>
            </a:r>
            <a:endParaRPr lang="en-US" sz="1300" dirty="0"/>
          </a:p>
        </p:txBody>
      </p:sp>
      <p:pic>
        <p:nvPicPr>
          <p:cNvPr id="6" name="Image 0" descr="ikon tautan">
            <a:hlinkClick r:id="rId3" tooltip="https://github.com/antonprafanto/mobile2026/blob/main/pertemuan_09_state_dan_mvvm/kode/contoh_04_provider_dasar.dart"/>
          </p:cNvPr>
          <p:cNvPicPr>
            <a:picLocks noChangeAspect="1"/>
          </p:cNvPicPr>
          <p:nvPr/>
        </p:nvPicPr>
        <p:blipFill>
          <a:blip r:embed="rId2"/>
          <a:stretch>
            <a:fillRect/>
          </a:stretch>
        </p:blipFill>
        <p:spPr>
          <a:xfrm>
            <a:off x="694944" y="4023360"/>
            <a:ext cx="274320" cy="274320"/>
          </a:xfrm>
          <a:prstGeom prst="rect">
            <a:avLst/>
          </a:prstGeom>
        </p:spPr>
      </p:pic>
      <p:sp>
        <p:nvSpPr>
          <p:cNvPr id="7" name="daftar poin"/>
          <p:cNvSpPr txBox="1"/>
          <p:nvPr/>
        </p:nvSpPr>
        <p:spPr>
          <a:xfrm>
            <a:off x="7543800" y="1417320"/>
            <a:ext cx="409925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create: membuat objek, dipanggil SEKALI saat objek pertama kali diminta.</a:t>
            </a:r>
            <a:endParaRPr lang="en-US" sz="1700" dirty="0"/>
          </a:p>
          <a:p>
            <a:pPr marL="228600" indent="-228600">
              <a:spcAft>
                <a:spcPts val="800"/>
              </a:spcAft>
              <a:buSzPct val="100000"/>
              <a:buChar char="•"/>
            </a:pPr>
            <a:r>
              <a:rPr lang="en-US" sz="1700" dirty="0">
                <a:solidFill>
                  <a:schemeClr val="tx1"/>
                </a:solidFill>
              </a:rPr>
              <a:t>child: semua widget di dalamnya, termasuk semua halaman, bisa mengambil Keranjang.</a:t>
            </a:r>
            <a:endParaRPr lang="en-US" sz="1700" dirty="0"/>
          </a:p>
          <a:p>
            <a:pPr marL="228600" indent="-228600">
              <a:spcAft>
                <a:spcPts val="800"/>
              </a:spcAft>
              <a:buSzPct val="100000"/>
              <a:buChar char="•"/>
            </a:pPr>
            <a:r>
              <a:rPr lang="en-US" sz="1700" dirty="0">
                <a:solidFill>
                  <a:schemeClr val="tx1"/>
                </a:solidFill>
              </a:rPr>
              <a:t>Saat provider dilepas, dispose() objeknya dipanggil otomatis.</a:t>
            </a:r>
            <a:endParaRPr lang="en-US" sz="1700" dirty="0"/>
          </a:p>
          <a:p>
            <a:pPr marL="228600" indent="-228600">
              <a:spcAft>
                <a:spcPts val="800"/>
              </a:spcAft>
              <a:buSzPct val="100000"/>
              <a:buChar char="•"/>
            </a:pPr>
            <a:r>
              <a:rPr lang="en-US" sz="1700" dirty="0">
                <a:solidFill>
                  <a:schemeClr val="tx1"/>
                </a:solidFill>
              </a:rPr>
              <a:t>Di atas MaterialApp, karena halaman hasil Navigator.push diletakkan oleh Navigator yang berada DI DALAM MaterialApp.</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Langkah 3: Ambil di Widget yang Membutuhkan</a:t>
            </a:r>
            <a:endParaRPr lang="en-US" sz="3200" dirty="0"/>
          </a:p>
        </p:txBody>
      </p:sp>
      <p:sp>
        <p:nvSpPr>
          <p:cNvPr id="4" name="bingkai layar 1"/>
          <p:cNvSpPr/>
          <p:nvPr/>
        </p:nvSpPr>
        <p:spPr>
          <a:xfrm>
            <a:off x="8559295" y="1316736"/>
            <a:ext cx="3138624" cy="4818888"/>
          </a:xfrm>
          <a:prstGeom prst="roundRect">
            <a:avLst>
              <a:gd name="adj" fmla="val 2913"/>
            </a:avLst>
          </a:prstGeom>
          <a:solidFill>
            <a:srgbClr val="FFFFFF"/>
          </a:solidFill>
          <a:ln w="12700">
            <a:solidFill>
              <a:srgbClr val="C9D3E0"/>
            </a:solidFill>
            <a:prstDash val="solid"/>
          </a:ln>
        </p:spPr>
      </p:sp>
      <p:pic>
        <p:nvPicPr>
          <p:cNvPr id="5" name="layar 1" descr="Tangkapan layar aplikasi (hasil_contoh_04.jpg)">    </p:cNvPr>
          <p:cNvPicPr>
            <a:picLocks noChangeAspect="1"/>
          </p:cNvPicPr>
          <p:nvPr/>
        </p:nvPicPr>
        <p:blipFill>
          <a:blip r:embed="rId1"/>
          <a:stretch>
            <a:fillRect/>
          </a:stretch>
        </p:blipFill>
        <p:spPr>
          <a:xfrm>
            <a:off x="8614159" y="1371600"/>
            <a:ext cx="3028896" cy="4709160"/>
          </a:xfrm>
          <a:prstGeom prst="rect">
            <a:avLst/>
          </a:prstGeom>
        </p:spPr>
      </p:pic>
      <p:sp>
        <p:nvSpPr>
          <p:cNvPr id="6" name="kotak kode"/>
          <p:cNvSpPr txBox="1"/>
          <p:nvPr/>
        </p:nvSpPr>
        <p:spPr>
          <a:xfrm>
            <a:off x="548640" y="1371600"/>
            <a:ext cx="7608319" cy="2875788"/>
          </a:xfrm>
          <a:prstGeom prst="roundRect">
            <a:avLst>
              <a:gd name="adj" fmla="val 3180"/>
            </a:avLst>
          </a:prstGeom>
          <a:solidFill>
            <a:srgbClr val="0E1A2B"/>
          </a:solidFill>
          <a:ln/>
        </p:spPr>
        <p:txBody>
          <a:bodyPr wrap="square" lIns="177800" tIns="152400" rIns="152400" bIns="177800" rtlCol="0" anchor="t"/>
          <a:lstStyle/>
          <a:p>
            <a:pPr indent="0" marL="0">
              <a:lnSpc>
                <a:spcPct val="105000"/>
              </a:lnSpc>
              <a:buNone/>
            </a:pPr>
            <a:r>
              <a:rPr lang="en-US" sz="1400" i="1" dirty="0">
                <a:solidFill>
                  <a:srgbClr val="8FA3BC"/>
                </a:solidFill>
                <a:latin typeface="Consolas" pitchFamily="34" charset="0"/>
                <a:ea typeface="Consolas" pitchFamily="34" charset="-122"/>
                <a:cs typeface="Consolas" pitchFamily="34" charset="-120"/>
              </a:rPr>
              <a:t>// HalamanToko (kini StatelessWidget):</a:t>
            </a:r>
            <a:endParaRPr lang="en-US" sz="1400" dirty="0"/>
          </a:p>
          <a:p>
            <a:pPr indent="0" marL="0">
              <a:lnSpc>
                <a:spcPct val="105000"/>
              </a:lnSpc>
              <a:buNone/>
            </a:pPr>
            <a:r>
              <a:rPr lang="en-US" sz="1400" dirty="0">
                <a:solidFill>
                  <a:srgbClr val="C792EA"/>
                </a:solidFill>
                <a:latin typeface="Consolas" pitchFamily="34" charset="0"/>
                <a:ea typeface="Consolas" pitchFamily="34" charset="-122"/>
                <a:cs typeface="Consolas" pitchFamily="34" charset="-120"/>
              </a:rPr>
              <a:t>final</a:t>
            </a:r>
            <a:r>
              <a:rPr lang="en-US" sz="1400" dirty="0">
                <a:solidFill>
                  <a:srgbClr val="E6EDF3"/>
                </a:solidFill>
                <a:latin typeface="Consolas" pitchFamily="34" charset="0"/>
                <a:ea typeface="Consolas" pitchFamily="34" charset="-122"/>
                <a:cs typeface="Consolas" pitchFamily="34" charset="-120"/>
              </a:rPr>
              <a:t> </a:t>
            </a:r>
            <a:r>
              <a:rPr lang="en-US" sz="1400" dirty="0">
                <a:solidFill>
                  <a:srgbClr val="FFCB6B"/>
                </a:solidFill>
                <a:latin typeface="Consolas" pitchFamily="34" charset="0"/>
                <a:ea typeface="Consolas" pitchFamily="34" charset="-122"/>
                <a:cs typeface="Consolas" pitchFamily="34" charset="-120"/>
              </a:rPr>
              <a:t>int</a:t>
            </a:r>
            <a:r>
              <a:rPr lang="en-US" sz="1400" dirty="0">
                <a:solidFill>
                  <a:srgbClr val="E6EDF3"/>
                </a:solidFill>
                <a:latin typeface="Consolas" pitchFamily="34" charset="0"/>
                <a:ea typeface="Consolas" pitchFamily="34" charset="-122"/>
                <a:cs typeface="Consolas" pitchFamily="34" charset="-120"/>
              </a:rPr>
              <a:t> jumlah =</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context.watch&lt;</a:t>
            </a:r>
            <a:r>
              <a:rPr lang="en-US" sz="1400" dirty="0">
                <a:solidFill>
                  <a:srgbClr val="FFCB6B"/>
                </a:solidFill>
                <a:latin typeface="Consolas" pitchFamily="34" charset="0"/>
                <a:ea typeface="Consolas" pitchFamily="34" charset="-122"/>
                <a:cs typeface="Consolas" pitchFamily="34" charset="-120"/>
              </a:rPr>
              <a:t>Keranjang</a:t>
            </a:r>
            <a:r>
              <a:rPr lang="en-US" sz="1400" dirty="0">
                <a:solidFill>
                  <a:srgbClr val="E6EDF3"/>
                </a:solidFill>
                <a:latin typeface="Consolas" pitchFamily="34" charset="0"/>
                <a:ea typeface="Consolas" pitchFamily="34" charset="-122"/>
                <a:cs typeface="Consolas" pitchFamily="34" charset="-120"/>
              </a:rPr>
              <a:t>&gt;().jumlah;</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a:t>
            </a:r>
            <a:endParaRPr lang="en-US" sz="1400" dirty="0"/>
          </a:p>
          <a:p>
            <a:pPr indent="0" marL="0">
              <a:lnSpc>
                <a:spcPct val="105000"/>
              </a:lnSpc>
              <a:buNone/>
            </a:pPr>
            <a:r>
              <a:rPr lang="en-US" sz="1400" i="1" dirty="0">
                <a:solidFill>
                  <a:srgbClr val="8FA3BC"/>
                </a:solidFill>
                <a:latin typeface="Consolas" pitchFamily="34" charset="0"/>
                <a:ea typeface="Consolas" pitchFamily="34" charset="-122"/>
                <a:cs typeface="Consolas" pitchFamily="34" charset="-120"/>
              </a:rPr>
              <a:t>// BarisBarang, tombol tambah:</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onPressed: () =&gt;</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context.read&lt;</a:t>
            </a:r>
            <a:r>
              <a:rPr lang="en-US" sz="1400" dirty="0">
                <a:solidFill>
                  <a:srgbClr val="FFCB6B"/>
                </a:solidFill>
                <a:latin typeface="Consolas" pitchFamily="34" charset="0"/>
                <a:ea typeface="Consolas" pitchFamily="34" charset="-122"/>
                <a:cs typeface="Consolas" pitchFamily="34" charset="-120"/>
              </a:rPr>
              <a:t>Keranjang</a:t>
            </a:r>
            <a:r>
              <a:rPr lang="en-US" sz="1400" dirty="0">
                <a:solidFill>
                  <a:srgbClr val="E6EDF3"/>
                </a:solidFill>
                <a:latin typeface="Consolas" pitchFamily="34" charset="0"/>
                <a:ea typeface="Consolas" pitchFamily="34" charset="-122"/>
                <a:cs typeface="Consolas" pitchFamily="34" charset="-120"/>
              </a:rPr>
              <a:t>&gt;().tambah(nama),</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a:t>
            </a:r>
            <a:endParaRPr lang="en-US" sz="1400" dirty="0"/>
          </a:p>
          <a:p>
            <a:pPr indent="0" marL="0">
              <a:lnSpc>
                <a:spcPct val="105000"/>
              </a:lnSpc>
              <a:buNone/>
            </a:pPr>
            <a:r>
              <a:rPr lang="en-US" sz="1400" i="1" dirty="0">
                <a:solidFill>
                  <a:srgbClr val="8FA3BC"/>
                </a:solidFill>
                <a:latin typeface="Consolas" pitchFamily="34" charset="0"/>
                <a:ea typeface="Consolas" pitchFamily="34" charset="-122"/>
                <a:cs typeface="Consolas" pitchFamily="34" charset="-120"/>
              </a:rPr>
              <a:t>// HalamanKeranjang:</a:t>
            </a:r>
            <a:endParaRPr lang="en-US" sz="1400" dirty="0"/>
          </a:p>
          <a:p>
            <a:pPr indent="0" marL="0">
              <a:lnSpc>
                <a:spcPct val="105000"/>
              </a:lnSpc>
              <a:buNone/>
            </a:pPr>
            <a:r>
              <a:rPr lang="en-US" sz="1400" dirty="0">
                <a:solidFill>
                  <a:srgbClr val="C792EA"/>
                </a:solidFill>
                <a:latin typeface="Consolas" pitchFamily="34" charset="0"/>
                <a:ea typeface="Consolas" pitchFamily="34" charset="-122"/>
                <a:cs typeface="Consolas" pitchFamily="34" charset="-120"/>
              </a:rPr>
              <a:t>final</a:t>
            </a:r>
            <a:r>
              <a:rPr lang="en-US" sz="1400" dirty="0">
                <a:solidFill>
                  <a:srgbClr val="E6EDF3"/>
                </a:solidFill>
                <a:latin typeface="Consolas" pitchFamily="34" charset="0"/>
                <a:ea typeface="Consolas" pitchFamily="34" charset="-122"/>
                <a:cs typeface="Consolas" pitchFamily="34" charset="-120"/>
              </a:rPr>
              <a:t> </a:t>
            </a:r>
            <a:r>
              <a:rPr lang="en-US" sz="1400" dirty="0">
                <a:solidFill>
                  <a:srgbClr val="FFCB6B"/>
                </a:solidFill>
                <a:latin typeface="Consolas" pitchFamily="34" charset="0"/>
                <a:ea typeface="Consolas" pitchFamily="34" charset="-122"/>
                <a:cs typeface="Consolas" pitchFamily="34" charset="-120"/>
              </a:rPr>
              <a:t>Keranjang</a:t>
            </a:r>
            <a:r>
              <a:rPr lang="en-US" sz="1400" dirty="0">
                <a:solidFill>
                  <a:srgbClr val="E6EDF3"/>
                </a:solidFill>
                <a:latin typeface="Consolas" pitchFamily="34" charset="0"/>
                <a:ea typeface="Consolas" pitchFamily="34" charset="-122"/>
                <a:cs typeface="Consolas" pitchFamily="34" charset="-120"/>
              </a:rPr>
              <a:t> keranjang =</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context.watch&lt;</a:t>
            </a:r>
            <a:r>
              <a:rPr lang="en-US" sz="1400" dirty="0">
                <a:solidFill>
                  <a:srgbClr val="FFCB6B"/>
                </a:solidFill>
                <a:latin typeface="Consolas" pitchFamily="34" charset="0"/>
                <a:ea typeface="Consolas" pitchFamily="34" charset="-122"/>
                <a:cs typeface="Consolas" pitchFamily="34" charset="-120"/>
              </a:rPr>
              <a:t>Keranjang</a:t>
            </a:r>
            <a:r>
              <a:rPr lang="en-US" sz="1400" dirty="0">
                <a:solidFill>
                  <a:srgbClr val="E6EDF3"/>
                </a:solidFill>
                <a:latin typeface="Consolas" pitchFamily="34" charset="0"/>
                <a:ea typeface="Consolas" pitchFamily="34" charset="-122"/>
                <a:cs typeface="Consolas" pitchFamily="34" charset="-120"/>
              </a:rPr>
              <a:t>&gt;();</a:t>
            </a:r>
            <a:endParaRPr lang="en-US" sz="1400" dirty="0"/>
          </a:p>
        </p:txBody>
      </p:sp>
      <p:sp>
        <p:nvSpPr>
          <p:cNvPr id="7" name="tombol tautan">
            <a:hlinkClick r:id="rId2" tooltip="https://github.com/antonprafanto/mobile2026/blob/main/pertemuan_09_state_dan_mvvm/kode/contoh_04_provider_dasar.dart"/>
          </p:cNvPr>
          <p:cNvSpPr txBox="1"/>
          <p:nvPr/>
        </p:nvSpPr>
        <p:spPr>
          <a:xfrm>
            <a:off x="548640" y="4430268"/>
            <a:ext cx="7608319"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contoh_04_provider_dasar.dart</a:t>
            </a:r>
            <a:endParaRPr lang="en-US" sz="1300" dirty="0"/>
          </a:p>
        </p:txBody>
      </p:sp>
      <p:pic>
        <p:nvPicPr>
          <p:cNvPr id="8" name="Image 1" descr="ikon tautan">
            <a:hlinkClick r:id="rId4" tooltip="https://github.com/antonprafanto/mobile2026/blob/main/pertemuan_09_state_dan_mvvm/kode/contoh_04_provider_dasar.dart"/>
          </p:cNvPr>
          <p:cNvPicPr>
            <a:picLocks noChangeAspect="1"/>
          </p:cNvPicPr>
          <p:nvPr/>
        </p:nvPicPr>
        <p:blipFill>
          <a:blip r:embed="rId3"/>
          <a:stretch>
            <a:fillRect/>
          </a:stretch>
        </p:blipFill>
        <p:spPr>
          <a:xfrm>
            <a:off x="694944" y="4521708"/>
            <a:ext cx="274320" cy="274320"/>
          </a:xfrm>
          <a:prstGeom prst="rect">
            <a:avLst/>
          </a:prstGeom>
        </p:spPr>
      </p:pic>
      <p:sp>
        <p:nvSpPr>
          <p:cNvPr id="9" name="daftar poin"/>
          <p:cNvSpPr txBox="1"/>
          <p:nvPr/>
        </p:nvSpPr>
        <p:spPr>
          <a:xfrm>
            <a:off x="548640" y="5161788"/>
            <a:ext cx="7608319" cy="1056132"/>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watch: ambil DAN dengarkan perubahan. read: cukup ambil, lalu panggil metodenya.</a:t>
            </a:r>
            <a:endParaRPr lang="en-US" sz="1600" dirty="0"/>
          </a:p>
          <a:p>
            <a:pPr marL="228600" indent="-228600">
              <a:spcAft>
                <a:spcPts val="800"/>
              </a:spcAft>
              <a:buSzPct val="100000"/>
              <a:buChar char="•"/>
            </a:pPr>
            <a:r>
              <a:rPr lang="en-US" sz="1600" dirty="0">
                <a:solidFill>
                  <a:schemeClr val="tx1"/>
                </a:solidFill>
              </a:rPr>
              <a:t>DaftarBarang (perantara) tidak dibutuhkan lagi.</a:t>
            </a:r>
            <a:endParaRPr lang="en-US" sz="1600" dirty="0"/>
          </a:p>
          <a:p>
            <a:pPr marL="228600" indent="-228600">
              <a:spcAft>
                <a:spcPts val="800"/>
              </a:spcAft>
              <a:buSzPct val="100000"/>
              <a:buChar char="•"/>
            </a:pPr>
            <a:r>
              <a:rPr lang="en-US" sz="1600" dirty="0">
                <a:solidFill>
                  <a:schemeClr val="tx1"/>
                </a:solidFill>
              </a:rPr>
              <a:t>Barang yang dihapus langsung hilang: "Keranjang (2)".</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Buat Objek di create, Bukan di .value</a:t>
            </a:r>
            <a:endParaRPr lang="en-US" sz="3200" dirty="0"/>
          </a:p>
        </p:txBody>
      </p:sp>
      <p:sp>
        <p:nvSpPr>
          <p:cNvPr id="4" name="kolom 1"/>
          <p:cNvSpPr/>
          <p:nvPr/>
        </p:nvSpPr>
        <p:spPr>
          <a:xfrm>
            <a:off x="548640" y="1371600"/>
            <a:ext cx="5387188" cy="4754880"/>
          </a:xfrm>
          <a:prstGeom prst="roundRect">
            <a:avLst>
              <a:gd name="adj" fmla="val 2308"/>
            </a:avLst>
          </a:prstGeom>
          <a:solidFill>
            <a:srgbClr val="E3F2FD"/>
          </a:solidFill>
          <a:ln w="25400">
            <a:solidFill>
              <a:schemeClr val="accent1"/>
            </a:solidFill>
            <a:prstDash val="solid"/>
          </a:ln>
        </p:spPr>
      </p:sp>
      <p:sp>
        <p:nvSpPr>
          <p:cNvPr id="5" name="lingkaran centang"/>
          <p:cNvSpPr/>
          <p:nvPr/>
        </p:nvSpPr>
        <p:spPr>
          <a:xfrm>
            <a:off x="777240" y="1600200"/>
            <a:ext cx="685800" cy="685800"/>
          </a:xfrm>
          <a:prstGeom prst="ellipse">
            <a:avLst/>
          </a:prstGeom>
          <a:solidFill>
            <a:schemeClr val="accent4"/>
          </a:solidFill>
          <a:ln/>
        </p:spPr>
      </p:sp>
      <p:pic>
        <p:nvPicPr>
          <p:cNvPr id="6" name="Image 0" descr="centang">    </p:cNvPr>
          <p:cNvPicPr>
            <a:picLocks noChangeAspect="1"/>
          </p:cNvPicPr>
          <p:nvPr/>
        </p:nvPicPr>
        <p:blipFill>
          <a:blip r:embed="rId1"/>
          <a:stretch>
            <a:fillRect/>
          </a:stretch>
        </p:blipFill>
        <p:spPr>
          <a:xfrm>
            <a:off x="928116" y="1751076"/>
            <a:ext cx="384048" cy="384048"/>
          </a:xfrm>
          <a:prstGeom prst="rect">
            <a:avLst/>
          </a:prstGeom>
        </p:spPr>
      </p:pic>
      <p:sp>
        <p:nvSpPr>
          <p:cNvPr id="7" name="Text 3"/>
          <p:cNvSpPr txBox="1"/>
          <p:nvPr/>
        </p:nvSpPr>
        <p:spPr>
          <a:xfrm>
            <a:off x="1600200" y="1554480"/>
            <a:ext cx="4198468" cy="777240"/>
          </a:xfrm>
          <a:prstGeom prst="rect">
            <a:avLst/>
          </a:prstGeom>
          <a:noFill/>
          <a:ln/>
        </p:spPr>
        <p:txBody>
          <a:bodyPr wrap="square" lIns="0" tIns="0" rIns="0" bIns="0" rtlCol="0" anchor="ctr"/>
          <a:lstStyle/>
          <a:p>
            <a:pPr indent="0" marL="0">
              <a:buNone/>
            </a:pPr>
            <a:r>
              <a:rPr lang="en-US" sz="1900" b="1" dirty="0">
                <a:solidFill>
                  <a:schemeClr val="tx2"/>
                </a:solidFill>
              </a:rPr>
              <a:t>create</a:t>
            </a:r>
            <a:endParaRPr lang="en-US" sz="1900" dirty="0"/>
          </a:p>
        </p:txBody>
      </p:sp>
      <p:sp>
        <p:nvSpPr>
          <p:cNvPr id="8" name="Text 4"/>
          <p:cNvSpPr txBox="1"/>
          <p:nvPr/>
        </p:nvSpPr>
        <p:spPr>
          <a:xfrm>
            <a:off x="777240" y="2423160"/>
            <a:ext cx="4929988" cy="365760"/>
          </a:xfrm>
          <a:prstGeom prst="rect">
            <a:avLst/>
          </a:prstGeom>
          <a:noFill/>
          <a:ln/>
        </p:spPr>
        <p:txBody>
          <a:bodyPr wrap="square" lIns="0" tIns="0" rIns="0" bIns="0" rtlCol="0" anchor="ctr"/>
          <a:lstStyle/>
          <a:p>
            <a:pPr indent="0" marL="0">
              <a:buNone/>
            </a:pPr>
            <a:r>
              <a:rPr lang="en-US" sz="1400" b="1" dirty="0">
                <a:solidFill>
                  <a:schemeClr val="accent4"/>
                </a:solidFill>
              </a:rPr>
              <a:t>Objek BARU dibuat di sini</a:t>
            </a:r>
            <a:endParaRPr lang="en-US" sz="1400" dirty="0"/>
          </a:p>
        </p:txBody>
      </p:sp>
      <p:sp>
        <p:nvSpPr>
          <p:cNvPr id="9" name="daftar poin"/>
          <p:cNvSpPr txBox="1"/>
          <p:nvPr/>
        </p:nvSpPr>
        <p:spPr>
          <a:xfrm>
            <a:off x="777240" y="2926080"/>
            <a:ext cx="4929988" cy="1581912"/>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Dipanggil sekali; objek bertahan walaupun widget dibangun ulang</a:t>
            </a:r>
            <a:endParaRPr lang="en-US" sz="1600" dirty="0"/>
          </a:p>
          <a:p>
            <a:pPr marL="228600" indent="-228600">
              <a:spcAft>
                <a:spcPts val="800"/>
              </a:spcAft>
              <a:buSzPct val="100000"/>
              <a:buChar char="•"/>
            </a:pPr>
            <a:r>
              <a:rPr lang="en-US" sz="1600" dirty="0">
                <a:solidFill>
                  <a:schemeClr val="tx1"/>
                </a:solidFill>
              </a:rPr>
              <a:t>Dibuang otomatis saat provider dilepas</a:t>
            </a:r>
            <a:endParaRPr lang="en-US" sz="1600" dirty="0"/>
          </a:p>
        </p:txBody>
      </p:sp>
      <p:sp>
        <p:nvSpPr>
          <p:cNvPr id="10" name="kotak kode"/>
          <p:cNvSpPr txBox="1"/>
          <p:nvPr/>
        </p:nvSpPr>
        <p:spPr>
          <a:xfrm>
            <a:off x="731520" y="4462272"/>
            <a:ext cx="5021428" cy="1481328"/>
          </a:xfrm>
          <a:prstGeom prst="roundRect">
            <a:avLst>
              <a:gd name="adj" fmla="val 6173"/>
            </a:avLst>
          </a:prstGeom>
          <a:solidFill>
            <a:srgbClr val="0E1A2B"/>
          </a:solidFill>
          <a:ln/>
        </p:spPr>
        <p:txBody>
          <a:bodyPr wrap="square" lIns="177800" tIns="152400" rIns="152400" bIns="177800" rtlCol="0" anchor="t"/>
          <a:lstStyle/>
          <a:p>
            <a:pPr indent="0" marL="0">
              <a:lnSpc>
                <a:spcPct val="105000"/>
              </a:lnSpc>
              <a:buNone/>
            </a:pPr>
            <a:r>
              <a:rPr lang="en-US" sz="1300" dirty="0">
                <a:solidFill>
                  <a:srgbClr val="FFCB6B"/>
                </a:solidFill>
                <a:latin typeface="Consolas" pitchFamily="34" charset="0"/>
                <a:ea typeface="Consolas" pitchFamily="34" charset="-122"/>
                <a:cs typeface="Consolas" pitchFamily="34" charset="-120"/>
              </a:rPr>
              <a:t>ChangeNotifierProvider</a:t>
            </a: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create: (</a:t>
            </a:r>
            <a:r>
              <a:rPr lang="en-US" sz="1300" dirty="0">
                <a:solidFill>
                  <a:srgbClr val="FFCB6B"/>
                </a:solidFill>
                <a:latin typeface="Consolas" pitchFamily="34" charset="0"/>
                <a:ea typeface="Consolas" pitchFamily="34" charset="-122"/>
                <a:cs typeface="Consolas" pitchFamily="34" charset="-120"/>
              </a:rPr>
              <a:t>BuildContext</a:t>
            </a:r>
            <a:r>
              <a:rPr lang="en-US" sz="1300" dirty="0">
                <a:solidFill>
                  <a:srgbClr val="E6EDF3"/>
                </a:solidFill>
                <a:latin typeface="Consolas" pitchFamily="34" charset="0"/>
                <a:ea typeface="Consolas" pitchFamily="34" charset="-122"/>
                <a:cs typeface="Consolas" pitchFamily="34" charset="-120"/>
              </a:rPr>
              <a:t> context) =&gt;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FCB6B"/>
                </a:solidFill>
                <a:latin typeface="Consolas" pitchFamily="34" charset="0"/>
                <a:ea typeface="Consolas" pitchFamily="34" charset="-122"/>
                <a:cs typeface="Consolas" pitchFamily="34" charset="-120"/>
              </a:rPr>
              <a:t>Keranjang</a:t>
            </a: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child: </a:t>
            </a:r>
            <a:r>
              <a:rPr lang="en-US" sz="1300" dirty="0">
                <a:solidFill>
                  <a:srgbClr val="C792EA"/>
                </a:solidFill>
                <a:latin typeface="Consolas" pitchFamily="34" charset="0"/>
                <a:ea typeface="Consolas" pitchFamily="34" charset="-122"/>
                <a:cs typeface="Consolas" pitchFamily="34" charset="-120"/>
              </a:rPr>
              <a:t>const</a:t>
            </a: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FCB6B"/>
                </a:solidFill>
                <a:latin typeface="Consolas" pitchFamily="34" charset="0"/>
                <a:ea typeface="Consolas" pitchFamily="34" charset="-122"/>
                <a:cs typeface="Consolas" pitchFamily="34" charset="-120"/>
              </a:rPr>
              <a:t>AplikasiBelanja</a:t>
            </a: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endParaRPr lang="en-US" sz="1300" dirty="0"/>
          </a:p>
        </p:txBody>
      </p:sp>
      <p:sp>
        <p:nvSpPr>
          <p:cNvPr id="11" name="kolom 2"/>
          <p:cNvSpPr/>
          <p:nvPr/>
        </p:nvSpPr>
        <p:spPr>
          <a:xfrm>
            <a:off x="6255868" y="1371600"/>
            <a:ext cx="5387188" cy="4754880"/>
          </a:xfrm>
          <a:prstGeom prst="roundRect">
            <a:avLst>
              <a:gd name="adj" fmla="val 2308"/>
            </a:avLst>
          </a:prstGeom>
          <a:solidFill>
            <a:schemeClr val="bg2"/>
          </a:solidFill>
          <a:ln/>
        </p:spPr>
      </p:sp>
      <p:sp>
        <p:nvSpPr>
          <p:cNvPr id="12" name="lingkaran galat"/>
          <p:cNvSpPr/>
          <p:nvPr/>
        </p:nvSpPr>
        <p:spPr>
          <a:xfrm>
            <a:off x="6484468" y="1600200"/>
            <a:ext cx="685800" cy="685800"/>
          </a:xfrm>
          <a:prstGeom prst="ellipse">
            <a:avLst/>
          </a:prstGeom>
          <a:solidFill>
            <a:schemeClr val="accent5"/>
          </a:solidFill>
          <a:ln/>
        </p:spPr>
      </p:sp>
      <p:pic>
        <p:nvPicPr>
          <p:cNvPr id="13" name="Image 1" descr="galat">    </p:cNvPr>
          <p:cNvPicPr>
            <a:picLocks noChangeAspect="1"/>
          </p:cNvPicPr>
          <p:nvPr/>
        </p:nvPicPr>
        <p:blipFill>
          <a:blip r:embed="rId2"/>
          <a:stretch>
            <a:fillRect/>
          </a:stretch>
        </p:blipFill>
        <p:spPr>
          <a:xfrm>
            <a:off x="6635344" y="1751076"/>
            <a:ext cx="384048" cy="384048"/>
          </a:xfrm>
          <a:prstGeom prst="rect">
            <a:avLst/>
          </a:prstGeom>
        </p:spPr>
      </p:pic>
      <p:sp>
        <p:nvSpPr>
          <p:cNvPr id="14" name="Text 9"/>
          <p:cNvSpPr txBox="1"/>
          <p:nvPr/>
        </p:nvSpPr>
        <p:spPr>
          <a:xfrm>
            <a:off x="7307428" y="1554480"/>
            <a:ext cx="4198468" cy="777240"/>
          </a:xfrm>
          <a:prstGeom prst="rect">
            <a:avLst/>
          </a:prstGeom>
          <a:noFill/>
          <a:ln/>
        </p:spPr>
        <p:txBody>
          <a:bodyPr wrap="square" lIns="0" tIns="0" rIns="0" bIns="0" rtlCol="0" anchor="ctr"/>
          <a:lstStyle/>
          <a:p>
            <a:pPr indent="0" marL="0">
              <a:buNone/>
            </a:pPr>
            <a:r>
              <a:rPr lang="en-US" sz="1900" b="1" dirty="0">
                <a:solidFill>
                  <a:schemeClr val="tx2"/>
                </a:solidFill>
              </a:rPr>
              <a:t>.value</a:t>
            </a:r>
            <a:endParaRPr lang="en-US" sz="1900" dirty="0"/>
          </a:p>
        </p:txBody>
      </p:sp>
      <p:sp>
        <p:nvSpPr>
          <p:cNvPr id="15" name="Text 10"/>
          <p:cNvSpPr txBox="1"/>
          <p:nvPr/>
        </p:nvSpPr>
        <p:spPr>
          <a:xfrm>
            <a:off x="6484468" y="2423160"/>
            <a:ext cx="4929988" cy="365760"/>
          </a:xfrm>
          <a:prstGeom prst="rect">
            <a:avLst/>
          </a:prstGeom>
          <a:noFill/>
          <a:ln/>
        </p:spPr>
        <p:txBody>
          <a:bodyPr wrap="square" lIns="0" tIns="0" rIns="0" bIns="0" rtlCol="0" anchor="ctr"/>
          <a:lstStyle/>
          <a:p>
            <a:pPr indent="0" marL="0">
              <a:buNone/>
            </a:pPr>
            <a:r>
              <a:rPr lang="en-US" sz="1400" b="1" dirty="0">
                <a:solidFill>
                  <a:schemeClr val="accent5"/>
                </a:solidFill>
              </a:rPr>
              <a:t>Hanya untuk objek yang SUDAH ADA</a:t>
            </a:r>
            <a:endParaRPr lang="en-US" sz="1400" dirty="0"/>
          </a:p>
        </p:txBody>
      </p:sp>
      <p:sp>
        <p:nvSpPr>
          <p:cNvPr id="16" name="daftar poin"/>
          <p:cNvSpPr txBox="1"/>
          <p:nvPr/>
        </p:nvSpPr>
        <p:spPr>
          <a:xfrm>
            <a:off x="6484468" y="2926080"/>
            <a:ext cx="4929988" cy="1581912"/>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Objek baru di .value + di dalam build → keranjang baru setiap dibangun ulang, isinya kosong lagi</a:t>
            </a:r>
            <a:endParaRPr lang="en-US" sz="1600" dirty="0"/>
          </a:p>
          <a:p>
            <a:pPr marL="228600" indent="-228600">
              <a:spcAft>
                <a:spcPts val="800"/>
              </a:spcAft>
              <a:buSzPct val="100000"/>
              <a:buChar char="•"/>
            </a:pPr>
            <a:r>
              <a:rPr lang="en-US" sz="1600" dirty="0">
                <a:solidFill>
                  <a:schemeClr val="tx1"/>
                </a:solidFill>
              </a:rPr>
              <a:t>.value tidak memanggil dispose()</a:t>
            </a:r>
            <a:endParaRPr lang="en-US" sz="1600" dirty="0"/>
          </a:p>
        </p:txBody>
      </p:sp>
      <p:sp>
        <p:nvSpPr>
          <p:cNvPr id="17" name="kotak kode"/>
          <p:cNvSpPr txBox="1"/>
          <p:nvPr/>
        </p:nvSpPr>
        <p:spPr>
          <a:xfrm>
            <a:off x="6438748" y="4462272"/>
            <a:ext cx="5021428" cy="1481328"/>
          </a:xfrm>
          <a:prstGeom prst="roundRect">
            <a:avLst>
              <a:gd name="adj" fmla="val 6173"/>
            </a:avLst>
          </a:prstGeom>
          <a:solidFill>
            <a:srgbClr val="0E1A2B"/>
          </a:solidFill>
          <a:ln/>
        </p:spPr>
        <p:txBody>
          <a:bodyPr wrap="square" lIns="177800" tIns="152400" rIns="152400" bIns="177800" rtlCol="0" anchor="t"/>
          <a:lstStyle/>
          <a:p>
            <a:pPr indent="0" marL="0">
              <a:lnSpc>
                <a:spcPct val="105000"/>
              </a:lnSpc>
              <a:buNone/>
            </a:pPr>
            <a:r>
              <a:rPr lang="en-US" sz="1300" i="1" dirty="0">
                <a:solidFill>
                  <a:srgbClr val="8FA3BC"/>
                </a:solidFill>
                <a:latin typeface="Consolas" pitchFamily="34" charset="0"/>
                <a:ea typeface="Consolas" pitchFamily="34" charset="-122"/>
                <a:cs typeface="Consolas" pitchFamily="34" charset="-120"/>
              </a:rPr>
              <a:t>// SALAH: objek baru di .value</a:t>
            </a:r>
            <a:endParaRPr lang="en-US" sz="1300" dirty="0"/>
          </a:p>
          <a:p>
            <a:pPr indent="0" marL="0">
              <a:lnSpc>
                <a:spcPct val="105000"/>
              </a:lnSpc>
              <a:buNone/>
            </a:pPr>
            <a:r>
              <a:rPr lang="en-US" sz="1300" dirty="0">
                <a:solidFill>
                  <a:srgbClr val="FFCB6B"/>
                </a:solidFill>
                <a:latin typeface="Consolas" pitchFamily="34" charset="0"/>
                <a:ea typeface="Consolas" pitchFamily="34" charset="-122"/>
                <a:cs typeface="Consolas" pitchFamily="34" charset="-120"/>
              </a:rPr>
              <a:t>ChangeNotifierProvider</a:t>
            </a:r>
            <a:r>
              <a:rPr lang="en-US" sz="1300" dirty="0">
                <a:solidFill>
                  <a:srgbClr val="E6EDF3"/>
                </a:solidFill>
                <a:latin typeface="Consolas" pitchFamily="34" charset="0"/>
                <a:ea typeface="Consolas" pitchFamily="34" charset="-122"/>
                <a:cs typeface="Consolas" pitchFamily="34" charset="-120"/>
              </a:rPr>
              <a:t>.value(</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value: </a:t>
            </a:r>
            <a:r>
              <a:rPr lang="en-US" sz="1300" dirty="0">
                <a:solidFill>
                  <a:srgbClr val="FFCB6B"/>
                </a:solidFill>
                <a:latin typeface="Consolas" pitchFamily="34" charset="0"/>
                <a:ea typeface="Consolas" pitchFamily="34" charset="-122"/>
                <a:cs typeface="Consolas" pitchFamily="34" charset="-120"/>
              </a:rPr>
              <a:t>Keranjang</a:t>
            </a: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child: </a:t>
            </a:r>
            <a:r>
              <a:rPr lang="en-US" sz="1300" dirty="0">
                <a:solidFill>
                  <a:srgbClr val="C792EA"/>
                </a:solidFill>
                <a:latin typeface="Consolas" pitchFamily="34" charset="0"/>
                <a:ea typeface="Consolas" pitchFamily="34" charset="-122"/>
                <a:cs typeface="Consolas" pitchFamily="34" charset="-120"/>
              </a:rPr>
              <a:t>const</a:t>
            </a: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FCB6B"/>
                </a:solidFill>
                <a:latin typeface="Consolas" pitchFamily="34" charset="0"/>
                <a:ea typeface="Consolas" pitchFamily="34" charset="-122"/>
                <a:cs typeface="Consolas" pitchFamily="34" charset="-120"/>
              </a:rPr>
              <a:t>AplikasiBelanja</a:t>
            </a: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endParaRPr lang="en-US" sz="13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watch, select, read, dan Consumer</a:t>
            </a:r>
            <a:endParaRPr lang="en-US" sz="32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3156170"/>
                <a:gridCol w="4399509"/>
                <a:gridCol w="3538736"/>
              </a:tblGrid>
              <a:tr h="658368">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Cara</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Analogi grup obrolan kelas</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Dibangun ulang saat</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658368">
                <a:tc>
                  <a:txBody>
                    <a:bodyPr/>
                    <a:lstStyle/>
                    <a:p>
                      <a:pPr indent="0" marL="0">
                        <a:buNone/>
                      </a:pPr>
                      <a:r>
                        <a:rPr lang="en-US" sz="1600" dirty="0">
                          <a:solidFill>
                            <a:srgbClr val="1B2333"/>
                          </a:solidFill>
                          <a:latin typeface="Consolas" pitchFamily="34" charset="0"/>
                          <a:ea typeface="Consolas" pitchFamily="34" charset="-122"/>
                          <a:cs typeface="Consolas" pitchFamily="34" charset="-120"/>
                        </a:rPr>
                        <a:t>context.watch&lt;T&gt;()</a:t>
                      </a:r>
                      <a:endParaRPr lang="en-US" sz="16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Notifikasi aktif: setiap pesan baru, ponsel berbunyi</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Setiap notifyListeners()</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658368">
                <a:tc>
                  <a:txBody>
                    <a:bodyPr/>
                    <a:lstStyle/>
                    <a:p>
                      <a:pPr indent="0" marL="0">
                        <a:buNone/>
                      </a:pPr>
                      <a:r>
                        <a:rPr lang="en-US" sz="1600" dirty="0">
                          <a:solidFill>
                            <a:srgbClr val="1B2333"/>
                          </a:solidFill>
                          <a:latin typeface="Consolas" pitchFamily="34" charset="0"/>
                          <a:ea typeface="Consolas" pitchFamily="34" charset="-122"/>
                          <a:cs typeface="Consolas" pitchFamily="34" charset="-120"/>
                        </a:rPr>
                        <a:t>context.select(...)</a:t>
                      </a:r>
                      <a:endParaRPr lang="en-US" sz="16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Ponsel berbunyi hanya jika nama Anda disebut</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Nilai yang dipilih berubah</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658368">
                <a:tc>
                  <a:txBody>
                    <a:bodyPr/>
                    <a:lstStyle/>
                    <a:p>
                      <a:pPr indent="0" marL="0">
                        <a:buNone/>
                      </a:pPr>
                      <a:r>
                        <a:rPr lang="en-US" sz="1600" dirty="0">
                          <a:solidFill>
                            <a:srgbClr val="1B2333"/>
                          </a:solidFill>
                          <a:latin typeface="Consolas" pitchFamily="34" charset="0"/>
                          <a:ea typeface="Consolas" pitchFamily="34" charset="-122"/>
                          <a:cs typeface="Consolas" pitchFamily="34" charset="-120"/>
                        </a:rPr>
                        <a:t>context.read&lt;T&gt;()</a:t>
                      </a:r>
                      <a:endParaRPr lang="en-US" sz="16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Notifikasi dimatikan; grup dibuka saat perlu mengirim</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Tidak pernah</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658368">
                <a:tc>
                  <a:txBody>
                    <a:bodyPr/>
                    <a:lstStyle/>
                    <a:p>
                      <a:pPr indent="0" marL="0">
                        <a:buNone/>
                      </a:pPr>
                      <a:r>
                        <a:rPr lang="en-US" sz="1600" dirty="0">
                          <a:solidFill>
                            <a:srgbClr val="1B2333"/>
                          </a:solidFill>
                          <a:latin typeface="Consolas" pitchFamily="34" charset="0"/>
                          <a:ea typeface="Consolas" pitchFamily="34" charset="-122"/>
                          <a:cs typeface="Consolas" pitchFamily="34" charset="-120"/>
                        </a:rPr>
                        <a:t>Consumer&lt;T&gt;</a:t>
                      </a:r>
                      <a:endParaRPr lang="en-US" sz="16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Seperti watch, tetapi hanya satu bagian kecil layar</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Setiap perubahan, hanya isi builder</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bl>
          </a:graphicData>
        </a:graphic>
      </p:graphicFrame>
      <p:sp>
        <p:nvSpPr>
          <p:cNvPr id="5" name="lingkaran lampu"/>
          <p:cNvSpPr/>
          <p:nvPr/>
        </p:nvSpPr>
        <p:spPr>
          <a:xfrm>
            <a:off x="548640" y="5486400"/>
            <a:ext cx="502920" cy="502920"/>
          </a:xfrm>
          <a:prstGeom prst="ellipse">
            <a:avLst/>
          </a:prstGeom>
          <a:solidFill>
            <a:schemeClr val="accent3"/>
          </a:solidFill>
          <a:ln/>
        </p:spPr>
      </p:sp>
      <p:pic>
        <p:nvPicPr>
          <p:cNvPr id="6" name="Image 0" descr="lampu">    </p:cNvPr>
          <p:cNvPicPr>
            <a:picLocks noChangeAspect="1"/>
          </p:cNvPicPr>
          <p:nvPr/>
        </p:nvPicPr>
        <p:blipFill>
          <a:blip r:embed="rId1"/>
          <a:stretch>
            <a:fillRect/>
          </a:stretch>
        </p:blipFill>
        <p:spPr>
          <a:xfrm>
            <a:off x="659282" y="5597042"/>
            <a:ext cx="281635" cy="281635"/>
          </a:xfrm>
          <a:prstGeom prst="rect">
            <a:avLst/>
          </a:prstGeom>
        </p:spPr>
      </p:pic>
      <p:sp>
        <p:nvSpPr>
          <p:cNvPr id="7" name="Text 2"/>
          <p:cNvSpPr txBox="1"/>
          <p:nvPr/>
        </p:nvSpPr>
        <p:spPr>
          <a:xfrm>
            <a:off x="1234440" y="5394960"/>
            <a:ext cx="10408615" cy="685800"/>
          </a:xfrm>
          <a:prstGeom prst="rect">
            <a:avLst/>
          </a:prstGeom>
          <a:noFill/>
          <a:ln/>
        </p:spPr>
        <p:txBody>
          <a:bodyPr wrap="square" lIns="0" tIns="0" rIns="0" bIns="0" rtlCol="0" anchor="ctr"/>
          <a:lstStyle/>
          <a:p>
            <a:pPr indent="0" marL="0">
              <a:buNone/>
            </a:pPr>
            <a:r>
              <a:rPr lang="en-US" sz="1600" dirty="0">
                <a:solidFill>
                  <a:schemeClr val="tx1"/>
                </a:solidFill>
              </a:rPr>
              <a:t>Menampilkan data → watch atau select (di dalam build). Memanggil metode → read (di onPressed, onChanged, initState).</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Membuktikan: Menghitung Berapa Kali Widget Dibangun</a:t>
            </a:r>
            <a:endParaRPr lang="en-US" sz="3200" dirty="0"/>
          </a:p>
        </p:txBody>
      </p:sp>
      <p:sp>
        <p:nvSpPr>
          <p:cNvPr id="4" name="bingkai layar 1"/>
          <p:cNvSpPr/>
          <p:nvPr/>
        </p:nvSpPr>
        <p:spPr>
          <a:xfrm>
            <a:off x="8559295" y="1316736"/>
            <a:ext cx="3138624" cy="4818888"/>
          </a:xfrm>
          <a:prstGeom prst="roundRect">
            <a:avLst>
              <a:gd name="adj" fmla="val 2913"/>
            </a:avLst>
          </a:prstGeom>
          <a:solidFill>
            <a:srgbClr val="FFFFFF"/>
          </a:solidFill>
          <a:ln w="12700">
            <a:solidFill>
              <a:srgbClr val="C9D3E0"/>
            </a:solidFill>
            <a:prstDash val="solid"/>
          </a:ln>
        </p:spPr>
      </p:sp>
      <p:pic>
        <p:nvPicPr>
          <p:cNvPr id="5" name="layar 1" descr="Tangkapan layar aplikasi (hasil_contoh_05.jpg)">    </p:cNvPr>
          <p:cNvPicPr>
            <a:picLocks noChangeAspect="1"/>
          </p:cNvPicPr>
          <p:nvPr/>
        </p:nvPicPr>
        <p:blipFill>
          <a:blip r:embed="rId1"/>
          <a:stretch>
            <a:fillRect/>
          </a:stretch>
        </p:blipFill>
        <p:spPr>
          <a:xfrm>
            <a:off x="8614159" y="1371600"/>
            <a:ext cx="3028896" cy="4709160"/>
          </a:xfrm>
          <a:prstGeom prst="rect">
            <a:avLst/>
          </a:prstGeom>
        </p:spPr>
      </p:pic>
      <p:sp>
        <p:nvSpPr>
          <p:cNvPr id="6" name="kotak kode"/>
          <p:cNvSpPr txBox="1"/>
          <p:nvPr/>
        </p:nvSpPr>
        <p:spPr>
          <a:xfrm>
            <a:off x="548640" y="1371600"/>
            <a:ext cx="7608319" cy="2699766"/>
          </a:xfrm>
          <a:prstGeom prst="roundRect">
            <a:avLst>
              <a:gd name="adj" fmla="val 3387"/>
            </a:avLst>
          </a:prstGeom>
          <a:solidFill>
            <a:srgbClr val="0E1A2B"/>
          </a:solidFill>
          <a:ln/>
        </p:spPr>
        <p:txBody>
          <a:bodyPr wrap="square" lIns="177800" tIns="152400" rIns="152400" bIns="177800" rtlCol="0" anchor="t"/>
          <a:lstStyle/>
          <a:p>
            <a:pPr indent="0" marL="0">
              <a:lnSpc>
                <a:spcPct val="105000"/>
              </a:lnSpc>
              <a:buNone/>
            </a:pPr>
            <a:r>
              <a:rPr lang="en-US" sz="1300" i="1" dirty="0">
                <a:solidFill>
                  <a:srgbClr val="8FA3BC"/>
                </a:solidFill>
                <a:latin typeface="Consolas" pitchFamily="34" charset="0"/>
                <a:ea typeface="Consolas" pitchFamily="34" charset="-122"/>
                <a:cs typeface="Consolas" pitchFamily="34" charset="-120"/>
              </a:rPr>
              <a:t>// KartuSkorBiru: hanya peduli skor Tim Biru.</a:t>
            </a:r>
            <a:endParaRPr lang="en-US" sz="1300" dirty="0"/>
          </a:p>
          <a:p>
            <a:pPr indent="0" marL="0">
              <a:lnSpc>
                <a:spcPct val="105000"/>
              </a:lnSpc>
              <a:buNone/>
            </a:pPr>
            <a:r>
              <a:rPr lang="en-US" sz="1300" dirty="0">
                <a:solidFill>
                  <a:srgbClr val="C792EA"/>
                </a:solidFill>
                <a:latin typeface="Consolas" pitchFamily="34" charset="0"/>
                <a:ea typeface="Consolas" pitchFamily="34" charset="-122"/>
                <a:cs typeface="Consolas" pitchFamily="34" charset="-120"/>
              </a:rPr>
              <a:t>final</a:t>
            </a: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FCB6B"/>
                </a:solidFill>
                <a:latin typeface="Consolas" pitchFamily="34" charset="0"/>
                <a:ea typeface="Consolas" pitchFamily="34" charset="-122"/>
                <a:cs typeface="Consolas" pitchFamily="34" charset="-120"/>
              </a:rPr>
              <a:t>int</a:t>
            </a:r>
            <a:r>
              <a:rPr lang="en-US" sz="1300" dirty="0">
                <a:solidFill>
                  <a:srgbClr val="E6EDF3"/>
                </a:solidFill>
                <a:latin typeface="Consolas" pitchFamily="34" charset="0"/>
                <a:ea typeface="Consolas" pitchFamily="34" charset="-122"/>
                <a:cs typeface="Consolas" pitchFamily="34" charset="-120"/>
              </a:rPr>
              <a:t> skor =</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context.select((</a:t>
            </a:r>
            <a:r>
              <a:rPr lang="en-US" sz="1300" dirty="0">
                <a:solidFill>
                  <a:srgbClr val="FFCB6B"/>
                </a:solidFill>
                <a:latin typeface="Consolas" pitchFamily="34" charset="0"/>
                <a:ea typeface="Consolas" pitchFamily="34" charset="-122"/>
                <a:cs typeface="Consolas" pitchFamily="34" charset="-120"/>
              </a:rPr>
              <a:t>Pertandingan</a:t>
            </a:r>
            <a:r>
              <a:rPr lang="en-US" sz="1300" dirty="0">
                <a:solidFill>
                  <a:srgbClr val="E6EDF3"/>
                </a:solidFill>
                <a:latin typeface="Consolas" pitchFamily="34" charset="0"/>
                <a:ea typeface="Consolas" pitchFamily="34" charset="-122"/>
                <a:cs typeface="Consolas" pitchFamily="34" charset="-120"/>
              </a:rPr>
              <a:t> p) =&gt; p.skorBiru);</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endParaRPr lang="en-US" sz="1300" dirty="0"/>
          </a:p>
          <a:p>
            <a:pPr indent="0" marL="0">
              <a:lnSpc>
                <a:spcPct val="105000"/>
              </a:lnSpc>
              <a:buNone/>
            </a:pPr>
            <a:r>
              <a:rPr lang="en-US" sz="1300" i="1" dirty="0">
                <a:solidFill>
                  <a:srgbClr val="8FA3BC"/>
                </a:solidFill>
                <a:latin typeface="Consolas" pitchFamily="34" charset="0"/>
                <a:ea typeface="Consolas" pitchFamily="34" charset="-122"/>
                <a:cs typeface="Consolas" pitchFamily="34" charset="-120"/>
              </a:rPr>
              <a:t>// KartuKeterangan: dibangun ulang SETIAP perubahan.</a:t>
            </a:r>
            <a:endParaRPr lang="en-US" sz="1300" dirty="0"/>
          </a:p>
          <a:p>
            <a:pPr indent="0" marL="0">
              <a:lnSpc>
                <a:spcPct val="105000"/>
              </a:lnSpc>
              <a:buNone/>
            </a:pPr>
            <a:r>
              <a:rPr lang="en-US" sz="1300" dirty="0">
                <a:solidFill>
                  <a:srgbClr val="C792EA"/>
                </a:solidFill>
                <a:latin typeface="Consolas" pitchFamily="34" charset="0"/>
                <a:ea typeface="Consolas" pitchFamily="34" charset="-122"/>
                <a:cs typeface="Consolas" pitchFamily="34" charset="-120"/>
              </a:rPr>
              <a:t>final</a:t>
            </a: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FCB6B"/>
                </a:solidFill>
                <a:latin typeface="Consolas" pitchFamily="34" charset="0"/>
                <a:ea typeface="Consolas" pitchFamily="34" charset="-122"/>
                <a:cs typeface="Consolas" pitchFamily="34" charset="-120"/>
              </a:rPr>
              <a:t>Pertandingan</a:t>
            </a:r>
            <a:r>
              <a:rPr lang="en-US" sz="1300" dirty="0">
                <a:solidFill>
                  <a:srgbClr val="E6EDF3"/>
                </a:solidFill>
                <a:latin typeface="Consolas" pitchFamily="34" charset="0"/>
                <a:ea typeface="Consolas" pitchFamily="34" charset="-122"/>
                <a:cs typeface="Consolas" pitchFamily="34" charset="-120"/>
              </a:rPr>
              <a:t> pertandingan =</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context.watch&lt;</a:t>
            </a:r>
            <a:r>
              <a:rPr lang="en-US" sz="1300" dirty="0">
                <a:solidFill>
                  <a:srgbClr val="FFCB6B"/>
                </a:solidFill>
                <a:latin typeface="Consolas" pitchFamily="34" charset="0"/>
                <a:ea typeface="Consolas" pitchFamily="34" charset="-122"/>
                <a:cs typeface="Consolas" pitchFamily="34" charset="-120"/>
              </a:rPr>
              <a:t>Pertandingan</a:t>
            </a:r>
            <a:r>
              <a:rPr lang="en-US" sz="1300" dirty="0">
                <a:solidFill>
                  <a:srgbClr val="E6EDF3"/>
                </a:solidFill>
                <a:latin typeface="Consolas" pitchFamily="34" charset="0"/>
                <a:ea typeface="Consolas" pitchFamily="34" charset="-122"/>
                <a:cs typeface="Consolas" pitchFamily="34" charset="-120"/>
              </a:rPr>
              <a:t>&gt;();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endParaRPr lang="en-US" sz="1300" dirty="0"/>
          </a:p>
          <a:p>
            <a:pPr indent="0" marL="0">
              <a:lnSpc>
                <a:spcPct val="105000"/>
              </a:lnSpc>
              <a:buNone/>
            </a:pPr>
            <a:r>
              <a:rPr lang="en-US" sz="1300" i="1" dirty="0">
                <a:solidFill>
                  <a:srgbClr val="8FA3BC"/>
                </a:solidFill>
                <a:latin typeface="Consolas" pitchFamily="34" charset="0"/>
                <a:ea typeface="Consolas" pitchFamily="34" charset="-122"/>
                <a:cs typeface="Consolas" pitchFamily="34" charset="-120"/>
              </a:rPr>
              <a:t>// PanelTombol: tombol hanya MEMANGGIL metode.</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onPressed: () =&gt;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context.read&lt;</a:t>
            </a:r>
            <a:r>
              <a:rPr lang="en-US" sz="1300" dirty="0">
                <a:solidFill>
                  <a:srgbClr val="FFCB6B"/>
                </a:solidFill>
                <a:latin typeface="Consolas" pitchFamily="34" charset="0"/>
                <a:ea typeface="Consolas" pitchFamily="34" charset="-122"/>
                <a:cs typeface="Consolas" pitchFamily="34" charset="-120"/>
              </a:rPr>
              <a:t>Pertandingan</a:t>
            </a:r>
            <a:r>
              <a:rPr lang="en-US" sz="1300" dirty="0">
                <a:solidFill>
                  <a:srgbClr val="E6EDF3"/>
                </a:solidFill>
                <a:latin typeface="Consolas" pitchFamily="34" charset="0"/>
                <a:ea typeface="Consolas" pitchFamily="34" charset="-122"/>
                <a:cs typeface="Consolas" pitchFamily="34" charset="-120"/>
              </a:rPr>
              <a:t>&gt;().golBiru(),</a:t>
            </a:r>
            <a:endParaRPr lang="en-US" sz="1300" dirty="0"/>
          </a:p>
        </p:txBody>
      </p:sp>
      <p:sp>
        <p:nvSpPr>
          <p:cNvPr id="7" name="tombol tautan">
            <a:hlinkClick r:id="rId2" tooltip="https://github.com/antonprafanto/mobile2026/blob/main/pertemuan_09_state_dan_mvvm/kode/contoh_05_watch_read_select.dart"/>
          </p:cNvPr>
          <p:cNvSpPr txBox="1"/>
          <p:nvPr/>
        </p:nvSpPr>
        <p:spPr>
          <a:xfrm>
            <a:off x="548640" y="4254246"/>
            <a:ext cx="7608319"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contoh_05_watch_read_select.dart</a:t>
            </a:r>
            <a:endParaRPr lang="en-US" sz="1300" dirty="0"/>
          </a:p>
        </p:txBody>
      </p:sp>
      <p:pic>
        <p:nvPicPr>
          <p:cNvPr id="8" name="Image 1" descr="ikon tautan">
            <a:hlinkClick r:id="rId4" tooltip="https://github.com/antonprafanto/mobile2026/blob/main/pertemuan_09_state_dan_mvvm/kode/contoh_05_watch_read_select.dart"/>
          </p:cNvPr>
          <p:cNvPicPr>
            <a:picLocks noChangeAspect="1"/>
          </p:cNvPicPr>
          <p:nvPr/>
        </p:nvPicPr>
        <p:blipFill>
          <a:blip r:embed="rId3"/>
          <a:stretch>
            <a:fillRect/>
          </a:stretch>
        </p:blipFill>
        <p:spPr>
          <a:xfrm>
            <a:off x="694944" y="4345686"/>
            <a:ext cx="274320" cy="274320"/>
          </a:xfrm>
          <a:prstGeom prst="rect">
            <a:avLst/>
          </a:prstGeom>
        </p:spPr>
      </p:pic>
      <p:sp>
        <p:nvSpPr>
          <p:cNvPr id="9" name="daftar poin"/>
          <p:cNvSpPr txBox="1"/>
          <p:nvPr/>
        </p:nvSpPr>
        <p:spPr>
          <a:xfrm>
            <a:off x="548640" y="4985766"/>
            <a:ext cx="7608319" cy="1232154"/>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Jalankan, lalu tekan "Gol Tim Biru" tiga kali.</a:t>
            </a:r>
            <a:endParaRPr lang="en-US" sz="1600" dirty="0"/>
          </a:p>
          <a:p>
            <a:pPr marL="228600" indent="-228600">
              <a:spcAft>
                <a:spcPts val="800"/>
              </a:spcAft>
              <a:buSzPct val="100000"/>
              <a:buChar char="•"/>
            </a:pPr>
            <a:r>
              <a:rPr lang="en-US" sz="1600" dirty="0">
                <a:solidFill>
                  <a:schemeClr val="tx1"/>
                </a:solidFill>
              </a:rPr>
              <a:t>Setiap kartu menuliskan berapa kali ia sudah dibangun.</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Hasil Setelah 3 Gol Tim Biru</a:t>
            </a:r>
            <a:endParaRPr lang="en-US" sz="32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2486679"/>
                <a:gridCol w="1721547"/>
                <a:gridCol w="1434623"/>
                <a:gridCol w="5451566"/>
              </a:tblGrid>
              <a:tr h="54864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Kartu</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Cara</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Dibangun</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Mengapa</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548640">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Tim Biru</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600" dirty="0">
                          <a:solidFill>
                            <a:srgbClr val="1B2333"/>
                          </a:solidFill>
                          <a:latin typeface="Consolas" pitchFamily="34" charset="0"/>
                          <a:ea typeface="Consolas" pitchFamily="34" charset="-122"/>
                          <a:cs typeface="Consolas" pitchFamily="34" charset="-120"/>
                        </a:rPr>
                        <a:t>select</a:t>
                      </a:r>
                      <a:endParaRPr lang="en-US" sz="16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600" b="1" dirty="0">
                          <a:solidFill>
                            <a:srgbClr val="1B2333"/>
                          </a:solidFill>
                          <a:latin typeface="Calibri" pitchFamily="34" charset="0"/>
                          <a:ea typeface="Calibri" pitchFamily="34" charset="-122"/>
                          <a:cs typeface="Calibri" pitchFamily="34" charset="-120"/>
                        </a:rPr>
                        <a:t>4×</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Skor Biru berubah tiga kali</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48640">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Tim Merah</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600" dirty="0">
                          <a:solidFill>
                            <a:srgbClr val="1B2333"/>
                          </a:solidFill>
                          <a:latin typeface="Consolas" pitchFamily="34" charset="0"/>
                          <a:ea typeface="Consolas" pitchFamily="34" charset="-122"/>
                          <a:cs typeface="Consolas" pitchFamily="34" charset="-120"/>
                        </a:rPr>
                        <a:t>select</a:t>
                      </a:r>
                      <a:endParaRPr lang="en-US" sz="16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600" b="1" dirty="0">
                          <a:solidFill>
                            <a:srgbClr val="1B2333"/>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Skor Merah tidak berubah</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548640">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Keterangan</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600" dirty="0">
                          <a:solidFill>
                            <a:srgbClr val="1B2333"/>
                          </a:solidFill>
                          <a:latin typeface="Consolas" pitchFamily="34" charset="0"/>
                          <a:ea typeface="Consolas" pitchFamily="34" charset="-122"/>
                          <a:cs typeface="Consolas" pitchFamily="34" charset="-120"/>
                        </a:rPr>
                        <a:t>watch</a:t>
                      </a:r>
                      <a:endParaRPr lang="en-US" sz="16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600" b="1" dirty="0">
                          <a:solidFill>
                            <a:schemeClr val="accent5"/>
                          </a:solidFill>
                          <a:latin typeface="Calibri" pitchFamily="34" charset="0"/>
                          <a:ea typeface="Calibri" pitchFamily="34" charset="-122"/>
                          <a:cs typeface="Calibri" pitchFamily="34" charset="-120"/>
                        </a:rPr>
                        <a:t>4×</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Setiap perubahan, walaupun tulisannya hanya berubah sekali</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48640">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Total gol</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600" dirty="0">
                          <a:solidFill>
                            <a:srgbClr val="1B2333"/>
                          </a:solidFill>
                          <a:latin typeface="Consolas" pitchFamily="34" charset="0"/>
                          <a:ea typeface="Consolas" pitchFamily="34" charset="-122"/>
                          <a:cs typeface="Consolas" pitchFamily="34" charset="-120"/>
                        </a:rPr>
                        <a:t>Consumer</a:t>
                      </a:r>
                      <a:endParaRPr lang="en-US" sz="16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600" b="1" dirty="0">
                          <a:solidFill>
                            <a:srgbClr val="1B2333"/>
                          </a:solidFill>
                          <a:latin typeface="Calibri" pitchFamily="34" charset="0"/>
                          <a:ea typeface="Calibri" pitchFamily="34" charset="-122"/>
                          <a:cs typeface="Calibri" pitchFamily="34" charset="-120"/>
                        </a:rPr>
                        <a:t>4×</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Isi builder dibangun ulang setiap perubahan</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548640">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Logo di Consumer</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600" dirty="0">
                          <a:solidFill>
                            <a:srgbClr val="1B2333"/>
                          </a:solidFill>
                          <a:latin typeface="Consolas" pitchFamily="34" charset="0"/>
                          <a:ea typeface="Consolas" pitchFamily="34" charset="-122"/>
                          <a:cs typeface="Consolas" pitchFamily="34" charset="-120"/>
                        </a:rPr>
                        <a:t>child</a:t>
                      </a:r>
                      <a:endParaRPr lang="en-US" sz="16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600" b="1" dirty="0">
                          <a:solidFill>
                            <a:srgbClr val="1B2333"/>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Dibuat sekali di luar builder, lalu dipakai ulang</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48640">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Panel tombol</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600" dirty="0">
                          <a:solidFill>
                            <a:srgbClr val="1B2333"/>
                          </a:solidFill>
                          <a:latin typeface="Consolas" pitchFamily="34" charset="0"/>
                          <a:ea typeface="Consolas" pitchFamily="34" charset="-122"/>
                          <a:cs typeface="Consolas" pitchFamily="34" charset="-120"/>
                        </a:rPr>
                        <a:t>read</a:t>
                      </a:r>
                      <a:endParaRPr lang="en-US" sz="16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600" b="1" dirty="0">
                          <a:solidFill>
                            <a:srgbClr val="1B2333"/>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read tidak mendengarkan</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bl>
          </a:graphicData>
        </a:graphic>
      </p:graphicFrame>
      <p:sp>
        <p:nvSpPr>
          <p:cNvPr id="5" name="lingkaran lampu"/>
          <p:cNvSpPr/>
          <p:nvPr/>
        </p:nvSpPr>
        <p:spPr>
          <a:xfrm>
            <a:off x="548640" y="5486400"/>
            <a:ext cx="502920" cy="502920"/>
          </a:xfrm>
          <a:prstGeom prst="ellipse">
            <a:avLst/>
          </a:prstGeom>
          <a:solidFill>
            <a:schemeClr val="accent3"/>
          </a:solidFill>
          <a:ln/>
        </p:spPr>
      </p:sp>
      <p:pic>
        <p:nvPicPr>
          <p:cNvPr id="6" name="Image 0" descr="lampu">    </p:cNvPr>
          <p:cNvPicPr>
            <a:picLocks noChangeAspect="1"/>
          </p:cNvPicPr>
          <p:nvPr/>
        </p:nvPicPr>
        <p:blipFill>
          <a:blip r:embed="rId1"/>
          <a:stretch>
            <a:fillRect/>
          </a:stretch>
        </p:blipFill>
        <p:spPr>
          <a:xfrm>
            <a:off x="659282" y="5597042"/>
            <a:ext cx="281635" cy="281635"/>
          </a:xfrm>
          <a:prstGeom prst="rect">
            <a:avLst/>
          </a:prstGeom>
        </p:spPr>
      </p:pic>
      <p:sp>
        <p:nvSpPr>
          <p:cNvPr id="7" name="Text 2"/>
          <p:cNvSpPr txBox="1"/>
          <p:nvPr/>
        </p:nvSpPr>
        <p:spPr>
          <a:xfrm>
            <a:off x="1234440" y="5394960"/>
            <a:ext cx="10408615" cy="685800"/>
          </a:xfrm>
          <a:prstGeom prst="rect">
            <a:avLst/>
          </a:prstGeom>
          <a:noFill/>
          <a:ln/>
        </p:spPr>
        <p:txBody>
          <a:bodyPr wrap="square" lIns="0" tIns="0" rIns="0" bIns="0" rtlCol="0" anchor="ctr"/>
          <a:lstStyle/>
          <a:p>
            <a:pPr indent="0" marL="0">
              <a:buNone/>
            </a:pPr>
            <a:r>
              <a:rPr lang="en-US" sz="1600" dirty="0">
                <a:solidFill>
                  <a:schemeClr val="tx1"/>
                </a:solidFill>
              </a:rPr>
              <a:t>Harga watch: kartu Keterangan dibangun 4 kali padahal tulisannya ("Tim Biru unggul") hanya berubah sekali.</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Consumer dan Parameter child</a:t>
            </a:r>
            <a:endParaRPr lang="en-US" sz="3200" dirty="0"/>
          </a:p>
        </p:txBody>
      </p:sp>
      <p:sp>
        <p:nvSpPr>
          <p:cNvPr id="4" name="kotak kode"/>
          <p:cNvSpPr txBox="1"/>
          <p:nvPr/>
        </p:nvSpPr>
        <p:spPr>
          <a:xfrm>
            <a:off x="548640" y="1371600"/>
            <a:ext cx="6400800" cy="3771900"/>
          </a:xfrm>
          <a:prstGeom prst="roundRect">
            <a:avLst>
              <a:gd name="adj" fmla="val 2424"/>
            </a:avLst>
          </a:prstGeom>
          <a:solidFill>
            <a:srgbClr val="0E1A2B"/>
          </a:solidFill>
          <a:ln/>
        </p:spPr>
        <p:txBody>
          <a:bodyPr wrap="square" lIns="177800" tIns="152400" rIns="152400" bIns="177800" rtlCol="0" anchor="t"/>
          <a:lstStyle/>
          <a:p>
            <a:pPr indent="0" marL="0">
              <a:lnSpc>
                <a:spcPct val="105000"/>
              </a:lnSpc>
              <a:buNone/>
            </a:pPr>
            <a:r>
              <a:rPr lang="en-US" sz="1400" dirty="0">
                <a:solidFill>
                  <a:srgbClr val="FFCB6B"/>
                </a:solidFill>
                <a:latin typeface="Consolas" pitchFamily="34" charset="0"/>
                <a:ea typeface="Consolas" pitchFamily="34" charset="-122"/>
                <a:cs typeface="Consolas" pitchFamily="34" charset="-120"/>
              </a:rPr>
              <a:t>Consumer</a:t>
            </a:r>
            <a:r>
              <a:rPr lang="en-US" sz="1400" dirty="0">
                <a:solidFill>
                  <a:srgbClr val="E6EDF3"/>
                </a:solidFill>
                <a:latin typeface="Consolas" pitchFamily="34" charset="0"/>
                <a:ea typeface="Consolas" pitchFamily="34" charset="-122"/>
                <a:cs typeface="Consolas" pitchFamily="34" charset="-120"/>
              </a:rPr>
              <a:t>&lt;</a:t>
            </a:r>
            <a:r>
              <a:rPr lang="en-US" sz="1400" dirty="0">
                <a:solidFill>
                  <a:srgbClr val="FFCB6B"/>
                </a:solidFill>
                <a:latin typeface="Consolas" pitchFamily="34" charset="0"/>
                <a:ea typeface="Consolas" pitchFamily="34" charset="-122"/>
                <a:cs typeface="Consolas" pitchFamily="34" charset="-120"/>
              </a:rPr>
              <a:t>Pertandingan</a:t>
            </a:r>
            <a:r>
              <a:rPr lang="en-US" sz="1400" dirty="0">
                <a:solidFill>
                  <a:srgbClr val="E6EDF3"/>
                </a:solidFill>
                <a:latin typeface="Consolas" pitchFamily="34" charset="0"/>
                <a:ea typeface="Consolas" pitchFamily="34" charset="-122"/>
                <a:cs typeface="Consolas" pitchFamily="34" charset="-120"/>
              </a:rPr>
              <a:t>&gt;(</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builder: (</a:t>
            </a:r>
            <a:r>
              <a:rPr lang="en-US" sz="1400" dirty="0">
                <a:solidFill>
                  <a:srgbClr val="FFCB6B"/>
                </a:solidFill>
                <a:latin typeface="Consolas" pitchFamily="34" charset="0"/>
                <a:ea typeface="Consolas" pitchFamily="34" charset="-122"/>
                <a:cs typeface="Consolas" pitchFamily="34" charset="-120"/>
              </a:rPr>
              <a:t>BuildContext</a:t>
            </a:r>
            <a:r>
              <a:rPr lang="en-US" sz="1400" dirty="0">
                <a:solidFill>
                  <a:srgbClr val="E6EDF3"/>
                </a:solidFill>
                <a:latin typeface="Consolas" pitchFamily="34" charset="0"/>
                <a:ea typeface="Consolas" pitchFamily="34" charset="-122"/>
                <a:cs typeface="Consolas" pitchFamily="34" charset="-120"/>
              </a:rPr>
              <a:t> context, </a:t>
            </a:r>
            <a:r>
              <a:rPr lang="en-US" sz="1400" dirty="0">
                <a:solidFill>
                  <a:srgbClr val="FFCB6B"/>
                </a:solidFill>
                <a:latin typeface="Consolas" pitchFamily="34" charset="0"/>
                <a:ea typeface="Consolas" pitchFamily="34" charset="-122"/>
                <a:cs typeface="Consolas" pitchFamily="34" charset="-120"/>
              </a:rPr>
              <a:t>Pertandingan</a:t>
            </a:r>
            <a:r>
              <a:rPr lang="en-US" sz="1400" dirty="0">
                <a:solidFill>
                  <a:srgbClr val="E6EDF3"/>
                </a:solidFill>
                <a:latin typeface="Consolas" pitchFamily="34" charset="0"/>
                <a:ea typeface="Consolas" pitchFamily="34" charset="-122"/>
                <a:cs typeface="Consolas" pitchFamily="34" charset="-120"/>
              </a:rPr>
              <a:t> p,</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a:t>
            </a:r>
            <a:r>
              <a:rPr lang="en-US" sz="1400" dirty="0">
                <a:solidFill>
                  <a:srgbClr val="FFCB6B"/>
                </a:solidFill>
                <a:latin typeface="Consolas" pitchFamily="34" charset="0"/>
                <a:ea typeface="Consolas" pitchFamily="34" charset="-122"/>
                <a:cs typeface="Consolas" pitchFamily="34" charset="-120"/>
              </a:rPr>
              <a:t>Widget</a:t>
            </a:r>
            <a:r>
              <a:rPr lang="en-US" sz="1400" dirty="0">
                <a:solidFill>
                  <a:srgbClr val="E6EDF3"/>
                </a:solidFill>
                <a:latin typeface="Consolas" pitchFamily="34" charset="0"/>
                <a:ea typeface="Consolas" pitchFamily="34" charset="-122"/>
                <a:cs typeface="Consolas" pitchFamily="34" charset="-120"/>
              </a:rPr>
              <a:t>? child) {</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a:t>
            </a:r>
            <a:r>
              <a:rPr lang="en-US" sz="1400" dirty="0">
                <a:solidFill>
                  <a:srgbClr val="C792EA"/>
                </a:solidFill>
                <a:latin typeface="Consolas" pitchFamily="34" charset="0"/>
                <a:ea typeface="Consolas" pitchFamily="34" charset="-122"/>
                <a:cs typeface="Consolas" pitchFamily="34" charset="-120"/>
              </a:rPr>
              <a:t>return</a:t>
            </a:r>
            <a:r>
              <a:rPr lang="en-US" sz="1400" dirty="0">
                <a:solidFill>
                  <a:srgbClr val="E6EDF3"/>
                </a:solidFill>
                <a:latin typeface="Consolas" pitchFamily="34" charset="0"/>
                <a:ea typeface="Consolas" pitchFamily="34" charset="-122"/>
                <a:cs typeface="Consolas" pitchFamily="34" charset="-120"/>
              </a:rPr>
              <a:t> </a:t>
            </a:r>
            <a:r>
              <a:rPr lang="en-US" sz="1400" dirty="0">
                <a:solidFill>
                  <a:srgbClr val="FFCB6B"/>
                </a:solidFill>
                <a:latin typeface="Consolas" pitchFamily="34" charset="0"/>
                <a:ea typeface="Consolas" pitchFamily="34" charset="-122"/>
                <a:cs typeface="Consolas" pitchFamily="34" charset="-120"/>
              </a:rPr>
              <a:t>Row</a:t>
            </a:r>
            <a:r>
              <a:rPr lang="en-US" sz="1400" dirty="0">
                <a:solidFill>
                  <a:srgbClr val="E6EDF3"/>
                </a:solidFill>
                <a:latin typeface="Consolas" pitchFamily="34" charset="0"/>
                <a:ea typeface="Consolas" pitchFamily="34" charset="-122"/>
                <a:cs typeface="Consolas" pitchFamily="34" charset="-120"/>
              </a:rPr>
              <a:t>(</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children: [</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child!, </a:t>
            </a:r>
            <a:r>
              <a:rPr lang="en-US" sz="1400" i="1" dirty="0">
                <a:solidFill>
                  <a:srgbClr val="8FA3BC"/>
                </a:solidFill>
                <a:latin typeface="Consolas" pitchFamily="34" charset="0"/>
                <a:ea typeface="Consolas" pitchFamily="34" charset="-122"/>
                <a:cs typeface="Consolas" pitchFamily="34" charset="-120"/>
              </a:rPr>
              <a:t>// logo, tidak dibuat ulang</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a:t>
            </a:r>
            <a:r>
              <a:rPr lang="en-US" sz="1400" dirty="0">
                <a:solidFill>
                  <a:srgbClr val="C792EA"/>
                </a:solidFill>
                <a:latin typeface="Consolas" pitchFamily="34" charset="0"/>
                <a:ea typeface="Consolas" pitchFamily="34" charset="-122"/>
                <a:cs typeface="Consolas" pitchFamily="34" charset="-120"/>
              </a:rPr>
              <a:t>const</a:t>
            </a:r>
            <a:r>
              <a:rPr lang="en-US" sz="1400" dirty="0">
                <a:solidFill>
                  <a:srgbClr val="E6EDF3"/>
                </a:solidFill>
                <a:latin typeface="Consolas" pitchFamily="34" charset="0"/>
                <a:ea typeface="Consolas" pitchFamily="34" charset="-122"/>
                <a:cs typeface="Consolas" pitchFamily="34" charset="-120"/>
              </a:rPr>
              <a:t> </a:t>
            </a:r>
            <a:r>
              <a:rPr lang="en-US" sz="1400" dirty="0">
                <a:solidFill>
                  <a:srgbClr val="FFCB6B"/>
                </a:solidFill>
                <a:latin typeface="Consolas" pitchFamily="34" charset="0"/>
                <a:ea typeface="Consolas" pitchFamily="34" charset="-122"/>
                <a:cs typeface="Consolas" pitchFamily="34" charset="-120"/>
              </a:rPr>
              <a:t>SizedBox</a:t>
            </a:r>
            <a:r>
              <a:rPr lang="en-US" sz="1400" dirty="0">
                <a:solidFill>
                  <a:srgbClr val="E6EDF3"/>
                </a:solidFill>
                <a:latin typeface="Consolas" pitchFamily="34" charset="0"/>
                <a:ea typeface="Consolas" pitchFamily="34" charset="-122"/>
                <a:cs typeface="Consolas" pitchFamily="34" charset="-120"/>
              </a:rPr>
              <a:t>(width: </a:t>
            </a:r>
            <a:r>
              <a:rPr lang="en-US" sz="1400" dirty="0">
                <a:solidFill>
                  <a:srgbClr val="F78C6C"/>
                </a:solidFill>
                <a:latin typeface="Consolas" pitchFamily="34" charset="0"/>
                <a:ea typeface="Consolas" pitchFamily="34" charset="-122"/>
                <a:cs typeface="Consolas" pitchFamily="34" charset="-120"/>
              </a:rPr>
              <a:t>16</a:t>
            </a:r>
            <a:r>
              <a:rPr lang="en-US" sz="1400" dirty="0">
                <a:solidFill>
                  <a:srgbClr val="E6EDF3"/>
                </a:solidFill>
                <a:latin typeface="Consolas" pitchFamily="34" charset="0"/>
                <a:ea typeface="Consolas" pitchFamily="34" charset="-122"/>
                <a:cs typeface="Consolas" pitchFamily="34" charset="-120"/>
              </a:rPr>
              <a:t>),</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a:t>
            </a:r>
            <a:r>
              <a:rPr lang="en-US" sz="1400" dirty="0">
                <a:solidFill>
                  <a:srgbClr val="FFCB6B"/>
                </a:solidFill>
                <a:latin typeface="Consolas" pitchFamily="34" charset="0"/>
                <a:ea typeface="Consolas" pitchFamily="34" charset="-122"/>
                <a:cs typeface="Consolas" pitchFamily="34" charset="-120"/>
              </a:rPr>
              <a:t>Expanded</a:t>
            </a:r>
            <a:r>
              <a:rPr lang="en-US" sz="1400" dirty="0">
                <a:solidFill>
                  <a:srgbClr val="E6EDF3"/>
                </a:solidFill>
                <a:latin typeface="Consolas" pitchFamily="34" charset="0"/>
                <a:ea typeface="Consolas" pitchFamily="34" charset="-122"/>
                <a:cs typeface="Consolas" pitchFamily="34" charset="-120"/>
              </a:rPr>
              <a:t>(</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child: </a:t>
            </a:r>
            <a:r>
              <a:rPr lang="en-US" sz="1400" dirty="0">
                <a:solidFill>
                  <a:srgbClr val="FFCB6B"/>
                </a:solidFill>
                <a:latin typeface="Consolas" pitchFamily="34" charset="0"/>
                <a:ea typeface="Consolas" pitchFamily="34" charset="-122"/>
                <a:cs typeface="Consolas" pitchFamily="34" charset="-120"/>
              </a:rPr>
              <a:t>Text</a:t>
            </a:r>
            <a:r>
              <a:rPr lang="en-US" sz="1400" dirty="0">
                <a:solidFill>
                  <a:srgbClr val="E6EDF3"/>
                </a:solidFill>
                <a:latin typeface="Consolas" pitchFamily="34" charset="0"/>
                <a:ea typeface="Consolas" pitchFamily="34" charset="-122"/>
                <a:cs typeface="Consolas" pitchFamily="34" charset="-120"/>
              </a:rPr>
              <a:t>(</a:t>
            </a:r>
            <a:r>
              <a:rPr lang="en-US" sz="1400" dirty="0">
                <a:solidFill>
                  <a:srgbClr val="C3E88D"/>
                </a:solidFill>
                <a:latin typeface="Consolas" pitchFamily="34" charset="0"/>
                <a:ea typeface="Consolas" pitchFamily="34" charset="-122"/>
                <a:cs typeface="Consolas" pitchFamily="34" charset="-120"/>
              </a:rPr>
              <a:t>'Total gol: ${p.totalGol}'</a:t>
            </a:r>
            <a:r>
              <a:rPr lang="en-US" sz="1400" dirty="0">
                <a:solidFill>
                  <a:srgbClr val="E6EDF3"/>
                </a:solidFill>
                <a:latin typeface="Consolas" pitchFamily="34" charset="0"/>
                <a:ea typeface="Consolas" pitchFamily="34" charset="-122"/>
                <a:cs typeface="Consolas" pitchFamily="34" charset="-120"/>
              </a:rPr>
              <a:t>),</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child: </a:t>
            </a:r>
            <a:r>
              <a:rPr lang="en-US" sz="1400" dirty="0">
                <a:solidFill>
                  <a:srgbClr val="C792EA"/>
                </a:solidFill>
                <a:latin typeface="Consolas" pitchFamily="34" charset="0"/>
                <a:ea typeface="Consolas" pitchFamily="34" charset="-122"/>
                <a:cs typeface="Consolas" pitchFamily="34" charset="-120"/>
              </a:rPr>
              <a:t>const</a:t>
            </a:r>
            <a:r>
              <a:rPr lang="en-US" sz="1400" dirty="0">
                <a:solidFill>
                  <a:srgbClr val="E6EDF3"/>
                </a:solidFill>
                <a:latin typeface="Consolas" pitchFamily="34" charset="0"/>
                <a:ea typeface="Consolas" pitchFamily="34" charset="-122"/>
                <a:cs typeface="Consolas" pitchFamily="34" charset="-120"/>
              </a:rPr>
              <a:t> </a:t>
            </a:r>
            <a:r>
              <a:rPr lang="en-US" sz="1400" dirty="0">
                <a:solidFill>
                  <a:srgbClr val="FFCB6B"/>
                </a:solidFill>
                <a:latin typeface="Consolas" pitchFamily="34" charset="0"/>
                <a:ea typeface="Consolas" pitchFamily="34" charset="-122"/>
                <a:cs typeface="Consolas" pitchFamily="34" charset="-120"/>
              </a:rPr>
              <a:t>LogoLiga</a:t>
            </a:r>
            <a:r>
              <a:rPr lang="en-US" sz="1400" dirty="0">
                <a:solidFill>
                  <a:srgbClr val="E6EDF3"/>
                </a:solidFill>
                <a:latin typeface="Consolas" pitchFamily="34" charset="0"/>
                <a:ea typeface="Consolas" pitchFamily="34" charset="-122"/>
                <a:cs typeface="Consolas" pitchFamily="34" charset="-120"/>
              </a:rPr>
              <a:t>(),</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a:t>
            </a:r>
            <a:endParaRPr lang="en-US" sz="1400" dirty="0"/>
          </a:p>
        </p:txBody>
      </p:sp>
      <p:sp>
        <p:nvSpPr>
          <p:cNvPr id="5" name="tombol tautan">
            <a:hlinkClick r:id="rId1" tooltip="https://github.com/antonprafanto/mobile2026/blob/main/pertemuan_09_state_dan_mvvm/kode/contoh_05_watch_read_select.dart"/>
          </p:cNvPr>
          <p:cNvSpPr txBox="1"/>
          <p:nvPr/>
        </p:nvSpPr>
        <p:spPr>
          <a:xfrm>
            <a:off x="548640" y="5372100"/>
            <a:ext cx="6400800"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contoh_05_watch_read_select.dart</a:t>
            </a:r>
            <a:endParaRPr lang="en-US" sz="1300" dirty="0"/>
          </a:p>
        </p:txBody>
      </p:sp>
      <p:pic>
        <p:nvPicPr>
          <p:cNvPr id="6" name="Image 0" descr="ikon tautan">
            <a:hlinkClick r:id="rId3" tooltip="https://github.com/antonprafanto/mobile2026/blob/main/pertemuan_09_state_dan_mvvm/kode/contoh_05_watch_read_select.dart"/>
          </p:cNvPr>
          <p:cNvPicPr>
            <a:picLocks noChangeAspect="1"/>
          </p:cNvPicPr>
          <p:nvPr/>
        </p:nvPicPr>
        <p:blipFill>
          <a:blip r:embed="rId2"/>
          <a:stretch>
            <a:fillRect/>
          </a:stretch>
        </p:blipFill>
        <p:spPr>
          <a:xfrm>
            <a:off x="694944" y="5463540"/>
            <a:ext cx="274320" cy="274320"/>
          </a:xfrm>
          <a:prstGeom prst="rect">
            <a:avLst/>
          </a:prstGeom>
        </p:spPr>
      </p:pic>
      <p:sp>
        <p:nvSpPr>
          <p:cNvPr id="7" name="daftar poin"/>
          <p:cNvSpPr txBox="1"/>
          <p:nvPr/>
        </p:nvSpPr>
        <p:spPr>
          <a:xfrm>
            <a:off x="7360920" y="1417320"/>
            <a:ext cx="428213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context: posisi Consumer di pohon widget.</a:t>
            </a:r>
            <a:endParaRPr lang="en-US" sz="1700" dirty="0"/>
          </a:p>
          <a:p>
            <a:pPr marL="228600" indent="-228600">
              <a:spcAft>
                <a:spcPts val="800"/>
              </a:spcAft>
              <a:buSzPct val="100000"/>
              <a:buChar char="•"/>
            </a:pPr>
            <a:r>
              <a:rPr lang="en-US" sz="1700" dirty="0">
                <a:solidFill>
                  <a:schemeClr val="tx1"/>
                </a:solidFill>
              </a:rPr>
              <a:t>p: objek Pertandingan yang sudah didengarkan.</a:t>
            </a:r>
            <a:endParaRPr lang="en-US" sz="1700" dirty="0"/>
          </a:p>
          <a:p>
            <a:pPr marL="228600" indent="-228600">
              <a:spcAft>
                <a:spcPts val="800"/>
              </a:spcAft>
              <a:buSzPct val="100000"/>
              <a:buChar char="•"/>
            </a:pPr>
            <a:r>
              <a:rPr lang="en-US" sz="1700" dirty="0">
                <a:solidFill>
                  <a:schemeClr val="tx1"/>
                </a:solidFill>
              </a:rPr>
              <a:t>child: widget yang dibuat SEKALI, lalu diberikan lagi setiap builder dijalankan.</a:t>
            </a:r>
            <a:endParaRPr lang="en-US" sz="1700" dirty="0"/>
          </a:p>
          <a:p>
            <a:pPr marL="228600" indent="-228600">
              <a:spcAft>
                <a:spcPts val="800"/>
              </a:spcAft>
              <a:buSzPct val="100000"/>
              <a:buChar char="•"/>
            </a:pPr>
            <a:r>
              <a:rPr lang="en-US" sz="1700" dirty="0">
                <a:solidFill>
                  <a:schemeClr val="tx1"/>
                </a:solidFill>
              </a:rPr>
              <a:t>Cocok saat yang berubah hanya sebagian kecil dari widget besar.</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Pesan Error yang Sering Muncul</a:t>
            </a:r>
            <a:endParaRPr lang="en-US" sz="32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2773604"/>
                <a:gridCol w="5929774"/>
                <a:gridCol w="2391038"/>
              </a:tblGrid>
              <a:tr h="77724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Kesalahan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Yang muncul</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Solusi</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777240">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watch di dalam onPressed</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onsolas" pitchFamily="34" charset="0"/>
                          <a:ea typeface="Consolas" pitchFamily="34" charset="-122"/>
                          <a:cs typeface="Consolas" pitchFamily="34" charset="-120"/>
                        </a:rPr>
                        <a:t>Tried to listen to a value exposed with provider, from outside of the widget tree.</a:t>
                      </a:r>
                      <a:endParaRPr lang="en-US" sz="15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Pakai read</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777240">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select di dalam callback</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onsolas" pitchFamily="34" charset="0"/>
                          <a:ea typeface="Consolas" pitchFamily="34" charset="-122"/>
                          <a:cs typeface="Consolas" pitchFamily="34" charset="-120"/>
                        </a:rPr>
                        <a:t>Tried to use `context.select` outside of the `build` method of a widget.</a:t>
                      </a:r>
                      <a:endParaRPr lang="en-US" sz="15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Pakai read</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777240">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read di dalam build untuk menampilkan data</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Tidak ada error, tetapi layar TIDAK PERNAH berubah</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Pakai watch atau select</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bl>
          </a:graphicData>
        </a:graphic>
      </p:graphicFrame>
      <p:sp>
        <p:nvSpPr>
          <p:cNvPr id="5" name="lingkaran lampu"/>
          <p:cNvSpPr/>
          <p:nvPr/>
        </p:nvSpPr>
        <p:spPr>
          <a:xfrm>
            <a:off x="548640" y="5486400"/>
            <a:ext cx="502920" cy="502920"/>
          </a:xfrm>
          <a:prstGeom prst="ellipse">
            <a:avLst/>
          </a:prstGeom>
          <a:solidFill>
            <a:schemeClr val="accent3"/>
          </a:solidFill>
          <a:ln/>
        </p:spPr>
      </p:sp>
      <p:pic>
        <p:nvPicPr>
          <p:cNvPr id="6" name="Image 0" descr="lampu">    </p:cNvPr>
          <p:cNvPicPr>
            <a:picLocks noChangeAspect="1"/>
          </p:cNvPicPr>
          <p:nvPr/>
        </p:nvPicPr>
        <p:blipFill>
          <a:blip r:embed="rId1"/>
          <a:stretch>
            <a:fillRect/>
          </a:stretch>
        </p:blipFill>
        <p:spPr>
          <a:xfrm>
            <a:off x="659282" y="5597042"/>
            <a:ext cx="281635" cy="281635"/>
          </a:xfrm>
          <a:prstGeom prst="rect">
            <a:avLst/>
          </a:prstGeom>
        </p:spPr>
      </p:pic>
      <p:sp>
        <p:nvSpPr>
          <p:cNvPr id="7" name="Text 2"/>
          <p:cNvSpPr txBox="1"/>
          <p:nvPr/>
        </p:nvSpPr>
        <p:spPr>
          <a:xfrm>
            <a:off x="1234440" y="5394960"/>
            <a:ext cx="10408615" cy="685800"/>
          </a:xfrm>
          <a:prstGeom prst="rect">
            <a:avLst/>
          </a:prstGeom>
          <a:noFill/>
          <a:ln/>
        </p:spPr>
        <p:txBody>
          <a:bodyPr wrap="square" lIns="0" tIns="0" rIns="0" bIns="0" rtlCol="0" anchor="ctr"/>
          <a:lstStyle/>
          <a:p>
            <a:pPr indent="0" marL="0">
              <a:buNone/>
            </a:pPr>
            <a:r>
              <a:rPr lang="en-US" sz="1600" dirty="0">
                <a:solidFill>
                  <a:schemeClr val="tx1"/>
                </a:solidFill>
              </a:rPr>
              <a:t>Kesalahan ketiga paling sulit ditemukan justru karena tidak ada pesan apa pun.</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MultiProvider: Beberapa Objek Sekaligus</a:t>
            </a:r>
            <a:endParaRPr lang="en-US" sz="3200" dirty="0"/>
          </a:p>
        </p:txBody>
      </p:sp>
      <p:sp>
        <p:nvSpPr>
          <p:cNvPr id="4" name="kotak kode"/>
          <p:cNvSpPr txBox="1"/>
          <p:nvPr/>
        </p:nvSpPr>
        <p:spPr>
          <a:xfrm>
            <a:off x="548640" y="1371600"/>
            <a:ext cx="5852160" cy="4206240"/>
          </a:xfrm>
          <a:prstGeom prst="roundRect">
            <a:avLst>
              <a:gd name="adj" fmla="val 2174"/>
            </a:avLst>
          </a:prstGeom>
          <a:solidFill>
            <a:srgbClr val="0E1A2B"/>
          </a:solidFill>
          <a:ln/>
        </p:spPr>
        <p:txBody>
          <a:bodyPr wrap="square" lIns="177800" tIns="152400" rIns="152400" bIns="177800" rtlCol="0" anchor="t"/>
          <a:lstStyle/>
          <a:p>
            <a:pPr indent="0" marL="0">
              <a:lnSpc>
                <a:spcPct val="105000"/>
              </a:lnSpc>
              <a:buNone/>
            </a:pPr>
            <a:r>
              <a:rPr lang="en-US" sz="1400" dirty="0">
                <a:solidFill>
                  <a:srgbClr val="C792EA"/>
                </a:solidFill>
                <a:latin typeface="Consolas" pitchFamily="34" charset="0"/>
                <a:ea typeface="Consolas" pitchFamily="34" charset="-122"/>
                <a:cs typeface="Consolas" pitchFamily="34" charset="-120"/>
              </a:rPr>
              <a:t>void</a:t>
            </a:r>
            <a:r>
              <a:rPr lang="en-US" sz="1400" dirty="0">
                <a:solidFill>
                  <a:srgbClr val="E6EDF3"/>
                </a:solidFill>
                <a:latin typeface="Consolas" pitchFamily="34" charset="0"/>
                <a:ea typeface="Consolas" pitchFamily="34" charset="-122"/>
                <a:cs typeface="Consolas" pitchFamily="34" charset="-120"/>
              </a:rPr>
              <a:t> main() {</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runApp(</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a:t>
            </a:r>
            <a:r>
              <a:rPr lang="en-US" sz="1400" dirty="0">
                <a:solidFill>
                  <a:srgbClr val="FFCB6B"/>
                </a:solidFill>
                <a:latin typeface="Consolas" pitchFamily="34" charset="0"/>
                <a:ea typeface="Consolas" pitchFamily="34" charset="-122"/>
                <a:cs typeface="Consolas" pitchFamily="34" charset="-120"/>
              </a:rPr>
              <a:t>MultiProvider</a:t>
            </a:r>
            <a:r>
              <a:rPr lang="en-US" sz="1400" dirty="0">
                <a:solidFill>
                  <a:srgbClr val="E6EDF3"/>
                </a:solidFill>
                <a:latin typeface="Consolas" pitchFamily="34" charset="0"/>
                <a:ea typeface="Consolas" pitchFamily="34" charset="-122"/>
                <a:cs typeface="Consolas" pitchFamily="34" charset="-120"/>
              </a:rPr>
              <a:t>(</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providers: [</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a:t>
            </a:r>
            <a:r>
              <a:rPr lang="en-US" sz="1400" dirty="0">
                <a:solidFill>
                  <a:srgbClr val="FFCB6B"/>
                </a:solidFill>
                <a:latin typeface="Consolas" pitchFamily="34" charset="0"/>
                <a:ea typeface="Consolas" pitchFamily="34" charset="-122"/>
                <a:cs typeface="Consolas" pitchFamily="34" charset="-120"/>
              </a:rPr>
              <a:t>ChangeNotifierProvider</a:t>
            </a:r>
            <a:r>
              <a:rPr lang="en-US" sz="1400" dirty="0">
                <a:solidFill>
                  <a:srgbClr val="E6EDF3"/>
                </a:solidFill>
                <a:latin typeface="Consolas" pitchFamily="34" charset="0"/>
                <a:ea typeface="Consolas" pitchFamily="34" charset="-122"/>
                <a:cs typeface="Consolas" pitchFamily="34" charset="-120"/>
              </a:rPr>
              <a:t>(</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create: (</a:t>
            </a:r>
            <a:r>
              <a:rPr lang="en-US" sz="1400" dirty="0">
                <a:solidFill>
                  <a:srgbClr val="FFCB6B"/>
                </a:solidFill>
                <a:latin typeface="Consolas" pitchFamily="34" charset="0"/>
                <a:ea typeface="Consolas" pitchFamily="34" charset="-122"/>
                <a:cs typeface="Consolas" pitchFamily="34" charset="-120"/>
              </a:rPr>
              <a:t>BuildContext</a:t>
            </a:r>
            <a:r>
              <a:rPr lang="en-US" sz="1400" dirty="0">
                <a:solidFill>
                  <a:srgbClr val="E6EDF3"/>
                </a:solidFill>
                <a:latin typeface="Consolas" pitchFamily="34" charset="0"/>
                <a:ea typeface="Consolas" pitchFamily="34" charset="-122"/>
                <a:cs typeface="Consolas" pitchFamily="34" charset="-120"/>
              </a:rPr>
              <a:t> context) =&gt;</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a:t>
            </a:r>
            <a:r>
              <a:rPr lang="en-US" sz="1400" dirty="0">
                <a:solidFill>
                  <a:srgbClr val="FFCB6B"/>
                </a:solidFill>
                <a:latin typeface="Consolas" pitchFamily="34" charset="0"/>
                <a:ea typeface="Consolas" pitchFamily="34" charset="-122"/>
                <a:cs typeface="Consolas" pitchFamily="34" charset="-120"/>
              </a:rPr>
              <a:t>PengaturanTampilan</a:t>
            </a:r>
            <a:r>
              <a:rPr lang="en-US" sz="1400" dirty="0">
                <a:solidFill>
                  <a:srgbClr val="E6EDF3"/>
                </a:solidFill>
                <a:latin typeface="Consolas" pitchFamily="34" charset="0"/>
                <a:ea typeface="Consolas" pitchFamily="34" charset="-122"/>
                <a:cs typeface="Consolas" pitchFamily="34" charset="-120"/>
              </a:rPr>
              <a:t>(),</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a:t>
            </a:r>
            <a:r>
              <a:rPr lang="en-US" sz="1400" dirty="0">
                <a:solidFill>
                  <a:srgbClr val="FFCB6B"/>
                </a:solidFill>
                <a:latin typeface="Consolas" pitchFamily="34" charset="0"/>
                <a:ea typeface="Consolas" pitchFamily="34" charset="-122"/>
                <a:cs typeface="Consolas" pitchFamily="34" charset="-120"/>
              </a:rPr>
              <a:t>ChangeNotifierProvider</a:t>
            </a:r>
            <a:r>
              <a:rPr lang="en-US" sz="1400" dirty="0">
                <a:solidFill>
                  <a:srgbClr val="E6EDF3"/>
                </a:solidFill>
                <a:latin typeface="Consolas" pitchFamily="34" charset="0"/>
                <a:ea typeface="Consolas" pitchFamily="34" charset="-122"/>
                <a:cs typeface="Consolas" pitchFamily="34" charset="-120"/>
              </a:rPr>
              <a:t>(</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create: (</a:t>
            </a:r>
            <a:r>
              <a:rPr lang="en-US" sz="1400" dirty="0">
                <a:solidFill>
                  <a:srgbClr val="FFCB6B"/>
                </a:solidFill>
                <a:latin typeface="Consolas" pitchFamily="34" charset="0"/>
                <a:ea typeface="Consolas" pitchFamily="34" charset="-122"/>
                <a:cs typeface="Consolas" pitchFamily="34" charset="-120"/>
              </a:rPr>
              <a:t>BuildContext</a:t>
            </a:r>
            <a:r>
              <a:rPr lang="en-US" sz="1400" dirty="0">
                <a:solidFill>
                  <a:srgbClr val="E6EDF3"/>
                </a:solidFill>
                <a:latin typeface="Consolas" pitchFamily="34" charset="0"/>
                <a:ea typeface="Consolas" pitchFamily="34" charset="-122"/>
                <a:cs typeface="Consolas" pitchFamily="34" charset="-120"/>
              </a:rPr>
              <a:t> context) =&gt;</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a:t>
            </a:r>
            <a:r>
              <a:rPr lang="en-US" sz="1400" dirty="0">
                <a:solidFill>
                  <a:srgbClr val="FFCB6B"/>
                </a:solidFill>
                <a:latin typeface="Consolas" pitchFamily="34" charset="0"/>
                <a:ea typeface="Consolas" pitchFamily="34" charset="-122"/>
                <a:cs typeface="Consolas" pitchFamily="34" charset="-120"/>
              </a:rPr>
              <a:t>ProfilPengguna</a:t>
            </a:r>
            <a:r>
              <a:rPr lang="en-US" sz="1400" dirty="0">
                <a:solidFill>
                  <a:srgbClr val="E6EDF3"/>
                </a:solidFill>
                <a:latin typeface="Consolas" pitchFamily="34" charset="0"/>
                <a:ea typeface="Consolas" pitchFamily="34" charset="-122"/>
                <a:cs typeface="Consolas" pitchFamily="34" charset="-120"/>
              </a:rPr>
              <a:t>(),</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child: </a:t>
            </a:r>
            <a:r>
              <a:rPr lang="en-US" sz="1400" dirty="0">
                <a:solidFill>
                  <a:srgbClr val="C792EA"/>
                </a:solidFill>
                <a:latin typeface="Consolas" pitchFamily="34" charset="0"/>
                <a:ea typeface="Consolas" pitchFamily="34" charset="-122"/>
                <a:cs typeface="Consolas" pitchFamily="34" charset="-120"/>
              </a:rPr>
              <a:t>const</a:t>
            </a:r>
            <a:r>
              <a:rPr lang="en-US" sz="1400" dirty="0">
                <a:solidFill>
                  <a:srgbClr val="E6EDF3"/>
                </a:solidFill>
                <a:latin typeface="Consolas" pitchFamily="34" charset="0"/>
                <a:ea typeface="Consolas" pitchFamily="34" charset="-122"/>
                <a:cs typeface="Consolas" pitchFamily="34" charset="-120"/>
              </a:rPr>
              <a:t> </a:t>
            </a:r>
            <a:r>
              <a:rPr lang="en-US" sz="1400" dirty="0">
                <a:solidFill>
                  <a:srgbClr val="FFCB6B"/>
                </a:solidFill>
                <a:latin typeface="Consolas" pitchFamily="34" charset="0"/>
                <a:ea typeface="Consolas" pitchFamily="34" charset="-122"/>
                <a:cs typeface="Consolas" pitchFamily="34" charset="-120"/>
              </a:rPr>
              <a:t>AplikasiKu</a:t>
            </a:r>
            <a:r>
              <a:rPr lang="en-US" sz="1400" dirty="0">
                <a:solidFill>
                  <a:srgbClr val="E6EDF3"/>
                </a:solidFill>
                <a:latin typeface="Consolas" pitchFamily="34" charset="0"/>
                <a:ea typeface="Consolas" pitchFamily="34" charset="-122"/>
                <a:cs typeface="Consolas" pitchFamily="34" charset="-120"/>
              </a:rPr>
              <a:t>(),</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a:t>
            </a:r>
            <a:endParaRPr lang="en-US" sz="1400" dirty="0"/>
          </a:p>
        </p:txBody>
      </p:sp>
      <p:sp>
        <p:nvSpPr>
          <p:cNvPr id="5" name="tombol tautan">
            <a:hlinkClick r:id="rId1" tooltip="https://github.com/antonprafanto/mobile2026/blob/main/pertemuan_09_state_dan_mvvm/kode/contoh_06_multiprovider.dart"/>
          </p:cNvPr>
          <p:cNvSpPr txBox="1"/>
          <p:nvPr/>
        </p:nvSpPr>
        <p:spPr>
          <a:xfrm>
            <a:off x="548640" y="5806440"/>
            <a:ext cx="5852160"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contoh_06_multiprovider.dart</a:t>
            </a:r>
            <a:endParaRPr lang="en-US" sz="1300" dirty="0"/>
          </a:p>
        </p:txBody>
      </p:sp>
      <p:pic>
        <p:nvPicPr>
          <p:cNvPr id="6" name="Image 0" descr="ikon tautan">
            <a:hlinkClick r:id="rId3" tooltip="https://github.com/antonprafanto/mobile2026/blob/main/pertemuan_09_state_dan_mvvm/kode/contoh_06_multiprovider.dart"/>
          </p:cNvPr>
          <p:cNvPicPr>
            <a:picLocks noChangeAspect="1"/>
          </p:cNvPicPr>
          <p:nvPr/>
        </p:nvPicPr>
        <p:blipFill>
          <a:blip r:embed="rId2"/>
          <a:stretch>
            <a:fillRect/>
          </a:stretch>
        </p:blipFill>
        <p:spPr>
          <a:xfrm>
            <a:off x="694944" y="5897880"/>
            <a:ext cx="274320" cy="274320"/>
          </a:xfrm>
          <a:prstGeom prst="rect">
            <a:avLst/>
          </a:prstGeom>
        </p:spPr>
      </p:pic>
      <p:sp>
        <p:nvSpPr>
          <p:cNvPr id="7" name="daftar poin"/>
          <p:cNvSpPr txBox="1"/>
          <p:nvPr/>
        </p:nvSpPr>
        <p:spPr>
          <a:xfrm>
            <a:off x="6812280" y="1417320"/>
            <a:ext cx="483077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Hasilnya sama dengan menyusun provider bertingkat, tetapi tidak semakin dalam.</a:t>
            </a:r>
            <a:endParaRPr lang="en-US" sz="1700" dirty="0"/>
          </a:p>
          <a:p>
            <a:pPr marL="228600" indent="-228600">
              <a:spcAft>
                <a:spcPts val="800"/>
              </a:spcAft>
              <a:buSzPct val="100000"/>
              <a:buChar char="•"/>
            </a:pPr>
            <a:r>
              <a:rPr lang="en-US" sz="1700" dirty="0">
                <a:solidFill>
                  <a:schemeClr val="tx1"/>
                </a:solidFill>
              </a:rPr>
              <a:t>PengaturanTampilan: mode terang/gelap dan warna benih.</a:t>
            </a:r>
            <a:endParaRPr lang="en-US" sz="1700" dirty="0"/>
          </a:p>
          <a:p>
            <a:pPr marL="228600" indent="-228600">
              <a:spcAft>
                <a:spcPts val="800"/>
              </a:spcAft>
              <a:buSzPct val="100000"/>
              <a:buChar char="•"/>
            </a:pPr>
            <a:r>
              <a:rPr lang="en-US" sz="1700" dirty="0">
                <a:solidFill>
                  <a:schemeClr val="tx1"/>
                </a:solidFill>
              </a:rPr>
              <a:t>ProfilPengguna: nama yang sudah disimpan.</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MaterialApp pun Bisa Mendengarkan</a:t>
            </a:r>
            <a:endParaRPr lang="en-US" sz="3200" dirty="0"/>
          </a:p>
        </p:txBody>
      </p:sp>
      <p:sp>
        <p:nvSpPr>
          <p:cNvPr id="4" name="bingkai layar 1"/>
          <p:cNvSpPr/>
          <p:nvPr/>
        </p:nvSpPr>
        <p:spPr>
          <a:xfrm>
            <a:off x="6467551" y="1316736"/>
            <a:ext cx="2532888" cy="3877123"/>
          </a:xfrm>
          <a:prstGeom prst="roundRect">
            <a:avLst>
              <a:gd name="adj" fmla="val 3610"/>
            </a:avLst>
          </a:prstGeom>
          <a:solidFill>
            <a:srgbClr val="FFFFFF"/>
          </a:solidFill>
          <a:ln w="12700">
            <a:solidFill>
              <a:srgbClr val="C9D3E0"/>
            </a:solidFill>
            <a:prstDash val="solid"/>
          </a:ln>
        </p:spPr>
      </p:sp>
      <p:pic>
        <p:nvPicPr>
          <p:cNvPr id="5" name="layar 1" descr="Tangkapan layar aplikasi (hasil_contoh_06a.jpg)">    </p:cNvPr>
          <p:cNvPicPr>
            <a:picLocks noChangeAspect="1"/>
          </p:cNvPicPr>
          <p:nvPr/>
        </p:nvPicPr>
        <p:blipFill>
          <a:blip r:embed="rId1"/>
          <a:stretch>
            <a:fillRect/>
          </a:stretch>
        </p:blipFill>
        <p:spPr>
          <a:xfrm>
            <a:off x="6522415" y="1371600"/>
            <a:ext cx="2423160" cy="3767395"/>
          </a:xfrm>
          <a:prstGeom prst="rect">
            <a:avLst/>
          </a:prstGeom>
        </p:spPr>
      </p:pic>
      <p:sp>
        <p:nvSpPr>
          <p:cNvPr id="6" name="bingkai layar 2"/>
          <p:cNvSpPr/>
          <p:nvPr/>
        </p:nvSpPr>
        <p:spPr>
          <a:xfrm>
            <a:off x="9165031" y="1316736"/>
            <a:ext cx="2532888" cy="3877123"/>
          </a:xfrm>
          <a:prstGeom prst="roundRect">
            <a:avLst>
              <a:gd name="adj" fmla="val 3610"/>
            </a:avLst>
          </a:prstGeom>
          <a:solidFill>
            <a:srgbClr val="FFFFFF"/>
          </a:solidFill>
          <a:ln w="12700">
            <a:solidFill>
              <a:srgbClr val="C9D3E0"/>
            </a:solidFill>
            <a:prstDash val="solid"/>
          </a:ln>
        </p:spPr>
      </p:sp>
      <p:pic>
        <p:nvPicPr>
          <p:cNvPr id="7" name="layar 2" descr="Tangkapan layar aplikasi (hasil_contoh_06b.jpg)">    </p:cNvPr>
          <p:cNvPicPr>
            <a:picLocks noChangeAspect="1"/>
          </p:cNvPicPr>
          <p:nvPr/>
        </p:nvPicPr>
        <p:blipFill>
          <a:blip r:embed="rId2"/>
          <a:stretch>
            <a:fillRect/>
          </a:stretch>
        </p:blipFill>
        <p:spPr>
          <a:xfrm>
            <a:off x="9219895" y="1371600"/>
            <a:ext cx="2423160" cy="3767395"/>
          </a:xfrm>
          <a:prstGeom prst="rect">
            <a:avLst/>
          </a:prstGeom>
        </p:spPr>
      </p:pic>
      <p:sp>
        <p:nvSpPr>
          <p:cNvPr id="8" name="kotak kode"/>
          <p:cNvSpPr txBox="1"/>
          <p:nvPr/>
        </p:nvSpPr>
        <p:spPr>
          <a:xfrm>
            <a:off x="548640" y="1371600"/>
            <a:ext cx="5516575" cy="2139696"/>
          </a:xfrm>
          <a:prstGeom prst="roundRect">
            <a:avLst>
              <a:gd name="adj" fmla="val 4274"/>
            </a:avLst>
          </a:prstGeom>
          <a:solidFill>
            <a:srgbClr val="0E1A2B"/>
          </a:solidFill>
          <a:ln/>
        </p:spPr>
        <p:txBody>
          <a:bodyPr wrap="square" lIns="177800" tIns="152400" rIns="152400" bIns="177800" rtlCol="0" anchor="t"/>
          <a:lstStyle/>
          <a:p>
            <a:pPr indent="0" marL="0">
              <a:lnSpc>
                <a:spcPct val="105000"/>
              </a:lnSpc>
              <a:buNone/>
            </a:pPr>
            <a:r>
              <a:rPr lang="en-US" sz="1200" dirty="0">
                <a:solidFill>
                  <a:srgbClr val="C792EA"/>
                </a:solidFill>
                <a:latin typeface="Consolas" pitchFamily="34" charset="0"/>
                <a:ea typeface="Consolas" pitchFamily="34" charset="-122"/>
                <a:cs typeface="Consolas" pitchFamily="34" charset="-120"/>
              </a:rPr>
              <a:t>final</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PengaturanTampilan</a:t>
            </a:r>
            <a:r>
              <a:rPr lang="en-US" sz="1200" dirty="0">
                <a:solidFill>
                  <a:srgbClr val="E6EDF3"/>
                </a:solidFill>
                <a:latin typeface="Consolas" pitchFamily="34" charset="0"/>
                <a:ea typeface="Consolas" pitchFamily="34" charset="-122"/>
                <a:cs typeface="Consolas" pitchFamily="34" charset="-120"/>
              </a:rPr>
              <a:t> atur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context.watch&lt;</a:t>
            </a:r>
            <a:r>
              <a:rPr lang="en-US" sz="1200" dirty="0">
                <a:solidFill>
                  <a:srgbClr val="FFCB6B"/>
                </a:solidFill>
                <a:latin typeface="Consolas" pitchFamily="34" charset="0"/>
                <a:ea typeface="Consolas" pitchFamily="34" charset="-122"/>
                <a:cs typeface="Consolas" pitchFamily="34" charset="-120"/>
              </a:rPr>
              <a:t>PengaturanTampilan</a:t>
            </a:r>
            <a:r>
              <a:rPr lang="en-US" sz="1200" dirty="0">
                <a:solidFill>
                  <a:srgbClr val="E6EDF3"/>
                </a:solidFill>
                <a:latin typeface="Consolas" pitchFamily="34" charset="0"/>
                <a:ea typeface="Consolas" pitchFamily="34" charset="-122"/>
                <a:cs typeface="Consolas" pitchFamily="34" charset="-120"/>
              </a:rPr>
              <a:t>&gt;();</a:t>
            </a:r>
            <a:endParaRPr lang="en-US" sz="1200" dirty="0"/>
          </a:p>
          <a:p>
            <a:pPr indent="0" marL="0">
              <a:lnSpc>
                <a:spcPct val="105000"/>
              </a:lnSpc>
              <a:buNone/>
            </a:pPr>
            <a:r>
              <a:rPr lang="en-US" sz="1200" dirty="0">
                <a:solidFill>
                  <a:srgbClr val="C792EA"/>
                </a:solidFill>
                <a:latin typeface="Consolas" pitchFamily="34" charset="0"/>
                <a:ea typeface="Consolas" pitchFamily="34" charset="-122"/>
                <a:cs typeface="Consolas" pitchFamily="34" charset="-120"/>
              </a:rPr>
              <a:t>return</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MaterialApp</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theme: </a:t>
            </a:r>
            <a:r>
              <a:rPr lang="en-US" sz="1200" dirty="0">
                <a:solidFill>
                  <a:srgbClr val="FFCB6B"/>
                </a:solidFill>
                <a:latin typeface="Consolas" pitchFamily="34" charset="0"/>
                <a:ea typeface="Consolas" pitchFamily="34" charset="-122"/>
                <a:cs typeface="Consolas" pitchFamily="34" charset="-120"/>
              </a:rPr>
              <a:t>ThemeData</a:t>
            </a:r>
            <a:r>
              <a:rPr lang="en-US" sz="1200" dirty="0">
                <a:solidFill>
                  <a:srgbClr val="E6EDF3"/>
                </a:solidFill>
                <a:latin typeface="Consolas" pitchFamily="34" charset="0"/>
                <a:ea typeface="Consolas" pitchFamily="34" charset="-122"/>
                <a:cs typeface="Consolas" pitchFamily="34" charset="-120"/>
              </a:rPr>
              <a:t>(colorScheme:</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ColorScheme</a:t>
            </a:r>
            <a:r>
              <a:rPr lang="en-US" sz="1200" dirty="0">
                <a:solidFill>
                  <a:srgbClr val="E6EDF3"/>
                </a:solidFill>
                <a:latin typeface="Consolas" pitchFamily="34" charset="0"/>
                <a:ea typeface="Consolas" pitchFamily="34" charset="-122"/>
                <a:cs typeface="Consolas" pitchFamily="34" charset="-120"/>
              </a:rPr>
              <a:t>.fromSeed(seedColor: atur.benih)),</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darkTheme: ... </a:t>
            </a:r>
            <a:r>
              <a:rPr lang="en-US" sz="1200" i="1" dirty="0">
                <a:solidFill>
                  <a:srgbClr val="8FA3BC"/>
                </a:solidFill>
                <a:latin typeface="Consolas" pitchFamily="34" charset="0"/>
                <a:ea typeface="Consolas" pitchFamily="34" charset="-122"/>
                <a:cs typeface="Consolas" pitchFamily="34" charset="-120"/>
              </a:rPr>
              <a:t>// benih sama, Brightness.dark</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themeMode: atur.mode,</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home: </a:t>
            </a:r>
            <a:r>
              <a:rPr lang="en-US" sz="1200" dirty="0">
                <a:solidFill>
                  <a:srgbClr val="C792EA"/>
                </a:solidFill>
                <a:latin typeface="Consolas" pitchFamily="34" charset="0"/>
                <a:ea typeface="Consolas" pitchFamily="34" charset="-122"/>
                <a:cs typeface="Consolas" pitchFamily="34" charset="-120"/>
              </a:rPr>
              <a:t>const</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HalamanBeranda</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a:t>
            </a:r>
            <a:endParaRPr lang="en-US" sz="1200" dirty="0"/>
          </a:p>
        </p:txBody>
      </p:sp>
      <p:sp>
        <p:nvSpPr>
          <p:cNvPr id="9" name="tombol tautan">
            <a:hlinkClick r:id="rId3" tooltip="https://github.com/antonprafanto/mobile2026/blob/main/pertemuan_09_state_dan_mvvm/kode/contoh_06_multiprovider.dart"/>
          </p:cNvPr>
          <p:cNvSpPr txBox="1"/>
          <p:nvPr/>
        </p:nvSpPr>
        <p:spPr>
          <a:xfrm>
            <a:off x="548640" y="3694176"/>
            <a:ext cx="5516575"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contoh_06_multiprovider.dart</a:t>
            </a:r>
            <a:endParaRPr lang="en-US" sz="1300" dirty="0"/>
          </a:p>
        </p:txBody>
      </p:sp>
      <p:pic>
        <p:nvPicPr>
          <p:cNvPr id="10" name="Image 2" descr="ikon tautan">
            <a:hlinkClick r:id="rId5" tooltip="https://github.com/antonprafanto/mobile2026/blob/main/pertemuan_09_state_dan_mvvm/kode/contoh_06_multiprovider.dart"/>
          </p:cNvPr>
          <p:cNvPicPr>
            <a:picLocks noChangeAspect="1"/>
          </p:cNvPicPr>
          <p:nvPr/>
        </p:nvPicPr>
        <p:blipFill>
          <a:blip r:embed="rId4"/>
          <a:stretch>
            <a:fillRect/>
          </a:stretch>
        </p:blipFill>
        <p:spPr>
          <a:xfrm>
            <a:off x="694944" y="3785616"/>
            <a:ext cx="274320" cy="274320"/>
          </a:xfrm>
          <a:prstGeom prst="rect">
            <a:avLst/>
          </a:prstGeom>
        </p:spPr>
      </p:pic>
      <p:sp>
        <p:nvSpPr>
          <p:cNvPr id="11" name="daftar poin"/>
          <p:cNvSpPr txBox="1"/>
          <p:nvPr/>
        </p:nvSpPr>
        <p:spPr>
          <a:xfrm>
            <a:off x="548640" y="4425696"/>
            <a:ext cx="5516575" cy="1792224"/>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chemeClr val="tx1"/>
                </a:solidFill>
              </a:rPr>
              <a:t>Pengaturan memanggil read&lt;PengaturanTampilan&gt;().gantiMode(...): seluruh aplikasi berganti.</a:t>
            </a:r>
            <a:endParaRPr lang="en-US" sz="1500" dirty="0"/>
          </a:p>
          <a:p>
            <a:pPr marL="228600" indent="-228600">
              <a:spcAft>
                <a:spcPts val="800"/>
              </a:spcAft>
              <a:buSzPct val="100000"/>
              <a:buChar char="•"/>
            </a:pPr>
            <a:r>
              <a:rPr lang="en-US" sz="1500" dirty="0">
                <a:solidFill>
                  <a:schemeClr val="tx1"/>
                </a:solidFill>
              </a:rPr>
              <a:t>Teks yang sedang diketik = state lokal; nama yang sudah disimpan = state aplikasi.</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3" name="Text 1"/>
          <p:cNvSpPr/>
          <p:nvPr>
            <p:ph idx="101" type="body" hasCustomPrompt="1"/>
          </p:nvPr>
        </p:nvSpPr>
        <p:spPr>
          <a:xfrm>
            <a:off x="3840480" y="2103120"/>
            <a:ext cx="7680960" cy="457200"/>
          </a:xfrm>
          <a:prstGeom prst="rect">
            <a:avLst/>
          </a:prstGeom>
          <a:noFill/>
          <a:ln/>
        </p:spPr>
        <p:txBody>
          <a:bodyPr wrap="square" lIns="0" tIns="0" rIns="0" bIns="0" rtlCol="0"/>
          <a:lstStyle/>
          <a:p>
            <a:pPr indent="0" marL="0">
              <a:buNone/>
            </a:pPr>
            <a:r>
              <a:rPr lang="en-US" sz="1800" b="1" spc="200" kern="0" dirty="0">
                <a:solidFill>
                  <a:schemeClr val="accent2"/>
                </a:solidFill>
              </a:rPr>
              <a:t>BAGIAN 4</a:t>
            </a:r>
            <a:endParaRPr lang="en-US" sz="1800" dirty="0"/>
          </a:p>
        </p:txBody>
      </p:sp>
      <p:sp>
        <p:nvSpPr>
          <p:cNvPr id="4" name="Text 1"/>
          <p:cNvSpPr/>
          <p:nvPr>
            <p:ph idx="102" type="title" hasCustomPrompt="1"/>
          </p:nvPr>
        </p:nvSpPr>
        <p:spPr>
          <a:xfrm>
            <a:off x="3840480" y="2606040"/>
            <a:ext cx="7680960" cy="1737360"/>
          </a:xfrm>
          <a:prstGeom prst="rect">
            <a:avLst/>
          </a:prstGeom>
          <a:noFill/>
          <a:ln/>
        </p:spPr>
        <p:txBody>
          <a:bodyPr wrap="square" lIns="0" tIns="0" rIns="0" bIns="0" rtlCol="0" anchor="t"/>
          <a:lstStyle/>
          <a:p>
            <a:pPr algn="l" indent="0" marL="0">
              <a:buNone/>
            </a:pPr>
            <a:r>
              <a:rPr lang="en-US" sz="4000" b="1" dirty="0">
                <a:solidFill>
                  <a:schemeClr val="bg1"/>
                </a:solidFill>
              </a:rPr>
              <a:t>Pola MVVM</a:t>
            </a:r>
            <a:endParaRPr lang="en-US" sz="4000" dirty="0"/>
          </a:p>
        </p:txBody>
      </p:sp>
      <p:sp>
        <p:nvSpPr>
          <p:cNvPr id="5" name="lingkaran lapisan"/>
          <p:cNvSpPr/>
          <p:nvPr/>
        </p:nvSpPr>
        <p:spPr>
          <a:xfrm>
            <a:off x="1097280" y="2148840"/>
            <a:ext cx="2011680" cy="2011680"/>
          </a:xfrm>
          <a:prstGeom prst="ellipse">
            <a:avLst/>
          </a:prstGeom>
          <a:solidFill>
            <a:schemeClr val="accent1"/>
          </a:solidFill>
          <a:ln/>
        </p:spPr>
      </p:sp>
      <p:pic>
        <p:nvPicPr>
          <p:cNvPr id="6" name="Image 0" descr="lapisan">    </p:cNvPr>
          <p:cNvPicPr>
            <a:picLocks noChangeAspect="1"/>
          </p:cNvPicPr>
          <p:nvPr/>
        </p:nvPicPr>
        <p:blipFill>
          <a:blip r:embed="rId1"/>
          <a:stretch>
            <a:fillRect/>
          </a:stretch>
        </p:blipFill>
        <p:spPr>
          <a:xfrm>
            <a:off x="1539850" y="2591410"/>
            <a:ext cx="1126541" cy="1126541"/>
          </a:xfrm>
          <a:prstGeom prst="rect">
            <a:avLst/>
          </a:prstGeom>
        </p:spPr>
      </p:pic>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MVVM: Model–View–ViewModel</a:t>
            </a:r>
            <a:endParaRPr lang="en-US" sz="3200" dirty="0"/>
          </a:p>
        </p:txBody>
      </p:sp>
      <p:sp>
        <p:nvSpPr>
          <p:cNvPr id="4" name="Text 1"/>
          <p:cNvSpPr txBox="1"/>
          <p:nvPr/>
        </p:nvSpPr>
        <p:spPr>
          <a:xfrm>
            <a:off x="548640" y="1325880"/>
            <a:ext cx="11094415" cy="502920"/>
          </a:xfrm>
          <a:prstGeom prst="rect">
            <a:avLst/>
          </a:prstGeom>
          <a:noFill/>
          <a:ln/>
        </p:spPr>
        <p:txBody>
          <a:bodyPr wrap="square" lIns="0" tIns="0" rIns="0" bIns="0" rtlCol="0" anchor="ctr"/>
          <a:lstStyle/>
          <a:p>
            <a:pPr indent="0" marL="0">
              <a:buNone/>
            </a:pPr>
            <a:r>
              <a:rPr lang="en-US" sz="1800" dirty="0">
                <a:solidFill>
                  <a:srgbClr val="4A5870"/>
                </a:solidFill>
              </a:rPr>
              <a:t>Satu class State berisi semuanya → sulit dibaca, sulit diuji, sulit diubah. MVVM memisahkan perannya.</a:t>
            </a:r>
            <a:endParaRPr lang="en-US" sz="18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48640" y="1965960"/>
          <a:ext cx="11094415" cy="914400"/>
        </p:xfrm>
        <a:graphic>
          <a:graphicData uri="http://schemas.openxmlformats.org/drawingml/2006/table">
            <a:tbl>
              <a:tblPr/>
              <a:tblGrid>
                <a:gridCol w="2295396"/>
                <a:gridCol w="5164642"/>
                <a:gridCol w="3634377"/>
              </a:tblGrid>
              <a:tr h="64008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Peran</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Analogi restoran</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Di kode</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640080">
                <a:tc>
                  <a:txBody>
                    <a:bodyPr/>
                    <a:lstStyle/>
                    <a:p>
                      <a:pPr indent="0" marL="0">
                        <a:buNone/>
                      </a:pPr>
                      <a:r>
                        <a:rPr lang="en-US" sz="1600" b="1" dirty="0">
                          <a:solidFill>
                            <a:srgbClr val="1B2333"/>
                          </a:solidFill>
                          <a:latin typeface="Calibri" pitchFamily="34" charset="0"/>
                          <a:ea typeface="Calibri" pitchFamily="34" charset="-122"/>
                          <a:cs typeface="Calibri" pitchFamily="34" charset="-120"/>
                        </a:rPr>
                        <a:t>Model</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Bahan makanan: bentuknya jelas, tidak memasak sendiri</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Class data: Tugas, enum Prioritas</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640080">
                <a:tc>
                  <a:txBody>
                    <a:bodyPr/>
                    <a:lstStyle/>
                    <a:p>
                      <a:pPr indent="0" marL="0">
                        <a:buNone/>
                      </a:pPr>
                      <a:r>
                        <a:rPr lang="en-US" sz="1600" b="1" dirty="0">
                          <a:solidFill>
                            <a:srgbClr val="1B2333"/>
                          </a:solidFill>
                          <a:latin typeface="Calibri" pitchFamily="34" charset="0"/>
                          <a:ea typeface="Calibri" pitchFamily="34" charset="-122"/>
                          <a:cs typeface="Calibri" pitchFamily="34" charset="-120"/>
                        </a:rPr>
                        <a:t>View</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Pelayan: menyajikan dan mencatat pesanan, TIDAK memasak</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Widget</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640080">
                <a:tc>
                  <a:txBody>
                    <a:bodyPr/>
                    <a:lstStyle/>
                    <a:p>
                      <a:pPr indent="0" marL="0">
                        <a:buNone/>
                      </a:pPr>
                      <a:r>
                        <a:rPr lang="en-US" sz="1600" b="1" dirty="0">
                          <a:solidFill>
                            <a:srgbClr val="1B2333"/>
                          </a:solidFill>
                          <a:latin typeface="Calibri" pitchFamily="34" charset="0"/>
                          <a:ea typeface="Calibri" pitchFamily="34" charset="-122"/>
                          <a:cs typeface="Calibri" pitchFamily="34" charset="-120"/>
                        </a:rPr>
                        <a:t>ViewModel</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Dapur: mengolah pesanan menjadi hidangan siap saji</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Turunan ChangeNotifier</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640080">
                <a:tc>
                  <a:txBody>
                    <a:bodyPr/>
                    <a:lstStyle/>
                    <a:p>
                      <a:pPr indent="0" marL="0">
                        <a:buNone/>
                      </a:pPr>
                      <a:r>
                        <a:rPr lang="en-US" sz="1600" b="1" dirty="0">
                          <a:solidFill>
                            <a:srgbClr val="1B2333"/>
                          </a:solidFill>
                          <a:latin typeface="Calibri" pitchFamily="34" charset="0"/>
                          <a:ea typeface="Calibri" pitchFamily="34" charset="-122"/>
                          <a:cs typeface="Calibri" pitchFamily="34" charset="-120"/>
                        </a:rPr>
                        <a:t>Repository</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Pemasok bahan: dapur tidak peduli dibeli di pasar mana</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Class Repositori...</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bl>
          </a:graphicData>
        </a:graphic>
      </p:graphicFrame>
      <p:sp>
        <p:nvSpPr>
          <p:cNvPr id="6" name="lingkaran lampu"/>
          <p:cNvSpPr/>
          <p:nvPr/>
        </p:nvSpPr>
        <p:spPr>
          <a:xfrm>
            <a:off x="548640" y="5486400"/>
            <a:ext cx="502920" cy="502920"/>
          </a:xfrm>
          <a:prstGeom prst="ellipse">
            <a:avLst/>
          </a:prstGeom>
          <a:solidFill>
            <a:schemeClr val="accent3"/>
          </a:solidFill>
          <a:ln/>
        </p:spPr>
      </p:sp>
      <p:pic>
        <p:nvPicPr>
          <p:cNvPr id="7" name="Image 0" descr="lampu">    </p:cNvPr>
          <p:cNvPicPr>
            <a:picLocks noChangeAspect="1"/>
          </p:cNvPicPr>
          <p:nvPr/>
        </p:nvPicPr>
        <p:blipFill>
          <a:blip r:embed="rId1"/>
          <a:stretch>
            <a:fillRect/>
          </a:stretch>
        </p:blipFill>
        <p:spPr>
          <a:xfrm>
            <a:off x="659282" y="5597042"/>
            <a:ext cx="281635" cy="281635"/>
          </a:xfrm>
          <a:prstGeom prst="rect">
            <a:avLst/>
          </a:prstGeom>
        </p:spPr>
      </p:pic>
      <p:sp>
        <p:nvSpPr>
          <p:cNvPr id="8" name="Text 3"/>
          <p:cNvSpPr txBox="1"/>
          <p:nvPr/>
        </p:nvSpPr>
        <p:spPr>
          <a:xfrm>
            <a:off x="1234440" y="5394960"/>
            <a:ext cx="10408615" cy="685800"/>
          </a:xfrm>
          <a:prstGeom prst="rect">
            <a:avLst/>
          </a:prstGeom>
          <a:noFill/>
          <a:ln/>
        </p:spPr>
        <p:txBody>
          <a:bodyPr wrap="square" lIns="0" tIns="0" rIns="0" bIns="0" rtlCol="0" anchor="ctr"/>
          <a:lstStyle/>
          <a:p>
            <a:pPr indent="0" marL="0">
              <a:buNone/>
            </a:pPr>
            <a:r>
              <a:rPr lang="en-US" sz="1600" dirty="0">
                <a:solidFill>
                  <a:schemeClr val="tx1"/>
                </a:solidFill>
              </a:rPr>
              <a:t>MVVM adalah pola yang direkomendasikan panduan arsitektur resmi Flutter.</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Alur Data Satu Arah</a:t>
            </a:r>
            <a:endParaRPr lang="en-US" sz="3200" dirty="0"/>
          </a:p>
        </p:txBody>
      </p:sp>
      <p:sp>
        <p:nvSpPr>
          <p:cNvPr id="4" name="Text 1"/>
          <p:cNvSpPr txBox="1"/>
          <p:nvPr/>
        </p:nvSpPr>
        <p:spPr>
          <a:xfrm>
            <a:off x="548640" y="1325880"/>
            <a:ext cx="11094415" cy="548640"/>
          </a:xfrm>
          <a:prstGeom prst="rect">
            <a:avLst/>
          </a:prstGeom>
          <a:noFill/>
          <a:ln/>
        </p:spPr>
        <p:txBody>
          <a:bodyPr wrap="square" lIns="0" tIns="0" rIns="0" bIns="0" rtlCol="0" anchor="ctr"/>
          <a:lstStyle/>
          <a:p>
            <a:pPr indent="0" marL="0">
              <a:buNone/>
            </a:pPr>
            <a:r>
              <a:rPr lang="en-US" sz="1800" dirty="0">
                <a:solidFill>
                  <a:srgbClr val="4A5870"/>
                </a:solidFill>
              </a:rPr>
              <a:t>Kejadian mengalir dari View ke ViewModel. Data mengalir dari ViewModel ke View. View tidak pernah mengubah data sendiri.</a:t>
            </a:r>
            <a:endParaRPr lang="en-US" sz="1800" dirty="0"/>
          </a:p>
        </p:txBody>
      </p:sp>
      <p:sp>
        <p:nvSpPr>
          <p:cNvPr id="5" name="langkah 1"/>
          <p:cNvSpPr/>
          <p:nvPr/>
        </p:nvSpPr>
        <p:spPr>
          <a:xfrm>
            <a:off x="548640" y="2103120"/>
            <a:ext cx="1962851" cy="3200400"/>
          </a:xfrm>
          <a:prstGeom prst="roundRect">
            <a:avLst>
              <a:gd name="adj" fmla="val 6988"/>
            </a:avLst>
          </a:prstGeom>
          <a:solidFill>
            <a:schemeClr val="bg2"/>
          </a:solidFill>
          <a:ln/>
        </p:spPr>
      </p:sp>
      <p:sp>
        <p:nvSpPr>
          <p:cNvPr id="6" name="lingkaran sentuh"/>
          <p:cNvSpPr/>
          <p:nvPr/>
        </p:nvSpPr>
        <p:spPr>
          <a:xfrm>
            <a:off x="1095726" y="2377440"/>
            <a:ext cx="868680" cy="868680"/>
          </a:xfrm>
          <a:prstGeom prst="ellipse">
            <a:avLst/>
          </a:prstGeom>
          <a:solidFill>
            <a:schemeClr val="accent1"/>
          </a:solidFill>
          <a:ln/>
        </p:spPr>
      </p:sp>
      <p:pic>
        <p:nvPicPr>
          <p:cNvPr id="7" name="Image 0" descr="sentuh">    </p:cNvPr>
          <p:cNvPicPr>
            <a:picLocks noChangeAspect="1"/>
          </p:cNvPicPr>
          <p:nvPr/>
        </p:nvPicPr>
        <p:blipFill>
          <a:blip r:embed="rId1"/>
          <a:stretch>
            <a:fillRect/>
          </a:stretch>
        </p:blipFill>
        <p:spPr>
          <a:xfrm>
            <a:off x="1286835" y="2568550"/>
            <a:ext cx="486461" cy="486461"/>
          </a:xfrm>
          <a:prstGeom prst="rect">
            <a:avLst/>
          </a:prstGeom>
        </p:spPr>
      </p:pic>
      <p:sp>
        <p:nvSpPr>
          <p:cNvPr id="8" name="Text 4"/>
          <p:cNvSpPr txBox="1"/>
          <p:nvPr/>
        </p:nvSpPr>
        <p:spPr>
          <a:xfrm>
            <a:off x="658368" y="219456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1</a:t>
            </a:r>
            <a:endParaRPr lang="en-US" sz="1400" dirty="0"/>
          </a:p>
        </p:txBody>
      </p:sp>
      <p:sp>
        <p:nvSpPr>
          <p:cNvPr id="9" name="Text 5"/>
          <p:cNvSpPr txBox="1"/>
          <p:nvPr/>
        </p:nvSpPr>
        <p:spPr>
          <a:xfrm>
            <a:off x="685800" y="3383280"/>
            <a:ext cx="1688531" cy="777240"/>
          </a:xfrm>
          <a:prstGeom prst="rect">
            <a:avLst/>
          </a:prstGeom>
          <a:noFill/>
          <a:ln/>
        </p:spPr>
        <p:txBody>
          <a:bodyPr wrap="square" lIns="0" tIns="0" rIns="0" bIns="0" rtlCol="0" anchor="t"/>
          <a:lstStyle/>
          <a:p>
            <a:pPr algn="ctr" indent="0" marL="0">
              <a:buNone/>
            </a:pPr>
            <a:r>
              <a:rPr lang="en-US" sz="1700" b="1" dirty="0">
                <a:solidFill>
                  <a:schemeClr val="tx2"/>
                </a:solidFill>
              </a:rPr>
              <a:t>1. View</a:t>
            </a:r>
            <a:endParaRPr lang="en-US" sz="1700" dirty="0"/>
          </a:p>
        </p:txBody>
      </p:sp>
      <p:sp>
        <p:nvSpPr>
          <p:cNvPr id="10" name="Text 6"/>
          <p:cNvSpPr txBox="1"/>
          <p:nvPr/>
        </p:nvSpPr>
        <p:spPr>
          <a:xfrm>
            <a:off x="685800" y="4206240"/>
            <a:ext cx="1688531" cy="1005840"/>
          </a:xfrm>
          <a:prstGeom prst="rect">
            <a:avLst/>
          </a:prstGeom>
          <a:noFill/>
          <a:ln/>
        </p:spPr>
        <p:txBody>
          <a:bodyPr wrap="square" lIns="0" tIns="0" rIns="0" bIns="0" rtlCol="0" anchor="t"/>
          <a:lstStyle/>
          <a:p>
            <a:pPr algn="ctr" indent="0" marL="0">
              <a:buNone/>
            </a:pPr>
            <a:r>
              <a:rPr lang="en-US" sz="1400" dirty="0">
                <a:solidFill>
                  <a:schemeClr val="tx1"/>
                </a:solidFill>
              </a:rPr>
              <a:t>Meneruskan perintah: cari, tambah, ubahStatus</a:t>
            </a:r>
            <a:endParaRPr lang="en-US" sz="1400" dirty="0"/>
          </a:p>
        </p:txBody>
      </p:sp>
      <p:sp>
        <p:nvSpPr>
          <p:cNvPr id="11" name="Shape 7"/>
          <p:cNvSpPr/>
          <p:nvPr/>
        </p:nvSpPr>
        <p:spPr>
          <a:xfrm>
            <a:off x="2548067" y="2670048"/>
            <a:ext cx="246888" cy="274320"/>
          </a:xfrm>
          <a:prstGeom prst="rightArrow">
            <a:avLst/>
          </a:prstGeom>
          <a:solidFill>
            <a:schemeClr val="accent2"/>
          </a:solidFill>
          <a:ln/>
        </p:spPr>
      </p:sp>
      <p:sp>
        <p:nvSpPr>
          <p:cNvPr id="12" name="langkah 2"/>
          <p:cNvSpPr/>
          <p:nvPr/>
        </p:nvSpPr>
        <p:spPr>
          <a:xfrm>
            <a:off x="2831531" y="2103120"/>
            <a:ext cx="1962851" cy="3200400"/>
          </a:xfrm>
          <a:prstGeom prst="roundRect">
            <a:avLst>
              <a:gd name="adj" fmla="val 6988"/>
            </a:avLst>
          </a:prstGeom>
          <a:solidFill>
            <a:schemeClr val="bg2"/>
          </a:solidFill>
          <a:ln/>
        </p:spPr>
      </p:sp>
      <p:sp>
        <p:nvSpPr>
          <p:cNvPr id="13" name="lingkaran restoran"/>
          <p:cNvSpPr/>
          <p:nvPr/>
        </p:nvSpPr>
        <p:spPr>
          <a:xfrm>
            <a:off x="3378617" y="2377440"/>
            <a:ext cx="868680" cy="868680"/>
          </a:xfrm>
          <a:prstGeom prst="ellipse">
            <a:avLst/>
          </a:prstGeom>
          <a:solidFill>
            <a:schemeClr val="accent1"/>
          </a:solidFill>
          <a:ln/>
        </p:spPr>
      </p:sp>
      <p:pic>
        <p:nvPicPr>
          <p:cNvPr id="14" name="Image 1" descr="restoran">    </p:cNvPr>
          <p:cNvPicPr>
            <a:picLocks noChangeAspect="1"/>
          </p:cNvPicPr>
          <p:nvPr/>
        </p:nvPicPr>
        <p:blipFill>
          <a:blip r:embed="rId2"/>
          <a:stretch>
            <a:fillRect/>
          </a:stretch>
        </p:blipFill>
        <p:spPr>
          <a:xfrm>
            <a:off x="3569726" y="2568550"/>
            <a:ext cx="486461" cy="486461"/>
          </a:xfrm>
          <a:prstGeom prst="rect">
            <a:avLst/>
          </a:prstGeom>
        </p:spPr>
      </p:pic>
      <p:sp>
        <p:nvSpPr>
          <p:cNvPr id="15" name="Text 10"/>
          <p:cNvSpPr txBox="1"/>
          <p:nvPr/>
        </p:nvSpPr>
        <p:spPr>
          <a:xfrm>
            <a:off x="2941259" y="219456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2</a:t>
            </a:r>
            <a:endParaRPr lang="en-US" sz="1400" dirty="0"/>
          </a:p>
        </p:txBody>
      </p:sp>
      <p:sp>
        <p:nvSpPr>
          <p:cNvPr id="16" name="Text 11"/>
          <p:cNvSpPr txBox="1"/>
          <p:nvPr/>
        </p:nvSpPr>
        <p:spPr>
          <a:xfrm>
            <a:off x="2968691" y="3383280"/>
            <a:ext cx="1688531" cy="777240"/>
          </a:xfrm>
          <a:prstGeom prst="rect">
            <a:avLst/>
          </a:prstGeom>
          <a:noFill/>
          <a:ln/>
        </p:spPr>
        <p:txBody>
          <a:bodyPr wrap="square" lIns="0" tIns="0" rIns="0" bIns="0" rtlCol="0" anchor="t"/>
          <a:lstStyle/>
          <a:p>
            <a:pPr algn="ctr" indent="0" marL="0">
              <a:buNone/>
            </a:pPr>
            <a:r>
              <a:rPr lang="en-US" sz="1700" b="1" dirty="0">
                <a:solidFill>
                  <a:schemeClr val="tx2"/>
                </a:solidFill>
              </a:rPr>
              <a:t>2. ViewModel</a:t>
            </a:r>
            <a:endParaRPr lang="en-US" sz="1700" dirty="0"/>
          </a:p>
        </p:txBody>
      </p:sp>
      <p:sp>
        <p:nvSpPr>
          <p:cNvPr id="17" name="Text 12"/>
          <p:cNvSpPr txBox="1"/>
          <p:nvPr/>
        </p:nvSpPr>
        <p:spPr>
          <a:xfrm>
            <a:off x="2968691" y="4206240"/>
            <a:ext cx="1688531" cy="1005840"/>
          </a:xfrm>
          <a:prstGeom prst="rect">
            <a:avLst/>
          </a:prstGeom>
          <a:noFill/>
          <a:ln/>
        </p:spPr>
        <p:txBody>
          <a:bodyPr wrap="square" lIns="0" tIns="0" rIns="0" bIns="0" rtlCol="0" anchor="t"/>
          <a:lstStyle/>
          <a:p>
            <a:pPr algn="ctr" indent="0" marL="0">
              <a:buNone/>
            </a:pPr>
            <a:r>
              <a:rPr lang="en-US" sz="1400" dirty="0">
                <a:solidFill>
                  <a:schemeClr val="tx1"/>
                </a:solidFill>
              </a:rPr>
              <a:t>Meminta data ke repository</a:t>
            </a:r>
            <a:endParaRPr lang="en-US" sz="1400" dirty="0"/>
          </a:p>
        </p:txBody>
      </p:sp>
      <p:sp>
        <p:nvSpPr>
          <p:cNvPr id="18" name="Shape 13"/>
          <p:cNvSpPr/>
          <p:nvPr/>
        </p:nvSpPr>
        <p:spPr>
          <a:xfrm>
            <a:off x="4830958" y="2670048"/>
            <a:ext cx="246888" cy="274320"/>
          </a:xfrm>
          <a:prstGeom prst="rightArrow">
            <a:avLst/>
          </a:prstGeom>
          <a:solidFill>
            <a:schemeClr val="accent2"/>
          </a:solidFill>
          <a:ln/>
        </p:spPr>
      </p:sp>
      <p:sp>
        <p:nvSpPr>
          <p:cNvPr id="19" name="langkah 3"/>
          <p:cNvSpPr/>
          <p:nvPr/>
        </p:nvSpPr>
        <p:spPr>
          <a:xfrm>
            <a:off x="5114422" y="2103120"/>
            <a:ext cx="1962851" cy="3200400"/>
          </a:xfrm>
          <a:prstGeom prst="roundRect">
            <a:avLst>
              <a:gd name="adj" fmla="val 6988"/>
            </a:avLst>
          </a:prstGeom>
          <a:solidFill>
            <a:schemeClr val="bg2"/>
          </a:solidFill>
          <a:ln/>
        </p:spPr>
      </p:sp>
      <p:sp>
        <p:nvSpPr>
          <p:cNvPr id="20" name="lingkaran gudang"/>
          <p:cNvSpPr/>
          <p:nvPr/>
        </p:nvSpPr>
        <p:spPr>
          <a:xfrm>
            <a:off x="5661508" y="2377440"/>
            <a:ext cx="868680" cy="868680"/>
          </a:xfrm>
          <a:prstGeom prst="ellipse">
            <a:avLst/>
          </a:prstGeom>
          <a:solidFill>
            <a:schemeClr val="accent1"/>
          </a:solidFill>
          <a:ln/>
        </p:spPr>
      </p:sp>
      <p:pic>
        <p:nvPicPr>
          <p:cNvPr id="21" name="Image 2" descr="gudang">    </p:cNvPr>
          <p:cNvPicPr>
            <a:picLocks noChangeAspect="1"/>
          </p:cNvPicPr>
          <p:nvPr/>
        </p:nvPicPr>
        <p:blipFill>
          <a:blip r:embed="rId3"/>
          <a:stretch>
            <a:fillRect/>
          </a:stretch>
        </p:blipFill>
        <p:spPr>
          <a:xfrm>
            <a:off x="5852617" y="2568550"/>
            <a:ext cx="486461" cy="486461"/>
          </a:xfrm>
          <a:prstGeom prst="rect">
            <a:avLst/>
          </a:prstGeom>
        </p:spPr>
      </p:pic>
      <p:sp>
        <p:nvSpPr>
          <p:cNvPr id="22" name="Text 16"/>
          <p:cNvSpPr txBox="1"/>
          <p:nvPr/>
        </p:nvSpPr>
        <p:spPr>
          <a:xfrm>
            <a:off x="5224150" y="219456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3</a:t>
            </a:r>
            <a:endParaRPr lang="en-US" sz="1400" dirty="0"/>
          </a:p>
        </p:txBody>
      </p:sp>
      <p:sp>
        <p:nvSpPr>
          <p:cNvPr id="23" name="Text 17"/>
          <p:cNvSpPr txBox="1"/>
          <p:nvPr/>
        </p:nvSpPr>
        <p:spPr>
          <a:xfrm>
            <a:off x="5251582" y="3383280"/>
            <a:ext cx="1688531" cy="777240"/>
          </a:xfrm>
          <a:prstGeom prst="rect">
            <a:avLst/>
          </a:prstGeom>
          <a:noFill/>
          <a:ln/>
        </p:spPr>
        <p:txBody>
          <a:bodyPr wrap="square" lIns="0" tIns="0" rIns="0" bIns="0" rtlCol="0" anchor="t"/>
          <a:lstStyle/>
          <a:p>
            <a:pPr algn="ctr" indent="0" marL="0">
              <a:buNone/>
            </a:pPr>
            <a:r>
              <a:rPr lang="en-US" sz="1700" b="1" dirty="0">
                <a:solidFill>
                  <a:schemeClr val="tx2"/>
                </a:solidFill>
              </a:rPr>
              <a:t>3. Repository</a:t>
            </a:r>
            <a:endParaRPr lang="en-US" sz="1700" dirty="0"/>
          </a:p>
        </p:txBody>
      </p:sp>
      <p:sp>
        <p:nvSpPr>
          <p:cNvPr id="24" name="Text 18"/>
          <p:cNvSpPr txBox="1"/>
          <p:nvPr/>
        </p:nvSpPr>
        <p:spPr>
          <a:xfrm>
            <a:off x="5251582" y="4206240"/>
            <a:ext cx="1688531" cy="1005840"/>
          </a:xfrm>
          <a:prstGeom prst="rect">
            <a:avLst/>
          </a:prstGeom>
          <a:noFill/>
          <a:ln/>
        </p:spPr>
        <p:txBody>
          <a:bodyPr wrap="square" lIns="0" tIns="0" rIns="0" bIns="0" rtlCol="0" anchor="t"/>
          <a:lstStyle/>
          <a:p>
            <a:pPr algn="ctr" indent="0" marL="0">
              <a:buNone/>
            </a:pPr>
            <a:r>
              <a:rPr lang="en-US" sz="1400" dirty="0">
                <a:solidFill>
                  <a:schemeClr val="tx1"/>
                </a:solidFill>
              </a:rPr>
              <a:t>Mengembalikan Model</a:t>
            </a:r>
            <a:endParaRPr lang="en-US" sz="1400" dirty="0"/>
          </a:p>
        </p:txBody>
      </p:sp>
      <p:sp>
        <p:nvSpPr>
          <p:cNvPr id="25" name="Shape 19"/>
          <p:cNvSpPr/>
          <p:nvPr/>
        </p:nvSpPr>
        <p:spPr>
          <a:xfrm>
            <a:off x="7113849" y="2670048"/>
            <a:ext cx="246888" cy="274320"/>
          </a:xfrm>
          <a:prstGeom prst="rightArrow">
            <a:avLst/>
          </a:prstGeom>
          <a:solidFill>
            <a:schemeClr val="accent2"/>
          </a:solidFill>
          <a:ln/>
        </p:spPr>
      </p:sp>
      <p:sp>
        <p:nvSpPr>
          <p:cNvPr id="26" name="langkah 4"/>
          <p:cNvSpPr/>
          <p:nvPr/>
        </p:nvSpPr>
        <p:spPr>
          <a:xfrm>
            <a:off x="7397313" y="2103120"/>
            <a:ext cx="1962851" cy="3200400"/>
          </a:xfrm>
          <a:prstGeom prst="roundRect">
            <a:avLst>
              <a:gd name="adj" fmla="val 6988"/>
            </a:avLst>
          </a:prstGeom>
          <a:solidFill>
            <a:schemeClr val="bg2"/>
          </a:solidFill>
          <a:ln/>
        </p:spPr>
      </p:sp>
      <p:sp>
        <p:nvSpPr>
          <p:cNvPr id="27" name="lingkaran pengeras"/>
          <p:cNvSpPr/>
          <p:nvPr/>
        </p:nvSpPr>
        <p:spPr>
          <a:xfrm>
            <a:off x="7944399" y="2377440"/>
            <a:ext cx="868680" cy="868680"/>
          </a:xfrm>
          <a:prstGeom prst="ellipse">
            <a:avLst/>
          </a:prstGeom>
          <a:solidFill>
            <a:schemeClr val="accent4"/>
          </a:solidFill>
          <a:ln/>
        </p:spPr>
      </p:sp>
      <p:pic>
        <p:nvPicPr>
          <p:cNvPr id="28" name="Image 3" descr="pengeras">    </p:cNvPr>
          <p:cNvPicPr>
            <a:picLocks noChangeAspect="1"/>
          </p:cNvPicPr>
          <p:nvPr/>
        </p:nvPicPr>
        <p:blipFill>
          <a:blip r:embed="rId4"/>
          <a:stretch>
            <a:fillRect/>
          </a:stretch>
        </p:blipFill>
        <p:spPr>
          <a:xfrm>
            <a:off x="8135508" y="2568550"/>
            <a:ext cx="486461" cy="486461"/>
          </a:xfrm>
          <a:prstGeom prst="rect">
            <a:avLst/>
          </a:prstGeom>
        </p:spPr>
      </p:pic>
      <p:sp>
        <p:nvSpPr>
          <p:cNvPr id="29" name="Text 22"/>
          <p:cNvSpPr txBox="1"/>
          <p:nvPr/>
        </p:nvSpPr>
        <p:spPr>
          <a:xfrm>
            <a:off x="7507041" y="219456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4</a:t>
            </a:r>
            <a:endParaRPr lang="en-US" sz="1400" dirty="0"/>
          </a:p>
        </p:txBody>
      </p:sp>
      <p:sp>
        <p:nvSpPr>
          <p:cNvPr id="30" name="Text 23"/>
          <p:cNvSpPr txBox="1"/>
          <p:nvPr/>
        </p:nvSpPr>
        <p:spPr>
          <a:xfrm>
            <a:off x="7534473" y="3383280"/>
            <a:ext cx="1688531" cy="777240"/>
          </a:xfrm>
          <a:prstGeom prst="rect">
            <a:avLst/>
          </a:prstGeom>
          <a:noFill/>
          <a:ln/>
        </p:spPr>
        <p:txBody>
          <a:bodyPr wrap="square" lIns="0" tIns="0" rIns="0" bIns="0" rtlCol="0" anchor="t"/>
          <a:lstStyle/>
          <a:p>
            <a:pPr algn="ctr" indent="0" marL="0">
              <a:buNone/>
            </a:pPr>
            <a:r>
              <a:rPr lang="en-US" sz="1700" b="1" dirty="0">
                <a:solidFill>
                  <a:schemeClr val="tx2"/>
                </a:solidFill>
              </a:rPr>
              <a:t>4. ViewModel</a:t>
            </a:r>
            <a:endParaRPr lang="en-US" sz="1700" dirty="0"/>
          </a:p>
        </p:txBody>
      </p:sp>
      <p:sp>
        <p:nvSpPr>
          <p:cNvPr id="31" name="Text 24"/>
          <p:cNvSpPr txBox="1"/>
          <p:nvPr/>
        </p:nvSpPr>
        <p:spPr>
          <a:xfrm>
            <a:off x="7534473" y="4206240"/>
            <a:ext cx="1688531" cy="1005840"/>
          </a:xfrm>
          <a:prstGeom prst="rect">
            <a:avLst/>
          </a:prstGeom>
          <a:noFill/>
          <a:ln/>
        </p:spPr>
        <p:txBody>
          <a:bodyPr wrap="square" lIns="0" tIns="0" rIns="0" bIns="0" rtlCol="0" anchor="t"/>
          <a:lstStyle/>
          <a:p>
            <a:pPr algn="ctr" indent="0" marL="0">
              <a:buNone/>
            </a:pPr>
            <a:r>
              <a:rPr lang="en-US" sz="1400" dirty="0">
                <a:solidFill>
                  <a:schemeClr val="tx1"/>
                </a:solidFill>
              </a:rPr>
              <a:t>Mengolah, lalu notifyListeners()</a:t>
            </a:r>
            <a:endParaRPr lang="en-US" sz="1400" dirty="0"/>
          </a:p>
        </p:txBody>
      </p:sp>
      <p:sp>
        <p:nvSpPr>
          <p:cNvPr id="32" name="Shape 25"/>
          <p:cNvSpPr/>
          <p:nvPr/>
        </p:nvSpPr>
        <p:spPr>
          <a:xfrm>
            <a:off x="9396740" y="2670048"/>
            <a:ext cx="246888" cy="274320"/>
          </a:xfrm>
          <a:prstGeom prst="rightArrow">
            <a:avLst/>
          </a:prstGeom>
          <a:solidFill>
            <a:schemeClr val="accent2"/>
          </a:solidFill>
          <a:ln/>
        </p:spPr>
      </p:sp>
      <p:sp>
        <p:nvSpPr>
          <p:cNvPr id="33" name="langkah 5"/>
          <p:cNvSpPr/>
          <p:nvPr/>
        </p:nvSpPr>
        <p:spPr>
          <a:xfrm>
            <a:off x="9680204" y="2103120"/>
            <a:ext cx="1962851" cy="3200400"/>
          </a:xfrm>
          <a:prstGeom prst="roundRect">
            <a:avLst>
              <a:gd name="adj" fmla="val 6988"/>
            </a:avLst>
          </a:prstGeom>
          <a:solidFill>
            <a:schemeClr val="bg2"/>
          </a:solidFill>
          <a:ln/>
        </p:spPr>
      </p:sp>
      <p:sp>
        <p:nvSpPr>
          <p:cNvPr id="34" name="lingkaran hp"/>
          <p:cNvSpPr/>
          <p:nvPr/>
        </p:nvSpPr>
        <p:spPr>
          <a:xfrm>
            <a:off x="10227290" y="2377440"/>
            <a:ext cx="868680" cy="868680"/>
          </a:xfrm>
          <a:prstGeom prst="ellipse">
            <a:avLst/>
          </a:prstGeom>
          <a:solidFill>
            <a:schemeClr val="accent4"/>
          </a:solidFill>
          <a:ln/>
        </p:spPr>
      </p:sp>
      <p:pic>
        <p:nvPicPr>
          <p:cNvPr id="35" name="Image 4" descr="hp">    </p:cNvPr>
          <p:cNvPicPr>
            <a:picLocks noChangeAspect="1"/>
          </p:cNvPicPr>
          <p:nvPr/>
        </p:nvPicPr>
        <p:blipFill>
          <a:blip r:embed="rId5"/>
          <a:stretch>
            <a:fillRect/>
          </a:stretch>
        </p:blipFill>
        <p:spPr>
          <a:xfrm>
            <a:off x="10418399" y="2568550"/>
            <a:ext cx="486461" cy="486461"/>
          </a:xfrm>
          <a:prstGeom prst="rect">
            <a:avLst/>
          </a:prstGeom>
        </p:spPr>
      </p:pic>
      <p:sp>
        <p:nvSpPr>
          <p:cNvPr id="36" name="Text 28"/>
          <p:cNvSpPr txBox="1"/>
          <p:nvPr/>
        </p:nvSpPr>
        <p:spPr>
          <a:xfrm>
            <a:off x="9789932" y="219456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5</a:t>
            </a:r>
            <a:endParaRPr lang="en-US" sz="1400" dirty="0"/>
          </a:p>
        </p:txBody>
      </p:sp>
      <p:sp>
        <p:nvSpPr>
          <p:cNvPr id="37" name="Text 29"/>
          <p:cNvSpPr txBox="1"/>
          <p:nvPr/>
        </p:nvSpPr>
        <p:spPr>
          <a:xfrm>
            <a:off x="9817364" y="3383280"/>
            <a:ext cx="1688531" cy="777240"/>
          </a:xfrm>
          <a:prstGeom prst="rect">
            <a:avLst/>
          </a:prstGeom>
          <a:noFill/>
          <a:ln/>
        </p:spPr>
        <p:txBody>
          <a:bodyPr wrap="square" lIns="0" tIns="0" rIns="0" bIns="0" rtlCol="0" anchor="t"/>
          <a:lstStyle/>
          <a:p>
            <a:pPr algn="ctr" indent="0" marL="0">
              <a:buNone/>
            </a:pPr>
            <a:r>
              <a:rPr lang="en-US" sz="1700" b="1" dirty="0">
                <a:solidFill>
                  <a:schemeClr val="tx2"/>
                </a:solidFill>
              </a:rPr>
              <a:t>5. View</a:t>
            </a:r>
            <a:endParaRPr lang="en-US" sz="1700" dirty="0"/>
          </a:p>
        </p:txBody>
      </p:sp>
      <p:sp>
        <p:nvSpPr>
          <p:cNvPr id="38" name="Text 30"/>
          <p:cNvSpPr txBox="1"/>
          <p:nvPr/>
        </p:nvSpPr>
        <p:spPr>
          <a:xfrm>
            <a:off x="9817364" y="4206240"/>
            <a:ext cx="1688531" cy="1005840"/>
          </a:xfrm>
          <a:prstGeom prst="rect">
            <a:avLst/>
          </a:prstGeom>
          <a:noFill/>
          <a:ln/>
        </p:spPr>
        <p:txBody>
          <a:bodyPr wrap="square" lIns="0" tIns="0" rIns="0" bIns="0" rtlCol="0" anchor="t"/>
          <a:lstStyle/>
          <a:p>
            <a:pPr algn="ctr" indent="0" marL="0">
              <a:buNone/>
            </a:pPr>
            <a:r>
              <a:rPr lang="en-US" sz="1400" dirty="0">
                <a:solidFill>
                  <a:schemeClr val="tx1"/>
                </a:solidFill>
              </a:rPr>
              <a:t>Membangun ulang dengan data siap tampil</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Aturan MVVM yang Kita Pakai</a:t>
            </a:r>
            <a:endParaRPr lang="en-US" sz="3200" dirty="0"/>
          </a:p>
        </p:txBody>
      </p:sp>
      <p:sp>
        <p:nvSpPr>
          <p:cNvPr id="4" name="kartu 1"/>
          <p:cNvSpPr/>
          <p:nvPr/>
        </p:nvSpPr>
        <p:spPr>
          <a:xfrm>
            <a:off x="548640" y="1371600"/>
            <a:ext cx="3484778" cy="2286000"/>
          </a:xfrm>
          <a:prstGeom prst="roundRect">
            <a:avLst>
              <a:gd name="adj" fmla="val 4800"/>
            </a:avLst>
          </a:prstGeom>
          <a:solidFill>
            <a:schemeClr val="bg2"/>
          </a:solidFill>
          <a:ln/>
        </p:spPr>
      </p:sp>
      <p:sp>
        <p:nvSpPr>
          <p:cNvPr id="5" name="lingkaran banding"/>
          <p:cNvSpPr/>
          <p:nvPr/>
        </p:nvSpPr>
        <p:spPr>
          <a:xfrm>
            <a:off x="777240" y="1600200"/>
            <a:ext cx="685800" cy="685800"/>
          </a:xfrm>
          <a:prstGeom prst="ellipse">
            <a:avLst/>
          </a:prstGeom>
          <a:solidFill>
            <a:schemeClr val="accent1"/>
          </a:solidFill>
          <a:ln/>
        </p:spPr>
      </p:sp>
      <p:pic>
        <p:nvPicPr>
          <p:cNvPr id="6" name="Image 0" descr="banding">    </p:cNvPr>
          <p:cNvPicPr>
            <a:picLocks noChangeAspect="1"/>
          </p:cNvPicPr>
          <p:nvPr/>
        </p:nvPicPr>
        <p:blipFill>
          <a:blip r:embed="rId1"/>
          <a:stretch>
            <a:fillRect/>
          </a:stretch>
        </p:blipFill>
        <p:spPr>
          <a:xfrm>
            <a:off x="928116" y="1751076"/>
            <a:ext cx="384048" cy="384048"/>
          </a:xfrm>
          <a:prstGeom prst="rect">
            <a:avLst/>
          </a:prstGeom>
        </p:spPr>
      </p:pic>
      <p:sp>
        <p:nvSpPr>
          <p:cNvPr id="7" name="Text 3"/>
          <p:cNvSpPr txBox="1"/>
          <p:nvPr/>
        </p:nvSpPr>
        <p:spPr>
          <a:xfrm>
            <a:off x="1600200" y="1572768"/>
            <a:ext cx="2250338" cy="731520"/>
          </a:xfrm>
          <a:prstGeom prst="rect">
            <a:avLst/>
          </a:prstGeom>
          <a:noFill/>
          <a:ln/>
        </p:spPr>
        <p:txBody>
          <a:bodyPr wrap="square" lIns="0" tIns="0" rIns="0" bIns="0" rtlCol="0" anchor="ctr"/>
          <a:lstStyle/>
          <a:p>
            <a:pPr indent="0" marL="0">
              <a:buNone/>
            </a:pPr>
            <a:r>
              <a:rPr lang="en-US" sz="1800" b="1" dirty="0">
                <a:solidFill>
                  <a:schemeClr val="tx2"/>
                </a:solidFill>
              </a:rPr>
              <a:t>Satu View, satu ViewModel</a:t>
            </a:r>
            <a:endParaRPr lang="en-US" sz="1800" dirty="0"/>
          </a:p>
        </p:txBody>
      </p:sp>
      <p:sp>
        <p:nvSpPr>
          <p:cNvPr id="8" name="Text 4"/>
          <p:cNvSpPr txBox="1"/>
          <p:nvPr/>
        </p:nvSpPr>
        <p:spPr>
          <a:xfrm>
            <a:off x="777240" y="2423160"/>
            <a:ext cx="3027578" cy="1097280"/>
          </a:xfrm>
          <a:prstGeom prst="rect">
            <a:avLst/>
          </a:prstGeom>
          <a:noFill/>
          <a:ln/>
        </p:spPr>
        <p:txBody>
          <a:bodyPr wrap="square" lIns="0" tIns="0" rIns="0" bIns="0" rtlCol="0" anchor="t"/>
          <a:lstStyle/>
          <a:p>
            <a:pPr indent="0" marL="0">
              <a:buNone/>
            </a:pPr>
            <a:r>
              <a:rPr lang="en-US" sz="1500" dirty="0">
                <a:solidFill>
                  <a:schemeClr val="tx1"/>
                </a:solidFill>
              </a:rPr>
              <a:t>Setiap halaman punya ViewModel-nya sendiri.</a:t>
            </a:r>
            <a:endParaRPr lang="en-US" sz="1500" dirty="0"/>
          </a:p>
        </p:txBody>
      </p:sp>
      <p:sp>
        <p:nvSpPr>
          <p:cNvPr id="9" name="kartu 2"/>
          <p:cNvSpPr/>
          <p:nvPr/>
        </p:nvSpPr>
        <p:spPr>
          <a:xfrm>
            <a:off x="4353458" y="1371600"/>
            <a:ext cx="3484778" cy="2286000"/>
          </a:xfrm>
          <a:prstGeom prst="roundRect">
            <a:avLst>
              <a:gd name="adj" fmla="val 4800"/>
            </a:avLst>
          </a:prstGeom>
          <a:solidFill>
            <a:schemeClr val="bg2"/>
          </a:solidFill>
          <a:ln/>
        </p:spPr>
      </p:sp>
      <p:sp>
        <p:nvSpPr>
          <p:cNvPr id="10" name="lingkaran hp"/>
          <p:cNvSpPr/>
          <p:nvPr/>
        </p:nvSpPr>
        <p:spPr>
          <a:xfrm>
            <a:off x="4582058" y="1600200"/>
            <a:ext cx="685800" cy="685800"/>
          </a:xfrm>
          <a:prstGeom prst="ellipse">
            <a:avLst/>
          </a:prstGeom>
          <a:solidFill>
            <a:schemeClr val="accent1"/>
          </a:solidFill>
          <a:ln/>
        </p:spPr>
      </p:sp>
      <p:pic>
        <p:nvPicPr>
          <p:cNvPr id="11" name="Image 1" descr="hp">    </p:cNvPr>
          <p:cNvPicPr>
            <a:picLocks noChangeAspect="1"/>
          </p:cNvPicPr>
          <p:nvPr/>
        </p:nvPicPr>
        <p:blipFill>
          <a:blip r:embed="rId2"/>
          <a:stretch>
            <a:fillRect/>
          </a:stretch>
        </p:blipFill>
        <p:spPr>
          <a:xfrm>
            <a:off x="4732934" y="1751076"/>
            <a:ext cx="384048" cy="384048"/>
          </a:xfrm>
          <a:prstGeom prst="rect">
            <a:avLst/>
          </a:prstGeom>
        </p:spPr>
      </p:pic>
      <p:sp>
        <p:nvSpPr>
          <p:cNvPr id="12" name="Text 7"/>
          <p:cNvSpPr txBox="1"/>
          <p:nvPr/>
        </p:nvSpPr>
        <p:spPr>
          <a:xfrm>
            <a:off x="5405018" y="1572768"/>
            <a:ext cx="2250338" cy="731520"/>
          </a:xfrm>
          <a:prstGeom prst="rect">
            <a:avLst/>
          </a:prstGeom>
          <a:noFill/>
          <a:ln/>
        </p:spPr>
        <p:txBody>
          <a:bodyPr wrap="square" lIns="0" tIns="0" rIns="0" bIns="0" rtlCol="0" anchor="ctr"/>
          <a:lstStyle/>
          <a:p>
            <a:pPr indent="0" marL="0">
              <a:buNone/>
            </a:pPr>
            <a:r>
              <a:rPr lang="en-US" sz="1800" b="1" dirty="0">
                <a:solidFill>
                  <a:schemeClr val="tx2"/>
                </a:solidFill>
              </a:rPr>
              <a:t>View: logika tampilan saja</a:t>
            </a:r>
            <a:endParaRPr lang="en-US" sz="1800" dirty="0"/>
          </a:p>
        </p:txBody>
      </p:sp>
      <p:sp>
        <p:nvSpPr>
          <p:cNvPr id="13" name="Text 8"/>
          <p:cNvSpPr txBox="1"/>
          <p:nvPr/>
        </p:nvSpPr>
        <p:spPr>
          <a:xfrm>
            <a:off x="4582058" y="2423160"/>
            <a:ext cx="3027578" cy="1097280"/>
          </a:xfrm>
          <a:prstGeom prst="rect">
            <a:avLst/>
          </a:prstGeom>
          <a:noFill/>
          <a:ln/>
        </p:spPr>
        <p:txBody>
          <a:bodyPr wrap="square" lIns="0" tIns="0" rIns="0" bIns="0" rtlCol="0" anchor="t"/>
          <a:lstStyle/>
          <a:p>
            <a:pPr indent="0" marL="0">
              <a:buNone/>
            </a:pPr>
            <a:r>
              <a:rPr lang="en-US" sz="1500" dirty="0">
                <a:solidFill>
                  <a:schemeClr val="tx1"/>
                </a:solidFill>
              </a:rPr>
              <a:t>if sederhana, animasi, tata letak menurut ukuran layar, navigasi sederhana.</a:t>
            </a:r>
            <a:endParaRPr lang="en-US" sz="1500" dirty="0"/>
          </a:p>
        </p:txBody>
      </p:sp>
      <p:sp>
        <p:nvSpPr>
          <p:cNvPr id="14" name="kartu 3"/>
          <p:cNvSpPr/>
          <p:nvPr/>
        </p:nvSpPr>
        <p:spPr>
          <a:xfrm>
            <a:off x="8158277" y="1371600"/>
            <a:ext cx="3484778" cy="2286000"/>
          </a:xfrm>
          <a:prstGeom prst="roundRect">
            <a:avLst>
              <a:gd name="adj" fmla="val 4800"/>
            </a:avLst>
          </a:prstGeom>
          <a:solidFill>
            <a:schemeClr val="bg2"/>
          </a:solidFill>
          <a:ln/>
        </p:spPr>
      </p:sp>
      <p:sp>
        <p:nvSpPr>
          <p:cNvPr id="15" name="lingkaran restoran"/>
          <p:cNvSpPr/>
          <p:nvPr/>
        </p:nvSpPr>
        <p:spPr>
          <a:xfrm>
            <a:off x="8386877" y="1600200"/>
            <a:ext cx="685800" cy="685800"/>
          </a:xfrm>
          <a:prstGeom prst="ellipse">
            <a:avLst/>
          </a:prstGeom>
          <a:solidFill>
            <a:schemeClr val="accent1"/>
          </a:solidFill>
          <a:ln/>
        </p:spPr>
      </p:sp>
      <p:pic>
        <p:nvPicPr>
          <p:cNvPr id="16" name="Image 2" descr="restoran">    </p:cNvPr>
          <p:cNvPicPr>
            <a:picLocks noChangeAspect="1"/>
          </p:cNvPicPr>
          <p:nvPr/>
        </p:nvPicPr>
        <p:blipFill>
          <a:blip r:embed="rId3"/>
          <a:stretch>
            <a:fillRect/>
          </a:stretch>
        </p:blipFill>
        <p:spPr>
          <a:xfrm>
            <a:off x="8537753" y="1751076"/>
            <a:ext cx="384048" cy="384048"/>
          </a:xfrm>
          <a:prstGeom prst="rect">
            <a:avLst/>
          </a:prstGeom>
        </p:spPr>
      </p:pic>
      <p:sp>
        <p:nvSpPr>
          <p:cNvPr id="17" name="Text 11"/>
          <p:cNvSpPr txBox="1"/>
          <p:nvPr/>
        </p:nvSpPr>
        <p:spPr>
          <a:xfrm>
            <a:off x="9209837" y="1572768"/>
            <a:ext cx="2250338" cy="731520"/>
          </a:xfrm>
          <a:prstGeom prst="rect">
            <a:avLst/>
          </a:prstGeom>
          <a:noFill/>
          <a:ln/>
        </p:spPr>
        <p:txBody>
          <a:bodyPr wrap="square" lIns="0" tIns="0" rIns="0" bIns="0" rtlCol="0" anchor="ctr"/>
          <a:lstStyle/>
          <a:p>
            <a:pPr indent="0" marL="0">
              <a:buNone/>
            </a:pPr>
            <a:r>
              <a:rPr lang="en-US" sz="1800" b="1" dirty="0">
                <a:solidFill>
                  <a:schemeClr val="tx2"/>
                </a:solidFill>
              </a:rPr>
              <a:t>ViewModel: data + perintah</a:t>
            </a:r>
            <a:endParaRPr lang="en-US" sz="1800" dirty="0"/>
          </a:p>
        </p:txBody>
      </p:sp>
      <p:sp>
        <p:nvSpPr>
          <p:cNvPr id="18" name="Text 12"/>
          <p:cNvSpPr txBox="1"/>
          <p:nvPr/>
        </p:nvSpPr>
        <p:spPr>
          <a:xfrm>
            <a:off x="8386877" y="2423160"/>
            <a:ext cx="3027578" cy="1097280"/>
          </a:xfrm>
          <a:prstGeom prst="rect">
            <a:avLst/>
          </a:prstGeom>
          <a:noFill/>
          <a:ln/>
        </p:spPr>
        <p:txBody>
          <a:bodyPr wrap="square" lIns="0" tIns="0" rIns="0" bIns="0" rtlCol="0" anchor="t"/>
          <a:lstStyle/>
          <a:p>
            <a:pPr indent="0" marL="0">
              <a:buNone/>
            </a:pPr>
            <a:r>
              <a:rPr lang="en-US" sz="1500" dirty="0">
                <a:solidFill>
                  <a:schemeClr val="tx1"/>
                </a:solidFill>
              </a:rPr>
              <a:t>Data privat, getter untuk dibaca View, dan perintah (metode) yang dipanggil View.</a:t>
            </a:r>
            <a:endParaRPr lang="en-US" sz="1500" dirty="0"/>
          </a:p>
        </p:txBody>
      </p:sp>
      <p:sp>
        <p:nvSpPr>
          <p:cNvPr id="19" name="kartu 4"/>
          <p:cNvSpPr/>
          <p:nvPr/>
        </p:nvSpPr>
        <p:spPr>
          <a:xfrm>
            <a:off x="548640" y="3931920"/>
            <a:ext cx="3484778" cy="2286000"/>
          </a:xfrm>
          <a:prstGeom prst="roundRect">
            <a:avLst>
              <a:gd name="adj" fmla="val 4800"/>
            </a:avLst>
          </a:prstGeom>
          <a:solidFill>
            <a:schemeClr val="bg2"/>
          </a:solidFill>
          <a:ln/>
        </p:spPr>
      </p:sp>
      <p:sp>
        <p:nvSpPr>
          <p:cNvPr id="20" name="lingkaran gudang"/>
          <p:cNvSpPr/>
          <p:nvPr/>
        </p:nvSpPr>
        <p:spPr>
          <a:xfrm>
            <a:off x="777240" y="4160520"/>
            <a:ext cx="685800" cy="685800"/>
          </a:xfrm>
          <a:prstGeom prst="ellipse">
            <a:avLst/>
          </a:prstGeom>
          <a:solidFill>
            <a:schemeClr val="accent1"/>
          </a:solidFill>
          <a:ln/>
        </p:spPr>
      </p:sp>
      <p:pic>
        <p:nvPicPr>
          <p:cNvPr id="21" name="Image 3" descr="gudang">    </p:cNvPr>
          <p:cNvPicPr>
            <a:picLocks noChangeAspect="1"/>
          </p:cNvPicPr>
          <p:nvPr/>
        </p:nvPicPr>
        <p:blipFill>
          <a:blip r:embed="rId4"/>
          <a:stretch>
            <a:fillRect/>
          </a:stretch>
        </p:blipFill>
        <p:spPr>
          <a:xfrm>
            <a:off x="928116" y="4311396"/>
            <a:ext cx="384048" cy="384048"/>
          </a:xfrm>
          <a:prstGeom prst="rect">
            <a:avLst/>
          </a:prstGeom>
        </p:spPr>
      </p:pic>
      <p:sp>
        <p:nvSpPr>
          <p:cNvPr id="22" name="Text 15"/>
          <p:cNvSpPr txBox="1"/>
          <p:nvPr/>
        </p:nvSpPr>
        <p:spPr>
          <a:xfrm>
            <a:off x="1600200" y="4133088"/>
            <a:ext cx="2250338" cy="731520"/>
          </a:xfrm>
          <a:prstGeom prst="rect">
            <a:avLst/>
          </a:prstGeom>
          <a:noFill/>
          <a:ln/>
        </p:spPr>
        <p:txBody>
          <a:bodyPr wrap="square" lIns="0" tIns="0" rIns="0" bIns="0" rtlCol="0" anchor="ctr"/>
          <a:lstStyle/>
          <a:p>
            <a:pPr indent="0" marL="0">
              <a:buNone/>
            </a:pPr>
            <a:r>
              <a:rPr lang="en-US" sz="1800" b="1" dirty="0">
                <a:solidFill>
                  <a:schemeClr val="tx2"/>
                </a:solidFill>
              </a:rPr>
              <a:t>Data dari repository</a:t>
            </a:r>
            <a:endParaRPr lang="en-US" sz="1800" dirty="0"/>
          </a:p>
        </p:txBody>
      </p:sp>
      <p:sp>
        <p:nvSpPr>
          <p:cNvPr id="23" name="Text 16"/>
          <p:cNvSpPr txBox="1"/>
          <p:nvPr/>
        </p:nvSpPr>
        <p:spPr>
          <a:xfrm>
            <a:off x="777240" y="4983480"/>
            <a:ext cx="3027578" cy="1097280"/>
          </a:xfrm>
          <a:prstGeom prst="rect">
            <a:avLst/>
          </a:prstGeom>
          <a:noFill/>
          <a:ln/>
        </p:spPr>
        <p:txBody>
          <a:bodyPr wrap="square" lIns="0" tIns="0" rIns="0" bIns="0" rtlCol="0" anchor="t"/>
          <a:lstStyle/>
          <a:p>
            <a:pPr indent="0" marL="0">
              <a:buNone/>
            </a:pPr>
            <a:r>
              <a:rPr lang="en-US" sz="1500" dirty="0">
                <a:solidFill>
                  <a:schemeClr val="tx1"/>
                </a:solidFill>
              </a:rPr>
              <a:t>ViewModel tidak membuat atau mengambil data sendiri.</a:t>
            </a:r>
            <a:endParaRPr lang="en-US" sz="1500" dirty="0"/>
          </a:p>
        </p:txBody>
      </p:sp>
      <p:sp>
        <p:nvSpPr>
          <p:cNvPr id="24" name="kartu 5"/>
          <p:cNvSpPr/>
          <p:nvPr/>
        </p:nvSpPr>
        <p:spPr>
          <a:xfrm>
            <a:off x="4353458" y="3931920"/>
            <a:ext cx="3484778" cy="2286000"/>
          </a:xfrm>
          <a:prstGeom prst="roundRect">
            <a:avLst>
              <a:gd name="adj" fmla="val 4800"/>
            </a:avLst>
          </a:prstGeom>
          <a:solidFill>
            <a:schemeClr val="bg2"/>
          </a:solidFill>
          <a:ln/>
        </p:spPr>
      </p:sp>
      <p:sp>
        <p:nvSpPr>
          <p:cNvPr id="25" name="lingkaran gembok"/>
          <p:cNvSpPr/>
          <p:nvPr/>
        </p:nvSpPr>
        <p:spPr>
          <a:xfrm>
            <a:off x="4582058" y="4160520"/>
            <a:ext cx="685800" cy="685800"/>
          </a:xfrm>
          <a:prstGeom prst="ellipse">
            <a:avLst/>
          </a:prstGeom>
          <a:solidFill>
            <a:schemeClr val="accent6"/>
          </a:solidFill>
          <a:ln/>
        </p:spPr>
      </p:sp>
      <p:pic>
        <p:nvPicPr>
          <p:cNvPr id="26" name="Image 4" descr="gembok">    </p:cNvPr>
          <p:cNvPicPr>
            <a:picLocks noChangeAspect="1"/>
          </p:cNvPicPr>
          <p:nvPr/>
        </p:nvPicPr>
        <p:blipFill>
          <a:blip r:embed="rId5"/>
          <a:stretch>
            <a:fillRect/>
          </a:stretch>
        </p:blipFill>
        <p:spPr>
          <a:xfrm>
            <a:off x="4732934" y="4311396"/>
            <a:ext cx="384048" cy="384048"/>
          </a:xfrm>
          <a:prstGeom prst="rect">
            <a:avLst/>
          </a:prstGeom>
        </p:spPr>
      </p:pic>
      <p:sp>
        <p:nvSpPr>
          <p:cNvPr id="27" name="Text 19"/>
          <p:cNvSpPr txBox="1"/>
          <p:nvPr/>
        </p:nvSpPr>
        <p:spPr>
          <a:xfrm>
            <a:off x="5405018" y="4133088"/>
            <a:ext cx="2250338" cy="731520"/>
          </a:xfrm>
          <a:prstGeom prst="rect">
            <a:avLst/>
          </a:prstGeom>
          <a:noFill/>
          <a:ln/>
        </p:spPr>
        <p:txBody>
          <a:bodyPr wrap="square" lIns="0" tIns="0" rIns="0" bIns="0" rtlCol="0" anchor="ctr"/>
          <a:lstStyle/>
          <a:p>
            <a:pPr indent="0" marL="0">
              <a:buNone/>
            </a:pPr>
            <a:r>
              <a:rPr lang="en-US" sz="1800" b="1" dirty="0">
                <a:solidFill>
                  <a:schemeClr val="tx2"/>
                </a:solidFill>
              </a:rPr>
              <a:t>Tanpa BuildContext</a:t>
            </a:r>
            <a:endParaRPr lang="en-US" sz="1800" dirty="0"/>
          </a:p>
        </p:txBody>
      </p:sp>
      <p:sp>
        <p:nvSpPr>
          <p:cNvPr id="28" name="Text 20"/>
          <p:cNvSpPr txBox="1"/>
          <p:nvPr/>
        </p:nvSpPr>
        <p:spPr>
          <a:xfrm>
            <a:off x="4582058" y="4983480"/>
            <a:ext cx="3027578" cy="1097280"/>
          </a:xfrm>
          <a:prstGeom prst="rect">
            <a:avLst/>
          </a:prstGeom>
          <a:noFill/>
          <a:ln/>
        </p:spPr>
        <p:txBody>
          <a:bodyPr wrap="square" lIns="0" tIns="0" rIns="0" bIns="0" rtlCol="0" anchor="t"/>
          <a:lstStyle/>
          <a:p>
            <a:pPr indent="0" marL="0">
              <a:buNone/>
            </a:pPr>
            <a:r>
              <a:rPr lang="en-US" sz="1500" dirty="0">
                <a:solidFill>
                  <a:schemeClr val="tx1"/>
                </a:solidFill>
              </a:rPr>
              <a:t>ViewModel tidak menyimpan context dan tidak membuat widget. SnackBar, dialog, navigasi: tugas View.</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Membedah Contoh 07: Tugas Kuliahku</a:t>
            </a:r>
            <a:endParaRPr lang="en-US" sz="3200" dirty="0"/>
          </a:p>
        </p:txBody>
      </p:sp>
      <p:sp>
        <p:nvSpPr>
          <p:cNvPr id="4" name="bingkai layar 1"/>
          <p:cNvSpPr/>
          <p:nvPr/>
        </p:nvSpPr>
        <p:spPr>
          <a:xfrm>
            <a:off x="8559295" y="1316736"/>
            <a:ext cx="3138624" cy="4818888"/>
          </a:xfrm>
          <a:prstGeom prst="roundRect">
            <a:avLst>
              <a:gd name="adj" fmla="val 2913"/>
            </a:avLst>
          </a:prstGeom>
          <a:solidFill>
            <a:srgbClr val="FFFFFF"/>
          </a:solidFill>
          <a:ln w="12700">
            <a:solidFill>
              <a:srgbClr val="C9D3E0"/>
            </a:solidFill>
            <a:prstDash val="solid"/>
          </a:ln>
        </p:spPr>
      </p:sp>
      <p:pic>
        <p:nvPicPr>
          <p:cNvPr id="5" name="layar 1" descr="Tangkapan layar aplikasi (hasil_contoh_07.jpg)">    </p:cNvPr>
          <p:cNvPicPr>
            <a:picLocks noChangeAspect="1"/>
          </p:cNvPicPr>
          <p:nvPr/>
        </p:nvPicPr>
        <p:blipFill>
          <a:blip r:embed="rId1"/>
          <a:stretch>
            <a:fillRect/>
          </a:stretch>
        </p:blipFill>
        <p:spPr>
          <a:xfrm>
            <a:off x="8614159" y="1371600"/>
            <a:ext cx="3028896" cy="4709160"/>
          </a:xfrm>
          <a:prstGeom prst="rect">
            <a:avLst/>
          </a:prstGeom>
        </p:spPr>
      </p:pic>
      <p:sp>
        <p:nvSpPr>
          <p:cNvPr id="6" name="kotak kode"/>
          <p:cNvSpPr txBox="1"/>
          <p:nvPr/>
        </p:nvSpPr>
        <p:spPr>
          <a:xfrm>
            <a:off x="548640" y="1371600"/>
            <a:ext cx="7608319" cy="3323844"/>
          </a:xfrm>
          <a:prstGeom prst="roundRect">
            <a:avLst>
              <a:gd name="adj" fmla="val 2751"/>
            </a:avLst>
          </a:prstGeom>
          <a:solidFill>
            <a:srgbClr val="0E1A2B"/>
          </a:solidFill>
          <a:ln/>
        </p:spPr>
        <p:txBody>
          <a:bodyPr wrap="square" lIns="177800" tIns="152400" rIns="152400" bIns="177800" rtlCol="0" anchor="t"/>
          <a:lstStyle/>
          <a:p>
            <a:pPr indent="0" marL="0">
              <a:lnSpc>
                <a:spcPct val="105000"/>
              </a:lnSpc>
              <a:buNone/>
            </a:pPr>
            <a:r>
              <a:rPr lang="en-US" sz="1300" dirty="0">
                <a:solidFill>
                  <a:srgbClr val="C792EA"/>
                </a:solidFill>
                <a:latin typeface="Consolas" pitchFamily="34" charset="0"/>
                <a:ea typeface="Consolas" pitchFamily="34" charset="-122"/>
                <a:cs typeface="Consolas" pitchFamily="34" charset="-120"/>
              </a:rPr>
              <a:t>class</a:t>
            </a: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FCB6B"/>
                </a:solidFill>
                <a:latin typeface="Consolas" pitchFamily="34" charset="0"/>
                <a:ea typeface="Consolas" pitchFamily="34" charset="-122"/>
                <a:cs typeface="Consolas" pitchFamily="34" charset="-120"/>
              </a:rPr>
              <a:t>DaftarTugasViewModel</a:t>
            </a: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C792EA"/>
                </a:solidFill>
                <a:latin typeface="Consolas" pitchFamily="34" charset="0"/>
                <a:ea typeface="Consolas" pitchFamily="34" charset="-122"/>
                <a:cs typeface="Consolas" pitchFamily="34" charset="-120"/>
              </a:rPr>
              <a:t>extends</a:t>
            </a: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FCB6B"/>
                </a:solidFill>
                <a:latin typeface="Consolas" pitchFamily="34" charset="0"/>
                <a:ea typeface="Consolas" pitchFamily="34" charset="-122"/>
                <a:cs typeface="Consolas" pitchFamily="34" charset="-120"/>
              </a:rPr>
              <a:t>ChangeNotifier</a:t>
            </a:r>
            <a:r>
              <a:rPr lang="en-US" sz="1300" dirty="0">
                <a:solidFill>
                  <a:srgbClr val="E6EDF3"/>
                </a:solidFill>
                <a:latin typeface="Consolas" pitchFamily="34" charset="0"/>
                <a:ea typeface="Consolas" pitchFamily="34" charset="-122"/>
                <a:cs typeface="Consolas" pitchFamily="34" charset="-120"/>
              </a:rPr>
              <a:t> {</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C792EA"/>
                </a:solidFill>
                <a:latin typeface="Consolas" pitchFamily="34" charset="0"/>
                <a:ea typeface="Consolas" pitchFamily="34" charset="-122"/>
                <a:cs typeface="Consolas" pitchFamily="34" charset="-120"/>
              </a:rPr>
              <a:t>final</a:t>
            </a: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FCB6B"/>
                </a:solidFill>
                <a:latin typeface="Consolas" pitchFamily="34" charset="0"/>
                <a:ea typeface="Consolas" pitchFamily="34" charset="-122"/>
                <a:cs typeface="Consolas" pitchFamily="34" charset="-120"/>
              </a:rPr>
              <a:t>List</a:t>
            </a:r>
            <a:r>
              <a:rPr lang="en-US" sz="1300" dirty="0">
                <a:solidFill>
                  <a:srgbClr val="E6EDF3"/>
                </a:solidFill>
                <a:latin typeface="Consolas" pitchFamily="34" charset="0"/>
                <a:ea typeface="Consolas" pitchFamily="34" charset="-122"/>
                <a:cs typeface="Consolas" pitchFamily="34" charset="-120"/>
              </a:rPr>
              <a:t>&lt;</a:t>
            </a:r>
            <a:r>
              <a:rPr lang="en-US" sz="1300" dirty="0">
                <a:solidFill>
                  <a:srgbClr val="FFCB6B"/>
                </a:solidFill>
                <a:latin typeface="Consolas" pitchFamily="34" charset="0"/>
                <a:ea typeface="Consolas" pitchFamily="34" charset="-122"/>
                <a:cs typeface="Consolas" pitchFamily="34" charset="-120"/>
              </a:rPr>
              <a:t>Tugas</a:t>
            </a:r>
            <a:r>
              <a:rPr lang="en-US" sz="1300" dirty="0">
                <a:solidFill>
                  <a:srgbClr val="E6EDF3"/>
                </a:solidFill>
                <a:latin typeface="Consolas" pitchFamily="34" charset="0"/>
                <a:ea typeface="Consolas" pitchFamily="34" charset="-122"/>
                <a:cs typeface="Consolas" pitchFamily="34" charset="-120"/>
              </a:rPr>
              <a:t>&gt; _semua = [</a:t>
            </a:r>
            <a:r>
              <a:rPr lang="en-US" sz="1300" i="1" dirty="0">
                <a:solidFill>
                  <a:srgbClr val="8FA3BC"/>
                </a:solidFill>
                <a:latin typeface="Consolas" pitchFamily="34" charset="0"/>
                <a:ea typeface="Consolas" pitchFamily="34" charset="-122"/>
                <a:cs typeface="Consolas" pitchFamily="34" charset="-120"/>
              </a:rPr>
              <a:t>/* empat tugas */</a:t>
            </a: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FCB6B"/>
                </a:solidFill>
                <a:latin typeface="Consolas" pitchFamily="34" charset="0"/>
                <a:ea typeface="Consolas" pitchFamily="34" charset="-122"/>
                <a:cs typeface="Consolas" pitchFamily="34" charset="-120"/>
              </a:rPr>
              <a:t>String</a:t>
            </a:r>
            <a:r>
              <a:rPr lang="en-US" sz="1300" dirty="0">
                <a:solidFill>
                  <a:srgbClr val="E6EDF3"/>
                </a:solidFill>
                <a:latin typeface="Consolas" pitchFamily="34" charset="0"/>
                <a:ea typeface="Consolas" pitchFamily="34" charset="-122"/>
                <a:cs typeface="Consolas" pitchFamily="34" charset="-120"/>
              </a:rPr>
              <a:t> _kataKunci = </a:t>
            </a:r>
            <a:r>
              <a:rPr lang="en-US" sz="1300" dirty="0">
                <a:solidFill>
                  <a:srgbClr val="C3E88D"/>
                </a:solidFill>
                <a:latin typeface="Consolas" pitchFamily="34" charset="0"/>
                <a:ea typeface="Consolas" pitchFamily="34" charset="-122"/>
                <a:cs typeface="Consolas" pitchFamily="34" charset="-120"/>
              </a:rPr>
              <a:t>''</a:t>
            </a: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FCB6B"/>
                </a:solidFill>
                <a:latin typeface="Consolas" pitchFamily="34" charset="0"/>
                <a:ea typeface="Consolas" pitchFamily="34" charset="-122"/>
                <a:cs typeface="Consolas" pitchFamily="34" charset="-120"/>
              </a:rPr>
              <a:t>Prioritas</a:t>
            </a:r>
            <a:r>
              <a:rPr lang="en-US" sz="1300" dirty="0">
                <a:solidFill>
                  <a:srgbClr val="E6EDF3"/>
                </a:solidFill>
                <a:latin typeface="Consolas" pitchFamily="34" charset="0"/>
                <a:ea typeface="Consolas" pitchFamily="34" charset="-122"/>
                <a:cs typeface="Consolas" pitchFamily="34" charset="-120"/>
              </a:rPr>
              <a:t>? _saringan; </a:t>
            </a:r>
            <a:r>
              <a:rPr lang="en-US" sz="1300" i="1" dirty="0">
                <a:solidFill>
                  <a:srgbClr val="8FA3BC"/>
                </a:solidFill>
                <a:latin typeface="Consolas" pitchFamily="34" charset="0"/>
                <a:ea typeface="Consolas" pitchFamily="34" charset="-122"/>
                <a:cs typeface="Consolas" pitchFamily="34" charset="-120"/>
              </a:rPr>
              <a:t>// null = semua</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C792EA"/>
                </a:solidFill>
                <a:latin typeface="Consolas" pitchFamily="34" charset="0"/>
                <a:ea typeface="Consolas" pitchFamily="34" charset="-122"/>
                <a:cs typeface="Consolas" pitchFamily="34" charset="-120"/>
              </a:rPr>
              <a:t>void</a:t>
            </a:r>
            <a:r>
              <a:rPr lang="en-US" sz="1300" dirty="0">
                <a:solidFill>
                  <a:srgbClr val="E6EDF3"/>
                </a:solidFill>
                <a:latin typeface="Consolas" pitchFamily="34" charset="0"/>
                <a:ea typeface="Consolas" pitchFamily="34" charset="-122"/>
                <a:cs typeface="Consolas" pitchFamily="34" charset="-120"/>
              </a:rPr>
              <a:t> cari(</a:t>
            </a:r>
            <a:r>
              <a:rPr lang="en-US" sz="1300" dirty="0">
                <a:solidFill>
                  <a:srgbClr val="FFCB6B"/>
                </a:solidFill>
                <a:latin typeface="Consolas" pitchFamily="34" charset="0"/>
                <a:ea typeface="Consolas" pitchFamily="34" charset="-122"/>
                <a:cs typeface="Consolas" pitchFamily="34" charset="-120"/>
              </a:rPr>
              <a:t>String</a:t>
            </a:r>
            <a:r>
              <a:rPr lang="en-US" sz="1300" dirty="0">
                <a:solidFill>
                  <a:srgbClr val="E6EDF3"/>
                </a:solidFill>
                <a:latin typeface="Consolas" pitchFamily="34" charset="0"/>
                <a:ea typeface="Consolas" pitchFamily="34" charset="-122"/>
                <a:cs typeface="Consolas" pitchFamily="34" charset="-120"/>
              </a:rPr>
              <a:t> teks) {</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_kataKunci = teks;</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notifyListeners();</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endParaRPr lang="en-US" sz="1300" dirty="0"/>
          </a:p>
          <a:p>
            <a:pPr indent="0" marL="0">
              <a:lnSpc>
                <a:spcPct val="105000"/>
              </a:lnSpc>
              <a:buNone/>
            </a:pPr>
            <a:r>
              <a:rPr lang="en-US" sz="1300" i="1" dirty="0">
                <a:solidFill>
                  <a:srgbClr val="8FA3BC"/>
                </a:solidFill>
                <a:latin typeface="Consolas" pitchFamily="34" charset="0"/>
                <a:ea typeface="Consolas" pitchFamily="34" charset="-122"/>
                <a:cs typeface="Consolas" pitchFamily="34" charset="-120"/>
              </a:rPr>
              <a:t>// View: membaca vm.tampil, meneruskan ketikan</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onChanged: (</a:t>
            </a:r>
            <a:r>
              <a:rPr lang="en-US" sz="1300" dirty="0">
                <a:solidFill>
                  <a:srgbClr val="FFCB6B"/>
                </a:solidFill>
                <a:latin typeface="Consolas" pitchFamily="34" charset="0"/>
                <a:ea typeface="Consolas" pitchFamily="34" charset="-122"/>
                <a:cs typeface="Consolas" pitchFamily="34" charset="-120"/>
              </a:rPr>
              <a:t>String</a:t>
            </a:r>
            <a:r>
              <a:rPr lang="en-US" sz="1300" dirty="0">
                <a:solidFill>
                  <a:srgbClr val="E6EDF3"/>
                </a:solidFill>
                <a:latin typeface="Consolas" pitchFamily="34" charset="0"/>
                <a:ea typeface="Consolas" pitchFamily="34" charset="-122"/>
                <a:cs typeface="Consolas" pitchFamily="34" charset="-120"/>
              </a:rPr>
              <a:t> teks) =&gt;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context.read&lt;</a:t>
            </a:r>
            <a:r>
              <a:rPr lang="en-US" sz="1300" dirty="0">
                <a:solidFill>
                  <a:srgbClr val="FFCB6B"/>
                </a:solidFill>
                <a:latin typeface="Consolas" pitchFamily="34" charset="0"/>
                <a:ea typeface="Consolas" pitchFamily="34" charset="-122"/>
                <a:cs typeface="Consolas" pitchFamily="34" charset="-120"/>
              </a:rPr>
              <a:t>DaftarTugasViewModel</a:t>
            </a:r>
            <a:r>
              <a:rPr lang="en-US" sz="1300" dirty="0">
                <a:solidFill>
                  <a:srgbClr val="E6EDF3"/>
                </a:solidFill>
                <a:latin typeface="Consolas" pitchFamily="34" charset="0"/>
                <a:ea typeface="Consolas" pitchFamily="34" charset="-122"/>
                <a:cs typeface="Consolas" pitchFamily="34" charset="-120"/>
              </a:rPr>
              <a:t>&gt;().cari(teks),</a:t>
            </a:r>
            <a:endParaRPr lang="en-US" sz="1300" dirty="0"/>
          </a:p>
        </p:txBody>
      </p:sp>
      <p:sp>
        <p:nvSpPr>
          <p:cNvPr id="7" name="tombol tautan">
            <a:hlinkClick r:id="rId2" tooltip="https://github.com/antonprafanto/mobile2026/blob/main/pertemuan_09_state_dan_mvvm/kode/contoh_07_mvvm_dasar.dart"/>
          </p:cNvPr>
          <p:cNvSpPr txBox="1"/>
          <p:nvPr/>
        </p:nvSpPr>
        <p:spPr>
          <a:xfrm>
            <a:off x="548640" y="4878324"/>
            <a:ext cx="7608319"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contoh_07_mvvm_dasar.dart</a:t>
            </a:r>
            <a:endParaRPr lang="en-US" sz="1300" dirty="0"/>
          </a:p>
        </p:txBody>
      </p:sp>
      <p:pic>
        <p:nvPicPr>
          <p:cNvPr id="8" name="Image 1" descr="ikon tautan">
            <a:hlinkClick r:id="rId4" tooltip="https://github.com/antonprafanto/mobile2026/blob/main/pertemuan_09_state_dan_mvvm/kode/contoh_07_mvvm_dasar.dart"/>
          </p:cNvPr>
          <p:cNvPicPr>
            <a:picLocks noChangeAspect="1"/>
          </p:cNvPicPr>
          <p:nvPr/>
        </p:nvPicPr>
        <p:blipFill>
          <a:blip r:embed="rId3"/>
          <a:stretch>
            <a:fillRect/>
          </a:stretch>
        </p:blipFill>
        <p:spPr>
          <a:xfrm>
            <a:off x="694944" y="4969764"/>
            <a:ext cx="274320" cy="274320"/>
          </a:xfrm>
          <a:prstGeom prst="rect">
            <a:avLst/>
          </a:prstGeom>
        </p:spPr>
      </p:pic>
      <p:sp>
        <p:nvSpPr>
          <p:cNvPr id="9" name="daftar poin"/>
          <p:cNvSpPr txBox="1"/>
          <p:nvPr/>
        </p:nvSpPr>
        <p:spPr>
          <a:xfrm>
            <a:off x="548640" y="5609844"/>
            <a:ext cx="7608319" cy="608076"/>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chemeClr val="tx1"/>
                </a:solidFill>
              </a:rPr>
              <a:t>Getter tampil: tugas yang cocok dengan kata kunci dan saringan, siap tampil.</a:t>
            </a:r>
            <a:endParaRPr lang="en-US" sz="1500" dirty="0"/>
          </a:p>
          <a:p>
            <a:pPr marL="228600" indent="-228600">
              <a:spcAft>
                <a:spcPts val="800"/>
              </a:spcAft>
              <a:buSzPct val="100000"/>
              <a:buChar char="•"/>
            </a:pPr>
            <a:r>
              <a:rPr lang="en-US" sz="1500" dirty="0">
                <a:solidFill>
                  <a:schemeClr val="tx1"/>
                </a:solidFill>
              </a:rPr>
              <a:t>BarisTugas tidak mengenal ViewModel: hanya menerima tugas, selesai, dan onUbah.</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Apa Untungnya?</a:t>
            </a:r>
            <a:endParaRPr lang="en-US" sz="3200" dirty="0"/>
          </a:p>
        </p:txBody>
      </p:sp>
      <p:sp>
        <p:nvSpPr>
          <p:cNvPr id="4" name="kartu 1"/>
          <p:cNvSpPr/>
          <p:nvPr/>
        </p:nvSpPr>
        <p:spPr>
          <a:xfrm>
            <a:off x="548640" y="1371600"/>
            <a:ext cx="5387188" cy="2286000"/>
          </a:xfrm>
          <a:prstGeom prst="roundRect">
            <a:avLst>
              <a:gd name="adj" fmla="val 4800"/>
            </a:avLst>
          </a:prstGeom>
          <a:solidFill>
            <a:schemeClr val="bg2"/>
          </a:solidFill>
          <a:ln/>
        </p:spPr>
      </p:sp>
      <p:sp>
        <p:nvSpPr>
          <p:cNvPr id="5" name="lingkaran uji"/>
          <p:cNvSpPr/>
          <p:nvPr/>
        </p:nvSpPr>
        <p:spPr>
          <a:xfrm>
            <a:off x="777240" y="1600200"/>
            <a:ext cx="685800" cy="685800"/>
          </a:xfrm>
          <a:prstGeom prst="ellipse">
            <a:avLst/>
          </a:prstGeom>
          <a:solidFill>
            <a:schemeClr val="accent4"/>
          </a:solidFill>
          <a:ln/>
        </p:spPr>
      </p:sp>
      <p:pic>
        <p:nvPicPr>
          <p:cNvPr id="6" name="Image 0" descr="uji">    </p:cNvPr>
          <p:cNvPicPr>
            <a:picLocks noChangeAspect="1"/>
          </p:cNvPicPr>
          <p:nvPr/>
        </p:nvPicPr>
        <p:blipFill>
          <a:blip r:embed="rId1"/>
          <a:stretch>
            <a:fillRect/>
          </a:stretch>
        </p:blipFill>
        <p:spPr>
          <a:xfrm>
            <a:off x="928116" y="1751076"/>
            <a:ext cx="384048" cy="384048"/>
          </a:xfrm>
          <a:prstGeom prst="rect">
            <a:avLst/>
          </a:prstGeom>
        </p:spPr>
      </p:pic>
      <p:sp>
        <p:nvSpPr>
          <p:cNvPr id="7" name="Text 3"/>
          <p:cNvSpPr txBox="1"/>
          <p:nvPr/>
        </p:nvSpPr>
        <p:spPr>
          <a:xfrm>
            <a:off x="1600200" y="1572768"/>
            <a:ext cx="4152748" cy="731520"/>
          </a:xfrm>
          <a:prstGeom prst="rect">
            <a:avLst/>
          </a:prstGeom>
          <a:noFill/>
          <a:ln/>
        </p:spPr>
        <p:txBody>
          <a:bodyPr wrap="square" lIns="0" tIns="0" rIns="0" bIns="0" rtlCol="0" anchor="ctr"/>
          <a:lstStyle/>
          <a:p>
            <a:pPr indent="0" marL="0">
              <a:buNone/>
            </a:pPr>
            <a:r>
              <a:rPr lang="en-US" sz="1800" b="1" dirty="0">
                <a:solidFill>
                  <a:schemeClr val="tx2"/>
                </a:solidFill>
              </a:rPr>
              <a:t>Mudah diuji</a:t>
            </a:r>
            <a:endParaRPr lang="en-US" sz="1800" dirty="0"/>
          </a:p>
        </p:txBody>
      </p:sp>
      <p:sp>
        <p:nvSpPr>
          <p:cNvPr id="8" name="Text 4"/>
          <p:cNvSpPr txBox="1"/>
          <p:nvPr/>
        </p:nvSpPr>
        <p:spPr>
          <a:xfrm>
            <a:off x="777240" y="2423160"/>
            <a:ext cx="4929988" cy="1097280"/>
          </a:xfrm>
          <a:prstGeom prst="rect">
            <a:avLst/>
          </a:prstGeom>
          <a:noFill/>
          <a:ln/>
        </p:spPr>
        <p:txBody>
          <a:bodyPr wrap="square" lIns="0" tIns="0" rIns="0" bIns="0" rtlCol="0" anchor="t"/>
          <a:lstStyle/>
          <a:p>
            <a:pPr indent="0" marL="0">
              <a:buNone/>
            </a:pPr>
            <a:r>
              <a:rPr lang="en-US" sz="1500" dirty="0">
                <a:solidFill>
                  <a:schemeClr val="tx1"/>
                </a:solidFill>
              </a:rPr>
              <a:t>Logika di ViewModel bisa diperiksa tanpa layar (Bagian 12).</a:t>
            </a:r>
            <a:endParaRPr lang="en-US" sz="1500" dirty="0"/>
          </a:p>
        </p:txBody>
      </p:sp>
      <p:sp>
        <p:nvSpPr>
          <p:cNvPr id="9" name="kartu 2"/>
          <p:cNvSpPr/>
          <p:nvPr/>
        </p:nvSpPr>
        <p:spPr>
          <a:xfrm>
            <a:off x="6255868" y="1371600"/>
            <a:ext cx="5387188" cy="2286000"/>
          </a:xfrm>
          <a:prstGeom prst="roundRect">
            <a:avLst>
              <a:gd name="adj" fmla="val 4800"/>
            </a:avLst>
          </a:prstGeom>
          <a:solidFill>
            <a:schemeClr val="bg2"/>
          </a:solidFill>
          <a:ln/>
        </p:spPr>
      </p:sp>
      <p:sp>
        <p:nvSpPr>
          <p:cNvPr id="10" name="lingkaran buku"/>
          <p:cNvSpPr/>
          <p:nvPr/>
        </p:nvSpPr>
        <p:spPr>
          <a:xfrm>
            <a:off x="6484468" y="1600200"/>
            <a:ext cx="685800" cy="685800"/>
          </a:xfrm>
          <a:prstGeom prst="ellipse">
            <a:avLst/>
          </a:prstGeom>
          <a:solidFill>
            <a:schemeClr val="accent1"/>
          </a:solidFill>
          <a:ln/>
        </p:spPr>
      </p:sp>
      <p:pic>
        <p:nvPicPr>
          <p:cNvPr id="11" name="Image 1" descr="buku">    </p:cNvPr>
          <p:cNvPicPr>
            <a:picLocks noChangeAspect="1"/>
          </p:cNvPicPr>
          <p:nvPr/>
        </p:nvPicPr>
        <p:blipFill>
          <a:blip r:embed="rId2"/>
          <a:stretch>
            <a:fillRect/>
          </a:stretch>
        </p:blipFill>
        <p:spPr>
          <a:xfrm>
            <a:off x="6635344" y="1751076"/>
            <a:ext cx="384048" cy="384048"/>
          </a:xfrm>
          <a:prstGeom prst="rect">
            <a:avLst/>
          </a:prstGeom>
        </p:spPr>
      </p:pic>
      <p:sp>
        <p:nvSpPr>
          <p:cNvPr id="12" name="Text 7"/>
          <p:cNvSpPr txBox="1"/>
          <p:nvPr/>
        </p:nvSpPr>
        <p:spPr>
          <a:xfrm>
            <a:off x="7307428" y="1572768"/>
            <a:ext cx="4152748" cy="731520"/>
          </a:xfrm>
          <a:prstGeom prst="rect">
            <a:avLst/>
          </a:prstGeom>
          <a:noFill/>
          <a:ln/>
        </p:spPr>
        <p:txBody>
          <a:bodyPr wrap="square" lIns="0" tIns="0" rIns="0" bIns="0" rtlCol="0" anchor="ctr"/>
          <a:lstStyle/>
          <a:p>
            <a:pPr indent="0" marL="0">
              <a:buNone/>
            </a:pPr>
            <a:r>
              <a:rPr lang="en-US" sz="1800" b="1" dirty="0">
                <a:solidFill>
                  <a:schemeClr val="tx2"/>
                </a:solidFill>
              </a:rPr>
              <a:t>Mudah dibaca</a:t>
            </a:r>
            <a:endParaRPr lang="en-US" sz="1800" dirty="0"/>
          </a:p>
        </p:txBody>
      </p:sp>
      <p:sp>
        <p:nvSpPr>
          <p:cNvPr id="13" name="Text 8"/>
          <p:cNvSpPr txBox="1"/>
          <p:nvPr/>
        </p:nvSpPr>
        <p:spPr>
          <a:xfrm>
            <a:off x="6484468" y="2423160"/>
            <a:ext cx="4929988" cy="1097280"/>
          </a:xfrm>
          <a:prstGeom prst="rect">
            <a:avLst/>
          </a:prstGeom>
          <a:noFill/>
          <a:ln/>
        </p:spPr>
        <p:txBody>
          <a:bodyPr wrap="square" lIns="0" tIns="0" rIns="0" bIns="0" rtlCol="0" anchor="t"/>
          <a:lstStyle/>
          <a:p>
            <a:pPr indent="0" marL="0">
              <a:buNone/>
            </a:pPr>
            <a:r>
              <a:rPr lang="en-US" sz="1500" dirty="0">
                <a:solidFill>
                  <a:schemeClr val="tx1"/>
                </a:solidFill>
              </a:rPr>
              <a:t>Setiap class punya satu tugas yang jelas.</a:t>
            </a:r>
            <a:endParaRPr lang="en-US" sz="1500" dirty="0"/>
          </a:p>
        </p:txBody>
      </p:sp>
      <p:sp>
        <p:nvSpPr>
          <p:cNvPr id="14" name="kartu 3"/>
          <p:cNvSpPr/>
          <p:nvPr/>
        </p:nvSpPr>
        <p:spPr>
          <a:xfrm>
            <a:off x="548640" y="3931920"/>
            <a:ext cx="5387188" cy="2286000"/>
          </a:xfrm>
          <a:prstGeom prst="roundRect">
            <a:avLst>
              <a:gd name="adj" fmla="val 4800"/>
            </a:avLst>
          </a:prstGeom>
          <a:solidFill>
            <a:schemeClr val="bg2"/>
          </a:solidFill>
          <a:ln/>
        </p:spPr>
      </p:sp>
      <p:sp>
        <p:nvSpPr>
          <p:cNvPr id="15" name="lingkaran ubah"/>
          <p:cNvSpPr/>
          <p:nvPr/>
        </p:nvSpPr>
        <p:spPr>
          <a:xfrm>
            <a:off x="777240" y="4160520"/>
            <a:ext cx="685800" cy="685800"/>
          </a:xfrm>
          <a:prstGeom prst="ellipse">
            <a:avLst/>
          </a:prstGeom>
          <a:solidFill>
            <a:schemeClr val="accent1"/>
          </a:solidFill>
          <a:ln/>
        </p:spPr>
      </p:sp>
      <p:pic>
        <p:nvPicPr>
          <p:cNvPr id="16" name="Image 2" descr="ubah">    </p:cNvPr>
          <p:cNvPicPr>
            <a:picLocks noChangeAspect="1"/>
          </p:cNvPicPr>
          <p:nvPr/>
        </p:nvPicPr>
        <p:blipFill>
          <a:blip r:embed="rId3"/>
          <a:stretch>
            <a:fillRect/>
          </a:stretch>
        </p:blipFill>
        <p:spPr>
          <a:xfrm>
            <a:off x="928116" y="4311396"/>
            <a:ext cx="384048" cy="384048"/>
          </a:xfrm>
          <a:prstGeom prst="rect">
            <a:avLst/>
          </a:prstGeom>
        </p:spPr>
      </p:pic>
      <p:sp>
        <p:nvSpPr>
          <p:cNvPr id="17" name="Text 11"/>
          <p:cNvSpPr txBox="1"/>
          <p:nvPr/>
        </p:nvSpPr>
        <p:spPr>
          <a:xfrm>
            <a:off x="1600200" y="4133088"/>
            <a:ext cx="4152748" cy="731520"/>
          </a:xfrm>
          <a:prstGeom prst="rect">
            <a:avLst/>
          </a:prstGeom>
          <a:noFill/>
          <a:ln/>
        </p:spPr>
        <p:txBody>
          <a:bodyPr wrap="square" lIns="0" tIns="0" rIns="0" bIns="0" rtlCol="0" anchor="ctr"/>
          <a:lstStyle/>
          <a:p>
            <a:pPr indent="0" marL="0">
              <a:buNone/>
            </a:pPr>
            <a:r>
              <a:rPr lang="en-US" sz="1800" b="1" dirty="0">
                <a:solidFill>
                  <a:schemeClr val="tx2"/>
                </a:solidFill>
              </a:rPr>
              <a:t>Mudah diubah</a:t>
            </a:r>
            <a:endParaRPr lang="en-US" sz="1800" dirty="0"/>
          </a:p>
        </p:txBody>
      </p:sp>
      <p:sp>
        <p:nvSpPr>
          <p:cNvPr id="18" name="Text 12"/>
          <p:cNvSpPr txBox="1"/>
          <p:nvPr/>
        </p:nvSpPr>
        <p:spPr>
          <a:xfrm>
            <a:off x="777240" y="4983480"/>
            <a:ext cx="4929988" cy="1097280"/>
          </a:xfrm>
          <a:prstGeom prst="rect">
            <a:avLst/>
          </a:prstGeom>
          <a:noFill/>
          <a:ln/>
        </p:spPr>
        <p:txBody>
          <a:bodyPr wrap="square" lIns="0" tIns="0" rIns="0" bIns="0" rtlCol="0" anchor="t"/>
          <a:lstStyle/>
          <a:p>
            <a:pPr indent="0" marL="0">
              <a:buNone/>
            </a:pPr>
            <a:r>
              <a:rPr lang="en-US" sz="1500" dirty="0">
                <a:solidFill>
                  <a:schemeClr val="tx1"/>
                </a:solidFill>
              </a:rPr>
              <a:t>Tampilan dirombak tanpa menyentuh logika; sumber data diganti tanpa menyentuh tampilan.</a:t>
            </a:r>
            <a:endParaRPr lang="en-US" sz="1500" dirty="0"/>
          </a:p>
        </p:txBody>
      </p:sp>
      <p:sp>
        <p:nvSpPr>
          <p:cNvPr id="19" name="kartu 4"/>
          <p:cNvSpPr/>
          <p:nvPr/>
        </p:nvSpPr>
        <p:spPr>
          <a:xfrm>
            <a:off x="6255868" y="3931920"/>
            <a:ext cx="5387188" cy="2286000"/>
          </a:xfrm>
          <a:prstGeom prst="roundRect">
            <a:avLst>
              <a:gd name="adj" fmla="val 4800"/>
            </a:avLst>
          </a:prstGeom>
          <a:solidFill>
            <a:schemeClr val="bg2"/>
          </a:solidFill>
          <a:ln/>
        </p:spPr>
      </p:sp>
      <p:sp>
        <p:nvSpPr>
          <p:cNvPr id="20" name="lingkaran grup"/>
          <p:cNvSpPr/>
          <p:nvPr/>
        </p:nvSpPr>
        <p:spPr>
          <a:xfrm>
            <a:off x="6484468" y="4160520"/>
            <a:ext cx="685800" cy="685800"/>
          </a:xfrm>
          <a:prstGeom prst="ellipse">
            <a:avLst/>
          </a:prstGeom>
          <a:solidFill>
            <a:schemeClr val="accent6"/>
          </a:solidFill>
          <a:ln/>
        </p:spPr>
      </p:sp>
      <p:pic>
        <p:nvPicPr>
          <p:cNvPr id="21" name="Image 3" descr="grup">    </p:cNvPr>
          <p:cNvPicPr>
            <a:picLocks noChangeAspect="1"/>
          </p:cNvPicPr>
          <p:nvPr/>
        </p:nvPicPr>
        <p:blipFill>
          <a:blip r:embed="rId4"/>
          <a:stretch>
            <a:fillRect/>
          </a:stretch>
        </p:blipFill>
        <p:spPr>
          <a:xfrm>
            <a:off x="6635344" y="4311396"/>
            <a:ext cx="384048" cy="384048"/>
          </a:xfrm>
          <a:prstGeom prst="rect">
            <a:avLst/>
          </a:prstGeom>
        </p:spPr>
      </p:pic>
      <p:sp>
        <p:nvSpPr>
          <p:cNvPr id="22" name="Text 15"/>
          <p:cNvSpPr txBox="1"/>
          <p:nvPr/>
        </p:nvSpPr>
        <p:spPr>
          <a:xfrm>
            <a:off x="7307428" y="4133088"/>
            <a:ext cx="4152748" cy="731520"/>
          </a:xfrm>
          <a:prstGeom prst="rect">
            <a:avLst/>
          </a:prstGeom>
          <a:noFill/>
          <a:ln/>
        </p:spPr>
        <p:txBody>
          <a:bodyPr wrap="square" lIns="0" tIns="0" rIns="0" bIns="0" rtlCol="0" anchor="ctr"/>
          <a:lstStyle/>
          <a:p>
            <a:pPr indent="0" marL="0">
              <a:buNone/>
            </a:pPr>
            <a:r>
              <a:rPr lang="en-US" sz="1800" b="1" dirty="0">
                <a:solidFill>
                  <a:schemeClr val="tx2"/>
                </a:solidFill>
              </a:rPr>
              <a:t>Mudah dikerjakan bersama</a:t>
            </a:r>
            <a:endParaRPr lang="en-US" sz="1800" dirty="0"/>
          </a:p>
        </p:txBody>
      </p:sp>
      <p:sp>
        <p:nvSpPr>
          <p:cNvPr id="23" name="Text 16"/>
          <p:cNvSpPr txBox="1"/>
          <p:nvPr/>
        </p:nvSpPr>
        <p:spPr>
          <a:xfrm>
            <a:off x="6484468" y="4983480"/>
            <a:ext cx="4929988" cy="1097280"/>
          </a:xfrm>
          <a:prstGeom prst="rect">
            <a:avLst/>
          </a:prstGeom>
          <a:noFill/>
          <a:ln/>
        </p:spPr>
        <p:txBody>
          <a:bodyPr wrap="square" lIns="0" tIns="0" rIns="0" bIns="0" rtlCol="0" anchor="t"/>
          <a:lstStyle/>
          <a:p>
            <a:pPr indent="0" marL="0">
              <a:buNone/>
            </a:pPr>
            <a:r>
              <a:rPr lang="en-US" sz="1500" dirty="0">
                <a:solidFill>
                  <a:schemeClr val="tx1"/>
                </a:solidFill>
              </a:rPr>
              <a:t>Satu orang mengerjakan View, yang lain ViewModel, dengan kesepakatan getter dan perintah.</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3" name="Text 1"/>
          <p:cNvSpPr/>
          <p:nvPr>
            <p:ph idx="101" type="body" hasCustomPrompt="1"/>
          </p:nvPr>
        </p:nvSpPr>
        <p:spPr>
          <a:xfrm>
            <a:off x="3840480" y="2103120"/>
            <a:ext cx="7680960" cy="457200"/>
          </a:xfrm>
          <a:prstGeom prst="rect">
            <a:avLst/>
          </a:prstGeom>
          <a:noFill/>
          <a:ln/>
        </p:spPr>
        <p:txBody>
          <a:bodyPr wrap="square" lIns="0" tIns="0" rIns="0" bIns="0" rtlCol="0"/>
          <a:lstStyle/>
          <a:p>
            <a:pPr indent="0" marL="0">
              <a:buNone/>
            </a:pPr>
            <a:r>
              <a:rPr lang="en-US" sz="1800" b="1" spc="200" kern="0" dirty="0">
                <a:solidFill>
                  <a:schemeClr val="accent2"/>
                </a:solidFill>
              </a:rPr>
              <a:t>BAGIAN 5</a:t>
            </a:r>
            <a:endParaRPr lang="en-US" sz="1800" dirty="0"/>
          </a:p>
        </p:txBody>
      </p:sp>
      <p:sp>
        <p:nvSpPr>
          <p:cNvPr id="4" name="Text 1"/>
          <p:cNvSpPr/>
          <p:nvPr>
            <p:ph idx="102" type="title" hasCustomPrompt="1"/>
          </p:nvPr>
        </p:nvSpPr>
        <p:spPr>
          <a:xfrm>
            <a:off x="3840480" y="2606040"/>
            <a:ext cx="7680960" cy="1737360"/>
          </a:xfrm>
          <a:prstGeom prst="rect">
            <a:avLst/>
          </a:prstGeom>
          <a:noFill/>
          <a:ln/>
        </p:spPr>
        <p:txBody>
          <a:bodyPr wrap="square" lIns="0" tIns="0" rIns="0" bIns="0" rtlCol="0" anchor="t"/>
          <a:lstStyle/>
          <a:p>
            <a:pPr algn="l" indent="0" marL="0">
              <a:buNone/>
            </a:pPr>
            <a:r>
              <a:rPr lang="en-US" sz="4000" b="1" dirty="0">
                <a:solidFill>
                  <a:schemeClr val="bg1"/>
                </a:solidFill>
              </a:rPr>
              <a:t>Repository dan Status Memuat</a:t>
            </a:r>
            <a:endParaRPr lang="en-US" sz="4000" dirty="0"/>
          </a:p>
        </p:txBody>
      </p:sp>
      <p:sp>
        <p:nvSpPr>
          <p:cNvPr id="5" name="lingkaran gudang"/>
          <p:cNvSpPr/>
          <p:nvPr/>
        </p:nvSpPr>
        <p:spPr>
          <a:xfrm>
            <a:off x="1097280" y="2148840"/>
            <a:ext cx="2011680" cy="2011680"/>
          </a:xfrm>
          <a:prstGeom prst="ellipse">
            <a:avLst/>
          </a:prstGeom>
          <a:solidFill>
            <a:schemeClr val="accent1"/>
          </a:solidFill>
          <a:ln/>
        </p:spPr>
      </p:sp>
      <p:pic>
        <p:nvPicPr>
          <p:cNvPr id="6" name="Image 0" descr="gudang">    </p:cNvPr>
          <p:cNvPicPr>
            <a:picLocks noChangeAspect="1"/>
          </p:cNvPicPr>
          <p:nvPr/>
        </p:nvPicPr>
        <p:blipFill>
          <a:blip r:embed="rId1"/>
          <a:stretch>
            <a:fillRect/>
          </a:stretch>
        </p:blipFill>
        <p:spPr>
          <a:xfrm>
            <a:off x="1539850" y="2591410"/>
            <a:ext cx="1126541" cy="1126541"/>
          </a:xfrm>
          <a:prstGeom prst="rect">
            <a:avLst/>
          </a:prstGeom>
        </p:spPr>
      </p:pic>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Kontrak dan Implementasi Repository</a:t>
            </a:r>
            <a:endParaRPr lang="en-US" sz="3200" dirty="0"/>
          </a:p>
        </p:txBody>
      </p:sp>
      <p:sp>
        <p:nvSpPr>
          <p:cNvPr id="4" name="kotak kode"/>
          <p:cNvSpPr txBox="1"/>
          <p:nvPr/>
        </p:nvSpPr>
        <p:spPr>
          <a:xfrm>
            <a:off x="548640" y="1371600"/>
            <a:ext cx="6217920" cy="4059936"/>
          </a:xfrm>
          <a:prstGeom prst="roundRect">
            <a:avLst>
              <a:gd name="adj" fmla="val 2252"/>
            </a:avLst>
          </a:prstGeom>
          <a:solidFill>
            <a:srgbClr val="0E1A2B"/>
          </a:solidFill>
          <a:ln/>
        </p:spPr>
        <p:txBody>
          <a:bodyPr wrap="square" lIns="177800" tIns="152400" rIns="152400" bIns="177800" rtlCol="0" anchor="t"/>
          <a:lstStyle/>
          <a:p>
            <a:pPr indent="0" marL="0">
              <a:lnSpc>
                <a:spcPct val="105000"/>
              </a:lnSpc>
              <a:buNone/>
            </a:pPr>
            <a:r>
              <a:rPr lang="en-US" sz="1200" dirty="0">
                <a:solidFill>
                  <a:srgbClr val="C792EA"/>
                </a:solidFill>
                <a:latin typeface="Consolas" pitchFamily="34" charset="0"/>
                <a:ea typeface="Consolas" pitchFamily="34" charset="-122"/>
                <a:cs typeface="Consolas" pitchFamily="34" charset="-120"/>
              </a:rPr>
              <a:t>abstract</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class</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RepositoriPengumuman</a:t>
            </a: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Future</a:t>
            </a:r>
            <a:r>
              <a:rPr lang="en-US" sz="1200" dirty="0">
                <a:solidFill>
                  <a:srgbClr val="E6EDF3"/>
                </a:solidFill>
                <a:latin typeface="Consolas" pitchFamily="34" charset="0"/>
                <a:ea typeface="Consolas" pitchFamily="34" charset="-122"/>
                <a:cs typeface="Consolas" pitchFamily="34" charset="-120"/>
              </a:rPr>
              <a:t>&lt;</a:t>
            </a:r>
            <a:r>
              <a:rPr lang="en-US" sz="1200" dirty="0">
                <a:solidFill>
                  <a:srgbClr val="FFCB6B"/>
                </a:solidFill>
                <a:latin typeface="Consolas" pitchFamily="34" charset="0"/>
                <a:ea typeface="Consolas" pitchFamily="34" charset="-122"/>
                <a:cs typeface="Consolas" pitchFamily="34" charset="-120"/>
              </a:rPr>
              <a:t>List</a:t>
            </a:r>
            <a:r>
              <a:rPr lang="en-US" sz="1200" dirty="0">
                <a:solidFill>
                  <a:srgbClr val="E6EDF3"/>
                </a:solidFill>
                <a:latin typeface="Consolas" pitchFamily="34" charset="0"/>
                <a:ea typeface="Consolas" pitchFamily="34" charset="-122"/>
                <a:cs typeface="Consolas" pitchFamily="34" charset="-120"/>
              </a:rPr>
              <a:t>&lt;</a:t>
            </a:r>
            <a:r>
              <a:rPr lang="en-US" sz="1200" dirty="0">
                <a:solidFill>
                  <a:srgbClr val="FFCB6B"/>
                </a:solidFill>
                <a:latin typeface="Consolas" pitchFamily="34" charset="0"/>
                <a:ea typeface="Consolas" pitchFamily="34" charset="-122"/>
                <a:cs typeface="Consolas" pitchFamily="34" charset="-120"/>
              </a:rPr>
              <a:t>Pengumuman</a:t>
            </a:r>
            <a:r>
              <a:rPr lang="en-US" sz="1200" dirty="0">
                <a:solidFill>
                  <a:srgbClr val="E6EDF3"/>
                </a:solidFill>
                <a:latin typeface="Consolas" pitchFamily="34" charset="0"/>
                <a:ea typeface="Consolas" pitchFamily="34" charset="-122"/>
                <a:cs typeface="Consolas" pitchFamily="34" charset="-120"/>
              </a:rPr>
              <a:t>&gt;&gt; ambilSemua();</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C792EA"/>
                </a:solidFill>
                <a:latin typeface="Consolas" pitchFamily="34" charset="0"/>
                <a:ea typeface="Consolas" pitchFamily="34" charset="-122"/>
                <a:cs typeface="Consolas" pitchFamily="34" charset="-120"/>
              </a:rPr>
              <a:t>class</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RepositoriPengumumanPalsu</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implements</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RepositoriPengumuman</a:t>
            </a: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int</a:t>
            </a:r>
            <a:r>
              <a:rPr lang="en-US" sz="1200" dirty="0">
                <a:solidFill>
                  <a:srgbClr val="E6EDF3"/>
                </a:solidFill>
                <a:latin typeface="Consolas" pitchFamily="34" charset="0"/>
                <a:ea typeface="Consolas" pitchFamily="34" charset="-122"/>
                <a:cs typeface="Consolas" pitchFamily="34" charset="-120"/>
              </a:rPr>
              <a:t> _percobaan = </a:t>
            </a:r>
            <a:r>
              <a:rPr lang="en-US" sz="1200" dirty="0">
                <a:solidFill>
                  <a:srgbClr val="F78C6C"/>
                </a:solidFill>
                <a:latin typeface="Consolas" pitchFamily="34" charset="0"/>
                <a:ea typeface="Consolas" pitchFamily="34" charset="-122"/>
                <a:cs typeface="Consolas" pitchFamily="34" charset="-120"/>
              </a:rPr>
              <a:t>0</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89DDFF"/>
                </a:solidFill>
                <a:latin typeface="Consolas" pitchFamily="34" charset="0"/>
                <a:ea typeface="Consolas" pitchFamily="34" charset="-122"/>
                <a:cs typeface="Consolas" pitchFamily="34" charset="-120"/>
              </a:rPr>
              <a:t>@override</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Future</a:t>
            </a:r>
            <a:r>
              <a:rPr lang="en-US" sz="1200" dirty="0">
                <a:solidFill>
                  <a:srgbClr val="E6EDF3"/>
                </a:solidFill>
                <a:latin typeface="Consolas" pitchFamily="34" charset="0"/>
                <a:ea typeface="Consolas" pitchFamily="34" charset="-122"/>
                <a:cs typeface="Consolas" pitchFamily="34" charset="-120"/>
              </a:rPr>
              <a:t>&lt;</a:t>
            </a:r>
            <a:r>
              <a:rPr lang="en-US" sz="1200" dirty="0">
                <a:solidFill>
                  <a:srgbClr val="FFCB6B"/>
                </a:solidFill>
                <a:latin typeface="Consolas" pitchFamily="34" charset="0"/>
                <a:ea typeface="Consolas" pitchFamily="34" charset="-122"/>
                <a:cs typeface="Consolas" pitchFamily="34" charset="-120"/>
              </a:rPr>
              <a:t>List</a:t>
            </a:r>
            <a:r>
              <a:rPr lang="en-US" sz="1200" dirty="0">
                <a:solidFill>
                  <a:srgbClr val="E6EDF3"/>
                </a:solidFill>
                <a:latin typeface="Consolas" pitchFamily="34" charset="0"/>
                <a:ea typeface="Consolas" pitchFamily="34" charset="-122"/>
                <a:cs typeface="Consolas" pitchFamily="34" charset="-120"/>
              </a:rPr>
              <a:t>&lt;</a:t>
            </a:r>
            <a:r>
              <a:rPr lang="en-US" sz="1200" dirty="0">
                <a:solidFill>
                  <a:srgbClr val="FFCB6B"/>
                </a:solidFill>
                <a:latin typeface="Consolas" pitchFamily="34" charset="0"/>
                <a:ea typeface="Consolas" pitchFamily="34" charset="-122"/>
                <a:cs typeface="Consolas" pitchFamily="34" charset="-120"/>
              </a:rPr>
              <a:t>Pengumuman</a:t>
            </a:r>
            <a:r>
              <a:rPr lang="en-US" sz="1200" dirty="0">
                <a:solidFill>
                  <a:srgbClr val="E6EDF3"/>
                </a:solidFill>
                <a:latin typeface="Consolas" pitchFamily="34" charset="0"/>
                <a:ea typeface="Consolas" pitchFamily="34" charset="-122"/>
                <a:cs typeface="Consolas" pitchFamily="34" charset="-120"/>
              </a:rPr>
              <a:t>&gt;&gt; ambilSemua() </a:t>
            </a:r>
            <a:r>
              <a:rPr lang="en-US" sz="1200" dirty="0">
                <a:solidFill>
                  <a:srgbClr val="C792EA"/>
                </a:solidFill>
                <a:latin typeface="Consolas" pitchFamily="34" charset="0"/>
                <a:ea typeface="Consolas" pitchFamily="34" charset="-122"/>
                <a:cs typeface="Consolas" pitchFamily="34" charset="-120"/>
              </a:rPr>
              <a:t>async</a:t>
            </a: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_percobaan++;</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await</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Future</a:t>
            </a:r>
            <a:r>
              <a:rPr lang="en-US" sz="1200" dirty="0">
                <a:solidFill>
                  <a:srgbClr val="E6EDF3"/>
                </a:solidFill>
                <a:latin typeface="Consolas" pitchFamily="34" charset="0"/>
                <a:ea typeface="Consolas" pitchFamily="34" charset="-122"/>
                <a:cs typeface="Consolas" pitchFamily="34" charset="-120"/>
              </a:rPr>
              <a:t>&lt;</a:t>
            </a:r>
            <a:r>
              <a:rPr lang="en-US" sz="1200" dirty="0">
                <a:solidFill>
                  <a:srgbClr val="C792EA"/>
                </a:solidFill>
                <a:latin typeface="Consolas" pitchFamily="34" charset="0"/>
                <a:ea typeface="Consolas" pitchFamily="34" charset="-122"/>
                <a:cs typeface="Consolas" pitchFamily="34" charset="-120"/>
              </a:rPr>
              <a:t>void</a:t>
            </a:r>
            <a:r>
              <a:rPr lang="en-US" sz="1200" dirty="0">
                <a:solidFill>
                  <a:srgbClr val="E6EDF3"/>
                </a:solidFill>
                <a:latin typeface="Consolas" pitchFamily="34" charset="0"/>
                <a:ea typeface="Consolas" pitchFamily="34" charset="-122"/>
                <a:cs typeface="Consolas" pitchFamily="34" charset="-120"/>
              </a:rPr>
              <a:t>&gt;.delayed(</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const</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Duration</a:t>
            </a:r>
            <a:r>
              <a:rPr lang="en-US" sz="1200" dirty="0">
                <a:solidFill>
                  <a:srgbClr val="E6EDF3"/>
                </a:solidFill>
                <a:latin typeface="Consolas" pitchFamily="34" charset="0"/>
                <a:ea typeface="Consolas" pitchFamily="34" charset="-122"/>
                <a:cs typeface="Consolas" pitchFamily="34" charset="-120"/>
              </a:rPr>
              <a:t>(milliseconds: </a:t>
            </a:r>
            <a:r>
              <a:rPr lang="en-US" sz="1200" dirty="0">
                <a:solidFill>
                  <a:srgbClr val="F78C6C"/>
                </a:solidFill>
                <a:latin typeface="Consolas" pitchFamily="34" charset="0"/>
                <a:ea typeface="Consolas" pitchFamily="34" charset="-122"/>
                <a:cs typeface="Consolas" pitchFamily="34" charset="-120"/>
              </a:rPr>
              <a:t>1500</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if</a:t>
            </a:r>
            <a:r>
              <a:rPr lang="en-US" sz="1200" dirty="0">
                <a:solidFill>
                  <a:srgbClr val="E6EDF3"/>
                </a:solidFill>
                <a:latin typeface="Consolas" pitchFamily="34" charset="0"/>
                <a:ea typeface="Consolas" pitchFamily="34" charset="-122"/>
                <a:cs typeface="Consolas" pitchFamily="34" charset="-120"/>
              </a:rPr>
              <a:t> (_percobaan.isEven)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throw</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Exception</a:t>
            </a:r>
            <a:r>
              <a:rPr lang="en-US" sz="1200" dirty="0">
                <a:solidFill>
                  <a:srgbClr val="E6EDF3"/>
                </a:solidFill>
                <a:latin typeface="Consolas" pitchFamily="34" charset="0"/>
                <a:ea typeface="Consolas" pitchFamily="34" charset="-122"/>
                <a:cs typeface="Consolas" pitchFamily="34" charset="-120"/>
              </a:rPr>
              <a:t>(</a:t>
            </a:r>
            <a:r>
              <a:rPr lang="en-US" sz="1200" dirty="0">
                <a:solidFill>
                  <a:srgbClr val="C3E88D"/>
                </a:solidFill>
                <a:latin typeface="Consolas" pitchFamily="34" charset="0"/>
                <a:ea typeface="Consolas" pitchFamily="34" charset="-122"/>
                <a:cs typeface="Consolas" pitchFamily="34" charset="-120"/>
              </a:rPr>
              <a:t>'Server tidak dapat dihubungi'</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return</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const</a:t>
            </a:r>
            <a:r>
              <a:rPr lang="en-US" sz="1200" dirty="0">
                <a:solidFill>
                  <a:srgbClr val="E6EDF3"/>
                </a:solidFill>
                <a:latin typeface="Consolas" pitchFamily="34" charset="0"/>
                <a:ea typeface="Consolas" pitchFamily="34" charset="-122"/>
                <a:cs typeface="Consolas" pitchFamily="34" charset="-120"/>
              </a:rPr>
              <a:t> [</a:t>
            </a:r>
            <a:r>
              <a:rPr lang="en-US" sz="1200" i="1" dirty="0">
                <a:solidFill>
                  <a:srgbClr val="8FA3BC"/>
                </a:solidFill>
                <a:latin typeface="Consolas" pitchFamily="34" charset="0"/>
                <a:ea typeface="Consolas" pitchFamily="34" charset="-122"/>
                <a:cs typeface="Consolas" pitchFamily="34" charset="-120"/>
              </a:rPr>
              <a:t>/* empat pengumuman */</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a:t>
            </a:r>
            <a:endParaRPr lang="en-US" sz="1200" dirty="0"/>
          </a:p>
        </p:txBody>
      </p:sp>
      <p:sp>
        <p:nvSpPr>
          <p:cNvPr id="5" name="tombol tautan">
            <a:hlinkClick r:id="rId1" tooltip="https://github.com/antonprafanto/mobile2026/blob/main/pertemuan_09_state_dan_mvvm/kode/contoh_08_repository_dan_status_muat.dart"/>
          </p:cNvPr>
          <p:cNvSpPr txBox="1"/>
          <p:nvPr/>
        </p:nvSpPr>
        <p:spPr>
          <a:xfrm>
            <a:off x="548640" y="5660136"/>
            <a:ext cx="6217920"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Kode di GitHub  ·  contoh_08_repository_dan_status_muat.dart</a:t>
            </a:r>
            <a:endParaRPr lang="en-US" sz="1300" dirty="0"/>
          </a:p>
        </p:txBody>
      </p:sp>
      <p:pic>
        <p:nvPicPr>
          <p:cNvPr id="6" name="Image 0" descr="ikon tautan">
            <a:hlinkClick r:id="rId3" tooltip="https://github.com/antonprafanto/mobile2026/blob/main/pertemuan_09_state_dan_mvvm/kode/contoh_08_repository_dan_status_muat.dart"/>
          </p:cNvPr>
          <p:cNvPicPr>
            <a:picLocks noChangeAspect="1"/>
          </p:cNvPicPr>
          <p:nvPr/>
        </p:nvPicPr>
        <p:blipFill>
          <a:blip r:embed="rId2"/>
          <a:stretch>
            <a:fillRect/>
          </a:stretch>
        </p:blipFill>
        <p:spPr>
          <a:xfrm>
            <a:off x="694944" y="5751576"/>
            <a:ext cx="274320" cy="274320"/>
          </a:xfrm>
          <a:prstGeom prst="rect">
            <a:avLst/>
          </a:prstGeom>
        </p:spPr>
      </p:pic>
      <p:sp>
        <p:nvSpPr>
          <p:cNvPr id="7" name="daftar poin"/>
          <p:cNvSpPr txBox="1"/>
          <p:nvPr/>
        </p:nvSpPr>
        <p:spPr>
          <a:xfrm>
            <a:off x="7178040" y="1417320"/>
            <a:ext cx="446501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Kontrak (abstract class): APA yang bisa diminta, tanpa isi (P3).</a:t>
            </a:r>
            <a:endParaRPr lang="en-US" sz="1700" dirty="0"/>
          </a:p>
          <a:p>
            <a:pPr marL="228600" indent="-228600">
              <a:spcAft>
                <a:spcPts val="800"/>
              </a:spcAft>
              <a:buSzPct val="100000"/>
              <a:buChar char="•"/>
            </a:pPr>
            <a:r>
              <a:rPr lang="en-US" sz="1700" dirty="0">
                <a:solidFill>
                  <a:schemeClr val="tx1"/>
                </a:solidFill>
              </a:rPr>
              <a:t>Implementasi palsu untuk latihan; implements = janji menyediakan semua metode kontrak.</a:t>
            </a:r>
            <a:endParaRPr lang="en-US" sz="1700" dirty="0"/>
          </a:p>
          <a:p>
            <a:pPr marL="228600" indent="-228600">
              <a:spcAft>
                <a:spcPts val="800"/>
              </a:spcAft>
              <a:buSzPct val="100000"/>
              <a:buChar char="•"/>
            </a:pPr>
            <a:r>
              <a:rPr lang="en-US" sz="1700" dirty="0">
                <a:solidFill>
                  <a:schemeClr val="tx1"/>
                </a:solidFill>
              </a:rPr>
              <a:t>delayed 1,5 detik meniru waktu tunggu internet.</a:t>
            </a:r>
            <a:endParaRPr lang="en-US" sz="1700" dirty="0"/>
          </a:p>
          <a:p>
            <a:pPr marL="228600" indent="-228600">
              <a:spcAft>
                <a:spcPts val="800"/>
              </a:spcAft>
              <a:buSzPct val="100000"/>
              <a:buChar char="•"/>
            </a:pPr>
            <a:r>
              <a:rPr lang="en-US" sz="1700" dirty="0">
                <a:solidFill>
                  <a:schemeClr val="tx1"/>
                </a:solidFill>
              </a:rPr>
              <a:t>isEven: percobaan ke-2, ke-4, ... sengaja gagal agar tampilan gagal bisa dilihat.</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Tiga Status: memuat, berhasil, gagal</a:t>
            </a:r>
            <a:endParaRPr lang="en-US" sz="3200" dirty="0"/>
          </a:p>
        </p:txBody>
      </p:sp>
      <p:sp>
        <p:nvSpPr>
          <p:cNvPr id="4" name="kotak kode"/>
          <p:cNvSpPr txBox="1"/>
          <p:nvPr/>
        </p:nvSpPr>
        <p:spPr>
          <a:xfrm>
            <a:off x="548640" y="1371600"/>
            <a:ext cx="6035040" cy="4155948"/>
          </a:xfrm>
          <a:prstGeom prst="roundRect">
            <a:avLst>
              <a:gd name="adj" fmla="val 2200"/>
            </a:avLst>
          </a:prstGeom>
          <a:solidFill>
            <a:srgbClr val="0E1A2B"/>
          </a:solidFill>
          <a:ln/>
        </p:spPr>
        <p:txBody>
          <a:bodyPr wrap="square" lIns="177800" tIns="152400" rIns="152400" bIns="177800" rtlCol="0" anchor="t"/>
          <a:lstStyle/>
          <a:p>
            <a:pPr indent="0" marL="0">
              <a:lnSpc>
                <a:spcPct val="105000"/>
              </a:lnSpc>
              <a:buNone/>
            </a:pPr>
            <a:r>
              <a:rPr lang="en-US" sz="1300" dirty="0">
                <a:solidFill>
                  <a:srgbClr val="C792EA"/>
                </a:solidFill>
                <a:latin typeface="Consolas" pitchFamily="34" charset="0"/>
                <a:ea typeface="Consolas" pitchFamily="34" charset="-122"/>
                <a:cs typeface="Consolas" pitchFamily="34" charset="-120"/>
              </a:rPr>
              <a:t>enum</a:t>
            </a: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FCB6B"/>
                </a:solidFill>
                <a:latin typeface="Consolas" pitchFamily="34" charset="0"/>
                <a:ea typeface="Consolas" pitchFamily="34" charset="-122"/>
                <a:cs typeface="Consolas" pitchFamily="34" charset="-120"/>
              </a:rPr>
              <a:t>StatusMuat</a:t>
            </a:r>
            <a:r>
              <a:rPr lang="en-US" sz="1300" dirty="0">
                <a:solidFill>
                  <a:srgbClr val="E6EDF3"/>
                </a:solidFill>
                <a:latin typeface="Consolas" pitchFamily="34" charset="0"/>
                <a:ea typeface="Consolas" pitchFamily="34" charset="-122"/>
                <a:cs typeface="Consolas" pitchFamily="34" charset="-120"/>
              </a:rPr>
              <a:t> { memuat, berhasil, gagal }</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endParaRPr lang="en-US" sz="1300" dirty="0"/>
          </a:p>
          <a:p>
            <a:pPr indent="0" marL="0">
              <a:lnSpc>
                <a:spcPct val="105000"/>
              </a:lnSpc>
              <a:buNone/>
            </a:pPr>
            <a:r>
              <a:rPr lang="en-US" sz="1300" dirty="0">
                <a:solidFill>
                  <a:srgbClr val="FFCB6B"/>
                </a:solidFill>
                <a:latin typeface="Consolas" pitchFamily="34" charset="0"/>
                <a:ea typeface="Consolas" pitchFamily="34" charset="-122"/>
                <a:cs typeface="Consolas" pitchFamily="34" charset="-120"/>
              </a:rPr>
              <a:t>Future</a:t>
            </a:r>
            <a:r>
              <a:rPr lang="en-US" sz="1300" dirty="0">
                <a:solidFill>
                  <a:srgbClr val="E6EDF3"/>
                </a:solidFill>
                <a:latin typeface="Consolas" pitchFamily="34" charset="0"/>
                <a:ea typeface="Consolas" pitchFamily="34" charset="-122"/>
                <a:cs typeface="Consolas" pitchFamily="34" charset="-120"/>
              </a:rPr>
              <a:t>&lt;</a:t>
            </a:r>
            <a:r>
              <a:rPr lang="en-US" sz="1300" dirty="0">
                <a:solidFill>
                  <a:srgbClr val="C792EA"/>
                </a:solidFill>
                <a:latin typeface="Consolas" pitchFamily="34" charset="0"/>
                <a:ea typeface="Consolas" pitchFamily="34" charset="-122"/>
                <a:cs typeface="Consolas" pitchFamily="34" charset="-120"/>
              </a:rPr>
              <a:t>void</a:t>
            </a:r>
            <a:r>
              <a:rPr lang="en-US" sz="1300" dirty="0">
                <a:solidFill>
                  <a:srgbClr val="E6EDF3"/>
                </a:solidFill>
                <a:latin typeface="Consolas" pitchFamily="34" charset="0"/>
                <a:ea typeface="Consolas" pitchFamily="34" charset="-122"/>
                <a:cs typeface="Consolas" pitchFamily="34" charset="-120"/>
              </a:rPr>
              <a:t>&gt; muat() </a:t>
            </a:r>
            <a:r>
              <a:rPr lang="en-US" sz="1300" dirty="0">
                <a:solidFill>
                  <a:srgbClr val="C792EA"/>
                </a:solidFill>
                <a:latin typeface="Consolas" pitchFamily="34" charset="0"/>
                <a:ea typeface="Consolas" pitchFamily="34" charset="-122"/>
                <a:cs typeface="Consolas" pitchFamily="34" charset="-120"/>
              </a:rPr>
              <a:t>async</a:t>
            </a:r>
            <a:r>
              <a:rPr lang="en-US" sz="1300" dirty="0">
                <a:solidFill>
                  <a:srgbClr val="E6EDF3"/>
                </a:solidFill>
                <a:latin typeface="Consolas" pitchFamily="34" charset="0"/>
                <a:ea typeface="Consolas" pitchFamily="34" charset="-122"/>
                <a:cs typeface="Consolas" pitchFamily="34" charset="-120"/>
              </a:rPr>
              <a:t> {</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_status = </a:t>
            </a:r>
            <a:r>
              <a:rPr lang="en-US" sz="1300" dirty="0">
                <a:solidFill>
                  <a:srgbClr val="FFCB6B"/>
                </a:solidFill>
                <a:latin typeface="Consolas" pitchFamily="34" charset="0"/>
                <a:ea typeface="Consolas" pitchFamily="34" charset="-122"/>
                <a:cs typeface="Consolas" pitchFamily="34" charset="-120"/>
              </a:rPr>
              <a:t>StatusMuat</a:t>
            </a:r>
            <a:r>
              <a:rPr lang="en-US" sz="1300" dirty="0">
                <a:solidFill>
                  <a:srgbClr val="E6EDF3"/>
                </a:solidFill>
                <a:latin typeface="Consolas" pitchFamily="34" charset="0"/>
                <a:ea typeface="Consolas" pitchFamily="34" charset="-122"/>
                <a:cs typeface="Consolas" pitchFamily="34" charset="-120"/>
              </a:rPr>
              <a:t>.memuat;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notifyListeners();</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C792EA"/>
                </a:solidFill>
                <a:latin typeface="Consolas" pitchFamily="34" charset="0"/>
                <a:ea typeface="Consolas" pitchFamily="34" charset="-122"/>
                <a:cs typeface="Consolas" pitchFamily="34" charset="-120"/>
              </a:rPr>
              <a:t>try</a:t>
            </a:r>
            <a:r>
              <a:rPr lang="en-US" sz="1300" dirty="0">
                <a:solidFill>
                  <a:srgbClr val="E6EDF3"/>
                </a:solidFill>
                <a:latin typeface="Consolas" pitchFamily="34" charset="0"/>
                <a:ea typeface="Consolas" pitchFamily="34" charset="-122"/>
                <a:cs typeface="Consolas" pitchFamily="34" charset="-120"/>
              </a:rPr>
              <a:t> {</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_daftar = </a:t>
            </a:r>
            <a:r>
              <a:rPr lang="en-US" sz="1300" dirty="0">
                <a:solidFill>
                  <a:srgbClr val="C792EA"/>
                </a:solidFill>
                <a:latin typeface="Consolas" pitchFamily="34" charset="0"/>
                <a:ea typeface="Consolas" pitchFamily="34" charset="-122"/>
                <a:cs typeface="Consolas" pitchFamily="34" charset="-120"/>
              </a:rPr>
              <a:t>await</a:t>
            </a:r>
            <a:r>
              <a:rPr lang="en-US" sz="1300" dirty="0">
                <a:solidFill>
                  <a:srgbClr val="E6EDF3"/>
                </a:solidFill>
                <a:latin typeface="Consolas" pitchFamily="34" charset="0"/>
                <a:ea typeface="Consolas" pitchFamily="34" charset="-122"/>
                <a:cs typeface="Consolas" pitchFamily="34" charset="-120"/>
              </a:rPr>
              <a:t> _repositori.ambilSemua();</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_status = </a:t>
            </a:r>
            <a:r>
              <a:rPr lang="en-US" sz="1300" dirty="0">
                <a:solidFill>
                  <a:srgbClr val="FFCB6B"/>
                </a:solidFill>
                <a:latin typeface="Consolas" pitchFamily="34" charset="0"/>
                <a:ea typeface="Consolas" pitchFamily="34" charset="-122"/>
                <a:cs typeface="Consolas" pitchFamily="34" charset="-120"/>
              </a:rPr>
              <a:t>StatusMuat</a:t>
            </a:r>
            <a:r>
              <a:rPr lang="en-US" sz="1300" dirty="0">
                <a:solidFill>
                  <a:srgbClr val="E6EDF3"/>
                </a:solidFill>
                <a:latin typeface="Consolas" pitchFamily="34" charset="0"/>
                <a:ea typeface="Consolas" pitchFamily="34" charset="-122"/>
                <a:cs typeface="Consolas" pitchFamily="34" charset="-120"/>
              </a:rPr>
              <a:t>.berhasil;</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 </a:t>
            </a:r>
            <a:r>
              <a:rPr lang="en-US" sz="1300" dirty="0">
                <a:solidFill>
                  <a:srgbClr val="C792EA"/>
                </a:solidFill>
                <a:latin typeface="Consolas" pitchFamily="34" charset="0"/>
                <a:ea typeface="Consolas" pitchFamily="34" charset="-122"/>
                <a:cs typeface="Consolas" pitchFamily="34" charset="-120"/>
              </a:rPr>
              <a:t>catch</a:t>
            </a:r>
            <a:r>
              <a:rPr lang="en-US" sz="1300" dirty="0">
                <a:solidFill>
                  <a:srgbClr val="E6EDF3"/>
                </a:solidFill>
                <a:latin typeface="Consolas" pitchFamily="34" charset="0"/>
                <a:ea typeface="Consolas" pitchFamily="34" charset="-122"/>
                <a:cs typeface="Consolas" pitchFamily="34" charset="-120"/>
              </a:rPr>
              <a:t> (galat) {</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debugPrint(</a:t>
            </a:r>
            <a:r>
              <a:rPr lang="en-US" sz="1300" dirty="0">
                <a:solidFill>
                  <a:srgbClr val="C3E88D"/>
                </a:solidFill>
                <a:latin typeface="Consolas" pitchFamily="34" charset="0"/>
                <a:ea typeface="Consolas" pitchFamily="34" charset="-122"/>
                <a:cs typeface="Consolas" pitchFamily="34" charset="-120"/>
              </a:rPr>
              <a:t>'Galat saat memuat: $galat'</a:t>
            </a: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_pesanGalat = </a:t>
            </a:r>
            <a:r>
              <a:rPr lang="en-US" sz="1300" dirty="0">
                <a:solidFill>
                  <a:srgbClr val="C3E88D"/>
                </a:solidFill>
                <a:latin typeface="Consolas" pitchFamily="34" charset="0"/>
                <a:ea typeface="Consolas" pitchFamily="34" charset="-122"/>
                <a:cs typeface="Consolas" pitchFamily="34" charset="-120"/>
              </a:rPr>
              <a:t>'Pengumuman gagal dimuat. ...'</a:t>
            </a: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_status = </a:t>
            </a:r>
            <a:r>
              <a:rPr lang="en-US" sz="1300" dirty="0">
                <a:solidFill>
                  <a:srgbClr val="FFCB6B"/>
                </a:solidFill>
                <a:latin typeface="Consolas" pitchFamily="34" charset="0"/>
                <a:ea typeface="Consolas" pitchFamily="34" charset="-122"/>
                <a:cs typeface="Consolas" pitchFamily="34" charset="-120"/>
              </a:rPr>
              <a:t>StatusMuat</a:t>
            </a:r>
            <a:r>
              <a:rPr lang="en-US" sz="1300" dirty="0">
                <a:solidFill>
                  <a:srgbClr val="E6EDF3"/>
                </a:solidFill>
                <a:latin typeface="Consolas" pitchFamily="34" charset="0"/>
                <a:ea typeface="Consolas" pitchFamily="34" charset="-122"/>
                <a:cs typeface="Consolas" pitchFamily="34" charset="-120"/>
              </a:rPr>
              <a:t>.gagal;</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C792EA"/>
                </a:solidFill>
                <a:latin typeface="Consolas" pitchFamily="34" charset="0"/>
                <a:ea typeface="Consolas" pitchFamily="34" charset="-122"/>
                <a:cs typeface="Consolas" pitchFamily="34" charset="-120"/>
              </a:rPr>
              <a:t>if</a:t>
            </a:r>
            <a:r>
              <a:rPr lang="en-US" sz="1300" dirty="0">
                <a:solidFill>
                  <a:srgbClr val="E6EDF3"/>
                </a:solidFill>
                <a:latin typeface="Consolas" pitchFamily="34" charset="0"/>
                <a:ea typeface="Consolas" pitchFamily="34" charset="-122"/>
                <a:cs typeface="Consolas" pitchFamily="34" charset="-120"/>
              </a:rPr>
              <a:t> (_sudahDibuang) {</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C792EA"/>
                </a:solidFill>
                <a:latin typeface="Consolas" pitchFamily="34" charset="0"/>
                <a:ea typeface="Consolas" pitchFamily="34" charset="-122"/>
                <a:cs typeface="Consolas" pitchFamily="34" charset="-120"/>
              </a:rPr>
              <a:t>return</a:t>
            </a: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notifyListeners();</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endParaRPr lang="en-US" sz="1300" dirty="0"/>
          </a:p>
        </p:txBody>
      </p:sp>
      <p:sp>
        <p:nvSpPr>
          <p:cNvPr id="5" name="tombol tautan">
            <a:hlinkClick r:id="rId1" tooltip="https://github.com/antonprafanto/mobile2026/blob/main/pertemuan_09_state_dan_mvvm/kode/contoh_08_repository_dan_status_muat.dart"/>
          </p:cNvPr>
          <p:cNvSpPr txBox="1"/>
          <p:nvPr/>
        </p:nvSpPr>
        <p:spPr>
          <a:xfrm>
            <a:off x="548640" y="5756148"/>
            <a:ext cx="6035040"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Kode di GitHub  ·  contoh_08_repository_dan_status_muat.dart</a:t>
            </a:r>
            <a:endParaRPr lang="en-US" sz="1300" dirty="0"/>
          </a:p>
        </p:txBody>
      </p:sp>
      <p:pic>
        <p:nvPicPr>
          <p:cNvPr id="6" name="Image 0" descr="ikon tautan">
            <a:hlinkClick r:id="rId3" tooltip="https://github.com/antonprafanto/mobile2026/blob/main/pertemuan_09_state_dan_mvvm/kode/contoh_08_repository_dan_status_muat.dart"/>
          </p:cNvPr>
          <p:cNvPicPr>
            <a:picLocks noChangeAspect="1"/>
          </p:cNvPicPr>
          <p:nvPr/>
        </p:nvPicPr>
        <p:blipFill>
          <a:blip r:embed="rId2"/>
          <a:stretch>
            <a:fillRect/>
          </a:stretch>
        </p:blipFill>
        <p:spPr>
          <a:xfrm>
            <a:off x="694944" y="5847588"/>
            <a:ext cx="274320" cy="274320"/>
          </a:xfrm>
          <a:prstGeom prst="rect">
            <a:avLst/>
          </a:prstGeom>
        </p:spPr>
      </p:pic>
      <p:sp>
        <p:nvSpPr>
          <p:cNvPr id="7" name="daftar poin"/>
          <p:cNvSpPr txBox="1"/>
          <p:nvPr/>
        </p:nvSpPr>
        <p:spPr>
          <a:xfrm>
            <a:off x="6995160" y="1417320"/>
            <a:ext cx="464789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enum, bukan beberapa bool yang bisa bertentangan ("memuat" dan "gagal" sekaligus).</a:t>
            </a:r>
            <a:endParaRPr lang="en-US" sz="1700" dirty="0"/>
          </a:p>
          <a:p>
            <a:pPr marL="228600" indent="-228600">
              <a:spcAft>
                <a:spcPts val="800"/>
              </a:spcAft>
              <a:buSzPct val="100000"/>
              <a:buChar char="•"/>
            </a:pPr>
            <a:r>
              <a:rPr lang="en-US" sz="1700" dirty="0">
                <a:solidFill>
                  <a:schemeClr val="tx1"/>
                </a:solidFill>
              </a:rPr>
              <a:t>Pesan teknis ke konsol, pesan ramah ke pengguna.</a:t>
            </a:r>
            <a:endParaRPr lang="en-US" sz="1700" dirty="0"/>
          </a:p>
          <a:p>
            <a:pPr marL="228600" indent="-228600">
              <a:spcAft>
                <a:spcPts val="800"/>
              </a:spcAft>
              <a:buSzPct val="100000"/>
              <a:buChar char="•"/>
            </a:pPr>
            <a:r>
              <a:rPr lang="en-US" sz="1700" dirty="0">
                <a:solidFill>
                  <a:schemeClr val="tx1"/>
                </a:solidFill>
              </a:rPr>
              <a:t>_sudahDibuang: halaman bisa sudah ditutup selama menunggu.</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View Memilih Tampilan dengan switch</a:t>
            </a:r>
            <a:endParaRPr lang="en-US" sz="3200" dirty="0"/>
          </a:p>
        </p:txBody>
      </p:sp>
      <p:sp>
        <p:nvSpPr>
          <p:cNvPr id="4" name="bingkai layar 1"/>
          <p:cNvSpPr/>
          <p:nvPr/>
        </p:nvSpPr>
        <p:spPr>
          <a:xfrm>
            <a:off x="5187391" y="1316736"/>
            <a:ext cx="2060448" cy="3142599"/>
          </a:xfrm>
          <a:prstGeom prst="roundRect">
            <a:avLst>
              <a:gd name="adj" fmla="val 4438"/>
            </a:avLst>
          </a:prstGeom>
          <a:solidFill>
            <a:srgbClr val="FFFFFF"/>
          </a:solidFill>
          <a:ln w="12700">
            <a:solidFill>
              <a:srgbClr val="C9D3E0"/>
            </a:solidFill>
            <a:prstDash val="solid"/>
          </a:ln>
        </p:spPr>
      </p:sp>
      <p:pic>
        <p:nvPicPr>
          <p:cNvPr id="5" name="layar 1" descr="Tangkapan layar aplikasi (hasil_contoh_08a.jpg)">    </p:cNvPr>
          <p:cNvPicPr>
            <a:picLocks noChangeAspect="1"/>
          </p:cNvPicPr>
          <p:nvPr/>
        </p:nvPicPr>
        <p:blipFill>
          <a:blip r:embed="rId1"/>
          <a:stretch>
            <a:fillRect/>
          </a:stretch>
        </p:blipFill>
        <p:spPr>
          <a:xfrm>
            <a:off x="5242255" y="1371600"/>
            <a:ext cx="1950720" cy="3032871"/>
          </a:xfrm>
          <a:prstGeom prst="rect">
            <a:avLst/>
          </a:prstGeom>
        </p:spPr>
      </p:pic>
      <p:sp>
        <p:nvSpPr>
          <p:cNvPr id="6" name="bingkai layar 2"/>
          <p:cNvSpPr/>
          <p:nvPr/>
        </p:nvSpPr>
        <p:spPr>
          <a:xfrm>
            <a:off x="7412431" y="1316736"/>
            <a:ext cx="2060448" cy="3142599"/>
          </a:xfrm>
          <a:prstGeom prst="roundRect">
            <a:avLst>
              <a:gd name="adj" fmla="val 4438"/>
            </a:avLst>
          </a:prstGeom>
          <a:solidFill>
            <a:srgbClr val="FFFFFF"/>
          </a:solidFill>
          <a:ln w="12700">
            <a:solidFill>
              <a:srgbClr val="C9D3E0"/>
            </a:solidFill>
            <a:prstDash val="solid"/>
          </a:ln>
        </p:spPr>
      </p:sp>
      <p:pic>
        <p:nvPicPr>
          <p:cNvPr id="7" name="layar 2" descr="Tangkapan layar aplikasi (hasil_contoh_08b.jpg)">    </p:cNvPr>
          <p:cNvPicPr>
            <a:picLocks noChangeAspect="1"/>
          </p:cNvPicPr>
          <p:nvPr/>
        </p:nvPicPr>
        <p:blipFill>
          <a:blip r:embed="rId2"/>
          <a:stretch>
            <a:fillRect/>
          </a:stretch>
        </p:blipFill>
        <p:spPr>
          <a:xfrm>
            <a:off x="7467295" y="1371600"/>
            <a:ext cx="1950720" cy="3032871"/>
          </a:xfrm>
          <a:prstGeom prst="rect">
            <a:avLst/>
          </a:prstGeom>
        </p:spPr>
      </p:pic>
      <p:sp>
        <p:nvSpPr>
          <p:cNvPr id="8" name="bingkai layar 3"/>
          <p:cNvSpPr/>
          <p:nvPr/>
        </p:nvSpPr>
        <p:spPr>
          <a:xfrm>
            <a:off x="9637471" y="1316736"/>
            <a:ext cx="2060448" cy="3142599"/>
          </a:xfrm>
          <a:prstGeom prst="roundRect">
            <a:avLst>
              <a:gd name="adj" fmla="val 4438"/>
            </a:avLst>
          </a:prstGeom>
          <a:solidFill>
            <a:srgbClr val="FFFFFF"/>
          </a:solidFill>
          <a:ln w="12700">
            <a:solidFill>
              <a:srgbClr val="C9D3E0"/>
            </a:solidFill>
            <a:prstDash val="solid"/>
          </a:ln>
        </p:spPr>
      </p:sp>
      <p:pic>
        <p:nvPicPr>
          <p:cNvPr id="9" name="layar 3" descr="Tangkapan layar aplikasi (hasil_contoh_08c.jpg)">    </p:cNvPr>
          <p:cNvPicPr>
            <a:picLocks noChangeAspect="1"/>
          </p:cNvPicPr>
          <p:nvPr/>
        </p:nvPicPr>
        <p:blipFill>
          <a:blip r:embed="rId3"/>
          <a:stretch>
            <a:fillRect/>
          </a:stretch>
        </p:blipFill>
        <p:spPr>
          <a:xfrm>
            <a:off x="9692335" y="1371600"/>
            <a:ext cx="1950720" cy="3032871"/>
          </a:xfrm>
          <a:prstGeom prst="rect">
            <a:avLst/>
          </a:prstGeom>
        </p:spPr>
      </p:pic>
      <p:sp>
        <p:nvSpPr>
          <p:cNvPr id="10" name="kotak kode"/>
          <p:cNvSpPr txBox="1"/>
          <p:nvPr/>
        </p:nvSpPr>
        <p:spPr>
          <a:xfrm>
            <a:off x="548640" y="1371600"/>
            <a:ext cx="4236415" cy="2715768"/>
          </a:xfrm>
          <a:prstGeom prst="roundRect">
            <a:avLst>
              <a:gd name="adj" fmla="val 3367"/>
            </a:avLst>
          </a:prstGeom>
          <a:solidFill>
            <a:srgbClr val="0E1A2B"/>
          </a:solidFill>
          <a:ln/>
        </p:spPr>
        <p:txBody>
          <a:bodyPr wrap="square" lIns="177800" tIns="152400" rIns="152400" bIns="177800" rtlCol="0" anchor="t"/>
          <a:lstStyle/>
          <a:p>
            <a:pPr indent="0" marL="0">
              <a:lnSpc>
                <a:spcPct val="105000"/>
              </a:lnSpc>
              <a:buNone/>
            </a:pPr>
            <a:r>
              <a:rPr lang="en-US" sz="1200" dirty="0">
                <a:solidFill>
                  <a:srgbClr val="C792EA"/>
                </a:solidFill>
                <a:latin typeface="Consolas" pitchFamily="34" charset="0"/>
                <a:ea typeface="Consolas" pitchFamily="34" charset="-122"/>
                <a:cs typeface="Consolas" pitchFamily="34" charset="-120"/>
              </a:rPr>
              <a:t>final</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Widget</a:t>
            </a:r>
            <a:r>
              <a:rPr lang="en-US" sz="1200" dirty="0">
                <a:solidFill>
                  <a:srgbClr val="E6EDF3"/>
                </a:solidFill>
                <a:latin typeface="Consolas" pitchFamily="34" charset="0"/>
                <a:ea typeface="Consolas" pitchFamily="34" charset="-122"/>
                <a:cs typeface="Consolas" pitchFamily="34" charset="-120"/>
              </a:rPr>
              <a:t> isi = </a:t>
            </a:r>
            <a:r>
              <a:rPr lang="en-US" sz="1200" dirty="0">
                <a:solidFill>
                  <a:srgbClr val="C792EA"/>
                </a:solidFill>
                <a:latin typeface="Consolas" pitchFamily="34" charset="0"/>
                <a:ea typeface="Consolas" pitchFamily="34" charset="-122"/>
                <a:cs typeface="Consolas" pitchFamily="34" charset="-120"/>
              </a:rPr>
              <a:t>switch</a:t>
            </a:r>
            <a:r>
              <a:rPr lang="en-US" sz="1200" dirty="0">
                <a:solidFill>
                  <a:srgbClr val="E6EDF3"/>
                </a:solidFill>
                <a:latin typeface="Consolas" pitchFamily="34" charset="0"/>
                <a:ea typeface="Consolas" pitchFamily="34" charset="-122"/>
                <a:cs typeface="Consolas" pitchFamily="34" charset="-120"/>
              </a:rPr>
              <a:t> (vm.status)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StatusMuat</a:t>
            </a:r>
            <a:r>
              <a:rPr lang="en-US" sz="1200" dirty="0">
                <a:solidFill>
                  <a:srgbClr val="E6EDF3"/>
                </a:solidFill>
                <a:latin typeface="Consolas" pitchFamily="34" charset="0"/>
                <a:ea typeface="Consolas" pitchFamily="34" charset="-122"/>
                <a:cs typeface="Consolas" pitchFamily="34" charset="-120"/>
              </a:rPr>
              <a:t>.memuat =&gt;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const</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TampilanMemuat</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StatusMuat</a:t>
            </a:r>
            <a:r>
              <a:rPr lang="en-US" sz="1200" dirty="0">
                <a:solidFill>
                  <a:srgbClr val="E6EDF3"/>
                </a:solidFill>
                <a:latin typeface="Consolas" pitchFamily="34" charset="0"/>
                <a:ea typeface="Consolas" pitchFamily="34" charset="-122"/>
                <a:cs typeface="Consolas" pitchFamily="34" charset="-120"/>
              </a:rPr>
              <a:t>.gagal =&gt; </a:t>
            </a:r>
            <a:r>
              <a:rPr lang="en-US" sz="1200" dirty="0">
                <a:solidFill>
                  <a:srgbClr val="FFCB6B"/>
                </a:solidFill>
                <a:latin typeface="Consolas" pitchFamily="34" charset="0"/>
                <a:ea typeface="Consolas" pitchFamily="34" charset="-122"/>
                <a:cs typeface="Consolas" pitchFamily="34" charset="-120"/>
              </a:rPr>
              <a:t>TampilanGagal</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pesan: vm.pesanGalat,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onCobaLagi: () =&gt; context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.read&lt;</a:t>
            </a:r>
            <a:r>
              <a:rPr lang="en-US" sz="1200" dirty="0">
                <a:solidFill>
                  <a:srgbClr val="FFCB6B"/>
                </a:solidFill>
                <a:latin typeface="Consolas" pitchFamily="34" charset="0"/>
                <a:ea typeface="Consolas" pitchFamily="34" charset="-122"/>
                <a:cs typeface="Consolas" pitchFamily="34" charset="-120"/>
              </a:rPr>
              <a:t>PengumumanViewModel</a:t>
            </a:r>
            <a:r>
              <a:rPr lang="en-US" sz="1200" dirty="0">
                <a:solidFill>
                  <a:srgbClr val="E6EDF3"/>
                </a:solidFill>
                <a:latin typeface="Consolas" pitchFamily="34" charset="0"/>
                <a:ea typeface="Consolas" pitchFamily="34" charset="-122"/>
                <a:cs typeface="Consolas" pitchFamily="34" charset="-120"/>
              </a:rPr>
              <a:t>&gt;()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.muat(),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StatusMuat</a:t>
            </a:r>
            <a:r>
              <a:rPr lang="en-US" sz="1200" dirty="0">
                <a:solidFill>
                  <a:srgbClr val="E6EDF3"/>
                </a:solidFill>
                <a:latin typeface="Consolas" pitchFamily="34" charset="0"/>
                <a:ea typeface="Consolas" pitchFamily="34" charset="-122"/>
                <a:cs typeface="Consolas" pitchFamily="34" charset="-120"/>
              </a:rPr>
              <a:t>.berhasil =&gt;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DaftarPengumuman</a:t>
            </a:r>
            <a:r>
              <a:rPr lang="en-US" sz="1200" dirty="0">
                <a:solidFill>
                  <a:srgbClr val="E6EDF3"/>
                </a:solidFill>
                <a:latin typeface="Consolas" pitchFamily="34" charset="0"/>
                <a:ea typeface="Consolas" pitchFamily="34" charset="-122"/>
                <a:cs typeface="Consolas" pitchFamily="34" charset="-120"/>
              </a:rPr>
              <a:t>(daftar: vm.daftar),</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a:t>
            </a:r>
            <a:endParaRPr lang="en-US" sz="1200" dirty="0"/>
          </a:p>
        </p:txBody>
      </p:sp>
      <p:sp>
        <p:nvSpPr>
          <p:cNvPr id="11" name="tombol tautan">
            <a:hlinkClick r:id="rId4" tooltip="https://github.com/antonprafanto/mobile2026/blob/main/pertemuan_09_state_dan_mvvm/kode/contoh_08_repository_dan_status_muat.dart"/>
          </p:cNvPr>
          <p:cNvSpPr txBox="1"/>
          <p:nvPr/>
        </p:nvSpPr>
        <p:spPr>
          <a:xfrm>
            <a:off x="548640" y="4270248"/>
            <a:ext cx="4236415"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Kode di GitHub  ·  contoh_08_repository_dan_status_muat.dart</a:t>
            </a:r>
            <a:endParaRPr lang="en-US" sz="1300" dirty="0"/>
          </a:p>
        </p:txBody>
      </p:sp>
      <p:pic>
        <p:nvPicPr>
          <p:cNvPr id="12" name="Image 3" descr="ikon tautan">
            <a:hlinkClick r:id="rId6" tooltip="https://github.com/antonprafanto/mobile2026/blob/main/pertemuan_09_state_dan_mvvm/kode/contoh_08_repository_dan_status_muat.dart"/>
          </p:cNvPr>
          <p:cNvPicPr>
            <a:picLocks noChangeAspect="1"/>
          </p:cNvPicPr>
          <p:nvPr/>
        </p:nvPicPr>
        <p:blipFill>
          <a:blip r:embed="rId5"/>
          <a:stretch>
            <a:fillRect/>
          </a:stretch>
        </p:blipFill>
        <p:spPr>
          <a:xfrm>
            <a:off x="694944" y="4361688"/>
            <a:ext cx="274320" cy="274320"/>
          </a:xfrm>
          <a:prstGeom prst="rect">
            <a:avLst/>
          </a:prstGeom>
        </p:spPr>
      </p:pic>
      <p:sp>
        <p:nvSpPr>
          <p:cNvPr id="13" name="daftar poin"/>
          <p:cNvSpPr txBox="1"/>
          <p:nvPr/>
        </p:nvSpPr>
        <p:spPr>
          <a:xfrm>
            <a:off x="548640" y="5001768"/>
            <a:ext cx="4236415" cy="1216152"/>
          </a:xfrm>
          <a:prstGeom prst="rect">
            <a:avLst/>
          </a:prstGeom>
          <a:noFill/>
          <a:ln/>
        </p:spPr>
        <p:txBody>
          <a:bodyPr wrap="square" lIns="0" tIns="0" rIns="0" bIns="0" rtlCol="0" anchor="t"/>
          <a:lstStyle/>
          <a:p>
            <a:pPr marL="228600" indent="-228600">
              <a:spcAft>
                <a:spcPts val="800"/>
              </a:spcAft>
              <a:buSzPct val="100000"/>
              <a:buChar char="•"/>
            </a:pPr>
            <a:r>
              <a:rPr lang="en-US" sz="1400" dirty="0">
                <a:solidFill>
                  <a:schemeClr val="tx1"/>
                </a:solidFill>
              </a:rPr>
              <a:t>Muat ulang (percobaan 2) → gagal; Coba lagi (percobaan 3) → berhasil.</a:t>
            </a:r>
            <a:endParaRPr lang="en-US" sz="1400" dirty="0"/>
          </a:p>
          <a:p>
            <a:pPr marL="228600" indent="-228600">
              <a:spcAft>
                <a:spcPts val="800"/>
              </a:spcAft>
              <a:buSzPct val="100000"/>
              <a:buChar char="•"/>
            </a:pPr>
            <a:r>
              <a:rPr lang="en-US" sz="1400" dirty="0">
                <a:solidFill>
                  <a:schemeClr val="tx1"/>
                </a:solidFill>
              </a:rPr>
              <a:t>Status baru, misalnya kosong → analyzer menandai setiap switch yang belum menanganinya.</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Menitipkan Repository dan Menyerahkannya ke ViewModel</a:t>
            </a:r>
            <a:endParaRPr lang="en-US" sz="3200" dirty="0"/>
          </a:p>
        </p:txBody>
      </p:sp>
      <p:sp>
        <p:nvSpPr>
          <p:cNvPr id="4" name="kotak kode"/>
          <p:cNvSpPr txBox="1"/>
          <p:nvPr/>
        </p:nvSpPr>
        <p:spPr>
          <a:xfrm>
            <a:off x="548640" y="1371600"/>
            <a:ext cx="5852160" cy="3739896"/>
          </a:xfrm>
          <a:prstGeom prst="roundRect">
            <a:avLst>
              <a:gd name="adj" fmla="val 2445"/>
            </a:avLst>
          </a:prstGeom>
          <a:solidFill>
            <a:srgbClr val="0E1A2B"/>
          </a:solidFill>
          <a:ln/>
        </p:spPr>
        <p:txBody>
          <a:bodyPr wrap="square" lIns="177800" tIns="152400" rIns="152400" bIns="177800" rtlCol="0" anchor="t"/>
          <a:lstStyle/>
          <a:p>
            <a:pPr indent="0" marL="0">
              <a:lnSpc>
                <a:spcPct val="105000"/>
              </a:lnSpc>
              <a:buNone/>
            </a:pPr>
            <a:r>
              <a:rPr lang="en-US" sz="1300" i="1" dirty="0">
                <a:solidFill>
                  <a:srgbClr val="8FA3BC"/>
                </a:solidFill>
                <a:latin typeface="Consolas" pitchFamily="34" charset="0"/>
                <a:ea typeface="Consolas" pitchFamily="34" charset="-122"/>
                <a:cs typeface="Consolas" pitchFamily="34" charset="-120"/>
              </a:rPr>
              <a:t>// main(): untuk seluruh aplikasi</a:t>
            </a:r>
            <a:endParaRPr lang="en-US" sz="1300" dirty="0"/>
          </a:p>
          <a:p>
            <a:pPr indent="0" marL="0">
              <a:lnSpc>
                <a:spcPct val="105000"/>
              </a:lnSpc>
              <a:buNone/>
            </a:pPr>
            <a:r>
              <a:rPr lang="en-US" sz="1300" dirty="0">
                <a:solidFill>
                  <a:srgbClr val="FFCB6B"/>
                </a:solidFill>
                <a:latin typeface="Consolas" pitchFamily="34" charset="0"/>
                <a:ea typeface="Consolas" pitchFamily="34" charset="-122"/>
                <a:cs typeface="Consolas" pitchFamily="34" charset="-120"/>
              </a:rPr>
              <a:t>Provider</a:t>
            </a:r>
            <a:r>
              <a:rPr lang="en-US" sz="1300" dirty="0">
                <a:solidFill>
                  <a:srgbClr val="E6EDF3"/>
                </a:solidFill>
                <a:latin typeface="Consolas" pitchFamily="34" charset="0"/>
                <a:ea typeface="Consolas" pitchFamily="34" charset="-122"/>
                <a:cs typeface="Consolas" pitchFamily="34" charset="-120"/>
              </a:rPr>
              <a:t>&lt;</a:t>
            </a:r>
            <a:r>
              <a:rPr lang="en-US" sz="1300" dirty="0">
                <a:solidFill>
                  <a:srgbClr val="FFCB6B"/>
                </a:solidFill>
                <a:latin typeface="Consolas" pitchFamily="34" charset="0"/>
                <a:ea typeface="Consolas" pitchFamily="34" charset="-122"/>
                <a:cs typeface="Consolas" pitchFamily="34" charset="-120"/>
              </a:rPr>
              <a:t>RepositoriPengumuman</a:t>
            </a:r>
            <a:r>
              <a:rPr lang="en-US" sz="1300" dirty="0">
                <a:solidFill>
                  <a:srgbClr val="E6EDF3"/>
                </a:solidFill>
                <a:latin typeface="Consolas" pitchFamily="34" charset="0"/>
                <a:ea typeface="Consolas" pitchFamily="34" charset="-122"/>
                <a:cs typeface="Consolas" pitchFamily="34" charset="-120"/>
              </a:rPr>
              <a:t>&gt;(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create: (</a:t>
            </a:r>
            <a:r>
              <a:rPr lang="en-US" sz="1300" dirty="0">
                <a:solidFill>
                  <a:srgbClr val="FFCB6B"/>
                </a:solidFill>
                <a:latin typeface="Consolas" pitchFamily="34" charset="0"/>
                <a:ea typeface="Consolas" pitchFamily="34" charset="-122"/>
                <a:cs typeface="Consolas" pitchFamily="34" charset="-120"/>
              </a:rPr>
              <a:t>BuildContext</a:t>
            </a:r>
            <a:r>
              <a:rPr lang="en-US" sz="1300" dirty="0">
                <a:solidFill>
                  <a:srgbClr val="E6EDF3"/>
                </a:solidFill>
                <a:latin typeface="Consolas" pitchFamily="34" charset="0"/>
                <a:ea typeface="Consolas" pitchFamily="34" charset="-122"/>
                <a:cs typeface="Consolas" pitchFamily="34" charset="-120"/>
              </a:rPr>
              <a:t> context) =&gt;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FCB6B"/>
                </a:solidFill>
                <a:latin typeface="Consolas" pitchFamily="34" charset="0"/>
                <a:ea typeface="Consolas" pitchFamily="34" charset="-122"/>
                <a:cs typeface="Consolas" pitchFamily="34" charset="-120"/>
              </a:rPr>
              <a:t>RepositoriPengumumanPalsu</a:t>
            </a: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child: </a:t>
            </a:r>
            <a:r>
              <a:rPr lang="en-US" sz="1300" dirty="0">
                <a:solidFill>
                  <a:srgbClr val="C792EA"/>
                </a:solidFill>
                <a:latin typeface="Consolas" pitchFamily="34" charset="0"/>
                <a:ea typeface="Consolas" pitchFamily="34" charset="-122"/>
                <a:cs typeface="Consolas" pitchFamily="34" charset="-120"/>
              </a:rPr>
              <a:t>const</a:t>
            </a: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FCB6B"/>
                </a:solidFill>
                <a:latin typeface="Consolas" pitchFamily="34" charset="0"/>
                <a:ea typeface="Consolas" pitchFamily="34" charset="-122"/>
                <a:cs typeface="Consolas" pitchFamily="34" charset="-120"/>
              </a:rPr>
              <a:t>AplikasiPengumuman</a:t>
            </a: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endParaRPr lang="en-US" sz="1300" dirty="0"/>
          </a:p>
          <a:p>
            <a:pPr indent="0" marL="0">
              <a:lnSpc>
                <a:spcPct val="105000"/>
              </a:lnSpc>
              <a:buNone/>
            </a:pPr>
            <a:r>
              <a:rPr lang="en-US" sz="1300" i="1" dirty="0">
                <a:solidFill>
                  <a:srgbClr val="8FA3BC"/>
                </a:solidFill>
                <a:latin typeface="Consolas" pitchFamily="34" charset="0"/>
                <a:ea typeface="Consolas" pitchFamily="34" charset="-122"/>
                <a:cs typeface="Consolas" pitchFamily="34" charset="-120"/>
              </a:rPr>
              <a:t>// home: di AplikasiPengumuman</a:t>
            </a:r>
            <a:endParaRPr lang="en-US" sz="1300" dirty="0"/>
          </a:p>
          <a:p>
            <a:pPr indent="0" marL="0">
              <a:lnSpc>
                <a:spcPct val="105000"/>
              </a:lnSpc>
              <a:buNone/>
            </a:pPr>
            <a:r>
              <a:rPr lang="en-US" sz="1300" dirty="0">
                <a:solidFill>
                  <a:srgbClr val="FFCB6B"/>
                </a:solidFill>
                <a:latin typeface="Consolas" pitchFamily="34" charset="0"/>
                <a:ea typeface="Consolas" pitchFamily="34" charset="-122"/>
                <a:cs typeface="Consolas" pitchFamily="34" charset="-120"/>
              </a:rPr>
              <a:t>ChangeNotifierProvider</a:t>
            </a: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create: (</a:t>
            </a:r>
            <a:r>
              <a:rPr lang="en-US" sz="1300" dirty="0">
                <a:solidFill>
                  <a:srgbClr val="FFCB6B"/>
                </a:solidFill>
                <a:latin typeface="Consolas" pitchFamily="34" charset="0"/>
                <a:ea typeface="Consolas" pitchFamily="34" charset="-122"/>
                <a:cs typeface="Consolas" pitchFamily="34" charset="-120"/>
              </a:rPr>
              <a:t>BuildContext</a:t>
            </a:r>
            <a:r>
              <a:rPr lang="en-US" sz="1300" dirty="0">
                <a:solidFill>
                  <a:srgbClr val="E6EDF3"/>
                </a:solidFill>
                <a:latin typeface="Consolas" pitchFamily="34" charset="0"/>
                <a:ea typeface="Consolas" pitchFamily="34" charset="-122"/>
                <a:cs typeface="Consolas" pitchFamily="34" charset="-120"/>
              </a:rPr>
              <a:t> context) =&gt;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FCB6B"/>
                </a:solidFill>
                <a:latin typeface="Consolas" pitchFamily="34" charset="0"/>
                <a:ea typeface="Consolas" pitchFamily="34" charset="-122"/>
                <a:cs typeface="Consolas" pitchFamily="34" charset="-120"/>
              </a:rPr>
              <a:t>PengumumanViewModel</a:t>
            </a: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repositori:</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context.read&lt;</a:t>
            </a:r>
            <a:r>
              <a:rPr lang="en-US" sz="1300" dirty="0">
                <a:solidFill>
                  <a:srgbClr val="FFCB6B"/>
                </a:solidFill>
                <a:latin typeface="Consolas" pitchFamily="34" charset="0"/>
                <a:ea typeface="Consolas" pitchFamily="34" charset="-122"/>
                <a:cs typeface="Consolas" pitchFamily="34" charset="-120"/>
              </a:rPr>
              <a:t>RepositoriPengumuman</a:t>
            </a:r>
            <a:r>
              <a:rPr lang="en-US" sz="1300" dirty="0">
                <a:solidFill>
                  <a:srgbClr val="E6EDF3"/>
                </a:solidFill>
                <a:latin typeface="Consolas" pitchFamily="34" charset="0"/>
                <a:ea typeface="Consolas" pitchFamily="34" charset="-122"/>
                <a:cs typeface="Consolas" pitchFamily="34" charset="-120"/>
              </a:rPr>
              <a:t>&gt;(),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)..muat(),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child: </a:t>
            </a:r>
            <a:r>
              <a:rPr lang="en-US" sz="1300" dirty="0">
                <a:solidFill>
                  <a:srgbClr val="C792EA"/>
                </a:solidFill>
                <a:latin typeface="Consolas" pitchFamily="34" charset="0"/>
                <a:ea typeface="Consolas" pitchFamily="34" charset="-122"/>
                <a:cs typeface="Consolas" pitchFamily="34" charset="-120"/>
              </a:rPr>
              <a:t>const</a:t>
            </a: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FCB6B"/>
                </a:solidFill>
                <a:latin typeface="Consolas" pitchFamily="34" charset="0"/>
                <a:ea typeface="Consolas" pitchFamily="34" charset="-122"/>
                <a:cs typeface="Consolas" pitchFamily="34" charset="-120"/>
              </a:rPr>
              <a:t>HalamanPengumuman</a:t>
            </a: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endParaRPr lang="en-US" sz="1300" dirty="0"/>
          </a:p>
        </p:txBody>
      </p:sp>
      <p:sp>
        <p:nvSpPr>
          <p:cNvPr id="5" name="tombol tautan">
            <a:hlinkClick r:id="rId1" tooltip="https://github.com/antonprafanto/mobile2026/blob/main/pertemuan_09_state_dan_mvvm/kode/contoh_08_repository_dan_status_muat.dart"/>
          </p:cNvPr>
          <p:cNvSpPr txBox="1"/>
          <p:nvPr/>
        </p:nvSpPr>
        <p:spPr>
          <a:xfrm>
            <a:off x="548640" y="5340096"/>
            <a:ext cx="5852160"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Kode di GitHub  ·  contoh_08_repository_dan_status_muat.dart</a:t>
            </a:r>
            <a:endParaRPr lang="en-US" sz="1300" dirty="0"/>
          </a:p>
        </p:txBody>
      </p:sp>
      <p:pic>
        <p:nvPicPr>
          <p:cNvPr id="6" name="Image 0" descr="ikon tautan">
            <a:hlinkClick r:id="rId3" tooltip="https://github.com/antonprafanto/mobile2026/blob/main/pertemuan_09_state_dan_mvvm/kode/contoh_08_repository_dan_status_muat.dart"/>
          </p:cNvPr>
          <p:cNvPicPr>
            <a:picLocks noChangeAspect="1"/>
          </p:cNvPicPr>
          <p:nvPr/>
        </p:nvPicPr>
        <p:blipFill>
          <a:blip r:embed="rId2"/>
          <a:stretch>
            <a:fillRect/>
          </a:stretch>
        </p:blipFill>
        <p:spPr>
          <a:xfrm>
            <a:off x="694944" y="5431536"/>
            <a:ext cx="274320" cy="274320"/>
          </a:xfrm>
          <a:prstGeom prst="rect">
            <a:avLst/>
          </a:prstGeom>
        </p:spPr>
      </p:pic>
      <p:sp>
        <p:nvSpPr>
          <p:cNvPr id="7" name="daftar poin"/>
          <p:cNvSpPr txBox="1"/>
          <p:nvPr/>
        </p:nvSpPr>
        <p:spPr>
          <a:xfrm>
            <a:off x="6812280" y="1417320"/>
            <a:ext cx="483077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Provider biasa: repository tidak mengumumkan perubahan.</a:t>
            </a:r>
            <a:endParaRPr lang="en-US" sz="1700" dirty="0"/>
          </a:p>
          <a:p>
            <a:pPr marL="228600" indent="-228600">
              <a:spcAft>
                <a:spcPts val="800"/>
              </a:spcAft>
              <a:buSzPct val="100000"/>
              <a:buChar char="•"/>
            </a:pPr>
            <a:r>
              <a:rPr lang="en-US" sz="1700" dirty="0">
                <a:solidFill>
                  <a:schemeClr val="tx1"/>
                </a:solidFill>
              </a:rPr>
              <a:t>Tipe provider = KONTRAK. P10 cukup mengganti satu baris create.</a:t>
            </a:r>
            <a:endParaRPr lang="en-US" sz="1700" dirty="0"/>
          </a:p>
          <a:p>
            <a:pPr marL="228600" indent="-228600">
              <a:spcAft>
                <a:spcPts val="800"/>
              </a:spcAft>
              <a:buSzPct val="100000"/>
              <a:buChar char="•"/>
            </a:pPr>
            <a:r>
              <a:rPr lang="en-US" sz="1700" dirty="0">
                <a:solidFill>
                  <a:schemeClr val="tx1"/>
                </a:solidFill>
              </a:rPr>
              <a:t>Dependency injection: ViewModel menerima repository lewat constructor.</a:t>
            </a:r>
            <a:endParaRPr lang="en-US" sz="1700" dirty="0"/>
          </a:p>
          <a:p>
            <a:pPr marL="228600" indent="-228600">
              <a:spcAft>
                <a:spcPts val="800"/>
              </a:spcAft>
              <a:buSzPct val="100000"/>
              <a:buChar char="•"/>
            </a:pPr>
            <a:r>
              <a:rPr lang="en-US" sz="1700" dirty="0">
                <a:solidFill>
                  <a:schemeClr val="tx1"/>
                </a:solidFill>
              </a:rPr>
              <a:t>..muat() (cascade): buat objek, panggil muat(), kembalikan objeknya.</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3" name="Text 1"/>
          <p:cNvSpPr/>
          <p:nvPr>
            <p:ph idx="101" type="body" hasCustomPrompt="1"/>
          </p:nvPr>
        </p:nvSpPr>
        <p:spPr>
          <a:xfrm>
            <a:off x="3840480" y="2103120"/>
            <a:ext cx="7680960" cy="457200"/>
          </a:xfrm>
          <a:prstGeom prst="rect">
            <a:avLst/>
          </a:prstGeom>
          <a:noFill/>
          <a:ln/>
        </p:spPr>
        <p:txBody>
          <a:bodyPr wrap="square" lIns="0" tIns="0" rIns="0" bIns="0" rtlCol="0"/>
          <a:lstStyle/>
          <a:p>
            <a:pPr indent="0" marL="0">
              <a:buNone/>
            </a:pPr>
            <a:r>
              <a:rPr lang="en-US" sz="1800" b="1" spc="200" kern="0" dirty="0">
                <a:solidFill>
                  <a:schemeClr val="accent2"/>
                </a:solidFill>
              </a:rPr>
              <a:t>BAGIAN 6</a:t>
            </a:r>
            <a:endParaRPr lang="en-US" sz="1800" dirty="0"/>
          </a:p>
        </p:txBody>
      </p:sp>
      <p:sp>
        <p:nvSpPr>
          <p:cNvPr id="4" name="Text 1"/>
          <p:cNvSpPr/>
          <p:nvPr>
            <p:ph idx="102" type="title" hasCustomPrompt="1"/>
          </p:nvPr>
        </p:nvSpPr>
        <p:spPr>
          <a:xfrm>
            <a:off x="3840480" y="2606040"/>
            <a:ext cx="7680960" cy="1737360"/>
          </a:xfrm>
          <a:prstGeom prst="rect">
            <a:avLst/>
          </a:prstGeom>
          <a:noFill/>
          <a:ln/>
        </p:spPr>
        <p:txBody>
          <a:bodyPr wrap="square" lIns="0" tIns="0" rIns="0" bIns="0" rtlCol="0" anchor="t"/>
          <a:lstStyle/>
          <a:p>
            <a:pPr algn="l" indent="0" marL="0">
              <a:buNone/>
            </a:pPr>
            <a:r>
              <a:rPr lang="en-US" sz="4000" b="1" dirty="0">
                <a:solidFill>
                  <a:schemeClr val="bg1"/>
                </a:solidFill>
              </a:rPr>
              <a:t>Cakupan dan Umur Provider</a:t>
            </a:r>
            <a:endParaRPr lang="en-US" sz="4000" dirty="0"/>
          </a:p>
        </p:txBody>
      </p:sp>
      <p:sp>
        <p:nvSpPr>
          <p:cNvPr id="5" name="lingkaran rute"/>
          <p:cNvSpPr/>
          <p:nvPr/>
        </p:nvSpPr>
        <p:spPr>
          <a:xfrm>
            <a:off x="1097280" y="2148840"/>
            <a:ext cx="2011680" cy="2011680"/>
          </a:xfrm>
          <a:prstGeom prst="ellipse">
            <a:avLst/>
          </a:prstGeom>
          <a:solidFill>
            <a:schemeClr val="accent1"/>
          </a:solidFill>
          <a:ln/>
        </p:spPr>
      </p:sp>
      <p:pic>
        <p:nvPicPr>
          <p:cNvPr id="6" name="Image 0" descr="rute">    </p:cNvPr>
          <p:cNvPicPr>
            <a:picLocks noChangeAspect="1"/>
          </p:cNvPicPr>
          <p:nvPr/>
        </p:nvPicPr>
        <p:blipFill>
          <a:blip r:embed="rId1"/>
          <a:stretch>
            <a:fillRect/>
          </a:stretch>
        </p:blipFill>
        <p:spPr>
          <a:xfrm>
            <a:off x="1539850" y="2591410"/>
            <a:ext cx="1126541" cy="1126541"/>
          </a:xfrm>
          <a:prstGeom prst="rect">
            <a:avLst/>
          </a:prstGeom>
        </p:spPr>
      </p:pic>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Dua Letak Provider dalam Satu Aplikasi</a:t>
            </a:r>
            <a:endParaRPr lang="en-US" sz="3200" dirty="0"/>
          </a:p>
        </p:txBody>
      </p:sp>
      <p:sp>
        <p:nvSpPr>
          <p:cNvPr id="4" name="bingkai layar 1"/>
          <p:cNvSpPr/>
          <p:nvPr/>
        </p:nvSpPr>
        <p:spPr>
          <a:xfrm>
            <a:off x="8559295" y="1316736"/>
            <a:ext cx="3138624" cy="4818888"/>
          </a:xfrm>
          <a:prstGeom prst="roundRect">
            <a:avLst>
              <a:gd name="adj" fmla="val 2913"/>
            </a:avLst>
          </a:prstGeom>
          <a:solidFill>
            <a:srgbClr val="FFFFFF"/>
          </a:solidFill>
          <a:ln w="12700">
            <a:solidFill>
              <a:srgbClr val="C9D3E0"/>
            </a:solidFill>
            <a:prstDash val="solid"/>
          </a:ln>
        </p:spPr>
      </p:sp>
      <p:pic>
        <p:nvPicPr>
          <p:cNvPr id="5" name="layar 1" descr="Tangkapan layar aplikasi (hasil_contoh_09.jpg)">    </p:cNvPr>
          <p:cNvPicPr>
            <a:picLocks noChangeAspect="1"/>
          </p:cNvPicPr>
          <p:nvPr/>
        </p:nvPicPr>
        <p:blipFill>
          <a:blip r:embed="rId1"/>
          <a:stretch>
            <a:fillRect/>
          </a:stretch>
        </p:blipFill>
        <p:spPr>
          <a:xfrm>
            <a:off x="8614159" y="1371600"/>
            <a:ext cx="3028896" cy="4709160"/>
          </a:xfrm>
          <a:prstGeom prst="rect">
            <a:avLst/>
          </a:prstGeom>
        </p:spPr>
      </p:pic>
      <p:sp>
        <p:nvSpPr>
          <p:cNvPr id="6" name="kotak kode"/>
          <p:cNvSpPr txBox="1"/>
          <p:nvPr/>
        </p:nvSpPr>
        <p:spPr>
          <a:xfrm>
            <a:off x="548640" y="1371600"/>
            <a:ext cx="7608319" cy="3115818"/>
          </a:xfrm>
          <a:prstGeom prst="roundRect">
            <a:avLst>
              <a:gd name="adj" fmla="val 2935"/>
            </a:avLst>
          </a:prstGeom>
          <a:solidFill>
            <a:srgbClr val="0E1A2B"/>
          </a:solidFill>
          <a:ln/>
        </p:spPr>
        <p:txBody>
          <a:bodyPr wrap="square" lIns="177800" tIns="152400" rIns="152400" bIns="177800" rtlCol="0" anchor="t"/>
          <a:lstStyle/>
          <a:p>
            <a:pPr indent="0" marL="0">
              <a:lnSpc>
                <a:spcPct val="105000"/>
              </a:lnSpc>
              <a:buNone/>
            </a:pPr>
            <a:r>
              <a:rPr lang="en-US" sz="1300" dirty="0">
                <a:solidFill>
                  <a:srgbClr val="FFCB6B"/>
                </a:solidFill>
                <a:latin typeface="Consolas" pitchFamily="34" charset="0"/>
                <a:ea typeface="Consolas" pitchFamily="34" charset="-122"/>
                <a:cs typeface="Consolas" pitchFamily="34" charset="-120"/>
              </a:rPr>
              <a:t>Navigator</a:t>
            </a:r>
            <a:r>
              <a:rPr lang="en-US" sz="1300" dirty="0">
                <a:solidFill>
                  <a:srgbClr val="E6EDF3"/>
                </a:solidFill>
                <a:latin typeface="Consolas" pitchFamily="34" charset="0"/>
                <a:ea typeface="Consolas" pitchFamily="34" charset="-122"/>
                <a:cs typeface="Consolas" pitchFamily="34" charset="-120"/>
              </a:rPr>
              <a:t>.push(</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context,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FCB6B"/>
                </a:solidFill>
                <a:latin typeface="Consolas" pitchFamily="34" charset="0"/>
                <a:ea typeface="Consolas" pitchFamily="34" charset="-122"/>
                <a:cs typeface="Consolas" pitchFamily="34" charset="-120"/>
              </a:rPr>
              <a:t>MaterialPageRoute</a:t>
            </a:r>
            <a:r>
              <a:rPr lang="en-US" sz="1300" dirty="0">
                <a:solidFill>
                  <a:srgbClr val="E6EDF3"/>
                </a:solidFill>
                <a:latin typeface="Consolas" pitchFamily="34" charset="0"/>
                <a:ea typeface="Consolas" pitchFamily="34" charset="-122"/>
                <a:cs typeface="Consolas" pitchFamily="34" charset="-120"/>
              </a:rPr>
              <a:t>&lt;</a:t>
            </a:r>
            <a:r>
              <a:rPr lang="en-US" sz="1300" dirty="0">
                <a:solidFill>
                  <a:srgbClr val="C792EA"/>
                </a:solidFill>
                <a:latin typeface="Consolas" pitchFamily="34" charset="0"/>
                <a:ea typeface="Consolas" pitchFamily="34" charset="-122"/>
                <a:cs typeface="Consolas" pitchFamily="34" charset="-120"/>
              </a:rPr>
              <a:t>void</a:t>
            </a:r>
            <a:r>
              <a:rPr lang="en-US" sz="1300" dirty="0">
                <a:solidFill>
                  <a:srgbClr val="E6EDF3"/>
                </a:solidFill>
                <a:latin typeface="Consolas" pitchFamily="34" charset="0"/>
                <a:ea typeface="Consolas" pitchFamily="34" charset="-122"/>
                <a:cs typeface="Consolas" pitchFamily="34" charset="-120"/>
              </a:rPr>
              <a:t>&gt;(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r>
              <a:rPr lang="en-US" sz="1300" i="1" dirty="0">
                <a:solidFill>
                  <a:srgbClr val="8FA3BC"/>
                </a:solidFill>
                <a:latin typeface="Consolas" pitchFamily="34" charset="0"/>
                <a:ea typeface="Consolas" pitchFamily="34" charset="-122"/>
                <a:cs typeface="Consolas" pitchFamily="34" charset="-120"/>
              </a:rPr>
              <a:t>// Provider DI DALAM rute: hanya halaman ini</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r>
              <a:rPr lang="en-US" sz="1300" i="1" dirty="0">
                <a:solidFill>
                  <a:srgbClr val="8FA3BC"/>
                </a:solidFill>
                <a:latin typeface="Consolas" pitchFamily="34" charset="0"/>
                <a:ea typeface="Consolas" pitchFamily="34" charset="-122"/>
                <a:cs typeface="Consolas" pitchFamily="34" charset="-120"/>
              </a:rPr>
              <a:t>// yang memakainya; dibuang saat ditutup.</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builder: (</a:t>
            </a:r>
            <a:r>
              <a:rPr lang="en-US" sz="1300" dirty="0">
                <a:solidFill>
                  <a:srgbClr val="FFCB6B"/>
                </a:solidFill>
                <a:latin typeface="Consolas" pitchFamily="34" charset="0"/>
                <a:ea typeface="Consolas" pitchFamily="34" charset="-122"/>
                <a:cs typeface="Consolas" pitchFamily="34" charset="-120"/>
              </a:rPr>
              <a:t>BuildContext</a:t>
            </a:r>
            <a:r>
              <a:rPr lang="en-US" sz="1300" dirty="0">
                <a:solidFill>
                  <a:srgbClr val="E6EDF3"/>
                </a:solidFill>
                <a:latin typeface="Consolas" pitchFamily="34" charset="0"/>
                <a:ea typeface="Consolas" pitchFamily="34" charset="-122"/>
                <a:cs typeface="Consolas" pitchFamily="34" charset="-120"/>
              </a:rPr>
              <a:t> context) =&gt;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FCB6B"/>
                </a:solidFill>
                <a:latin typeface="Consolas" pitchFamily="34" charset="0"/>
                <a:ea typeface="Consolas" pitchFamily="34" charset="-122"/>
                <a:cs typeface="Consolas" pitchFamily="34" charset="-120"/>
              </a:rPr>
              <a:t>ChangeNotifierProvider</a:t>
            </a: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create: (</a:t>
            </a:r>
            <a:r>
              <a:rPr lang="en-US" sz="1300" dirty="0">
                <a:solidFill>
                  <a:srgbClr val="FFCB6B"/>
                </a:solidFill>
                <a:latin typeface="Consolas" pitchFamily="34" charset="0"/>
                <a:ea typeface="Consolas" pitchFamily="34" charset="-122"/>
                <a:cs typeface="Consolas" pitchFamily="34" charset="-120"/>
              </a:rPr>
              <a:t>BuildContext</a:t>
            </a:r>
            <a:r>
              <a:rPr lang="en-US" sz="1300" dirty="0">
                <a:solidFill>
                  <a:srgbClr val="E6EDF3"/>
                </a:solidFill>
                <a:latin typeface="Consolas" pitchFamily="34" charset="0"/>
                <a:ea typeface="Consolas" pitchFamily="34" charset="-122"/>
                <a:cs typeface="Consolas" pitchFamily="34" charset="-120"/>
              </a:rPr>
              <a:t> context) =&gt;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FCB6B"/>
                </a:solidFill>
                <a:latin typeface="Consolas" pitchFamily="34" charset="0"/>
                <a:ea typeface="Consolas" pitchFamily="34" charset="-122"/>
                <a:cs typeface="Consolas" pitchFamily="34" charset="-120"/>
              </a:rPr>
              <a:t>PendaftaranViewModel</a:t>
            </a:r>
            <a:r>
              <a:rPr lang="en-US" sz="1300" dirty="0">
                <a:solidFill>
                  <a:srgbClr val="E6EDF3"/>
                </a:solidFill>
                <a:latin typeface="Consolas" pitchFamily="34" charset="0"/>
                <a:ea typeface="Consolas" pitchFamily="34" charset="-122"/>
                <a:cs typeface="Consolas" pitchFamily="34" charset="-120"/>
              </a:rPr>
              <a:t>(workshop),</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child: </a:t>
            </a:r>
            <a:r>
              <a:rPr lang="en-US" sz="1300" dirty="0">
                <a:solidFill>
                  <a:srgbClr val="C792EA"/>
                </a:solidFill>
                <a:latin typeface="Consolas" pitchFamily="34" charset="0"/>
                <a:ea typeface="Consolas" pitchFamily="34" charset="-122"/>
                <a:cs typeface="Consolas" pitchFamily="34" charset="-120"/>
              </a:rPr>
              <a:t>const</a:t>
            </a: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FCB6B"/>
                </a:solidFill>
                <a:latin typeface="Consolas" pitchFamily="34" charset="0"/>
                <a:ea typeface="Consolas" pitchFamily="34" charset="-122"/>
                <a:cs typeface="Consolas" pitchFamily="34" charset="-120"/>
              </a:rPr>
              <a:t>HalamanPendaftaran</a:t>
            </a: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endParaRPr lang="en-US" sz="1300" dirty="0"/>
          </a:p>
        </p:txBody>
      </p:sp>
      <p:sp>
        <p:nvSpPr>
          <p:cNvPr id="7" name="tombol tautan">
            <a:hlinkClick r:id="rId2" tooltip="https://github.com/antonprafanto/mobile2026/blob/main/pertemuan_09_state_dan_mvvm/kode/contoh_09_cakupan_provider.dart"/>
          </p:cNvPr>
          <p:cNvSpPr txBox="1"/>
          <p:nvPr/>
        </p:nvSpPr>
        <p:spPr>
          <a:xfrm>
            <a:off x="548640" y="4670298"/>
            <a:ext cx="7608319"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contoh_09_cakupan_provider.dart</a:t>
            </a:r>
            <a:endParaRPr lang="en-US" sz="1300" dirty="0"/>
          </a:p>
        </p:txBody>
      </p:sp>
      <p:pic>
        <p:nvPicPr>
          <p:cNvPr id="8" name="Image 1" descr="ikon tautan">
            <a:hlinkClick r:id="rId4" tooltip="https://github.com/antonprafanto/mobile2026/blob/main/pertemuan_09_state_dan_mvvm/kode/contoh_09_cakupan_provider.dart"/>
          </p:cNvPr>
          <p:cNvPicPr>
            <a:picLocks noChangeAspect="1"/>
          </p:cNvPicPr>
          <p:nvPr/>
        </p:nvPicPr>
        <p:blipFill>
          <a:blip r:embed="rId3"/>
          <a:stretch>
            <a:fillRect/>
          </a:stretch>
        </p:blipFill>
        <p:spPr>
          <a:xfrm>
            <a:off x="694944" y="4761738"/>
            <a:ext cx="274320" cy="274320"/>
          </a:xfrm>
          <a:prstGeom prst="rect">
            <a:avLst/>
          </a:prstGeom>
        </p:spPr>
      </p:pic>
      <p:sp>
        <p:nvSpPr>
          <p:cNvPr id="9" name="daftar poin"/>
          <p:cNvSpPr txBox="1"/>
          <p:nvPr/>
        </p:nvSpPr>
        <p:spPr>
          <a:xfrm>
            <a:off x="548640" y="5401818"/>
            <a:ext cx="7608319" cy="816102"/>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chemeClr val="tx1"/>
                </a:solidFill>
              </a:rPr>
              <a:t>Simpanan di atas MaterialApp: hidup selama aplikasi berjalan.</a:t>
            </a:r>
            <a:endParaRPr lang="en-US" sz="1500" dirty="0"/>
          </a:p>
          <a:p>
            <a:pPr marL="228600" indent="-228600">
              <a:spcAft>
                <a:spcPts val="800"/>
              </a:spcAft>
              <a:buSzPct val="100000"/>
              <a:buChar char="•"/>
            </a:pPr>
            <a:r>
              <a:rPr lang="en-US" sz="1500" dirty="0">
                <a:solidFill>
                  <a:schemeClr val="tx1"/>
                </a:solidFill>
              </a:rPr>
              <a:t>Buka workshop lagi → "ViewModel ke-2", peserta kembali 1, tetapi tetap "Tersimpan".</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Memilih Letak yang Tepat</a:t>
            </a:r>
            <a:endParaRPr lang="en-US" sz="32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2486679"/>
                <a:gridCol w="2582321"/>
                <a:gridCol w="2295396"/>
                <a:gridCol w="3730019"/>
              </a:tblGrid>
              <a:tr h="822960">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Letak provider</a:t>
                      </a:r>
                      <a:endParaRPr lang="en-US" sz="17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Siapa yang bisa memakai</a:t>
                      </a:r>
                      <a:endParaRPr lang="en-US" sz="17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Umur objek</a:t>
                      </a:r>
                      <a:endParaRPr lang="en-US" sz="17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Cocok untuk</a:t>
                      </a:r>
                      <a:endParaRPr lang="en-US" sz="17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822960">
                <a:tc>
                  <a:txBody>
                    <a:bodyPr/>
                    <a:lstStyle/>
                    <a:p>
                      <a:pPr indent="0" marL="0">
                        <a:buNone/>
                      </a:pPr>
                      <a:r>
                        <a:rPr lang="en-US" sz="1700" dirty="0">
                          <a:solidFill>
                            <a:srgbClr val="1B2333"/>
                          </a:solidFill>
                          <a:latin typeface="Calibri" pitchFamily="34" charset="0"/>
                          <a:ea typeface="Calibri" pitchFamily="34" charset="-122"/>
                          <a:cs typeface="Calibri" pitchFamily="34" charset="-120"/>
                        </a:rPr>
                        <a:t>Di atas MaterialApp</a:t>
                      </a:r>
                      <a:endParaRPr lang="en-US" sz="17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700" dirty="0">
                          <a:solidFill>
                            <a:srgbClr val="1B2333"/>
                          </a:solidFill>
                          <a:latin typeface="Calibri" pitchFamily="34" charset="0"/>
                          <a:ea typeface="Calibri" pitchFamily="34" charset="-122"/>
                          <a:cs typeface="Calibri" pitchFamily="34" charset="-120"/>
                        </a:rPr>
                        <a:t>Semua halaman</a:t>
                      </a:r>
                      <a:endParaRPr lang="en-US" sz="17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700" dirty="0">
                          <a:solidFill>
                            <a:srgbClr val="1B2333"/>
                          </a:solidFill>
                          <a:latin typeface="Calibri" pitchFamily="34" charset="0"/>
                          <a:ea typeface="Calibri" pitchFamily="34" charset="-122"/>
                          <a:cs typeface="Calibri" pitchFamily="34" charset="-120"/>
                        </a:rPr>
                        <a:t>Selama aplikasi berjalan</a:t>
                      </a:r>
                      <a:endParaRPr lang="en-US" sz="17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700" dirty="0">
                          <a:solidFill>
                            <a:srgbClr val="1B2333"/>
                          </a:solidFill>
                          <a:latin typeface="Calibri" pitchFamily="34" charset="0"/>
                          <a:ea typeface="Calibri" pitchFamily="34" charset="-122"/>
                          <a:cs typeface="Calibri" pitchFamily="34" charset="-120"/>
                        </a:rPr>
                        <a:t>State aplikasi: keranjang, pengguna, pengaturan, riwayat skor, repository</a:t>
                      </a:r>
                      <a:endParaRPr lang="en-US" sz="17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822960">
                <a:tc>
                  <a:txBody>
                    <a:bodyPr/>
                    <a:lstStyle/>
                    <a:p>
                      <a:pPr indent="0" marL="0">
                        <a:buNone/>
                      </a:pPr>
                      <a:r>
                        <a:rPr lang="en-US" sz="1700" dirty="0">
                          <a:solidFill>
                            <a:srgbClr val="1B2333"/>
                          </a:solidFill>
                          <a:latin typeface="Calibri" pitchFamily="34" charset="0"/>
                          <a:ea typeface="Calibri" pitchFamily="34" charset="-122"/>
                          <a:cs typeface="Calibri" pitchFamily="34" charset="-120"/>
                        </a:rPr>
                        <a:t>Di dalam builder sebuah rute</a:t>
                      </a:r>
                      <a:endParaRPr lang="en-US" sz="17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700" dirty="0">
                          <a:solidFill>
                            <a:srgbClr val="1B2333"/>
                          </a:solidFill>
                          <a:latin typeface="Calibri" pitchFamily="34" charset="0"/>
                          <a:ea typeface="Calibri" pitchFamily="34" charset="-122"/>
                          <a:cs typeface="Calibri" pitchFamily="34" charset="-120"/>
                        </a:rPr>
                        <a:t>Halaman itu dan widget di bawahnya</a:t>
                      </a:r>
                      <a:endParaRPr lang="en-US" sz="17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700" dirty="0">
                          <a:solidFill>
                            <a:srgbClr val="1B2333"/>
                          </a:solidFill>
                          <a:latin typeface="Calibri" pitchFamily="34" charset="0"/>
                          <a:ea typeface="Calibri" pitchFamily="34" charset="-122"/>
                          <a:cs typeface="Calibri" pitchFamily="34" charset="-120"/>
                        </a:rPr>
                        <a:t>Selama halaman itu terbuka</a:t>
                      </a:r>
                      <a:endParaRPr lang="en-US" sz="17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700" dirty="0">
                          <a:solidFill>
                            <a:srgbClr val="1B2333"/>
                          </a:solidFill>
                          <a:latin typeface="Calibri" pitchFamily="34" charset="0"/>
                          <a:ea typeface="Calibri" pitchFamily="34" charset="-122"/>
                          <a:cs typeface="Calibri" pitchFamily="34" charset="-120"/>
                        </a:rPr>
                        <a:t>ViewModel halaman: formulir, jalannya satu kuis, detail satu barang</a:t>
                      </a:r>
                      <a:endParaRPr lang="en-US" sz="17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bl>
          </a:graphicData>
        </a:graphic>
      </p:graphicFrame>
      <p:sp>
        <p:nvSpPr>
          <p:cNvPr id="5" name="lingkaran lampu"/>
          <p:cNvSpPr/>
          <p:nvPr/>
        </p:nvSpPr>
        <p:spPr>
          <a:xfrm>
            <a:off x="548640" y="5486400"/>
            <a:ext cx="502920" cy="502920"/>
          </a:xfrm>
          <a:prstGeom prst="ellipse">
            <a:avLst/>
          </a:prstGeom>
          <a:solidFill>
            <a:schemeClr val="accent3"/>
          </a:solidFill>
          <a:ln/>
        </p:spPr>
      </p:sp>
      <p:pic>
        <p:nvPicPr>
          <p:cNvPr id="6" name="Image 0" descr="lampu">    </p:cNvPr>
          <p:cNvPicPr>
            <a:picLocks noChangeAspect="1"/>
          </p:cNvPicPr>
          <p:nvPr/>
        </p:nvPicPr>
        <p:blipFill>
          <a:blip r:embed="rId1"/>
          <a:stretch>
            <a:fillRect/>
          </a:stretch>
        </p:blipFill>
        <p:spPr>
          <a:xfrm>
            <a:off x="659282" y="5597042"/>
            <a:ext cx="281635" cy="281635"/>
          </a:xfrm>
          <a:prstGeom prst="rect">
            <a:avLst/>
          </a:prstGeom>
        </p:spPr>
      </p:pic>
      <p:sp>
        <p:nvSpPr>
          <p:cNvPr id="7" name="Text 2"/>
          <p:cNvSpPr txBox="1"/>
          <p:nvPr/>
        </p:nvSpPr>
        <p:spPr>
          <a:xfrm>
            <a:off x="1234440" y="5394960"/>
            <a:ext cx="10408615" cy="685800"/>
          </a:xfrm>
          <a:prstGeom prst="rect">
            <a:avLst/>
          </a:prstGeom>
          <a:noFill/>
          <a:ln/>
        </p:spPr>
        <p:txBody>
          <a:bodyPr wrap="square" lIns="0" tIns="0" rIns="0" bIns="0" rtlCol="0" anchor="ctr"/>
          <a:lstStyle/>
          <a:p>
            <a:pPr indent="0" marL="0">
              <a:buNone/>
            </a:pPr>
            <a:r>
              <a:rPr lang="en-US" sz="1600" dirty="0">
                <a:solidFill>
                  <a:schemeClr val="tx1"/>
                </a:solidFill>
              </a:rPr>
              <a:t>Pertanyaan penentunya: apakah datanya harus tetap ada setelah halamannya ditutup?</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Saat Provider Tidak Ditemukan</a:t>
            </a:r>
            <a:endParaRPr lang="en-US" sz="3200" dirty="0"/>
          </a:p>
        </p:txBody>
      </p:sp>
      <p:sp>
        <p:nvSpPr>
          <p:cNvPr id="4" name="Text 1"/>
          <p:cNvSpPr txBox="1"/>
          <p:nvPr/>
        </p:nvSpPr>
        <p:spPr>
          <a:xfrm>
            <a:off x="548640" y="1325880"/>
            <a:ext cx="11094415" cy="502920"/>
          </a:xfrm>
          <a:prstGeom prst="rect">
            <a:avLst/>
          </a:prstGeom>
          <a:noFill/>
          <a:ln/>
        </p:spPr>
        <p:txBody>
          <a:bodyPr wrap="square" lIns="0" tIns="0" rIns="0" bIns="0" rtlCol="0" anchor="ctr"/>
          <a:lstStyle/>
          <a:p>
            <a:pPr indent="0" marL="0">
              <a:buNone/>
            </a:pPr>
            <a:r>
              <a:rPr lang="en-US" sz="1800" dirty="0">
                <a:solidFill>
                  <a:srgbClr val="4A5870"/>
                </a:solidFill>
              </a:rPr>
              <a:t>Error: Could not find the correct Provider&lt;PendaftaranViewModel&gt; above this HalamanRingkasan Widget</a:t>
            </a:r>
            <a:endParaRPr lang="en-US" sz="18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548640" y="1965960"/>
          <a:ext cx="11094415" cy="914400"/>
        </p:xfrm>
        <a:graphic>
          <a:graphicData uri="http://schemas.openxmlformats.org/drawingml/2006/table">
            <a:tbl>
              <a:tblPr/>
              <a:tblGrid>
                <a:gridCol w="5738491"/>
                <a:gridCol w="5355925"/>
              </a:tblGrid>
              <a:tr h="749808">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Penyebab</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Solusi</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749808">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Provider belum dipasang sama sekali</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Pasang di main atau di rute yang tepat</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749808">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Provider baru ditambahkan di main, lalu hanya hot reload</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Hot restart (R besar): hot reload tidak menjalankan ulang main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749808">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Provider dipasang di rute halaman LAIN (halaman hasil push bersaudara, bukan anak)</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Pindahkan ke atas MaterialApp, atau teruskan objeknya dengan .value</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749808">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context berada DI ATAS provider (membaca di build yang sama tempat provider dibuat)</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Pindahkan ke class tersendiri di bawahnya, atau bungkus dengan Consumer</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bl>
          </a:graphicData>
        </a:graphic>
      </p:graphicFrame>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Dua Perbaikan untuk Provider yang Tidak Ditemukan</a:t>
            </a:r>
            <a:endParaRPr lang="en-US" sz="3200" dirty="0"/>
          </a:p>
        </p:txBody>
      </p:sp>
      <p:sp>
        <p:nvSpPr>
          <p:cNvPr id="4" name="kolom 1"/>
          <p:cNvSpPr/>
          <p:nvPr/>
        </p:nvSpPr>
        <p:spPr>
          <a:xfrm>
            <a:off x="548640" y="1371600"/>
            <a:ext cx="5387188" cy="4754880"/>
          </a:xfrm>
          <a:prstGeom prst="roundRect">
            <a:avLst>
              <a:gd name="adj" fmla="val 2308"/>
            </a:avLst>
          </a:prstGeom>
          <a:solidFill>
            <a:schemeClr val="bg2"/>
          </a:solidFill>
          <a:ln/>
        </p:spPr>
      </p:sp>
      <p:sp>
        <p:nvSpPr>
          <p:cNvPr id="5" name="lingkaran pindah"/>
          <p:cNvSpPr/>
          <p:nvPr/>
        </p:nvSpPr>
        <p:spPr>
          <a:xfrm>
            <a:off x="777240" y="1600200"/>
            <a:ext cx="685800" cy="685800"/>
          </a:xfrm>
          <a:prstGeom prst="ellipse">
            <a:avLst/>
          </a:prstGeom>
          <a:solidFill>
            <a:schemeClr val="accent1"/>
          </a:solidFill>
          <a:ln/>
        </p:spPr>
      </p:sp>
      <p:pic>
        <p:nvPicPr>
          <p:cNvPr id="6" name="Image 0" descr="pindah">    </p:cNvPr>
          <p:cNvPicPr>
            <a:picLocks noChangeAspect="1"/>
          </p:cNvPicPr>
          <p:nvPr/>
        </p:nvPicPr>
        <p:blipFill>
          <a:blip r:embed="rId1"/>
          <a:stretch>
            <a:fillRect/>
          </a:stretch>
        </p:blipFill>
        <p:spPr>
          <a:xfrm>
            <a:off x="928116" y="1751076"/>
            <a:ext cx="384048" cy="384048"/>
          </a:xfrm>
          <a:prstGeom prst="rect">
            <a:avLst/>
          </a:prstGeom>
        </p:spPr>
      </p:pic>
      <p:sp>
        <p:nvSpPr>
          <p:cNvPr id="7" name="Text 3"/>
          <p:cNvSpPr txBox="1"/>
          <p:nvPr/>
        </p:nvSpPr>
        <p:spPr>
          <a:xfrm>
            <a:off x="1600200" y="1554480"/>
            <a:ext cx="4198468" cy="777240"/>
          </a:xfrm>
          <a:prstGeom prst="rect">
            <a:avLst/>
          </a:prstGeom>
          <a:noFill/>
          <a:ln/>
        </p:spPr>
        <p:txBody>
          <a:bodyPr wrap="square" lIns="0" tIns="0" rIns="0" bIns="0" rtlCol="0" anchor="ctr"/>
          <a:lstStyle/>
          <a:p>
            <a:pPr indent="0" marL="0">
              <a:buNone/>
            </a:pPr>
            <a:r>
              <a:rPr lang="en-US" sz="1900" b="1" dirty="0">
                <a:solidFill>
                  <a:schemeClr val="tx2"/>
                </a:solidFill>
              </a:rPr>
              <a:t>Meneruskan objek dengan .value</a:t>
            </a:r>
            <a:endParaRPr lang="en-US" sz="1900" dirty="0"/>
          </a:p>
        </p:txBody>
      </p:sp>
      <p:sp>
        <p:nvSpPr>
          <p:cNvPr id="8" name="Text 4"/>
          <p:cNvSpPr txBox="1"/>
          <p:nvPr/>
        </p:nvSpPr>
        <p:spPr>
          <a:xfrm>
            <a:off x="777240" y="2423160"/>
            <a:ext cx="4929988" cy="365760"/>
          </a:xfrm>
          <a:prstGeom prst="rect">
            <a:avLst/>
          </a:prstGeom>
          <a:noFill/>
          <a:ln/>
        </p:spPr>
        <p:txBody>
          <a:bodyPr wrap="square" lIns="0" tIns="0" rIns="0" bIns="0" rtlCol="0" anchor="ctr"/>
          <a:lstStyle/>
          <a:p>
            <a:pPr indent="0" marL="0">
              <a:buNone/>
            </a:pPr>
            <a:r>
              <a:rPr lang="en-US" sz="1400" b="1" dirty="0">
                <a:solidFill>
                  <a:schemeClr val="accent1"/>
                </a:solidFill>
              </a:rPr>
              <a:t>Halaman baru "meminjam" ViewModel yang sudah ada</a:t>
            </a:r>
            <a:endParaRPr lang="en-US" sz="1400" dirty="0"/>
          </a:p>
        </p:txBody>
      </p:sp>
      <p:sp>
        <p:nvSpPr>
          <p:cNvPr id="9" name="daftar poin"/>
          <p:cNvSpPr txBox="1"/>
          <p:nvPr/>
        </p:nvSpPr>
        <p:spPr>
          <a:xfrm>
            <a:off x="777240" y="2926080"/>
            <a:ext cx="4929988" cy="123444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Ambil dengan read, titipkan lagi dengan .value</a:t>
            </a:r>
            <a:endParaRPr lang="en-US" sz="1600" dirty="0"/>
          </a:p>
          <a:p>
            <a:pPr marL="228600" indent="-228600">
              <a:spcAft>
                <a:spcPts val="800"/>
              </a:spcAft>
              <a:buSzPct val="100000"/>
              <a:buChar char="•"/>
            </a:pPr>
            <a:r>
              <a:rPr lang="en-US" sz="1600" dirty="0">
                <a:solidFill>
                  <a:schemeClr val="tx1"/>
                </a:solidFill>
              </a:rPr>
              <a:t>Yang membuang tetap provider pembuatnya</a:t>
            </a:r>
            <a:endParaRPr lang="en-US" sz="1600" dirty="0"/>
          </a:p>
        </p:txBody>
      </p:sp>
      <p:sp>
        <p:nvSpPr>
          <p:cNvPr id="10" name="kotak kode"/>
          <p:cNvSpPr txBox="1"/>
          <p:nvPr/>
        </p:nvSpPr>
        <p:spPr>
          <a:xfrm>
            <a:off x="731520" y="4114800"/>
            <a:ext cx="5021428" cy="1828800"/>
          </a:xfrm>
          <a:prstGeom prst="roundRect">
            <a:avLst>
              <a:gd name="adj" fmla="val 5000"/>
            </a:avLst>
          </a:prstGeom>
          <a:solidFill>
            <a:srgbClr val="0E1A2B"/>
          </a:solidFill>
          <a:ln/>
        </p:spPr>
        <p:txBody>
          <a:bodyPr wrap="square" lIns="177800" tIns="152400" rIns="152400" bIns="177800" rtlCol="0" anchor="t"/>
          <a:lstStyle/>
          <a:p>
            <a:pPr indent="0" marL="0">
              <a:lnSpc>
                <a:spcPct val="105000"/>
              </a:lnSpc>
              <a:buNone/>
            </a:pPr>
            <a:r>
              <a:rPr lang="en-US" sz="1200" dirty="0">
                <a:solidFill>
                  <a:srgbClr val="C792EA"/>
                </a:solidFill>
                <a:latin typeface="Consolas" pitchFamily="34" charset="0"/>
                <a:ea typeface="Consolas" pitchFamily="34" charset="-122"/>
                <a:cs typeface="Consolas" pitchFamily="34" charset="-120"/>
              </a:rPr>
              <a:t>final</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PendaftaranViewModel</a:t>
            </a:r>
            <a:r>
              <a:rPr lang="en-US" sz="1200" dirty="0">
                <a:solidFill>
                  <a:srgbClr val="E6EDF3"/>
                </a:solidFill>
                <a:latin typeface="Consolas" pitchFamily="34" charset="0"/>
                <a:ea typeface="Consolas" pitchFamily="34" charset="-122"/>
                <a:cs typeface="Consolas" pitchFamily="34" charset="-120"/>
              </a:rPr>
              <a:t> vm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context.read&lt;</a:t>
            </a:r>
            <a:r>
              <a:rPr lang="en-US" sz="1200" dirty="0">
                <a:solidFill>
                  <a:srgbClr val="FFCB6B"/>
                </a:solidFill>
                <a:latin typeface="Consolas" pitchFamily="34" charset="0"/>
                <a:ea typeface="Consolas" pitchFamily="34" charset="-122"/>
                <a:cs typeface="Consolas" pitchFamily="34" charset="-120"/>
              </a:rPr>
              <a:t>PendaftaranViewModel</a:t>
            </a:r>
            <a:r>
              <a:rPr lang="en-US" sz="1200" dirty="0">
                <a:solidFill>
                  <a:srgbClr val="E6EDF3"/>
                </a:solidFill>
                <a:latin typeface="Consolas" pitchFamily="34" charset="0"/>
                <a:ea typeface="Consolas" pitchFamily="34" charset="-122"/>
                <a:cs typeface="Consolas" pitchFamily="34" charset="-120"/>
              </a:rPr>
              <a:t>&gt;();</a:t>
            </a:r>
            <a:endParaRPr lang="en-US" sz="1200" dirty="0"/>
          </a:p>
          <a:p>
            <a:pPr indent="0" marL="0">
              <a:lnSpc>
                <a:spcPct val="105000"/>
              </a:lnSpc>
              <a:buNone/>
            </a:pPr>
            <a:r>
              <a:rPr lang="en-US" sz="1200" i="1" dirty="0">
                <a:solidFill>
                  <a:srgbClr val="8FA3BC"/>
                </a:solidFill>
                <a:latin typeface="Consolas" pitchFamily="34" charset="0"/>
                <a:ea typeface="Consolas" pitchFamily="34" charset="-122"/>
                <a:cs typeface="Consolas" pitchFamily="34" charset="-120"/>
              </a:rPr>
              <a:t>// di builder rute baru:</a:t>
            </a:r>
            <a:endParaRPr lang="en-US" sz="1200" dirty="0"/>
          </a:p>
          <a:p>
            <a:pPr indent="0" marL="0">
              <a:lnSpc>
                <a:spcPct val="105000"/>
              </a:lnSpc>
              <a:buNone/>
            </a:pPr>
            <a:r>
              <a:rPr lang="en-US" sz="1200" dirty="0">
                <a:solidFill>
                  <a:srgbClr val="FFCB6B"/>
                </a:solidFill>
                <a:latin typeface="Consolas" pitchFamily="34" charset="0"/>
                <a:ea typeface="Consolas" pitchFamily="34" charset="-122"/>
                <a:cs typeface="Consolas" pitchFamily="34" charset="-120"/>
              </a:rPr>
              <a:t>ChangeNotifierProvider</a:t>
            </a:r>
            <a:r>
              <a:rPr lang="en-US" sz="1200" dirty="0">
                <a:solidFill>
                  <a:srgbClr val="E6EDF3"/>
                </a:solidFill>
                <a:latin typeface="Consolas" pitchFamily="34" charset="0"/>
                <a:ea typeface="Consolas" pitchFamily="34" charset="-122"/>
                <a:cs typeface="Consolas" pitchFamily="34" charset="-120"/>
              </a:rPr>
              <a:t>.value(</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value: vm, </a:t>
            </a:r>
            <a:r>
              <a:rPr lang="en-US" sz="1200" i="1" dirty="0">
                <a:solidFill>
                  <a:srgbClr val="8FA3BC"/>
                </a:solidFill>
                <a:latin typeface="Consolas" pitchFamily="34" charset="0"/>
                <a:ea typeface="Consolas" pitchFamily="34" charset="-122"/>
                <a:cs typeface="Consolas" pitchFamily="34" charset="-120"/>
              </a:rPr>
              <a:t>// objek yang SUDAH ADA</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child: </a:t>
            </a:r>
            <a:r>
              <a:rPr lang="en-US" sz="1200" dirty="0">
                <a:solidFill>
                  <a:srgbClr val="C792EA"/>
                </a:solidFill>
                <a:latin typeface="Consolas" pitchFamily="34" charset="0"/>
                <a:ea typeface="Consolas" pitchFamily="34" charset="-122"/>
                <a:cs typeface="Consolas" pitchFamily="34" charset="-120"/>
              </a:rPr>
              <a:t>const</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HalamanRingkasan</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a:t>
            </a:r>
            <a:endParaRPr lang="en-US" sz="1200" dirty="0"/>
          </a:p>
        </p:txBody>
      </p:sp>
      <p:sp>
        <p:nvSpPr>
          <p:cNvPr id="11" name="kolom 2"/>
          <p:cNvSpPr/>
          <p:nvPr/>
        </p:nvSpPr>
        <p:spPr>
          <a:xfrm>
            <a:off x="6255868" y="1371600"/>
            <a:ext cx="5387188" cy="4754880"/>
          </a:xfrm>
          <a:prstGeom prst="roundRect">
            <a:avLst>
              <a:gd name="adj" fmla="val 2308"/>
            </a:avLst>
          </a:prstGeom>
          <a:solidFill>
            <a:schemeClr val="bg2"/>
          </a:solidFill>
          <a:ln/>
        </p:spPr>
      </p:sp>
      <p:sp>
        <p:nvSpPr>
          <p:cNvPr id="12" name="lingkaran widget"/>
          <p:cNvSpPr/>
          <p:nvPr/>
        </p:nvSpPr>
        <p:spPr>
          <a:xfrm>
            <a:off x="6484468" y="1600200"/>
            <a:ext cx="685800" cy="685800"/>
          </a:xfrm>
          <a:prstGeom prst="ellipse">
            <a:avLst/>
          </a:prstGeom>
          <a:solidFill>
            <a:schemeClr val="accent6"/>
          </a:solidFill>
          <a:ln/>
        </p:spPr>
      </p:sp>
      <p:pic>
        <p:nvPicPr>
          <p:cNvPr id="13" name="Image 1" descr="widget">    </p:cNvPr>
          <p:cNvPicPr>
            <a:picLocks noChangeAspect="1"/>
          </p:cNvPicPr>
          <p:nvPr/>
        </p:nvPicPr>
        <p:blipFill>
          <a:blip r:embed="rId2"/>
          <a:stretch>
            <a:fillRect/>
          </a:stretch>
        </p:blipFill>
        <p:spPr>
          <a:xfrm>
            <a:off x="6635344" y="1751076"/>
            <a:ext cx="384048" cy="384048"/>
          </a:xfrm>
          <a:prstGeom prst="rect">
            <a:avLst/>
          </a:prstGeom>
        </p:spPr>
      </p:pic>
      <p:sp>
        <p:nvSpPr>
          <p:cNvPr id="14" name="Text 9"/>
          <p:cNvSpPr txBox="1"/>
          <p:nvPr/>
        </p:nvSpPr>
        <p:spPr>
          <a:xfrm>
            <a:off x="7307428" y="1554480"/>
            <a:ext cx="4198468" cy="777240"/>
          </a:xfrm>
          <a:prstGeom prst="rect">
            <a:avLst/>
          </a:prstGeom>
          <a:noFill/>
          <a:ln/>
        </p:spPr>
        <p:txBody>
          <a:bodyPr wrap="square" lIns="0" tIns="0" rIns="0" bIns="0" rtlCol="0" anchor="ctr"/>
          <a:lstStyle/>
          <a:p>
            <a:pPr indent="0" marL="0">
              <a:buNone/>
            </a:pPr>
            <a:r>
              <a:rPr lang="en-US" sz="1900" b="1" dirty="0">
                <a:solidFill>
                  <a:schemeClr val="tx2"/>
                </a:solidFill>
              </a:rPr>
              <a:t>context di bawah provider</a:t>
            </a:r>
            <a:endParaRPr lang="en-US" sz="1900" dirty="0"/>
          </a:p>
        </p:txBody>
      </p:sp>
      <p:sp>
        <p:nvSpPr>
          <p:cNvPr id="15" name="Text 10"/>
          <p:cNvSpPr txBox="1"/>
          <p:nvPr/>
        </p:nvSpPr>
        <p:spPr>
          <a:xfrm>
            <a:off x="6484468" y="2423160"/>
            <a:ext cx="4929988" cy="365760"/>
          </a:xfrm>
          <a:prstGeom prst="rect">
            <a:avLst/>
          </a:prstGeom>
          <a:noFill/>
          <a:ln/>
        </p:spPr>
        <p:txBody>
          <a:bodyPr wrap="square" lIns="0" tIns="0" rIns="0" bIns="0" rtlCol="0" anchor="ctr"/>
          <a:lstStyle/>
          <a:p>
            <a:pPr indent="0" marL="0">
              <a:buNone/>
            </a:pPr>
            <a:r>
              <a:rPr lang="en-US" sz="1400" b="1" dirty="0">
                <a:solidFill>
                  <a:schemeClr val="accent6"/>
                </a:solidFill>
              </a:rPr>
              <a:t>Consumer punya context sendiri</a:t>
            </a:r>
            <a:endParaRPr lang="en-US" sz="1400" dirty="0"/>
          </a:p>
        </p:txBody>
      </p:sp>
      <p:sp>
        <p:nvSpPr>
          <p:cNvPr id="16" name="daftar poin"/>
          <p:cNvSpPr txBox="1"/>
          <p:nvPr/>
        </p:nvSpPr>
        <p:spPr>
          <a:xfrm>
            <a:off x="6484468" y="2926080"/>
            <a:ext cx="4929988" cy="795528"/>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SALAH: context.watch&lt;Keranjang&gt;() di build yang sama dengan ChangeNotifierProvider-nya</a:t>
            </a:r>
            <a:endParaRPr lang="en-US" sz="1600" dirty="0"/>
          </a:p>
        </p:txBody>
      </p:sp>
      <p:sp>
        <p:nvSpPr>
          <p:cNvPr id="17" name="kotak kode"/>
          <p:cNvSpPr txBox="1"/>
          <p:nvPr/>
        </p:nvSpPr>
        <p:spPr>
          <a:xfrm>
            <a:off x="6438748" y="3675888"/>
            <a:ext cx="5021428" cy="2267712"/>
          </a:xfrm>
          <a:prstGeom prst="roundRect">
            <a:avLst>
              <a:gd name="adj" fmla="val 4032"/>
            </a:avLst>
          </a:prstGeom>
          <a:solidFill>
            <a:srgbClr val="0E1A2B"/>
          </a:solidFill>
          <a:ln/>
        </p:spPr>
        <p:txBody>
          <a:bodyPr wrap="square" lIns="177800" tIns="152400" rIns="152400" bIns="177800" rtlCol="0" anchor="t"/>
          <a:lstStyle/>
          <a:p>
            <a:pPr indent="0" marL="0">
              <a:lnSpc>
                <a:spcPct val="105000"/>
              </a:lnSpc>
              <a:buNone/>
            </a:pPr>
            <a:r>
              <a:rPr lang="en-US" sz="1200" dirty="0">
                <a:solidFill>
                  <a:srgbClr val="FFCB6B"/>
                </a:solidFill>
                <a:latin typeface="Consolas" pitchFamily="34" charset="0"/>
                <a:ea typeface="Consolas" pitchFamily="34" charset="-122"/>
                <a:cs typeface="Consolas" pitchFamily="34" charset="-120"/>
              </a:rPr>
              <a:t>ChangeNotifierProvider</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create: (</a:t>
            </a:r>
            <a:r>
              <a:rPr lang="en-US" sz="1200" dirty="0">
                <a:solidFill>
                  <a:srgbClr val="FFCB6B"/>
                </a:solidFill>
                <a:latin typeface="Consolas" pitchFamily="34" charset="0"/>
                <a:ea typeface="Consolas" pitchFamily="34" charset="-122"/>
                <a:cs typeface="Consolas" pitchFamily="34" charset="-120"/>
              </a:rPr>
              <a:t>BuildContext</a:t>
            </a:r>
            <a:r>
              <a:rPr lang="en-US" sz="1200" dirty="0">
                <a:solidFill>
                  <a:srgbClr val="E6EDF3"/>
                </a:solidFill>
                <a:latin typeface="Consolas" pitchFamily="34" charset="0"/>
                <a:ea typeface="Consolas" pitchFamily="34" charset="-122"/>
                <a:cs typeface="Consolas" pitchFamily="34" charset="-120"/>
              </a:rPr>
              <a:t> context) =&gt; </a:t>
            </a:r>
            <a:r>
              <a:rPr lang="en-US" sz="1200" dirty="0">
                <a:solidFill>
                  <a:srgbClr val="FFCB6B"/>
                </a:solidFill>
                <a:latin typeface="Consolas" pitchFamily="34" charset="0"/>
                <a:ea typeface="Consolas" pitchFamily="34" charset="-122"/>
                <a:cs typeface="Consolas" pitchFamily="34" charset="-120"/>
              </a:rPr>
              <a:t>Keranjang</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child: </a:t>
            </a:r>
            <a:r>
              <a:rPr lang="en-US" sz="1200" dirty="0">
                <a:solidFill>
                  <a:srgbClr val="FFCB6B"/>
                </a:solidFill>
                <a:latin typeface="Consolas" pitchFamily="34" charset="0"/>
                <a:ea typeface="Consolas" pitchFamily="34" charset="-122"/>
                <a:cs typeface="Consolas" pitchFamily="34" charset="-120"/>
              </a:rPr>
              <a:t>Consumer</a:t>
            </a:r>
            <a:r>
              <a:rPr lang="en-US" sz="1200" dirty="0">
                <a:solidFill>
                  <a:srgbClr val="E6EDF3"/>
                </a:solidFill>
                <a:latin typeface="Consolas" pitchFamily="34" charset="0"/>
                <a:ea typeface="Consolas" pitchFamily="34" charset="-122"/>
                <a:cs typeface="Consolas" pitchFamily="34" charset="-120"/>
              </a:rPr>
              <a:t>&lt;</a:t>
            </a:r>
            <a:r>
              <a:rPr lang="en-US" sz="1200" dirty="0">
                <a:solidFill>
                  <a:srgbClr val="FFCB6B"/>
                </a:solidFill>
                <a:latin typeface="Consolas" pitchFamily="34" charset="0"/>
                <a:ea typeface="Consolas" pitchFamily="34" charset="-122"/>
                <a:cs typeface="Consolas" pitchFamily="34" charset="-120"/>
              </a:rPr>
              <a:t>Keranjang</a:t>
            </a:r>
            <a:r>
              <a:rPr lang="en-US" sz="1200" dirty="0">
                <a:solidFill>
                  <a:srgbClr val="E6EDF3"/>
                </a:solidFill>
                <a:latin typeface="Consolas" pitchFamily="34" charset="0"/>
                <a:ea typeface="Consolas" pitchFamily="34" charset="-122"/>
                <a:cs typeface="Consolas" pitchFamily="34" charset="-120"/>
              </a:rPr>
              <a:t>&gt;(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builder: (</a:t>
            </a:r>
            <a:r>
              <a:rPr lang="en-US" sz="1200" dirty="0">
                <a:solidFill>
                  <a:srgbClr val="FFCB6B"/>
                </a:solidFill>
                <a:latin typeface="Consolas" pitchFamily="34" charset="0"/>
                <a:ea typeface="Consolas" pitchFamily="34" charset="-122"/>
                <a:cs typeface="Consolas" pitchFamily="34" charset="-120"/>
              </a:rPr>
              <a:t>BuildContext</a:t>
            </a:r>
            <a:r>
              <a:rPr lang="en-US" sz="1200" dirty="0">
                <a:solidFill>
                  <a:srgbClr val="E6EDF3"/>
                </a:solidFill>
                <a:latin typeface="Consolas" pitchFamily="34" charset="0"/>
                <a:ea typeface="Consolas" pitchFamily="34" charset="-122"/>
                <a:cs typeface="Consolas" pitchFamily="34" charset="-120"/>
              </a:rPr>
              <a:t> context,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Keranjang</a:t>
            </a:r>
            <a:r>
              <a:rPr lang="en-US" sz="1200" dirty="0">
                <a:solidFill>
                  <a:srgbClr val="E6EDF3"/>
                </a:solidFill>
                <a:latin typeface="Consolas" pitchFamily="34" charset="0"/>
                <a:ea typeface="Consolas" pitchFamily="34" charset="-122"/>
                <a:cs typeface="Consolas" pitchFamily="34" charset="-120"/>
              </a:rPr>
              <a:t> keranjang, </a:t>
            </a:r>
            <a:r>
              <a:rPr lang="en-US" sz="1200" dirty="0">
                <a:solidFill>
                  <a:srgbClr val="FFCB6B"/>
                </a:solidFill>
                <a:latin typeface="Consolas" pitchFamily="34" charset="0"/>
                <a:ea typeface="Consolas" pitchFamily="34" charset="-122"/>
                <a:cs typeface="Consolas" pitchFamily="34" charset="-120"/>
              </a:rPr>
              <a:t>Widget</a:t>
            </a:r>
            <a:r>
              <a:rPr lang="en-US" sz="1200" dirty="0">
                <a:solidFill>
                  <a:srgbClr val="E6EDF3"/>
                </a:solidFill>
                <a:latin typeface="Consolas" pitchFamily="34" charset="0"/>
                <a:ea typeface="Consolas" pitchFamily="34" charset="-122"/>
                <a:cs typeface="Consolas" pitchFamily="34" charset="-120"/>
              </a:rPr>
              <a:t>? child)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return</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Text</a:t>
            </a:r>
            <a:r>
              <a:rPr lang="en-US" sz="1200" dirty="0">
                <a:solidFill>
                  <a:srgbClr val="E6EDF3"/>
                </a:solidFill>
                <a:latin typeface="Consolas" pitchFamily="34" charset="0"/>
                <a:ea typeface="Consolas" pitchFamily="34" charset="-122"/>
                <a:cs typeface="Consolas" pitchFamily="34" charset="-120"/>
              </a:rPr>
              <a:t>(</a:t>
            </a:r>
            <a:r>
              <a:rPr lang="en-US" sz="1200" dirty="0">
                <a:solidFill>
                  <a:srgbClr val="C3E88D"/>
                </a:solidFill>
                <a:latin typeface="Consolas" pitchFamily="34" charset="0"/>
                <a:ea typeface="Consolas" pitchFamily="34" charset="-122"/>
                <a:cs typeface="Consolas" pitchFamily="34" charset="-120"/>
              </a:rPr>
              <a:t>'${keranjang.jumlah} barang'</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a:t>
            </a:r>
            <a:endParaRPr lang="en-US" sz="12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3" name="Text 1"/>
          <p:cNvSpPr/>
          <p:nvPr>
            <p:ph idx="101" type="body" hasCustomPrompt="1"/>
          </p:nvPr>
        </p:nvSpPr>
        <p:spPr>
          <a:xfrm>
            <a:off x="3840480" y="2103120"/>
            <a:ext cx="7680960" cy="457200"/>
          </a:xfrm>
          <a:prstGeom prst="rect">
            <a:avLst/>
          </a:prstGeom>
          <a:noFill/>
          <a:ln/>
        </p:spPr>
        <p:txBody>
          <a:bodyPr wrap="square" lIns="0" tIns="0" rIns="0" bIns="0" rtlCol="0"/>
          <a:lstStyle/>
          <a:p>
            <a:pPr indent="0" marL="0">
              <a:buNone/>
            </a:pPr>
            <a:r>
              <a:rPr lang="en-US" sz="1800" b="1" spc="200" kern="0" dirty="0">
                <a:solidFill>
                  <a:schemeClr val="accent2"/>
                </a:solidFill>
              </a:rPr>
              <a:t>BAGIAN 7</a:t>
            </a:r>
            <a:endParaRPr lang="en-US" sz="1800" dirty="0"/>
          </a:p>
        </p:txBody>
      </p:sp>
      <p:sp>
        <p:nvSpPr>
          <p:cNvPr id="4" name="Text 1"/>
          <p:cNvSpPr/>
          <p:nvPr>
            <p:ph idx="102" type="title" hasCustomPrompt="1"/>
          </p:nvPr>
        </p:nvSpPr>
        <p:spPr>
          <a:xfrm>
            <a:off x="3840480" y="2606040"/>
            <a:ext cx="7680960" cy="1737360"/>
          </a:xfrm>
          <a:prstGeom prst="rect">
            <a:avLst/>
          </a:prstGeom>
          <a:noFill/>
          <a:ln/>
        </p:spPr>
        <p:txBody>
          <a:bodyPr wrap="square" lIns="0" tIns="0" rIns="0" bIns="0" rtlCol="0" anchor="t"/>
          <a:lstStyle/>
          <a:p>
            <a:pPr algn="l" indent="0" marL="0">
              <a:buNone/>
            </a:pPr>
            <a:r>
              <a:rPr lang="en-US" sz="4000" b="1" dirty="0">
                <a:solidFill>
                  <a:schemeClr val="bg1"/>
                </a:solidFill>
              </a:rPr>
              <a:t>Menguji ViewModel dan Menata Folder</a:t>
            </a:r>
            <a:endParaRPr lang="en-US" sz="4000" dirty="0"/>
          </a:p>
        </p:txBody>
      </p:sp>
      <p:sp>
        <p:nvSpPr>
          <p:cNvPr id="5" name="lingkaran uji"/>
          <p:cNvSpPr/>
          <p:nvPr/>
        </p:nvSpPr>
        <p:spPr>
          <a:xfrm>
            <a:off x="1097280" y="2148840"/>
            <a:ext cx="2011680" cy="2011680"/>
          </a:xfrm>
          <a:prstGeom prst="ellipse">
            <a:avLst/>
          </a:prstGeom>
          <a:solidFill>
            <a:schemeClr val="accent1"/>
          </a:solidFill>
          <a:ln/>
        </p:spPr>
      </p:sp>
      <p:pic>
        <p:nvPicPr>
          <p:cNvPr id="6" name="Image 0" descr="uji">    </p:cNvPr>
          <p:cNvPicPr>
            <a:picLocks noChangeAspect="1"/>
          </p:cNvPicPr>
          <p:nvPr/>
        </p:nvPicPr>
        <p:blipFill>
          <a:blip r:embed="rId1"/>
          <a:stretch>
            <a:fillRect/>
          </a:stretch>
        </p:blipFill>
        <p:spPr>
          <a:xfrm>
            <a:off x="1539850" y="2591410"/>
            <a:ext cx="1126541" cy="1126541"/>
          </a:xfrm>
          <a:prstGeom prst="rect">
            <a:avLst/>
          </a:prstGeom>
        </p:spPr>
      </p:pic>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Pola Siapkan–Lakukan–Periksa</a:t>
            </a:r>
            <a:endParaRPr lang="en-US" sz="3200" dirty="0"/>
          </a:p>
        </p:txBody>
      </p:sp>
      <p:sp>
        <p:nvSpPr>
          <p:cNvPr id="4" name="kotak kode"/>
          <p:cNvSpPr txBox="1"/>
          <p:nvPr/>
        </p:nvSpPr>
        <p:spPr>
          <a:xfrm>
            <a:off x="548640" y="1371600"/>
            <a:ext cx="6400800" cy="3547872"/>
          </a:xfrm>
          <a:prstGeom prst="roundRect">
            <a:avLst>
              <a:gd name="adj" fmla="val 2577"/>
            </a:avLst>
          </a:prstGeom>
          <a:solidFill>
            <a:srgbClr val="0E1A2B"/>
          </a:solidFill>
          <a:ln/>
        </p:spPr>
        <p:txBody>
          <a:bodyPr wrap="square" lIns="177800" tIns="152400" rIns="152400" bIns="177800" rtlCol="0" anchor="t"/>
          <a:lstStyle/>
          <a:p>
            <a:pPr indent="0" marL="0">
              <a:lnSpc>
                <a:spcPct val="105000"/>
              </a:lnSpc>
              <a:buNone/>
            </a:pPr>
            <a:r>
              <a:rPr lang="en-US" sz="1400" i="1" dirty="0">
                <a:solidFill>
                  <a:srgbClr val="8FA3BC"/>
                </a:solidFill>
                <a:latin typeface="Consolas" pitchFamily="34" charset="0"/>
                <a:ea typeface="Consolas" pitchFamily="34" charset="-122"/>
                <a:cs typeface="Consolas" pitchFamily="34" charset="-120"/>
              </a:rPr>
              <a:t>// SIAPKAN dan LAKUKAN</a:t>
            </a:r>
            <a:endParaRPr lang="en-US" sz="1400" dirty="0"/>
          </a:p>
          <a:p>
            <a:pPr indent="0" marL="0">
              <a:lnSpc>
                <a:spcPct val="105000"/>
              </a:lnSpc>
              <a:buNone/>
            </a:pPr>
            <a:r>
              <a:rPr lang="en-US" sz="1400" dirty="0">
                <a:solidFill>
                  <a:srgbClr val="C792EA"/>
                </a:solidFill>
                <a:latin typeface="Consolas" pitchFamily="34" charset="0"/>
                <a:ea typeface="Consolas" pitchFamily="34" charset="-122"/>
                <a:cs typeface="Consolas" pitchFamily="34" charset="-120"/>
              </a:rPr>
              <a:t>final</a:t>
            </a:r>
            <a:r>
              <a:rPr lang="en-US" sz="1400" dirty="0">
                <a:solidFill>
                  <a:srgbClr val="E6EDF3"/>
                </a:solidFill>
                <a:latin typeface="Consolas" pitchFamily="34" charset="0"/>
                <a:ea typeface="Consolas" pitchFamily="34" charset="-122"/>
                <a:cs typeface="Consolas" pitchFamily="34" charset="-120"/>
              </a:rPr>
              <a:t> </a:t>
            </a:r>
            <a:r>
              <a:rPr lang="en-US" sz="1400" dirty="0">
                <a:solidFill>
                  <a:srgbClr val="FFCB6B"/>
                </a:solidFill>
                <a:latin typeface="Consolas" pitchFamily="34" charset="0"/>
                <a:ea typeface="Consolas" pitchFamily="34" charset="-122"/>
                <a:cs typeface="Consolas" pitchFamily="34" charset="-120"/>
              </a:rPr>
              <a:t>KeranjangViewModel</a:t>
            </a:r>
            <a:r>
              <a:rPr lang="en-US" sz="1400" dirty="0">
                <a:solidFill>
                  <a:srgbClr val="E6EDF3"/>
                </a:solidFill>
                <a:latin typeface="Consolas" pitchFamily="34" charset="0"/>
                <a:ea typeface="Consolas" pitchFamily="34" charset="-122"/>
                <a:cs typeface="Consolas" pitchFamily="34" charset="-120"/>
              </a:rPr>
              <a:t> kopi = </a:t>
            </a:r>
            <a:r>
              <a:rPr lang="en-US" sz="1400" dirty="0">
                <a:solidFill>
                  <a:srgbClr val="FFCB6B"/>
                </a:solidFill>
                <a:latin typeface="Consolas" pitchFamily="34" charset="0"/>
                <a:ea typeface="Consolas" pitchFamily="34" charset="-122"/>
                <a:cs typeface="Consolas" pitchFamily="34" charset="-120"/>
              </a:rPr>
              <a:t>KeranjangViewModel</a:t>
            </a:r>
            <a:r>
              <a:rPr lang="en-US" sz="1400" dirty="0">
                <a:solidFill>
                  <a:srgbClr val="E6EDF3"/>
                </a:solidFill>
                <a:latin typeface="Consolas" pitchFamily="34" charset="0"/>
                <a:ea typeface="Consolas" pitchFamily="34" charset="-122"/>
                <a:cs typeface="Consolas" pitchFamily="34" charset="-120"/>
              </a:rPr>
              <a:t>()</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..tambah(</a:t>
            </a:r>
            <a:r>
              <a:rPr lang="en-US" sz="1400" dirty="0">
                <a:solidFill>
                  <a:srgbClr val="C3E88D"/>
                </a:solidFill>
                <a:latin typeface="Consolas" pitchFamily="34" charset="0"/>
                <a:ea typeface="Consolas" pitchFamily="34" charset="-122"/>
                <a:cs typeface="Consolas" pitchFamily="34" charset="-120"/>
              </a:rPr>
              <a:t>'Kopi'</a:t>
            </a:r>
            <a:r>
              <a:rPr lang="en-US" sz="1400" dirty="0">
                <a:solidFill>
                  <a:srgbClr val="E6EDF3"/>
                </a:solidFill>
                <a:latin typeface="Consolas" pitchFamily="34" charset="0"/>
                <a:ea typeface="Consolas" pitchFamily="34" charset="-122"/>
                <a:cs typeface="Consolas" pitchFamily="34" charset="-120"/>
              </a:rPr>
              <a:t>, </a:t>
            </a:r>
            <a:r>
              <a:rPr lang="en-US" sz="1400" dirty="0">
                <a:solidFill>
                  <a:srgbClr val="F78C6C"/>
                </a:solidFill>
                <a:latin typeface="Consolas" pitchFamily="34" charset="0"/>
                <a:ea typeface="Consolas" pitchFamily="34" charset="-122"/>
                <a:cs typeface="Consolas" pitchFamily="34" charset="-120"/>
              </a:rPr>
              <a:t>15000</a:t>
            </a:r>
            <a:r>
              <a:rPr lang="en-US" sz="1400" dirty="0">
                <a:solidFill>
                  <a:srgbClr val="E6EDF3"/>
                </a:solidFill>
                <a:latin typeface="Consolas" pitchFamily="34" charset="0"/>
                <a:ea typeface="Consolas" pitchFamily="34" charset="-122"/>
                <a:cs typeface="Consolas" pitchFamily="34" charset="-120"/>
              </a:rPr>
              <a:t>)</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..tambah(</a:t>
            </a:r>
            <a:r>
              <a:rPr lang="en-US" sz="1400" dirty="0">
                <a:solidFill>
                  <a:srgbClr val="C3E88D"/>
                </a:solidFill>
                <a:latin typeface="Consolas" pitchFamily="34" charset="0"/>
                <a:ea typeface="Consolas" pitchFamily="34" charset="-122"/>
                <a:cs typeface="Consolas" pitchFamily="34" charset="-120"/>
              </a:rPr>
              <a:t>'Kopi'</a:t>
            </a:r>
            <a:r>
              <a:rPr lang="en-US" sz="1400" dirty="0">
                <a:solidFill>
                  <a:srgbClr val="E6EDF3"/>
                </a:solidFill>
                <a:latin typeface="Consolas" pitchFamily="34" charset="0"/>
                <a:ea typeface="Consolas" pitchFamily="34" charset="-122"/>
                <a:cs typeface="Consolas" pitchFamily="34" charset="-120"/>
              </a:rPr>
              <a:t>, </a:t>
            </a:r>
            <a:r>
              <a:rPr lang="en-US" sz="1400" dirty="0">
                <a:solidFill>
                  <a:srgbClr val="F78C6C"/>
                </a:solidFill>
                <a:latin typeface="Consolas" pitchFamily="34" charset="0"/>
                <a:ea typeface="Consolas" pitchFamily="34" charset="-122"/>
                <a:cs typeface="Consolas" pitchFamily="34" charset="-120"/>
              </a:rPr>
              <a:t>15000</a:t>
            </a:r>
            <a:r>
              <a:rPr lang="en-US" sz="1400" dirty="0">
                <a:solidFill>
                  <a:srgbClr val="E6EDF3"/>
                </a:solidFill>
                <a:latin typeface="Consolas" pitchFamily="34" charset="0"/>
                <a:ea typeface="Consolas" pitchFamily="34" charset="-122"/>
                <a:cs typeface="Consolas" pitchFamily="34" charset="-120"/>
              </a:rPr>
              <a:t>);</a:t>
            </a:r>
            <a:endParaRPr lang="en-US" sz="1400" dirty="0"/>
          </a:p>
          <a:p>
            <a:pPr indent="0" marL="0">
              <a:lnSpc>
                <a:spcPct val="105000"/>
              </a:lnSpc>
              <a:buNone/>
            </a:pPr>
            <a:r>
              <a:rPr lang="en-US" sz="1400" i="1" dirty="0">
                <a:solidFill>
                  <a:srgbClr val="8FA3BC"/>
                </a:solidFill>
                <a:latin typeface="Consolas" pitchFamily="34" charset="0"/>
                <a:ea typeface="Consolas" pitchFamily="34" charset="-122"/>
                <a:cs typeface="Consolas" pitchFamily="34" charset="-120"/>
              </a:rPr>
              <a:t>// PERIKSA</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hasil.add(periksa(</a:t>
            </a:r>
            <a:r>
              <a:rPr lang="en-US" sz="1400" dirty="0">
                <a:solidFill>
                  <a:srgbClr val="C3E88D"/>
                </a:solidFill>
                <a:latin typeface="Consolas" pitchFamily="34" charset="0"/>
                <a:ea typeface="Consolas" pitchFamily="34" charset="-122"/>
                <a:cs typeface="Consolas" pitchFamily="34" charset="-120"/>
              </a:rPr>
              <a:t>'Total 2 kopi'</a:t>
            </a:r>
            <a:r>
              <a:rPr lang="en-US" sz="1400" dirty="0">
                <a:solidFill>
                  <a:srgbClr val="E6EDF3"/>
                </a:solidFill>
                <a:latin typeface="Consolas" pitchFamily="34" charset="0"/>
                <a:ea typeface="Consolas" pitchFamily="34" charset="-122"/>
                <a:cs typeface="Consolas" pitchFamily="34" charset="-120"/>
              </a:rPr>
              <a:t>, kopi.total, </a:t>
            </a:r>
            <a:r>
              <a:rPr lang="en-US" sz="1400" dirty="0">
                <a:solidFill>
                  <a:srgbClr val="F78C6C"/>
                </a:solidFill>
                <a:latin typeface="Consolas" pitchFamily="34" charset="0"/>
                <a:ea typeface="Consolas" pitchFamily="34" charset="-122"/>
                <a:cs typeface="Consolas" pitchFamily="34" charset="-120"/>
              </a:rPr>
              <a:t>30000</a:t>
            </a:r>
            <a:r>
              <a:rPr lang="en-US" sz="1400" dirty="0">
                <a:solidFill>
                  <a:srgbClr val="E6EDF3"/>
                </a:solidFill>
                <a:latin typeface="Consolas" pitchFamily="34" charset="0"/>
                <a:ea typeface="Consolas" pitchFamily="34" charset="-122"/>
                <a:cs typeface="Consolas" pitchFamily="34" charset="-120"/>
              </a:rPr>
              <a:t>));</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a:t>
            </a:r>
            <a:endParaRPr lang="en-US" sz="1400" dirty="0"/>
          </a:p>
          <a:p>
            <a:pPr indent="0" marL="0">
              <a:lnSpc>
                <a:spcPct val="105000"/>
              </a:lnSpc>
              <a:buNone/>
            </a:pPr>
            <a:r>
              <a:rPr lang="en-US" sz="1400" i="1" dirty="0">
                <a:solidFill>
                  <a:srgbClr val="8FA3BC"/>
                </a:solidFill>
                <a:latin typeface="Consolas" pitchFamily="34" charset="0"/>
                <a:ea typeface="Consolas" pitchFamily="34" charset="-122"/>
                <a:cs typeface="Consolas" pitchFamily="34" charset="-120"/>
              </a:rPr>
              <a:t>// Memeriksa kapan notifyListeners() dipanggil</a:t>
            </a:r>
            <a:endParaRPr lang="en-US" sz="1400" dirty="0"/>
          </a:p>
          <a:p>
            <a:pPr indent="0" marL="0">
              <a:lnSpc>
                <a:spcPct val="105000"/>
              </a:lnSpc>
              <a:buNone/>
            </a:pPr>
            <a:r>
              <a:rPr lang="en-US" sz="1400" dirty="0">
                <a:solidFill>
                  <a:srgbClr val="C792EA"/>
                </a:solidFill>
                <a:latin typeface="Consolas" pitchFamily="34" charset="0"/>
                <a:ea typeface="Consolas" pitchFamily="34" charset="-122"/>
                <a:cs typeface="Consolas" pitchFamily="34" charset="-120"/>
              </a:rPr>
              <a:t>final</a:t>
            </a:r>
            <a:r>
              <a:rPr lang="en-US" sz="1400" dirty="0">
                <a:solidFill>
                  <a:srgbClr val="E6EDF3"/>
                </a:solidFill>
                <a:latin typeface="Consolas" pitchFamily="34" charset="0"/>
                <a:ea typeface="Consolas" pitchFamily="34" charset="-122"/>
                <a:cs typeface="Consolas" pitchFamily="34" charset="-120"/>
              </a:rPr>
              <a:t> </a:t>
            </a:r>
            <a:r>
              <a:rPr lang="en-US" sz="1400" dirty="0">
                <a:solidFill>
                  <a:srgbClr val="FFCB6B"/>
                </a:solidFill>
                <a:latin typeface="Consolas" pitchFamily="34" charset="0"/>
                <a:ea typeface="Consolas" pitchFamily="34" charset="-122"/>
                <a:cs typeface="Consolas" pitchFamily="34" charset="-120"/>
              </a:rPr>
              <a:t>KeranjangViewModel</a:t>
            </a:r>
            <a:r>
              <a:rPr lang="en-US" sz="1400" dirty="0">
                <a:solidFill>
                  <a:srgbClr val="E6EDF3"/>
                </a:solidFill>
                <a:latin typeface="Consolas" pitchFamily="34" charset="0"/>
                <a:ea typeface="Consolas" pitchFamily="34" charset="-122"/>
                <a:cs typeface="Consolas" pitchFamily="34" charset="-120"/>
              </a:rPr>
              <a:t> teh = </a:t>
            </a:r>
            <a:r>
              <a:rPr lang="en-US" sz="1400" dirty="0">
                <a:solidFill>
                  <a:srgbClr val="FFCB6B"/>
                </a:solidFill>
                <a:latin typeface="Consolas" pitchFamily="34" charset="0"/>
                <a:ea typeface="Consolas" pitchFamily="34" charset="-122"/>
                <a:cs typeface="Consolas" pitchFamily="34" charset="-120"/>
              </a:rPr>
              <a:t>KeranjangViewModel</a:t>
            </a:r>
            <a:r>
              <a:rPr lang="en-US" sz="1400" dirty="0">
                <a:solidFill>
                  <a:srgbClr val="E6EDF3"/>
                </a:solidFill>
                <a:latin typeface="Consolas" pitchFamily="34" charset="0"/>
                <a:ea typeface="Consolas" pitchFamily="34" charset="-122"/>
                <a:cs typeface="Consolas" pitchFamily="34" charset="-120"/>
              </a:rPr>
              <a:t>();</a:t>
            </a:r>
            <a:endParaRPr lang="en-US" sz="1400" dirty="0"/>
          </a:p>
          <a:p>
            <a:pPr indent="0" marL="0">
              <a:lnSpc>
                <a:spcPct val="105000"/>
              </a:lnSpc>
              <a:buNone/>
            </a:pPr>
            <a:r>
              <a:rPr lang="en-US" sz="1400" dirty="0">
                <a:solidFill>
                  <a:srgbClr val="FFCB6B"/>
                </a:solidFill>
                <a:latin typeface="Consolas" pitchFamily="34" charset="0"/>
                <a:ea typeface="Consolas" pitchFamily="34" charset="-122"/>
                <a:cs typeface="Consolas" pitchFamily="34" charset="-120"/>
              </a:rPr>
              <a:t>int</a:t>
            </a:r>
            <a:r>
              <a:rPr lang="en-US" sz="1400" dirty="0">
                <a:solidFill>
                  <a:srgbClr val="E6EDF3"/>
                </a:solidFill>
                <a:latin typeface="Consolas" pitchFamily="34" charset="0"/>
                <a:ea typeface="Consolas" pitchFamily="34" charset="-122"/>
                <a:cs typeface="Consolas" pitchFamily="34" charset="-120"/>
              </a:rPr>
              <a:t> jumlahPengumuman = </a:t>
            </a:r>
            <a:r>
              <a:rPr lang="en-US" sz="1400" dirty="0">
                <a:solidFill>
                  <a:srgbClr val="F78C6C"/>
                </a:solidFill>
                <a:latin typeface="Consolas" pitchFamily="34" charset="0"/>
                <a:ea typeface="Consolas" pitchFamily="34" charset="-122"/>
                <a:cs typeface="Consolas" pitchFamily="34" charset="-120"/>
              </a:rPr>
              <a:t>0</a:t>
            </a:r>
            <a:r>
              <a:rPr lang="en-US" sz="1400" dirty="0">
                <a:solidFill>
                  <a:srgbClr val="E6EDF3"/>
                </a:solidFill>
                <a:latin typeface="Consolas" pitchFamily="34" charset="0"/>
                <a:ea typeface="Consolas" pitchFamily="34" charset="-122"/>
                <a:cs typeface="Consolas" pitchFamily="34" charset="-120"/>
              </a:rPr>
              <a:t>;</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teh.addListener(() =&gt; jumlahPengumuman++);</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teh.tambah(</a:t>
            </a:r>
            <a:r>
              <a:rPr lang="en-US" sz="1400" dirty="0">
                <a:solidFill>
                  <a:srgbClr val="C3E88D"/>
                </a:solidFill>
                <a:latin typeface="Consolas" pitchFamily="34" charset="0"/>
                <a:ea typeface="Consolas" pitchFamily="34" charset="-122"/>
                <a:cs typeface="Consolas" pitchFamily="34" charset="-120"/>
              </a:rPr>
              <a:t>'Teh'</a:t>
            </a:r>
            <a:r>
              <a:rPr lang="en-US" sz="1400" dirty="0">
                <a:solidFill>
                  <a:srgbClr val="E6EDF3"/>
                </a:solidFill>
                <a:latin typeface="Consolas" pitchFamily="34" charset="0"/>
                <a:ea typeface="Consolas" pitchFamily="34" charset="-122"/>
                <a:cs typeface="Consolas" pitchFamily="34" charset="-120"/>
              </a:rPr>
              <a:t>, </a:t>
            </a:r>
            <a:r>
              <a:rPr lang="en-US" sz="1400" dirty="0">
                <a:solidFill>
                  <a:srgbClr val="F78C6C"/>
                </a:solidFill>
                <a:latin typeface="Consolas" pitchFamily="34" charset="0"/>
                <a:ea typeface="Consolas" pitchFamily="34" charset="-122"/>
                <a:cs typeface="Consolas" pitchFamily="34" charset="-120"/>
              </a:rPr>
              <a:t>5000</a:t>
            </a:r>
            <a:r>
              <a:rPr lang="en-US" sz="1400" dirty="0">
                <a:solidFill>
                  <a:srgbClr val="E6EDF3"/>
                </a:solidFill>
                <a:latin typeface="Consolas" pitchFamily="34" charset="0"/>
                <a:ea typeface="Consolas" pitchFamily="34" charset="-122"/>
                <a:cs typeface="Consolas" pitchFamily="34" charset="-120"/>
              </a:rPr>
              <a:t>);</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hasil.add(periksa(</a:t>
            </a:r>
            <a:r>
              <a:rPr lang="en-US" sz="1400" dirty="0">
                <a:solidFill>
                  <a:srgbClr val="C3E88D"/>
                </a:solidFill>
                <a:latin typeface="Consolas" pitchFamily="34" charset="0"/>
                <a:ea typeface="Consolas" pitchFamily="34" charset="-122"/>
                <a:cs typeface="Consolas" pitchFamily="34" charset="-120"/>
              </a:rPr>
              <a:t>'Tambah: tepat 1 pengumuman'</a:t>
            </a:r>
            <a:r>
              <a:rPr lang="en-US" sz="1400" dirty="0">
                <a:solidFill>
                  <a:srgbClr val="E6EDF3"/>
                </a:solidFill>
                <a:latin typeface="Consolas" pitchFamily="34" charset="0"/>
                <a:ea typeface="Consolas" pitchFamily="34" charset="-122"/>
                <a:cs typeface="Consolas" pitchFamily="34" charset="-120"/>
              </a:rPr>
              <a:t>,</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jumlahPengumuman, </a:t>
            </a:r>
            <a:r>
              <a:rPr lang="en-US" sz="1400" dirty="0">
                <a:solidFill>
                  <a:srgbClr val="F78C6C"/>
                </a:solidFill>
                <a:latin typeface="Consolas" pitchFamily="34" charset="0"/>
                <a:ea typeface="Consolas" pitchFamily="34" charset="-122"/>
                <a:cs typeface="Consolas" pitchFamily="34" charset="-120"/>
              </a:rPr>
              <a:t>1</a:t>
            </a:r>
            <a:r>
              <a:rPr lang="en-US" sz="1400" dirty="0">
                <a:solidFill>
                  <a:srgbClr val="E6EDF3"/>
                </a:solidFill>
                <a:latin typeface="Consolas" pitchFamily="34" charset="0"/>
                <a:ea typeface="Consolas" pitchFamily="34" charset="-122"/>
                <a:cs typeface="Consolas" pitchFamily="34" charset="-120"/>
              </a:rPr>
              <a:t>));</a:t>
            </a:r>
            <a:endParaRPr lang="en-US" sz="1400" dirty="0"/>
          </a:p>
        </p:txBody>
      </p:sp>
      <p:sp>
        <p:nvSpPr>
          <p:cNvPr id="5" name="tombol tautan">
            <a:hlinkClick r:id="rId1" tooltip="https://github.com/antonprafanto/mobile2026/blob/main/pertemuan_09_state_dan_mvvm/kode/contoh_10_menguji_viewmodel.dart"/>
          </p:cNvPr>
          <p:cNvSpPr txBox="1"/>
          <p:nvPr/>
        </p:nvSpPr>
        <p:spPr>
          <a:xfrm>
            <a:off x="548640" y="5148072"/>
            <a:ext cx="6400800"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contoh_10_menguji_viewmodel.dart</a:t>
            </a:r>
            <a:endParaRPr lang="en-US" sz="1300" dirty="0"/>
          </a:p>
        </p:txBody>
      </p:sp>
      <p:pic>
        <p:nvPicPr>
          <p:cNvPr id="6" name="Image 0" descr="ikon tautan">
            <a:hlinkClick r:id="rId3" tooltip="https://github.com/antonprafanto/mobile2026/blob/main/pertemuan_09_state_dan_mvvm/kode/contoh_10_menguji_viewmodel.dart"/>
          </p:cNvPr>
          <p:cNvPicPr>
            <a:picLocks noChangeAspect="1"/>
          </p:cNvPicPr>
          <p:nvPr/>
        </p:nvPicPr>
        <p:blipFill>
          <a:blip r:embed="rId2"/>
          <a:stretch>
            <a:fillRect/>
          </a:stretch>
        </p:blipFill>
        <p:spPr>
          <a:xfrm>
            <a:off x="694944" y="5239512"/>
            <a:ext cx="274320" cy="274320"/>
          </a:xfrm>
          <a:prstGeom prst="rect">
            <a:avLst/>
          </a:prstGeom>
        </p:spPr>
      </p:pic>
      <p:sp>
        <p:nvSpPr>
          <p:cNvPr id="7" name="daftar poin"/>
          <p:cNvSpPr txBox="1"/>
          <p:nvPr/>
        </p:nvSpPr>
        <p:spPr>
          <a:xfrm>
            <a:off x="7360920" y="1417320"/>
            <a:ext cx="428213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ViewModel = class Dart biasa: tanpa widget, tanpa BuildContext.</a:t>
            </a:r>
            <a:endParaRPr lang="en-US" sz="1700" dirty="0"/>
          </a:p>
          <a:p>
            <a:pPr marL="228600" indent="-228600">
              <a:spcAft>
                <a:spcPts val="800"/>
              </a:spcAft>
              <a:buSzPct val="100000"/>
              <a:buChar char="•"/>
            </a:pPr>
            <a:r>
              <a:rPr lang="en-US" sz="1700" dirty="0">
                <a:solidFill>
                  <a:schemeClr val="tx1"/>
                </a:solidFill>
              </a:rPr>
              <a:t>Buat objek → panggil perintah → bandingkan hasil dengan yang diharapkan.</a:t>
            </a:r>
            <a:endParaRPr lang="en-US" sz="1700" dirty="0"/>
          </a:p>
          <a:p>
            <a:pPr marL="228600" indent="-228600">
              <a:spcAft>
                <a:spcPts val="800"/>
              </a:spcAft>
              <a:buSzPct val="100000"/>
              <a:buChar char="•"/>
            </a:pPr>
            <a:r>
              <a:rPr lang="en-US" sz="1700" dirty="0">
                <a:solidFill>
                  <a:schemeClr val="tx1"/>
                </a:solidFill>
              </a:rPr>
              <a:t>P14: cara resminya dengan flutter_test (test dan expect).</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Menemukan Bug Nilai Batas</a:t>
            </a:r>
            <a:endParaRPr lang="en-US" sz="3200" dirty="0"/>
          </a:p>
        </p:txBody>
      </p:sp>
      <p:sp>
        <p:nvSpPr>
          <p:cNvPr id="4" name="bingkai layar 1"/>
          <p:cNvSpPr/>
          <p:nvPr/>
        </p:nvSpPr>
        <p:spPr>
          <a:xfrm>
            <a:off x="8559295" y="1316736"/>
            <a:ext cx="3138624" cy="4818888"/>
          </a:xfrm>
          <a:prstGeom prst="roundRect">
            <a:avLst>
              <a:gd name="adj" fmla="val 2913"/>
            </a:avLst>
          </a:prstGeom>
          <a:solidFill>
            <a:srgbClr val="FFFFFF"/>
          </a:solidFill>
          <a:ln w="12700">
            <a:solidFill>
              <a:srgbClr val="C9D3E0"/>
            </a:solidFill>
            <a:prstDash val="solid"/>
          </a:ln>
        </p:spPr>
      </p:sp>
      <p:pic>
        <p:nvPicPr>
          <p:cNvPr id="5" name="layar 1" descr="Tangkapan layar aplikasi (hasil_contoh_10.jpg)">    </p:cNvPr>
          <p:cNvPicPr>
            <a:picLocks noChangeAspect="1"/>
          </p:cNvPicPr>
          <p:nvPr/>
        </p:nvPicPr>
        <p:blipFill>
          <a:blip r:embed="rId1"/>
          <a:stretch>
            <a:fillRect/>
          </a:stretch>
        </p:blipFill>
        <p:spPr>
          <a:xfrm>
            <a:off x="8614159" y="1371600"/>
            <a:ext cx="3028896" cy="4709160"/>
          </a:xfrm>
          <a:prstGeom prst="rect">
            <a:avLst/>
          </a:prstGeom>
        </p:spPr>
      </p:pic>
      <p:sp>
        <p:nvSpPr>
          <p:cNvPr id="6" name="kotak kode"/>
          <p:cNvSpPr txBox="1"/>
          <p:nvPr/>
        </p:nvSpPr>
        <p:spPr>
          <a:xfrm>
            <a:off x="548640" y="1371600"/>
            <a:ext cx="7608319" cy="1979676"/>
          </a:xfrm>
          <a:prstGeom prst="roundRect">
            <a:avLst>
              <a:gd name="adj" fmla="val 4619"/>
            </a:avLst>
          </a:prstGeom>
          <a:solidFill>
            <a:srgbClr val="0E1A2B"/>
          </a:solidFill>
          <a:ln/>
        </p:spPr>
        <p:txBody>
          <a:bodyPr wrap="square" lIns="177800" tIns="152400" rIns="152400" bIns="177800" rtlCol="0" anchor="t"/>
          <a:lstStyle/>
          <a:p>
            <a:pPr indent="0" marL="0">
              <a:lnSpc>
                <a:spcPct val="105000"/>
              </a:lnSpc>
              <a:buNone/>
            </a:pPr>
            <a:r>
              <a:rPr lang="en-US" sz="1400" i="1" dirty="0">
                <a:solidFill>
                  <a:srgbClr val="8FA3BC"/>
                </a:solidFill>
                <a:latin typeface="Consolas" pitchFamily="34" charset="0"/>
                <a:ea typeface="Consolas" pitchFamily="34" charset="-122"/>
                <a:cs typeface="Consolas" pitchFamily="34" charset="-120"/>
              </a:rPr>
              <a:t>// Aturan: belanja MULAI Rp100.000 diskon 10%</a:t>
            </a:r>
            <a:endParaRPr lang="en-US" sz="1400" dirty="0"/>
          </a:p>
          <a:p>
            <a:pPr indent="0" marL="0">
              <a:lnSpc>
                <a:spcPct val="105000"/>
              </a:lnSpc>
              <a:buNone/>
            </a:pPr>
            <a:r>
              <a:rPr lang="en-US" sz="1400" dirty="0">
                <a:solidFill>
                  <a:srgbClr val="FFCB6B"/>
                </a:solidFill>
                <a:latin typeface="Consolas" pitchFamily="34" charset="0"/>
                <a:ea typeface="Consolas" pitchFamily="34" charset="-122"/>
                <a:cs typeface="Consolas" pitchFamily="34" charset="-120"/>
              </a:rPr>
              <a:t>int</a:t>
            </a:r>
            <a:r>
              <a:rPr lang="en-US" sz="1400" dirty="0">
                <a:solidFill>
                  <a:srgbClr val="E6EDF3"/>
                </a:solidFill>
                <a:latin typeface="Consolas" pitchFamily="34" charset="0"/>
                <a:ea typeface="Consolas" pitchFamily="34" charset="-122"/>
                <a:cs typeface="Consolas" pitchFamily="34" charset="-120"/>
              </a:rPr>
              <a:t> </a:t>
            </a:r>
            <a:r>
              <a:rPr lang="en-US" sz="1400" dirty="0">
                <a:solidFill>
                  <a:srgbClr val="C792EA"/>
                </a:solidFill>
                <a:latin typeface="Consolas" pitchFamily="34" charset="0"/>
                <a:ea typeface="Consolas" pitchFamily="34" charset="-122"/>
                <a:cs typeface="Consolas" pitchFamily="34" charset="-120"/>
              </a:rPr>
              <a:t>get</a:t>
            </a:r>
            <a:r>
              <a:rPr lang="en-US" sz="1400" dirty="0">
                <a:solidFill>
                  <a:srgbClr val="E6EDF3"/>
                </a:solidFill>
                <a:latin typeface="Consolas" pitchFamily="34" charset="0"/>
                <a:ea typeface="Consolas" pitchFamily="34" charset="-122"/>
                <a:cs typeface="Consolas" pitchFamily="34" charset="-120"/>
              </a:rPr>
              <a:t> diskon =&gt;</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total &gt; </a:t>
            </a:r>
            <a:r>
              <a:rPr lang="en-US" sz="1400" dirty="0">
                <a:solidFill>
                  <a:srgbClr val="F78C6C"/>
                </a:solidFill>
                <a:latin typeface="Consolas" pitchFamily="34" charset="0"/>
                <a:ea typeface="Consolas" pitchFamily="34" charset="-122"/>
                <a:cs typeface="Consolas" pitchFamily="34" charset="-120"/>
              </a:rPr>
              <a:t>100000</a:t>
            </a:r>
            <a:r>
              <a:rPr lang="en-US" sz="1400" dirty="0">
                <a:solidFill>
                  <a:srgbClr val="E6EDF3"/>
                </a:solidFill>
                <a:latin typeface="Consolas" pitchFamily="34" charset="0"/>
                <a:ea typeface="Consolas" pitchFamily="34" charset="-122"/>
                <a:cs typeface="Consolas" pitchFamily="34" charset="-120"/>
              </a:rPr>
              <a:t> ? total ~/ </a:t>
            </a:r>
            <a:r>
              <a:rPr lang="en-US" sz="1400" dirty="0">
                <a:solidFill>
                  <a:srgbClr val="F78C6C"/>
                </a:solidFill>
                <a:latin typeface="Consolas" pitchFamily="34" charset="0"/>
                <a:ea typeface="Consolas" pitchFamily="34" charset="-122"/>
                <a:cs typeface="Consolas" pitchFamily="34" charset="-120"/>
              </a:rPr>
              <a:t>10</a:t>
            </a:r>
            <a:r>
              <a:rPr lang="en-US" sz="1400" dirty="0">
                <a:solidFill>
                  <a:srgbClr val="E6EDF3"/>
                </a:solidFill>
                <a:latin typeface="Consolas" pitchFamily="34" charset="0"/>
                <a:ea typeface="Consolas" pitchFamily="34" charset="-122"/>
                <a:cs typeface="Consolas" pitchFamily="34" charset="-120"/>
              </a:rPr>
              <a:t> : </a:t>
            </a:r>
            <a:r>
              <a:rPr lang="en-US" sz="1400" dirty="0">
                <a:solidFill>
                  <a:srgbClr val="F78C6C"/>
                </a:solidFill>
                <a:latin typeface="Consolas" pitchFamily="34" charset="0"/>
                <a:ea typeface="Consolas" pitchFamily="34" charset="-122"/>
                <a:cs typeface="Consolas" pitchFamily="34" charset="-120"/>
              </a:rPr>
              <a:t>0</a:t>
            </a:r>
            <a:r>
              <a:rPr lang="en-US" sz="1400" dirty="0">
                <a:solidFill>
                  <a:srgbClr val="E6EDF3"/>
                </a:solidFill>
                <a:latin typeface="Consolas" pitchFamily="34" charset="0"/>
                <a:ea typeface="Consolas" pitchFamily="34" charset="-122"/>
                <a:cs typeface="Consolas" pitchFamily="34" charset="-120"/>
              </a:rPr>
              <a:t>; </a:t>
            </a:r>
            <a:r>
              <a:rPr lang="en-US" sz="1400" i="1" dirty="0">
                <a:solidFill>
                  <a:srgbClr val="8FA3BC"/>
                </a:solidFill>
                <a:latin typeface="Consolas" pitchFamily="34" charset="0"/>
                <a:ea typeface="Consolas" pitchFamily="34" charset="-122"/>
                <a:cs typeface="Consolas" pitchFamily="34" charset="-120"/>
              </a:rPr>
              <a:t>// bug</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a:t>
            </a:r>
            <a:endParaRPr lang="en-US" sz="1400" dirty="0"/>
          </a:p>
          <a:p>
            <a:pPr indent="0" marL="0">
              <a:lnSpc>
                <a:spcPct val="105000"/>
              </a:lnSpc>
              <a:buNone/>
            </a:pPr>
            <a:r>
              <a:rPr lang="en-US" sz="1400" i="1" dirty="0">
                <a:solidFill>
                  <a:srgbClr val="8FA3BC"/>
                </a:solidFill>
                <a:latin typeface="Consolas" pitchFamily="34" charset="0"/>
                <a:ea typeface="Consolas" pitchFamily="34" charset="-122"/>
                <a:cs typeface="Consolas" pitchFamily="34" charset="-120"/>
              </a:rPr>
              <a:t>// Perbaikan: lebih dari ATAU SAMA DENGAN</a:t>
            </a:r>
            <a:endParaRPr lang="en-US" sz="1400" dirty="0"/>
          </a:p>
          <a:p>
            <a:pPr indent="0" marL="0">
              <a:lnSpc>
                <a:spcPct val="105000"/>
              </a:lnSpc>
              <a:buNone/>
            </a:pPr>
            <a:r>
              <a:rPr lang="en-US" sz="1400" dirty="0">
                <a:solidFill>
                  <a:srgbClr val="FFCB6B"/>
                </a:solidFill>
                <a:latin typeface="Consolas" pitchFamily="34" charset="0"/>
                <a:ea typeface="Consolas" pitchFamily="34" charset="-122"/>
                <a:cs typeface="Consolas" pitchFamily="34" charset="-120"/>
              </a:rPr>
              <a:t>int</a:t>
            </a:r>
            <a:r>
              <a:rPr lang="en-US" sz="1400" dirty="0">
                <a:solidFill>
                  <a:srgbClr val="E6EDF3"/>
                </a:solidFill>
                <a:latin typeface="Consolas" pitchFamily="34" charset="0"/>
                <a:ea typeface="Consolas" pitchFamily="34" charset="-122"/>
                <a:cs typeface="Consolas" pitchFamily="34" charset="-120"/>
              </a:rPr>
              <a:t> </a:t>
            </a:r>
            <a:r>
              <a:rPr lang="en-US" sz="1400" dirty="0">
                <a:solidFill>
                  <a:srgbClr val="C792EA"/>
                </a:solidFill>
                <a:latin typeface="Consolas" pitchFamily="34" charset="0"/>
                <a:ea typeface="Consolas" pitchFamily="34" charset="-122"/>
                <a:cs typeface="Consolas" pitchFamily="34" charset="-120"/>
              </a:rPr>
              <a:t>get</a:t>
            </a:r>
            <a:r>
              <a:rPr lang="en-US" sz="1400" dirty="0">
                <a:solidFill>
                  <a:srgbClr val="E6EDF3"/>
                </a:solidFill>
                <a:latin typeface="Consolas" pitchFamily="34" charset="0"/>
                <a:ea typeface="Consolas" pitchFamily="34" charset="-122"/>
                <a:cs typeface="Consolas" pitchFamily="34" charset="-120"/>
              </a:rPr>
              <a:t> diskon =&gt;</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total &gt;= </a:t>
            </a:r>
            <a:r>
              <a:rPr lang="en-US" sz="1400" dirty="0">
                <a:solidFill>
                  <a:srgbClr val="F78C6C"/>
                </a:solidFill>
                <a:latin typeface="Consolas" pitchFamily="34" charset="0"/>
                <a:ea typeface="Consolas" pitchFamily="34" charset="-122"/>
                <a:cs typeface="Consolas" pitchFamily="34" charset="-120"/>
              </a:rPr>
              <a:t>100000</a:t>
            </a:r>
            <a:r>
              <a:rPr lang="en-US" sz="1400" dirty="0">
                <a:solidFill>
                  <a:srgbClr val="E6EDF3"/>
                </a:solidFill>
                <a:latin typeface="Consolas" pitchFamily="34" charset="0"/>
                <a:ea typeface="Consolas" pitchFamily="34" charset="-122"/>
                <a:cs typeface="Consolas" pitchFamily="34" charset="-120"/>
              </a:rPr>
              <a:t> ? total ~/ </a:t>
            </a:r>
            <a:r>
              <a:rPr lang="en-US" sz="1400" dirty="0">
                <a:solidFill>
                  <a:srgbClr val="F78C6C"/>
                </a:solidFill>
                <a:latin typeface="Consolas" pitchFamily="34" charset="0"/>
                <a:ea typeface="Consolas" pitchFamily="34" charset="-122"/>
                <a:cs typeface="Consolas" pitchFamily="34" charset="-120"/>
              </a:rPr>
              <a:t>10</a:t>
            </a:r>
            <a:r>
              <a:rPr lang="en-US" sz="1400" dirty="0">
                <a:solidFill>
                  <a:srgbClr val="E6EDF3"/>
                </a:solidFill>
                <a:latin typeface="Consolas" pitchFamily="34" charset="0"/>
                <a:ea typeface="Consolas" pitchFamily="34" charset="-122"/>
                <a:cs typeface="Consolas" pitchFamily="34" charset="-120"/>
              </a:rPr>
              <a:t> : </a:t>
            </a:r>
            <a:r>
              <a:rPr lang="en-US" sz="1400" dirty="0">
                <a:solidFill>
                  <a:srgbClr val="F78C6C"/>
                </a:solidFill>
                <a:latin typeface="Consolas" pitchFamily="34" charset="0"/>
                <a:ea typeface="Consolas" pitchFamily="34" charset="-122"/>
                <a:cs typeface="Consolas" pitchFamily="34" charset="-120"/>
              </a:rPr>
              <a:t>0</a:t>
            </a:r>
            <a:r>
              <a:rPr lang="en-US" sz="1400" dirty="0">
                <a:solidFill>
                  <a:srgbClr val="E6EDF3"/>
                </a:solidFill>
                <a:latin typeface="Consolas" pitchFamily="34" charset="0"/>
                <a:ea typeface="Consolas" pitchFamily="34" charset="-122"/>
                <a:cs typeface="Consolas" pitchFamily="34" charset="-120"/>
              </a:rPr>
              <a:t>;</a:t>
            </a:r>
            <a:endParaRPr lang="en-US" sz="1400" dirty="0"/>
          </a:p>
        </p:txBody>
      </p:sp>
      <p:sp>
        <p:nvSpPr>
          <p:cNvPr id="7" name="tombol tautan">
            <a:hlinkClick r:id="rId2" tooltip="https://github.com/antonprafanto/mobile2026/blob/main/pertemuan_09_state_dan_mvvm/kode/contoh_10_menguji_viewmodel.dart"/>
          </p:cNvPr>
          <p:cNvSpPr txBox="1"/>
          <p:nvPr/>
        </p:nvSpPr>
        <p:spPr>
          <a:xfrm>
            <a:off x="548640" y="3534156"/>
            <a:ext cx="7608319"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contoh_10_menguji_viewmodel.dart</a:t>
            </a:r>
            <a:endParaRPr lang="en-US" sz="1300" dirty="0"/>
          </a:p>
        </p:txBody>
      </p:sp>
      <p:pic>
        <p:nvPicPr>
          <p:cNvPr id="8" name="Image 1" descr="ikon tautan">
            <a:hlinkClick r:id="rId4" tooltip="https://github.com/antonprafanto/mobile2026/blob/main/pertemuan_09_state_dan_mvvm/kode/contoh_10_menguji_viewmodel.dart"/>
          </p:cNvPr>
          <p:cNvPicPr>
            <a:picLocks noChangeAspect="1"/>
          </p:cNvPicPr>
          <p:nvPr/>
        </p:nvPicPr>
        <p:blipFill>
          <a:blip r:embed="rId3"/>
          <a:stretch>
            <a:fillRect/>
          </a:stretch>
        </p:blipFill>
        <p:spPr>
          <a:xfrm>
            <a:off x="694944" y="3625596"/>
            <a:ext cx="274320" cy="274320"/>
          </a:xfrm>
          <a:prstGeom prst="rect">
            <a:avLst/>
          </a:prstGeom>
        </p:spPr>
      </p:pic>
      <p:sp>
        <p:nvSpPr>
          <p:cNvPr id="9" name="daftar poin"/>
          <p:cNvSpPr txBox="1"/>
          <p:nvPr/>
        </p:nvSpPr>
        <p:spPr>
          <a:xfrm>
            <a:off x="548640" y="4265676"/>
            <a:ext cx="7608319" cy="1952244"/>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7 dari 8 uji lulus. Gagal: "Diskon belanja TEPAT Rp100.000", diharapkan 10000, hasilnya 0.</a:t>
            </a:r>
            <a:endParaRPr lang="en-US" sz="1600" dirty="0"/>
          </a:p>
          <a:p>
            <a:pPr marL="228600" indent="-228600">
              <a:spcAft>
                <a:spcPts val="800"/>
              </a:spcAft>
              <a:buSzPct val="100000"/>
              <a:buChar char="•"/>
            </a:pPr>
            <a:r>
              <a:rPr lang="en-US" sz="1600" dirty="0">
                <a:solidFill>
                  <a:schemeClr val="tx1"/>
                </a:solidFill>
              </a:rPr>
              <a:t>Uji tiga nilai di setiap batas: Rp99.999, Rp100.000, Rp100.001.</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Menata Folder Proyek MVVM</a:t>
            </a:r>
            <a:endParaRPr lang="en-US" sz="3200" dirty="0"/>
          </a:p>
        </p:txBody>
      </p:sp>
      <p:sp>
        <p:nvSpPr>
          <p:cNvPr id="4" name="kotak kode"/>
          <p:cNvSpPr txBox="1"/>
          <p:nvPr/>
        </p:nvSpPr>
        <p:spPr>
          <a:xfrm>
            <a:off x="548640" y="1371600"/>
            <a:ext cx="5120640" cy="3947922"/>
          </a:xfrm>
          <a:prstGeom prst="roundRect">
            <a:avLst>
              <a:gd name="adj" fmla="val 2316"/>
            </a:avLst>
          </a:prstGeom>
          <a:solidFill>
            <a:srgbClr val="0E1A2B"/>
          </a:solidFill>
          <a:ln/>
        </p:spPr>
        <p:txBody>
          <a:bodyPr wrap="square" lIns="177800" tIns="152400" rIns="152400" bIns="177800" rtlCol="0" anchor="t"/>
          <a:lstStyle/>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lib/</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main.dart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domain/models/</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 tugas.dart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data/repositories/</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 repositori_tugas.dart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 repositori_tugas_lokal.dart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ui/</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 core/tema.dart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 daftar_tugas/</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   ├── view_models/</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   │   └── daftar_tugas_view_model.dart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   └── widgets/</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       ├── halaman_tugas.dart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       └── baris_tugas.dart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 tambah_tugas/widgets/</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 halaman_tambah_tugas.dart</a:t>
            </a:r>
            <a:endParaRPr lang="en-US" sz="1300" dirty="0"/>
          </a:p>
        </p:txBody>
      </p:sp>
      <p:sp>
        <p:nvSpPr>
          <p:cNvPr id="5" name="daftar poin"/>
          <p:cNvSpPr txBox="1"/>
          <p:nvPr/>
        </p:nvSpPr>
        <p:spPr>
          <a:xfrm>
            <a:off x="6080760" y="1417320"/>
            <a:ext cx="556229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domain/models: Model (bentuk data).</a:t>
            </a:r>
            <a:endParaRPr lang="en-US" sz="1700" dirty="0"/>
          </a:p>
          <a:p>
            <a:pPr marL="228600" indent="-228600">
              <a:spcAft>
                <a:spcPts val="800"/>
              </a:spcAft>
              <a:buSzPct val="100000"/>
              <a:buChar char="•"/>
            </a:pPr>
            <a:r>
              <a:rPr lang="en-US" sz="1700" dirty="0">
                <a:solidFill>
                  <a:schemeClr val="tx1"/>
                </a:solidFill>
              </a:rPr>
              <a:t>data/repositories: kontrak dan implementasi.</a:t>
            </a:r>
            <a:endParaRPr lang="en-US" sz="1700" dirty="0"/>
          </a:p>
          <a:p>
            <a:pPr marL="228600" indent="-228600">
              <a:spcAft>
                <a:spcPts val="800"/>
              </a:spcAft>
              <a:buSzPct val="100000"/>
              <a:buChar char="•"/>
            </a:pPr>
            <a:r>
              <a:rPr lang="en-US" sz="1700" dirty="0">
                <a:solidFill>
                  <a:schemeClr val="tx1"/>
                </a:solidFill>
              </a:rPr>
              <a:t>ui/core: tema dan widget bersama.</a:t>
            </a:r>
            <a:endParaRPr lang="en-US" sz="1700" dirty="0"/>
          </a:p>
          <a:p>
            <a:pPr marL="228600" indent="-228600">
              <a:spcAft>
                <a:spcPts val="800"/>
              </a:spcAft>
              <a:buSzPct val="100000"/>
              <a:buChar char="•"/>
            </a:pPr>
            <a:r>
              <a:rPr lang="en-US" sz="1700" dirty="0">
                <a:solidFill>
                  <a:schemeClr val="tx1"/>
                </a:solidFill>
              </a:rPr>
              <a:t>ui/&lt;fitur&gt;/: view_models/ dan widgets/ milik satu fitur.</a:t>
            </a:r>
            <a:endParaRPr lang="en-US" sz="1700" dirty="0"/>
          </a:p>
          <a:p>
            <a:pPr marL="228600" indent="-228600">
              <a:spcAft>
                <a:spcPts val="800"/>
              </a:spcAft>
              <a:buSzPct val="100000"/>
              <a:buChar char="•"/>
            </a:pPr>
            <a:r>
              <a:rPr lang="en-US" sz="1700" dirty="0">
                <a:solidFill>
                  <a:schemeClr val="tx1"/>
                </a:solidFill>
              </a:rPr>
              <a:t>Berkas snake_case, class UpperCamelCase.</a:t>
            </a:r>
            <a:endParaRPr lang="en-US" sz="1700" dirty="0"/>
          </a:p>
          <a:p>
            <a:pPr marL="228600" indent="-228600">
              <a:spcAft>
                <a:spcPts val="800"/>
              </a:spcAft>
              <a:buSzPct val="100000"/>
              <a:buChar char="•"/>
            </a:pPr>
            <a:r>
              <a:rPr lang="en-US" sz="1700" dirty="0">
                <a:solidFill>
                  <a:schemeClr val="tx1"/>
                </a:solidFill>
              </a:rPr>
              <a:t>import 'package:tugas_kuliahku/...' (nama di pubspec.yaml).</a:t>
            </a:r>
            <a:endParaRPr lang="en-US" sz="1700" dirty="0"/>
          </a:p>
          <a:p>
            <a:pPr marL="228600" indent="-228600">
              <a:spcAft>
                <a:spcPts val="800"/>
              </a:spcAft>
              <a:buSzPct val="100000"/>
              <a:buChar char="•"/>
            </a:pPr>
            <a:r>
              <a:rPr lang="en-US" sz="1700" dirty="0">
                <a:solidFill>
                  <a:schemeClr val="tx1"/>
                </a:solidFill>
              </a:rPr>
              <a:t>ViewModel cukup mengimpor foundation.dart, bukan material.dart.</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3" name="Text 1"/>
          <p:cNvSpPr/>
          <p:nvPr>
            <p:ph idx="101" type="body" hasCustomPrompt="1"/>
          </p:nvPr>
        </p:nvSpPr>
        <p:spPr>
          <a:xfrm>
            <a:off x="3840480" y="2103120"/>
            <a:ext cx="7680960" cy="457200"/>
          </a:xfrm>
          <a:prstGeom prst="rect">
            <a:avLst/>
          </a:prstGeom>
          <a:noFill/>
          <a:ln/>
        </p:spPr>
        <p:txBody>
          <a:bodyPr wrap="square" lIns="0" tIns="0" rIns="0" bIns="0" rtlCol="0"/>
          <a:lstStyle/>
          <a:p>
            <a:pPr indent="0" marL="0">
              <a:buNone/>
            </a:pPr>
            <a:r>
              <a:rPr lang="en-US" sz="1800" b="1" spc="200" kern="0" dirty="0">
                <a:solidFill>
                  <a:schemeClr val="accent2"/>
                </a:solidFill>
              </a:rPr>
              <a:t>BAGIAN 8</a:t>
            </a:r>
            <a:endParaRPr lang="en-US" sz="1800" dirty="0"/>
          </a:p>
        </p:txBody>
      </p:sp>
      <p:sp>
        <p:nvSpPr>
          <p:cNvPr id="4" name="Text 1"/>
          <p:cNvSpPr/>
          <p:nvPr>
            <p:ph idx="102" type="title" hasCustomPrompt="1"/>
          </p:nvPr>
        </p:nvSpPr>
        <p:spPr>
          <a:xfrm>
            <a:off x="3840480" y="2606040"/>
            <a:ext cx="7680960" cy="1737360"/>
          </a:xfrm>
          <a:prstGeom prst="rect">
            <a:avLst/>
          </a:prstGeom>
          <a:noFill/>
          <a:ln/>
        </p:spPr>
        <p:txBody>
          <a:bodyPr wrap="square" lIns="0" tIns="0" rIns="0" bIns="0" rtlCol="0" anchor="t"/>
          <a:lstStyle/>
          <a:p>
            <a:pPr algn="l" indent="0" marL="0">
              <a:buNone/>
            </a:pPr>
            <a:r>
              <a:rPr lang="en-US" sz="4000" b="1" dirty="0">
                <a:solidFill>
                  <a:schemeClr val="bg1"/>
                </a:solidFill>
              </a:rPr>
              <a:t>Studi Kasus: Kuis Kampus</a:t>
            </a:r>
            <a:endParaRPr lang="en-US" sz="4000" dirty="0"/>
          </a:p>
        </p:txBody>
      </p:sp>
      <p:sp>
        <p:nvSpPr>
          <p:cNvPr id="5" name="lingkaran kuis"/>
          <p:cNvSpPr/>
          <p:nvPr/>
        </p:nvSpPr>
        <p:spPr>
          <a:xfrm>
            <a:off x="1097280" y="2148840"/>
            <a:ext cx="2011680" cy="2011680"/>
          </a:xfrm>
          <a:prstGeom prst="ellipse">
            <a:avLst/>
          </a:prstGeom>
          <a:solidFill>
            <a:schemeClr val="accent1"/>
          </a:solidFill>
          <a:ln/>
        </p:spPr>
      </p:sp>
      <p:pic>
        <p:nvPicPr>
          <p:cNvPr id="6" name="Image 0" descr="kuis">    </p:cNvPr>
          <p:cNvPicPr>
            <a:picLocks noChangeAspect="1"/>
          </p:cNvPicPr>
          <p:nvPr/>
        </p:nvPicPr>
        <p:blipFill>
          <a:blip r:embed="rId1"/>
          <a:stretch>
            <a:fillRect/>
          </a:stretch>
        </p:blipFill>
        <p:spPr>
          <a:xfrm>
            <a:off x="1539850" y="2591410"/>
            <a:ext cx="1126541" cy="1126541"/>
          </a:xfrm>
          <a:prstGeom prst="rect">
            <a:avLst/>
          </a:prstGeom>
        </p:spPr>
      </p:pic>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Peta Arsitektur Kuis Kampus</a:t>
            </a:r>
            <a:endParaRPr lang="en-US" sz="3200" dirty="0"/>
          </a:p>
        </p:txBody>
      </p:sp>
      <p:sp>
        <p:nvSpPr>
          <p:cNvPr id="4" name="lapisan 1"/>
          <p:cNvSpPr/>
          <p:nvPr/>
        </p:nvSpPr>
        <p:spPr>
          <a:xfrm>
            <a:off x="548640" y="1371600"/>
            <a:ext cx="6583680" cy="868680"/>
          </a:xfrm>
          <a:prstGeom prst="roundRect">
            <a:avLst>
              <a:gd name="adj" fmla="val 12632"/>
            </a:avLst>
          </a:prstGeom>
          <a:solidFill>
            <a:schemeClr val="bg2"/>
          </a:solidFill>
          <a:ln/>
        </p:spPr>
      </p:sp>
      <p:sp>
        <p:nvSpPr>
          <p:cNvPr id="5" name="lingkaran hp"/>
          <p:cNvSpPr/>
          <p:nvPr/>
        </p:nvSpPr>
        <p:spPr>
          <a:xfrm>
            <a:off x="731520" y="1485900"/>
            <a:ext cx="640080" cy="640080"/>
          </a:xfrm>
          <a:prstGeom prst="ellipse">
            <a:avLst/>
          </a:prstGeom>
          <a:solidFill>
            <a:schemeClr val="accent1"/>
          </a:solidFill>
          <a:ln/>
        </p:spPr>
      </p:sp>
      <p:pic>
        <p:nvPicPr>
          <p:cNvPr id="6" name="Image 0" descr="hp">    </p:cNvPr>
          <p:cNvPicPr>
            <a:picLocks noChangeAspect="1"/>
          </p:cNvPicPr>
          <p:nvPr/>
        </p:nvPicPr>
        <p:blipFill>
          <a:blip r:embed="rId1"/>
          <a:stretch>
            <a:fillRect/>
          </a:stretch>
        </p:blipFill>
        <p:spPr>
          <a:xfrm>
            <a:off x="872338" y="1626718"/>
            <a:ext cx="358445" cy="358445"/>
          </a:xfrm>
          <a:prstGeom prst="rect">
            <a:avLst/>
          </a:prstGeom>
        </p:spPr>
      </p:pic>
      <p:sp>
        <p:nvSpPr>
          <p:cNvPr id="7" name="Text 3"/>
          <p:cNvSpPr txBox="1"/>
          <p:nvPr/>
        </p:nvSpPr>
        <p:spPr>
          <a:xfrm>
            <a:off x="1554480" y="1371600"/>
            <a:ext cx="5394960" cy="868680"/>
          </a:xfrm>
          <a:prstGeom prst="rect">
            <a:avLst/>
          </a:prstGeom>
          <a:noFill/>
          <a:ln/>
        </p:spPr>
        <p:txBody>
          <a:bodyPr wrap="square" lIns="0" tIns="0" rIns="0" bIns="0" rtlCol="0" anchor="ctr"/>
          <a:lstStyle/>
          <a:p>
            <a:pPr indent="0" marL="0">
              <a:buNone/>
            </a:pPr>
            <a:r>
              <a:rPr lang="en-US" sz="1800" b="1" dirty="0">
                <a:solidFill>
                  <a:schemeClr val="tx2"/>
                </a:solidFill>
              </a:rPr>
              <a:t>View</a:t>
            </a:r>
            <a:endParaRPr lang="en-US" sz="1800" dirty="0"/>
          </a:p>
          <a:p>
            <a:pPr indent="0" marL="0">
              <a:buNone/>
            </a:pPr>
            <a:r>
              <a:rPr lang="en-US" sz="1500" dirty="0">
                <a:solidFill>
                  <a:schemeClr val="tx1"/>
                </a:solidFill>
              </a:rPr>
              <a:t>HalamanBeranda, HalamanKuis, TampilanSoal, TampilanHasil, ...</a:t>
            </a:r>
            <a:endParaRPr lang="en-US" sz="1800" dirty="0"/>
          </a:p>
        </p:txBody>
      </p:sp>
      <p:sp>
        <p:nvSpPr>
          <p:cNvPr id="8" name="Shape 4"/>
          <p:cNvSpPr/>
          <p:nvPr/>
        </p:nvSpPr>
        <p:spPr>
          <a:xfrm>
            <a:off x="3703320" y="2221992"/>
            <a:ext cx="274320" cy="219456"/>
          </a:xfrm>
          <a:prstGeom prst="downArrow">
            <a:avLst/>
          </a:prstGeom>
          <a:solidFill>
            <a:schemeClr val="accent2"/>
          </a:solidFill>
          <a:ln/>
        </p:spPr>
      </p:sp>
      <p:sp>
        <p:nvSpPr>
          <p:cNvPr id="9" name="lapisan 2"/>
          <p:cNvSpPr/>
          <p:nvPr/>
        </p:nvSpPr>
        <p:spPr>
          <a:xfrm>
            <a:off x="548640" y="2423160"/>
            <a:ext cx="6583680" cy="868680"/>
          </a:xfrm>
          <a:prstGeom prst="roundRect">
            <a:avLst>
              <a:gd name="adj" fmla="val 12632"/>
            </a:avLst>
          </a:prstGeom>
          <a:solidFill>
            <a:schemeClr val="bg2"/>
          </a:solidFill>
          <a:ln/>
        </p:spPr>
      </p:sp>
      <p:sp>
        <p:nvSpPr>
          <p:cNvPr id="10" name="lingkaran restoran"/>
          <p:cNvSpPr/>
          <p:nvPr/>
        </p:nvSpPr>
        <p:spPr>
          <a:xfrm>
            <a:off x="731520" y="2537460"/>
            <a:ext cx="640080" cy="640080"/>
          </a:xfrm>
          <a:prstGeom prst="ellipse">
            <a:avLst/>
          </a:prstGeom>
          <a:solidFill>
            <a:schemeClr val="accent6"/>
          </a:solidFill>
          <a:ln/>
        </p:spPr>
      </p:sp>
      <p:pic>
        <p:nvPicPr>
          <p:cNvPr id="11" name="Image 1" descr="restoran">    </p:cNvPr>
          <p:cNvPicPr>
            <a:picLocks noChangeAspect="1"/>
          </p:cNvPicPr>
          <p:nvPr/>
        </p:nvPicPr>
        <p:blipFill>
          <a:blip r:embed="rId2"/>
          <a:stretch>
            <a:fillRect/>
          </a:stretch>
        </p:blipFill>
        <p:spPr>
          <a:xfrm>
            <a:off x="872338" y="2678278"/>
            <a:ext cx="358445" cy="358445"/>
          </a:xfrm>
          <a:prstGeom prst="rect">
            <a:avLst/>
          </a:prstGeom>
        </p:spPr>
      </p:pic>
      <p:sp>
        <p:nvSpPr>
          <p:cNvPr id="12" name="Text 7"/>
          <p:cNvSpPr txBox="1"/>
          <p:nvPr/>
        </p:nvSpPr>
        <p:spPr>
          <a:xfrm>
            <a:off x="1554480" y="2423160"/>
            <a:ext cx="5394960" cy="868680"/>
          </a:xfrm>
          <a:prstGeom prst="rect">
            <a:avLst/>
          </a:prstGeom>
          <a:noFill/>
          <a:ln/>
        </p:spPr>
        <p:txBody>
          <a:bodyPr wrap="square" lIns="0" tIns="0" rIns="0" bIns="0" rtlCol="0" anchor="ctr"/>
          <a:lstStyle/>
          <a:p>
            <a:pPr indent="0" marL="0">
              <a:buNone/>
            </a:pPr>
            <a:r>
              <a:rPr lang="en-US" sz="1800" b="1" dirty="0">
                <a:solidFill>
                  <a:schemeClr val="tx2"/>
                </a:solidFill>
              </a:rPr>
              <a:t>KuisViewModel (di rute halaman kuis)</a:t>
            </a:r>
            <a:endParaRPr lang="en-US" sz="1800" dirty="0"/>
          </a:p>
          <a:p>
            <a:pPr indent="0" marL="0">
              <a:buNone/>
            </a:pPr>
            <a:r>
              <a:rPr lang="en-US" sz="1500" dirty="0">
                <a:solidFill>
                  <a:schemeClr val="tx1"/>
                </a:solidFill>
              </a:rPr>
              <a:t>Status, soal, jawaban, skor; perintah muat, pilih, lanjut, ulangi</a:t>
            </a:r>
            <a:endParaRPr lang="en-US" sz="1800" dirty="0"/>
          </a:p>
        </p:txBody>
      </p:sp>
      <p:sp>
        <p:nvSpPr>
          <p:cNvPr id="13" name="Shape 8"/>
          <p:cNvSpPr/>
          <p:nvPr/>
        </p:nvSpPr>
        <p:spPr>
          <a:xfrm>
            <a:off x="3703320" y="3273552"/>
            <a:ext cx="274320" cy="219456"/>
          </a:xfrm>
          <a:prstGeom prst="downArrow">
            <a:avLst/>
          </a:prstGeom>
          <a:solidFill>
            <a:schemeClr val="accent2"/>
          </a:solidFill>
          <a:ln/>
        </p:spPr>
      </p:sp>
      <p:sp>
        <p:nvSpPr>
          <p:cNvPr id="14" name="lapisan 3"/>
          <p:cNvSpPr/>
          <p:nvPr/>
        </p:nvSpPr>
        <p:spPr>
          <a:xfrm>
            <a:off x="548640" y="3474720"/>
            <a:ext cx="6583680" cy="868680"/>
          </a:xfrm>
          <a:prstGeom prst="roundRect">
            <a:avLst>
              <a:gd name="adj" fmla="val 12632"/>
            </a:avLst>
          </a:prstGeom>
          <a:solidFill>
            <a:schemeClr val="bg2"/>
          </a:solidFill>
          <a:ln/>
        </p:spPr>
      </p:sp>
      <p:sp>
        <p:nvSpPr>
          <p:cNvPr id="15" name="lingkaran gudang"/>
          <p:cNvSpPr/>
          <p:nvPr/>
        </p:nvSpPr>
        <p:spPr>
          <a:xfrm>
            <a:off x="731520" y="3589020"/>
            <a:ext cx="640080" cy="640080"/>
          </a:xfrm>
          <a:prstGeom prst="ellipse">
            <a:avLst/>
          </a:prstGeom>
          <a:solidFill>
            <a:schemeClr val="accent4"/>
          </a:solidFill>
          <a:ln/>
        </p:spPr>
      </p:sp>
      <p:pic>
        <p:nvPicPr>
          <p:cNvPr id="16" name="Image 2" descr="gudang">    </p:cNvPr>
          <p:cNvPicPr>
            <a:picLocks noChangeAspect="1"/>
          </p:cNvPicPr>
          <p:nvPr/>
        </p:nvPicPr>
        <p:blipFill>
          <a:blip r:embed="rId3"/>
          <a:stretch>
            <a:fillRect/>
          </a:stretch>
        </p:blipFill>
        <p:spPr>
          <a:xfrm>
            <a:off x="872338" y="3729838"/>
            <a:ext cx="358445" cy="358445"/>
          </a:xfrm>
          <a:prstGeom prst="rect">
            <a:avLst/>
          </a:prstGeom>
        </p:spPr>
      </p:pic>
      <p:sp>
        <p:nvSpPr>
          <p:cNvPr id="17" name="Text 11"/>
          <p:cNvSpPr txBox="1"/>
          <p:nvPr/>
        </p:nvSpPr>
        <p:spPr>
          <a:xfrm>
            <a:off x="1554480" y="3474720"/>
            <a:ext cx="5394960" cy="868680"/>
          </a:xfrm>
          <a:prstGeom prst="rect">
            <a:avLst/>
          </a:prstGeom>
          <a:noFill/>
          <a:ln/>
        </p:spPr>
        <p:txBody>
          <a:bodyPr wrap="square" lIns="0" tIns="0" rIns="0" bIns="0" rtlCol="0" anchor="ctr"/>
          <a:lstStyle/>
          <a:p>
            <a:pPr indent="0" marL="0">
              <a:buNone/>
            </a:pPr>
            <a:r>
              <a:rPr lang="en-US" sz="1800" b="1" dirty="0">
                <a:solidFill>
                  <a:schemeClr val="tx2"/>
                </a:solidFill>
              </a:rPr>
              <a:t>RepositoriSoal + RiwayatSkor (di atas MaterialApp)</a:t>
            </a:r>
            <a:endParaRPr lang="en-US" sz="1800" dirty="0"/>
          </a:p>
          <a:p>
            <a:pPr indent="0" marL="0">
              <a:buNone/>
            </a:pPr>
            <a:r>
              <a:rPr lang="en-US" sz="1500" dirty="0">
                <a:solidFill>
                  <a:schemeClr val="tx1"/>
                </a:solidFill>
              </a:rPr>
              <a:t>Menyediakan soal; menyimpan skor terbaik selama aplikasi berjalan</a:t>
            </a:r>
            <a:endParaRPr lang="en-US" sz="1800" dirty="0"/>
          </a:p>
        </p:txBody>
      </p:sp>
      <p:sp>
        <p:nvSpPr>
          <p:cNvPr id="18" name="Shape 12"/>
          <p:cNvSpPr/>
          <p:nvPr/>
        </p:nvSpPr>
        <p:spPr>
          <a:xfrm>
            <a:off x="3703320" y="4325112"/>
            <a:ext cx="274320" cy="219456"/>
          </a:xfrm>
          <a:prstGeom prst="downArrow">
            <a:avLst/>
          </a:prstGeom>
          <a:solidFill>
            <a:schemeClr val="accent2"/>
          </a:solidFill>
          <a:ln/>
        </p:spPr>
      </p:sp>
      <p:sp>
        <p:nvSpPr>
          <p:cNvPr id="19" name="lapisan 4"/>
          <p:cNvSpPr/>
          <p:nvPr/>
        </p:nvSpPr>
        <p:spPr>
          <a:xfrm>
            <a:off x="548640" y="4526280"/>
            <a:ext cx="6583680" cy="868680"/>
          </a:xfrm>
          <a:prstGeom prst="roundRect">
            <a:avLst>
              <a:gd name="adj" fmla="val 12632"/>
            </a:avLst>
          </a:prstGeom>
          <a:solidFill>
            <a:schemeClr val="bg2"/>
          </a:solidFill>
          <a:ln/>
        </p:spPr>
      </p:sp>
      <p:sp>
        <p:nvSpPr>
          <p:cNvPr id="20" name="lingkaran data"/>
          <p:cNvSpPr/>
          <p:nvPr/>
        </p:nvSpPr>
        <p:spPr>
          <a:xfrm>
            <a:off x="731520" y="4640580"/>
            <a:ext cx="640080" cy="640080"/>
          </a:xfrm>
          <a:prstGeom prst="ellipse">
            <a:avLst/>
          </a:prstGeom>
          <a:solidFill>
            <a:schemeClr val="tx2"/>
          </a:solidFill>
          <a:ln/>
        </p:spPr>
      </p:sp>
      <p:pic>
        <p:nvPicPr>
          <p:cNvPr id="21" name="Image 3" descr="data">    </p:cNvPr>
          <p:cNvPicPr>
            <a:picLocks noChangeAspect="1"/>
          </p:cNvPicPr>
          <p:nvPr/>
        </p:nvPicPr>
        <p:blipFill>
          <a:blip r:embed="rId4"/>
          <a:stretch>
            <a:fillRect/>
          </a:stretch>
        </p:blipFill>
        <p:spPr>
          <a:xfrm>
            <a:off x="872338" y="4781398"/>
            <a:ext cx="358445" cy="358445"/>
          </a:xfrm>
          <a:prstGeom prst="rect">
            <a:avLst/>
          </a:prstGeom>
        </p:spPr>
      </p:pic>
      <p:sp>
        <p:nvSpPr>
          <p:cNvPr id="22" name="Text 15"/>
          <p:cNvSpPr txBox="1"/>
          <p:nvPr/>
        </p:nvSpPr>
        <p:spPr>
          <a:xfrm>
            <a:off x="1554480" y="4526280"/>
            <a:ext cx="5394960" cy="868680"/>
          </a:xfrm>
          <a:prstGeom prst="rect">
            <a:avLst/>
          </a:prstGeom>
          <a:noFill/>
          <a:ln/>
        </p:spPr>
        <p:txBody>
          <a:bodyPr wrap="square" lIns="0" tIns="0" rIns="0" bIns="0" rtlCol="0" anchor="ctr"/>
          <a:lstStyle/>
          <a:p>
            <a:pPr indent="0" marL="0">
              <a:buNone/>
            </a:pPr>
            <a:r>
              <a:rPr lang="en-US" sz="1800" b="1" dirty="0">
                <a:solidFill>
                  <a:schemeClr val="tx2"/>
                </a:solidFill>
              </a:rPr>
              <a:t>Model</a:t>
            </a:r>
            <a:endParaRPr lang="en-US" sz="1800" dirty="0"/>
          </a:p>
          <a:p>
            <a:pPr indent="0" marL="0">
              <a:buNone/>
            </a:pPr>
            <a:r>
              <a:rPr lang="en-US" sz="1500" dirty="0">
                <a:solidFill>
                  <a:schemeClr val="tx1"/>
                </a:solidFill>
              </a:rPr>
              <a:t>enum Topik (label + ikon), Soal, Skor</a:t>
            </a:r>
            <a:endParaRPr lang="en-US" sz="1800" dirty="0"/>
          </a:p>
        </p:txBody>
      </p:sp>
      <p:sp>
        <p:nvSpPr>
          <p:cNvPr id="23" name="daftar poin"/>
          <p:cNvSpPr txBox="1"/>
          <p:nvPr/>
        </p:nvSpPr>
        <p:spPr>
          <a:xfrm>
            <a:off x="7589520" y="1417320"/>
            <a:ext cx="4053535" cy="4572000"/>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chemeClr val="tx1"/>
                </a:solidFill>
              </a:rPr>
              <a:t>Beranda: watch RiwayatSkor (jumlah kuis, skor terbaik).</a:t>
            </a:r>
            <a:endParaRPr lang="en-US" sz="1800" dirty="0"/>
          </a:p>
          <a:p>
            <a:pPr marL="228600" indent="-228600">
              <a:spcAft>
                <a:spcPts val="800"/>
              </a:spcAft>
              <a:buSzPct val="100000"/>
              <a:buChar char="•"/>
            </a:pPr>
            <a:r>
              <a:rPr lang="en-US" sz="1800" dirty="0">
                <a:solidFill>
                  <a:schemeClr val="tx1"/>
                </a:solidFill>
              </a:rPr>
              <a:t>Halaman kuis: watch/read KuisViewModel.</a:t>
            </a:r>
            <a:endParaRPr lang="en-US" sz="1800" dirty="0"/>
          </a:p>
          <a:p>
            <a:pPr marL="228600" indent="-228600">
              <a:spcAft>
                <a:spcPts val="800"/>
              </a:spcAft>
              <a:buSzPct val="100000"/>
              <a:buChar char="•"/>
            </a:pPr>
            <a:r>
              <a:rPr lang="en-US" sz="1800" dirty="0">
                <a:solidFill>
                  <a:schemeClr val="tx1"/>
                </a:solidFill>
              </a:rPr>
              <a:t>KuisViewModel: ambilSoal(topik) dari repository, catat(topik, skor) ke RiwayatSkor.</a:t>
            </a:r>
            <a:endParaRPr lang="en-US" sz="18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Aturan Permainan Dijaga ViewModel</a:t>
            </a:r>
            <a:endParaRPr lang="en-US" sz="3200" dirty="0"/>
          </a:p>
        </p:txBody>
      </p:sp>
      <p:sp>
        <p:nvSpPr>
          <p:cNvPr id="4" name="kotak kode"/>
          <p:cNvSpPr txBox="1"/>
          <p:nvPr/>
        </p:nvSpPr>
        <p:spPr>
          <a:xfrm>
            <a:off x="548640" y="1371600"/>
            <a:ext cx="6766560" cy="4059936"/>
          </a:xfrm>
          <a:prstGeom prst="roundRect">
            <a:avLst>
              <a:gd name="adj" fmla="val 2252"/>
            </a:avLst>
          </a:prstGeom>
          <a:solidFill>
            <a:srgbClr val="0E1A2B"/>
          </a:solidFill>
          <a:ln/>
        </p:spPr>
        <p:txBody>
          <a:bodyPr wrap="square" lIns="177800" tIns="152400" rIns="152400" bIns="177800" rtlCol="0" anchor="t"/>
          <a:lstStyle/>
          <a:p>
            <a:pPr indent="0" marL="0">
              <a:lnSpc>
                <a:spcPct val="105000"/>
              </a:lnSpc>
              <a:buNone/>
            </a:pPr>
            <a:r>
              <a:rPr lang="en-US" sz="1200" dirty="0">
                <a:solidFill>
                  <a:srgbClr val="C792EA"/>
                </a:solidFill>
                <a:latin typeface="Consolas" pitchFamily="34" charset="0"/>
                <a:ea typeface="Consolas" pitchFamily="34" charset="-122"/>
                <a:cs typeface="Consolas" pitchFamily="34" charset="-120"/>
              </a:rPr>
              <a:t>void</a:t>
            </a:r>
            <a:r>
              <a:rPr lang="en-US" sz="1200" dirty="0">
                <a:solidFill>
                  <a:srgbClr val="E6EDF3"/>
                </a:solidFill>
                <a:latin typeface="Consolas" pitchFamily="34" charset="0"/>
                <a:ea typeface="Consolas" pitchFamily="34" charset="-122"/>
                <a:cs typeface="Consolas" pitchFamily="34" charset="-120"/>
              </a:rPr>
              <a:t> pilih(</a:t>
            </a:r>
            <a:r>
              <a:rPr lang="en-US" sz="1200" dirty="0">
                <a:solidFill>
                  <a:srgbClr val="FFCB6B"/>
                </a:solidFill>
                <a:latin typeface="Consolas" pitchFamily="34" charset="0"/>
                <a:ea typeface="Consolas" pitchFamily="34" charset="-122"/>
                <a:cs typeface="Consolas" pitchFamily="34" charset="-120"/>
              </a:rPr>
              <a:t>int</a:t>
            </a:r>
            <a:r>
              <a:rPr lang="en-US" sz="1200" dirty="0">
                <a:solidFill>
                  <a:srgbClr val="E6EDF3"/>
                </a:solidFill>
                <a:latin typeface="Consolas" pitchFamily="34" charset="0"/>
                <a:ea typeface="Consolas" pitchFamily="34" charset="-122"/>
                <a:cs typeface="Consolas" pitchFamily="34" charset="-120"/>
              </a:rPr>
              <a:t> indeksPilihan)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if</a:t>
            </a:r>
            <a:r>
              <a:rPr lang="en-US" sz="1200" dirty="0">
                <a:solidFill>
                  <a:srgbClr val="E6EDF3"/>
                </a:solidFill>
                <a:latin typeface="Consolas" pitchFamily="34" charset="0"/>
                <a:ea typeface="Consolas" pitchFamily="34" charset="-122"/>
                <a:cs typeface="Consolas" pitchFamily="34" charset="-120"/>
              </a:rPr>
              <a:t> (_status != </a:t>
            </a:r>
            <a:r>
              <a:rPr lang="en-US" sz="1200" dirty="0">
                <a:solidFill>
                  <a:srgbClr val="FFCB6B"/>
                </a:solidFill>
                <a:latin typeface="Consolas" pitchFamily="34" charset="0"/>
                <a:ea typeface="Consolas" pitchFamily="34" charset="-122"/>
                <a:cs typeface="Consolas" pitchFamily="34" charset="-120"/>
              </a:rPr>
              <a:t>StatusKuis</a:t>
            </a:r>
            <a:r>
              <a:rPr lang="en-US" sz="1200" dirty="0">
                <a:solidFill>
                  <a:srgbClr val="E6EDF3"/>
                </a:solidFill>
                <a:latin typeface="Consolas" pitchFamily="34" charset="0"/>
                <a:ea typeface="Consolas" pitchFamily="34" charset="-122"/>
                <a:cs typeface="Consolas" pitchFamily="34" charset="-120"/>
              </a:rPr>
              <a:t>.menjawab || sudahDijawab)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return</a:t>
            </a:r>
            <a:r>
              <a:rPr lang="en-US" sz="1200" dirty="0">
                <a:solidFill>
                  <a:srgbClr val="E6EDF3"/>
                </a:solidFill>
                <a:latin typeface="Consolas" pitchFamily="34" charset="0"/>
                <a:ea typeface="Consolas" pitchFamily="34" charset="-122"/>
                <a:cs typeface="Consolas" pitchFamily="34" charset="-120"/>
              </a:rPr>
              <a:t>; </a:t>
            </a:r>
            <a:r>
              <a:rPr lang="en-US" sz="1200" i="1" dirty="0">
                <a:solidFill>
                  <a:srgbClr val="8FA3BC"/>
                </a:solidFill>
                <a:latin typeface="Consolas" pitchFamily="34" charset="0"/>
                <a:ea typeface="Consolas" pitchFamily="34" charset="-122"/>
                <a:cs typeface="Consolas" pitchFamily="34" charset="-120"/>
              </a:rPr>
              <a:t>// jawaban tidak bisa diganti</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_jawaban[_indeks] = indeksPilihan;</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notifyListeners();</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C792EA"/>
                </a:solidFill>
                <a:latin typeface="Consolas" pitchFamily="34" charset="0"/>
                <a:ea typeface="Consolas" pitchFamily="34" charset="-122"/>
                <a:cs typeface="Consolas" pitchFamily="34" charset="-120"/>
              </a:rPr>
              <a:t>void</a:t>
            </a:r>
            <a:r>
              <a:rPr lang="en-US" sz="1200" dirty="0">
                <a:solidFill>
                  <a:srgbClr val="E6EDF3"/>
                </a:solidFill>
                <a:latin typeface="Consolas" pitchFamily="34" charset="0"/>
                <a:ea typeface="Consolas" pitchFamily="34" charset="-122"/>
                <a:cs typeface="Consolas" pitchFamily="34" charset="-120"/>
              </a:rPr>
              <a:t> lanjut()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if</a:t>
            </a:r>
            <a:r>
              <a:rPr lang="en-US" sz="1200" dirty="0">
                <a:solidFill>
                  <a:srgbClr val="E6EDF3"/>
                </a:solidFill>
                <a:latin typeface="Consolas" pitchFamily="34" charset="0"/>
                <a:ea typeface="Consolas" pitchFamily="34" charset="-122"/>
                <a:cs typeface="Consolas" pitchFamily="34" charset="-120"/>
              </a:rPr>
              <a:t> (!sudahDijawab)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return</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if</a:t>
            </a:r>
            <a:r>
              <a:rPr lang="en-US" sz="1200" dirty="0">
                <a:solidFill>
                  <a:srgbClr val="E6EDF3"/>
                </a:solidFill>
                <a:latin typeface="Consolas" pitchFamily="34" charset="0"/>
                <a:ea typeface="Consolas" pitchFamily="34" charset="-122"/>
                <a:cs typeface="Consolas" pitchFamily="34" charset="-120"/>
              </a:rPr>
              <a:t> (soalTerakhir)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_status = </a:t>
            </a:r>
            <a:r>
              <a:rPr lang="en-US" sz="1200" dirty="0">
                <a:solidFill>
                  <a:srgbClr val="FFCB6B"/>
                </a:solidFill>
                <a:latin typeface="Consolas" pitchFamily="34" charset="0"/>
                <a:ea typeface="Consolas" pitchFamily="34" charset="-122"/>
                <a:cs typeface="Consolas" pitchFamily="34" charset="-120"/>
              </a:rPr>
              <a:t>StatusKuis</a:t>
            </a:r>
            <a:r>
              <a:rPr lang="en-US" sz="1200" dirty="0">
                <a:solidFill>
                  <a:srgbClr val="E6EDF3"/>
                </a:solidFill>
                <a:latin typeface="Consolas" pitchFamily="34" charset="0"/>
                <a:ea typeface="Consolas" pitchFamily="34" charset="-122"/>
                <a:cs typeface="Consolas" pitchFamily="34" charset="-120"/>
              </a:rPr>
              <a:t>.selesai;</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_riwayat.catat(topik, </a:t>
            </a:r>
            <a:r>
              <a:rPr lang="en-US" sz="1200" dirty="0">
                <a:solidFill>
                  <a:srgbClr val="FFCB6B"/>
                </a:solidFill>
                <a:latin typeface="Consolas" pitchFamily="34" charset="0"/>
                <a:ea typeface="Consolas" pitchFamily="34" charset="-122"/>
                <a:cs typeface="Consolas" pitchFamily="34" charset="-120"/>
              </a:rPr>
              <a:t>Skor</a:t>
            </a:r>
            <a:r>
              <a:rPr lang="en-US" sz="1200" dirty="0">
                <a:solidFill>
                  <a:srgbClr val="E6EDF3"/>
                </a:solidFill>
                <a:latin typeface="Consolas" pitchFamily="34" charset="0"/>
                <a:ea typeface="Consolas" pitchFamily="34" charset="-122"/>
                <a:cs typeface="Consolas" pitchFamily="34" charset="-120"/>
              </a:rPr>
              <a:t>(benar: skor, jumlahSoal: jumlahSoal));</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 </a:t>
            </a:r>
            <a:r>
              <a:rPr lang="en-US" sz="1200" dirty="0">
                <a:solidFill>
                  <a:srgbClr val="C792EA"/>
                </a:solidFill>
                <a:latin typeface="Consolas" pitchFamily="34" charset="0"/>
                <a:ea typeface="Consolas" pitchFamily="34" charset="-122"/>
                <a:cs typeface="Consolas" pitchFamily="34" charset="-120"/>
              </a:rPr>
              <a:t>else</a:t>
            </a: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_indeks++;</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notifyListeners();</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a:t>
            </a:r>
            <a:endParaRPr lang="en-US" sz="1200" dirty="0"/>
          </a:p>
        </p:txBody>
      </p:sp>
      <p:sp>
        <p:nvSpPr>
          <p:cNvPr id="5" name="tombol tautan">
            <a:hlinkClick r:id="rId1" tooltip="https://github.com/antonprafanto/mobile2026/blob/main/pertemuan_09_state_dan_mvvm/kode/contoh_11_studi_kasus_kuis_kampus.dart"/>
          </p:cNvPr>
          <p:cNvSpPr txBox="1"/>
          <p:nvPr/>
        </p:nvSpPr>
        <p:spPr>
          <a:xfrm>
            <a:off x="548640" y="5660136"/>
            <a:ext cx="6766560"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contoh_11_studi_kasus_kuis_kampus.dart</a:t>
            </a:r>
            <a:endParaRPr lang="en-US" sz="1300" dirty="0"/>
          </a:p>
        </p:txBody>
      </p:sp>
      <p:pic>
        <p:nvPicPr>
          <p:cNvPr id="6" name="Image 0" descr="ikon tautan">
            <a:hlinkClick r:id="rId3" tooltip="https://github.com/antonprafanto/mobile2026/blob/main/pertemuan_09_state_dan_mvvm/kode/contoh_11_studi_kasus_kuis_kampus.dart"/>
          </p:cNvPr>
          <p:cNvPicPr>
            <a:picLocks noChangeAspect="1"/>
          </p:cNvPicPr>
          <p:nvPr/>
        </p:nvPicPr>
        <p:blipFill>
          <a:blip r:embed="rId2"/>
          <a:stretch>
            <a:fillRect/>
          </a:stretch>
        </p:blipFill>
        <p:spPr>
          <a:xfrm>
            <a:off x="694944" y="5751576"/>
            <a:ext cx="274320" cy="274320"/>
          </a:xfrm>
          <a:prstGeom prst="rect">
            <a:avLst/>
          </a:prstGeom>
        </p:spPr>
      </p:pic>
      <p:sp>
        <p:nvSpPr>
          <p:cNvPr id="7" name="daftar poin"/>
          <p:cNvSpPr txBox="1"/>
          <p:nvPr/>
        </p:nvSpPr>
        <p:spPr>
          <a:xfrm>
            <a:off x="7726680" y="1417320"/>
            <a:ext cx="391637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Walaupun View lupa menonaktifkan tombol, aturannya tetap berlaku.</a:t>
            </a:r>
            <a:endParaRPr lang="en-US" sz="1700" dirty="0"/>
          </a:p>
          <a:p>
            <a:pPr marL="228600" indent="-228600">
              <a:spcAft>
                <a:spcPts val="800"/>
              </a:spcAft>
              <a:buSzPct val="100000"/>
              <a:buChar char="•"/>
            </a:pPr>
            <a:r>
              <a:rPr lang="en-US" sz="1700" dirty="0">
                <a:solidFill>
                  <a:schemeClr val="tx1"/>
                </a:solidFill>
              </a:rPr>
              <a:t>keadaanPilihan(i) → biasa, benar, atau salah: View tinggal memilih warna.</a:t>
            </a:r>
            <a:endParaRPr lang="en-US" sz="1700" dirty="0"/>
          </a:p>
          <a:p>
            <a:pPr marL="228600" indent="-228600">
              <a:spcAft>
                <a:spcPts val="800"/>
              </a:spcAft>
              <a:buSzPct val="100000"/>
              <a:buChar char="•"/>
            </a:pPr>
            <a:r>
              <a:rPr lang="en-US" sz="1700" dirty="0">
                <a:solidFill>
                  <a:schemeClr val="tx1"/>
                </a:solidFill>
              </a:rPr>
              <a:t>pesanHasil: skor * 10 &gt;= jumlahSoal * 6 berarti minimal 60%.</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Kuis Kampus Berjalan</a:t>
            </a:r>
            <a:endParaRPr lang="en-US" sz="3200" dirty="0"/>
          </a:p>
        </p:txBody>
      </p:sp>
      <p:sp>
        <p:nvSpPr>
          <p:cNvPr id="4" name="bingkai layar 1"/>
          <p:cNvSpPr/>
          <p:nvPr/>
        </p:nvSpPr>
        <p:spPr>
          <a:xfrm>
            <a:off x="4638751" y="1316736"/>
            <a:ext cx="2243328" cy="3426931"/>
          </a:xfrm>
          <a:prstGeom prst="roundRect">
            <a:avLst>
              <a:gd name="adj" fmla="val 4076"/>
            </a:avLst>
          </a:prstGeom>
          <a:solidFill>
            <a:srgbClr val="FFFFFF"/>
          </a:solidFill>
          <a:ln w="12700">
            <a:solidFill>
              <a:srgbClr val="C9D3E0"/>
            </a:solidFill>
            <a:prstDash val="solid"/>
          </a:ln>
        </p:spPr>
      </p:sp>
      <p:pic>
        <p:nvPicPr>
          <p:cNvPr id="5" name="layar 1" descr="Tangkapan layar aplikasi (hasil_contoh_11a.jpg)">    </p:cNvPr>
          <p:cNvPicPr>
            <a:picLocks noChangeAspect="1"/>
          </p:cNvPicPr>
          <p:nvPr/>
        </p:nvPicPr>
        <p:blipFill>
          <a:blip r:embed="rId1"/>
          <a:stretch>
            <a:fillRect/>
          </a:stretch>
        </p:blipFill>
        <p:spPr>
          <a:xfrm>
            <a:off x="4693615" y="1371600"/>
            <a:ext cx="2133600" cy="3317203"/>
          </a:xfrm>
          <a:prstGeom prst="rect">
            <a:avLst/>
          </a:prstGeom>
        </p:spPr>
      </p:pic>
      <p:sp>
        <p:nvSpPr>
          <p:cNvPr id="6" name="bingkai layar 2"/>
          <p:cNvSpPr/>
          <p:nvPr/>
        </p:nvSpPr>
        <p:spPr>
          <a:xfrm>
            <a:off x="7046671" y="1316736"/>
            <a:ext cx="2243328" cy="3426931"/>
          </a:xfrm>
          <a:prstGeom prst="roundRect">
            <a:avLst>
              <a:gd name="adj" fmla="val 4076"/>
            </a:avLst>
          </a:prstGeom>
          <a:solidFill>
            <a:srgbClr val="FFFFFF"/>
          </a:solidFill>
          <a:ln w="12700">
            <a:solidFill>
              <a:srgbClr val="C9D3E0"/>
            </a:solidFill>
            <a:prstDash val="solid"/>
          </a:ln>
        </p:spPr>
      </p:sp>
      <p:pic>
        <p:nvPicPr>
          <p:cNvPr id="7" name="layar 2" descr="Tangkapan layar aplikasi (hasil_contoh_11b.jpg)">    </p:cNvPr>
          <p:cNvPicPr>
            <a:picLocks noChangeAspect="1"/>
          </p:cNvPicPr>
          <p:nvPr/>
        </p:nvPicPr>
        <p:blipFill>
          <a:blip r:embed="rId2"/>
          <a:stretch>
            <a:fillRect/>
          </a:stretch>
        </p:blipFill>
        <p:spPr>
          <a:xfrm>
            <a:off x="7101535" y="1371600"/>
            <a:ext cx="2133600" cy="3317203"/>
          </a:xfrm>
          <a:prstGeom prst="rect">
            <a:avLst/>
          </a:prstGeom>
        </p:spPr>
      </p:pic>
      <p:sp>
        <p:nvSpPr>
          <p:cNvPr id="8" name="bingkai layar 3"/>
          <p:cNvSpPr/>
          <p:nvPr/>
        </p:nvSpPr>
        <p:spPr>
          <a:xfrm>
            <a:off x="9454591" y="1316736"/>
            <a:ext cx="2243328" cy="3426931"/>
          </a:xfrm>
          <a:prstGeom prst="roundRect">
            <a:avLst>
              <a:gd name="adj" fmla="val 4076"/>
            </a:avLst>
          </a:prstGeom>
          <a:solidFill>
            <a:srgbClr val="FFFFFF"/>
          </a:solidFill>
          <a:ln w="12700">
            <a:solidFill>
              <a:srgbClr val="C9D3E0"/>
            </a:solidFill>
            <a:prstDash val="solid"/>
          </a:ln>
        </p:spPr>
      </p:sp>
      <p:pic>
        <p:nvPicPr>
          <p:cNvPr id="9" name="layar 3" descr="Tangkapan layar aplikasi (hasil_contoh_11c.jpg)">    </p:cNvPr>
          <p:cNvPicPr>
            <a:picLocks noChangeAspect="1"/>
          </p:cNvPicPr>
          <p:nvPr/>
        </p:nvPicPr>
        <p:blipFill>
          <a:blip r:embed="rId3"/>
          <a:stretch>
            <a:fillRect/>
          </a:stretch>
        </p:blipFill>
        <p:spPr>
          <a:xfrm>
            <a:off x="9509455" y="1371600"/>
            <a:ext cx="2133600" cy="3317203"/>
          </a:xfrm>
          <a:prstGeom prst="rect">
            <a:avLst/>
          </a:prstGeom>
        </p:spPr>
      </p:pic>
      <p:sp>
        <p:nvSpPr>
          <p:cNvPr id="10" name="tombol tautan">
            <a:hlinkClick r:id="rId4" tooltip="https://github.com/antonprafanto/mobile2026/blob/main/pertemuan_09_state_dan_mvvm/kode/contoh_11_studi_kasus_kuis_kampus.dart"/>
          </p:cNvPr>
          <p:cNvSpPr txBox="1"/>
          <p:nvPr/>
        </p:nvSpPr>
        <p:spPr>
          <a:xfrm>
            <a:off x="548640" y="1371600"/>
            <a:ext cx="3687775"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250" b="1" dirty="0">
                <a:solidFill>
                  <a:schemeClr val="bg1"/>
                </a:solidFill>
              </a:rPr>
              <a:t>Kode di GitHub  ·  contoh_11_studi_kasus_kuis_kampus.dart</a:t>
            </a:r>
            <a:endParaRPr lang="en-US" sz="1250" dirty="0"/>
          </a:p>
        </p:txBody>
      </p:sp>
      <p:pic>
        <p:nvPicPr>
          <p:cNvPr id="11" name="Image 3" descr="ikon tautan">
            <a:hlinkClick r:id="rId6" tooltip="https://github.com/antonprafanto/mobile2026/blob/main/pertemuan_09_state_dan_mvvm/kode/contoh_11_studi_kasus_kuis_kampus.dart"/>
          </p:cNvPr>
          <p:cNvPicPr>
            <a:picLocks noChangeAspect="1"/>
          </p:cNvPicPr>
          <p:nvPr/>
        </p:nvPicPr>
        <p:blipFill>
          <a:blip r:embed="rId5"/>
          <a:stretch>
            <a:fillRect/>
          </a:stretch>
        </p:blipFill>
        <p:spPr>
          <a:xfrm>
            <a:off x="694944" y="1463040"/>
            <a:ext cx="274320" cy="274320"/>
          </a:xfrm>
          <a:prstGeom prst="rect">
            <a:avLst/>
          </a:prstGeom>
        </p:spPr>
      </p:pic>
      <p:sp>
        <p:nvSpPr>
          <p:cNvPr id="12" name="daftar poin"/>
          <p:cNvSpPr txBox="1"/>
          <p:nvPr/>
        </p:nvSpPr>
        <p:spPr>
          <a:xfrm>
            <a:off x="548640" y="2103120"/>
            <a:ext cx="3687775" cy="411480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chemeClr val="tx1"/>
                </a:solidFill>
              </a:rPr>
              <a:t>KuisViewModel dibuat di rute: setiap kuis mulai dari soal pertama.</a:t>
            </a:r>
            <a:endParaRPr lang="en-US" sz="1500" dirty="0"/>
          </a:p>
          <a:p>
            <a:pPr marL="228600" indent="-228600">
              <a:spcAft>
                <a:spcPts val="800"/>
              </a:spcAft>
              <a:buSzPct val="100000"/>
              <a:buChar char="•"/>
            </a:pPr>
            <a:r>
              <a:rPr lang="en-US" sz="1500" dirty="0">
                <a:solidFill>
                  <a:schemeClr val="tx1"/>
                </a:solidFill>
              </a:rPr>
              <a:t>Benar dan salah dibedakan dengan warna DAN ikon berlabel.</a:t>
            </a:r>
            <a:endParaRPr lang="en-US" sz="1500" dirty="0"/>
          </a:p>
          <a:p>
            <a:pPr marL="228600" indent="-228600">
              <a:spcAft>
                <a:spcPts val="800"/>
              </a:spcAft>
              <a:buSzPct val="100000"/>
              <a:buChar char="•"/>
            </a:pPr>
            <a:r>
              <a:rPr lang="en-US" sz="1500" dirty="0">
                <a:solidFill>
                  <a:schemeClr val="tx1"/>
                </a:solidFill>
              </a:rPr>
              <a:t>Halaman hasil: skor, pesan sesuai skor, ringkasan jawaban.</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Skor Terbaik Tetap Ada</a:t>
            </a:r>
            <a:endParaRPr lang="en-US" sz="3200" dirty="0"/>
          </a:p>
        </p:txBody>
      </p:sp>
      <p:sp>
        <p:nvSpPr>
          <p:cNvPr id="4" name="bingkai layar 1"/>
          <p:cNvSpPr/>
          <p:nvPr/>
        </p:nvSpPr>
        <p:spPr>
          <a:xfrm>
            <a:off x="8559295" y="1316736"/>
            <a:ext cx="3138624" cy="4818888"/>
          </a:xfrm>
          <a:prstGeom prst="roundRect">
            <a:avLst>
              <a:gd name="adj" fmla="val 2913"/>
            </a:avLst>
          </a:prstGeom>
          <a:solidFill>
            <a:srgbClr val="FFFFFF"/>
          </a:solidFill>
          <a:ln w="12700">
            <a:solidFill>
              <a:srgbClr val="C9D3E0"/>
            </a:solidFill>
            <a:prstDash val="solid"/>
          </a:ln>
        </p:spPr>
      </p:sp>
      <p:pic>
        <p:nvPicPr>
          <p:cNvPr id="5" name="layar 1" descr="Tangkapan layar aplikasi (hasil_contoh_11d.jpg)">    </p:cNvPr>
          <p:cNvPicPr>
            <a:picLocks noChangeAspect="1"/>
          </p:cNvPicPr>
          <p:nvPr/>
        </p:nvPicPr>
        <p:blipFill>
          <a:blip r:embed="rId1"/>
          <a:stretch>
            <a:fillRect/>
          </a:stretch>
        </p:blipFill>
        <p:spPr>
          <a:xfrm>
            <a:off x="8614159" y="1371600"/>
            <a:ext cx="3028896" cy="4709160"/>
          </a:xfrm>
          <a:prstGeom prst="rect">
            <a:avLst/>
          </a:prstGeom>
        </p:spPr>
      </p:pic>
      <p:sp>
        <p:nvSpPr>
          <p:cNvPr id="6" name="kotak kode"/>
          <p:cNvSpPr txBox="1"/>
          <p:nvPr/>
        </p:nvSpPr>
        <p:spPr>
          <a:xfrm>
            <a:off x="548640" y="1371600"/>
            <a:ext cx="7608319" cy="3323844"/>
          </a:xfrm>
          <a:prstGeom prst="roundRect">
            <a:avLst>
              <a:gd name="adj" fmla="val 2751"/>
            </a:avLst>
          </a:prstGeom>
          <a:solidFill>
            <a:srgbClr val="0E1A2B"/>
          </a:solidFill>
          <a:ln/>
        </p:spPr>
        <p:txBody>
          <a:bodyPr wrap="square" lIns="177800" tIns="152400" rIns="152400" bIns="177800" rtlCol="0" anchor="t"/>
          <a:lstStyle/>
          <a:p>
            <a:pPr indent="0" marL="0">
              <a:lnSpc>
                <a:spcPct val="105000"/>
              </a:lnSpc>
              <a:buNone/>
            </a:pPr>
            <a:r>
              <a:rPr lang="en-US" sz="1300" dirty="0">
                <a:solidFill>
                  <a:srgbClr val="C792EA"/>
                </a:solidFill>
                <a:latin typeface="Consolas" pitchFamily="34" charset="0"/>
                <a:ea typeface="Consolas" pitchFamily="34" charset="-122"/>
                <a:cs typeface="Consolas" pitchFamily="34" charset="-120"/>
              </a:rPr>
              <a:t>class</a:t>
            </a: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FCB6B"/>
                </a:solidFill>
                <a:latin typeface="Consolas" pitchFamily="34" charset="0"/>
                <a:ea typeface="Consolas" pitchFamily="34" charset="-122"/>
                <a:cs typeface="Consolas" pitchFamily="34" charset="-120"/>
              </a:rPr>
              <a:t>RiwayatSkor</a:t>
            </a: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C792EA"/>
                </a:solidFill>
                <a:latin typeface="Consolas" pitchFamily="34" charset="0"/>
                <a:ea typeface="Consolas" pitchFamily="34" charset="-122"/>
                <a:cs typeface="Consolas" pitchFamily="34" charset="-120"/>
              </a:rPr>
              <a:t>extends</a:t>
            </a: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FCB6B"/>
                </a:solidFill>
                <a:latin typeface="Consolas" pitchFamily="34" charset="0"/>
                <a:ea typeface="Consolas" pitchFamily="34" charset="-122"/>
                <a:cs typeface="Consolas" pitchFamily="34" charset="-120"/>
              </a:rPr>
              <a:t>ChangeNotifier</a:t>
            </a:r>
            <a:r>
              <a:rPr lang="en-US" sz="1300" dirty="0">
                <a:solidFill>
                  <a:srgbClr val="E6EDF3"/>
                </a:solidFill>
                <a:latin typeface="Consolas" pitchFamily="34" charset="0"/>
                <a:ea typeface="Consolas" pitchFamily="34" charset="-122"/>
                <a:cs typeface="Consolas" pitchFamily="34" charset="-120"/>
              </a:rPr>
              <a:t> {</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C792EA"/>
                </a:solidFill>
                <a:latin typeface="Consolas" pitchFamily="34" charset="0"/>
                <a:ea typeface="Consolas" pitchFamily="34" charset="-122"/>
                <a:cs typeface="Consolas" pitchFamily="34" charset="-120"/>
              </a:rPr>
              <a:t>final</a:t>
            </a: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FCB6B"/>
                </a:solidFill>
                <a:latin typeface="Consolas" pitchFamily="34" charset="0"/>
                <a:ea typeface="Consolas" pitchFamily="34" charset="-122"/>
                <a:cs typeface="Consolas" pitchFamily="34" charset="-120"/>
              </a:rPr>
              <a:t>Map</a:t>
            </a:r>
            <a:r>
              <a:rPr lang="en-US" sz="1300" dirty="0">
                <a:solidFill>
                  <a:srgbClr val="E6EDF3"/>
                </a:solidFill>
                <a:latin typeface="Consolas" pitchFamily="34" charset="0"/>
                <a:ea typeface="Consolas" pitchFamily="34" charset="-122"/>
                <a:cs typeface="Consolas" pitchFamily="34" charset="-120"/>
              </a:rPr>
              <a:t>&lt;</a:t>
            </a:r>
            <a:r>
              <a:rPr lang="en-US" sz="1300" dirty="0">
                <a:solidFill>
                  <a:srgbClr val="FFCB6B"/>
                </a:solidFill>
                <a:latin typeface="Consolas" pitchFamily="34" charset="0"/>
                <a:ea typeface="Consolas" pitchFamily="34" charset="-122"/>
                <a:cs typeface="Consolas" pitchFamily="34" charset="-120"/>
              </a:rPr>
              <a:t>Topik</a:t>
            </a: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FCB6B"/>
                </a:solidFill>
                <a:latin typeface="Consolas" pitchFamily="34" charset="0"/>
                <a:ea typeface="Consolas" pitchFamily="34" charset="-122"/>
                <a:cs typeface="Consolas" pitchFamily="34" charset="-120"/>
              </a:rPr>
              <a:t>Skor</a:t>
            </a:r>
            <a:r>
              <a:rPr lang="en-US" sz="1300" dirty="0">
                <a:solidFill>
                  <a:srgbClr val="E6EDF3"/>
                </a:solidFill>
                <a:latin typeface="Consolas" pitchFamily="34" charset="0"/>
                <a:ea typeface="Consolas" pitchFamily="34" charset="-122"/>
                <a:cs typeface="Consolas" pitchFamily="34" charset="-120"/>
              </a:rPr>
              <a:t>&gt; _terbaik = {};</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FCB6B"/>
                </a:solidFill>
                <a:latin typeface="Consolas" pitchFamily="34" charset="0"/>
                <a:ea typeface="Consolas" pitchFamily="34" charset="-122"/>
                <a:cs typeface="Consolas" pitchFamily="34" charset="-120"/>
              </a:rPr>
              <a:t>int</a:t>
            </a:r>
            <a:r>
              <a:rPr lang="en-US" sz="1300" dirty="0">
                <a:solidFill>
                  <a:srgbClr val="E6EDF3"/>
                </a:solidFill>
                <a:latin typeface="Consolas" pitchFamily="34" charset="0"/>
                <a:ea typeface="Consolas" pitchFamily="34" charset="-122"/>
                <a:cs typeface="Consolas" pitchFamily="34" charset="-120"/>
              </a:rPr>
              <a:t> _jumlahKuis = </a:t>
            </a:r>
            <a:r>
              <a:rPr lang="en-US" sz="1300" dirty="0">
                <a:solidFill>
                  <a:srgbClr val="F78C6C"/>
                </a:solidFill>
                <a:latin typeface="Consolas" pitchFamily="34" charset="0"/>
                <a:ea typeface="Consolas" pitchFamily="34" charset="-122"/>
                <a:cs typeface="Consolas" pitchFamily="34" charset="-120"/>
              </a:rPr>
              <a:t>0</a:t>
            </a: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FCB6B"/>
                </a:solidFill>
                <a:latin typeface="Consolas" pitchFamily="34" charset="0"/>
                <a:ea typeface="Consolas" pitchFamily="34" charset="-122"/>
                <a:cs typeface="Consolas" pitchFamily="34" charset="-120"/>
              </a:rPr>
              <a:t>int</a:t>
            </a: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C792EA"/>
                </a:solidFill>
                <a:latin typeface="Consolas" pitchFamily="34" charset="0"/>
                <a:ea typeface="Consolas" pitchFamily="34" charset="-122"/>
                <a:cs typeface="Consolas" pitchFamily="34" charset="-120"/>
              </a:rPr>
              <a:t>get</a:t>
            </a:r>
            <a:r>
              <a:rPr lang="en-US" sz="1300" dirty="0">
                <a:solidFill>
                  <a:srgbClr val="E6EDF3"/>
                </a:solidFill>
                <a:latin typeface="Consolas" pitchFamily="34" charset="0"/>
                <a:ea typeface="Consolas" pitchFamily="34" charset="-122"/>
                <a:cs typeface="Consolas" pitchFamily="34" charset="-120"/>
              </a:rPr>
              <a:t> jumlahKuis =&gt; _jumlahKuis;</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FCB6B"/>
                </a:solidFill>
                <a:latin typeface="Consolas" pitchFamily="34" charset="0"/>
                <a:ea typeface="Consolas" pitchFamily="34" charset="-122"/>
                <a:cs typeface="Consolas" pitchFamily="34" charset="-120"/>
              </a:rPr>
              <a:t>Skor</a:t>
            </a:r>
            <a:r>
              <a:rPr lang="en-US" sz="1300" dirty="0">
                <a:solidFill>
                  <a:srgbClr val="E6EDF3"/>
                </a:solidFill>
                <a:latin typeface="Consolas" pitchFamily="34" charset="0"/>
                <a:ea typeface="Consolas" pitchFamily="34" charset="-122"/>
                <a:cs typeface="Consolas" pitchFamily="34" charset="-120"/>
              </a:rPr>
              <a:t>? terbaik(</a:t>
            </a:r>
            <a:r>
              <a:rPr lang="en-US" sz="1300" dirty="0">
                <a:solidFill>
                  <a:srgbClr val="FFCB6B"/>
                </a:solidFill>
                <a:latin typeface="Consolas" pitchFamily="34" charset="0"/>
                <a:ea typeface="Consolas" pitchFamily="34" charset="-122"/>
                <a:cs typeface="Consolas" pitchFamily="34" charset="-120"/>
              </a:rPr>
              <a:t>Topik</a:t>
            </a:r>
            <a:r>
              <a:rPr lang="en-US" sz="1300" dirty="0">
                <a:solidFill>
                  <a:srgbClr val="E6EDF3"/>
                </a:solidFill>
                <a:latin typeface="Consolas" pitchFamily="34" charset="0"/>
                <a:ea typeface="Consolas" pitchFamily="34" charset="-122"/>
                <a:cs typeface="Consolas" pitchFamily="34" charset="-120"/>
              </a:rPr>
              <a:t> topik) =&gt; _terbaik[topik];</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C792EA"/>
                </a:solidFill>
                <a:latin typeface="Consolas" pitchFamily="34" charset="0"/>
                <a:ea typeface="Consolas" pitchFamily="34" charset="-122"/>
                <a:cs typeface="Consolas" pitchFamily="34" charset="-120"/>
              </a:rPr>
              <a:t>void</a:t>
            </a:r>
            <a:r>
              <a:rPr lang="en-US" sz="1300" dirty="0">
                <a:solidFill>
                  <a:srgbClr val="E6EDF3"/>
                </a:solidFill>
                <a:latin typeface="Consolas" pitchFamily="34" charset="0"/>
                <a:ea typeface="Consolas" pitchFamily="34" charset="-122"/>
                <a:cs typeface="Consolas" pitchFamily="34" charset="-120"/>
              </a:rPr>
              <a:t> catat(</a:t>
            </a:r>
            <a:r>
              <a:rPr lang="en-US" sz="1300" dirty="0">
                <a:solidFill>
                  <a:srgbClr val="FFCB6B"/>
                </a:solidFill>
                <a:latin typeface="Consolas" pitchFamily="34" charset="0"/>
                <a:ea typeface="Consolas" pitchFamily="34" charset="-122"/>
                <a:cs typeface="Consolas" pitchFamily="34" charset="-120"/>
              </a:rPr>
              <a:t>Topik</a:t>
            </a:r>
            <a:r>
              <a:rPr lang="en-US" sz="1300" dirty="0">
                <a:solidFill>
                  <a:srgbClr val="E6EDF3"/>
                </a:solidFill>
                <a:latin typeface="Consolas" pitchFamily="34" charset="0"/>
                <a:ea typeface="Consolas" pitchFamily="34" charset="-122"/>
                <a:cs typeface="Consolas" pitchFamily="34" charset="-120"/>
              </a:rPr>
              <a:t> topik, </a:t>
            </a:r>
            <a:r>
              <a:rPr lang="en-US" sz="1300" dirty="0">
                <a:solidFill>
                  <a:srgbClr val="FFCB6B"/>
                </a:solidFill>
                <a:latin typeface="Consolas" pitchFamily="34" charset="0"/>
                <a:ea typeface="Consolas" pitchFamily="34" charset="-122"/>
                <a:cs typeface="Consolas" pitchFamily="34" charset="-120"/>
              </a:rPr>
              <a:t>Skor</a:t>
            </a:r>
            <a:r>
              <a:rPr lang="en-US" sz="1300" dirty="0">
                <a:solidFill>
                  <a:srgbClr val="E6EDF3"/>
                </a:solidFill>
                <a:latin typeface="Consolas" pitchFamily="34" charset="0"/>
                <a:ea typeface="Consolas" pitchFamily="34" charset="-122"/>
                <a:cs typeface="Consolas" pitchFamily="34" charset="-120"/>
              </a:rPr>
              <a:t> skor) {</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_jumlahKuis++;</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C792EA"/>
                </a:solidFill>
                <a:latin typeface="Consolas" pitchFamily="34" charset="0"/>
                <a:ea typeface="Consolas" pitchFamily="34" charset="-122"/>
                <a:cs typeface="Consolas" pitchFamily="34" charset="-120"/>
              </a:rPr>
              <a:t>final</a:t>
            </a: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FCB6B"/>
                </a:solidFill>
                <a:latin typeface="Consolas" pitchFamily="34" charset="0"/>
                <a:ea typeface="Consolas" pitchFamily="34" charset="-122"/>
                <a:cs typeface="Consolas" pitchFamily="34" charset="-120"/>
              </a:rPr>
              <a:t>Skor</a:t>
            </a:r>
            <a:r>
              <a:rPr lang="en-US" sz="1300" dirty="0">
                <a:solidFill>
                  <a:srgbClr val="E6EDF3"/>
                </a:solidFill>
                <a:latin typeface="Consolas" pitchFamily="34" charset="0"/>
                <a:ea typeface="Consolas" pitchFamily="34" charset="-122"/>
                <a:cs typeface="Consolas" pitchFamily="34" charset="-120"/>
              </a:rPr>
              <a:t>? lama = _terbaik[topik];</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C792EA"/>
                </a:solidFill>
                <a:latin typeface="Consolas" pitchFamily="34" charset="0"/>
                <a:ea typeface="Consolas" pitchFamily="34" charset="-122"/>
                <a:cs typeface="Consolas" pitchFamily="34" charset="-120"/>
              </a:rPr>
              <a:t>if</a:t>
            </a:r>
            <a:r>
              <a:rPr lang="en-US" sz="1300" dirty="0">
                <a:solidFill>
                  <a:srgbClr val="E6EDF3"/>
                </a:solidFill>
                <a:latin typeface="Consolas" pitchFamily="34" charset="0"/>
                <a:ea typeface="Consolas" pitchFamily="34" charset="-122"/>
                <a:cs typeface="Consolas" pitchFamily="34" charset="-120"/>
              </a:rPr>
              <a:t> (lama == </a:t>
            </a:r>
            <a:r>
              <a:rPr lang="en-US" sz="1300" dirty="0">
                <a:solidFill>
                  <a:srgbClr val="C792EA"/>
                </a:solidFill>
                <a:latin typeface="Consolas" pitchFamily="34" charset="0"/>
                <a:ea typeface="Consolas" pitchFamily="34" charset="-122"/>
                <a:cs typeface="Consolas" pitchFamily="34" charset="-120"/>
              </a:rPr>
              <a:t>null</a:t>
            </a:r>
            <a:r>
              <a:rPr lang="en-US" sz="1300" dirty="0">
                <a:solidFill>
                  <a:srgbClr val="E6EDF3"/>
                </a:solidFill>
                <a:latin typeface="Consolas" pitchFamily="34" charset="0"/>
                <a:ea typeface="Consolas" pitchFamily="34" charset="-122"/>
                <a:cs typeface="Consolas" pitchFamily="34" charset="-120"/>
              </a:rPr>
              <a:t> || skor.benar &gt; lama.benar) {</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_terbaik[topik] = skor;</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notifyListeners();</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endParaRPr lang="en-US" sz="1300" dirty="0"/>
          </a:p>
        </p:txBody>
      </p:sp>
      <p:sp>
        <p:nvSpPr>
          <p:cNvPr id="7" name="tombol tautan">
            <a:hlinkClick r:id="rId2" tooltip="https://github.com/antonprafanto/mobile2026/blob/main/pertemuan_09_state_dan_mvvm/kode/contoh_11_studi_kasus_kuis_kampus.dart"/>
          </p:cNvPr>
          <p:cNvSpPr txBox="1"/>
          <p:nvPr/>
        </p:nvSpPr>
        <p:spPr>
          <a:xfrm>
            <a:off x="548640" y="4878324"/>
            <a:ext cx="7608319"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contoh_11_studi_kasus_kuis_kampus.dart</a:t>
            </a:r>
            <a:endParaRPr lang="en-US" sz="1300" dirty="0"/>
          </a:p>
        </p:txBody>
      </p:sp>
      <p:pic>
        <p:nvPicPr>
          <p:cNvPr id="8" name="Image 1" descr="ikon tautan">
            <a:hlinkClick r:id="rId4" tooltip="https://github.com/antonprafanto/mobile2026/blob/main/pertemuan_09_state_dan_mvvm/kode/contoh_11_studi_kasus_kuis_kampus.dart"/>
          </p:cNvPr>
          <p:cNvPicPr>
            <a:picLocks noChangeAspect="1"/>
          </p:cNvPicPr>
          <p:nvPr/>
        </p:nvPicPr>
        <p:blipFill>
          <a:blip r:embed="rId3"/>
          <a:stretch>
            <a:fillRect/>
          </a:stretch>
        </p:blipFill>
        <p:spPr>
          <a:xfrm>
            <a:off x="694944" y="4969764"/>
            <a:ext cx="274320" cy="274320"/>
          </a:xfrm>
          <a:prstGeom prst="rect">
            <a:avLst/>
          </a:prstGeom>
        </p:spPr>
      </p:pic>
      <p:sp>
        <p:nvSpPr>
          <p:cNvPr id="9" name="daftar poin"/>
          <p:cNvSpPr txBox="1"/>
          <p:nvPr/>
        </p:nvSpPr>
        <p:spPr>
          <a:xfrm>
            <a:off x="548640" y="5609844"/>
            <a:ext cx="7608319" cy="608076"/>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chemeClr val="tx1"/>
                </a:solidFill>
              </a:rPr>
              <a:t>Uji mandiri: ulangi kuis dengan skor lebih rendah; skor terbaik tidak turun.</a:t>
            </a:r>
            <a:endParaRPr lang="en-US" sz="1500" dirty="0"/>
          </a:p>
          <a:p>
            <a:pPr marL="228600" indent="-228600">
              <a:spcAft>
                <a:spcPts val="800"/>
              </a:spcAft>
              <a:buSzPct val="100000"/>
              <a:buChar char="•"/>
            </a:pPr>
            <a:r>
              <a:rPr lang="en-US" sz="1500" dirty="0">
                <a:solidFill>
                  <a:schemeClr val="tx1"/>
                </a:solidFill>
              </a:rPr>
              <a:t>Tekan kembali saat soal masih dimuat: tidak ada error (berkat _sudahDibuang).</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Kesalahan Umum Pemula</a:t>
            </a:r>
            <a:endParaRPr lang="en-US" sz="32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5929774"/>
                <a:gridCol w="5164642"/>
              </a:tblGrid>
              <a:tr h="59436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Gejala</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Solusi</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594360">
                <a:tc>
                  <a:txBody>
                    <a:bodyPr/>
                    <a:lstStyle/>
                    <a:p>
                      <a:pPr indent="0" marL="0">
                        <a:buNone/>
                      </a:pPr>
                      <a:r>
                        <a:rPr lang="en-US" sz="1400" dirty="0">
                          <a:solidFill>
                            <a:srgbClr val="1B2333"/>
                          </a:solidFill>
                          <a:latin typeface="Consolas" pitchFamily="34" charset="0"/>
                          <a:ea typeface="Consolas" pitchFamily="34" charset="-122"/>
                          <a:cs typeface="Consolas" pitchFamily="34" charset="-120"/>
                        </a:rPr>
                        <a:t>Target of URI doesn't exist: 'package:provider/provider.dart'</a:t>
                      </a:r>
                      <a:endParaRPr lang="en-US" sz="14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flutter pub add provider</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94360">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Data berubah, tetapi layar tidak</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Akhiri setiap metode pengubah dengan notifyListeners()</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594360">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Layar tidak pernah berubah walaupun sudah notifyListeners()</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Di build pakai watch/select, bukan read</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94360">
                <a:tc>
                  <a:txBody>
                    <a:bodyPr/>
                    <a:lstStyle/>
                    <a:p>
                      <a:pPr indent="0" marL="0">
                        <a:buNone/>
                      </a:pPr>
                      <a:r>
                        <a:rPr lang="en-US" sz="1400" dirty="0">
                          <a:solidFill>
                            <a:srgbClr val="1B2333"/>
                          </a:solidFill>
                          <a:latin typeface="Consolas" pitchFamily="34" charset="0"/>
                          <a:ea typeface="Consolas" pitchFamily="34" charset="-122"/>
                          <a:cs typeface="Consolas" pitchFamily="34" charset="-120"/>
                        </a:rPr>
                        <a:t>A ... was used after being disposed.</a:t>
                      </a:r>
                      <a:endParaRPr lang="en-US" sz="14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Penjaga _sudahDibuang setelah await</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594360">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Isi state tiba-tiba kosong lagi</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Buat objek di create, bukan .value(value: Objek())</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594360">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Data hilang setiap halaman ditutup</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Pindahkan provider ke atas MaterialApp</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594360">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ViewModel menyimpan BuildContext untuk SnackBar</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ViewModel mengubah data; SnackBar dikerjakan View</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Memilih Alat yang Tepat</a:t>
            </a:r>
            <a:endParaRPr lang="en-US" sz="32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5738491"/>
                <a:gridCol w="5355925"/>
              </a:tblGrid>
              <a:tr h="621792">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Kebutuhan</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Pakai</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621792">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Data yang hanya dipakai satu widget atau satu halaman</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StatefulWidget + setState</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621792">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Satu nilai yang didengarkan beberapa widget di satu halaman</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ValueNotifier + ValueListenableBuilder</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621792">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Beberapa data dan aturan untuk satu halaman</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ViewModel (ChangeNotifier) di rute halaman itu</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621792">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Data yang dipakai banyak halaman</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ChangeNotifier + ChangeNotifierProvider di atas MaterialApp</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621792">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Sumber data (kode, API, penyimpanan perangkat)</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600" dirty="0">
                          <a:solidFill>
                            <a:srgbClr val="1B2333"/>
                          </a:solidFill>
                          <a:latin typeface="Calibri" pitchFamily="34" charset="0"/>
                          <a:ea typeface="Calibri" pitchFamily="34" charset="-122"/>
                          <a:cs typeface="Calibri" pitchFamily="34" charset="-120"/>
                        </a:rPr>
                        <a:t>Repository (kontrak abstract class) + Provider</a:t>
                      </a:r>
                      <a:endParaRPr lang="en-US" sz="16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bl>
          </a:graphicData>
        </a:graphic>
      </p:graphicFrame>
      <p:sp>
        <p:nvSpPr>
          <p:cNvPr id="5" name="lingkaran lampu"/>
          <p:cNvSpPr/>
          <p:nvPr/>
        </p:nvSpPr>
        <p:spPr>
          <a:xfrm>
            <a:off x="548640" y="5486400"/>
            <a:ext cx="502920" cy="502920"/>
          </a:xfrm>
          <a:prstGeom prst="ellipse">
            <a:avLst/>
          </a:prstGeom>
          <a:solidFill>
            <a:schemeClr val="accent3"/>
          </a:solidFill>
          <a:ln/>
        </p:spPr>
      </p:sp>
      <p:pic>
        <p:nvPicPr>
          <p:cNvPr id="6" name="Image 0" descr="lampu">    </p:cNvPr>
          <p:cNvPicPr>
            <a:picLocks noChangeAspect="1"/>
          </p:cNvPicPr>
          <p:nvPr/>
        </p:nvPicPr>
        <p:blipFill>
          <a:blip r:embed="rId1"/>
          <a:stretch>
            <a:fillRect/>
          </a:stretch>
        </p:blipFill>
        <p:spPr>
          <a:xfrm>
            <a:off x="659282" y="5597042"/>
            <a:ext cx="281635" cy="281635"/>
          </a:xfrm>
          <a:prstGeom prst="rect">
            <a:avLst/>
          </a:prstGeom>
        </p:spPr>
      </p:pic>
      <p:sp>
        <p:nvSpPr>
          <p:cNvPr id="7" name="Text 2"/>
          <p:cNvSpPr txBox="1"/>
          <p:nvPr/>
        </p:nvSpPr>
        <p:spPr>
          <a:xfrm>
            <a:off x="1234440" y="5394960"/>
            <a:ext cx="10408615" cy="685800"/>
          </a:xfrm>
          <a:prstGeom prst="rect">
            <a:avLst/>
          </a:prstGeom>
          <a:noFill/>
          <a:ln/>
        </p:spPr>
        <p:txBody>
          <a:bodyPr wrap="square" lIns="0" tIns="0" rIns="0" bIns="0" rtlCol="0" anchor="ctr"/>
          <a:lstStyle/>
          <a:p>
            <a:pPr indent="0" marL="0">
              <a:buNone/>
            </a:pPr>
            <a:r>
              <a:rPr lang="en-US" sz="1600" dirty="0">
                <a:solidFill>
                  <a:schemeClr val="tx1"/>
                </a:solidFill>
              </a:rPr>
              <a:t>Tidak ada satu alat untuk semua kebutuhan. Mulailah dari yang paling sederhana yang mencukupi.</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Ringkasan</a:t>
            </a:r>
            <a:endParaRPr lang="en-US" sz="3200" dirty="0"/>
          </a:p>
        </p:txBody>
      </p:sp>
      <p:sp>
        <p:nvSpPr>
          <p:cNvPr id="4" name="Text 1"/>
          <p:cNvSpPr txBox="1"/>
          <p:nvPr/>
        </p:nvSpPr>
        <p:spPr>
          <a:xfrm>
            <a:off x="548640" y="1417320"/>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Text 2"/>
          <p:cNvSpPr txBox="1"/>
          <p:nvPr/>
        </p:nvSpPr>
        <p:spPr>
          <a:xfrm>
            <a:off x="1234440" y="1371600"/>
            <a:ext cx="4632808" cy="1051560"/>
          </a:xfrm>
          <a:prstGeom prst="rect">
            <a:avLst/>
          </a:prstGeom>
          <a:noFill/>
          <a:ln/>
        </p:spPr>
        <p:txBody>
          <a:bodyPr wrap="square" lIns="0" tIns="0" rIns="0" bIns="0" rtlCol="0" anchor="t"/>
          <a:lstStyle/>
          <a:p>
            <a:pPr indent="0" marL="0">
              <a:buNone/>
            </a:pPr>
            <a:r>
              <a:rPr lang="en-US" sz="1700" dirty="0">
                <a:solidFill>
                  <a:schemeClr val="tx1"/>
                </a:solidFill>
              </a:rPr>
              <a:t>State lokal → setState. State aplikasi → di luar widget.</a:t>
            </a:r>
            <a:endParaRPr lang="en-US" sz="1700" dirty="0"/>
          </a:p>
        </p:txBody>
      </p:sp>
      <p:sp>
        <p:nvSpPr>
          <p:cNvPr id="6" name="Text 3"/>
          <p:cNvSpPr txBox="1"/>
          <p:nvPr/>
        </p:nvSpPr>
        <p:spPr>
          <a:xfrm>
            <a:off x="548640" y="2560320"/>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7" name="Text 4"/>
          <p:cNvSpPr txBox="1"/>
          <p:nvPr/>
        </p:nvSpPr>
        <p:spPr>
          <a:xfrm>
            <a:off x="1234440" y="2514600"/>
            <a:ext cx="4632808" cy="1051560"/>
          </a:xfrm>
          <a:prstGeom prst="rect">
            <a:avLst/>
          </a:prstGeom>
          <a:noFill/>
          <a:ln/>
        </p:spPr>
        <p:txBody>
          <a:bodyPr wrap="square" lIns="0" tIns="0" rIns="0" bIns="0" rtlCol="0" anchor="t"/>
          <a:lstStyle/>
          <a:p>
            <a:pPr indent="0" marL="0">
              <a:buNone/>
            </a:pPr>
            <a:r>
              <a:rPr lang="en-US" sz="1700" dirty="0">
                <a:solidFill>
                  <a:schemeClr val="tx1"/>
                </a:solidFill>
              </a:rPr>
              <a:t>ChangeNotifier: data privat, getter, notifyListeners(); buang dengan dispose().</a:t>
            </a:r>
            <a:endParaRPr lang="en-US" sz="1700" dirty="0"/>
          </a:p>
        </p:txBody>
      </p:sp>
      <p:sp>
        <p:nvSpPr>
          <p:cNvPr id="8" name="Text 5"/>
          <p:cNvSpPr txBox="1"/>
          <p:nvPr/>
        </p:nvSpPr>
        <p:spPr>
          <a:xfrm>
            <a:off x="548640" y="3703320"/>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9" name="Text 6"/>
          <p:cNvSpPr txBox="1"/>
          <p:nvPr/>
        </p:nvSpPr>
        <p:spPr>
          <a:xfrm>
            <a:off x="1234440" y="3657600"/>
            <a:ext cx="4632808" cy="1051560"/>
          </a:xfrm>
          <a:prstGeom prst="rect">
            <a:avLst/>
          </a:prstGeom>
          <a:noFill/>
          <a:ln/>
        </p:spPr>
        <p:txBody>
          <a:bodyPr wrap="square" lIns="0" tIns="0" rIns="0" bIns="0" rtlCol="0" anchor="t"/>
          <a:lstStyle/>
          <a:p>
            <a:pPr indent="0" marL="0">
              <a:buNone/>
            </a:pPr>
            <a:r>
              <a:rPr lang="en-US" sz="1700" dirty="0">
                <a:solidFill>
                  <a:schemeClr val="tx1"/>
                </a:solidFill>
              </a:rPr>
              <a:t>ListenableBuilder/ValueListenableBuilder membangun ulang sebagian layar.</a:t>
            </a:r>
            <a:endParaRPr lang="en-US" sz="1700" dirty="0"/>
          </a:p>
        </p:txBody>
      </p:sp>
      <p:sp>
        <p:nvSpPr>
          <p:cNvPr id="10" name="Text 7"/>
          <p:cNvSpPr txBox="1"/>
          <p:nvPr/>
        </p:nvSpPr>
        <p:spPr>
          <a:xfrm>
            <a:off x="548640" y="4846320"/>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1" name="Text 8"/>
          <p:cNvSpPr txBox="1"/>
          <p:nvPr/>
        </p:nvSpPr>
        <p:spPr>
          <a:xfrm>
            <a:off x="1234440" y="4800600"/>
            <a:ext cx="4632808" cy="1051560"/>
          </a:xfrm>
          <a:prstGeom prst="rect">
            <a:avLst/>
          </a:prstGeom>
          <a:noFill/>
          <a:ln/>
        </p:spPr>
        <p:txBody>
          <a:bodyPr wrap="square" lIns="0" tIns="0" rIns="0" bIns="0" rtlCol="0" anchor="t"/>
          <a:lstStyle/>
          <a:p>
            <a:pPr indent="0" marL="0">
              <a:buNone/>
            </a:pPr>
            <a:r>
              <a:rPr lang="en-US" sz="1700" dirty="0">
                <a:solidFill>
                  <a:schemeClr val="tx1"/>
                </a:solidFill>
              </a:rPr>
              <a:t>provider menitipkan objek; create membuat dan membuang otomatis.</a:t>
            </a:r>
            <a:endParaRPr lang="en-US" sz="1700" dirty="0"/>
          </a:p>
        </p:txBody>
      </p:sp>
      <p:sp>
        <p:nvSpPr>
          <p:cNvPr id="12" name="Text 9"/>
          <p:cNvSpPr txBox="1"/>
          <p:nvPr/>
        </p:nvSpPr>
        <p:spPr>
          <a:xfrm>
            <a:off x="6324448" y="1417320"/>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13" name="Text 10"/>
          <p:cNvSpPr txBox="1"/>
          <p:nvPr/>
        </p:nvSpPr>
        <p:spPr>
          <a:xfrm>
            <a:off x="7010248" y="1371600"/>
            <a:ext cx="4632808" cy="1051560"/>
          </a:xfrm>
          <a:prstGeom prst="rect">
            <a:avLst/>
          </a:prstGeom>
          <a:noFill/>
          <a:ln/>
        </p:spPr>
        <p:txBody>
          <a:bodyPr wrap="square" lIns="0" tIns="0" rIns="0" bIns="0" rtlCol="0" anchor="t"/>
          <a:lstStyle/>
          <a:p>
            <a:pPr indent="0" marL="0">
              <a:buNone/>
            </a:pPr>
            <a:r>
              <a:rPr lang="en-US" sz="1700" dirty="0">
                <a:solidFill>
                  <a:schemeClr val="tx1"/>
                </a:solidFill>
              </a:rPr>
              <a:t>Menampilkan → watch/select. Memanggil metode → read. Consumer membatasi rebuild.</a:t>
            </a:r>
            <a:endParaRPr lang="en-US" sz="1700" dirty="0"/>
          </a:p>
        </p:txBody>
      </p:sp>
      <p:sp>
        <p:nvSpPr>
          <p:cNvPr id="14" name="Text 11"/>
          <p:cNvSpPr txBox="1"/>
          <p:nvPr/>
        </p:nvSpPr>
        <p:spPr>
          <a:xfrm>
            <a:off x="6324448" y="2560320"/>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15" name="Text 12"/>
          <p:cNvSpPr txBox="1"/>
          <p:nvPr/>
        </p:nvSpPr>
        <p:spPr>
          <a:xfrm>
            <a:off x="7010248" y="2514600"/>
            <a:ext cx="4632808" cy="1051560"/>
          </a:xfrm>
          <a:prstGeom prst="rect">
            <a:avLst/>
          </a:prstGeom>
          <a:noFill/>
          <a:ln/>
        </p:spPr>
        <p:txBody>
          <a:bodyPr wrap="square" lIns="0" tIns="0" rIns="0" bIns="0" rtlCol="0" anchor="t"/>
          <a:lstStyle/>
          <a:p>
            <a:pPr indent="0" marL="0">
              <a:buNone/>
            </a:pPr>
            <a:r>
              <a:rPr lang="en-US" sz="1700" dirty="0">
                <a:solidFill>
                  <a:schemeClr val="tx1"/>
                </a:solidFill>
              </a:rPr>
              <a:t>MVVM: Model, View, ViewModel; data mengalir satu arah.</a:t>
            </a:r>
            <a:endParaRPr lang="en-US" sz="1700" dirty="0"/>
          </a:p>
        </p:txBody>
      </p:sp>
      <p:sp>
        <p:nvSpPr>
          <p:cNvPr id="16" name="Text 13"/>
          <p:cNvSpPr txBox="1"/>
          <p:nvPr/>
        </p:nvSpPr>
        <p:spPr>
          <a:xfrm>
            <a:off x="6324448" y="3703320"/>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7</a:t>
            </a:r>
            <a:endParaRPr lang="en-US" sz="1600" dirty="0"/>
          </a:p>
        </p:txBody>
      </p:sp>
      <p:sp>
        <p:nvSpPr>
          <p:cNvPr id="17" name="Text 14"/>
          <p:cNvSpPr txBox="1"/>
          <p:nvPr/>
        </p:nvSpPr>
        <p:spPr>
          <a:xfrm>
            <a:off x="7010248" y="3657600"/>
            <a:ext cx="4632808" cy="1051560"/>
          </a:xfrm>
          <a:prstGeom prst="rect">
            <a:avLst/>
          </a:prstGeom>
          <a:noFill/>
          <a:ln/>
        </p:spPr>
        <p:txBody>
          <a:bodyPr wrap="square" lIns="0" tIns="0" rIns="0" bIns="0" rtlCol="0" anchor="t"/>
          <a:lstStyle/>
          <a:p>
            <a:pPr indent="0" marL="0">
              <a:buNone/>
            </a:pPr>
            <a:r>
              <a:rPr lang="en-US" sz="1700" dirty="0">
                <a:solidFill>
                  <a:schemeClr val="tx1"/>
                </a:solidFill>
              </a:rPr>
              <a:t>Repository + kontrak; status memuat–berhasil–gagal sebagai enum.</a:t>
            </a:r>
            <a:endParaRPr lang="en-US" sz="1700" dirty="0"/>
          </a:p>
        </p:txBody>
      </p:sp>
      <p:sp>
        <p:nvSpPr>
          <p:cNvPr id="18" name="Text 15"/>
          <p:cNvSpPr txBox="1"/>
          <p:nvPr/>
        </p:nvSpPr>
        <p:spPr>
          <a:xfrm>
            <a:off x="6324448" y="4846320"/>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8</a:t>
            </a:r>
            <a:endParaRPr lang="en-US" sz="1600" dirty="0"/>
          </a:p>
        </p:txBody>
      </p:sp>
      <p:sp>
        <p:nvSpPr>
          <p:cNvPr id="19" name="Text 16"/>
          <p:cNvSpPr txBox="1"/>
          <p:nvPr/>
        </p:nvSpPr>
        <p:spPr>
          <a:xfrm>
            <a:off x="7010248" y="4800600"/>
            <a:ext cx="4632808" cy="1051560"/>
          </a:xfrm>
          <a:prstGeom prst="rect">
            <a:avLst/>
          </a:prstGeom>
          <a:noFill/>
          <a:ln/>
        </p:spPr>
        <p:txBody>
          <a:bodyPr wrap="square" lIns="0" tIns="0" rIns="0" bIns="0" rtlCol="0" anchor="t"/>
          <a:lstStyle/>
          <a:p>
            <a:pPr indent="0" marL="0">
              <a:buNone/>
            </a:pPr>
            <a:r>
              <a:rPr lang="en-US" sz="1700" dirty="0">
                <a:solidFill>
                  <a:schemeClr val="tx1"/>
                </a:solidFill>
              </a:rPr>
              <a:t>Letak provider = cakupan dan umur. ViewModel bisa diuji tanpa layar.</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3" name="Text 4"/>
          <p:cNvSpPr/>
          <p:nvPr>
            <p:ph idx="104" type="title" hasCustomPrompt="1"/>
          </p:nvPr>
        </p:nvSpPr>
        <p:spPr>
          <a:xfrm>
            <a:off x="731520" y="1554480"/>
            <a:ext cx="8778240" cy="2103120"/>
          </a:xfrm>
          <a:prstGeom prst="rect">
            <a:avLst/>
          </a:prstGeom>
          <a:noFill/>
          <a:ln/>
        </p:spPr>
        <p:txBody>
          <a:bodyPr wrap="square" lIns="0" tIns="0" rIns="0" bIns="0" rtlCol="0" anchor="b"/>
          <a:lstStyle/>
          <a:p>
            <a:pPr algn="l" indent="0" marL="0">
              <a:buNone/>
            </a:pPr>
            <a:r>
              <a:rPr lang="en-US" sz="4400" b="1" dirty="0">
                <a:solidFill>
                  <a:schemeClr val="bg1"/>
                </a:solidFill>
              </a:rPr>
              <a:t>Saatnya Praktik!</a:t>
            </a:r>
            <a:endParaRPr lang="en-US" sz="4400" dirty="0"/>
          </a:p>
        </p:txBody>
      </p:sp>
      <p:sp>
        <p:nvSpPr>
          <p:cNvPr id="4" name="Text 4"/>
          <p:cNvSpPr/>
          <p:nvPr>
            <p:ph idx="105" type="body" hasCustomPrompt="1"/>
          </p:nvPr>
        </p:nvSpPr>
        <p:spPr>
          <a:xfrm>
            <a:off x="731520" y="3840480"/>
            <a:ext cx="8412480" cy="1280160"/>
          </a:xfrm>
          <a:prstGeom prst="rect">
            <a:avLst/>
          </a:prstGeom>
          <a:noFill/>
          <a:ln/>
        </p:spPr>
        <p:txBody>
          <a:bodyPr wrap="square" lIns="0" tIns="0" rIns="0" bIns="0" rtlCol="0" anchor="t"/>
          <a:lstStyle/>
          <a:p>
            <a:pPr algn="l" indent="0" marL="0">
              <a:buNone/>
            </a:pPr>
            <a:r>
              <a:rPr lang="en-US" sz="2000" dirty="0">
                <a:solidFill>
                  <a:schemeClr val="bg2"/>
                </a:solidFill>
              </a:rPr>
              <a:t>Kerjakan Jobsheet Pertemuan 9 (lima praktikum + tugas Lapor Fasilitas Kampus), lalu uji diri di Latihan. Proyek akhir dimulai: bentuk tim dan kumpulkan proposal. Pertemuan berikutnya: asinkron dan REST API.</a:t>
            </a:r>
            <a:endParaRPr lang="en-US" sz="2000" dirty="0"/>
          </a:p>
        </p:txBody>
      </p:sp>
      <p:sp>
        <p:nvSpPr>
          <p:cNvPr id="5" name="tombol tautan">
            <a:hlinkClick r:id="rId1" tooltip="https://github.com/antonprafanto/mobile2026/blob/main/pertemuan_09_state_dan_mvvm/JOBSHEET.md"/>
          </p:cNvPr>
          <p:cNvSpPr txBox="1"/>
          <p:nvPr/>
        </p:nvSpPr>
        <p:spPr>
          <a:xfrm>
            <a:off x="731520" y="5166360"/>
            <a:ext cx="2697480" cy="548640"/>
          </a:xfrm>
          <a:prstGeom prst="roundRect">
            <a:avLst>
              <a:gd name="adj" fmla="val 20000"/>
            </a:avLst>
          </a:prstGeom>
          <a:solidFill>
            <a:schemeClr val="accent1"/>
          </a:solidFill>
          <a:ln/>
        </p:spPr>
        <p:txBody>
          <a:bodyPr wrap="square" lIns="622300" tIns="0" rIns="76200" bIns="0" rtlCol="0" anchor="ctr"/>
          <a:lstStyle/>
          <a:p>
            <a:pPr algn="l" indent="0" marL="0">
              <a:buNone/>
            </a:pPr>
            <a:r>
              <a:rPr lang="en-US" sz="1600" b="1" dirty="0">
                <a:solidFill>
                  <a:schemeClr val="bg1"/>
                </a:solidFill>
              </a:rPr>
              <a:t>Jobsheet P9</a:t>
            </a:r>
            <a:endParaRPr lang="en-US" sz="1600" dirty="0"/>
          </a:p>
        </p:txBody>
      </p:sp>
      <p:pic>
        <p:nvPicPr>
          <p:cNvPr id="6" name="Image 0" descr="ikon tautan">
            <a:hlinkClick r:id="rId3" tooltip="https://github.com/antonprafanto/mobile2026/blob/main/pertemuan_09_state_dan_mvvm/JOBSHEET.md"/>
          </p:cNvPr>
          <p:cNvPicPr>
            <a:picLocks noChangeAspect="1"/>
          </p:cNvPicPr>
          <p:nvPr/>
        </p:nvPicPr>
        <p:blipFill>
          <a:blip r:embed="rId2"/>
          <a:stretch>
            <a:fillRect/>
          </a:stretch>
        </p:blipFill>
        <p:spPr>
          <a:xfrm>
            <a:off x="877824" y="5276088"/>
            <a:ext cx="329184" cy="329184"/>
          </a:xfrm>
          <a:prstGeom prst="rect">
            <a:avLst/>
          </a:prstGeom>
        </p:spPr>
      </p:pic>
      <p:sp>
        <p:nvSpPr>
          <p:cNvPr id="7" name="tombol tautan">
            <a:hlinkClick r:id="rId4" tooltip="https://github.com/antonprafanto/mobile2026/blob/main/pertemuan_09_state_dan_mvvm/LATIHAN.md"/>
          </p:cNvPr>
          <p:cNvSpPr txBox="1"/>
          <p:nvPr/>
        </p:nvSpPr>
        <p:spPr>
          <a:xfrm>
            <a:off x="3611880" y="5166360"/>
            <a:ext cx="2697480" cy="548640"/>
          </a:xfrm>
          <a:prstGeom prst="roundRect">
            <a:avLst>
              <a:gd name="adj" fmla="val 20000"/>
            </a:avLst>
          </a:prstGeom>
          <a:solidFill>
            <a:schemeClr val="accent6"/>
          </a:solidFill>
          <a:ln/>
        </p:spPr>
        <p:txBody>
          <a:bodyPr wrap="square" lIns="622300" tIns="0" rIns="76200" bIns="0" rtlCol="0" anchor="ctr"/>
          <a:lstStyle/>
          <a:p>
            <a:pPr algn="l" indent="0" marL="0">
              <a:buNone/>
            </a:pPr>
            <a:r>
              <a:rPr lang="en-US" sz="1600" b="1" dirty="0">
                <a:solidFill>
                  <a:schemeClr val="bg1"/>
                </a:solidFill>
              </a:rPr>
              <a:t>Latihan P9</a:t>
            </a:r>
            <a:endParaRPr lang="en-US" sz="1600" dirty="0"/>
          </a:p>
        </p:txBody>
      </p:sp>
      <p:pic>
        <p:nvPicPr>
          <p:cNvPr id="8" name="Image 1" descr="ikon tautan">
            <a:hlinkClick r:id="rId6" tooltip="https://github.com/antonprafanto/mobile2026/blob/main/pertemuan_09_state_dan_mvvm/LATIHAN.md"/>
          </p:cNvPr>
          <p:cNvPicPr>
            <a:picLocks noChangeAspect="1"/>
          </p:cNvPicPr>
          <p:nvPr/>
        </p:nvPicPr>
        <p:blipFill>
          <a:blip r:embed="rId5"/>
          <a:stretch>
            <a:fillRect/>
          </a:stretch>
        </p:blipFill>
        <p:spPr>
          <a:xfrm>
            <a:off x="3758184" y="5276088"/>
            <a:ext cx="329184" cy="329184"/>
          </a:xfrm>
          <a:prstGeom prst="rect">
            <a:avLst/>
          </a:prstGeom>
        </p:spPr>
      </p:pic>
      <p:sp>
        <p:nvSpPr>
          <p:cNvPr id="9" name="tombol tautan">
            <a:hlinkClick r:id="rId7" tooltip="https://github.com/antonprafanto/mobile2026/blob/main/panduan/05_proyek_akhir.md"/>
          </p:cNvPr>
          <p:cNvSpPr txBox="1"/>
          <p:nvPr/>
        </p:nvSpPr>
        <p:spPr>
          <a:xfrm>
            <a:off x="6492240" y="5166360"/>
            <a:ext cx="2697480" cy="548640"/>
          </a:xfrm>
          <a:prstGeom prst="roundRect">
            <a:avLst>
              <a:gd name="adj" fmla="val 20000"/>
            </a:avLst>
          </a:prstGeom>
          <a:solidFill>
            <a:schemeClr val="accent6"/>
          </a:solidFill>
          <a:ln/>
        </p:spPr>
        <p:txBody>
          <a:bodyPr wrap="square" lIns="622300" tIns="0" rIns="76200" bIns="0" rtlCol="0" anchor="ctr"/>
          <a:lstStyle/>
          <a:p>
            <a:pPr algn="l" indent="0" marL="0">
              <a:buNone/>
            </a:pPr>
            <a:r>
              <a:rPr lang="en-US" sz="1600" b="1" dirty="0">
                <a:solidFill>
                  <a:schemeClr val="bg1"/>
                </a:solidFill>
              </a:rPr>
              <a:t>Proyek Akhir</a:t>
            </a:r>
            <a:endParaRPr lang="en-US" sz="1600" dirty="0"/>
          </a:p>
        </p:txBody>
      </p:sp>
      <p:pic>
        <p:nvPicPr>
          <p:cNvPr id="10" name="Image 2" descr="ikon tautan">
            <a:hlinkClick r:id="rId9" tooltip="https://github.com/antonprafanto/mobile2026/blob/main/panduan/05_proyek_akhir.md"/>
          </p:cNvPr>
          <p:cNvPicPr>
            <a:picLocks noChangeAspect="1"/>
          </p:cNvPicPr>
          <p:nvPr/>
        </p:nvPicPr>
        <p:blipFill>
          <a:blip r:embed="rId8"/>
          <a:stretch>
            <a:fillRect/>
          </a:stretch>
        </p:blipFill>
        <p:spPr>
          <a:xfrm>
            <a:off x="6638544" y="5276088"/>
            <a:ext cx="329184" cy="329184"/>
          </a:xfrm>
          <a:prstGeom prst="rect">
            <a:avLst/>
          </a:prstGeom>
        </p:spPr>
      </p:pic>
      <p:sp>
        <p:nvSpPr>
          <p:cNvPr id="11" name="lingkaran roket"/>
          <p:cNvSpPr/>
          <p:nvPr/>
        </p:nvSpPr>
        <p:spPr>
          <a:xfrm>
            <a:off x="9646920" y="1828800"/>
            <a:ext cx="1737360" cy="1737360"/>
          </a:xfrm>
          <a:prstGeom prst="ellipse">
            <a:avLst/>
          </a:prstGeom>
          <a:solidFill>
            <a:schemeClr val="accent1"/>
          </a:solidFill>
          <a:ln/>
        </p:spPr>
      </p:sp>
      <p:pic>
        <p:nvPicPr>
          <p:cNvPr id="12" name="Image 3" descr="roket">    </p:cNvPr>
          <p:cNvPicPr>
            <a:picLocks noChangeAspect="1"/>
          </p:cNvPicPr>
          <p:nvPr/>
        </p:nvPicPr>
        <p:blipFill>
          <a:blip r:embed="rId10"/>
          <a:stretch>
            <a:fillRect/>
          </a:stretch>
        </p:blipFill>
        <p:spPr>
          <a:xfrm>
            <a:off x="10029139" y="2211019"/>
            <a:ext cx="972922" cy="972922"/>
          </a:xfrm>
          <a:prstGeom prst="rect">
            <a:avLst/>
          </a:prstGeom>
        </p:spPr>
      </p:pic>
    </p:spTree>
  </p:cSld>
  <p:clrMapOvr>
    <a:masterClrMapping/>
  </p:clrMapOvr>
</p:sld>
</file>

<file path=ppt/theme/theme1.xml><?xml version="1.0" encoding="utf-8"?>
<a:theme xmlns:a="http://schemas.openxmlformats.org/drawingml/2006/main" name="PPB Flutter 2026">
  <a:themeElements>
    <a:clrScheme name="PPB Flutter 2026">
      <a:dk1>
        <a:srgbClr val="1B2333"/>
      </a:dk1>
      <a:lt1>
        <a:srgbClr val="FFFFFF"/>
      </a:lt1>
      <a:dk2>
        <a:srgbClr val="0B2545"/>
      </a:dk2>
      <a:lt2>
        <a:srgbClr val="EEF3FA"/>
      </a:lt2>
      <a:accent1>
        <a:srgbClr val="0175C2"/>
      </a:accent1>
      <a:accent2>
        <a:srgbClr val="13B9FD"/>
      </a:accent2>
      <a:accent3>
        <a:srgbClr val="F2A900"/>
      </a:accent3>
      <a:accent4>
        <a:srgbClr val="2E7D32"/>
      </a:accent4>
      <a:accent5>
        <a:srgbClr val="C62828"/>
      </a:accent5>
      <a:accent6>
        <a:srgbClr val="6750A4"/>
      </a:accent6>
      <a:hlink>
        <a:srgbClr val="0175C2"/>
      </a:hlink>
      <a:folHlink>
        <a:srgbClr val="6750A4"/>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56</Slides>
  <Notes>56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56</vt:i4>
      </vt:variant>
    </vt:vector>
  </HeadingPairs>
  <TitlesOfParts>
    <vt:vector size="5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Pertemuan 09 - Manajemen State &amp; MVVM</dc:title>
  <dc:subject>Materi kuliah Pemrograman Piranti Bergerak (Flutter 2026)</dc:subject>
  <dc:creator>Pemrograman Piranti Bergerak - Informatika S1</dc:creator>
  <cp:lastModifiedBy>Pemrograman Piranti Bergerak - Informatika S1</cp:lastModifiedBy>
  <cp:revision>1</cp:revision>
  <dcterms:created xsi:type="dcterms:W3CDTF">2026-10-15T18:45:24Z</dcterms:created>
  <dcterms:modified xsi:type="dcterms:W3CDTF">2026-10-15T18:45:24Z</dcterms:modified>
</cp:coreProperties>
</file>