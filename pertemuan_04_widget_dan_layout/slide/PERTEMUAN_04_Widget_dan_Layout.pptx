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7ccaaa43-e42c-93be-570d-5ec0245285f1}">
          <p14:sldIdLst>
            <p14:sldId id="256"/>
            <p14:sldId id="257"/>
            <p14:sldId id="258"/>
          </p14:sldIdLst>
        </p14:section>
        <p14:section name="Semua Adalah Widget" id="{e81d673c-a744-a5bd-ddd2-77c3ffc1e583}">
          <p14:sldIdLst>
            <p14:sldId id="259"/>
            <p14:sldId id="260"/>
            <p14:sldId id="261"/>
          </p14:sldIdLst>
        </p14:section>
        <p14:section name="Widget Dasar dan Jarak" id="{8725458a-8beb-f0ab-203e-cb7109064b32}">
          <p14:sldIdLst>
            <p14:sldId id="262"/>
            <p14:sldId id="263"/>
            <p14:sldId id="264"/>
            <p14:sldId id="265"/>
            <p14:sldId id="266"/>
          </p14:sldIdLst>
        </p14:section>
        <p14:section name="Row dan Column" id="{f521c961-0590-c90f-1b7a-5224945cefd0}">
          <p14:sldIdLst>
            <p14:sldId id="267"/>
            <p14:sldId id="268"/>
            <p14:sldId id="269"/>
            <p14:sldId id="270"/>
            <p14:sldId id="271"/>
          </p14:sldIdLst>
        </p14:section>
        <p14:section name="Membagi Ruang dan Menumpuk" id="{457c9965-f122-e7b8-6984-e2f0a6e05644}">
          <p14:sldIdLst>
            <p14:sldId id="272"/>
            <p14:sldId id="273"/>
            <p14:sldId id="274"/>
          </p14:sldIdLst>
        </p14:section>
        <p14:section name="Constraints dan Overflow" id="{e50e334b-5236-ee1f-3796-87882ab3bf5a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Merapikan Tampilan dan Kode" id="{04edb505-01ea-08b0-606e-9001578bd1dd}">
          <p14:sldIdLst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Kembali ke Flutter. Konsep Pertemuan 3 (class, parameter bernama, required, final, const, extends, @override, enum) langsung dipakai hari ini. Semua contoh bisa dijalankan di DartPad tanpa instalasi.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akhir hari ini: halaman Detail Menu Kantin yang tetap rapi di layar sempit (320) maupun lebar.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awal mengenalkan "bahan bangunan", bagian tengah cara menyusunnya, bagian akhir cara memahami ukuran dan merapikan kode.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Mulai dari konsep paling dasar: di Flutter, semua yang tampil di layar adalah widget, dan widget tersusun bertingkat seperti pohon.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Gambar pohonnya di papan tulis: Scaffold bercabang ke AppBar dan Center; Center ke Column; Column ke tiga anak. Tanyakan: siapa induk Column? Berapa anaknya?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Peragakan fitur Wrap with... dan Remove this widget di VS Code. Fitur ini menghemat waktu dan mencegah kurung yang tidak berpasangan.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Kenalkan bahan bangunan: teks, ikon, dan gambar, lalu cara memberi jarak, ukuran, posisi, dan kotak berhias.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Kebiasaan dari Pertemuan 1: Theme.of(context). Gambar dari internet butuh koneksi. Image.asset butuh pendaftaran di pubspec.yaml dan tidak bisa dicoba di DartPad.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Tanyakan: mengapa color: warna.primary, bukan Colors.blue? Jawaban: agar serasi dengan tema. Jika seedColor diganti atau aplikasi memakai mode gelap (Pertemuan 7), semua warna ikut menyesuaikan. Ingat juga: titleLarge bertipe TextStyle?, jadi copyWith dipanggil dengan ?.copyWith(...).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Pita berwarna pada gambar adalah area padding, kotak putih adalah anaknya. Minta mahasiswa menebak EdgeInsets untuk jarak 24 di kiri-kanan saja (EdgeInsets.symmetric(horizontal: 24)).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kotak kado: margin = jarak ke benda lain, border = kardus, padding = busa pelindung, child = hadiah. Jika hanya butuh satu kemampuan, pakai widget khususnya (Padding, SizedBox, ColoredBox) agar kode lebih jelas.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 dan Column adalah widget tata letak yang paling sering dipakai. Kuasai dulu dua sumbunya: sumbu utama dan sumbu silang.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Peragakan dengan tangan: Row = tangan mendatar, Column = tangan tegak. Parameter spacing tersedia sejak Flutter 3.27 dan menggantikan SizedBox di antara setiap anak.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"for di dalam daftar": ditulis di dalam kurung siku, tanpa kurung kurawal dan titik koma; setiap putaran menambah satu widget. Hitung bersama: lebar 300, tiga kotak 60, spaceBetween → sisa 120 dibagi 2 celah = 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Pada contoh, setiap Row dibungkus SizedBox(height: 64) agar perbedaan start/center/end terlihat. Tanyakan: jika Row diganti Column, crossAxisAlignment mengatur arah mana? (kiri–kanan).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Kiri: Card berisi Column langsung sebagai body, kartu memanjang. Kanan: setelah mainAxisSize.min. Alasan lengkapnya (batasan tak terbatas) dibahas di Bagian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Setelah bisa menyusun berderet, sekarang membagi sisa ruang (Expanded) dan menumpuk widget (Stack).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Expanded, Flexible, dan Spacer hanya boleh menjadi anak langsung Row/Column. Di tempat lain muncul Incorrect use of ParentDataWidget. Pola paling sering di aplikasi nyata: ikon + Expanded(teks dengan ellipsis) + harga.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ClipRRect memotong seluruh isi Stack mengikuti sudut bulat (lihat banner). Positioned hanya boleh menjadi anak langsung Stack. Badge adalah lencana angka siap pakai dari Material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Bagian terpenting hari ini: mengapa ukuran widget kadang tidak sesuai harapan, dan mengapa muncul garis kuning-hitam.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di modul: Center → Padding(16) → Text di layar 360 × 640. Padding meneruskan batasan lebar 0–328 kepada Text. Jika Text memilih 40 × 20, Padding melapor 72 × 52 (ditambah 16 di setiap sisi), lalu Center menaruhnya di tengah.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 maksimum bergantung pada lebar layar. Jalankan contoh 07 di jendela yang berbeda ukuran, lalu minta mahasiswa menjelaskan mengapa angkanya berubah.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Hubungkan dengan slide crossAxisAlignment di Bagian 3: tinggi 24/40/56 diabaikan karena alasan yang sama. Di modul, Container diberi color: warna.primary agar terlihat; di sini disingkat.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contoh 08, hapus // di dua baris MASALAH, jalankan, lalu tunjukkan pesan di konsol. Jangan pernah mengabaikan overflow, sekecil apa pun angkanya.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Kuis cepat: 12 chip hobi meluber ke kanan → Wrap. Alamat panjang di samping ikon → Expanded. Halaman detail yang tinggi → SingleChildScrollView.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Terakhir: ListTile yang siap pakai, cara memecah kode panjang menjadi widget kecil, lalu studi kasus yang menggabungkan semuanya.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ListTile di dalam Row tanpa Expanded memunculkan BoxConstraints forces an infinite width. Beberapa ListTile dalam satu Card dipisah dengan Divider(height: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Hubungkan dengan Pertemuan 3: parameter bernama, required, final, const. Peragakan Ctrl+. → Extract Widget di VS Code untuk memecah widget secara otomatis.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Sumber: dokumentasi StatelessWidget di api.flutter.dev ("prefer using a widget rather than a helper method"). Tunjukkan perbedaan di Inspector: widget class muncul dengan namanya sendiri, fungsi pembantu tidak.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Pecah sketsa menjadi kotak-kotak dulu: mendatar (Row), menurun (Column), atau bertumpuk (Stack)? Ceritakan pelajaran uji layar sempit: versi pertama terlihat bagus di 360 tetapi rusak di 320.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Biasakan menguji tampilan di lebar 320–360 piksel logis. Pengguna aplikasi kita memakai ponsel, bukan monitor lebar. Inspector tidak tersedia di DartPad; di DartPad pakai garis bantu.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 kesalahan bisa memicu puluhan pesan berantai (RenderBox was not laid out). Selalu baca dan perbaiki pesan PERTAMA dulu. Tabel lengkap ada di modul bagian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menyebutkan widget yang dipakai halaman Detail Menu Kantin beserta alasannya.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Ingatkan: tugas mandiri wajib bebas garis kuning-hitam di lebar 360 dan 320, dan dikumpulkan bersama screenshot kedua ukuran tersebut.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2926080"/>
            <a:ext cx="5669280" cy="566928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92640" y="-1280160"/>
            <a:ext cx="3291840" cy="329184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PEMROGRAMAN PIRANTI BERGERAK  ·  INFORMATIKA S1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github.com/antonprafanto/mobile2026</a:t>
            </a:r>
            <a:endParaRPr lang="en-US" sz="13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731520" y="1554480"/>
            <a:ext cx="87782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731520" y="384048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645920" y="4023360"/>
            <a:ext cx="4572000" cy="4572000"/>
          </a:xfrm>
          <a:prstGeom prst="ellipse">
            <a:avLst/>
          </a:prstGeom>
          <a:solidFill>
            <a:schemeClr val="accent1">
              <a:alpha val="25000"/>
            </a:scheme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Pemrograman Piranti Bergerak  ·  Pertemuan 04  ·  Widget &amp; Tata Letak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E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Pemrograman Piranti Bergerak  ·  Pertemuan 04  ·  Widget &amp; Tata Letak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1.png"/><Relationship Id="rId6" Type="http://schemas.openxmlformats.org/officeDocument/2006/relationships/image" Target="../media/image-2-1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tonprafanto/mobile2026/blob/main/pertemuan_04_widget_dan_layout/kode/contoh_01_widget_dasar.dart" TargetMode="External"/><Relationship Id="rId4" Type="http://schemas.openxmlformats.org/officeDocument/2006/relationships/hyperlink" Target="https://github.com/antonprafanto/mobile2026/blob/main/pertemuan_04_widget_dan_layout/kode/contoh_01_widget_dasar.dart" TargetMode="External"/><Relationship Id="rId1" Type="http://schemas.openxmlformats.org/officeDocument/2006/relationships/image" Target="../media/image-8-1.jpg"/><Relationship Id="rId3" Type="http://schemas.openxmlformats.org/officeDocument/2006/relationships/image" Target="../media/image-8-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tonprafanto/mobile2026/blob/main/pertemuan_04_widget_dan_layout/kode/contoh_02_padding_sizedbox_align.dart" TargetMode="External"/><Relationship Id="rId4" Type="http://schemas.openxmlformats.org/officeDocument/2006/relationships/hyperlink" Target="https://github.com/antonprafanto/mobile2026/blob/main/pertemuan_04_widget_dan_layout/kode/contoh_02_padding_sizedbox_align.dart" TargetMode="External"/><Relationship Id="rId1" Type="http://schemas.openxmlformats.org/officeDocument/2006/relationships/image" Target="../media/image-10-1.jpg"/><Relationship Id="rId3" Type="http://schemas.openxmlformats.org/officeDocument/2006/relationships/image" Target="../media/image-10-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tonprafanto/mobile2026/blob/main/pertemuan_04_widget_dan_layout/kode/contoh_03_container_dan_dekorasi.dart" TargetMode="External"/><Relationship Id="rId4" Type="http://schemas.openxmlformats.org/officeDocument/2006/relationships/hyperlink" Target="https://github.com/antonprafanto/mobile2026/blob/main/pertemuan_04_widget_dan_layout/kode/contoh_03_container_dan_dekorasi.dart" TargetMode="External"/><Relationship Id="rId1" Type="http://schemas.openxmlformats.org/officeDocument/2006/relationships/image" Target="../media/image-11-1.jpg"/><Relationship Id="rId3" Type="http://schemas.openxmlformats.org/officeDocument/2006/relationships/image" Target="../media/image-11-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tonprafanto/mobile2026/blob/main/pertemuan_04_widget_dan_layout/kode/contoh_04_row_dan_column.dart" TargetMode="External"/><Relationship Id="rId4" Type="http://schemas.openxmlformats.org/officeDocument/2006/relationships/hyperlink" Target="https://github.com/antonprafanto/mobile2026/blob/main/pertemuan_04_widget_dan_layout/kode/contoh_04_row_dan_column.dart" TargetMode="External"/><Relationship Id="rId1" Type="http://schemas.openxmlformats.org/officeDocument/2006/relationships/image" Target="../media/image-14-1.jpg"/><Relationship Id="rId3" Type="http://schemas.openxmlformats.org/officeDocument/2006/relationships/image" Target="../media/image-14-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tonprafanto/mobile2026/blob/main/pertemuan_04_widget_dan_layout/kode/contoh_04_row_dan_column.dart" TargetMode="External"/><Relationship Id="rId4" Type="http://schemas.openxmlformats.org/officeDocument/2006/relationships/hyperlink" Target="https://github.com/antonprafanto/mobile2026/blob/main/pertemuan_04_widget_dan_layout/kode/contoh_04_row_dan_column.dart" TargetMode="External"/><Relationship Id="rId1" Type="http://schemas.openxmlformats.org/officeDocument/2006/relationships/image" Target="../media/image-15-1.jpg"/><Relationship Id="rId3" Type="http://schemas.openxmlformats.org/officeDocument/2006/relationships/image" Target="../media/image-15-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tonprafanto/mobile2026/blob/main/pertemuan_04_widget_dan_layout/kode/contoh_05_expanded_flexible_spacer.dart" TargetMode="External"/><Relationship Id="rId4" Type="http://schemas.openxmlformats.org/officeDocument/2006/relationships/hyperlink" Target="https://github.com/antonprafanto/mobile2026/blob/main/pertemuan_04_widget_dan_layout/kode/contoh_05_expanded_flexible_spacer.dart" TargetMode="External"/><Relationship Id="rId1" Type="http://schemas.openxmlformats.org/officeDocument/2006/relationships/image" Target="../media/image-18-1.jpg"/><Relationship Id="rId3" Type="http://schemas.openxmlformats.org/officeDocument/2006/relationships/image" Target="../media/image-18-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tonprafanto/mobile2026/blob/main/pertemuan_04_widget_dan_layout/kode/contoh_06_stack_dan_positioned.dart" TargetMode="External"/><Relationship Id="rId4" Type="http://schemas.openxmlformats.org/officeDocument/2006/relationships/hyperlink" Target="https://github.com/antonprafanto/mobile2026/blob/main/pertemuan_04_widget_dan_layout/kode/contoh_06_stack_dan_positioned.dart" TargetMode="External"/><Relationship Id="rId1" Type="http://schemas.openxmlformats.org/officeDocument/2006/relationships/image" Target="../media/image-19-1.jpg"/><Relationship Id="rId3" Type="http://schemas.openxmlformats.org/officeDocument/2006/relationships/image" Target="../media/image-19-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tonprafanto/mobile2026/blob/main/pertemuan_04_widget_dan_layout/kode/contoh_07_constraints.dart" TargetMode="External"/><Relationship Id="rId4" Type="http://schemas.openxmlformats.org/officeDocument/2006/relationships/hyperlink" Target="https://github.com/antonprafanto/mobile2026/blob/main/pertemuan_04_widget_dan_layout/kode/contoh_07_constraints.dart" TargetMode="External"/><Relationship Id="rId1" Type="http://schemas.openxmlformats.org/officeDocument/2006/relationships/image" Target="../media/image-22-1.jpg"/><Relationship Id="rId3" Type="http://schemas.openxmlformats.org/officeDocument/2006/relationships/image" Target="../media/image-22-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tonprafanto/mobile2026/blob/main/pertemuan_04_widget_dan_layout/kode/contoh_08_mengatasi_overflow.dart" TargetMode="External"/><Relationship Id="rId4" Type="http://schemas.openxmlformats.org/officeDocument/2006/relationships/hyperlink" Target="https://github.com/antonprafanto/mobile2026/blob/main/pertemuan_04_widget_dan_layout/kode/contoh_08_mengatasi_overflow.dart" TargetMode="External"/><Relationship Id="rId1" Type="http://schemas.openxmlformats.org/officeDocument/2006/relationships/image" Target="../media/image-24-1.jpg"/><Relationship Id="rId3" Type="http://schemas.openxmlformats.org/officeDocument/2006/relationships/image" Target="../media/image-24-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tonprafanto/mobile2026/blob/main/pertemuan_04_widget_dan_layout/kode/contoh_09_card_dan_listtile.dart" TargetMode="External"/><Relationship Id="rId4" Type="http://schemas.openxmlformats.org/officeDocument/2006/relationships/hyperlink" Target="https://github.com/antonprafanto/mobile2026/blob/main/pertemuan_04_widget_dan_layout/kode/contoh_09_card_dan_listtile.dart" TargetMode="External"/><Relationship Id="rId1" Type="http://schemas.openxmlformats.org/officeDocument/2006/relationships/image" Target="../media/image-27-1.jpg"/><Relationship Id="rId3" Type="http://schemas.openxmlformats.org/officeDocument/2006/relationships/image" Target="../media/image-27-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tonprafanto/mobile2026/blob/main/pertemuan_04_widget_dan_layout/kode/contoh_10_memecah_widget.dart" TargetMode="External"/><Relationship Id="rId4" Type="http://schemas.openxmlformats.org/officeDocument/2006/relationships/hyperlink" Target="https://github.com/antonprafanto/mobile2026/blob/main/pertemuan_04_widget_dan_layout/kode/contoh_10_memecah_widget.dart" TargetMode="External"/><Relationship Id="rId1" Type="http://schemas.openxmlformats.org/officeDocument/2006/relationships/image" Target="../media/image-28-1.jpg"/><Relationship Id="rId3" Type="http://schemas.openxmlformats.org/officeDocument/2006/relationships/image" Target="../media/image-28-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tonprafanto/mobile2026/blob/main/pertemuan_04_widget_dan_layout/kode/contoh_11_studi_kasus_detail_menu.dart" TargetMode="External"/><Relationship Id="rId5" Type="http://schemas.openxmlformats.org/officeDocument/2006/relationships/hyperlink" Target="https://github.com/antonprafanto/mobile2026/blob/main/pertemuan_04_widget_dan_layout/kode/contoh_11_studi_kasus_detail_menu.dart" TargetMode="External"/><Relationship Id="rId1" Type="http://schemas.openxmlformats.org/officeDocument/2006/relationships/image" Target="../media/image-30-1.jpg"/><Relationship Id="rId2" Type="http://schemas.openxmlformats.org/officeDocument/2006/relationships/image" Target="../media/image-30-2.jpg"/><Relationship Id="rId4" Type="http://schemas.openxmlformats.org/officeDocument/2006/relationships/image" Target="../media/image-30-3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4_widget_dan_layout/JOBSHEET.md" TargetMode="External"/><Relationship Id="rId3" Type="http://schemas.openxmlformats.org/officeDocument/2006/relationships/hyperlink" Target="https://github.com/antonprafanto/mobile2026/blob/main/pertemuan_04_widget_dan_layout/JOBSHEET.md" TargetMode="External"/><Relationship Id="rId4" Type="http://schemas.openxmlformats.org/officeDocument/2006/relationships/hyperlink" Target="https://github.com/antonprafanto/mobile2026/blob/main/pertemuan_04_widget_dan_layout/LATIHAN.md" TargetMode="External"/><Relationship Id="rId6" Type="http://schemas.openxmlformats.org/officeDocument/2006/relationships/hyperlink" Target="https://github.com/antonprafanto/mobile2026/blob/main/pertemuan_04_widget_dan_layout/LATIHAN.md" TargetMode="External"/><Relationship Id="rId7" Type="http://schemas.openxmlformats.org/officeDocument/2006/relationships/hyperlink" Target="https://github.com/antonprafanto/mobile2026/blob/main/pertemuan_04_widget_dan_layout/README.md" TargetMode="External"/><Relationship Id="rId9" Type="http://schemas.openxmlformats.org/officeDocument/2006/relationships/hyperlink" Target="https://github.com/antonprafanto/mobile2026/blob/main/pertemuan_04_widget_dan_layout/README.md" TargetMode="External"/><Relationship Id="rId2" Type="http://schemas.openxmlformats.org/officeDocument/2006/relationships/image" Target="../media/image-34-1.png"/><Relationship Id="rId5" Type="http://schemas.openxmlformats.org/officeDocument/2006/relationships/image" Target="../media/image-34-2.png"/><Relationship Id="rId8" Type="http://schemas.openxmlformats.org/officeDocument/2006/relationships/image" Target="../media/image-34-3.png"/><Relationship Id="rId10" Type="http://schemas.openxmlformats.org/officeDocument/2006/relationships/image" Target="../media/image-34-4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"/>
          <p:cNvSpPr/>
          <p:nvPr>
            <p:ph idx="104" type="title" hasCustomPrompt="1"/>
          </p:nvPr>
        </p:nvSpPr>
        <p:spPr>
          <a:xfrm>
            <a:off x="731520" y="155448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Widget &amp; Tata Letak (Layout)</a:t>
            </a:r>
            <a:endParaRPr lang="en-US" sz="4400" dirty="0"/>
          </a:p>
        </p:txBody>
      </p:sp>
      <p:sp>
        <p:nvSpPr>
          <p:cNvPr id="4" name="Text 4"/>
          <p:cNvSpPr/>
          <p:nvPr>
            <p:ph idx="105" type="body" hasCustomPrompt="1"/>
          </p:nvPr>
        </p:nvSpPr>
        <p:spPr>
          <a:xfrm>
            <a:off x="731520" y="384048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Pertemuan 4  ·  Widget dasar, Row &amp; Column, Expanded, Stack, constraints, overflow, dan memecah widget</a:t>
            </a:r>
            <a:endParaRPr lang="en-US" sz="2000" dirty="0"/>
          </a:p>
        </p:txBody>
      </p:sp>
      <p:sp>
        <p:nvSpPr>
          <p:cNvPr id="5" name="lingkaran hp"/>
          <p:cNvSpPr/>
          <p:nvPr/>
        </p:nvSpPr>
        <p:spPr>
          <a:xfrm>
            <a:off x="9646920" y="182880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h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9139" y="2211019"/>
            <a:ext cx="972922" cy="9729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Tujuan Pembelajaran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5870"/>
                </a:solidFill>
              </a:rPr>
              <a:t>Setelah pertemuan ini, Anda mampu:</a:t>
            </a:r>
            <a:endParaRPr lang="en-US" sz="1800" dirty="0"/>
          </a:p>
        </p:txBody>
      </p:sp>
      <p:sp>
        <p:nvSpPr>
          <p:cNvPr id="5" name="lingkaran centang"/>
          <p:cNvSpPr/>
          <p:nvPr/>
        </p:nvSpPr>
        <p:spPr>
          <a:xfrm>
            <a:off x="548640" y="201168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centa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2142439"/>
            <a:ext cx="332842" cy="33284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92024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Membaca pohon widget dan memakai widget dasar dengan gaya dari tema</a:t>
            </a:r>
            <a:endParaRPr lang="en-US" sz="1900" dirty="0"/>
          </a:p>
        </p:txBody>
      </p:sp>
      <p:sp>
        <p:nvSpPr>
          <p:cNvPr id="8" name="lingkaran centang"/>
          <p:cNvSpPr/>
          <p:nvPr/>
        </p:nvSpPr>
        <p:spPr>
          <a:xfrm>
            <a:off x="548640" y="320040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Image 1" descr="centa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3331159"/>
            <a:ext cx="332842" cy="3328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310896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Mengatur jarak, ukuran, dan posisi dengan Padding, SizedBox, dan Align</a:t>
            </a:r>
            <a:endParaRPr lang="en-US" sz="1900" dirty="0"/>
          </a:p>
        </p:txBody>
      </p:sp>
      <p:sp>
        <p:nvSpPr>
          <p:cNvPr id="11" name="lingkaran centang"/>
          <p:cNvSpPr/>
          <p:nvPr/>
        </p:nvSpPr>
        <p:spPr>
          <a:xfrm>
            <a:off x="548640" y="438912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mage 2" descr="centa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4519879"/>
            <a:ext cx="332842" cy="33284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25880" y="429768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Menyusun tampilan dengan Row, Column, Expanded, dan Stack</a:t>
            </a:r>
            <a:endParaRPr lang="en-US" sz="1900" dirty="0"/>
          </a:p>
        </p:txBody>
      </p:sp>
      <p:sp>
        <p:nvSpPr>
          <p:cNvPr id="14" name="lingkaran centang"/>
          <p:cNvSpPr/>
          <p:nvPr/>
        </p:nvSpPr>
        <p:spPr>
          <a:xfrm>
            <a:off x="6278728" y="201168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3" descr="centa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487" y="2142439"/>
            <a:ext cx="332842" cy="33284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055968" y="192024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Menjelaskan aturan constraints untuk menebak ukuran widget</a:t>
            </a:r>
            <a:endParaRPr lang="en-US" sz="1900" dirty="0"/>
          </a:p>
        </p:txBody>
      </p:sp>
      <p:sp>
        <p:nvSpPr>
          <p:cNvPr id="17" name="lingkaran centang"/>
          <p:cNvSpPr/>
          <p:nvPr/>
        </p:nvSpPr>
        <p:spPr>
          <a:xfrm>
            <a:off x="6278728" y="320040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mage 4" descr="centa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487" y="3331159"/>
            <a:ext cx="332842" cy="33284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055968" y="310896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Mengenali overflow dan memilih cara memperbaikinya</a:t>
            </a:r>
            <a:endParaRPr lang="en-US" sz="1900" dirty="0"/>
          </a:p>
        </p:txBody>
      </p:sp>
      <p:sp>
        <p:nvSpPr>
          <p:cNvPr id="20" name="lingkaran centang"/>
          <p:cNvSpPr/>
          <p:nvPr/>
        </p:nvSpPr>
        <p:spPr>
          <a:xfrm>
            <a:off x="6278728" y="438912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mage 5" descr="centa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487" y="4519879"/>
            <a:ext cx="332842" cy="332842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055968" y="429768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Memecah tampilan menjadi widget kecil yang bisa dipakai ulang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Peta Materi Hari Ini</a:t>
            </a:r>
            <a:endParaRPr lang="en-US" sz="3200" dirty="0"/>
          </a:p>
        </p:txBody>
      </p:sp>
      <p:sp>
        <p:nvSpPr>
          <p:cNvPr id="4" name="langkah 1"/>
          <p:cNvSpPr/>
          <p:nvPr/>
        </p:nvSpPr>
        <p:spPr>
          <a:xfrm>
            <a:off x="548640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5" name="lingkaran pohon"/>
          <p:cNvSpPr/>
          <p:nvPr/>
        </p:nvSpPr>
        <p:spPr>
          <a:xfrm>
            <a:off x="905485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oh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594" y="2294230"/>
            <a:ext cx="486461" cy="48646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58368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Pohon widget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Induk, anak, child, dan children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167585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1" name="langkah 2"/>
          <p:cNvSpPr/>
          <p:nvPr/>
        </p:nvSpPr>
        <p:spPr>
          <a:xfrm>
            <a:off x="2451049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12" name="lingkaran teks"/>
          <p:cNvSpPr/>
          <p:nvPr/>
        </p:nvSpPr>
        <p:spPr>
          <a:xfrm>
            <a:off x="2807894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tek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003" y="2294230"/>
            <a:ext cx="486461" cy="48646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560777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2588209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Widget dasar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2588209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Teks, ikon, gambar, jarak, Container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069994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8" name="langkah 3"/>
          <p:cNvSpPr/>
          <p:nvPr/>
        </p:nvSpPr>
        <p:spPr>
          <a:xfrm>
            <a:off x="4353458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19" name="lingkaran kolom"/>
          <p:cNvSpPr/>
          <p:nvPr/>
        </p:nvSpPr>
        <p:spPr>
          <a:xfrm>
            <a:off x="4710303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2" descr="kolo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413" y="2294230"/>
            <a:ext cx="486461" cy="48646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463186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4490618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Row &amp; Column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4490618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Sumbu utama dan sumbu silang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972404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5" name="langkah 4"/>
          <p:cNvSpPr/>
          <p:nvPr/>
        </p:nvSpPr>
        <p:spPr>
          <a:xfrm>
            <a:off x="6255868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26" name="lingkaran lapisan"/>
          <p:cNvSpPr/>
          <p:nvPr/>
        </p:nvSpPr>
        <p:spPr>
          <a:xfrm>
            <a:off x="6612712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3" descr="lapis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822" y="2294230"/>
            <a:ext cx="486461" cy="486461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365596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6393028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Expanded &amp; Stack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6393028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Membagi ruang dan menumpuk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7874813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2" name="langkah 5"/>
          <p:cNvSpPr/>
          <p:nvPr/>
        </p:nvSpPr>
        <p:spPr>
          <a:xfrm>
            <a:off x="8158277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33" name="lingkaran ukur"/>
          <p:cNvSpPr/>
          <p:nvPr/>
        </p:nvSpPr>
        <p:spPr>
          <a:xfrm>
            <a:off x="8515121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mage 4" descr="uku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6231" y="2294230"/>
            <a:ext cx="486461" cy="486461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268005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8295437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Constraints &amp; overflow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8295437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Mengapa tampilan berantakan dan cara memperbaikinya</a:t>
            </a:r>
            <a:endParaRPr lang="en-US" sz="1400" dirty="0"/>
          </a:p>
        </p:txBody>
      </p:sp>
      <p:sp>
        <p:nvSpPr>
          <p:cNvPr id="38" name="Shape 30"/>
          <p:cNvSpPr/>
          <p:nvPr/>
        </p:nvSpPr>
        <p:spPr>
          <a:xfrm>
            <a:off x="9777222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9" name="langkah 6"/>
          <p:cNvSpPr/>
          <p:nvPr/>
        </p:nvSpPr>
        <p:spPr>
          <a:xfrm>
            <a:off x="10060686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40" name="lingkaran dasbor"/>
          <p:cNvSpPr/>
          <p:nvPr/>
        </p:nvSpPr>
        <p:spPr>
          <a:xfrm>
            <a:off x="10417531" y="210312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1" name="Image 5" descr="dasb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8640" y="2294230"/>
            <a:ext cx="486461" cy="486461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0170414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6</a:t>
            </a:r>
            <a:endParaRPr lang="en-US" sz="1400" dirty="0"/>
          </a:p>
        </p:txBody>
      </p:sp>
      <p:sp>
        <p:nvSpPr>
          <p:cNvPr id="43" name="Text 34"/>
          <p:cNvSpPr txBox="1"/>
          <p:nvPr/>
        </p:nvSpPr>
        <p:spPr>
          <a:xfrm>
            <a:off x="10197846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Memecah widget</a:t>
            </a:r>
            <a:endParaRPr lang="en-US" sz="1700" dirty="0"/>
          </a:p>
        </p:txBody>
      </p:sp>
      <p:sp>
        <p:nvSpPr>
          <p:cNvPr id="44" name="Text 35"/>
          <p:cNvSpPr txBox="1"/>
          <p:nvPr/>
        </p:nvSpPr>
        <p:spPr>
          <a:xfrm>
            <a:off x="10197846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Kode rapi, lalu studi kasus menu kantin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BAGIAN 1</a:t>
            </a:r>
            <a:endParaRPr lang="en-US" sz="1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Semua Adalah Widget</a:t>
            </a:r>
            <a:endParaRPr lang="en-US" sz="4000" dirty="0"/>
          </a:p>
        </p:txBody>
      </p:sp>
      <p:sp>
        <p:nvSpPr>
          <p:cNvPr id="5" name="lingkaran widget"/>
          <p:cNvSpPr/>
          <p:nvPr/>
        </p:nvSpPr>
        <p:spPr>
          <a:xfrm>
            <a:off x="1097280" y="214884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wid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50" y="2591410"/>
            <a:ext cx="1126541" cy="11265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Pohon Widget: Induk dan Anak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291840"/>
          </a:xfrm>
          <a:prstGeom prst="roundRect">
            <a:avLst>
              <a:gd name="adj" fmla="val 2778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Scaffold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appBar: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AppBar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(title: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'Profil'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body: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Center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child: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children: [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Icons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.person, size: </a:t>
            </a:r>
            <a:r>
              <a:rPr lang="en-US" sz="15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'Rina Amelia'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'Informatika 2026'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5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Widget tersusun bertingkat seperti balok Lego.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Center adalah induk (parent) dari Column; Column punya tiga anak.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child:</a:t>
            </a:r>
            <a:r>
              <a:rPr lang="en-US" sz="1700" dirty="0">
                <a:solidFill>
                  <a:schemeClr val="tx1"/>
                </a:solidFill>
              </a:rPr>
              <a:t> untuk satu anak, misalnya Center dan Padding.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children: [ ... ]</a:t>
            </a:r>
            <a:r>
              <a:rPr lang="en-US" sz="1700" dirty="0">
                <a:solidFill>
                  <a:schemeClr val="tx1"/>
                </a:solidFill>
              </a:rPr>
              <a:t> untuk banyak anak, misalnya Row dan Column.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Jarak (Padding) dan posisi (Center) pun berupa widget.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Satu Anak, Banyak Anak, atau Tanpa Anak?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575489"/>
                <a:gridCol w="5349093"/>
                <a:gridCol w="3169833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Jenis widget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 menulis anaknya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Punya satu anak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Padding, Center, Align, SizedBox, Container, Card, Expanded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child: ...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Punya banyak anak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Row, Column, Stack, Wrap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children: [ ... ]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Tanpa anak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Text, Icon, Image, Divider, Spacer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lingkaran lampu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lamp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5597042"/>
            <a:ext cx="281635" cy="28163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234440" y="5394960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Tertukar? Column(child: ...) ditolak editor: The named parameter 'child' isn't defined. Tips VS Code: Ctrl+. lalu Wrap with Padding/Center/Column.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BAGIAN 2</a:t>
            </a:r>
            <a:endParaRPr lang="en-US" sz="1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Widget Dasar dan Jarak</a:t>
            </a:r>
            <a:endParaRPr lang="en-US" sz="4000" dirty="0"/>
          </a:p>
        </p:txBody>
      </p:sp>
      <p:sp>
        <p:nvSpPr>
          <p:cNvPr id="5" name="lingkaran teks"/>
          <p:cNvSpPr/>
          <p:nvPr/>
        </p:nvSpPr>
        <p:spPr>
          <a:xfrm>
            <a:off x="1097280" y="214884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te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50" y="2591410"/>
            <a:ext cx="1126541" cy="11265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Teks, Ikon, dan Gambar</a:t>
            </a:r>
            <a:endParaRPr lang="en-US" sz="3200" dirty="0"/>
          </a:p>
        </p:txBody>
      </p:sp>
      <p:sp>
        <p:nvSpPr>
          <p:cNvPr id="4" name="bingkai layar 1"/>
          <p:cNvSpPr/>
          <p:nvPr/>
        </p:nvSpPr>
        <p:spPr>
          <a:xfrm>
            <a:off x="8567947" y="1316736"/>
            <a:ext cx="3129972" cy="4818888"/>
          </a:xfrm>
          <a:prstGeom prst="roundRect">
            <a:avLst>
              <a:gd name="adj" fmla="val 2921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5" name="layar 1" descr="Tangkapan layar aplikasi (hasil_contoh_01.jp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811" y="1371600"/>
            <a:ext cx="3020244" cy="4709160"/>
          </a:xfrm>
          <a:prstGeom prst="rect">
            <a:avLst/>
          </a:prstGeom>
        </p:spPr>
      </p:pic>
      <p:sp>
        <p:nvSpPr>
          <p:cNvPr id="6" name="kotak kode"/>
          <p:cNvSpPr txBox="1"/>
          <p:nvPr/>
        </p:nvSpPr>
        <p:spPr>
          <a:xfrm>
            <a:off x="548640" y="1371600"/>
            <a:ext cx="7616971" cy="2699766"/>
          </a:xfrm>
          <a:prstGeom prst="roundRect">
            <a:avLst>
              <a:gd name="adj" fmla="val 3387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TextTheme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gayaTeks =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.of(context).textTheme;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ColorScheme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warna =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.of(context).colorScheme;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'Judul Besar'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style: gayaTeks.headlineMedium),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.favorite, color: warna.error, size: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CircleAvatar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(child: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'RA'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.network(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'https://picsum.photos/600/300?image=9'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fit: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BoxFit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.cover,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errorBuilder: (context, error, jejak) =&gt; ...,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300" dirty="0"/>
          </a:p>
        </p:txBody>
      </p:sp>
      <p:sp>
        <p:nvSpPr>
          <p:cNvPr id="7" name="tombol tautan">
            <a:hlinkClick r:id="rId2" tooltip="https://github.com/antonprafanto/mobile2026/blob/main/pertemuan_04_widget_dan_layout/kode/contoh_01_widget_dasar.dart"/>
          </p:cNvPr>
          <p:cNvSpPr txBox="1"/>
          <p:nvPr/>
        </p:nvSpPr>
        <p:spPr>
          <a:xfrm>
            <a:off x="548640" y="4254246"/>
            <a:ext cx="7616971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contoh_01_widget_dasar.dart</a:t>
            </a:r>
            <a:endParaRPr lang="en-US" sz="1300" dirty="0"/>
          </a:p>
        </p:txBody>
      </p:sp>
      <p:pic>
        <p:nvPicPr>
          <p:cNvPr id="8" name="Image 1" descr="ikon tautan">
            <a:hlinkClick r:id="rId4" tooltip="https://github.com/antonprafanto/mobile2026/blob/main/pertemuan_04_widget_dan_layout/kode/contoh_01_widget_dasar.dart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345686"/>
            <a:ext cx="274320" cy="274320"/>
          </a:xfrm>
          <a:prstGeom prst="rect">
            <a:avLst/>
          </a:prstGeom>
        </p:spPr>
      </p:pic>
      <p:sp>
        <p:nvSpPr>
          <p:cNvPr id="9" name="daftar poin"/>
          <p:cNvSpPr txBox="1"/>
          <p:nvPr/>
        </p:nvSpPr>
        <p:spPr>
          <a:xfrm>
            <a:off x="548640" y="4985766"/>
            <a:ext cx="7616971" cy="1232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Gaya teks dan warna diambil dari tema, bukan ditulis sendiri.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maxLines + TextOverflow.ellipsis memotong teks yang terlalu panjang.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errorBuilder: tampilan cadangan jika gambar gagal dimuat.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Gaya Teks dan Warna Diambil dari Tema</a:t>
            </a:r>
            <a:endParaRPr lang="en-US" sz="3200" dirty="0"/>
          </a:p>
        </p:txBody>
      </p:sp>
      <p:sp>
        <p:nvSpPr>
          <p:cNvPr id="4" name="kolom 1"/>
          <p:cNvSpPr/>
          <p:nvPr/>
        </p:nvSpPr>
        <p:spPr>
          <a:xfrm>
            <a:off x="548640" y="1371600"/>
            <a:ext cx="5387188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5" name="lingkaran teks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te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510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5448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Gaya teks (TextTheme)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42316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Theme.of(context).textTheme</a:t>
            </a:r>
            <a:endParaRPr lang="en-US" sz="1400" dirty="0"/>
          </a:p>
        </p:txBody>
      </p:sp>
      <p:sp>
        <p:nvSpPr>
          <p:cNvPr id="9" name="daftar poin"/>
          <p:cNvSpPr txBox="1"/>
          <p:nvPr/>
        </p:nvSpPr>
        <p:spPr>
          <a:xfrm>
            <a:off x="777240" y="2926080"/>
            <a:ext cx="492998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headlineMedium (28): judul besar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titleLarge (22), titleMedium (16): judul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bodyMedium (14): isi, gaya bawaan Text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labelSmall (11): keterangan kecil</a:t>
            </a:r>
            <a:endParaRPr lang="en-US" sz="1600" dirty="0"/>
          </a:p>
        </p:txBody>
      </p:sp>
      <p:sp>
        <p:nvSpPr>
          <p:cNvPr id="10" name="kotak kode"/>
          <p:cNvSpPr txBox="1"/>
          <p:nvPr/>
        </p:nvSpPr>
        <p:spPr>
          <a:xfrm>
            <a:off x="731520" y="4590288"/>
            <a:ext cx="5021428" cy="530352"/>
          </a:xfrm>
          <a:prstGeom prst="roundRect">
            <a:avLst>
              <a:gd name="adj" fmla="val 17241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'Halo'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style: gayaTeks.titleLarge)</a:t>
            </a:r>
            <a:endParaRPr lang="en-US" sz="1300" dirty="0"/>
          </a:p>
        </p:txBody>
      </p:sp>
      <p:sp>
        <p:nvSpPr>
          <p:cNvPr id="11" name="kolom 2"/>
          <p:cNvSpPr/>
          <p:nvPr/>
        </p:nvSpPr>
        <p:spPr>
          <a:xfrm>
            <a:off x="6255868" y="1371600"/>
            <a:ext cx="5387188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2" name="lingkaran palet"/>
          <p:cNvSpPr/>
          <p:nvPr/>
        </p:nvSpPr>
        <p:spPr>
          <a:xfrm>
            <a:off x="6484468" y="160020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3" name="Image 1" descr="pal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344" y="175107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07428" y="155448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Warna (ColorScheme)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6484468" y="242316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Theme.of(context).colorScheme</a:t>
            </a:r>
            <a:endParaRPr lang="en-US" sz="1400" dirty="0"/>
          </a:p>
        </p:txBody>
      </p:sp>
      <p:sp>
        <p:nvSpPr>
          <p:cNvPr id="16" name="daftar poin"/>
          <p:cNvSpPr txBox="1"/>
          <p:nvPr/>
        </p:nvSpPr>
        <p:spPr>
          <a:xfrm>
            <a:off x="6484468" y="2926080"/>
            <a:ext cx="492998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primary + onPrimary: tombol utama, banner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primaryContainer + onPrimaryContainer: kotak sorotan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surface + onSurface: latar halaman, teks biasa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error + onError: lencana peringatan, pesan galat</a:t>
            </a:r>
            <a:endParaRPr lang="en-US" sz="1600" dirty="0"/>
          </a:p>
        </p:txBody>
      </p:sp>
      <p:sp>
        <p:nvSpPr>
          <p:cNvPr id="17" name="kotak kode"/>
          <p:cNvSpPr txBox="1"/>
          <p:nvPr/>
        </p:nvSpPr>
        <p:spPr>
          <a:xfrm>
            <a:off x="6438748" y="4590288"/>
            <a:ext cx="5021428" cy="530352"/>
          </a:xfrm>
          <a:prstGeom prst="roundRect">
            <a:avLst>
              <a:gd name="adj" fmla="val 17241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.star, color: warna.primary)</a:t>
            </a:r>
            <a:endParaRPr lang="en-US" sz="1300" dirty="0"/>
          </a:p>
        </p:txBody>
      </p:sp>
      <p:sp>
        <p:nvSpPr>
          <p:cNvPr id="18" name="lingkaran lampu"/>
          <p:cNvSpPr/>
          <p:nvPr/>
        </p:nvSpPr>
        <p:spPr>
          <a:xfrm>
            <a:off x="548640" y="55321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mage 2" descr="lamp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65282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80160" y="544068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Aturan warna: onX dipakai untuk isi di atas warna X. Transparan: warna.primary.withValues(alpha: 0.2), bukan withOpacity() yang sudah usang.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Padding, SizedBox, dan Align</a:t>
            </a:r>
            <a:endParaRPr lang="en-US" sz="3200" dirty="0"/>
          </a:p>
        </p:txBody>
      </p:sp>
      <p:sp>
        <p:nvSpPr>
          <p:cNvPr id="4" name="bingkai layar 1"/>
          <p:cNvSpPr/>
          <p:nvPr/>
        </p:nvSpPr>
        <p:spPr>
          <a:xfrm>
            <a:off x="8567947" y="1316736"/>
            <a:ext cx="3129972" cy="4818888"/>
          </a:xfrm>
          <a:prstGeom prst="roundRect">
            <a:avLst>
              <a:gd name="adj" fmla="val 2921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5" name="layar 1" descr="Tangkapan layar aplikasi (hasil_contoh_02.jp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811" y="1371600"/>
            <a:ext cx="3020244" cy="4709160"/>
          </a:xfrm>
          <a:prstGeom prst="rect">
            <a:avLst/>
          </a:prstGeom>
        </p:spPr>
      </p:pic>
      <p:sp>
        <p:nvSpPr>
          <p:cNvPr id="6" name="tombol tautan">
            <a:hlinkClick r:id="rId2" tooltip="https://github.com/antonprafanto/mobile2026/blob/main/pertemuan_04_widget_dan_layout/kode/contoh_02_padding_sizedbox_align.dart"/>
          </p:cNvPr>
          <p:cNvSpPr txBox="1"/>
          <p:nvPr/>
        </p:nvSpPr>
        <p:spPr>
          <a:xfrm>
            <a:off x="548640" y="1371600"/>
            <a:ext cx="7616971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contoh_02_padding_sizedbox_align.dart</a:t>
            </a:r>
            <a:endParaRPr lang="en-US" sz="1300" dirty="0"/>
          </a:p>
        </p:txBody>
      </p:sp>
      <p:pic>
        <p:nvPicPr>
          <p:cNvPr id="7" name="Image 1" descr="ikon tautan">
            <a:hlinkClick r:id="rId4" tooltip="https://github.com/antonprafanto/mobile2026/blob/main/pertemuan_04_widget_dan_layout/kode/contoh_02_padding_sizedbox_align.dart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463040"/>
            <a:ext cx="274320" cy="274320"/>
          </a:xfrm>
          <a:prstGeom prst="rect">
            <a:avLst/>
          </a:prstGeom>
        </p:spPr>
      </p:pic>
      <p:sp>
        <p:nvSpPr>
          <p:cNvPr id="8" name="daftar poin"/>
          <p:cNvSpPr txBox="1"/>
          <p:nvPr/>
        </p:nvSpPr>
        <p:spPr>
          <a:xfrm>
            <a:off x="548640" y="2103120"/>
            <a:ext cx="7616971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EdgeInsets.all(16)</a:t>
            </a:r>
            <a:r>
              <a:rPr lang="en-US" sz="1600" dirty="0">
                <a:solidFill>
                  <a:schemeClr val="tx1"/>
                </a:solidFill>
              </a:rPr>
              <a:t>: 16 di keempat sisi.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EdgeInsets.symmetric(horizontal: 48, vertical: 8)</a:t>
            </a:r>
            <a:r>
              <a:rPr lang="en-US" sz="1600" dirty="0">
                <a:solidFill>
                  <a:schemeClr val="tx1"/>
                </a:solidFill>
              </a:rPr>
              <a:t>: kiri-kanan dan atas-bawah.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EdgeInsets.only(left: 96, top: 8)</a:t>
            </a:r>
            <a:r>
              <a:rPr lang="en-US" sz="1600" dirty="0">
                <a:solidFill>
                  <a:schemeClr val="tx1"/>
                </a:solidFill>
              </a:rPr>
              <a:t>: sisi tertentu saja.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SizedBox(height: 24)</a:t>
            </a:r>
            <a:r>
              <a:rPr lang="en-US" sz="1600" dirty="0">
                <a:solidFill>
                  <a:schemeClr val="tx1"/>
                </a:solidFill>
              </a:rPr>
              <a:t> sebagai jarak kosong; jika punya anak, ia memaksa ukuran anaknya.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</a:t>
            </a:r>
            <a:r>
              <a:rPr lang="en-US" sz="1600" dirty="0">
                <a:solidFill>
                  <a:schemeClr val="tx1"/>
                </a:solidFill>
              </a:rPr>
              <a:t> memakai Alignment(x, y) dari -1 sampai 1. Center sama dengan Align(alignment: Alignment.center).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Satuan ukuran = piksel logis (±38 per cm). Pakai kelipatan 4 atau 8; target sentuh minimal 48 × 48.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Container dan Card</a:t>
            </a:r>
            <a:endParaRPr lang="en-US" sz="3200" dirty="0"/>
          </a:p>
        </p:txBody>
      </p:sp>
      <p:sp>
        <p:nvSpPr>
          <p:cNvPr id="4" name="bingkai layar 1"/>
          <p:cNvSpPr/>
          <p:nvPr/>
        </p:nvSpPr>
        <p:spPr>
          <a:xfrm>
            <a:off x="8567947" y="1316736"/>
            <a:ext cx="3129972" cy="4818888"/>
          </a:xfrm>
          <a:prstGeom prst="roundRect">
            <a:avLst>
              <a:gd name="adj" fmla="val 2921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5" name="layar 1" descr="Tangkapan layar aplikasi (hasil_contoh_03.jp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811" y="1371600"/>
            <a:ext cx="3020244" cy="4709160"/>
          </a:xfrm>
          <a:prstGeom prst="rect">
            <a:avLst/>
          </a:prstGeom>
        </p:spPr>
      </p:pic>
      <p:sp>
        <p:nvSpPr>
          <p:cNvPr id="6" name="kotak kode"/>
          <p:cNvSpPr txBox="1"/>
          <p:nvPr/>
        </p:nvSpPr>
        <p:spPr>
          <a:xfrm>
            <a:off x="548640" y="1371600"/>
            <a:ext cx="7616971" cy="2699766"/>
          </a:xfrm>
          <a:prstGeom prst="roundRect">
            <a:avLst>
              <a:gd name="adj" fmla="val 3387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EdgeInsets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.only(bottom: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r>
              <a:rPr lang="en-US" sz="13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luar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EdgeInsets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.all(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r>
              <a:rPr lang="en-US" sz="13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dalam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decoration: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BoxDecoration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color: warna.primaryContainer,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borderRadius: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BorderRadius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.circular(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border: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.all(color: warna.primary, width: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boxShadow: [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BoxShadow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(blurRadius: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...)],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child: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7" name="tombol tautan">
            <a:hlinkClick r:id="rId2" tooltip="https://github.com/antonprafanto/mobile2026/blob/main/pertemuan_04_widget_dan_layout/kode/contoh_03_container_dan_dekorasi.dart"/>
          </p:cNvPr>
          <p:cNvSpPr txBox="1"/>
          <p:nvPr/>
        </p:nvSpPr>
        <p:spPr>
          <a:xfrm>
            <a:off x="548640" y="4254246"/>
            <a:ext cx="7616971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contoh_03_container_dan_dekorasi.dart</a:t>
            </a:r>
            <a:endParaRPr lang="en-US" sz="1300" dirty="0"/>
          </a:p>
        </p:txBody>
      </p:sp>
      <p:pic>
        <p:nvPicPr>
          <p:cNvPr id="8" name="Image 1" descr="ikon tautan">
            <a:hlinkClick r:id="rId4" tooltip="https://github.com/antonprafanto/mobile2026/blob/main/pertemuan_04_widget_dan_layout/kode/contoh_03_container_dan_dekorasi.dart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345686"/>
            <a:ext cx="274320" cy="274320"/>
          </a:xfrm>
          <a:prstGeom prst="rect">
            <a:avLst/>
          </a:prstGeom>
        </p:spPr>
      </p:pic>
      <p:sp>
        <p:nvSpPr>
          <p:cNvPr id="9" name="daftar poin"/>
          <p:cNvSpPr txBox="1"/>
          <p:nvPr/>
        </p:nvSpPr>
        <p:spPr>
          <a:xfrm>
            <a:off x="548640" y="4985766"/>
            <a:ext cx="7616971" cy="1232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margin = jarak di luar kotak, padding = jarak di dalam kotak.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color dan decoration tidak boleh diisi bersamaan.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Card, Card.filled, Card.outlined: kartu Material 3 siap pakai.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BAGIAN 3</a:t>
            </a:r>
            <a:endParaRPr lang="en-US" sz="1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Row dan Column</a:t>
            </a:r>
            <a:endParaRPr lang="en-US" sz="4000" dirty="0"/>
          </a:p>
        </p:txBody>
      </p:sp>
      <p:sp>
        <p:nvSpPr>
          <p:cNvPr id="5" name="lingkaran kolom"/>
          <p:cNvSpPr/>
          <p:nvPr/>
        </p:nvSpPr>
        <p:spPr>
          <a:xfrm>
            <a:off x="1097280" y="214884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kol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50" y="2591410"/>
            <a:ext cx="1126541" cy="11265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Sumbu Utama dan Sumbu Silang</a:t>
            </a:r>
            <a:endParaRPr lang="en-US" sz="3200" dirty="0"/>
          </a:p>
        </p:txBody>
      </p:sp>
      <p:sp>
        <p:nvSpPr>
          <p:cNvPr id="4" name="kolom 1"/>
          <p:cNvSpPr/>
          <p:nvPr/>
        </p:nvSpPr>
        <p:spPr>
          <a:xfrm>
            <a:off x="548640" y="1371600"/>
            <a:ext cx="5387188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5" name="lingkaran baris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bar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510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5448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Row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42316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Menyusun anak mendatar (kiri ke kanan)</a:t>
            </a:r>
            <a:endParaRPr lang="en-US" sz="1400" dirty="0"/>
          </a:p>
        </p:txBody>
      </p:sp>
      <p:sp>
        <p:nvSpPr>
          <p:cNvPr id="9" name="daftar poin"/>
          <p:cNvSpPr txBox="1"/>
          <p:nvPr/>
        </p:nvSpPr>
        <p:spPr>
          <a:xfrm>
            <a:off x="777240" y="2926080"/>
            <a:ext cx="492998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Sumbu utama: mendatar ↔, diatur mainAxisAlignment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Sumbu silang: tegak ↕, diatur crossAxisAlignment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Contoh: ikon di samping teks, deretan tombol</a:t>
            </a:r>
            <a:endParaRPr lang="en-US" sz="1600" dirty="0"/>
          </a:p>
        </p:txBody>
      </p:sp>
      <p:sp>
        <p:nvSpPr>
          <p:cNvPr id="10" name="kotak kode"/>
          <p:cNvSpPr txBox="1"/>
          <p:nvPr/>
        </p:nvSpPr>
        <p:spPr>
          <a:xfrm>
            <a:off x="731520" y="3877056"/>
            <a:ext cx="5021428" cy="1243584"/>
          </a:xfrm>
          <a:prstGeom prst="roundRect">
            <a:avLst>
              <a:gd name="adj" fmla="val 7353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spacing: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children: [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(...),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(...)],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kolom 2"/>
          <p:cNvSpPr/>
          <p:nvPr/>
        </p:nvSpPr>
        <p:spPr>
          <a:xfrm>
            <a:off x="6255868" y="1371600"/>
            <a:ext cx="5387188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2" name="lingkaran kolom"/>
          <p:cNvSpPr/>
          <p:nvPr/>
        </p:nvSpPr>
        <p:spPr>
          <a:xfrm>
            <a:off x="6484468" y="160020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3" name="Image 1" descr="kol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344" y="175107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07428" y="155448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Column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6484468" y="242316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Menyusun anak menurun (atas ke bawah)</a:t>
            </a:r>
            <a:endParaRPr lang="en-US" sz="1400" dirty="0"/>
          </a:p>
        </p:txBody>
      </p:sp>
      <p:sp>
        <p:nvSpPr>
          <p:cNvPr id="16" name="daftar poin"/>
          <p:cNvSpPr txBox="1"/>
          <p:nvPr/>
        </p:nvSpPr>
        <p:spPr>
          <a:xfrm>
            <a:off x="6484468" y="2926080"/>
            <a:ext cx="492998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Sumbu utama: tegak ↕, diatur mainAxisAlignment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Sumbu silang: mendatar ↔, diatur crossAxisAlignment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Contoh: judul di atas isi, susunan satu halaman</a:t>
            </a:r>
            <a:endParaRPr lang="en-US" sz="1600" dirty="0"/>
          </a:p>
        </p:txBody>
      </p:sp>
      <p:sp>
        <p:nvSpPr>
          <p:cNvPr id="17" name="kotak kode"/>
          <p:cNvSpPr txBox="1"/>
          <p:nvPr/>
        </p:nvSpPr>
        <p:spPr>
          <a:xfrm>
            <a:off x="6438748" y="3877056"/>
            <a:ext cx="5021428" cy="1243584"/>
          </a:xfrm>
          <a:prstGeom prst="roundRect">
            <a:avLst>
              <a:gd name="adj" fmla="val 7353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spacing: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children: [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(...),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(...)],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18" name="lingkaran lampu"/>
          <p:cNvSpPr/>
          <p:nvPr/>
        </p:nvSpPr>
        <p:spPr>
          <a:xfrm>
            <a:off x="548640" y="55321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9" name="Image 2" descr="lamp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652821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80160" y="544068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Ingat: "utama" = arah susunan, "silang" = arah sebaliknya. Isi Column ada di tengah? Bawaan crossAxisAlignment adalah center; pakai CrossAxisAlignment.start agar rata kiri.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mainAxisAlignment: Posisi di Sumbu Utama</a:t>
            </a:r>
            <a:endParaRPr lang="en-US" sz="3200" dirty="0"/>
          </a:p>
        </p:txBody>
      </p:sp>
      <p:sp>
        <p:nvSpPr>
          <p:cNvPr id="4" name="bingkai layar 1"/>
          <p:cNvSpPr/>
          <p:nvPr/>
        </p:nvSpPr>
        <p:spPr>
          <a:xfrm>
            <a:off x="8817206" y="1316736"/>
            <a:ext cx="2880713" cy="4818888"/>
          </a:xfrm>
          <a:prstGeom prst="roundRect">
            <a:avLst>
              <a:gd name="adj" fmla="val 3174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5" name="layar 1" descr="Tangkapan layar aplikasi (hasil_contoh_04a.jp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2070" y="1371600"/>
            <a:ext cx="2770985" cy="4709160"/>
          </a:xfrm>
          <a:prstGeom prst="rect">
            <a:avLst/>
          </a:prstGeom>
        </p:spPr>
      </p:pic>
      <p:sp>
        <p:nvSpPr>
          <p:cNvPr id="6" name="tombol tautan">
            <a:hlinkClick r:id="rId2" tooltip="https://github.com/antonprafanto/mobile2026/blob/main/pertemuan_04_widget_dan_layout/kode/contoh_04_row_dan_column.dart"/>
          </p:cNvPr>
          <p:cNvSpPr txBox="1"/>
          <p:nvPr/>
        </p:nvSpPr>
        <p:spPr>
          <a:xfrm>
            <a:off x="548640" y="1371600"/>
            <a:ext cx="786623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contoh_04_row_dan_column.dart</a:t>
            </a:r>
            <a:endParaRPr lang="en-US" sz="1300" dirty="0"/>
          </a:p>
        </p:txBody>
      </p:sp>
      <p:pic>
        <p:nvPicPr>
          <p:cNvPr id="7" name="Image 1" descr="ikon tautan">
            <a:hlinkClick r:id="rId4" tooltip="https://github.com/antonprafanto/mobile2026/blob/main/pertemuan_04_widget_dan_layout/kode/contoh_04_row_dan_column.dart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463040"/>
            <a:ext cx="274320" cy="274320"/>
          </a:xfrm>
          <a:prstGeom prst="rect">
            <a:avLst/>
          </a:prstGeom>
        </p:spPr>
      </p:pic>
      <p:sp>
        <p:nvSpPr>
          <p:cNvPr id="8" name="daftar poin"/>
          <p:cNvSpPr txBox="1"/>
          <p:nvPr/>
        </p:nvSpPr>
        <p:spPr>
          <a:xfrm>
            <a:off x="548640" y="2103120"/>
            <a:ext cx="786623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start / center / end: anak merapat ke awal, tengah, atau akhir.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spaceBetween: sisa ruang dibagi di antara anak; tepi tanpa jarak.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spaceAround: jarak di tepi = setengah jarak antaranak.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spaceEvenly: semua jarak sama, termasuk di kedua tepi.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Keenam baris pada gambar dibuat dengan </a:t>
            </a:r>
            <a:r>
              <a:rPr lang="en-US" sz="17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700" dirty="0">
                <a:solidFill>
                  <a:schemeClr val="tx1"/>
                </a:solidFill>
              </a:rPr>
              <a:t> di dalam daftar children dan </a:t>
            </a:r>
            <a:r>
              <a:rPr lang="en-US" sz="17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MainAxisAlignment.values</a:t>
            </a:r>
            <a:r>
              <a:rPr lang="en-US" sz="1700" dirty="0">
                <a:solidFill>
                  <a:schemeClr val="tx1"/>
                </a:solidFill>
              </a:rPr>
              <a:t> (enum, Pertemuan 3).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crossAxisAlignment dan spacing</a:t>
            </a:r>
            <a:endParaRPr lang="en-US" sz="3200" dirty="0"/>
          </a:p>
        </p:txBody>
      </p:sp>
      <p:sp>
        <p:nvSpPr>
          <p:cNvPr id="4" name="bingkai layar 1"/>
          <p:cNvSpPr/>
          <p:nvPr/>
        </p:nvSpPr>
        <p:spPr>
          <a:xfrm>
            <a:off x="8567947" y="1316736"/>
            <a:ext cx="3129972" cy="4818888"/>
          </a:xfrm>
          <a:prstGeom prst="roundRect">
            <a:avLst>
              <a:gd name="adj" fmla="val 2921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5" name="layar 1" descr="Tangkapan layar aplikasi (hasil_contoh_04b.jp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811" y="1371600"/>
            <a:ext cx="3020244" cy="4709160"/>
          </a:xfrm>
          <a:prstGeom prst="rect">
            <a:avLst/>
          </a:prstGeom>
        </p:spPr>
      </p:pic>
      <p:sp>
        <p:nvSpPr>
          <p:cNvPr id="6" name="kotak kode"/>
          <p:cNvSpPr txBox="1"/>
          <p:nvPr/>
        </p:nvSpPr>
        <p:spPr>
          <a:xfrm>
            <a:off x="548640" y="1371600"/>
            <a:ext cx="7616971" cy="2427732"/>
          </a:xfrm>
          <a:prstGeom prst="roundRect">
            <a:avLst>
              <a:gd name="adj" fmla="val 3766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crossAxisAlignment: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CrossAxisAlignment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.start,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spacing: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jarak 8 di antara setiap anak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children: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KotakKecil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(tinggi: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KotakKecil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(tinggi: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KotakKecil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(tinggi: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7" name="tombol tautan">
            <a:hlinkClick r:id="rId2" tooltip="https://github.com/antonprafanto/mobile2026/blob/main/pertemuan_04_widget_dan_layout/kode/contoh_04_row_dan_column.dart"/>
          </p:cNvPr>
          <p:cNvSpPr txBox="1"/>
          <p:nvPr/>
        </p:nvSpPr>
        <p:spPr>
          <a:xfrm>
            <a:off x="548640" y="3982212"/>
            <a:ext cx="7616971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contoh_04_row_dan_column.dart</a:t>
            </a:r>
            <a:endParaRPr lang="en-US" sz="1300" dirty="0"/>
          </a:p>
        </p:txBody>
      </p:sp>
      <p:pic>
        <p:nvPicPr>
          <p:cNvPr id="8" name="Image 1" descr="ikon tautan">
            <a:hlinkClick r:id="rId4" tooltip="https://github.com/antonprafanto/mobile2026/blob/main/pertemuan_04_widget_dan_layout/kode/contoh_04_row_dan_column.dart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073652"/>
            <a:ext cx="274320" cy="274320"/>
          </a:xfrm>
          <a:prstGeom prst="rect">
            <a:avLst/>
          </a:prstGeom>
        </p:spPr>
      </p:pic>
      <p:sp>
        <p:nvSpPr>
          <p:cNvPr id="9" name="daftar poin"/>
          <p:cNvSpPr txBox="1"/>
          <p:nvPr/>
        </p:nvSpPr>
        <p:spPr>
          <a:xfrm>
            <a:off x="548640" y="4713732"/>
            <a:ext cx="7616971" cy="150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Pada Row, sumbu silang = tegak: start = rata atas, center = tengah, end = rata bawah.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stretch: anak ditarik setinggi Row (64); tinggi 24/40/56 diabaikan. Alasannya dijelaskan di Bagian 5.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Jebakan: Kartu Memanjang sampai Bawah</a:t>
            </a:r>
            <a:endParaRPr lang="en-US" sz="3200" dirty="0"/>
          </a:p>
        </p:txBody>
      </p:sp>
      <p:sp>
        <p:nvSpPr>
          <p:cNvPr id="4" name="bingkai layar 1"/>
          <p:cNvSpPr/>
          <p:nvPr/>
        </p:nvSpPr>
        <p:spPr>
          <a:xfrm>
            <a:off x="5836840" y="1316736"/>
            <a:ext cx="5861079" cy="4818888"/>
          </a:xfrm>
          <a:prstGeom prst="roundRect">
            <a:avLst>
              <a:gd name="adj" fmla="val 1898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5" name="layar 1" descr="Tangkapan layar aplikasi (jebakan_card_column.jp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1704" y="1371600"/>
            <a:ext cx="5751351" cy="4709160"/>
          </a:xfrm>
          <a:prstGeom prst="rect">
            <a:avLst/>
          </a:prstGeom>
        </p:spPr>
      </p:pic>
      <p:sp>
        <p:nvSpPr>
          <p:cNvPr id="6" name="kotak kode"/>
          <p:cNvSpPr txBox="1"/>
          <p:nvPr/>
        </p:nvSpPr>
        <p:spPr>
          <a:xfrm>
            <a:off x="548640" y="1371600"/>
            <a:ext cx="4885864" cy="2875788"/>
          </a:xfrm>
          <a:prstGeom prst="roundRect">
            <a:avLst>
              <a:gd name="adj" fmla="val 3180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.outlined(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child: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Tanpa baris ini, kartu memanjang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sampai bawah layar.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mainAxisSize: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MainAxisSize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.min,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children: [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'Baris 1'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'Baris 2'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7" name="daftar poin"/>
          <p:cNvSpPr txBox="1"/>
          <p:nvPr/>
        </p:nvSpPr>
        <p:spPr>
          <a:xfrm>
            <a:off x="548640" y="4475988"/>
            <a:ext cx="4885864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Row dan Column bawaannya mengambil ruang sebanyak mungkin (MainAxisSize.max).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Jebakan ini tidak muncul jika kartu berada di dalam Column lain atau SingleChildScrollView.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BAGIAN 4</a:t>
            </a:r>
            <a:endParaRPr lang="en-US" sz="1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Membagi Ruang dan Menumpuk</a:t>
            </a:r>
            <a:endParaRPr lang="en-US" sz="4000" dirty="0"/>
          </a:p>
        </p:txBody>
      </p:sp>
      <p:sp>
        <p:nvSpPr>
          <p:cNvPr id="5" name="lingkaran lapisan"/>
          <p:cNvSpPr/>
          <p:nvPr/>
        </p:nvSpPr>
        <p:spPr>
          <a:xfrm>
            <a:off x="1097280" y="214884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lapis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50" y="2591410"/>
            <a:ext cx="1126541" cy="11265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Expanded, Flexible, dan Spacer</a:t>
            </a:r>
            <a:endParaRPr lang="en-US" sz="3200" dirty="0"/>
          </a:p>
        </p:txBody>
      </p:sp>
      <p:sp>
        <p:nvSpPr>
          <p:cNvPr id="4" name="bingkai layar 1"/>
          <p:cNvSpPr/>
          <p:nvPr/>
        </p:nvSpPr>
        <p:spPr>
          <a:xfrm>
            <a:off x="8567947" y="1316736"/>
            <a:ext cx="3129972" cy="4818888"/>
          </a:xfrm>
          <a:prstGeom prst="roundRect">
            <a:avLst>
              <a:gd name="adj" fmla="val 2921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5" name="layar 1" descr="Tangkapan layar aplikasi (hasil_contoh_05.jp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811" y="1371600"/>
            <a:ext cx="3020244" cy="4709160"/>
          </a:xfrm>
          <a:prstGeom prst="rect">
            <a:avLst/>
          </a:prstGeom>
        </p:spPr>
      </p:pic>
      <p:sp>
        <p:nvSpPr>
          <p:cNvPr id="6" name="kotak kode"/>
          <p:cNvSpPr txBox="1"/>
          <p:nvPr/>
        </p:nvSpPr>
        <p:spPr>
          <a:xfrm>
            <a:off x="548640" y="1371600"/>
            <a:ext cx="7616971" cy="2699766"/>
          </a:xfrm>
          <a:prstGeom prst="roundRect">
            <a:avLst>
              <a:gd name="adj" fmla="val 3387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children: [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Expanded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flex: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mendapat 2 bagian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child: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KotakLabel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(teks: </a:t>
            </a: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'flex: 2'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...),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Expanded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</a:t>
            </a:r>
            <a:r>
              <a:rPr lang="en-US" sz="13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flex bawaan = 1 bagian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child: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KotakLabel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(teks: </a:t>
            </a: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'flex: 1'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...),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7" name="tombol tautan">
            <a:hlinkClick r:id="rId2" tooltip="https://github.com/antonprafanto/mobile2026/blob/main/pertemuan_04_widget_dan_layout/kode/contoh_05_expanded_flexible_spacer.dart"/>
          </p:cNvPr>
          <p:cNvSpPr txBox="1"/>
          <p:nvPr/>
        </p:nvSpPr>
        <p:spPr>
          <a:xfrm>
            <a:off x="548640" y="4254246"/>
            <a:ext cx="7616971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contoh_05_expanded_flexible_spacer.dart</a:t>
            </a:r>
            <a:endParaRPr lang="en-US" sz="1300" dirty="0"/>
          </a:p>
        </p:txBody>
      </p:sp>
      <p:pic>
        <p:nvPicPr>
          <p:cNvPr id="8" name="Image 1" descr="ikon tautan">
            <a:hlinkClick r:id="rId4" tooltip="https://github.com/antonprafanto/mobile2026/blob/main/pertemuan_04_widget_dan_layout/kode/contoh_05_expanded_flexible_spacer.dart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345686"/>
            <a:ext cx="274320" cy="274320"/>
          </a:xfrm>
          <a:prstGeom prst="rect">
            <a:avLst/>
          </a:prstGeom>
        </p:spPr>
      </p:pic>
      <p:sp>
        <p:nvSpPr>
          <p:cNvPr id="9" name="daftar poin"/>
          <p:cNvSpPr txBox="1"/>
          <p:nvPr/>
        </p:nvSpPr>
        <p:spPr>
          <a:xfrm>
            <a:off x="548640" y="4985766"/>
            <a:ext cx="7616971" cy="1232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Expanded = ambil sisa ruang, dibagi menurut flex. Lebar 300 → 3 bagian → 200 dan 100.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Ukuran pasti diberi tempat dulu; sisanya untuk Expanded.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Flexible boleh lebih kecil dari jatahnya; Expanded wajib penuh.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Spacer: pendorong kosong ke ujung.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Stack dan Positioned</a:t>
            </a:r>
            <a:endParaRPr lang="en-US" sz="3200" dirty="0"/>
          </a:p>
        </p:txBody>
      </p:sp>
      <p:sp>
        <p:nvSpPr>
          <p:cNvPr id="4" name="bingkai layar 1"/>
          <p:cNvSpPr/>
          <p:nvPr/>
        </p:nvSpPr>
        <p:spPr>
          <a:xfrm>
            <a:off x="7895818" y="1316736"/>
            <a:ext cx="3802101" cy="4407408"/>
          </a:xfrm>
          <a:prstGeom prst="roundRect">
            <a:avLst>
              <a:gd name="adj" fmla="val 2405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5" name="layar 1" descr="Tangkapan layar aplikasi (hasil_contoh_06.jp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0682" y="1371600"/>
            <a:ext cx="3692373" cy="4297680"/>
          </a:xfrm>
          <a:prstGeom prst="rect">
            <a:avLst/>
          </a:prstGeom>
        </p:spPr>
      </p:pic>
      <p:sp>
        <p:nvSpPr>
          <p:cNvPr id="6" name="kotak kode"/>
          <p:cNvSpPr txBox="1"/>
          <p:nvPr/>
        </p:nvSpPr>
        <p:spPr>
          <a:xfrm>
            <a:off x="548640" y="1371600"/>
            <a:ext cx="6944842" cy="2491740"/>
          </a:xfrm>
          <a:prstGeom prst="roundRect">
            <a:avLst>
              <a:gd name="adj" fmla="val 3670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children: [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paling bawah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(height: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160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color: warna.primary),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di atasnya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Positioned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(left: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bottom: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child: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'Diskon 20%'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paling atas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Positioned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(top: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right: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child: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Chip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(...)),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7" name="tombol tautan">
            <a:hlinkClick r:id="rId2" tooltip="https://github.com/antonprafanto/mobile2026/blob/main/pertemuan_04_widget_dan_layout/kode/contoh_06_stack_dan_positioned.dart"/>
          </p:cNvPr>
          <p:cNvSpPr txBox="1"/>
          <p:nvPr/>
        </p:nvSpPr>
        <p:spPr>
          <a:xfrm>
            <a:off x="548640" y="4046220"/>
            <a:ext cx="6944842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contoh_06_stack_dan_positioned.dart</a:t>
            </a:r>
            <a:endParaRPr lang="en-US" sz="1300" dirty="0"/>
          </a:p>
        </p:txBody>
      </p:sp>
      <p:pic>
        <p:nvPicPr>
          <p:cNvPr id="8" name="Image 1" descr="ikon tautan">
            <a:hlinkClick r:id="rId4" tooltip="https://github.com/antonprafanto/mobile2026/blob/main/pertemuan_04_widget_dan_layout/kode/contoh_06_stack_dan_positioned.dart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137660"/>
            <a:ext cx="274320" cy="274320"/>
          </a:xfrm>
          <a:prstGeom prst="rect">
            <a:avLst/>
          </a:prstGeom>
        </p:spPr>
      </p:pic>
      <p:sp>
        <p:nvSpPr>
          <p:cNvPr id="9" name="daftar poin"/>
          <p:cNvSpPr txBox="1"/>
          <p:nvPr/>
        </p:nvSpPr>
        <p:spPr>
          <a:xfrm>
            <a:off x="548640" y="4777740"/>
            <a:ext cx="6944842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Seperti stiker di sampul buku: yang ditulis terakhir berada paling atas.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Positioned: jarak dari tepi (top, right, bottom, left); boleh negatif + Clip.none.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Ukuran Stack mengikuti anak terbesar yang tidak memakai Positioned.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BAGIAN 5</a:t>
            </a:r>
            <a:endParaRPr lang="en-US" sz="1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Constraints dan Overflow</a:t>
            </a:r>
            <a:endParaRPr lang="en-US" sz="4000" dirty="0"/>
          </a:p>
        </p:txBody>
      </p:sp>
      <p:sp>
        <p:nvSpPr>
          <p:cNvPr id="5" name="lingkaran ukur"/>
          <p:cNvSpPr/>
          <p:nvPr/>
        </p:nvSpPr>
        <p:spPr>
          <a:xfrm>
            <a:off x="1097280" y="214884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uk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50" y="2591410"/>
            <a:ext cx="1126541" cy="11265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Batasan Turun, Ukuran Naik, Induk Menentukan Posisi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</a:rPr>
              <a:t>"Constraints go down. Sizes go up. Parent sets position." Bayangkan panitia bazar kampus dan pemilik stan.</a:t>
            </a:r>
            <a:endParaRPr lang="en-US" sz="1800" dirty="0"/>
          </a:p>
        </p:txBody>
      </p:sp>
      <p:sp>
        <p:nvSpPr>
          <p:cNvPr id="5" name="langkah 1"/>
          <p:cNvSpPr/>
          <p:nvPr/>
        </p:nvSpPr>
        <p:spPr>
          <a:xfrm>
            <a:off x="548640" y="2103120"/>
            <a:ext cx="3484778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6" name="lingkaran ukur"/>
          <p:cNvSpPr/>
          <p:nvPr/>
        </p:nvSpPr>
        <p:spPr>
          <a:xfrm>
            <a:off x="1856689" y="23774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uku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7799" y="2568550"/>
            <a:ext cx="486461" cy="48646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58368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383280"/>
            <a:ext cx="32104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Induk memberi batasan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4206240"/>
            <a:ext cx="3210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Panitia: "Lebar stanmu boleh 2 sampai 4 meter." Induk memberi lebar dan tinggi minimum–maksimum.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069994" y="267004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2" name="langkah 2"/>
          <p:cNvSpPr/>
          <p:nvPr/>
        </p:nvSpPr>
        <p:spPr>
          <a:xfrm>
            <a:off x="4353458" y="2103120"/>
            <a:ext cx="3484778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13" name="lingkaran kotak"/>
          <p:cNvSpPr/>
          <p:nvPr/>
        </p:nvSpPr>
        <p:spPr>
          <a:xfrm>
            <a:off x="5661508" y="23774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1" descr="kota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617" y="2568550"/>
            <a:ext cx="486461" cy="48646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463186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4490618" y="3383280"/>
            <a:ext cx="32104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Anak memilih ukuran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490618" y="4206240"/>
            <a:ext cx="3210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Pemilik stan memilih 3 meter, lalu melapor. Ukuran anak wajib berada di dalam batasan.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874813" y="267004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9" name="langkah 3"/>
          <p:cNvSpPr/>
          <p:nvPr/>
        </p:nvSpPr>
        <p:spPr>
          <a:xfrm>
            <a:off x="8158277" y="2103120"/>
            <a:ext cx="3484778" cy="3291840"/>
          </a:xfrm>
          <a:prstGeom prst="roundRect">
            <a:avLst>
              <a:gd name="adj" fmla="val 4167"/>
            </a:avLst>
          </a:prstGeom>
          <a:solidFill>
            <a:schemeClr val="bg2"/>
          </a:solidFill>
          <a:ln/>
        </p:spPr>
      </p:sp>
      <p:sp>
        <p:nvSpPr>
          <p:cNvPr id="20" name="lingkaran rata"/>
          <p:cNvSpPr/>
          <p:nvPr/>
        </p:nvSpPr>
        <p:spPr>
          <a:xfrm>
            <a:off x="9466326" y="237744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mage 2" descr="ra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7436" y="2568550"/>
            <a:ext cx="486461" cy="48646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68005" y="2194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295437" y="3383280"/>
            <a:ext cx="32104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Induk menentukan posisi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8295437" y="4206240"/>
            <a:ext cx="3210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Panitia yang menentukan letak stan. Anak tidak tahu posisinya sendiri.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Ketat, Longgar, dan Tak Terbatas</a:t>
            </a:r>
            <a:endParaRPr lang="en-US" sz="3200" dirty="0"/>
          </a:p>
        </p:txBody>
      </p:sp>
      <p:sp>
        <p:nvSpPr>
          <p:cNvPr id="4" name="bingkai layar 1"/>
          <p:cNvSpPr/>
          <p:nvPr/>
        </p:nvSpPr>
        <p:spPr>
          <a:xfrm>
            <a:off x="7723724" y="1316736"/>
            <a:ext cx="3974196" cy="4818888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5" name="layar 1" descr="Tangkapan layar aplikasi (hasil_contoh_07.jp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8588" y="1371600"/>
            <a:ext cx="3864468" cy="4709160"/>
          </a:xfrm>
          <a:prstGeom prst="rect">
            <a:avLst/>
          </a:prstGeom>
        </p:spPr>
      </p:pic>
      <p:sp>
        <p:nvSpPr>
          <p:cNvPr id="6" name="tombol tautan">
            <a:hlinkClick r:id="rId2" tooltip="https://github.com/antonprafanto/mobile2026/blob/main/pertemuan_04_widget_dan_layout/kode/contoh_07_constraints.dart"/>
          </p:cNvPr>
          <p:cNvSpPr txBox="1"/>
          <p:nvPr/>
        </p:nvSpPr>
        <p:spPr>
          <a:xfrm>
            <a:off x="548640" y="1371600"/>
            <a:ext cx="6772748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contoh_07_constraints.dart</a:t>
            </a:r>
            <a:endParaRPr lang="en-US" sz="1300" dirty="0"/>
          </a:p>
        </p:txBody>
      </p:sp>
      <p:pic>
        <p:nvPicPr>
          <p:cNvPr id="7" name="Image 1" descr="ikon tautan">
            <a:hlinkClick r:id="rId4" tooltip="https://github.com/antonprafanto/mobile2026/blob/main/pertemuan_04_widget_dan_layout/kode/contoh_07_constraints.dart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463040"/>
            <a:ext cx="274320" cy="274320"/>
          </a:xfrm>
          <a:prstGeom prst="rect">
            <a:avLst/>
          </a:prstGeom>
        </p:spPr>
      </p:pic>
      <p:sp>
        <p:nvSpPr>
          <p:cNvPr id="8" name="daftar poin"/>
          <p:cNvSpPr txBox="1"/>
          <p:nvPr/>
        </p:nvSpPr>
        <p:spPr>
          <a:xfrm>
            <a:off x="548640" y="2103120"/>
            <a:ext cx="677274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Ketat (tight): </a:t>
            </a:r>
            <a:r>
              <a:rPr lang="en-US" sz="1600" dirty="0">
                <a:solidFill>
                  <a:schemeClr val="tx1"/>
                </a:solidFill>
              </a:rPr>
              <a:t>minimum = maksimum. Di dalam SizedBox 260 × 60, anak wajib selebar 260.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Longgar (loose): </a:t>
            </a:r>
            <a:r>
              <a:rPr lang="en-US" sz="1600" dirty="0">
                <a:solidFill>
                  <a:schemeClr val="tx1"/>
                </a:solidFill>
              </a:rPr>
              <a:t>minimum 0. Di dalam Center, anak boleh selebar 0 sampai 328 (360 − 2 × 16).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Tak terbatas (unbounded): </a:t>
            </a:r>
            <a:r>
              <a:rPr lang="en-US" sz="1600" dirty="0">
                <a:solidFill>
                  <a:schemeClr val="tx1"/>
                </a:solidFill>
              </a:rPr>
              <a:t>Row memberi lebar Infinity kepada anak yang bukan Expanded.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Itulah sebabnya teks panjang di Row meluber, padahal di Column turun baris.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LayoutBuilder menampilkan batasan yang diterima sebuah widget.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"Kenapa Ukuran yang Saya Tulis Diabaikan?"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771900"/>
          </a:xfrm>
          <a:prstGeom prst="roundRect">
            <a:avLst>
              <a:gd name="adj" fmla="val 2424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crossAxisAlignment: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CrossAxisAlignment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.stretch,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children: [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Lebar 100 DIABAIKAN: stretch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memberi batasan lebar yang ketat.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(width: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height: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Lebar 100 DIPATUHI: Align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melonggarkan batasan.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alignment: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Alignment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.centerLeft,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child: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(width: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height: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5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Ukuran anak wajib berada di dalam batasan induknya.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Induk dengan batasan ketat (stretch, SizedBox, Expanded) mengalahkan width/height anak.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Align dan Center menerima batasan ketat, lalu meneruskan batasan longgar kepada anaknya.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Bingung? Cari tahu batasan yang diterima widget itu (LayoutBuilder atau Flutter Inspector).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Overflow: Garis Kuning-Hitam</a:t>
            </a:r>
            <a:endParaRPr lang="en-US" sz="3200" dirty="0"/>
          </a:p>
        </p:txBody>
      </p:sp>
      <p:sp>
        <p:nvSpPr>
          <p:cNvPr id="4" name="bingkai layar 1"/>
          <p:cNvSpPr/>
          <p:nvPr/>
        </p:nvSpPr>
        <p:spPr>
          <a:xfrm>
            <a:off x="8352486" y="1316736"/>
            <a:ext cx="3345434" cy="4818888"/>
          </a:xfrm>
          <a:prstGeom prst="roundRect">
            <a:avLst>
              <a:gd name="adj" fmla="val 2733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5" name="layar 1" descr="Tangkapan layar aplikasi (hasil_contoh_08_masalah.jp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7350" y="1371600"/>
            <a:ext cx="3235706" cy="4709160"/>
          </a:xfrm>
          <a:prstGeom prst="rect">
            <a:avLst/>
          </a:prstGeom>
        </p:spPr>
      </p:pic>
      <p:sp>
        <p:nvSpPr>
          <p:cNvPr id="6" name="tombol tautan">
            <a:hlinkClick r:id="rId2" tooltip="https://github.com/antonprafanto/mobile2026/blob/main/pertemuan_04_widget_dan_layout/kode/contoh_08_mengatasi_overflow.dart"/>
          </p:cNvPr>
          <p:cNvSpPr txBox="1"/>
          <p:nvPr/>
        </p:nvSpPr>
        <p:spPr>
          <a:xfrm>
            <a:off x="548640" y="1371600"/>
            <a:ext cx="740151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contoh_08_mengatasi_overflow.dart</a:t>
            </a:r>
            <a:endParaRPr lang="en-US" sz="1300" dirty="0"/>
          </a:p>
        </p:txBody>
      </p:sp>
      <p:pic>
        <p:nvPicPr>
          <p:cNvPr id="7" name="Image 1" descr="ikon tautan">
            <a:hlinkClick r:id="rId4" tooltip="https://github.com/antonprafanto/mobile2026/blob/main/pertemuan_04_widget_dan_layout/kode/contoh_08_mengatasi_overflow.dart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463040"/>
            <a:ext cx="274320" cy="274320"/>
          </a:xfrm>
          <a:prstGeom prst="rect">
            <a:avLst/>
          </a:prstGeom>
        </p:spPr>
      </p:pic>
      <p:sp>
        <p:nvSpPr>
          <p:cNvPr id="8" name="daftar poin"/>
          <p:cNvSpPr txBox="1"/>
          <p:nvPr/>
        </p:nvSpPr>
        <p:spPr>
          <a:xfrm>
            <a:off x="548640" y="2103120"/>
            <a:ext cx="740151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RenderFlex overflowed by 344 pixels on the right.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right = meluber ke kanan (biasanya Row), bottom = meluber ke bawah (biasanya Column). Angkanya bergantung lebar layar.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Baris bergaris pada gambar = masalah; baris di bawahnya = versi yang sudah diperbaiki.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Garis hanya tampil saat debug. Di aplikasi rilis, isinya terpotong diam-diam.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Memilih Obat yang Tepat untuk Overflow</a:t>
            </a:r>
            <a:endParaRPr lang="en-US" sz="3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503500"/>
                <a:gridCol w="3698138"/>
                <a:gridCol w="3892777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Gejala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Penyebab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Solusi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on the right, berisi satu teks panjang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 di Row menerima lebar tak terbatas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Expanded (+ maxLines dan TextOverflow.ellipsis)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on the right, berisi banyak item kecil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tidak pernah pindah baris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(spacing, runSpacing)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on the bottom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lebih tinggi daripada layar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SingleChildScrollView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lingkaran lampu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lamp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5597042"/>
            <a:ext cx="281635" cy="28163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234440" y="5394960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Daftar data yang panjang (puluhan sampai ribuan baris) memakai ListView, dibahas di Pertemuan 6.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BAGIAN 6</a:t>
            </a:r>
            <a:endParaRPr lang="en-US" sz="1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Merapikan Tampilan dan Kode</a:t>
            </a:r>
            <a:endParaRPr lang="en-US" sz="4000" dirty="0"/>
          </a:p>
        </p:txBody>
      </p:sp>
      <p:sp>
        <p:nvSpPr>
          <p:cNvPr id="5" name="lingkaran dasbor"/>
          <p:cNvSpPr/>
          <p:nvPr/>
        </p:nvSpPr>
        <p:spPr>
          <a:xfrm>
            <a:off x="1097280" y="214884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dasb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50" y="2591410"/>
            <a:ext cx="1126541" cy="11265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ListTile: Baris Informasi Siap Pakai</a:t>
            </a:r>
            <a:endParaRPr lang="en-US" sz="3200" dirty="0"/>
          </a:p>
        </p:txBody>
      </p:sp>
      <p:sp>
        <p:nvSpPr>
          <p:cNvPr id="4" name="bingkai layar 1"/>
          <p:cNvSpPr/>
          <p:nvPr/>
        </p:nvSpPr>
        <p:spPr>
          <a:xfrm>
            <a:off x="8089776" y="1316736"/>
            <a:ext cx="3608143" cy="4818888"/>
          </a:xfrm>
          <a:prstGeom prst="roundRect">
            <a:avLst>
              <a:gd name="adj" fmla="val 2534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5" name="layar 1" descr="Tangkapan layar aplikasi (hasil_contoh_09.jp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4640" y="1371600"/>
            <a:ext cx="3498415" cy="4709160"/>
          </a:xfrm>
          <a:prstGeom prst="rect">
            <a:avLst/>
          </a:prstGeom>
        </p:spPr>
      </p:pic>
      <p:sp>
        <p:nvSpPr>
          <p:cNvPr id="6" name="kotak kode"/>
          <p:cNvSpPr txBox="1"/>
          <p:nvPr/>
        </p:nvSpPr>
        <p:spPr>
          <a:xfrm>
            <a:off x="548640" y="1371600"/>
            <a:ext cx="7138800" cy="2075688"/>
          </a:xfrm>
          <a:prstGeom prst="roundRect">
            <a:avLst>
              <a:gd name="adj" fmla="val 4405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child: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ListTile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leading: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CircleAvatar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(child: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.menu_book)),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title: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'Pemrograman Piranti Bergerak'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subtitle: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'Senin, 08.00-10.30 · Lab 2'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trailing: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.chevron_right, color: warna.outline),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7" name="tombol tautan">
            <a:hlinkClick r:id="rId2" tooltip="https://github.com/antonprafanto/mobile2026/blob/main/pertemuan_04_widget_dan_layout/kode/contoh_09_card_dan_listtile.dart"/>
          </p:cNvPr>
          <p:cNvSpPr txBox="1"/>
          <p:nvPr/>
        </p:nvSpPr>
        <p:spPr>
          <a:xfrm>
            <a:off x="548640" y="3630168"/>
            <a:ext cx="713880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contoh_09_card_dan_listtile.dart</a:t>
            </a:r>
            <a:endParaRPr lang="en-US" sz="1300" dirty="0"/>
          </a:p>
        </p:txBody>
      </p:sp>
      <p:pic>
        <p:nvPicPr>
          <p:cNvPr id="8" name="Image 1" descr="ikon tautan">
            <a:hlinkClick r:id="rId4" tooltip="https://github.com/antonprafanto/mobile2026/blob/main/pertemuan_04_widget_dan_layout/kode/contoh_09_card_dan_listtile.dart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721608"/>
            <a:ext cx="274320" cy="274320"/>
          </a:xfrm>
          <a:prstGeom prst="rect">
            <a:avLst/>
          </a:prstGeom>
        </p:spPr>
      </p:pic>
      <p:sp>
        <p:nvSpPr>
          <p:cNvPr id="9" name="daftar poin"/>
          <p:cNvSpPr txBox="1"/>
          <p:nvPr/>
        </p:nvSpPr>
        <p:spPr>
          <a:xfrm>
            <a:off x="548640" y="4361688"/>
            <a:ext cx="713880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Empat slot: leading (kiri), title, subtitle, trailing (kanan).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Judul panjang otomatis turun baris tanpa overflow.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 dalam Row, ListTile wajib dibungkus Expanded.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Memecah Tampilan Menjadi Widget Kecil</a:t>
            </a:r>
            <a:endParaRPr lang="en-US" sz="3200" dirty="0"/>
          </a:p>
        </p:txBody>
      </p:sp>
      <p:sp>
        <p:nvSpPr>
          <p:cNvPr id="4" name="bingkai layar 1"/>
          <p:cNvSpPr/>
          <p:nvPr/>
        </p:nvSpPr>
        <p:spPr>
          <a:xfrm>
            <a:off x="8431502" y="1316736"/>
            <a:ext cx="3266418" cy="4818888"/>
          </a:xfrm>
          <a:prstGeom prst="roundRect">
            <a:avLst>
              <a:gd name="adj" fmla="val 2799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5" name="layar 1" descr="Tangkapan layar aplikasi (hasil_contoh_10.jp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6366" y="1371600"/>
            <a:ext cx="3156690" cy="4709160"/>
          </a:xfrm>
          <a:prstGeom prst="rect">
            <a:avLst/>
          </a:prstGeom>
        </p:spPr>
      </p:pic>
      <p:sp>
        <p:nvSpPr>
          <p:cNvPr id="6" name="kotak kode"/>
          <p:cNvSpPr txBox="1"/>
          <p:nvPr/>
        </p:nvSpPr>
        <p:spPr>
          <a:xfrm>
            <a:off x="548640" y="1371600"/>
            <a:ext cx="7480526" cy="3115818"/>
          </a:xfrm>
          <a:prstGeom prst="roundRect">
            <a:avLst>
              <a:gd name="adj" fmla="val 2935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KartuStatistik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StatelessWidget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KartuStatistik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.key,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.ikon,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.angka,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.label,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IconData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ikon;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angka;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label;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build(): Card berisi ikon, angka, label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ombol tautan">
            <a:hlinkClick r:id="rId2" tooltip="https://github.com/antonprafanto/mobile2026/blob/main/pertemuan_04_widget_dan_layout/kode/contoh_10_memecah_widget.dart"/>
          </p:cNvPr>
          <p:cNvSpPr txBox="1"/>
          <p:nvPr/>
        </p:nvSpPr>
        <p:spPr>
          <a:xfrm>
            <a:off x="548640" y="4670298"/>
            <a:ext cx="7480526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contoh_10_memecah_widget.dart</a:t>
            </a:r>
            <a:endParaRPr lang="en-US" sz="1300" dirty="0"/>
          </a:p>
        </p:txBody>
      </p:sp>
      <p:pic>
        <p:nvPicPr>
          <p:cNvPr id="8" name="Image 1" descr="ikon tautan">
            <a:hlinkClick r:id="rId4" tooltip="https://github.com/antonprafanto/mobile2026/blob/main/pertemuan_04_widget_dan_layout/kode/contoh_10_memecah_widget.dart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761738"/>
            <a:ext cx="274320" cy="274320"/>
          </a:xfrm>
          <a:prstGeom prst="rect">
            <a:avLst/>
          </a:prstGeom>
        </p:spPr>
      </p:pic>
      <p:sp>
        <p:nvSpPr>
          <p:cNvPr id="9" name="daftar poin"/>
          <p:cNvSpPr txBox="1"/>
          <p:nvPr/>
        </p:nvSpPr>
        <p:spPr>
          <a:xfrm>
            <a:off x="548640" y="5401818"/>
            <a:ext cx="7480526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Dipakai: KartuStatistik(ikon: Icons.task_alt, angka: '12', label: 'Tugas')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Properti final + constructor const: widget tidak berubah (immutable).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Mengapa Class Widget, Bukan Fungsi Pembantu?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</a:rPr>
              <a:t>Dokumentasi Flutter menyarankan: untuk potongan tampilan yang dipakai ulang, buat widget (class), bukan fungsi pembantu (helper method).</a:t>
            </a:r>
            <a:endParaRPr lang="en-US" sz="1800" dirty="0"/>
          </a:p>
        </p:txBody>
      </p:sp>
      <p:sp>
        <p:nvSpPr>
          <p:cNvPr id="5" name="kartu 1"/>
          <p:cNvSpPr/>
          <p:nvPr/>
        </p:nvSpPr>
        <p:spPr>
          <a:xfrm>
            <a:off x="548640" y="2011680"/>
            <a:ext cx="538718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6" name="lingkaran kilat"/>
          <p:cNvSpPr/>
          <p:nvPr/>
        </p:nvSpPr>
        <p:spPr>
          <a:xfrm>
            <a:off x="777240" y="2240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kil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2391156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00200" y="2212848"/>
            <a:ext cx="41527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Bisa const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063240"/>
            <a:ext cx="49299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Flutter tidak perlu membangun ulang widget const ketika induknya berubah.</a:t>
            </a:r>
            <a:endParaRPr lang="en-US" sz="1500" dirty="0"/>
          </a:p>
        </p:txBody>
      </p:sp>
      <p:sp>
        <p:nvSpPr>
          <p:cNvPr id="10" name="kartu 2"/>
          <p:cNvSpPr/>
          <p:nvPr/>
        </p:nvSpPr>
        <p:spPr>
          <a:xfrm>
            <a:off x="6255868" y="2011680"/>
            <a:ext cx="538718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1" name="lingkaran pohon"/>
          <p:cNvSpPr/>
          <p:nvPr/>
        </p:nvSpPr>
        <p:spPr>
          <a:xfrm>
            <a:off x="6484468" y="2240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poh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344" y="239115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07428" y="2212848"/>
            <a:ext cx="41527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Punya context sendiri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84468" y="3063240"/>
            <a:ext cx="49299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Letaknya tepat di pohon widget, sehingga Theme.of(context) dan sejenisnya bekerja benar.</a:t>
            </a:r>
            <a:endParaRPr lang="en-US" sz="1500" dirty="0"/>
          </a:p>
        </p:txBody>
      </p:sp>
      <p:sp>
        <p:nvSpPr>
          <p:cNvPr id="15" name="kartu 3"/>
          <p:cNvSpPr/>
          <p:nvPr/>
        </p:nvSpPr>
        <p:spPr>
          <a:xfrm>
            <a:off x="548640" y="4251960"/>
            <a:ext cx="538718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16" name="lingkaran lihat"/>
          <p:cNvSpPr/>
          <p:nvPr/>
        </p:nvSpPr>
        <p:spPr>
          <a:xfrm>
            <a:off x="777240" y="44805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lih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463143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00200" y="4453128"/>
            <a:ext cx="41527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Terlihat di Inspector</a:t>
            </a:r>
            <a:endParaRPr lang="en-US" sz="1800" dirty="0"/>
          </a:p>
        </p:txBody>
      </p:sp>
      <p:sp>
        <p:nvSpPr>
          <p:cNvPr id="19" name="Text 13"/>
          <p:cNvSpPr txBox="1"/>
          <p:nvPr/>
        </p:nvSpPr>
        <p:spPr>
          <a:xfrm>
            <a:off x="777240" y="5303520"/>
            <a:ext cx="49299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Muncul dengan namanya sendiri (KartuStatistik), mudah dilacak saat debugging.</a:t>
            </a:r>
            <a:endParaRPr lang="en-US" sz="1500" dirty="0"/>
          </a:p>
        </p:txBody>
      </p:sp>
      <p:sp>
        <p:nvSpPr>
          <p:cNvPr id="20" name="kartu 4"/>
          <p:cNvSpPr/>
          <p:nvPr/>
        </p:nvSpPr>
        <p:spPr>
          <a:xfrm>
            <a:off x="6255868" y="4251960"/>
            <a:ext cx="5387188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</p:sp>
      <p:sp>
        <p:nvSpPr>
          <p:cNvPr id="21" name="lingkaran folder"/>
          <p:cNvSpPr/>
          <p:nvPr/>
        </p:nvSpPr>
        <p:spPr>
          <a:xfrm>
            <a:off x="6484468" y="44805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Image 3" descr="fold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344" y="4631436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307428" y="4453128"/>
            <a:ext cx="41527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Mudah dipakai ulang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6484468" y="5303520"/>
            <a:ext cx="49299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Bisa dipindah ke berkas tersendiri dan dipakai di halaman lain.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Studi Kasus: Halaman Detail Menu Kantin</a:t>
            </a:r>
            <a:endParaRPr lang="en-US" sz="3200" dirty="0"/>
          </a:p>
        </p:txBody>
      </p:sp>
      <p:sp>
        <p:nvSpPr>
          <p:cNvPr id="4" name="bingkai layar 1"/>
          <p:cNvSpPr/>
          <p:nvPr/>
        </p:nvSpPr>
        <p:spPr>
          <a:xfrm>
            <a:off x="6010351" y="1316736"/>
            <a:ext cx="2761488" cy="424434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5" name="layar 1" descr="Tangkapan layar aplikasi (hasil_contoh_11a.jp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5215" y="1371600"/>
            <a:ext cx="2651760" cy="4134620"/>
          </a:xfrm>
          <a:prstGeom prst="rect">
            <a:avLst/>
          </a:prstGeom>
        </p:spPr>
      </p:pic>
      <p:sp>
        <p:nvSpPr>
          <p:cNvPr id="6" name="bingkai layar 2"/>
          <p:cNvSpPr/>
          <p:nvPr/>
        </p:nvSpPr>
        <p:spPr>
          <a:xfrm>
            <a:off x="8936431" y="1316736"/>
            <a:ext cx="2761488" cy="4244348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7" name="layar 2" descr="Tangkapan layar aplikasi (hasil_contoh_11b.jpg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295" y="1371600"/>
            <a:ext cx="2651760" cy="4134620"/>
          </a:xfrm>
          <a:prstGeom prst="rect">
            <a:avLst/>
          </a:prstGeom>
        </p:spPr>
      </p:pic>
      <p:sp>
        <p:nvSpPr>
          <p:cNvPr id="8" name="tombol tautan">
            <a:hlinkClick r:id="rId3" tooltip="https://github.com/antonprafanto/mobile2026/blob/main/pertemuan_04_widget_dan_layout/kode/contoh_11_studi_kasus_detail_menu.dart"/>
          </p:cNvPr>
          <p:cNvSpPr txBox="1"/>
          <p:nvPr/>
        </p:nvSpPr>
        <p:spPr>
          <a:xfrm>
            <a:off x="548640" y="1371600"/>
            <a:ext cx="5059375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Kode di GitHub  ·  contoh_11_studi_kasus_detail_menu.dart</a:t>
            </a:r>
            <a:endParaRPr lang="en-US" sz="1300" dirty="0"/>
          </a:p>
        </p:txBody>
      </p:sp>
      <p:pic>
        <p:nvPicPr>
          <p:cNvPr id="9" name="Image 2" descr="ikon tautan">
            <a:hlinkClick r:id="rId5" tooltip="https://github.com/antonprafanto/mobile2026/blob/main/pertemuan_04_widget_dan_layout/kode/contoh_11_studi_kasus_detail_menu.dart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1463040"/>
            <a:ext cx="274320" cy="274320"/>
          </a:xfrm>
          <a:prstGeom prst="rect">
            <a:avLst/>
          </a:prstGeom>
        </p:spPr>
      </p:pic>
      <p:sp>
        <p:nvSpPr>
          <p:cNvPr id="10" name="daftar poin"/>
          <p:cNvSpPr txBox="1"/>
          <p:nvPr/>
        </p:nvSpPr>
        <p:spPr>
          <a:xfrm>
            <a:off x="548640" y="2103120"/>
            <a:ext cx="505937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Banner: Stack + dua Positioned, dipotong ClipRRect.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Nama menu: Expanded agar harga tetap terlihat.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Rating: for di dalam daftar + operator ? :.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Label: Wrap + Chip. Info: tiga KotakInfo dalam Expanded.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Tombol: bottomNavigationBar + SafeArea.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Uji di lebar 320: tombol "Simpan" diganti tombol ikon.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Alat Bantu Melihat Tata Letak</a:t>
            </a:r>
            <a:endParaRPr lang="en-US" sz="3200" dirty="0"/>
          </a:p>
        </p:txBody>
      </p:sp>
      <p:sp>
        <p:nvSpPr>
          <p:cNvPr id="4" name="bingkai layar 1"/>
          <p:cNvSpPr/>
          <p:nvPr/>
        </p:nvSpPr>
        <p:spPr>
          <a:xfrm>
            <a:off x="6467551" y="1316736"/>
            <a:ext cx="5230368" cy="2534803"/>
          </a:xfrm>
          <a:prstGeom prst="roundRect">
            <a:avLst>
              <a:gd name="adj" fmla="val 360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5" name="layar 1" descr="Tangkapan layar aplikasi (hasil_garis_bantu.jp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1371600"/>
            <a:ext cx="5120640" cy="2425075"/>
          </a:xfrm>
          <a:prstGeom prst="rect">
            <a:avLst/>
          </a:prstGeom>
        </p:spPr>
      </p:pic>
      <p:sp>
        <p:nvSpPr>
          <p:cNvPr id="6" name="kotak kode"/>
          <p:cNvSpPr txBox="1"/>
          <p:nvPr/>
        </p:nvSpPr>
        <p:spPr>
          <a:xfrm>
            <a:off x="548640" y="1371600"/>
            <a:ext cx="5516575" cy="1755648"/>
          </a:xfrm>
          <a:prstGeom prst="roundRect">
            <a:avLst>
              <a:gd name="adj" fmla="val 5208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'package:flutter/rendering.dart'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debugPaintSizeEnabled =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runApp(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AplikasiSaya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daftar poin"/>
          <p:cNvSpPr txBox="1"/>
          <p:nvPr/>
        </p:nvSpPr>
        <p:spPr>
          <a:xfrm>
            <a:off x="548640" y="3355848"/>
            <a:ext cx="551657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Garis bantu: </a:t>
            </a:r>
            <a:r>
              <a:rPr lang="en-US" sz="1600" dirty="0">
                <a:solidFill>
                  <a:schemeClr val="tx1"/>
                </a:solidFill>
              </a:rPr>
              <a:t>garis toska = batas widget, biru muda = padding. Bisa dipakai di DartPad; hapus lagi setelah selesai.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Flutter Inspector: </a:t>
            </a:r>
            <a:r>
              <a:rPr lang="en-US" sz="1600" dirty="0">
                <a:solidFill>
                  <a:schemeClr val="tx1"/>
                </a:solidFill>
              </a:rPr>
              <a:t>Start Debugging (F5), lalu F1 → Open DevTools. Select Widget Mode menampilkan size, constraints, dan Flex explorer.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Layar ponsel di Chrome: </a:t>
            </a:r>
            <a:r>
              <a:rPr lang="en-US" sz="1600" dirty="0">
                <a:solidFill>
                  <a:schemeClr val="tx1"/>
                </a:solidFill>
              </a:rPr>
              <a:t>F12 → Ctrl+Shift+M → Dimensions: Responsive; uji lebar 360 dan 320.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Kesalahan Umum Pemula</a:t>
            </a:r>
            <a:endParaRPr lang="en-US" sz="3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5943437"/>
                <a:gridCol w="5150978"/>
              </a:tblGrid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Pesan error / gejala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Penyebab dan solusi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named parameter 'child' isn't defined.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 banyak anak: pakai children: [ ... 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argument type 'int' can't be assigned to the parameter type 'EdgeInsetsGeometry'.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Tulis padding: const EdgeInsets.all(16)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constant value.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Hapus const pada widget yang memakai warna/gaya dari tema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 use of ParentDataWidget.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Expanded/Positioned bukan anak langsung Row/Column/Stack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RenderFlex children have non-zero flex but incoming height constraints are unbounded.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Expanded di dalam Column yang bisa digulir; hapus Expanded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BoxConstraints forces an infinite width.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ListTile di dalam Row; bungkus dengan Expanded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provide both a color and a decoration.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Pindahkan warna ke BoxDecoration(color: ...)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Ringkasan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1371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Semua adalah widget; child untuk satu anak, children untuk banyak anak.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514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Gaya teks dan warna diambil dari tema; onX untuk isi di atas warna X.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3657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Padding/EdgeInsets, SizedBox, Align/Center; Container (margin, padding, dekorasi) dan Card.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4800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Row/Column: mainAxisAlignment, crossAxisAlignment, spacing, mainAxisSize.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324448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10248" y="1371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Expanded (wajib penuh, flex), Flexible (boleh lebih kecil), Spacer; Stack + Positioned.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324448" y="2560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010248" y="2514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Batasan turun, ukuran naik, induk menentukan posisi: ketat, longgar, tak terbatas.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324448" y="3703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657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Overflow: Expanded + ellipsis, Wrap, atau SingleChildScrollView.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324448" y="4846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010248" y="4800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ListTile siap pakai; pecah tampilan menjadi class widget; uji di lebar 320–360.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"/>
          <p:cNvSpPr/>
          <p:nvPr>
            <p:ph idx="104" type="title" hasCustomPrompt="1"/>
          </p:nvPr>
        </p:nvSpPr>
        <p:spPr>
          <a:xfrm>
            <a:off x="731520" y="155448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Saatnya Praktik!</a:t>
            </a:r>
            <a:endParaRPr lang="en-US" sz="4400" dirty="0"/>
          </a:p>
        </p:txBody>
      </p:sp>
      <p:sp>
        <p:nvSpPr>
          <p:cNvPr id="4" name="Text 4"/>
          <p:cNvSpPr/>
          <p:nvPr>
            <p:ph idx="105" type="body" hasCustomPrompt="1"/>
          </p:nvPr>
        </p:nvSpPr>
        <p:spPr>
          <a:xfrm>
            <a:off x="731520" y="384048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Kerjakan Jobsheet Pertemuan 4 (lima praktikum + tantangan Profil Kedai Kopi Kampus), lalu uji diri di Latihan. Pertemuan berikutnya: interaksi pengguna dan state lokal.</a:t>
            </a:r>
            <a:endParaRPr lang="en-US" sz="2000" dirty="0"/>
          </a:p>
        </p:txBody>
      </p:sp>
      <p:sp>
        <p:nvSpPr>
          <p:cNvPr id="5" name="tombol tautan">
            <a:hlinkClick r:id="rId1" tooltip="https://github.com/antonprafanto/mobile2026/blob/main/pertemuan_04_widget_dan_layout/JOBSHEET.md"/>
          </p:cNvPr>
          <p:cNvSpPr txBox="1"/>
          <p:nvPr/>
        </p:nvSpPr>
        <p:spPr>
          <a:xfrm>
            <a:off x="731520" y="5166360"/>
            <a:ext cx="269748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622300" tIns="0" rIns="762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Jobsheet P4</a:t>
            </a:r>
            <a:endParaRPr lang="en-US" sz="1600" dirty="0"/>
          </a:p>
        </p:txBody>
      </p:sp>
      <p:pic>
        <p:nvPicPr>
          <p:cNvPr id="6" name="Image 0" descr="ikon tautan">
            <a:hlinkClick r:id="rId3" tooltip="https://github.com/antonprafanto/mobile2026/blob/main/pertemuan_04_widget_dan_layout/JOBSHEET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5276088"/>
            <a:ext cx="329184" cy="329184"/>
          </a:xfrm>
          <a:prstGeom prst="rect">
            <a:avLst/>
          </a:prstGeom>
        </p:spPr>
      </p:pic>
      <p:sp>
        <p:nvSpPr>
          <p:cNvPr id="7" name="tombol tautan">
            <a:hlinkClick r:id="rId4" tooltip="https://github.com/antonprafanto/mobile2026/blob/main/pertemuan_04_widget_dan_layout/LATIHAN.md"/>
          </p:cNvPr>
          <p:cNvSpPr txBox="1"/>
          <p:nvPr/>
        </p:nvSpPr>
        <p:spPr>
          <a:xfrm>
            <a:off x="3611880" y="5166360"/>
            <a:ext cx="2697480" cy="54864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  <p:txBody>
          <a:bodyPr wrap="square" lIns="622300" tIns="0" rIns="762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Latihan P4</a:t>
            </a:r>
            <a:endParaRPr lang="en-US" sz="1600" dirty="0"/>
          </a:p>
        </p:txBody>
      </p:sp>
      <p:pic>
        <p:nvPicPr>
          <p:cNvPr id="8" name="Image 1" descr="ikon tautan">
            <a:hlinkClick r:id="rId6" tooltip="https://github.com/antonprafanto/mobile2026/blob/main/pertemuan_04_widget_dan_layout/LATIHAN.m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8184" y="5276088"/>
            <a:ext cx="329184" cy="329184"/>
          </a:xfrm>
          <a:prstGeom prst="rect">
            <a:avLst/>
          </a:prstGeom>
        </p:spPr>
      </p:pic>
      <p:sp>
        <p:nvSpPr>
          <p:cNvPr id="9" name="tombol tautan">
            <a:hlinkClick r:id="rId7" tooltip="https://github.com/antonprafanto/mobile2026/blob/main/pertemuan_04_widget_dan_layout/README.md"/>
          </p:cNvPr>
          <p:cNvSpPr txBox="1"/>
          <p:nvPr/>
        </p:nvSpPr>
        <p:spPr>
          <a:xfrm>
            <a:off x="6492240" y="5166360"/>
            <a:ext cx="2697480" cy="54864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  <p:txBody>
          <a:bodyPr wrap="square" lIns="622300" tIns="0" rIns="762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Modul P4</a:t>
            </a:r>
            <a:endParaRPr lang="en-US" sz="1600" dirty="0"/>
          </a:p>
        </p:txBody>
      </p:sp>
      <p:pic>
        <p:nvPicPr>
          <p:cNvPr id="10" name="Image 2" descr="ikon tautan">
            <a:hlinkClick r:id="rId9" tooltip="https://github.com/antonprafanto/mobile2026/blob/main/pertemuan_04_widget_dan_layout/README.md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5276088"/>
            <a:ext cx="329184" cy="329184"/>
          </a:xfrm>
          <a:prstGeom prst="rect">
            <a:avLst/>
          </a:prstGeom>
        </p:spPr>
      </p:pic>
      <p:sp>
        <p:nvSpPr>
          <p:cNvPr id="11" name="lingkaran roket"/>
          <p:cNvSpPr/>
          <p:nvPr/>
        </p:nvSpPr>
        <p:spPr>
          <a:xfrm>
            <a:off x="9646920" y="182880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3" descr="roke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29139" y="2211019"/>
            <a:ext cx="972922" cy="9729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PB Flutter 2026">
  <a:themeElements>
    <a:clrScheme name="PPB Flutter 2026">
      <a:dk1>
        <a:srgbClr val="1B2333"/>
      </a:dk1>
      <a:lt1>
        <a:srgbClr val="FFFFFF"/>
      </a:lt1>
      <a:dk2>
        <a:srgbClr val="0B2545"/>
      </a:dk2>
      <a:lt2>
        <a:srgbClr val="EEF3FA"/>
      </a:lt2>
      <a:accent1>
        <a:srgbClr val="0175C2"/>
      </a:accent1>
      <a:accent2>
        <a:srgbClr val="13B9FD"/>
      </a:accent2>
      <a:accent3>
        <a:srgbClr val="F2A900"/>
      </a:accent3>
      <a:accent4>
        <a:srgbClr val="2E7D32"/>
      </a:accent4>
      <a:accent5>
        <a:srgbClr val="C62828"/>
      </a:accent5>
      <a:accent6>
        <a:srgbClr val="6750A4"/>
      </a:accent6>
      <a:hlink>
        <a:srgbClr val="0175C2"/>
      </a:hlink>
      <a:folHlink>
        <a:srgbClr val="6750A4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04 - Widget &amp; Tata Letak</dc:title>
  <dc:subject>Materi kuliah Pemrograman Piranti Bergerak (Flutter 2026)</dc:subject>
  <dc:creator>Pemrograman Piranti Bergerak - Informatika S1</dc:creator>
  <cp:lastModifiedBy>Pemrograman Piranti Bergerak - Informatika S1</cp:lastModifiedBy>
  <cp:revision>1</cp:revision>
  <dcterms:created xsi:type="dcterms:W3CDTF">2026-10-13T16:19:26Z</dcterms:created>
  <dcterms:modified xsi:type="dcterms:W3CDTF">2026-10-13T16:19:26Z</dcterms:modified>
</cp:coreProperties>
</file>