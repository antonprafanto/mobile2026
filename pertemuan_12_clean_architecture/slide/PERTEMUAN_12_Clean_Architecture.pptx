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751fb537-cccc-31d7-bc5f-f4ff6b5c8ded}">
          <p14:sldIdLst>
            <p14:sldId id="256"/>
            <p14:sldId id="257"/>
            <p14:sldId id="258"/>
            <p14:sldId id="259"/>
          </p14:sldIdLst>
        </p14:section>
        <p14:section name="Mengapa Aplikasi Perlu Arsitektur?" id="{b39c5aef-ff42-03fc-354e-725e28d584e3}">
          <p14:sldIdLst>
            <p14:sldId id="260"/>
            <p14:sldId id="261"/>
            <p14:sldId id="262"/>
            <p14:sldId id="263"/>
          </p14:sldIdLst>
        </p14:section>
        <p14:section name="Clean Architecture dalam Satu Gambar" id="{7d2054e0-3231-7db4-c83d-090e8d57f62e}">
          <p14:sldIdLst>
            <p14:sldId id="264"/>
            <p14:sldId id="265"/>
            <p14:sldId id="266"/>
            <p14:sldId id="267"/>
            <p14:sldId id="268"/>
          </p14:sldIdLst>
        </p14:section>
        <p14:section name="Lapisan Domain: Entitas dan Aturan Bisnis" id="{91dc3807-d879-f945-c5d0-901c310662e3}">
          <p14:sldIdLst>
            <p14:sldId id="269"/>
            <p14:sldId id="270"/>
            <p14:sldId id="271"/>
            <p14:sldId id="272"/>
            <p14:sldId id="273"/>
          </p14:sldIdLst>
        </p14:section>
        <p14:section name="Kontrak Repository dan Dependency Injection" id="{91e8be80-f8b9-dcb0-320b-7a4eaaf6314e}">
          <p14:sldIdLst>
            <p14:sldId id="274"/>
            <p14:sldId id="275"/>
            <p14:sldId id="276"/>
            <p14:sldId id="277"/>
            <p14:sldId id="278"/>
          </p14:sldIdLst>
        </p14:section>
        <p14:section name="Model API, Entitas, dan Pemetaan" id="{19f18f41-d46e-6466-b1a3-d63a867e863d}">
          <p14:sldIdLst>
            <p14:sldId id="279"/>
            <p14:sldId id="280"/>
            <p14:sldId id="281"/>
            <p14:sldId id="282"/>
            <p14:sldId id="283"/>
            <p14:sldId id="284"/>
          </p14:sldIdLst>
        </p14:section>
        <p14:section name="Hasil dan Kegagalan: Galat yang Menyeberangi Lapisan" id="{832e2bcb-553a-ba22-0912-194aca1a5ff6}">
          <p14:sldIdLst>
            <p14:sldId id="285"/>
            <p14:sldId id="286"/>
            <p14:sldId id="287"/>
            <p14:sldId id="288"/>
            <p14:sldId id="289"/>
            <p14:sldId id="290"/>
            <p14:sldId id="291"/>
          </p14:sldIdLst>
        </p14:section>
        <p14:section name="Use Case: Satu Tindakan, Lengkap dengan Aturannya" id="{b44b17be-0b56-d379-70b2-52a1ff9dd6a9}">
          <p14:sldIdLst>
            <p14:sldId id="292"/>
            <p14:sldId id="293"/>
            <p14:sldId id="294"/>
            <p14:sldId id="295"/>
            <p14:sldId id="296"/>
            <p14:sldId id="297"/>
          </p14:sldIdLst>
        </p14:section>
        <p14:section name="Perintah (Command): Status Milik Setiap Aksi" id="{82170a96-5894-b63b-1e90-8acbd68bc54a}">
          <p14:sldIdLst>
            <p14:sldId id="298"/>
            <p14:sldId id="299"/>
            <p14:sldId id="300"/>
            <p14:sldId id="301"/>
            <p14:sldId id="302"/>
          </p14:sldIdLst>
        </p14:section>
        <p14:section name="Menguji Setiap Lapisan dan Menata Folder" id="{87b9d8fd-4afe-4568-7793-d014efc9e9a1}">
          <p14:sldIdLst>
            <p14:sldId id="303"/>
            <p14:sldId id="304"/>
            <p14:sldId id="305"/>
            <p14:sldId id="306"/>
            <p14:sldId id="307"/>
            <p14:sldId id="308"/>
          </p14:sldIdLst>
        </p14:section>
        <p14:section name="Studi Kasus: Pinjam Ruang Kampus" id="{257d65e1-5998-f0ca-9eb9-d9c4fc328e2a}">
          <p14:sldIdLst>
            <p14:sldId id="309"/>
            <p14:sldId id="310"/>
            <p14:sldId id="311"/>
            <p14:sldId id="312"/>
            <p14:sldId id="313"/>
            <p14:sldId id="314"/>
          </p14:sldIdLst>
        </p14:section>
        <p14:section name="Secukupnya, Kesalahan Umum, dan Proyek Akhir" id="{6c85705f-afc9-5d28-0687-707fabe669ed}">
          <p14:sldIdLst>
            <p14:sldId id="315"/>
            <p14:sldId id="316"/>
            <p14:sldId id="317"/>
            <p14:sldId id="318"/>
            <p14:sldId id="319"/>
            <p14:sldId id="320"/>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Sejak Pertemuan 9 kita memakai MVVM + repository. Hari ini kita merapikannya dengan gagasan Clean Architecture: di mana setiap kode diletakkan, siapa boleh mengenal siapa, dan bagaimana menguji setiap bagian. Bekal: class, abstract class, sealed class, Future (P3); MVVM, provider, repository (P9); layanan, JSON, exception, MockClient (P10); repository yang menyimpan di perangkat (P11). Semua contoh hari ini bisa dijalankan di DartPad, karena paket http dan provider tersedia di sana. Pertemuan ini juga tahap laporan kemajuan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"Pinjam Ruang Kampus" yang ditata menjadi tiga lapisan, bisa berpindah dari data palsu ke data server hanya dengan mengubah satu baris, dan memeriksa semua aturannya sendiri tanpa layar maupun internet (23 pemeriksaan sebelum runApp).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apa salahnya menumpuk semua kode di satu widget, dan bagaimana Clean Architecture membaginya? Bagian B: di mana aturan seperti "maksimal 2 peminjaman" ditulis, dan bagaimana mengujinya? Bagian C: bagaimana menukar sumber data tanpa menyentuh tampilan, dan di mana JSON diterjemahkan? Bagian D: bagaimana kegagalan sampai ke layar tanpa UI ikut mengenal HTTP, di mana logika yang memakai beberapa repository ditulis, dan bagaimana setiap tombol tahu statusnya sendiri? Bagian E: menguji, menata folder, merangkai semuanya, dan kapan semua ini justru berlebihan.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contoh berjalan di DartPad. Contoh 01, 03, dan 08 membaca data ruang dari berkas data/ruang_kampus.json di repositori GitHub mata kuliah, jadi membutuhkan internet. Contoh lain memakai data palsu atau server palsu (MockClient), jadi berjalan tanpa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jarang berhenti di versi pertama. Fitur yang selalu ditempel di tempat terdekat membuat kode tumbuh seperti kabel di bawah meja.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Sejak Pertemuan 9 Anda sudah memakai satu bentuk arsitektur: MVVM dengan repository. Hari ini kita merapikannya lebih jauh. Panduan resmi Flutter menyebut sifat yang ingin dicapai: mudah dipahami (setiap bagian punya satu tugas, separation of concerns), mudah diubah (mengganti server tidak merembet ke halaman), dan mudah diuji (aturan "Sabtu ditolak" bisa diuji pada hari Senin).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Aplikasinya berjalan dengan baik; masalahnya ada di dalam: seluruh pekerjaan ditumpuk di satu State. MASALAH 5: data disimpan di State halaman, sehingga halaman lain tidak bisa memakainya. Gambar kiri diambil hari Jumat: tombol yang sama menghasilkan "Berhasil" hari Senin. Gambar kanan: server menjawab 404: Not Found, kode mencoba membaca teks itu sebagai JSON, lalu pesan exception-nya ditampilkan apa adanya: Error: FormatException: SyntaxError... Di slide, tipe variabel dipersingkat dengan final; di berkas aslinya tipe ditulis lengkap.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masalah punya bagian modul yang merapikannya. Di akhir pertemuan, keenam masalah ini sudah terjawab di studi kasus Contoh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Gagasan Robert C. Martin (2012), dirumuskan ulang oleh panduan arsitektur resmi Flutter menjadi tiga lapisan.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Pelayan tidak masuk gudang. Juru masak tidak menelepon pemasok; ia cukup menulis daftar belanja. Inilah inti Clean Architecture: aturan bisnis (resep) dilindungi dari pemasok, server, database, bahkan tampilan.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ini dibaca dari luar ke dalam; panah menunjuk arah ketergantungan yang diizinkan. Berkas berisi Ruang dan periksaPengajuan() tidak boleh mengimpor flutter, http, sqflite, provider, atau class ViewModel. Mengapa ke dalam? Karena yang di luar paling sering berganti: Flutter merilis versi baru, server pindah, database diganti. Jika aturan bisnis bergantung pada hal-hal itu, setiap pergantian ikut merusak aturan bisnis.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resmi Flutter berulang kali menegaskan bahwa rekomendasinya adalah pedoman, bukan aturan mati. Modul ini sengaja memperlihatkan versi lengkap agar mahasiswa mengenal setiap bagian; Bagian 12 membahas kapan sebuah bagian layak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Pertemuan 9–11 kita sudah memakai kontrak, tetapi kontrak itu disimpan di folder data/. Hari ini kontrak dipindahkan ke domain, dan arah panahnya berbalik: lapisan data kini bergantung pada domain, bukan sebaliknya.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Lapisan domain adalah "buku resep" aplikasi. Contoh 02 menulisnya tanpa Flutter, tanpa internet, dan tanpa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dirapatkan (geser dan bertumpukDengan ditulis dengan =&gt;); di berkas aslinya memakai blok return. hashCode wajib ditulis bersama ==, agar objek bekerja benar di Set dan sebagai kunci Map. Object.hash menggabungkan nilai-nilai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lengkapnya: keperluan tidak boleh kosong (spasi saja dianggap kosong); peserta 1 orang sampai kapasitas ruang; lama 30 menit sampai 3 jam; hanya Senin–Jumat pukul 07.00–21.00; tidak boleh di masa lalu. Di slide, isi pesan dipersingkat dengan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Keluaran Contoh 02 (sebagian; baris panjang dilipat di slide). Bagian 3 memeriksa pengajuan yang SAMA ("Diskusi kelompok", Senin 19 Oktober pukul 13.00) pada dua "waktu sekarang" berbeda. Diperiksa Jumat pagi: lolos. Diperiksa Senin pukul 14.00: sudah lewat. Tidak perlu menunggu hari Senin untuk membuktikannya. Inilah jawaban MASALAH 4 di Contoh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IconData dan Color milik Flutter. Jika entitas menyimpannya, domain terpaksa mengimpor Flutter dan tidak lagi bisa dijalankan dengan dart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Kontrak hanya menyebut APA yang tersedia. Yang baru hari ini: letaknya di lapisan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Kebutuhan khusus implementasi server (klien HTTP dan penghitung saatMeminta) ikut disuntikkan dari luar. ViewModel tidak perlu tahu. Isi data palsu: Lab Komputer 1 (40 orang), Kelas B.204 (45), Diskusi C.110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ketiga disebut dependency injection (DI): kebutuhan sebuah objek disuntikkan dari luar, biasanya lewat constructor. Parameter required this._repositori (bernama, berawalan garis bawah) mengisi field privat _repositori. Karena field-nya privat, View tidak bisa memanggil repository secara langsung lewat ViewModel.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 komposisi (composition root): satu-satunya tempat yang membuat implementasi. Di aplikasi biasa: main() dengan MultiProvider. Contoh 03 memakai sebuah widget agar sumbernya bisa ditukar saat aplikasi berjalan. Provider.value untuk objek yang sudah ada (dibuat dengan late final). key: ValueKey(_sumber): saat sumber berganti, Flutter membuang provider lama beserta ViewModel-nya. Yang patut diperhatikan: DaftarRuangViewModel dan TampilanDaftarRuang tidak berubah sedikit pun saat sumber ditukar. Kiri: Data palsu, 0 permintaan, tiga ruang. Kanan: Server, 1 permintaan, tujuh ruang.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SingleChildWidget adalah jenis setiap provider; diimpor dari package:provider/single_child_widget.dart. Di slide, parameter (BuildContext context) disingkat menjadi (context). Di proyek dengan banyak berkas, setiap lingkungan bisa punya titik masuk sendiri (Bagian 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dan aplikasi sering berbicara dalam bahasa yang berbeda. Lapisan data bertugas sebagai penerjemah.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04 memperlihatkan penerjemahan dalam dua langkah: JSON menjadi model API, lalu model API menjadi entitas. Di slide, baris JSON dipersingkat (room_name, building, dan floor tidak ditampilkan).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map ini sudah dikenal dari Pertemuan 10. DTO = data transfer object. Di berkas aslinya, constructor RuangApiModel ditulis lengkap dan facilities diubah dengan whereType&lt;String&gt;().toList().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Membaca Map dengan kunci yang tidak ada menghasilkan null, bukan exception. Elemen null-aware ? menghindari if (x != null) x yang ditulis berulang. Penyaringan ruang aktif dilakukan oleh repository (atau, di Contoh 04, oleh kode yang memanggil keDomain()).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Keluaran Contoh 04 bagian 3 (baris pertama dilipat di slide). Bagian 4 keluaran yang sama mencetak JSON untuk dikirim: {"room_code":"C-105","purpose":"Seminar Proposal","participants":60,...}. Bagian 5: kapasitas berupa teks → FormatException: Data ruang tidak sesuai.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Dalam Clean Architecture yang ketat, entitas tidak pernah berisi fromJson maupun toJson, karena JSON adalah urusan lapisan luar.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kegagalan dari internet sampai ke layar tanpa membuat tampilan ikut mengenal urusan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Pertemuan 10, ViewModel menangkap exception sendiri, lalu fungsi pesanRamah menerjemahkan ClientException, TimeoutException, dan FormatException menjadi kalimat. Cara itu berjalan, tetapi menyisakan dua masalah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Gagasan yang sama sudah dikenal dari Pertemuan 3 (pengayaan): sealed class HasilMuat dengan Berhasil dan Gagal. Panduan resmi Flutter menamai pola ini Result (Ok dan Error). Di slide, constructor const ditulis ringkas; di berkas aslinya setiap class ditulis lengkap.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lapisan, tiga bahasa: lapisan data berbicara exception, domain berbicara Kegagalan, UI berbicara kalimat. Penerjemahan dari exception ke Kegagalan terjadi sekali, di repository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ApiException catch (galat) menangkap sekaligus menamai objeknya, agar kodeStatus-nya bisa dibawa. Nilai yang tidak membawa data boleh const. Jika catch (e) umum dipakai, salah indeks pun tampil sebagai "tanpa koneksi": pengguna disuruh memeriksa internet, dan pengembang tidak pernah tahu ada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Berhasil(:final List&lt;Ruang&gt; nilai) dibaca: "jika hasil adalah Berhasil, ambil isi field nilai-nya dan beri nama nilai". Pesannya jika switch tidak lengkap: The type 'Kegagalan' isn't exhaustively matched by the switch cases since it doesn't match the pattern 'TidakBerwenang()'. Galat ini justru melindungi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05 memakai MockClient (Pertemuan 10) sebagai server palsu, jadi tidak butuh internet. Pilih chip skenario dan perhatikan kartu "Yang diterima ViewModel". Gambar: Normal, Server error, dan Lambat 5 detik (setelah tiga detik). Alamat servernya, api.kampus.example, memakai akhiran .example yang memang dicadangkan untuk contoh (RFC 2606); permintaannya tidak pernah meninggalkan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bentrok dan batas dua peminjaman membutuhkan data dari LUAR pengajuan.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di Bagian 3 cukup dilihat dari pengajuannya sendiri. Dua aturan lain butuh data dari luar: tidak boleh bentrok dengan peminjaman lain di ruang yang sama (butuh jadwal dari RepositoriPeminjaman), dan satu orang paling banyak punya dua peminjaman aktif (butuh daftar peminjaman orang itu). Untuk kapasitas, butuh data ruang dari RepositoriRuang.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1 di berkas aslinya: switch (hasilRuang) { case Gagal(): return Gagal(hasilRuang.kegagalan); case Berhasil(): semuaRuang = hasilRuang.nilai; }. Objek Gagal baru dibuat karena jenisnya berbeda: Gagal&lt;List&lt;Ruang&gt;&gt; diteruskan sebagai Gagal&lt;Peminjaman&gt;. .firstOrNull mencari ruangnya tanpa melempar exception. Langkah 3 memakai lain.waktu.bertumpukDengan(pengajuan.waktu) dan menolak dengan "Bentrok dengan ... pukul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seorang teman menaruh pemeriksaan "maksimal dua peminjaman aktif" di onPressed tombol Ajukan. Dua kerugiannya: aturan hanya bisa diuji dengan menekan tombol, dan cara lain untuk mengajukan harus menyalin aturannya (salinan yang terlupa menjadi celah).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internet dan tanpa database. Data palsu cepat (semuanya di memori), pasti (isinya kita tentukan), dan bisa pura-pura gagal sesuai kebutuhan. Istilah test double lainnya dibahas di Pertemuan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 tetap bagian A: Jumat 16/10 pukul 10.00. Baris panjang dilipat di slide. PJ-002 berasal dari data awal, PJ-003 baru saja berhasil di baris kedua.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Pengguna yang tidak sabar mengetuk Ajukan tiga kali. Tanpa penjaga, tiga peminjaman tercatat untuk satu niat.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resmi Flutter menganjurkan pola Command: setiap aksi ViewModel dibungkus objek yang menyimpan statusnya sendiri. Di slide dipersingkat: berkas aslinya juga punya getter berhasil dan gagal, penjaga _sudahDibuang di _kabari(), dan dispose(). Perintah extends ChangeNotifier, sehingga bisa didengarkan sendiri, terpisah dari ViewModel-nya.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Aksi ada yang tanpa argumen (muat) dan ada yang membutuhkan satu argumen (ajukan). Perintah juga ChangeNotifier, jadi wajib di-dispose di dispose() ViewModel.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ikon lingkaran dipersingkat; di berkas aslinya: SizedBox.square(dimension: 18, child: CircularProgressIndicator(strokeWidth: 2)). Listener: _vm.ajukan.addListener(_saatAjukanBerubah) di initState dan removeListener di dispose.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saat kartu B masih menyimpan. Kanan: keadaan akhir, SnackBar terakhir "Kartu B: PJ-004 tersimpan." Tanda abu-abu hanyalah bantuan untuk mata. Yang benar-benar mencegah pengiriman ganda adalah penjaga if (_sedangBerjalan) return;, yang tetap bekerja walaupun ketukan kedua terjadi sebelum layar sempat digambar ulang. Di aplikasi peminjaman sungguhan, kartu A berarti tiga ruang terpakai untuk satu rapat.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Keuntungan terbesar arsitektur berlapis terasa saat menguji.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yang memakai database asli bisa merusak data pengguna. Karena semua lapisan hanya mengenal kontrak, internet dan database bisa diganti data palsu. Di DartPad, contoh hari ini memeriksa dirinya sendiri dengan periksa(...) yang mencetak LULUS atau GAGAL. Di proyek sungguhan: folder test/ dan flutter test (Pertemuan 14), dengan data palsu bersama di testing/fakes/.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Pohon lengkap ada di modul Bagian 10.1, termasuk nama setiap berkas: ruang.dart, rentang_waktu.dart, aturan_peminjaman.dart, repositori_ruang_server.dart, layanan_api_kampus.dart, dan seterusnya.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Pengecualian kecil yang lazim: lapisan data boleh mengimpor package:flutter/foundation.dart hanya untuk debugPrint. Jangan sampai material.dart masuk ke data/ atau domain/. Analyzer tidak menjaga aturan ini (Praktikum 5 Modifikasi 1): yang menjaga adalah tim, lewat kesepakatan folder, code review, dan pencarian rutin.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08 berupa satu berkas, sehingga memakai konstanta const Lingkungan lingkungan = Lingkungan.produksi; di bagian atas. Di proyek sungguhan, dua berkas main lebih praktis. Studi kasus resmi Flutter menaruh kontrak repository di data/repositories/, dan itu juga sah; modul ini memindahkannya ke domain/ karena mengikuti aturan ketergantungan secara ketat. Yang terpenting: konsisten dalam satu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Praktikum 5 Jobsheet melatih perpindahan ini pada proyek "Tugas Kuliahku", tanpa menambah fitur, dengan langkah-langkah aman: commit dulu, pindahkan kontrak, ubah satu repository, lalu ViewModel, lalu akar komposisi.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08 merangkai semua materi hari ini menjadi satu aplikasi peminjaman ruang kampus.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JadwalRuangViewModel memakai use case untuk MENGAJUKAN (karena butuh banyak aturan), tetapi membaca jadwal langsung dari RepositoriPeminjaman (karena hanya membaca, tanpa aturan). Mencampur keduanya seperti ini wajar.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Benar atau tidaknya pengajuan diputuskan domain, bukan lembar pengajuan. Setelah berhasil, ViewModel membaca ulang jadwal dari repository (sumber kebenaran), bukan menambahkan sendiri ke daftarnya, sehingga tampilan selalu sama dengan isi repository. Cara ini sama dengan "tulis, lalu baca ulang" di Pertemuan 11. Diagram urutan lengkap ada di modul Bagian 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Lingkungan produksi: data ruang dari berkas JSON di GitHub. Fasilitas tampil sebagai label ramah (Proyektor · AC · Komputer). Lembar pengajuan tidak ditutup saat ditolak, jadi pengguna cukup mengganti jamnya.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Pengajuan ketiga ditolak dengan "Anda sudah punya 2 peminjaman aktif. Batalkan salah satu dulu." Batalkan satu di Peminjaman Saya, lalu coba lagi. Gambar kanan: const Lingkungan lingkungan = Lingkungan.pengembangan; daftar ruang dari RepositoriRuangMemori, tanpa internet. Tidak ada satu baris pun di domain maupun UI yang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Pita DATA PALSU dipasang di builder MaterialApp: Banner(message: 'DATA PALSU', location: BannerLocation.topEnd, child: child!) hanya jika lingkungan == Lingkungan.pengembangan. Uji mandiri modul 11.7: jam tutup menjadi 22.00? Cukup satu konstanta di aturan_peminjaman.dart. Server mengganti kolom menjadi code, name, seats? Hanya lapisan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 adalah alat, bukan tujuan. Setiap lapisan tambahan berarti berkas, nama, dan hal tambahan yang harus dipahami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proyek akhir: MVVM + repository sudah memenuhi syarat. Tambahkan bagian dari hari ini yang benar-benar membantu, misalnya kontrak di domain, Hasil, dan main_pengembangan.dart, terutama jika tim bekerja paralel.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 ini sengaja memperlihatkan versi lengkap agar setiap bagian dikenal. Di proyek sendiri, pilih secukupnya dan jelaskan alasannya.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di modul Bagian 13, termasuk "A ... was used after being disposed" (dispose setiap Perintah dan pakai penjaga _sudahDibuang), "mengganti data palsu ke server harus mengubah banyak berkas" (satu akar komposisi), dan "banyak use case yang isinya hanya satu baris" (kriteria Bagian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Pertemuan ini adalah tahap laporan kemajuan proyek akhir (Panduan Proyek Akhir, Bagian 3). Rencana sampai Pertemuan 15 termasuk unit test yang akan dibuat (Pertemuan 14). Praktikum 5 Jobsheet melatih langkah menata ulang ini pada proyek "Tugas Kuliahku".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memetakan proyek akhirnya: aturan bisnis apa yang ada, sumber data apa saja (API, perangkat), dan bagian mana yang benar-benar perlu (YAGNI).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mengapa ketergantungan harus mengarah ke dalam, dan apa yang berubah di aplikasi jika server mengganti nama kolomnya.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Praktikum 1: aturan perpustakaan dalam Dart murni (objek nilai Rupiah, denda, jam disuntikkan). Praktikum 2: Direktori Mahasiswa Pertukaran (kontrak, dua implementasi, model API, akar komposisi). Praktikum 3: Hasil dan Kegagalan + MockClient. Praktikum 4: use case PinjamBuku dan Perintah. Praktikum 5: "Tugas Kuliahku" ditata ulang. Tugas mandiri Koperasi Mahasiswa: pesan sekarang, ambil nanti (DummyJSON, kurs rupiah di lapisan data, use case BuatPesanan, Perintah, minimal 12 pemeriksaan). Pertemuan 13: kamera, galeri, dan lokasi hanyalah sumber data baru, cukup dibungkus layanan dan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12  ·  Clean Architecture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12  ·  Clean Architecture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ntonprafanto/mobile2026/blob/main/pertemuan_12_clean_architecture/kode/contoh_01_kode_kusut.dart" TargetMode="External"/><Relationship Id="rId5" Type="http://schemas.openxmlformats.org/officeDocument/2006/relationships/hyperlink" Target="https://github.com/antonprafanto/mobile2026/blob/main/pertemuan_12_clean_architecture/kode/contoh_01_kode_kusut.dart" TargetMode="External"/><Relationship Id="rId1" Type="http://schemas.openxmlformats.org/officeDocument/2006/relationships/image" Target="../media/image-7-1.jpg"/><Relationship Id="rId2" Type="http://schemas.openxmlformats.org/officeDocument/2006/relationships/image" Target="../media/image-7-2.jpg"/><Relationship Id="rId4" Type="http://schemas.openxmlformats.org/officeDocument/2006/relationships/image" Target="../media/image-7-3.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2_domain_dart_murni.dart" TargetMode="External"/><Relationship Id="rId3" Type="http://schemas.openxmlformats.org/officeDocument/2006/relationships/hyperlink" Target="https://github.com/antonprafanto/mobile2026/blob/main/pertemuan_12_clean_architecture/kode/contoh_02_domain_dart_murni.dart" TargetMode="External"/><Relationship Id="rId2" Type="http://schemas.openxmlformats.org/officeDocument/2006/relationships/image" Target="../media/image-15-1.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2_domain_dart_murni.dart" TargetMode="External"/><Relationship Id="rId3" Type="http://schemas.openxmlformats.org/officeDocument/2006/relationships/hyperlink" Target="https://github.com/antonprafanto/mobile2026/blob/main/pertemuan_12_clean_architecture/kode/contoh_02_domain_dart_murni.dart" TargetMode="External"/><Relationship Id="rId2" Type="http://schemas.openxmlformats.org/officeDocument/2006/relationships/image" Target="../media/image-16-1.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2_domain_dart_murni.dart" TargetMode="External"/><Relationship Id="rId3" Type="http://schemas.openxmlformats.org/officeDocument/2006/relationships/hyperlink" Target="https://github.com/antonprafanto/mobile2026/blob/main/pertemuan_12_clean_architecture/kode/contoh_02_domain_dart_murni.dart" TargetMode="External"/><Relationship Id="rId2" Type="http://schemas.openxmlformats.org/officeDocument/2006/relationships/image" Target="../media/image-17-1.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3_kontrak_dan_dependency_injection.dart" TargetMode="External"/><Relationship Id="rId3" Type="http://schemas.openxmlformats.org/officeDocument/2006/relationships/hyperlink" Target="https://github.com/antonprafanto/mobile2026/blob/main/pertemuan_12_clean_architecture/kode/contoh_03_kontrak_dan_dependency_injection.dart" TargetMode="External"/><Relationship Id="rId2" Type="http://schemas.openxmlformats.org/officeDocument/2006/relationships/image" Target="../media/image-20-1.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antonprafanto/mobile2026/blob/main/pertemuan_12_clean_architecture/kode/contoh_03_kontrak_dan_dependency_injection.dart" TargetMode="External"/><Relationship Id="rId5" Type="http://schemas.openxmlformats.org/officeDocument/2006/relationships/hyperlink" Target="https://github.com/antonprafanto/mobile2026/blob/main/pertemuan_12_clean_architecture/kode/contoh_03_kontrak_dan_dependency_injection.dart" TargetMode="External"/><Relationship Id="rId1" Type="http://schemas.openxmlformats.org/officeDocument/2006/relationships/image" Target="../media/image-22-1.jpg"/><Relationship Id="rId2" Type="http://schemas.openxmlformats.org/officeDocument/2006/relationships/image" Target="../media/image-22-2.jpg"/><Relationship Id="rId4" Type="http://schemas.openxmlformats.org/officeDocument/2006/relationships/image" Target="../media/image-22-3.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8_studi_kasus_pinjam_ruang.dart" TargetMode="External"/><Relationship Id="rId3" Type="http://schemas.openxmlformats.org/officeDocument/2006/relationships/hyperlink" Target="https://github.com/antonprafanto/mobile2026/blob/main/pertemuan_12_clean_architecture/kode/contoh_08_studi_kasus_pinjam_ruang.dart" TargetMode="External"/><Relationship Id="rId2" Type="http://schemas.openxmlformats.org/officeDocument/2006/relationships/image" Target="../media/image-23-1.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4_model_api_dan_pemetaan.dart" TargetMode="External"/><Relationship Id="rId3" Type="http://schemas.openxmlformats.org/officeDocument/2006/relationships/hyperlink" Target="https://github.com/antonprafanto/mobile2026/blob/main/pertemuan_12_clean_architecture/kode/contoh_04_model_api_dan_pemetaan.dart" TargetMode="External"/><Relationship Id="rId2" Type="http://schemas.openxmlformats.org/officeDocument/2006/relationships/image" Target="../media/image-26-1.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4_model_api_dan_pemetaan.dart" TargetMode="External"/><Relationship Id="rId3" Type="http://schemas.openxmlformats.org/officeDocument/2006/relationships/hyperlink" Target="https://github.com/antonprafanto/mobile2026/blob/main/pertemuan_12_clean_architecture/kode/contoh_04_model_api_dan_pemetaan.dart" TargetMode="External"/><Relationship Id="rId2" Type="http://schemas.openxmlformats.org/officeDocument/2006/relationships/image" Target="../media/image-27-1.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4_model_api_dan_pemetaan.dart" TargetMode="External"/><Relationship Id="rId3" Type="http://schemas.openxmlformats.org/officeDocument/2006/relationships/hyperlink" Target="https://github.com/antonprafanto/mobile2026/blob/main/pertemuan_12_clean_architecture/kode/contoh_04_model_api_dan_pemetaan.dart" TargetMode="External"/><Relationship Id="rId2" Type="http://schemas.openxmlformats.org/officeDocument/2006/relationships/image" Target="../media/image-28-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5_hasil_dan_kegagalan.dart" TargetMode="External"/><Relationship Id="rId3" Type="http://schemas.openxmlformats.org/officeDocument/2006/relationships/hyperlink" Target="https://github.com/antonprafanto/mobile2026/blob/main/pertemuan_12_clean_architecture/kode/contoh_05_hasil_dan_kegagalan.dart" TargetMode="External"/><Relationship Id="rId2" Type="http://schemas.openxmlformats.org/officeDocument/2006/relationships/image" Target="../media/image-32-1.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8_studi_kasus_pinjam_ruang.dart" TargetMode="External"/><Relationship Id="rId3" Type="http://schemas.openxmlformats.org/officeDocument/2006/relationships/hyperlink" Target="https://github.com/antonprafanto/mobile2026/blob/main/pertemuan_12_clean_architecture/kode/contoh_08_studi_kasus_pinjam_ruang.dart" TargetMode="External"/><Relationship Id="rId2" Type="http://schemas.openxmlformats.org/officeDocument/2006/relationships/image" Target="../media/image-34-1.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5_hasil_dan_kegagalan.dart" TargetMode="External"/><Relationship Id="rId3" Type="http://schemas.openxmlformats.org/officeDocument/2006/relationships/hyperlink" Target="https://github.com/antonprafanto/mobile2026/blob/main/pertemuan_12_clean_architecture/kode/contoh_05_hasil_dan_kegagalan.dart" TargetMode="External"/><Relationship Id="rId2" Type="http://schemas.openxmlformats.org/officeDocument/2006/relationships/image" Target="../media/image-35-1.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4" Type="http://schemas.openxmlformats.org/officeDocument/2006/relationships/hyperlink" Target="https://github.com/antonprafanto/mobile2026/blob/main/pertemuan_12_clean_architecture/kode/contoh_05_hasil_dan_kegagalan.dart" TargetMode="External"/><Relationship Id="rId6" Type="http://schemas.openxmlformats.org/officeDocument/2006/relationships/hyperlink" Target="https://github.com/antonprafanto/mobile2026/blob/main/pertemuan_12_clean_architecture/kode/contoh_05_hasil_dan_kegagalan.dart" TargetMode="External"/><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5" Type="http://schemas.openxmlformats.org/officeDocument/2006/relationships/image" Target="../media/image-36-4.png"/><Relationship Id="rId7" Type="http://schemas.openxmlformats.org/officeDocument/2006/relationships/slideLayout" Target="../slideLayouts/slideLayout4.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6_use_case_dan_data_palsu.dart" TargetMode="External"/><Relationship Id="rId3" Type="http://schemas.openxmlformats.org/officeDocument/2006/relationships/hyperlink" Target="https://github.com/antonprafanto/mobile2026/blob/main/pertemuan_12_clean_architecture/kode/contoh_06_use_case_dan_data_palsu.dart" TargetMode="External"/><Relationship Id="rId2" Type="http://schemas.openxmlformats.org/officeDocument/2006/relationships/image" Target="../media/image-39-1.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4.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6_use_case_dan_data_palsu.dart" TargetMode="External"/><Relationship Id="rId3" Type="http://schemas.openxmlformats.org/officeDocument/2006/relationships/hyperlink" Target="https://github.com/antonprafanto/mobile2026/blob/main/pertemuan_12_clean_architecture/kode/contoh_06_use_case_dan_data_palsu.dart" TargetMode="External"/><Relationship Id="rId2" Type="http://schemas.openxmlformats.org/officeDocument/2006/relationships/image" Target="../media/image-41-1.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6_use_case_dan_data_palsu.dart" TargetMode="External"/><Relationship Id="rId3" Type="http://schemas.openxmlformats.org/officeDocument/2006/relationships/hyperlink" Target="https://github.com/antonprafanto/mobile2026/blob/main/pertemuan_12_clean_architecture/kode/contoh_06_use_case_dan_data_palsu.dart" TargetMode="External"/><Relationship Id="rId2" Type="http://schemas.openxmlformats.org/officeDocument/2006/relationships/image" Target="../media/image-42-1.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7_perintah_command.dart" TargetMode="External"/><Relationship Id="rId3" Type="http://schemas.openxmlformats.org/officeDocument/2006/relationships/hyperlink" Target="https://github.com/antonprafanto/mobile2026/blob/main/pertemuan_12_clean_architecture/kode/contoh_07_perintah_command.dart" TargetMode="External"/><Relationship Id="rId2" Type="http://schemas.openxmlformats.org/officeDocument/2006/relationships/image" Target="../media/image-44-1.png"/><Relationship Id="rId4" Type="http://schemas.openxmlformats.org/officeDocument/2006/relationships/slideLayout" Target="../slideLayouts/slideLayout4.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7_perintah_command.dart" TargetMode="External"/><Relationship Id="rId3" Type="http://schemas.openxmlformats.org/officeDocument/2006/relationships/hyperlink" Target="https://github.com/antonprafanto/mobile2026/blob/main/pertemuan_12_clean_architecture/kode/contoh_07_perintah_command.dart" TargetMode="External"/><Relationship Id="rId2" Type="http://schemas.openxmlformats.org/officeDocument/2006/relationships/image" Target="../media/image-45-1.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7_perintah_command.dart" TargetMode="External"/><Relationship Id="rId3" Type="http://schemas.openxmlformats.org/officeDocument/2006/relationships/hyperlink" Target="https://github.com/antonprafanto/mobile2026/blob/main/pertemuan_12_clean_architecture/kode/contoh_07_perintah_command.dart" TargetMode="External"/><Relationship Id="rId2" Type="http://schemas.openxmlformats.org/officeDocument/2006/relationships/image" Target="../media/image-46-1.png"/><Relationship Id="rId4" Type="http://schemas.openxmlformats.org/officeDocument/2006/relationships/slideLayout" Target="../slideLayouts/slideLayout4.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antonprafanto/mobile2026/blob/main/pertemuan_12_clean_architecture/kode/contoh_07_perintah_command.dart" TargetMode="External"/><Relationship Id="rId5" Type="http://schemas.openxmlformats.org/officeDocument/2006/relationships/hyperlink" Target="https://github.com/antonprafanto/mobile2026/blob/main/pertemuan_12_clean_architecture/kode/contoh_07_perintah_command.dart" TargetMode="External"/><Relationship Id="rId1" Type="http://schemas.openxmlformats.org/officeDocument/2006/relationships/image" Target="../media/image-47-1.jpg"/><Relationship Id="rId2" Type="http://schemas.openxmlformats.org/officeDocument/2006/relationships/image" Target="../media/image-47-2.jpg"/><Relationship Id="rId4" Type="http://schemas.openxmlformats.org/officeDocument/2006/relationships/image" Target="../media/image-47-3.png"/><Relationship Id="rId6" Type="http://schemas.openxmlformats.org/officeDocument/2006/relationships/slideLayout" Target="../slideLayouts/slideLayout4.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8_studi_kasus_pinjam_ruang.dart" TargetMode="External"/><Relationship Id="rId3" Type="http://schemas.openxmlformats.org/officeDocument/2006/relationships/hyperlink" Target="https://github.com/antonprafanto/mobile2026/blob/main/pertemuan_12_clean_architecture/kode/contoh_08_studi_kasus_pinjam_ruang.dart" TargetMode="External"/><Relationship Id="rId2" Type="http://schemas.openxmlformats.org/officeDocument/2006/relationships/image" Target="../media/image-50-1.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8_studi_kasus_pinjam_ruang.dart" TargetMode="External"/><Relationship Id="rId3" Type="http://schemas.openxmlformats.org/officeDocument/2006/relationships/hyperlink" Target="https://github.com/antonprafanto/mobile2026/blob/main/pertemuan_12_clean_architecture/kode/contoh_08_studi_kasus_pinjam_ruang.dart" TargetMode="External"/><Relationship Id="rId2" Type="http://schemas.openxmlformats.org/officeDocument/2006/relationships/image" Target="../media/image-52-1.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slideLayout" Target="../slideLayouts/slideLayout4.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4" Type="http://schemas.openxmlformats.org/officeDocument/2006/relationships/hyperlink" Target="https://github.com/antonprafanto/mobile2026/blob/main/pertemuan_12_clean_architecture/kode/contoh_08_studi_kasus_pinjam_ruang.dart" TargetMode="External"/><Relationship Id="rId6" Type="http://schemas.openxmlformats.org/officeDocument/2006/relationships/hyperlink" Target="https://github.com/antonprafanto/mobile2026/blob/main/pertemuan_12_clean_architecture/kode/contoh_08_studi_kasus_pinjam_ruang.dart" TargetMode="External"/><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image" Target="../media/image-57-3.jpg"/><Relationship Id="rId5" Type="http://schemas.openxmlformats.org/officeDocument/2006/relationships/image" Target="../media/image-57-4.png"/><Relationship Id="rId7" Type="http://schemas.openxmlformats.org/officeDocument/2006/relationships/slideLayout" Target="../slideLayouts/slideLayout4.xml"/><Relationship Id="rId8"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4" Type="http://schemas.openxmlformats.org/officeDocument/2006/relationships/hyperlink" Target="https://github.com/antonprafanto/mobile2026/blob/main/pertemuan_12_clean_architecture/kode/contoh_08_studi_kasus_pinjam_ruang.dart" TargetMode="External"/><Relationship Id="rId6" Type="http://schemas.openxmlformats.org/officeDocument/2006/relationships/hyperlink" Target="https://github.com/antonprafanto/mobile2026/blob/main/pertemuan_12_clean_architecture/kode/contoh_08_studi_kasus_pinjam_ruang.dart" TargetMode="External"/><Relationship Id="rId1" Type="http://schemas.openxmlformats.org/officeDocument/2006/relationships/image" Target="../media/image-58-1.jpg"/><Relationship Id="rId2" Type="http://schemas.openxmlformats.org/officeDocument/2006/relationships/image" Target="../media/image-58-2.jpg"/><Relationship Id="rId3" Type="http://schemas.openxmlformats.org/officeDocument/2006/relationships/image" Target="../media/image-58-3.jpg"/><Relationship Id="rId5" Type="http://schemas.openxmlformats.org/officeDocument/2006/relationships/image" Target="../media/image-58-4.png"/><Relationship Id="rId7" Type="http://schemas.openxmlformats.org/officeDocument/2006/relationships/slideLayout" Target="../slideLayouts/slideLayout4.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kode/contoh_08_studi_kasus_pinjam_ruang.dart" TargetMode="External"/><Relationship Id="rId3" Type="http://schemas.openxmlformats.org/officeDocument/2006/relationships/hyperlink" Target="https://github.com/antonprafanto/mobile2026/blob/main/pertemuan_12_clean_architecture/kode/contoh_08_studi_kasus_pinjam_ruang.dart" TargetMode="External"/><Relationship Id="rId2" Type="http://schemas.openxmlformats.org/officeDocument/2006/relationships/image" Target="../media/image-59-1.png"/><Relationship Id="rId4" Type="http://schemas.openxmlformats.org/officeDocument/2006/relationships/slideLayout" Target="../slideLayouts/slideLayout4.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4.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hyperlink" Target="https://github.com/antonprafanto/mobile2026/blob/main/pertemuan_12_clean_architecture/JOBSHEET.md" TargetMode="External"/><Relationship Id="rId3" Type="http://schemas.openxmlformats.org/officeDocument/2006/relationships/hyperlink" Target="https://github.com/antonprafanto/mobile2026/blob/main/pertemuan_12_clean_architecture/JOBSHEET.md" TargetMode="External"/><Relationship Id="rId4" Type="http://schemas.openxmlformats.org/officeDocument/2006/relationships/hyperlink" Target="https://github.com/antonprafanto/mobile2026/blob/main/pertemuan_12_clean_architecture/LATIHAN.md" TargetMode="External"/><Relationship Id="rId6" Type="http://schemas.openxmlformats.org/officeDocument/2006/relationships/hyperlink" Target="https://github.com/antonprafanto/mobile2026/blob/main/pertemuan_12_clean_architecture/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67-1.png"/><Relationship Id="rId5" Type="http://schemas.openxmlformats.org/officeDocument/2006/relationships/image" Target="../media/image-67-2.png"/><Relationship Id="rId8" Type="http://schemas.openxmlformats.org/officeDocument/2006/relationships/image" Target="../media/image-67-3.png"/><Relationship Id="rId10" Type="http://schemas.openxmlformats.org/officeDocument/2006/relationships/image" Target="../media/image-67-3.png"/><Relationship Id="rId11" Type="http://schemas.openxmlformats.org/officeDocument/2006/relationships/slideLayout" Target="../slideLayouts/slideLayout2.xml"/><Relationship Id="rId1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Arsitektur Aplikasi: Clean Architecture</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12  ·  lapisan UI, domain, dan data; aturan ketergantungan; entitas dan aturan bisnis dalam Dart murni; kontrak + dependency injection; model API; Hasil dan Kegagalan; use case; Perintah (Command); menguji setiap lapisan</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lapisan dan aturan ketergantungan (Dependency Rule)</a:t>
            </a:r>
            <a:endParaRPr lang="en-US" sz="1900" dirty="0"/>
          </a:p>
        </p:txBody>
      </p:sp>
      <p:sp>
        <p:nvSpPr>
          <p:cNvPr id="8" name="lingkaran centang"/>
          <p:cNvSpPr/>
          <p:nvPr/>
        </p:nvSpPr>
        <p:spPr>
          <a:xfrm>
            <a:off x="548640" y="30861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216859"/>
            <a:ext cx="332842" cy="332842"/>
          </a:xfrm>
          <a:prstGeom prst="rect">
            <a:avLst/>
          </a:prstGeom>
        </p:spPr>
      </p:pic>
      <p:sp>
        <p:nvSpPr>
          <p:cNvPr id="10" name="Text 5"/>
          <p:cNvSpPr txBox="1"/>
          <p:nvPr/>
        </p:nvSpPr>
        <p:spPr>
          <a:xfrm>
            <a:off x="1325880"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Menempatkan class di lapisan UI, domain, atau data dengan tepat</a:t>
            </a:r>
            <a:endParaRPr lang="en-US" sz="1900" dirty="0"/>
          </a:p>
        </p:txBody>
      </p:sp>
      <p:sp>
        <p:nvSpPr>
          <p:cNvPr id="11" name="lingkaran centang"/>
          <p:cNvSpPr/>
          <p:nvPr/>
        </p:nvSpPr>
        <p:spPr>
          <a:xfrm>
            <a:off x="548640" y="41605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291279"/>
            <a:ext cx="332842" cy="332842"/>
          </a:xfrm>
          <a:prstGeom prst="rect">
            <a:avLst/>
          </a:prstGeom>
        </p:spPr>
      </p:pic>
      <p:sp>
        <p:nvSpPr>
          <p:cNvPr id="13" name="Text 7"/>
          <p:cNvSpPr txBox="1"/>
          <p:nvPr/>
        </p:nvSpPr>
        <p:spPr>
          <a:xfrm>
            <a:off x="1325880"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Menulis entitas dan aturan bisnis dalam Dart murni yang bisa diuji</a:t>
            </a:r>
            <a:endParaRPr lang="en-US" sz="1900" dirty="0"/>
          </a:p>
        </p:txBody>
      </p:sp>
      <p:sp>
        <p:nvSpPr>
          <p:cNvPr id="14" name="lingkaran centang"/>
          <p:cNvSpPr/>
          <p:nvPr/>
        </p:nvSpPr>
        <p:spPr>
          <a:xfrm>
            <a:off x="548640" y="523494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5365699"/>
            <a:ext cx="332842" cy="332842"/>
          </a:xfrm>
          <a:prstGeom prst="rect">
            <a:avLst/>
          </a:prstGeom>
        </p:spPr>
      </p:pic>
      <p:sp>
        <p:nvSpPr>
          <p:cNvPr id="16" name="Text 9"/>
          <p:cNvSpPr txBox="1"/>
          <p:nvPr/>
        </p:nvSpPr>
        <p:spPr>
          <a:xfrm>
            <a:off x="1325880"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kontrak di domain dan menyuntikkan implementasinya dari satu akar komposisi</a:t>
            </a:r>
            <a:endParaRPr lang="en-US" sz="1900" dirty="0"/>
          </a:p>
        </p:txBody>
      </p:sp>
      <p:sp>
        <p:nvSpPr>
          <p:cNvPr id="17" name="lingkaran centang"/>
          <p:cNvSpPr/>
          <p:nvPr/>
        </p:nvSpPr>
        <p:spPr>
          <a:xfrm>
            <a:off x="6278728" y="201168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2142439"/>
            <a:ext cx="332842" cy="332842"/>
          </a:xfrm>
          <a:prstGeom prst="rect">
            <a:avLst/>
          </a:prstGeom>
        </p:spPr>
      </p:pic>
      <p:sp>
        <p:nvSpPr>
          <p:cNvPr id="19" name="Text 11"/>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Memisahkan model API dari entitas dengan pemetaan keDomain()</a:t>
            </a:r>
            <a:endParaRPr lang="en-US" sz="1900" dirty="0"/>
          </a:p>
        </p:txBody>
      </p:sp>
      <p:sp>
        <p:nvSpPr>
          <p:cNvPr id="20" name="lingkaran centang"/>
          <p:cNvSpPr/>
          <p:nvPr/>
        </p:nvSpPr>
        <p:spPr>
          <a:xfrm>
            <a:off x="6278728" y="308610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3216859"/>
            <a:ext cx="332842" cy="332842"/>
          </a:xfrm>
          <a:prstGeom prst="rect">
            <a:avLst/>
          </a:prstGeom>
        </p:spPr>
      </p:pic>
      <p:sp>
        <p:nvSpPr>
          <p:cNvPr id="22" name="Text 13"/>
          <p:cNvSpPr txBox="1"/>
          <p:nvPr/>
        </p:nvSpPr>
        <p:spPr>
          <a:xfrm>
            <a:off x="7055968"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Menyampaikan kegagalan dengan Hasil&lt;T&gt; dan Kegagalan, bukan exception yang bocor</a:t>
            </a:r>
            <a:endParaRPr lang="en-US" sz="1900" dirty="0"/>
          </a:p>
        </p:txBody>
      </p:sp>
      <p:sp>
        <p:nvSpPr>
          <p:cNvPr id="23" name="lingkaran centang"/>
          <p:cNvSpPr/>
          <p:nvPr/>
        </p:nvSpPr>
        <p:spPr>
          <a:xfrm>
            <a:off x="6278728" y="4160520"/>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4291279"/>
            <a:ext cx="332842" cy="332842"/>
          </a:xfrm>
          <a:prstGeom prst="rect">
            <a:avLst/>
          </a:prstGeom>
        </p:spPr>
      </p:pic>
      <p:sp>
        <p:nvSpPr>
          <p:cNvPr id="25" name="Text 15"/>
          <p:cNvSpPr txBox="1"/>
          <p:nvPr/>
        </p:nvSpPr>
        <p:spPr>
          <a:xfrm>
            <a:off x="7055968"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Menulis use case dan Perintah (Command), lalu mengujinya dengan data palsu</a:t>
            </a:r>
            <a:endParaRPr lang="en-US" sz="1900" dirty="0"/>
          </a:p>
        </p:txBody>
      </p:sp>
      <p:sp>
        <p:nvSpPr>
          <p:cNvPr id="26" name="lingkaran centang"/>
          <p:cNvSpPr/>
          <p:nvPr/>
        </p:nvSpPr>
        <p:spPr>
          <a:xfrm>
            <a:off x="6278728" y="5234940"/>
            <a:ext cx="594360" cy="594360"/>
          </a:xfrm>
          <a:prstGeom prst="ellipse">
            <a:avLst/>
          </a:prstGeom>
          <a:solidFill>
            <a:schemeClr val="accent4"/>
          </a:solidFill>
          <a:ln/>
        </p:spPr>
      </p:sp>
      <p:pic>
        <p:nvPicPr>
          <p:cNvPr id="27" name="Image 7" descr="centang">    </p:cNvPr>
          <p:cNvPicPr>
            <a:picLocks noChangeAspect="1"/>
          </p:cNvPicPr>
          <p:nvPr/>
        </p:nvPicPr>
        <p:blipFill>
          <a:blip r:embed="rId8"/>
          <a:stretch>
            <a:fillRect/>
          </a:stretch>
        </p:blipFill>
        <p:spPr>
          <a:xfrm>
            <a:off x="6409487" y="5365699"/>
            <a:ext cx="332842" cy="332842"/>
          </a:xfrm>
          <a:prstGeom prst="rect">
            <a:avLst/>
          </a:prstGeom>
        </p:spPr>
      </p:pic>
      <p:sp>
        <p:nvSpPr>
          <p:cNvPr id="28" name="Text 17"/>
          <p:cNvSpPr txBox="1"/>
          <p:nvPr/>
        </p:nvSpPr>
        <p:spPr>
          <a:xfrm>
            <a:off x="7055968"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Menata folder proyek akhir secukupnya, tanpa berlebihan (YAGNI)</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puzzle"/>
          <p:cNvSpPr/>
          <p:nvPr/>
        </p:nvSpPr>
        <p:spPr>
          <a:xfrm>
            <a:off x="1095726" y="2103120"/>
            <a:ext cx="868680" cy="868680"/>
          </a:xfrm>
          <a:prstGeom prst="ellipse">
            <a:avLst/>
          </a:prstGeom>
          <a:solidFill>
            <a:schemeClr val="accent1"/>
          </a:solidFill>
          <a:ln/>
        </p:spPr>
      </p:sp>
      <p:pic>
        <p:nvPicPr>
          <p:cNvPr id="6" name="Image 0" descr="puzzle">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Mengapa berlapis?</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Kode kusut, lapisan, aturan ketergantungan (Bagian 1–2)</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buku"/>
          <p:cNvSpPr/>
          <p:nvPr/>
        </p:nvSpPr>
        <p:spPr>
          <a:xfrm>
            <a:off x="3378617" y="2103120"/>
            <a:ext cx="868680" cy="868680"/>
          </a:xfrm>
          <a:prstGeom prst="ellipse">
            <a:avLst/>
          </a:prstGeom>
          <a:solidFill>
            <a:schemeClr val="accent1"/>
          </a:solidFill>
          <a:ln/>
        </p:spPr>
      </p:sp>
      <p:pic>
        <p:nvPicPr>
          <p:cNvPr id="13" name="Image 1" descr="buku">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Domain</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Entitas, aturan bisnis, jam disuntikkan (3)</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tautan"/>
          <p:cNvSpPr/>
          <p:nvPr/>
        </p:nvSpPr>
        <p:spPr>
          <a:xfrm>
            <a:off x="5661508" y="2103120"/>
            <a:ext cx="868680" cy="868680"/>
          </a:xfrm>
          <a:prstGeom prst="ellipse">
            <a:avLst/>
          </a:prstGeom>
          <a:solidFill>
            <a:schemeClr val="accent1"/>
          </a:solidFill>
          <a:ln/>
        </p:spPr>
      </p:sp>
      <p:pic>
        <p:nvPicPr>
          <p:cNvPr id="20" name="Image 2" descr="tautan">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Kontrak &amp; data</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Dependency injection, akar komposisi, model API (4–5)</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galat"/>
          <p:cNvSpPr/>
          <p:nvPr/>
        </p:nvSpPr>
        <p:spPr>
          <a:xfrm>
            <a:off x="7944399" y="2103120"/>
            <a:ext cx="868680" cy="868680"/>
          </a:xfrm>
          <a:prstGeom prst="ellipse">
            <a:avLst/>
          </a:prstGeom>
          <a:solidFill>
            <a:schemeClr val="accent1"/>
          </a:solidFill>
          <a:ln/>
        </p:spPr>
      </p:sp>
      <p:pic>
        <p:nvPicPr>
          <p:cNvPr id="27" name="Image 3" descr="galat">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Hasil, use case, Perintah</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Kegagalan yang jujur, satu tindakan, satu status (6–8)</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folder"/>
          <p:cNvSpPr/>
          <p:nvPr/>
        </p:nvSpPr>
        <p:spPr>
          <a:xfrm>
            <a:off x="10227290" y="2103120"/>
            <a:ext cx="868680" cy="868680"/>
          </a:xfrm>
          <a:prstGeom prst="ellipse">
            <a:avLst/>
          </a:prstGeom>
          <a:solidFill>
            <a:schemeClr val="accent4"/>
          </a:solidFill>
          <a:ln/>
        </p:spPr>
      </p:sp>
      <p:pic>
        <p:nvPicPr>
          <p:cNvPr id="34" name="Image 4" descr="folder">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Uji, folder, studi kasus</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Pinjam Ruang Kampus dan YAGNI (9–14)</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Kode Contoh Hari Ini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68944"/>
                <a:gridCol w="5784268"/>
                <a:gridCol w="3887787"/>
                <a:gridCol w="853417"/>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Berkas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Internet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contoh_01_kode_kusut.dart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Semua pekerjaan di satu widget (jangan ditiru)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contoh_02_domain_dart_murni.dart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Entitas, objek nilai, aturan bisnis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contoh_03_kontrak_dan_dependency_injection.dart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Satu kontrak, dua implementasi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contoh_04_model_api_dan_pemetaan.dart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Model API ⇄ entitas, server versi 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contoh_05_hasil_dan_kegagalan.dart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Hasil dan Kegagalan, lima skenario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contoh_06_use_case_dan_data_palsu.dart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Use case AjukanPeminjaman dan pengujiannya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contoh_07_perintah_command.dart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Tombol yang tidak mengirim dua kali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08</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contoh_08_studi_kasus_pinjam_ruang.dart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Studi kasus "Pinjam Ruang Kampus"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Mengapa Aplikasi Perlu Arsitektur?</a:t>
            </a:r>
            <a:endParaRPr lang="en-US" sz="4000" dirty="0"/>
          </a:p>
        </p:txBody>
      </p:sp>
      <p:sp>
        <p:nvSpPr>
          <p:cNvPr id="5" name="lingkaran puzzle"/>
          <p:cNvSpPr/>
          <p:nvPr/>
        </p:nvSpPr>
        <p:spPr>
          <a:xfrm>
            <a:off x="1097280" y="2148840"/>
            <a:ext cx="2011680" cy="2011680"/>
          </a:xfrm>
          <a:prstGeom prst="ellipse">
            <a:avLst/>
          </a:prstGeom>
          <a:solidFill>
            <a:schemeClr val="accent1"/>
          </a:solidFill>
          <a:ln/>
        </p:spPr>
      </p:sp>
      <p:pic>
        <p:nvPicPr>
          <p:cNvPr id="6" name="Image 0" descr="puzzle">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Arsitektur = Tiga Kesepakatan</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folder"/>
          <p:cNvSpPr/>
          <p:nvPr/>
        </p:nvSpPr>
        <p:spPr>
          <a:xfrm>
            <a:off x="777240" y="1600200"/>
            <a:ext cx="685800" cy="685800"/>
          </a:xfrm>
          <a:prstGeom prst="ellipse">
            <a:avLst/>
          </a:prstGeom>
          <a:solidFill>
            <a:schemeClr val="accent1"/>
          </a:solidFill>
          <a:ln/>
        </p:spPr>
      </p:sp>
      <p:pic>
        <p:nvPicPr>
          <p:cNvPr id="6" name="Image 0" descr="folder">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Di mana kode diletakkan?</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Aturan "maksimal dua peminjaman" ditulis di tombol, di ViewModel, atau di tempat lain?</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tautan"/>
          <p:cNvSpPr/>
          <p:nvPr/>
        </p:nvSpPr>
        <p:spPr>
          <a:xfrm>
            <a:off x="4582058" y="1600200"/>
            <a:ext cx="685800" cy="685800"/>
          </a:xfrm>
          <a:prstGeom prst="ellipse">
            <a:avLst/>
          </a:prstGeom>
          <a:solidFill>
            <a:schemeClr val="accent6"/>
          </a:solidFill>
          <a:ln/>
        </p:spPr>
      </p:sp>
      <p:pic>
        <p:nvPicPr>
          <p:cNvPr id="11" name="Image 1" descr="tautan">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Siapa boleh mengenal siapa?</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Bolehkah halaman daftar ruang tahu alamat server dan nama kolom JSON-nya?</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uji"/>
          <p:cNvSpPr/>
          <p:nvPr/>
        </p:nvSpPr>
        <p:spPr>
          <a:xfrm>
            <a:off x="8386877" y="1600200"/>
            <a:ext cx="685800" cy="685800"/>
          </a:xfrm>
          <a:prstGeom prst="ellipse">
            <a:avLst/>
          </a:prstGeom>
          <a:solidFill>
            <a:schemeClr val="accent4"/>
          </a:solidFill>
          <a:ln/>
        </p:spPr>
      </p:sp>
      <p:pic>
        <p:nvPicPr>
          <p:cNvPr id="16" name="Image 2" descr="uji">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Bagaimana mengujinya?</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Bisakah aturan peminjaman diuji tanpa membuka aplikasi dan menekan tombol?</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lampu"/>
          <p:cNvSpPr/>
          <p:nvPr/>
        </p:nvSpPr>
        <p:spPr>
          <a:xfrm>
            <a:off x="777240" y="4160520"/>
            <a:ext cx="685800" cy="685800"/>
          </a:xfrm>
          <a:prstGeom prst="ellipse">
            <a:avLst/>
          </a:prstGeom>
          <a:solidFill>
            <a:schemeClr val="accent3"/>
          </a:solidFill>
          <a:ln/>
        </p:spPr>
      </p:sp>
      <p:pic>
        <p:nvPicPr>
          <p:cNvPr id="21" name="Image 3" descr="lampu">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Mudah dipahami</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Setiap bagian punya SATU tugas: teman satu tim bisa menebak di berkas mana aturan ditulis.</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ubah"/>
          <p:cNvSpPr/>
          <p:nvPr/>
        </p:nvSpPr>
        <p:spPr>
          <a:xfrm>
            <a:off x="4582058" y="4160520"/>
            <a:ext cx="685800" cy="685800"/>
          </a:xfrm>
          <a:prstGeom prst="ellipse">
            <a:avLst/>
          </a:prstGeom>
          <a:solidFill>
            <a:schemeClr val="accent3"/>
          </a:solidFill>
          <a:ln/>
        </p:spPr>
      </p:sp>
      <p:pic>
        <p:nvPicPr>
          <p:cNvPr id="26" name="Image 4" descr="ubah">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Mudah diubah</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Server diganti, tetapi halaman tidak disentuh sama sekali.</a:t>
            </a:r>
            <a:endParaRPr lang="en-US" sz="1500" dirty="0"/>
          </a:p>
        </p:txBody>
      </p:sp>
      <p:sp>
        <p:nvSpPr>
          <p:cNvPr id="29" name="kartu 6"/>
          <p:cNvSpPr/>
          <p:nvPr/>
        </p:nvSpPr>
        <p:spPr>
          <a:xfrm>
            <a:off x="8158277" y="3931920"/>
            <a:ext cx="3484778" cy="2286000"/>
          </a:xfrm>
          <a:prstGeom prst="roundRect">
            <a:avLst>
              <a:gd name="adj" fmla="val 4800"/>
            </a:avLst>
          </a:prstGeom>
          <a:solidFill>
            <a:schemeClr val="bg2"/>
          </a:solidFill>
          <a:ln/>
        </p:spPr>
      </p:sp>
      <p:sp>
        <p:nvSpPr>
          <p:cNvPr id="30" name="lingkaran centang"/>
          <p:cNvSpPr/>
          <p:nvPr/>
        </p:nvSpPr>
        <p:spPr>
          <a:xfrm>
            <a:off x="8386877" y="4160520"/>
            <a:ext cx="685800" cy="685800"/>
          </a:xfrm>
          <a:prstGeom prst="ellipse">
            <a:avLst/>
          </a:prstGeom>
          <a:solidFill>
            <a:schemeClr val="accent3"/>
          </a:solidFill>
          <a:ln/>
        </p:spPr>
      </p:sp>
      <p:pic>
        <p:nvPicPr>
          <p:cNvPr id="31" name="Image 5" descr="centang">    </p:cNvPr>
          <p:cNvPicPr>
            <a:picLocks noChangeAspect="1"/>
          </p:cNvPicPr>
          <p:nvPr/>
        </p:nvPicPr>
        <p:blipFill>
          <a:blip r:embed="rId6"/>
          <a:stretch>
            <a:fillRect/>
          </a:stretch>
        </p:blipFill>
        <p:spPr>
          <a:xfrm>
            <a:off x="8537753" y="4311396"/>
            <a:ext cx="384048" cy="384048"/>
          </a:xfrm>
          <a:prstGeom prst="rect">
            <a:avLst/>
          </a:prstGeom>
        </p:spPr>
      </p:pic>
      <p:sp>
        <p:nvSpPr>
          <p:cNvPr id="32" name="Text 23"/>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Mudah diuji</a:t>
            </a:r>
            <a:endParaRPr lang="en-US" sz="1800" dirty="0"/>
          </a:p>
        </p:txBody>
      </p:sp>
      <p:sp>
        <p:nvSpPr>
          <p:cNvPr id="33" name="Text 24"/>
          <p:cNvSpPr txBox="1"/>
          <p:nvPr/>
        </p:nvSpPr>
        <p:spPr>
          <a:xfrm>
            <a:off x="8386877"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Aturan "Sabtu ditolak" bisa diuji pada hari Senin.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01: Berjalan, tetapi Kusut</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1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1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3051810"/>
          </a:xfrm>
          <a:prstGeom prst="roundRect">
            <a:avLst>
              <a:gd name="adj" fmla="val 299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_ambilRuang()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try</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MASALAH 1: alamat server di widget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respons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Uri</a:t>
            </a:r>
            <a:r>
              <a:rPr lang="en-US" sz="1100" dirty="0">
                <a:solidFill>
                  <a:srgbClr val="E6EDF3"/>
                </a:solidFill>
                <a:latin typeface="Consolas" pitchFamily="34" charset="0"/>
                <a:ea typeface="Consolas" pitchFamily="34" charset="-122"/>
                <a:cs typeface="Consolas" pitchFamily="34" charset="-120"/>
              </a:rPr>
              <a:t>.parse(...));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MASALAH 2: JSON dibaca dengan "as"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json = jsonDecode(respons.body)</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catch</a:t>
            </a:r>
            <a:r>
              <a:rPr lang="en-US" sz="1100" dirty="0">
                <a:solidFill>
                  <a:srgbClr val="E6EDF3"/>
                </a:solidFill>
                <a:latin typeface="Consolas" pitchFamily="34" charset="0"/>
                <a:ea typeface="Consolas" pitchFamily="34" charset="-122"/>
                <a:cs typeface="Consolas" pitchFamily="34" charset="-120"/>
              </a:rPr>
              <a:t> (e)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_galat = </a:t>
            </a:r>
            <a:r>
              <a:rPr lang="en-US" sz="1100" dirty="0">
                <a:solidFill>
                  <a:srgbClr val="C3E88D"/>
                </a:solidFill>
                <a:latin typeface="Consolas" pitchFamily="34" charset="0"/>
                <a:ea typeface="Consolas" pitchFamily="34" charset="-122"/>
                <a:cs typeface="Consolas" pitchFamily="34" charset="-120"/>
              </a:rPr>
              <a:t>'Error: $e'</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MASALAH 6</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MASALAH 3: aturan bisnis di penanganan tombol</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 _pinjam(</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 ruang)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MASALAH 4: jam langsung dari DateTime.now()</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besok =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.now().add(...);</a:t>
            </a:r>
            <a:endParaRPr lang="en-US" sz="1100" dirty="0"/>
          </a:p>
        </p:txBody>
      </p:sp>
      <p:sp>
        <p:nvSpPr>
          <p:cNvPr id="9" name="tombol tautan">
            <a:hlinkClick r:id="rId3" tooltip="https://github.com/antonprafanto/mobile2026/blob/main/pertemuan_12_clean_architecture/kode/contoh_01_kode_kusut.dart"/>
          </p:cNvPr>
          <p:cNvSpPr txBox="1"/>
          <p:nvPr/>
        </p:nvSpPr>
        <p:spPr>
          <a:xfrm>
            <a:off x="548640" y="4606290"/>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contoh_01_kode_kusut.dart</a:t>
            </a:r>
            <a:endParaRPr lang="en-US" sz="1300" dirty="0"/>
          </a:p>
        </p:txBody>
      </p:sp>
      <p:pic>
        <p:nvPicPr>
          <p:cNvPr id="10" name="Image 2" descr="ikon tautan">
            <a:hlinkClick r:id="rId5" tooltip="https://github.com/antonprafanto/mobile2026/blob/main/pertemuan_12_clean_architecture/kode/contoh_01_kode_kusut.dart"/>
          </p:cNvPr>
          <p:cNvPicPr>
            <a:picLocks noChangeAspect="1"/>
          </p:cNvPicPr>
          <p:nvPr/>
        </p:nvPicPr>
        <p:blipFill>
          <a:blip r:embed="rId4"/>
          <a:stretch>
            <a:fillRect/>
          </a:stretch>
        </p:blipFill>
        <p:spPr>
          <a:xfrm>
            <a:off x="694944" y="4697730"/>
            <a:ext cx="274320" cy="274320"/>
          </a:xfrm>
          <a:prstGeom prst="rect">
            <a:avLst/>
          </a:prstGeom>
        </p:spPr>
      </p:pic>
      <p:sp>
        <p:nvSpPr>
          <p:cNvPr id="11" name="daftar poin"/>
          <p:cNvSpPr txBox="1"/>
          <p:nvPr/>
        </p:nvSpPr>
        <p:spPr>
          <a:xfrm>
            <a:off x="548640" y="5337810"/>
            <a:ext cx="5516575" cy="88011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Kiri: dijalankan hari Jumat → "besok" Sabtu → ditolak.</a:t>
            </a:r>
            <a:endParaRPr lang="en-US" sz="1400" dirty="0"/>
          </a:p>
          <a:p>
            <a:pPr marL="228600" indent="-228600">
              <a:spcAft>
                <a:spcPts val="800"/>
              </a:spcAft>
              <a:buSzPct val="100000"/>
              <a:buChar char="•"/>
            </a:pPr>
            <a:r>
              <a:rPr lang="en-US" sz="1400" dirty="0">
                <a:solidFill>
                  <a:schemeClr val="tx1"/>
                </a:solidFill>
              </a:rPr>
              <a:t>Kanan: berkas JSON belum ada (404) → pesan teknis.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Enam Masalah, Enam Jawaban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112585"/>
                <a:gridCol w="4686434"/>
                <a:gridCol w="2295396"/>
              </a:tblGrid>
              <a:tr h="60350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Masalah di Contoh 01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Akibatnya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Dirapikan di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 Urusan HTTP dan alamat server di widget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Server pindah = berkas tampilan ikut diubah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 JSON dibaca dengan as di tengah tampilan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Nama kolom berubah = gagal di tengah layar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 Aturan bisnis di penanganan tombol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Satu-satunya cara menguji: menekan tombol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3 dan 7</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 Jam dari DateTime.now()</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Hasil berbeda setiap hari, tidak bisa diuji pasti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3.3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 Data disimpan di State halaman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Halaman lain tidak bisa memakainya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4 dan 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 Pesan teknis untuk pengguna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Pengguna membaca FormatException: ...</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6</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Clean Architecture dalam Satu Gambar</a:t>
            </a:r>
            <a:endParaRPr lang="en-US" sz="4000" dirty="0"/>
          </a:p>
        </p:txBody>
      </p:sp>
      <p:sp>
        <p:nvSpPr>
          <p:cNvPr id="5" name="lingkaran lapisan"/>
          <p:cNvSpPr/>
          <p:nvPr/>
        </p:nvSpPr>
        <p:spPr>
          <a:xfrm>
            <a:off x="1097280" y="2148840"/>
            <a:ext cx="2011680" cy="2011680"/>
          </a:xfrm>
          <a:prstGeom prst="ellipse">
            <a:avLst/>
          </a:prstGeom>
          <a:solidFill>
            <a:schemeClr val="accent1"/>
          </a:solidFill>
          <a:ln/>
        </p:spPr>
      </p:sp>
      <p:pic>
        <p:nvPicPr>
          <p:cNvPr id="6" name="Image 0" descr="lapis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Analogi Rumah Makan</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3825660"/>
                <a:gridCol w="3060528"/>
                <a:gridCol w="1721547"/>
              </a:tblGrid>
              <a:tr h="74980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 rumah makan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Tugasnya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Lapisan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Pelayan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Mencatat pesanan, mengantar, memberi tahu jika menu habis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View dan ViewModel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Juru masak + buku resep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Memasak sesuai resep dan aturan dapur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Entitas, aturan bisnis, use case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Gudang dan pemasok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Menyediakan bahan, dari pasar mana pun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 model API, repository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Daftar belanja baku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Bahan yang dibutuhkan, tanpa menyebut pasarnya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Kontrak (abstract class)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Pemasok sayur diganti, RESEPNYA TIDAK BERUBAH. Bagian terpenting dilindungi dari bagian yang paling sering berganti.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Lingkaran dan Aturan Ketergantungan</a:t>
            </a:r>
            <a:endParaRPr lang="en-US" sz="3200" dirty="0"/>
          </a:p>
        </p:txBody>
      </p:sp>
      <p:sp>
        <p:nvSpPr>
          <p:cNvPr id="4" name="lapisan 1"/>
          <p:cNvSpPr/>
          <p:nvPr/>
        </p:nvSpPr>
        <p:spPr>
          <a:xfrm>
            <a:off x="548640" y="1371600"/>
            <a:ext cx="6583680" cy="868680"/>
          </a:xfrm>
          <a:prstGeom prst="roundRect">
            <a:avLst>
              <a:gd name="adj" fmla="val 12632"/>
            </a:avLst>
          </a:prstGeom>
          <a:solidFill>
            <a:schemeClr val="bg2"/>
          </a:solidFill>
          <a:ln/>
        </p:spPr>
      </p:sp>
      <p:sp>
        <p:nvSpPr>
          <p:cNvPr id="5" name="lingkaran perkakas"/>
          <p:cNvSpPr/>
          <p:nvPr/>
        </p:nvSpPr>
        <p:spPr>
          <a:xfrm>
            <a:off x="731520" y="1485900"/>
            <a:ext cx="640080" cy="640080"/>
          </a:xfrm>
          <a:prstGeom prst="ellipse">
            <a:avLst/>
          </a:prstGeom>
          <a:solidFill>
            <a:schemeClr val="tx2"/>
          </a:solidFill>
          <a:ln/>
        </p:spPr>
      </p:sp>
      <p:pic>
        <p:nvPicPr>
          <p:cNvPr id="6" name="Image 0" descr="perkakas">    </p:cNvPr>
          <p:cNvPicPr>
            <a:picLocks noChangeAspect="1"/>
          </p:cNvPicPr>
          <p:nvPr/>
        </p:nvPicPr>
        <p:blipFill>
          <a:blip r:embed="rId1"/>
          <a:stretch>
            <a:fillRect/>
          </a:stretch>
        </p:blipFill>
        <p:spPr>
          <a:xfrm>
            <a:off x="872338" y="1626718"/>
            <a:ext cx="358445" cy="358445"/>
          </a:xfrm>
          <a:prstGeom prst="rect">
            <a:avLst/>
          </a:prstGeom>
        </p:spPr>
      </p:pic>
      <p:sp>
        <p:nvSpPr>
          <p:cNvPr id="7" name="Text 3"/>
          <p:cNvSpPr txBox="1"/>
          <p:nvPr/>
        </p:nvSpPr>
        <p:spPr>
          <a:xfrm>
            <a:off x="1554480" y="137160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Kerangka dan perangkat</a:t>
            </a:r>
            <a:endParaRPr lang="en-US" sz="1800" dirty="0"/>
          </a:p>
          <a:p>
            <a:pPr indent="0" marL="0">
              <a:buNone/>
            </a:pPr>
            <a:r>
              <a:rPr lang="en-US" sz="1500" dirty="0">
                <a:solidFill>
                  <a:schemeClr val="tx1"/>
                </a:solidFill>
              </a:rPr>
              <a:t>Flutter, http, sqflite, server</a:t>
            </a:r>
            <a:endParaRPr lang="en-US" sz="1800" dirty="0"/>
          </a:p>
        </p:txBody>
      </p:sp>
      <p:sp>
        <p:nvSpPr>
          <p:cNvPr id="8" name="Shape 4"/>
          <p:cNvSpPr/>
          <p:nvPr/>
        </p:nvSpPr>
        <p:spPr>
          <a:xfrm>
            <a:off x="3703320" y="2221992"/>
            <a:ext cx="274320" cy="219456"/>
          </a:xfrm>
          <a:prstGeom prst="downArrow">
            <a:avLst/>
          </a:prstGeom>
          <a:solidFill>
            <a:schemeClr val="accent2"/>
          </a:solidFill>
          <a:ln/>
        </p:spPr>
      </p:sp>
      <p:sp>
        <p:nvSpPr>
          <p:cNvPr id="9" name="lapisan 2"/>
          <p:cNvSpPr/>
          <p:nvPr/>
        </p:nvSpPr>
        <p:spPr>
          <a:xfrm>
            <a:off x="548640" y="2423160"/>
            <a:ext cx="6583680" cy="868680"/>
          </a:xfrm>
          <a:prstGeom prst="roundRect">
            <a:avLst>
              <a:gd name="adj" fmla="val 12632"/>
            </a:avLst>
          </a:prstGeom>
          <a:solidFill>
            <a:schemeClr val="bg2"/>
          </a:solidFill>
          <a:ln/>
        </p:spPr>
      </p:sp>
      <p:sp>
        <p:nvSpPr>
          <p:cNvPr id="10" name="lingkaran tautan"/>
          <p:cNvSpPr/>
          <p:nvPr/>
        </p:nvSpPr>
        <p:spPr>
          <a:xfrm>
            <a:off x="731520" y="2537460"/>
            <a:ext cx="640080" cy="640080"/>
          </a:xfrm>
          <a:prstGeom prst="ellipse">
            <a:avLst/>
          </a:prstGeom>
          <a:solidFill>
            <a:schemeClr val="accent6"/>
          </a:solidFill>
          <a:ln/>
        </p:spPr>
      </p:sp>
      <p:pic>
        <p:nvPicPr>
          <p:cNvPr id="11" name="Image 1" descr="tautan">    </p:cNvPr>
          <p:cNvPicPr>
            <a:picLocks noChangeAspect="1"/>
          </p:cNvPicPr>
          <p:nvPr/>
        </p:nvPicPr>
        <p:blipFill>
          <a:blip r:embed="rId2"/>
          <a:stretch>
            <a:fillRect/>
          </a:stretch>
        </p:blipFill>
        <p:spPr>
          <a:xfrm>
            <a:off x="872338" y="2678278"/>
            <a:ext cx="358445" cy="358445"/>
          </a:xfrm>
          <a:prstGeom prst="rect">
            <a:avLst/>
          </a:prstGeom>
        </p:spPr>
      </p:pic>
      <p:sp>
        <p:nvSpPr>
          <p:cNvPr id="12" name="Text 7"/>
          <p:cNvSpPr txBox="1"/>
          <p:nvPr/>
        </p:nvSpPr>
        <p:spPr>
          <a:xfrm>
            <a:off x="1554480" y="242316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Penghubung</a:t>
            </a:r>
            <a:endParaRPr lang="en-US" sz="1800" dirty="0"/>
          </a:p>
          <a:p>
            <a:pPr indent="0" marL="0">
              <a:buNone/>
            </a:pPr>
            <a:r>
              <a:rPr lang="en-US" sz="1500" dirty="0">
                <a:solidFill>
                  <a:schemeClr val="tx1"/>
                </a:solidFill>
              </a:rPr>
              <a:t>View, ViewModel, repository, model API</a:t>
            </a:r>
            <a:endParaRPr lang="en-US" sz="1800" dirty="0"/>
          </a:p>
        </p:txBody>
      </p:sp>
      <p:sp>
        <p:nvSpPr>
          <p:cNvPr id="13" name="Shape 8"/>
          <p:cNvSpPr/>
          <p:nvPr/>
        </p:nvSpPr>
        <p:spPr>
          <a:xfrm>
            <a:off x="3703320" y="3273552"/>
            <a:ext cx="274320" cy="219456"/>
          </a:xfrm>
          <a:prstGeom prst="downArrow">
            <a:avLst/>
          </a:prstGeom>
          <a:solidFill>
            <a:schemeClr val="accent2"/>
          </a:solidFill>
          <a:ln/>
        </p:spPr>
      </p:sp>
      <p:sp>
        <p:nvSpPr>
          <p:cNvPr id="14" name="lapisan 3"/>
          <p:cNvSpPr/>
          <p:nvPr/>
        </p:nvSpPr>
        <p:spPr>
          <a:xfrm>
            <a:off x="548640" y="3474720"/>
            <a:ext cx="6583680" cy="868680"/>
          </a:xfrm>
          <a:prstGeom prst="roundRect">
            <a:avLst>
              <a:gd name="adj" fmla="val 12632"/>
            </a:avLst>
          </a:prstGeom>
          <a:solidFill>
            <a:schemeClr val="bg2"/>
          </a:solidFill>
          <a:ln/>
        </p:spPr>
      </p:sp>
      <p:sp>
        <p:nvSpPr>
          <p:cNvPr id="15" name="lingkaran tugas"/>
          <p:cNvSpPr/>
          <p:nvPr/>
        </p:nvSpPr>
        <p:spPr>
          <a:xfrm>
            <a:off x="731520" y="3589020"/>
            <a:ext cx="640080" cy="640080"/>
          </a:xfrm>
          <a:prstGeom prst="ellipse">
            <a:avLst/>
          </a:prstGeom>
          <a:solidFill>
            <a:schemeClr val="accent4"/>
          </a:solidFill>
          <a:ln/>
        </p:spPr>
      </p:sp>
      <p:pic>
        <p:nvPicPr>
          <p:cNvPr id="16" name="Image 2" descr="tugas">    </p:cNvPr>
          <p:cNvPicPr>
            <a:picLocks noChangeAspect="1"/>
          </p:cNvPicPr>
          <p:nvPr/>
        </p:nvPicPr>
        <p:blipFill>
          <a:blip r:embed="rId3"/>
          <a:stretch>
            <a:fillRect/>
          </a:stretch>
        </p:blipFill>
        <p:spPr>
          <a:xfrm>
            <a:off x="872338" y="3729838"/>
            <a:ext cx="358445" cy="358445"/>
          </a:xfrm>
          <a:prstGeom prst="rect">
            <a:avLst/>
          </a:prstGeom>
        </p:spPr>
      </p:pic>
      <p:sp>
        <p:nvSpPr>
          <p:cNvPr id="17" name="Text 11"/>
          <p:cNvSpPr txBox="1"/>
          <p:nvPr/>
        </p:nvSpPr>
        <p:spPr>
          <a:xfrm>
            <a:off x="1554480" y="347472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Use case</a:t>
            </a:r>
            <a:endParaRPr lang="en-US" sz="1800" dirty="0"/>
          </a:p>
          <a:p>
            <a:pPr indent="0" marL="0">
              <a:buNone/>
            </a:pPr>
            <a:r>
              <a:rPr lang="en-US" sz="1500" dirty="0">
                <a:solidFill>
                  <a:schemeClr val="tx1"/>
                </a:solidFill>
              </a:rPr>
              <a:t>AjukanPeminjaman</a:t>
            </a:r>
            <a:endParaRPr lang="en-US" sz="1800" dirty="0"/>
          </a:p>
        </p:txBody>
      </p:sp>
      <p:sp>
        <p:nvSpPr>
          <p:cNvPr id="18" name="Shape 12"/>
          <p:cNvSpPr/>
          <p:nvPr/>
        </p:nvSpPr>
        <p:spPr>
          <a:xfrm>
            <a:off x="3703320" y="4325112"/>
            <a:ext cx="274320" cy="219456"/>
          </a:xfrm>
          <a:prstGeom prst="downArrow">
            <a:avLst/>
          </a:prstGeom>
          <a:solidFill>
            <a:schemeClr val="accent2"/>
          </a:solidFill>
          <a:ln/>
        </p:spPr>
      </p:sp>
      <p:sp>
        <p:nvSpPr>
          <p:cNvPr id="19" name="lapisan 4"/>
          <p:cNvSpPr/>
          <p:nvPr/>
        </p:nvSpPr>
        <p:spPr>
          <a:xfrm>
            <a:off x="548640" y="4526280"/>
            <a:ext cx="6583680" cy="868680"/>
          </a:xfrm>
          <a:prstGeom prst="roundRect">
            <a:avLst>
              <a:gd name="adj" fmla="val 12632"/>
            </a:avLst>
          </a:prstGeom>
          <a:solidFill>
            <a:schemeClr val="bg2"/>
          </a:solidFill>
          <a:ln/>
        </p:spPr>
      </p:sp>
      <p:sp>
        <p:nvSpPr>
          <p:cNvPr id="20" name="lingkaran buku"/>
          <p:cNvSpPr/>
          <p:nvPr/>
        </p:nvSpPr>
        <p:spPr>
          <a:xfrm>
            <a:off x="731520" y="4640580"/>
            <a:ext cx="640080" cy="640080"/>
          </a:xfrm>
          <a:prstGeom prst="ellipse">
            <a:avLst/>
          </a:prstGeom>
          <a:solidFill>
            <a:schemeClr val="accent1"/>
          </a:solidFill>
          <a:ln/>
        </p:spPr>
      </p:sp>
      <p:pic>
        <p:nvPicPr>
          <p:cNvPr id="21" name="Image 3" descr="buku">    </p:cNvPr>
          <p:cNvPicPr>
            <a:picLocks noChangeAspect="1"/>
          </p:cNvPicPr>
          <p:nvPr/>
        </p:nvPicPr>
        <p:blipFill>
          <a:blip r:embed="rId4"/>
          <a:stretch>
            <a:fillRect/>
          </a:stretch>
        </p:blipFill>
        <p:spPr>
          <a:xfrm>
            <a:off x="872338" y="4781398"/>
            <a:ext cx="358445" cy="358445"/>
          </a:xfrm>
          <a:prstGeom prst="rect">
            <a:avLst/>
          </a:prstGeom>
        </p:spPr>
      </p:pic>
      <p:sp>
        <p:nvSpPr>
          <p:cNvPr id="22" name="Text 15"/>
          <p:cNvSpPr txBox="1"/>
          <p:nvPr/>
        </p:nvSpPr>
        <p:spPr>
          <a:xfrm>
            <a:off x="1554480" y="452628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Entitas dan aturan bisnis</a:t>
            </a:r>
            <a:endParaRPr lang="en-US" sz="1800" dirty="0"/>
          </a:p>
          <a:p>
            <a:pPr indent="0" marL="0">
              <a:buNone/>
            </a:pPr>
            <a:r>
              <a:rPr lang="en-US" sz="1500" dirty="0">
                <a:solidFill>
                  <a:schemeClr val="tx1"/>
                </a:solidFill>
              </a:rPr>
              <a:t>Ruang, Peminjaman, periksaPengajuan()</a:t>
            </a:r>
            <a:endParaRPr lang="en-US" sz="1800" dirty="0"/>
          </a:p>
        </p:txBody>
      </p:sp>
      <p:sp>
        <p:nvSpPr>
          <p:cNvPr id="23"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"Source code dependencies can only point inwards." (Robert C. Martin)</a:t>
            </a:r>
            <a:endParaRPr lang="en-US" sz="1800" dirty="0"/>
          </a:p>
          <a:p>
            <a:pPr marL="228600" indent="-228600">
              <a:spcAft>
                <a:spcPts val="800"/>
              </a:spcAft>
              <a:buSzPct val="100000"/>
              <a:buChar char="•"/>
            </a:pPr>
            <a:r>
              <a:rPr lang="en-US" sz="1800" dirty="0">
                <a:solidFill>
                  <a:schemeClr val="tx1"/>
                </a:solidFill>
              </a:rPr>
              <a:t>Lingkaran dalam TIDAK BOLEH menyebut apa pun dari lingkaran luar.</a:t>
            </a:r>
            <a:endParaRPr lang="en-US" sz="1800" dirty="0"/>
          </a:p>
          <a:p>
            <a:pPr marL="228600" indent="-228600">
              <a:spcAft>
                <a:spcPts val="800"/>
              </a:spcAft>
              <a:buSzPct val="100000"/>
              <a:buChar char="•"/>
            </a:pPr>
            <a:r>
              <a:rPr lang="en-US" sz="1800" dirty="0">
                <a:solidFill>
                  <a:schemeClr val="tx1"/>
                </a:solidFill>
              </a:rPr>
              <a:t>Semakin ke dalam: semakin penting dan semakin jarang berubah.</a:t>
            </a:r>
            <a:endParaRPr lang="en-US" sz="1800" dirty="0"/>
          </a:p>
          <a:p>
            <a:pPr marL="228600" indent="-228600">
              <a:spcAft>
                <a:spcPts val="800"/>
              </a:spcAft>
              <a:buSzPct val="100000"/>
              <a:buChar char="•"/>
            </a:pPr>
            <a:r>
              <a:rPr lang="en-US" sz="1800" dirty="0">
                <a:solidFill>
                  <a:schemeClr val="tx1"/>
                </a:solidFill>
              </a:rPr>
              <a:t>ViewModel boleh memakai Ruang; Ruang tidak boleh mengenal ViewModel.</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Versi Flutter: Tiga Lapisan</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434623"/>
                <a:gridCol w="3443094"/>
                <a:gridCol w="3730019"/>
                <a:gridCol w="2486679"/>
              </a:tblGrid>
              <a:tr h="9144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Lapisan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Isinya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 di "Pinjam Ruang Kampus"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Boleh mengimpor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9144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View (widget) dan ViewModel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HalamanJadwalRuang, JadwalRuangViewModel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 Flutter, provider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9144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Entitas, aturan bisnis, kontrak, use case, Hasil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Ruang, periksaPengajuan(), RepositoriRuang, AjukanPeminjaman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Hanya Dart dan domain itu sendiri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91440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 model API, implementasi repository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LayananApiKampus, RuangApiModel, RepositoriRuangServer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 http, sqflite, shared_preferences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UI menunjuk ke domain, dan data JUGA menunjuk ke domain. Tidak ada panah dari domain ke luar. Lapisan domain disebut opsional: dipakai jika aplikasinya membutuhkan.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Membalik Arah Ketergantungan</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peringatan"/>
          <p:cNvSpPr/>
          <p:nvPr/>
        </p:nvSpPr>
        <p:spPr>
          <a:xfrm>
            <a:off x="777240" y="1600200"/>
            <a:ext cx="685800" cy="685800"/>
          </a:xfrm>
          <a:prstGeom prst="ellipse">
            <a:avLst/>
          </a:prstGeom>
          <a:solidFill>
            <a:schemeClr val="accent5"/>
          </a:solidFill>
          <a:ln/>
        </p:spPr>
      </p:sp>
      <p:pic>
        <p:nvPicPr>
          <p:cNvPr id="6" name="Image 0" descr="peringatan">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Tanpa kontrak</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ViewModel → RepositoriRuangServer → http</a:t>
            </a:r>
            <a:endParaRPr lang="en-US" sz="1400" dirty="0"/>
          </a:p>
        </p:txBody>
      </p:sp>
      <p:sp>
        <p:nvSpPr>
          <p:cNvPr id="9" name="daftar poin"/>
          <p:cNvSpPr txBox="1"/>
          <p:nvPr/>
        </p:nvSpPr>
        <p:spPr>
          <a:xfrm>
            <a:off x="777240"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ViewModel terikat pada server</a:t>
            </a:r>
            <a:endParaRPr lang="en-US" sz="1600" dirty="0"/>
          </a:p>
          <a:p>
            <a:pPr marL="228600" indent="-228600">
              <a:spcAft>
                <a:spcPts val="800"/>
              </a:spcAft>
              <a:buSzPct val="100000"/>
              <a:buChar char="•"/>
            </a:pPr>
            <a:r>
              <a:rPr lang="en-US" sz="1600" dirty="0">
                <a:solidFill>
                  <a:schemeClr val="tx1"/>
                </a:solidFill>
              </a:rPr>
              <a:t>Tidak bisa diuji tanpa internet</a:t>
            </a:r>
            <a:endParaRPr lang="en-US" sz="1600" dirty="0"/>
          </a:p>
          <a:p>
            <a:pPr marL="228600" indent="-228600">
              <a:spcAft>
                <a:spcPts val="800"/>
              </a:spcAft>
              <a:buSzPct val="100000"/>
              <a:buChar char="•"/>
            </a:pPr>
            <a:r>
              <a:rPr lang="en-US" sz="1600" dirty="0">
                <a:solidFill>
                  <a:schemeClr val="tx1"/>
                </a:solidFill>
              </a:rPr>
              <a:t>Server diganti = ViewModel ikut diubah</a:t>
            </a:r>
            <a:endParaRPr lang="en-US" sz="1600" dirty="0"/>
          </a:p>
        </p:txBody>
      </p:sp>
      <p:sp>
        <p:nvSpPr>
          <p:cNvPr id="10" name="kotak kode"/>
          <p:cNvSpPr txBox="1"/>
          <p:nvPr/>
        </p:nvSpPr>
        <p:spPr>
          <a:xfrm>
            <a:off x="731520"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DaftarRuangViewModel</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_repo = </a:t>
            </a:r>
            <a:r>
              <a:rPr lang="en-US" sz="1300" dirty="0">
                <a:solidFill>
                  <a:srgbClr val="FFCB6B"/>
                </a:solidFill>
                <a:latin typeface="Consolas" pitchFamily="34" charset="0"/>
                <a:ea typeface="Consolas" pitchFamily="34" charset="-122"/>
                <a:cs typeface="Consolas" pitchFamily="34" charset="-120"/>
              </a:rPr>
              <a:t>RepositoriRuangServer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2" name="lingkaran centang"/>
          <p:cNvSpPr/>
          <p:nvPr/>
        </p:nvSpPr>
        <p:spPr>
          <a:xfrm>
            <a:off x="6484468" y="1600200"/>
            <a:ext cx="685800" cy="685800"/>
          </a:xfrm>
          <a:prstGeom prst="ellipse">
            <a:avLst/>
          </a:prstGeom>
          <a:solidFill>
            <a:schemeClr val="accent4"/>
          </a:solidFill>
          <a:ln/>
        </p:spPr>
      </p:sp>
      <p:pic>
        <p:nvPicPr>
          <p:cNvPr id="13"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Dengan kontrak milik domain</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Keduanya bergantung pada KONTRAK</a:t>
            </a:r>
            <a:endParaRPr lang="en-US" sz="1400" dirty="0"/>
          </a:p>
        </p:txBody>
      </p:sp>
      <p:sp>
        <p:nvSpPr>
          <p:cNvPr id="16" name="daftar poin"/>
          <p:cNvSpPr txBox="1"/>
          <p:nvPr/>
        </p:nvSpPr>
        <p:spPr>
          <a:xfrm>
            <a:off x="6484468"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ViewModel → RepositoriRuang (kontrak, domain)</a:t>
            </a:r>
            <a:endParaRPr lang="en-US" sz="1600" dirty="0"/>
          </a:p>
          <a:p>
            <a:pPr marL="228600" indent="-228600">
              <a:spcAft>
                <a:spcPts val="800"/>
              </a:spcAft>
              <a:buSzPct val="100000"/>
              <a:buChar char="•"/>
            </a:pPr>
            <a:r>
              <a:rPr lang="en-US" sz="1600" dirty="0">
                <a:solidFill>
                  <a:schemeClr val="tx1"/>
                </a:solidFill>
              </a:rPr>
              <a:t>RepositoriRuangServer (data) implements kontrak itu</a:t>
            </a:r>
            <a:endParaRPr lang="en-US" sz="1600" dirty="0"/>
          </a:p>
          <a:p>
            <a:pPr marL="228600" indent="-228600">
              <a:spcAft>
                <a:spcPts val="800"/>
              </a:spcAft>
              <a:buSzPct val="100000"/>
              <a:buChar char="•"/>
            </a:pPr>
            <a:r>
              <a:rPr lang="en-US" sz="1600" dirty="0">
                <a:solidFill>
                  <a:schemeClr val="tx1"/>
                </a:solidFill>
              </a:rPr>
              <a:t>Implementasi bisa ditukar: palsu ⇄ server ⇄ SQLite</a:t>
            </a:r>
            <a:endParaRPr lang="en-US" sz="1600" dirty="0"/>
          </a:p>
        </p:txBody>
      </p:sp>
      <p:sp>
        <p:nvSpPr>
          <p:cNvPr id="17" name="kotak kode"/>
          <p:cNvSpPr txBox="1"/>
          <p:nvPr/>
        </p:nvSpPr>
        <p:spPr>
          <a:xfrm>
            <a:off x="6438748"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abstract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RepositoriRuang</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List</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Ruang</a:t>
            </a:r>
            <a:r>
              <a:rPr lang="en-US" sz="1300" dirty="0">
                <a:solidFill>
                  <a:srgbClr val="E6EDF3"/>
                </a:solidFill>
                <a:latin typeface="Consolas" pitchFamily="34" charset="0"/>
                <a:ea typeface="Consolas" pitchFamily="34" charset="-122"/>
                <a:cs typeface="Consolas" pitchFamily="34" charset="-120"/>
              </a:rPr>
              <a:t>&gt;&gt; semuaRuang();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8" name="lingkaran lampu"/>
          <p:cNvSpPr/>
          <p:nvPr/>
        </p:nvSpPr>
        <p:spPr>
          <a:xfrm>
            <a:off x="548640" y="5532120"/>
            <a:ext cx="548640" cy="548640"/>
          </a:xfrm>
          <a:prstGeom prst="ellipse">
            <a:avLst/>
          </a:prstGeom>
          <a:solidFill>
            <a:schemeClr val="accent3"/>
          </a:solidFill>
          <a:ln/>
        </p:spPr>
      </p:sp>
      <p:pic>
        <p:nvPicPr>
          <p:cNvPr id="19"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20" name="Text 14"/>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Dependency Inversion Principle (huruf D dalam SOLID). Seperti stop kontak: bentuknya ditentukan rumah (domain), setrika merek apa pun (lapisan data) menyesuaikan.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Lapisan Domain: Entitas dan Aturan Bisnis</a:t>
            </a:r>
            <a:endParaRPr lang="en-US" sz="4000" dirty="0"/>
          </a:p>
        </p:txBody>
      </p:sp>
      <p:sp>
        <p:nvSpPr>
          <p:cNvPr id="5" name="lingkaran buku"/>
          <p:cNvSpPr/>
          <p:nvPr/>
        </p:nvSpPr>
        <p:spPr>
          <a:xfrm>
            <a:off x="1097280" y="2148840"/>
            <a:ext cx="2011680" cy="2011680"/>
          </a:xfrm>
          <a:prstGeom prst="ellipse">
            <a:avLst/>
          </a:prstGeom>
          <a:solidFill>
            <a:schemeClr val="accent1"/>
          </a:solidFill>
          <a:ln/>
        </p:spPr>
      </p:sp>
      <p:pic>
        <p:nvPicPr>
          <p:cNvPr id="6" name="Image 0" descr="buku">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Entitas dan Objek Nilai</a:t>
            </a:r>
            <a:endParaRPr lang="en-US" sz="3200" dirty="0"/>
          </a:p>
        </p:txBody>
      </p:sp>
      <p:sp>
        <p:nvSpPr>
          <p:cNvPr id="4" name="kotak kode"/>
          <p:cNvSpPr txBox="1"/>
          <p:nvPr/>
        </p:nvSpPr>
        <p:spPr>
          <a:xfrm>
            <a:off x="548640" y="1371600"/>
            <a:ext cx="6949440" cy="3931920"/>
          </a:xfrm>
          <a:prstGeom prst="roundRect">
            <a:avLst>
              <a:gd name="adj" fmla="val 23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RentangWaktu</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RentangWaktu</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.mulai, </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.selesai});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 mulai;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 selesai;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Duration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 durasi =&gt; selesai.difference(mulai);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Objek tidak diubah; yang dibuat adalah objek BARU.</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RentangWaktu</a:t>
            </a:r>
            <a:r>
              <a:rPr lang="en-US" sz="1100" dirty="0">
                <a:solidFill>
                  <a:srgbClr val="E6EDF3"/>
                </a:solidFill>
                <a:latin typeface="Consolas" pitchFamily="34" charset="0"/>
                <a:ea typeface="Consolas" pitchFamily="34" charset="-122"/>
                <a:cs typeface="Consolas" pitchFamily="34" charset="-120"/>
              </a:rPr>
              <a:t> geser(</a:t>
            </a:r>
            <a:r>
              <a:rPr lang="en-US" sz="1100" dirty="0">
                <a:solidFill>
                  <a:srgbClr val="FFCB6B"/>
                </a:solidFill>
                <a:latin typeface="Consolas" pitchFamily="34" charset="0"/>
                <a:ea typeface="Consolas" pitchFamily="34" charset="-122"/>
                <a:cs typeface="Consolas" pitchFamily="34" charset="-120"/>
              </a:rPr>
              <a:t>Duration</a:t>
            </a:r>
            <a:r>
              <a:rPr lang="en-US" sz="1100" dirty="0">
                <a:solidFill>
                  <a:srgbClr val="E6EDF3"/>
                </a:solidFill>
                <a:latin typeface="Consolas" pitchFamily="34" charset="0"/>
                <a:ea typeface="Consolas" pitchFamily="34" charset="-122"/>
                <a:cs typeface="Consolas" pitchFamily="34" charset="-120"/>
              </a:rPr>
              <a:t> selisih) =&gt; </a:t>
            </a:r>
            <a:r>
              <a:rPr lang="en-US" sz="1100" dirty="0">
                <a:solidFill>
                  <a:srgbClr val="FFCB6B"/>
                </a:solidFill>
                <a:latin typeface="Consolas" pitchFamily="34" charset="0"/>
                <a:ea typeface="Consolas" pitchFamily="34" charset="-122"/>
                <a:cs typeface="Consolas" pitchFamily="34" charset="-120"/>
              </a:rPr>
              <a:t>RentangWaktu</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mulai: mulai.add(selisih), selesai: selesai.add(selisih));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bertumpukDengan(</a:t>
            </a:r>
            <a:r>
              <a:rPr lang="en-US" sz="1100" dirty="0">
                <a:solidFill>
                  <a:srgbClr val="FFCB6B"/>
                </a:solidFill>
                <a:latin typeface="Consolas" pitchFamily="34" charset="0"/>
                <a:ea typeface="Consolas" pitchFamily="34" charset="-122"/>
                <a:cs typeface="Consolas" pitchFamily="34" charset="-120"/>
              </a:rPr>
              <a:t>RentangWaktu</a:t>
            </a:r>
            <a:r>
              <a:rPr lang="en-US" sz="1100" dirty="0">
                <a:solidFill>
                  <a:srgbClr val="E6EDF3"/>
                </a:solidFill>
                <a:latin typeface="Consolas" pitchFamily="34" charset="0"/>
                <a:ea typeface="Consolas" pitchFamily="34" charset="-122"/>
                <a:cs typeface="Consolas" pitchFamily="34" charset="-120"/>
              </a:rPr>
              <a:t> lain)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mulai.isBefore(lain.selesai) &amp;&amp; lain.mulai.isBefore(selesai);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operator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 other) =&gt; other </a:t>
            </a:r>
            <a:r>
              <a:rPr lang="en-US" sz="1100" dirty="0">
                <a:solidFill>
                  <a:srgbClr val="C792EA"/>
                </a:solidFill>
                <a:latin typeface="Consolas" pitchFamily="34" charset="0"/>
                <a:ea typeface="Consolas" pitchFamily="34" charset="-122"/>
                <a:cs typeface="Consolas" pitchFamily="34" charset="-120"/>
              </a:rPr>
              <a:t>is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RentangWaktu</a:t>
            </a:r>
            <a:r>
              <a:rPr lang="en-US" sz="1100" dirty="0">
                <a:solidFill>
                  <a:srgbClr val="E6EDF3"/>
                </a:solidFill>
                <a:latin typeface="Consolas" pitchFamily="34" charset="0"/>
                <a:ea typeface="Consolas" pitchFamily="34" charset="-122"/>
                <a:cs typeface="Consolas" pitchFamily="34" charset="-120"/>
              </a:rPr>
              <a:t> &amp;&amp;</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other.mulai == mulai &amp;&amp; other.selesai == selesai;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 hashCode =&gt;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.hash(mulai, selesai);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2_domain_dart_murni.dart"/>
          </p:cNvPr>
          <p:cNvSpPr txBox="1"/>
          <p:nvPr/>
        </p:nvSpPr>
        <p:spPr>
          <a:xfrm>
            <a:off x="548640" y="5532120"/>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contoh_02_domain_dart_murni.dart</a:t>
            </a:r>
            <a:endParaRPr lang="en-US" sz="1300" dirty="0"/>
          </a:p>
        </p:txBody>
      </p:sp>
      <p:pic>
        <p:nvPicPr>
          <p:cNvPr id="6" name="Image 0" descr="ikon tautan">
            <a:hlinkClick r:id="rId3" tooltip="https://github.com/antonprafanto/mobile2026/blob/main/pertemuan_12_clean_architecture/kode/contoh_02_domain_dart_murni.dart"/>
          </p:cNvPr>
          <p:cNvPicPr>
            <a:picLocks noChangeAspect="1"/>
          </p:cNvPicPr>
          <p:nvPr/>
        </p:nvPicPr>
        <p:blipFill>
          <a:blip r:embed="rId2"/>
          <a:stretch>
            <a:fillRect/>
          </a:stretch>
        </p:blipFill>
        <p:spPr>
          <a:xfrm>
            <a:off x="694944" y="5623560"/>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Entitas: punya jati diri (Ruang dikenali dari kodenya).</a:t>
            </a:r>
            <a:endParaRPr lang="en-US" sz="1700" dirty="0"/>
          </a:p>
          <a:p>
            <a:pPr marL="228600" indent="-228600">
              <a:spcAft>
                <a:spcPts val="800"/>
              </a:spcAft>
              <a:buSzPct val="100000"/>
              <a:buChar char="•"/>
            </a:pPr>
            <a:r>
              <a:rPr lang="en-US" sz="1700" dirty="0">
                <a:solidFill>
                  <a:schemeClr val="tx1"/>
                </a:solidFill>
              </a:rPr>
              <a:t>Objek nilai: dikenali dari ISINYA. Dua rentang 09.00–11.00 adalah rentang yang sama.</a:t>
            </a:r>
            <a:endParaRPr lang="en-US" sz="1700" dirty="0"/>
          </a:p>
          <a:p>
            <a:pPr marL="228600" indent="-228600">
              <a:spcAft>
                <a:spcPts val="800"/>
              </a:spcAft>
              <a:buSzPct val="100000"/>
              <a:buChar char="•"/>
            </a:pPr>
            <a:r>
              <a:rPr lang="en-US" sz="1700" dirty="0">
                <a:solidFill>
                  <a:schemeClr val="tx1"/>
                </a:solidFill>
              </a:rPr>
              <a:t>Semua field final (immutable): "mengubah" = membuat objek baru.</a:t>
            </a:r>
            <a:endParaRPr lang="en-US" sz="1700" dirty="0"/>
          </a:p>
          <a:p>
            <a:pPr marL="228600" indent="-228600">
              <a:spcAft>
                <a:spcPts val="800"/>
              </a:spcAft>
              <a:buSzPct val="100000"/>
              <a:buChar char="•"/>
            </a:pPr>
            <a:r>
              <a:rPr lang="en-US" sz="1700" dirty="0">
                <a:solidFill>
                  <a:schemeClr val="tx1"/>
                </a:solidFill>
              </a:rPr>
              <a:t>09.00–11.00 dan 11.00–13.00 bersambung, TIDAK bertumpuk.</a:t>
            </a:r>
            <a:endParaRPr lang="en-US" sz="1700" dirty="0"/>
          </a:p>
          <a:p>
            <a:pPr marL="228600" indent="-228600">
              <a:spcAft>
                <a:spcPts val="800"/>
              </a:spcAft>
              <a:buSzPct val="100000"/>
              <a:buChar char="•"/>
            </a:pPr>
            <a:r>
              <a:rPr lang="en-US" sz="1700" dirty="0">
                <a:solidFill>
                  <a:schemeClr val="tx1"/>
                </a:solidFill>
              </a:rPr>
              <a:t>Tanpa ==, Dart membandingkan alamat memori.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Bisnis sebagai Fungsi Biasa</a:t>
            </a:r>
            <a:endParaRPr lang="en-US" sz="3200" dirty="0"/>
          </a:p>
        </p:txBody>
      </p:sp>
      <p:sp>
        <p:nvSpPr>
          <p:cNvPr id="4" name="kotak kode"/>
          <p:cNvSpPr txBox="1"/>
          <p:nvPr/>
        </p:nvSpPr>
        <p:spPr>
          <a:xfrm>
            <a:off x="548640" y="1371600"/>
            <a:ext cx="6766560" cy="4206240"/>
          </a:xfrm>
          <a:prstGeom prst="roundRect">
            <a:avLst>
              <a:gd name="adj" fmla="val 2174"/>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jamBuka = </a:t>
            </a:r>
            <a:r>
              <a:rPr lang="en-US" sz="1100" dirty="0">
                <a:solidFill>
                  <a:srgbClr val="F78C6C"/>
                </a:solidFill>
                <a:latin typeface="Consolas" pitchFamily="34" charset="0"/>
                <a:ea typeface="Consolas" pitchFamily="34" charset="-122"/>
                <a:cs typeface="Consolas" pitchFamily="34" charset="-120"/>
              </a:rPr>
              <a:t>7</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07.00</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jamTutup = </a:t>
            </a:r>
            <a:r>
              <a:rPr lang="en-US" sz="1100" dirty="0">
                <a:solidFill>
                  <a:srgbClr val="F78C6C"/>
                </a:solidFill>
                <a:latin typeface="Consolas" pitchFamily="34" charset="0"/>
                <a:ea typeface="Consolas" pitchFamily="34" charset="-122"/>
                <a:cs typeface="Consolas" pitchFamily="34" charset="-120"/>
              </a:rPr>
              <a:t>21</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21.00</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Duration</a:t>
            </a:r>
            <a:r>
              <a:rPr lang="en-US" sz="1100" dirty="0">
                <a:solidFill>
                  <a:srgbClr val="E6EDF3"/>
                </a:solidFill>
                <a:latin typeface="Consolas" pitchFamily="34" charset="0"/>
                <a:ea typeface="Consolas" pitchFamily="34" charset="-122"/>
                <a:cs typeface="Consolas" pitchFamily="34" charset="-120"/>
              </a:rPr>
              <a:t> durasiMaksimal = </a:t>
            </a:r>
            <a:r>
              <a:rPr lang="en-US" sz="1100" dirty="0">
                <a:solidFill>
                  <a:srgbClr val="FFCB6B"/>
                </a:solidFill>
                <a:latin typeface="Consolas" pitchFamily="34" charset="0"/>
                <a:ea typeface="Consolas" pitchFamily="34" charset="-122"/>
                <a:cs typeface="Consolas" pitchFamily="34" charset="-120"/>
              </a:rPr>
              <a:t>Duration</a:t>
            </a:r>
            <a:r>
              <a:rPr lang="en-US" sz="1100" dirty="0">
                <a:solidFill>
                  <a:srgbClr val="E6EDF3"/>
                </a:solidFill>
                <a:latin typeface="Consolas" pitchFamily="34" charset="0"/>
                <a:ea typeface="Consolas" pitchFamily="34" charset="-122"/>
                <a:cs typeface="Consolas" pitchFamily="34" charset="-120"/>
              </a:rPr>
              <a:t>(hours: </a:t>
            </a:r>
            <a:r>
              <a:rPr lang="en-US" sz="1100" dirty="0">
                <a:solidFill>
                  <a:srgbClr val="F78C6C"/>
                </a:solidFill>
                <a:latin typeface="Consolas" pitchFamily="34" charset="0"/>
                <a:ea typeface="Consolas" pitchFamily="34" charset="-122"/>
                <a:cs typeface="Consolas" pitchFamily="34" charset="-120"/>
              </a:rPr>
              <a:t>3</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Alasan penolakan, atau null jika pengajuan wajar.</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periksaPengajuan(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PengajuanPeminjaman</a:t>
            </a:r>
            <a:r>
              <a:rPr lang="en-US" sz="1100" dirty="0">
                <a:solidFill>
                  <a:srgbClr val="E6EDF3"/>
                </a:solidFill>
                <a:latin typeface="Consolas" pitchFamily="34" charset="0"/>
                <a:ea typeface="Consolas" pitchFamily="34" charset="-122"/>
                <a:cs typeface="Consolas" pitchFamily="34" charset="-120"/>
              </a:rPr>
              <a:t> pengajuan,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 ruang,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 sekarang,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(pengajuan.keperluan.trim().isEmpty)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'Keperluan wajib diisi.'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(pengajuan.jumlahPeserta &gt; ruang.kapasitas)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'Peserta (...) melebihi kapasitas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durasi, Senin–Jumat, jam buka dan tutup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(!pengajuan.waktu.mulai.isAfter(sekarang))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'Waktu mulai sudah lewat.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2_domain_dart_murni.dart"/>
          </p:cNvPr>
          <p:cNvSpPr txBox="1"/>
          <p:nvPr/>
        </p:nvSpPr>
        <p:spPr>
          <a:xfrm>
            <a:off x="548640" y="5806440"/>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contoh_02_domain_dart_murni.dart</a:t>
            </a:r>
            <a:endParaRPr lang="en-US" sz="1300" dirty="0"/>
          </a:p>
        </p:txBody>
      </p:sp>
      <p:pic>
        <p:nvPicPr>
          <p:cNvPr id="6" name="Image 0" descr="ikon tautan">
            <a:hlinkClick r:id="rId3" tooltip="https://github.com/antonprafanto/mobile2026/blob/main/pertemuan_12_clean_architecture/kode/contoh_02_domain_dart_murni.dart"/>
          </p:cNvPr>
          <p:cNvPicPr>
            <a:picLocks noChangeAspect="1"/>
          </p:cNvPicPr>
          <p:nvPr/>
        </p:nvPicPr>
        <p:blipFill>
          <a:blip r:embed="rId2"/>
          <a:stretch>
            <a:fillRect/>
          </a:stretch>
        </p:blipFill>
        <p:spPr>
          <a:xfrm>
            <a:off x="694944" y="5897880"/>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Kebijakan KAMPUS, bukan urusan tampilan.</a:t>
            </a:r>
            <a:endParaRPr lang="en-US" sz="1700" dirty="0"/>
          </a:p>
          <a:p>
            <a:pPr marL="228600" indent="-228600">
              <a:spcAft>
                <a:spcPts val="800"/>
              </a:spcAft>
              <a:buSzPct val="100000"/>
              <a:buChar char="•"/>
            </a:pPr>
            <a:r>
              <a:rPr lang="en-US" sz="1700" dirty="0">
                <a:solidFill>
                  <a:schemeClr val="tx1"/>
                </a:solidFill>
              </a:rPr>
              <a:t>Angka kebijakan = konstanta bernama: jam tutup berubah, cukup satu baris.</a:t>
            </a:r>
            <a:endParaRPr lang="en-US" sz="1700" dirty="0"/>
          </a:p>
          <a:p>
            <a:pPr marL="228600" indent="-228600">
              <a:spcAft>
                <a:spcPts val="800"/>
              </a:spcAft>
              <a:buSzPct val="100000"/>
              <a:buChar char="•"/>
            </a:pPr>
            <a:r>
              <a:rPr lang="en-US" sz="1700" dirty="0">
                <a:solidFill>
                  <a:schemeClr val="tx1"/>
                </a:solidFill>
              </a:rPr>
              <a:t>Mengembalikan alasan → mudah ditampilkan dan diuji.</a:t>
            </a:r>
            <a:endParaRPr lang="en-US" sz="1700" dirty="0"/>
          </a:p>
          <a:p>
            <a:pPr marL="228600" indent="-228600">
              <a:spcAft>
                <a:spcPts val="800"/>
              </a:spcAft>
              <a:buSzPct val="100000"/>
              <a:buChar char="•"/>
            </a:pPr>
            <a:r>
              <a:rPr lang="en-US" sz="1700" dirty="0">
                <a:solidFill>
                  <a:schemeClr val="tx1"/>
                </a:solidFill>
              </a:rPr>
              <a:t>Tidak mengimpor apa pun: bisa dijalankan dengan dart run.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Waktu "Sekarang" sebagai Parameter</a:t>
            </a:r>
            <a:endParaRPr lang="en-US" sz="3200" dirty="0"/>
          </a:p>
        </p:txBody>
      </p:sp>
      <p:sp>
        <p:nvSpPr>
          <p:cNvPr id="4" name="kotak kode"/>
          <p:cNvSpPr txBox="1"/>
          <p:nvPr/>
        </p:nvSpPr>
        <p:spPr>
          <a:xfrm>
            <a:off x="548640" y="1371600"/>
            <a:ext cx="676656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Aturan bisnis ===</a:t>
            </a:r>
            <a:endParaRPr lang="en-US" sz="1300" dirty="0"/>
          </a:p>
          <a:p>
            <a:pPr indent="0" marL="0">
              <a:lnSpc>
                <a:spcPct val="105000"/>
              </a:lnSpc>
              <a:buNone/>
            </a:pPr>
            <a:r>
              <a:rPr lang="en-US" sz="1300" dirty="0">
                <a:solidFill>
                  <a:srgbClr val="C3E88D"/>
                </a:solidFill>
                <a:latin typeface="Consolas" pitchFamily="34" charset="0"/>
                <a:ea typeface="Consolas" pitchFamily="34" charset="-122"/>
                <a:cs typeface="Consolas" pitchFamily="34" charset="-120"/>
              </a:rPr>
              <a:t>"Diskusi kelompok"</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13.00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14.30</a:t>
            </a:r>
            <a:r>
              <a:rPr lang="en-US" sz="1300" dirty="0">
                <a:solidFill>
                  <a:srgbClr val="E6EDF3"/>
                </a:solidFill>
                <a:latin typeface="Consolas" pitchFamily="34" charset="0"/>
                <a:ea typeface="Consolas" pitchFamily="34" charset="-122"/>
                <a:cs typeface="Consolas" pitchFamily="34" charset="-120"/>
              </a:rPr>
              <a:t> -&gt; LOLOS</a:t>
            </a:r>
            <a:endParaRPr lang="en-US" sz="1300" dirty="0"/>
          </a:p>
          <a:p>
            <a:pPr indent="0" marL="0">
              <a:lnSpc>
                <a:spcPct val="105000"/>
              </a:lnSpc>
              <a:buNone/>
            </a:pPr>
            <a:r>
              <a:rPr lang="en-US" sz="1300" dirty="0">
                <a:solidFill>
                  <a:srgbClr val="C3E88D"/>
                </a:solidFill>
                <a:latin typeface="Consolas" pitchFamily="34" charset="0"/>
                <a:ea typeface="Consolas" pitchFamily="34" charset="-122"/>
                <a:cs typeface="Consolas" pitchFamily="34" charset="-120"/>
              </a:rPr>
              <a:t>"Rapat angkatan"</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13.00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14.00</a:t>
            </a:r>
            <a:r>
              <a:rPr lang="en-US" sz="1300" dirty="0">
                <a:solidFill>
                  <a:srgbClr val="E6EDF3"/>
                </a:solidFill>
                <a:latin typeface="Consolas" pitchFamily="34" charset="0"/>
                <a:ea typeface="Consolas" pitchFamily="34" charset="-122"/>
                <a:cs typeface="Consolas" pitchFamily="34" charset="-120"/>
              </a:rPr>
              <a:t> -&gt; Peserta (</a:t>
            </a:r>
            <a:r>
              <a:rPr lang="en-US" sz="1300" dirty="0">
                <a:solidFill>
                  <a:srgbClr val="F78C6C"/>
                </a:solidFill>
                <a:latin typeface="Consolas" pitchFamily="34" charset="0"/>
                <a:ea typeface="Consolas" pitchFamily="34" charset="-122"/>
                <a:cs typeface="Consolas" pitchFamily="34" charset="-120"/>
              </a:rPr>
              <a:t>30</a:t>
            </a:r>
            <a:r>
              <a:rPr lang="en-US" sz="1300" dirty="0">
                <a:solidFill>
                  <a:srgbClr val="E6EDF3"/>
                </a:solidFill>
                <a:latin typeface="Consolas" pitchFamily="34" charset="0"/>
                <a:ea typeface="Consolas" pitchFamily="34" charset="-122"/>
                <a:cs typeface="Consolas" pitchFamily="34" charset="-120"/>
              </a:rPr>
              <a:t>) melebihi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kapasitas Ruang Diskusi C.</a:t>
            </a:r>
            <a:r>
              <a:rPr lang="en-US" sz="1300" dirty="0">
                <a:solidFill>
                  <a:srgbClr val="F78C6C"/>
                </a:solidFill>
                <a:latin typeface="Consolas" pitchFamily="34" charset="0"/>
                <a:ea typeface="Consolas" pitchFamily="34" charset="-122"/>
                <a:cs typeface="Consolas" pitchFamily="34" charset="-120"/>
              </a:rPr>
              <a:t>110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12</a:t>
            </a:r>
            <a:r>
              <a:rPr lang="en-US" sz="1300" dirty="0">
                <a:solidFill>
                  <a:srgbClr val="E6EDF3"/>
                </a:solidFill>
                <a:latin typeface="Consolas" pitchFamily="34" charset="0"/>
                <a:ea typeface="Consolas" pitchFamily="34" charset="-122"/>
                <a:cs typeface="Consolas" pitchFamily="34" charset="-120"/>
              </a:rPr>
              <a:t> orang).</a:t>
            </a:r>
            <a:endParaRPr lang="en-US" sz="1300" dirty="0"/>
          </a:p>
          <a:p>
            <a:pPr indent="0" marL="0">
              <a:lnSpc>
                <a:spcPct val="105000"/>
              </a:lnSpc>
              <a:buNone/>
            </a:pPr>
            <a:r>
              <a:rPr lang="en-US" sz="1300" dirty="0">
                <a:solidFill>
                  <a:srgbClr val="C3E88D"/>
                </a:solidFill>
                <a:latin typeface="Consolas" pitchFamily="34" charset="0"/>
                <a:ea typeface="Consolas" pitchFamily="34" charset="-122"/>
                <a:cs typeface="Consolas" pitchFamily="34" charset="-120"/>
              </a:rPr>
              <a:t>"Belajar bersama"</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09.00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10.00</a:t>
            </a:r>
            <a:r>
              <a:rPr lang="en-US" sz="1300" dirty="0">
                <a:solidFill>
                  <a:srgbClr val="E6EDF3"/>
                </a:solidFill>
                <a:latin typeface="Consolas" pitchFamily="34" charset="0"/>
                <a:ea typeface="Consolas" pitchFamily="34" charset="-122"/>
                <a:cs typeface="Consolas" pitchFamily="34" charset="-120"/>
              </a:rPr>
              <a:t> -&gt; Ruang hanya bisa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dipinjam Senin sampai Jumat.</a:t>
            </a:r>
            <a:endParaRPr lang="en-US" sz="1300" dirty="0"/>
          </a:p>
          <a:p>
            <a:pPr indent="0" marL="0">
              <a:lnSpc>
                <a:spcPct val="105000"/>
              </a:lnSpc>
              <a:buNone/>
            </a:pPr>
            <a:r>
              <a:rPr lang="en-US" sz="1300" dirty="0">
                <a:solidFill>
                  <a:srgbClr val="C3E88D"/>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09.00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10.00</a:t>
            </a:r>
            <a:r>
              <a:rPr lang="en-US" sz="1300" dirty="0">
                <a:solidFill>
                  <a:srgbClr val="E6EDF3"/>
                </a:solidFill>
                <a:latin typeface="Consolas" pitchFamily="34" charset="0"/>
                <a:ea typeface="Consolas" pitchFamily="34" charset="-122"/>
                <a:cs typeface="Consolas" pitchFamily="34" charset="-120"/>
              </a:rPr>
              <a:t> -&gt; Keperluan wajib diisi.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a:t>
            </a:r>
            <a:r>
              <a:rPr lang="en-US" sz="1300" dirty="0">
                <a:solidFill>
                  <a:srgbClr val="E6EDF3"/>
                </a:solidFill>
                <a:latin typeface="Consolas" pitchFamily="34" charset="0"/>
                <a:ea typeface="Consolas" pitchFamily="34" charset="-122"/>
                <a:cs typeface="Consolas" pitchFamily="34" charset="-120"/>
              </a:rPr>
              <a:t> Jam disuntikkan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Diperiksa </a:t>
            </a:r>
            <a:r>
              <a:rPr lang="en-US" sz="1300" dirty="0">
                <a:solidFill>
                  <a:srgbClr val="F78C6C"/>
                </a:solidFill>
                <a:latin typeface="Consolas" pitchFamily="34" charset="0"/>
                <a:ea typeface="Consolas" pitchFamily="34" charset="-122"/>
                <a:cs typeface="Consolas" pitchFamily="34" charset="-120"/>
              </a:rPr>
              <a:t>16</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10</a:t>
            </a:r>
            <a:r>
              <a:rPr lang="en-US" sz="1300" dirty="0">
                <a:solidFill>
                  <a:srgbClr val="E6EDF3"/>
                </a:solidFill>
                <a:latin typeface="Consolas" pitchFamily="34" charset="0"/>
                <a:ea typeface="Consolas" pitchFamily="34" charset="-122"/>
                <a:cs typeface="Consolas" pitchFamily="34" charset="-120"/>
              </a:rPr>
              <a:t> pukul </a:t>
            </a:r>
            <a:r>
              <a:rPr lang="en-US" sz="1300" dirty="0">
                <a:solidFill>
                  <a:srgbClr val="F78C6C"/>
                </a:solidFill>
                <a:latin typeface="Consolas" pitchFamily="34" charset="0"/>
                <a:ea typeface="Consolas" pitchFamily="34" charset="-122"/>
                <a:cs typeface="Consolas" pitchFamily="34" charset="-120"/>
              </a:rPr>
              <a:t>10.00</a:t>
            </a:r>
            <a:r>
              <a:rPr lang="en-US" sz="1300" dirty="0">
                <a:solidFill>
                  <a:srgbClr val="E6EDF3"/>
                </a:solidFill>
                <a:latin typeface="Consolas" pitchFamily="34" charset="0"/>
                <a:ea typeface="Consolas" pitchFamily="34" charset="-122"/>
                <a:cs typeface="Consolas" pitchFamily="34" charset="-120"/>
              </a:rPr>
              <a:t> -&gt; LOLOS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Diperiksa </a:t>
            </a:r>
            <a:r>
              <a:rPr lang="en-US" sz="1300" dirty="0">
                <a:solidFill>
                  <a:srgbClr val="F78C6C"/>
                </a:solidFill>
                <a:latin typeface="Consolas" pitchFamily="34" charset="0"/>
                <a:ea typeface="Consolas" pitchFamily="34" charset="-122"/>
                <a:cs typeface="Consolas" pitchFamily="34" charset="-120"/>
              </a:rPr>
              <a:t>19</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10</a:t>
            </a:r>
            <a:r>
              <a:rPr lang="en-US" sz="1300" dirty="0">
                <a:solidFill>
                  <a:srgbClr val="E6EDF3"/>
                </a:solidFill>
                <a:latin typeface="Consolas" pitchFamily="34" charset="0"/>
                <a:ea typeface="Consolas" pitchFamily="34" charset="-122"/>
                <a:cs typeface="Consolas" pitchFamily="34" charset="-120"/>
              </a:rPr>
              <a:t> pukul </a:t>
            </a:r>
            <a:r>
              <a:rPr lang="en-US" sz="1300" dirty="0">
                <a:solidFill>
                  <a:srgbClr val="F78C6C"/>
                </a:solidFill>
                <a:latin typeface="Consolas" pitchFamily="34" charset="0"/>
                <a:ea typeface="Consolas" pitchFamily="34" charset="-122"/>
                <a:cs typeface="Consolas" pitchFamily="34" charset="-120"/>
              </a:rPr>
              <a:t>14.00</a:t>
            </a:r>
            <a:r>
              <a:rPr lang="en-US" sz="1300" dirty="0">
                <a:solidFill>
                  <a:srgbClr val="E6EDF3"/>
                </a:solidFill>
                <a:latin typeface="Consolas" pitchFamily="34" charset="0"/>
                <a:ea typeface="Consolas" pitchFamily="34" charset="-122"/>
                <a:cs typeface="Consolas" pitchFamily="34" charset="-120"/>
              </a:rPr>
              <a:t> -&gt; Waktu mulai sudah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lewat. Pilih jam yang akan datang.</a:t>
            </a:r>
            <a:endParaRPr lang="en-US" sz="1300" dirty="0"/>
          </a:p>
        </p:txBody>
      </p:sp>
      <p:sp>
        <p:nvSpPr>
          <p:cNvPr id="5" name="tombol tautan">
            <a:hlinkClick r:id="rId1" tooltip="https://github.com/antonprafanto/mobile2026/blob/main/pertemuan_12_clean_architecture/kode/contoh_02_domain_dart_murni.dart"/>
          </p:cNvPr>
          <p:cNvSpPr txBox="1"/>
          <p:nvPr/>
        </p:nvSpPr>
        <p:spPr>
          <a:xfrm>
            <a:off x="548640" y="450799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contoh_02_domain_dart_murni.dart</a:t>
            </a:r>
            <a:endParaRPr lang="en-US" sz="1300" dirty="0"/>
          </a:p>
        </p:txBody>
      </p:sp>
      <p:pic>
        <p:nvPicPr>
          <p:cNvPr id="6" name="Image 0" descr="ikon tautan">
            <a:hlinkClick r:id="rId3" tooltip="https://github.com/antonprafanto/mobile2026/blob/main/pertemuan_12_clean_architecture/kode/contoh_02_domain_dart_murni.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Fungsi TIDAK memanggil DateTime.now() sendiri.</a:t>
            </a:r>
            <a:endParaRPr lang="en-US" sz="1700" dirty="0"/>
          </a:p>
          <a:p>
            <a:pPr marL="228600" indent="-228600">
              <a:spcAft>
                <a:spcPts val="800"/>
              </a:spcAft>
              <a:buSzPct val="100000"/>
              <a:buChar char="•"/>
            </a:pPr>
            <a:r>
              <a:rPr lang="en-US" sz="1700" dirty="0">
                <a:solidFill>
                  <a:schemeClr val="tx1"/>
                </a:solidFill>
              </a:rPr>
              <a:t>Aplikasi: "sekarang" = jam sungguhan.</a:t>
            </a:r>
            <a:endParaRPr lang="en-US" sz="1700" dirty="0"/>
          </a:p>
          <a:p>
            <a:pPr marL="228600" indent="-228600">
              <a:spcAft>
                <a:spcPts val="800"/>
              </a:spcAft>
              <a:buSzPct val="100000"/>
              <a:buChar char="•"/>
            </a:pPr>
            <a:r>
              <a:rPr lang="en-US" sz="1700" dirty="0">
                <a:solidFill>
                  <a:schemeClr val="tx1"/>
                </a:solidFill>
              </a:rPr>
              <a:t>Pemeriksaan: jam tetap (Jumat 16/10 pukul 10.00) → hasil selalu sama, dijalankan hari apa pun.</a:t>
            </a:r>
            <a:endParaRPr lang="en-US" sz="1700" dirty="0"/>
          </a:p>
          <a:p>
            <a:pPr marL="228600" indent="-228600">
              <a:spcAft>
                <a:spcPts val="800"/>
              </a:spcAft>
              <a:buSzPct val="100000"/>
              <a:buChar char="•"/>
            </a:pPr>
            <a:r>
              <a:rPr lang="en-US" sz="1700" dirty="0">
                <a:solidFill>
                  <a:schemeClr val="tx1"/>
                </a:solidFill>
              </a:rPr>
              <a:t>Inilah dependency injection paling sederhana: kebutuhan diberikan dari luar.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Ciri Kode Domain yang Sehat</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121057"/>
                <a:gridCol w="4973359"/>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 memeriksanya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mengimpor flutter, http, sqflite, shared_preferences, provider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Lihat baris import di folder 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Bisa dijalankan dengan dart run, tanpa Flutter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Contoh 02 adalah buktinya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Nama milik aplikasi (kapasitas), bukan nama server (capacity)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Nama kolom JSON hanya di lapisan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Field final; perubahan menghasilkan objek baru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 setter atau field tanpa final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memanggil DateTime.now(), Random(), atau internet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Semua yang berubah-ubah diterima sebagai parameter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Entitas butuh ikon atau warna? Simpan enum Fasilitas di domain, lalu tentukan ikonnya di lapisan UI: IconData ikonFasilitas(Fasilitas f).</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Kontrak Repository dan Dependency Injection</a:t>
            </a:r>
            <a:endParaRPr lang="en-US" sz="4000" dirty="0"/>
          </a:p>
        </p:txBody>
      </p:sp>
      <p:sp>
        <p:nvSpPr>
          <p:cNvPr id="5" name="lingkaran tautan"/>
          <p:cNvSpPr/>
          <p:nvPr/>
        </p:nvSpPr>
        <p:spPr>
          <a:xfrm>
            <a:off x="1097280" y="2148840"/>
            <a:ext cx="2011680" cy="2011680"/>
          </a:xfrm>
          <a:prstGeom prst="ellipse">
            <a:avLst/>
          </a:prstGeom>
          <a:solidFill>
            <a:schemeClr val="accent1"/>
          </a:solidFill>
          <a:ln/>
        </p:spPr>
      </p:sp>
      <p:pic>
        <p:nvPicPr>
          <p:cNvPr id="6" name="Image 0" descr="taut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Satu Kontrak, Dua Implementasi</a:t>
            </a:r>
            <a:endParaRPr lang="en-US" sz="3200" dirty="0"/>
          </a:p>
        </p:txBody>
      </p:sp>
      <p:sp>
        <p:nvSpPr>
          <p:cNvPr id="4" name="kotak kode"/>
          <p:cNvSpPr txBox="1"/>
          <p:nvPr/>
        </p:nvSpPr>
        <p:spPr>
          <a:xfrm>
            <a:off x="548640" y="1371600"/>
            <a:ext cx="6949440" cy="3755898"/>
          </a:xfrm>
          <a:prstGeom prst="roundRect">
            <a:avLst>
              <a:gd name="adj" fmla="val 2435"/>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domain/repositories/repositori_ruang.dart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abstract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&gt;&gt; semuaRuang();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data/: data palsu, tiga ruang, tanpa internet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RepositoriRuangMemori</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&gt;&gt; semuaRuang()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&gt;.delayed(</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Duration</a:t>
            </a:r>
            <a:r>
              <a:rPr lang="en-US" sz="1100" dirty="0">
                <a:solidFill>
                  <a:srgbClr val="E6EDF3"/>
                </a:solidFill>
                <a:latin typeface="Consolas" pitchFamily="34" charset="0"/>
                <a:ea typeface="Consolas" pitchFamily="34" charset="-122"/>
                <a:cs typeface="Consolas" pitchFamily="34" charset="-120"/>
              </a:rPr>
              <a:t>(milliseconds: </a:t>
            </a:r>
            <a:r>
              <a:rPr lang="en-US" sz="1100" dirty="0">
                <a:solidFill>
                  <a:srgbClr val="F78C6C"/>
                </a:solidFill>
                <a:latin typeface="Consolas" pitchFamily="34" charset="0"/>
                <a:ea typeface="Consolas" pitchFamily="34" charset="-122"/>
                <a:cs typeface="Consolas" pitchFamily="34" charset="-120"/>
              </a:rPr>
              <a:t>500</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_data;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data/: server + salinan di memori</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RepositoriRuangServer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RepositoriRuangServer</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._klien,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.saatMeminta});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salinan != null ? salinan : ambil dari internet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3_kontrak_dan_dependency_injection.dart"/>
          </p:cNvPr>
          <p:cNvSpPr txBox="1"/>
          <p:nvPr/>
        </p:nvSpPr>
        <p:spPr>
          <a:xfrm>
            <a:off x="548640" y="5356098"/>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contoh_03_kontrak_dan_dependency_injection.dart</a:t>
            </a:r>
            <a:endParaRPr lang="en-US" sz="1300" dirty="0"/>
          </a:p>
        </p:txBody>
      </p:sp>
      <p:pic>
        <p:nvPicPr>
          <p:cNvPr id="6" name="Image 0" descr="ikon tautan">
            <a:hlinkClick r:id="rId3" tooltip="https://github.com/antonprafanto/mobile2026/blob/main/pertemuan_12_clean_architecture/kode/contoh_03_kontrak_dan_dependency_injection.dart"/>
          </p:cNvPr>
          <p:cNvPicPr>
            <a:picLocks noChangeAspect="1"/>
          </p:cNvPicPr>
          <p:nvPr/>
        </p:nvPicPr>
        <p:blipFill>
          <a:blip r:embed="rId2"/>
          <a:stretch>
            <a:fillRect/>
          </a:stretch>
        </p:blipFill>
        <p:spPr>
          <a:xfrm>
            <a:off x="694944" y="5447538"/>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Kontrak menyebut entitas Ruang dan dipakai ViewModel maupun use case → milik DOMAIN.</a:t>
            </a:r>
            <a:endParaRPr lang="en-US" sz="1700" dirty="0"/>
          </a:p>
          <a:p>
            <a:pPr marL="228600" indent="-228600">
              <a:spcAft>
                <a:spcPts val="800"/>
              </a:spcAft>
              <a:buSzPct val="100000"/>
              <a:buChar char="•"/>
            </a:pPr>
            <a:r>
              <a:rPr lang="en-US" sz="1700" dirty="0">
                <a:solidFill>
                  <a:schemeClr val="tx1"/>
                </a:solidFill>
              </a:rPr>
              <a:t>Lapisan data cukup "berjanji memenuhinya" lewat implements.</a:t>
            </a:r>
            <a:endParaRPr lang="en-US" sz="1700" dirty="0"/>
          </a:p>
          <a:p>
            <a:pPr marL="228600" indent="-228600">
              <a:spcAft>
                <a:spcPts val="800"/>
              </a:spcAft>
              <a:buSzPct val="100000"/>
              <a:buChar char="•"/>
            </a:pPr>
            <a:r>
              <a:rPr lang="en-US" sz="1700" dirty="0">
                <a:solidFill>
                  <a:schemeClr val="tx1"/>
                </a:solidFill>
              </a:rPr>
              <a:t>Versi server menyimpan salinan; panggilan kedua tanpa internet.</a:t>
            </a:r>
            <a:endParaRPr lang="en-US" sz="1700" dirty="0"/>
          </a:p>
          <a:p>
            <a:pPr marL="228600" indent="-228600">
              <a:spcAft>
                <a:spcPts val="800"/>
              </a:spcAft>
              <a:buSzPct val="100000"/>
              <a:buChar char="•"/>
            </a:pPr>
            <a:r>
              <a:rPr lang="en-US" sz="1700" dirty="0">
                <a:solidFill>
                  <a:schemeClr val="tx1"/>
                </a:solidFill>
              </a:rPr>
              <a:t>ViewModel tidak tahu-menahu soal salinan itu.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Dependency Injection: Bahan Diantar, Bukan Dicari</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4113"/>
                <a:gridCol w="5355925"/>
                <a:gridCol w="3634377"/>
              </a:tblGrid>
              <a:tr h="8686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Kode di ViewModel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Akibatnya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Membuat sendiri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final _repo = RepositoriRuangServer(...);</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Terikat pada server; tidak bisa diuji tanpa internet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Variabel global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final _repo = repositoriGlobal;</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Objek tersembunyi yang dibagi bersama; sulit diganti saat pengujian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Menerima dari luar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DaftarRuangViewModel({required this._repositori})</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Hanya mengenal kontrak; implementasi bisa ditukar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Dari luar, parameternya ditulis TANPA garis bawah: DaftarRuangViewModel(repositori: ...). Juru masak tidak ke pasar; bahan diantar ke dapurnya.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Akar Komposisi: Satu Tempat yang Memilih</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Provider</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&gt;.value(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key: </a:t>
            </a:r>
            <a:r>
              <a:rPr lang="en-US" sz="1100" dirty="0">
                <a:solidFill>
                  <a:srgbClr val="FFCB6B"/>
                </a:solidFill>
                <a:latin typeface="Consolas" pitchFamily="34" charset="0"/>
                <a:ea typeface="Consolas" pitchFamily="34" charset="-122"/>
                <a:cs typeface="Consolas" pitchFamily="34" charset="-120"/>
              </a:rPr>
              <a:t>ValueKey</a:t>
            </a:r>
            <a:r>
              <a:rPr lang="en-US" sz="1100" dirty="0">
                <a:solidFill>
                  <a:srgbClr val="E6EDF3"/>
                </a:solidFill>
                <a:latin typeface="Consolas" pitchFamily="34" charset="0"/>
                <a:ea typeface="Consolas" pitchFamily="34" charset="-122"/>
                <a:cs typeface="Consolas" pitchFamily="34" charset="-120"/>
              </a:rPr>
              <a:t>(_sumber),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value: _repositori, </a:t>
            </a:r>
            <a:r>
              <a:rPr lang="en-US" sz="1100" i="1" dirty="0">
                <a:solidFill>
                  <a:srgbClr val="8FA3BC"/>
                </a:solidFill>
                <a:latin typeface="Consolas" pitchFamily="34" charset="0"/>
                <a:ea typeface="Consolas" pitchFamily="34" charset="-122"/>
                <a:cs typeface="Consolas" pitchFamily="34" charset="-120"/>
              </a:rPr>
              <a:t>// memori atau server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 </a:t>
            </a:r>
            <a:r>
              <a:rPr lang="en-US" sz="1100" dirty="0">
                <a:solidFill>
                  <a:srgbClr val="FFCB6B"/>
                </a:solidFill>
                <a:latin typeface="Consolas" pitchFamily="34" charset="0"/>
                <a:ea typeface="Consolas" pitchFamily="34" charset="-122"/>
                <a:cs typeface="Consolas" pitchFamily="34" charset="-120"/>
              </a:rPr>
              <a:t>ChangeNotifierProvider</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create: (</a:t>
            </a:r>
            <a:r>
              <a:rPr lang="en-US" sz="1100" dirty="0">
                <a:solidFill>
                  <a:srgbClr val="FFCB6B"/>
                </a:solidFill>
                <a:latin typeface="Consolas" pitchFamily="34" charset="0"/>
                <a:ea typeface="Consolas" pitchFamily="34" charset="-122"/>
                <a:cs typeface="Consolas" pitchFamily="34" charset="-120"/>
              </a:rPr>
              <a:t>BuildContext</a:t>
            </a:r>
            <a:r>
              <a:rPr lang="en-US" sz="1100" dirty="0">
                <a:solidFill>
                  <a:srgbClr val="E6EDF3"/>
                </a:solidFill>
                <a:latin typeface="Consolas" pitchFamily="34" charset="0"/>
                <a:ea typeface="Consolas" pitchFamily="34" charset="-122"/>
                <a:cs typeface="Consolas" pitchFamily="34" charset="-120"/>
              </a:rPr>
              <a:t> context)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DaftarRuangViewModel</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repositori: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context.read&lt;</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)..muat(),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TampilanDaftarRuang</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9" name="tombol tautan">
            <a:hlinkClick r:id="rId3" tooltip="https://github.com/antonprafanto/mobile2026/blob/main/pertemuan_12_clean_architecture/kode/contoh_03_kontrak_dan_dependency_injection.dart"/>
          </p:cNvPr>
          <p:cNvSpPr txBox="1"/>
          <p:nvPr/>
        </p:nvSpPr>
        <p:spPr>
          <a:xfrm>
            <a:off x="548640" y="4078224"/>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contoh_03_kontrak_dan_dependency_injection.dart</a:t>
            </a:r>
            <a:endParaRPr lang="en-US" sz="1300" dirty="0"/>
          </a:p>
        </p:txBody>
      </p:sp>
      <p:pic>
        <p:nvPicPr>
          <p:cNvPr id="10" name="Image 2" descr="ikon tautan">
            <a:hlinkClick r:id="rId5" tooltip="https://github.com/antonprafanto/mobile2026/blob/main/pertemuan_12_clean_architecture/kode/contoh_03_kontrak_dan_dependency_injection.dart"/>
          </p:cNvPr>
          <p:cNvPicPr>
            <a:picLocks noChangeAspect="1"/>
          </p:cNvPicPr>
          <p:nvPr/>
        </p:nvPicPr>
        <p:blipFill>
          <a:blip r:embed="rId4"/>
          <a:stretch>
            <a:fillRect/>
          </a:stretch>
        </p:blipFill>
        <p:spPr>
          <a:xfrm>
            <a:off x="694944" y="4169664"/>
            <a:ext cx="274320" cy="274320"/>
          </a:xfrm>
          <a:prstGeom prst="rect">
            <a:avLst/>
          </a:prstGeom>
        </p:spPr>
      </p:pic>
      <p:sp>
        <p:nvSpPr>
          <p:cNvPr id="11" name="daftar poin"/>
          <p:cNvSpPr txBox="1"/>
          <p:nvPr/>
        </p:nvSpPr>
        <p:spPr>
          <a:xfrm>
            <a:off x="548640" y="4809744"/>
            <a:ext cx="5516575" cy="1408176"/>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Jenis yang dititipkan = KONTRAK.</a:t>
            </a:r>
            <a:endParaRPr lang="en-US" sz="1400" dirty="0"/>
          </a:p>
          <a:p>
            <a:pPr marL="228600" indent="-228600">
              <a:spcAft>
                <a:spcPts val="800"/>
              </a:spcAft>
              <a:buSzPct val="100000"/>
              <a:buChar char="•"/>
            </a:pPr>
            <a:r>
              <a:rPr lang="en-US" sz="1400" dirty="0">
                <a:solidFill>
                  <a:schemeClr val="tx1"/>
                </a:solidFill>
              </a:rPr>
              <a:t>Server → angka 1. Palsu → Server lagi: tetap 1 (salinan).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Implementasi menurut Lingkungan</a:t>
            </a:r>
            <a:endParaRPr lang="en-US" sz="3200" dirty="0"/>
          </a:p>
        </p:txBody>
      </p:sp>
      <p:sp>
        <p:nvSpPr>
          <p:cNvPr id="4" name="kotak kode"/>
          <p:cNvSpPr txBox="1"/>
          <p:nvPr/>
        </p:nvSpPr>
        <p:spPr>
          <a:xfrm>
            <a:off x="548640" y="1371600"/>
            <a:ext cx="6858000" cy="3931920"/>
          </a:xfrm>
          <a:prstGeom prst="roundRect">
            <a:avLst>
              <a:gd name="adj" fmla="val 23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enum</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Lingkungan</a:t>
            </a:r>
            <a:r>
              <a:rPr lang="en-US" sz="1100" dirty="0">
                <a:solidFill>
                  <a:srgbClr val="E6EDF3"/>
                </a:solidFill>
                <a:latin typeface="Consolas" pitchFamily="34" charset="0"/>
                <a:ea typeface="Consolas" pitchFamily="34" charset="-122"/>
                <a:cs typeface="Consolas" pitchFamily="34" charset="-120"/>
              </a:rPr>
              <a:t> { pengembangan, produksi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SingleChildWidget</a:t>
            </a:r>
            <a:r>
              <a:rPr lang="en-US" sz="1100" dirty="0">
                <a:solidFill>
                  <a:srgbClr val="E6EDF3"/>
                </a:solidFill>
                <a:latin typeface="Consolas" pitchFamily="34" charset="0"/>
                <a:ea typeface="Consolas" pitchFamily="34" charset="-122"/>
                <a:cs typeface="Consolas" pitchFamily="34" charset="-120"/>
              </a:rPr>
              <a:t>&gt; buatPenyedia(</a:t>
            </a:r>
            <a:r>
              <a:rPr lang="en-US" sz="1100" dirty="0">
                <a:solidFill>
                  <a:srgbClr val="FFCB6B"/>
                </a:solidFill>
                <a:latin typeface="Consolas" pitchFamily="34" charset="0"/>
                <a:ea typeface="Consolas" pitchFamily="34" charset="-122"/>
                <a:cs typeface="Consolas" pitchFamily="34" charset="-120"/>
              </a:rPr>
              <a:t>Lingkungan</a:t>
            </a:r>
            <a:r>
              <a:rPr lang="en-US" sz="1100" dirty="0">
                <a:solidFill>
                  <a:srgbClr val="E6EDF3"/>
                </a:solidFill>
                <a:latin typeface="Consolas" pitchFamily="34" charset="0"/>
                <a:ea typeface="Consolas" pitchFamily="34" charset="-122"/>
                <a:cs typeface="Consolas" pitchFamily="34" charset="-120"/>
              </a:rPr>
              <a:t> lingkungan)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Provider</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Pengguna</a:t>
            </a:r>
            <a:r>
              <a:rPr lang="en-US" sz="1100" dirty="0">
                <a:solidFill>
                  <a:srgbClr val="E6EDF3"/>
                </a:solidFill>
                <a:latin typeface="Consolas" pitchFamily="34" charset="0"/>
                <a:ea typeface="Consolas" pitchFamily="34" charset="-122"/>
                <a:cs typeface="Consolas" pitchFamily="34" charset="-120"/>
              </a:rPr>
              <a:t>&gt;.value(value: penggunaAktif),</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(lingkungan)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Lingkungan</a:t>
            </a:r>
            <a:r>
              <a:rPr lang="en-US" sz="1100" dirty="0">
                <a:solidFill>
                  <a:srgbClr val="E6EDF3"/>
                </a:solidFill>
                <a:latin typeface="Consolas" pitchFamily="34" charset="0"/>
                <a:ea typeface="Consolas" pitchFamily="34" charset="-122"/>
                <a:cs typeface="Consolas" pitchFamily="34" charset="-120"/>
              </a:rPr>
              <a:t>.pengembangan =&gt;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Provider</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create: (context) =&gt; </a:t>
            </a:r>
            <a:r>
              <a:rPr lang="en-US" sz="1100" dirty="0">
                <a:solidFill>
                  <a:srgbClr val="FFCB6B"/>
                </a:solidFill>
                <a:latin typeface="Consolas" pitchFamily="34" charset="0"/>
                <a:ea typeface="Consolas" pitchFamily="34" charset="-122"/>
                <a:cs typeface="Consolas" pitchFamily="34" charset="-120"/>
              </a:rPr>
              <a:t>RepositoriRuangMemori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Lingkungan</a:t>
            </a:r>
            <a:r>
              <a:rPr lang="en-US" sz="1100" dirty="0">
                <a:solidFill>
                  <a:srgbClr val="E6EDF3"/>
                </a:solidFill>
                <a:latin typeface="Consolas" pitchFamily="34" charset="0"/>
                <a:ea typeface="Consolas" pitchFamily="34" charset="-122"/>
                <a:cs typeface="Consolas" pitchFamily="34" charset="-120"/>
              </a:rPr>
              <a:t>.produksi =&gt;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Provider</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LayananApiKampus</a:t>
            </a:r>
            <a:r>
              <a:rPr lang="en-US" sz="1100" dirty="0">
                <a:solidFill>
                  <a:srgbClr val="E6EDF3"/>
                </a:solidFill>
                <a:latin typeface="Consolas" pitchFamily="34" charset="0"/>
                <a:ea typeface="Consolas" pitchFamily="34" charset="-122"/>
                <a:cs typeface="Consolas" pitchFamily="34" charset="-120"/>
              </a:rPr>
              <a:t>&gt;(</a:t>
            </a:r>
            <a:r>
              <a:rPr lang="en-US" sz="1100" i="1" dirty="0">
                <a:solidFill>
                  <a:srgbClr val="8FA3BC"/>
                </a:solidFill>
                <a:latin typeface="Consolas" pitchFamily="34" charset="0"/>
                <a:ea typeface="Consolas" pitchFamily="34" charset="-122"/>
                <a:cs typeface="Consolas" pitchFamily="34" charset="-120"/>
              </a:rPr>
              <a:t>/* ... + dispose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Provider</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create: (context) =&gt; </a:t>
            </a:r>
            <a:r>
              <a:rPr lang="en-US" sz="1100" dirty="0">
                <a:solidFill>
                  <a:srgbClr val="FFCB6B"/>
                </a:solidFill>
                <a:latin typeface="Consolas" pitchFamily="34" charset="0"/>
                <a:ea typeface="Consolas" pitchFamily="34" charset="-122"/>
                <a:cs typeface="Consolas" pitchFamily="34" charset="-120"/>
              </a:rPr>
              <a:t>RepositoriRuangServer</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layanan: context.read&lt;</a:t>
            </a:r>
            <a:r>
              <a:rPr lang="en-US" sz="1100" dirty="0">
                <a:solidFill>
                  <a:srgbClr val="FFCB6B"/>
                </a:solidFill>
                <a:latin typeface="Consolas" pitchFamily="34" charset="0"/>
                <a:ea typeface="Consolas" pitchFamily="34" charset="-122"/>
                <a:cs typeface="Consolas" pitchFamily="34" charset="-120"/>
              </a:rPr>
              <a:t>LayananApiKampus</a:t>
            </a:r>
            <a:r>
              <a:rPr lang="en-US" sz="1100" dirty="0">
                <a:solidFill>
                  <a:srgbClr val="E6EDF3"/>
                </a:solidFill>
                <a:latin typeface="Consolas" pitchFamily="34" charset="0"/>
                <a:ea typeface="Consolas" pitchFamily="34" charset="-122"/>
                <a:cs typeface="Consolas" pitchFamily="34" charset="-120"/>
              </a:rPr>
              <a:t>&gt;())),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RepositoriPeminjaman, use case AjukanPeminjaman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8_studi_kasus_pinjam_ruang.dart"/>
          </p:cNvPr>
          <p:cNvSpPr txBox="1"/>
          <p:nvPr/>
        </p:nvSpPr>
        <p:spPr>
          <a:xfrm>
            <a:off x="548640" y="5532120"/>
            <a:ext cx="68580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contoh_08_studi_kasus_pinjam_ruang.dart</a:t>
            </a:r>
            <a:endParaRPr lang="en-US" sz="1300" dirty="0"/>
          </a:p>
        </p:txBody>
      </p:sp>
      <p:pic>
        <p:nvPicPr>
          <p:cNvPr id="6" name="Image 0" descr="ikon tautan">
            <a:hlinkClick r:id="rId3" tooltip="https://github.com/antonprafanto/mobile2026/blob/main/pertemuan_12_clean_architecture/kode/contoh_08_studi_kasus_pinjam_ruang.dart"/>
          </p:cNvPr>
          <p:cNvPicPr>
            <a:picLocks noChangeAspect="1"/>
          </p:cNvPicPr>
          <p:nvPr/>
        </p:nvPicPr>
        <p:blipFill>
          <a:blip r:embed="rId2"/>
          <a:stretch>
            <a:fillRect/>
          </a:stretch>
        </p:blipFill>
        <p:spPr>
          <a:xfrm>
            <a:off x="694944" y="5623560"/>
            <a:ext cx="274320" cy="274320"/>
          </a:xfrm>
          <a:prstGeom prst="rect">
            <a:avLst/>
          </a:prstGeom>
        </p:spPr>
      </p:pic>
      <p:sp>
        <p:nvSpPr>
          <p:cNvPr id="7" name="daftar poin"/>
          <p:cNvSpPr txBox="1"/>
          <p:nvPr/>
        </p:nvSpPr>
        <p:spPr>
          <a:xfrm>
            <a:off x="7818120" y="1417320"/>
            <a:ext cx="38249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Pengembangan: data palsu (server belum siap, tanpa internet).</a:t>
            </a:r>
            <a:endParaRPr lang="en-US" sz="1700" dirty="0"/>
          </a:p>
          <a:p>
            <a:pPr marL="228600" indent="-228600">
              <a:spcAft>
                <a:spcPts val="800"/>
              </a:spcAft>
              <a:buSzPct val="100000"/>
              <a:buChar char="•"/>
            </a:pPr>
            <a:r>
              <a:rPr lang="en-US" sz="1700" dirty="0">
                <a:solidFill>
                  <a:schemeClr val="tx1"/>
                </a:solidFill>
              </a:rPr>
              <a:t>Produksi: server dan database sungguhan.</a:t>
            </a:r>
            <a:endParaRPr lang="en-US" sz="1700" dirty="0"/>
          </a:p>
          <a:p>
            <a:pPr marL="228600" indent="-228600">
              <a:spcAft>
                <a:spcPts val="800"/>
              </a:spcAft>
              <a:buSzPct val="100000"/>
              <a:buChar char="•"/>
            </a:pPr>
            <a:r>
              <a:rPr lang="en-US" sz="1700" dirty="0">
                <a:solidFill>
                  <a:schemeClr val="tx1"/>
                </a:solidFill>
              </a:rPr>
              <a:t>...switch menyisipkan (spread) daftar yang dipilih.</a:t>
            </a:r>
            <a:endParaRPr lang="en-US" sz="1700" dirty="0"/>
          </a:p>
          <a:p>
            <a:pPr marL="228600" indent="-228600">
              <a:spcAft>
                <a:spcPts val="800"/>
              </a:spcAft>
              <a:buSzPct val="100000"/>
              <a:buChar char="•"/>
            </a:pPr>
            <a:r>
              <a:rPr lang="en-US" sz="1700" dirty="0">
                <a:solidFill>
                  <a:schemeClr val="tx1"/>
                </a:solidFill>
              </a:rPr>
              <a:t>Letaknya: lib/config/dependensi.dart.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Model API, Entitas, dan Pemetaan</a:t>
            </a:r>
            <a:endParaRPr lang="en-US" sz="4000" dirty="0"/>
          </a:p>
        </p:txBody>
      </p:sp>
      <p:sp>
        <p:nvSpPr>
          <p:cNvPr id="5" name="lingkaran pindah"/>
          <p:cNvSpPr/>
          <p:nvPr/>
        </p:nvSpPr>
        <p:spPr>
          <a:xfrm>
            <a:off x="1097280" y="2148840"/>
            <a:ext cx="2011680" cy="2011680"/>
          </a:xfrm>
          <a:prstGeom prst="ellipse">
            <a:avLst/>
          </a:prstGeom>
          <a:solidFill>
            <a:schemeClr val="accent1"/>
          </a:solidFill>
          <a:ln/>
        </p:spPr>
      </p:sp>
      <p:pic>
        <p:nvPicPr>
          <p:cNvPr id="6" name="Image 0" descr="pindah">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Bahasa yang Berbeda</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server"/>
          <p:cNvSpPr/>
          <p:nvPr/>
        </p:nvSpPr>
        <p:spPr>
          <a:xfrm>
            <a:off x="777240" y="1600200"/>
            <a:ext cx="685800" cy="685800"/>
          </a:xfrm>
          <a:prstGeom prst="ellipse">
            <a:avLst/>
          </a:prstGeom>
          <a:solidFill>
            <a:schemeClr val="accent6"/>
          </a:solidFill>
          <a:ln/>
        </p:spPr>
      </p:sp>
      <p:pic>
        <p:nvPicPr>
          <p:cNvPr id="6" name="Image 0" descr="server">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Bahasa server</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data/ruang_kampus.json</a:t>
            </a:r>
            <a:endParaRPr lang="en-US" sz="1400" dirty="0"/>
          </a:p>
        </p:txBody>
      </p:sp>
      <p:sp>
        <p:nvSpPr>
          <p:cNvPr id="9" name="daftar poin"/>
          <p:cNvSpPr txBox="1"/>
          <p:nvPr/>
        </p:nvSpPr>
        <p:spPr>
          <a:xfrm>
            <a:off x="777240" y="2926080"/>
            <a:ext cx="4929988" cy="181965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Nama kolom Inggris: room_code, capacity</a:t>
            </a:r>
            <a:endParaRPr lang="en-US" sz="1600" dirty="0"/>
          </a:p>
          <a:p>
            <a:pPr marL="228600" indent="-228600">
              <a:spcAft>
                <a:spcPts val="800"/>
              </a:spcAft>
              <a:buSzPct val="100000"/>
              <a:buChar char="•"/>
            </a:pPr>
            <a:r>
              <a:rPr lang="en-US" sz="1600" dirty="0">
                <a:solidFill>
                  <a:schemeClr val="tx1"/>
                </a:solidFill>
              </a:rPr>
              <a:t>Kode fasilitas berupa teks</a:t>
            </a:r>
            <a:endParaRPr lang="en-US" sz="1600" dirty="0"/>
          </a:p>
          <a:p>
            <a:pPr marL="228600" indent="-228600">
              <a:spcAft>
                <a:spcPts val="800"/>
              </a:spcAft>
              <a:buSzPct val="100000"/>
              <a:buChar char="•"/>
            </a:pPr>
            <a:r>
              <a:rPr lang="en-US" sz="1600" dirty="0">
                <a:solidFill>
                  <a:schemeClr val="tx1"/>
                </a:solidFill>
              </a:rPr>
              <a:t>Kolom teknis is_active</a:t>
            </a:r>
            <a:endParaRPr lang="en-US" sz="1600" dirty="0"/>
          </a:p>
        </p:txBody>
      </p:sp>
      <p:sp>
        <p:nvSpPr>
          <p:cNvPr id="10" name="kotak kode"/>
          <p:cNvSpPr txBox="1"/>
          <p:nvPr/>
        </p:nvSpPr>
        <p:spPr>
          <a:xfrm>
            <a:off x="731520" y="4700016"/>
            <a:ext cx="5021428" cy="1243584"/>
          </a:xfrm>
          <a:prstGeom prst="roundRect">
            <a:avLst>
              <a:gd name="adj" fmla="val 7353"/>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"room_code"</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"AULA"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"capacity"</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200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"facilities"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"projector"</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"stage"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"is_active"</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true</a:t>
            </a: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olom 2"/>
          <p:cNvSpPr/>
          <p:nvPr/>
        </p:nvSpPr>
        <p:spPr>
          <a:xfrm>
            <a:off x="6255868" y="1371600"/>
            <a:ext cx="5387188" cy="4754880"/>
          </a:xfrm>
          <a:prstGeom prst="roundRect">
            <a:avLst>
              <a:gd name="adj" fmla="val 2308"/>
            </a:avLst>
          </a:prstGeom>
          <a:solidFill>
            <a:srgbClr val="E3F2FD"/>
          </a:solidFill>
          <a:ln w="25400">
            <a:solidFill>
              <a:schemeClr val="accent1"/>
            </a:solidFill>
            <a:prstDash val="solid"/>
          </a:ln>
        </p:spPr>
      </p:sp>
      <p:sp>
        <p:nvSpPr>
          <p:cNvPr id="12" name="lingkaran hp"/>
          <p:cNvSpPr/>
          <p:nvPr/>
        </p:nvSpPr>
        <p:spPr>
          <a:xfrm>
            <a:off x="6484468" y="1600200"/>
            <a:ext cx="685800" cy="685800"/>
          </a:xfrm>
          <a:prstGeom prst="ellipse">
            <a:avLst/>
          </a:prstGeom>
          <a:solidFill>
            <a:schemeClr val="accent4"/>
          </a:solidFill>
          <a:ln/>
        </p:spPr>
      </p:sp>
      <p:pic>
        <p:nvPicPr>
          <p:cNvPr id="13" name="Image 1" descr="hp">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Bahasa aplikasi</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Entitas di domain</a:t>
            </a:r>
            <a:endParaRPr lang="en-US" sz="1400" dirty="0"/>
          </a:p>
        </p:txBody>
      </p:sp>
      <p:sp>
        <p:nvSpPr>
          <p:cNvPr id="16" name="daftar poin"/>
          <p:cNvSpPr txBox="1"/>
          <p:nvPr/>
        </p:nvSpPr>
        <p:spPr>
          <a:xfrm>
            <a:off x="6484468" y="2926080"/>
            <a:ext cx="4929988" cy="229514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Nama milik aplikasi: kode, kapasitas</a:t>
            </a:r>
            <a:endParaRPr lang="en-US" sz="1600" dirty="0"/>
          </a:p>
          <a:p>
            <a:pPr marL="228600" indent="-228600">
              <a:spcAft>
                <a:spcPts val="800"/>
              </a:spcAft>
              <a:buSzPct val="100000"/>
              <a:buChar char="•"/>
            </a:pPr>
            <a:r>
              <a:rPr lang="en-US" sz="1600" dirty="0">
                <a:solidFill>
                  <a:schemeClr val="tx1"/>
                </a:solidFill>
              </a:rPr>
              <a:t>enum Fasilitas dengan label ramah ("AC")</a:t>
            </a:r>
            <a:endParaRPr lang="en-US" sz="1600" dirty="0"/>
          </a:p>
          <a:p>
            <a:pPr marL="228600" indent="-228600">
              <a:spcAft>
                <a:spcPts val="800"/>
              </a:spcAft>
              <a:buSzPct val="100000"/>
              <a:buChar char="•"/>
            </a:pPr>
            <a:r>
              <a:rPr lang="en-US" sz="1600" dirty="0">
                <a:solidFill>
                  <a:schemeClr val="tx1"/>
                </a:solidFill>
              </a:rPr>
              <a:t>Ruang tidak aktif: cukup tidak ditampilkan</a:t>
            </a:r>
            <a:endParaRPr lang="en-US" sz="1600" dirty="0"/>
          </a:p>
          <a:p>
            <a:pPr marL="228600" indent="-228600">
              <a:spcAft>
                <a:spcPts val="800"/>
              </a:spcAft>
              <a:buSzPct val="100000"/>
              <a:buChar char="•"/>
            </a:pPr>
            <a:r>
              <a:rPr lang="en-US" sz="1600" dirty="0">
                <a:solidFill>
                  <a:schemeClr val="tx1"/>
                </a:solidFill>
              </a:rPr>
              <a:t>Fasilitas yang belum dikenal (stage): dilewati</a:t>
            </a:r>
            <a:endParaRPr lang="en-US" sz="1600" dirty="0"/>
          </a:p>
        </p:txBody>
      </p:sp>
      <p:sp>
        <p:nvSpPr>
          <p:cNvPr id="17" name="kotak kode"/>
          <p:cNvSpPr txBox="1"/>
          <p:nvPr/>
        </p:nvSpPr>
        <p:spPr>
          <a:xfrm>
            <a:off x="6438748" y="5175504"/>
            <a:ext cx="502142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Ruang</a:t>
            </a:r>
            <a:r>
              <a:rPr lang="en-US" sz="1300" dirty="0">
                <a:solidFill>
                  <a:srgbClr val="E6EDF3"/>
                </a:solidFill>
                <a:latin typeface="Consolas" pitchFamily="34" charset="0"/>
                <a:ea typeface="Consolas" pitchFamily="34" charset="-122"/>
                <a:cs typeface="Consolas" pitchFamily="34" charset="-120"/>
              </a:rPr>
              <a:t>(kode: </a:t>
            </a:r>
            <a:r>
              <a:rPr lang="en-US" sz="1300" dirty="0">
                <a:solidFill>
                  <a:srgbClr val="C3E88D"/>
                </a:solidFill>
                <a:latin typeface="Consolas" pitchFamily="34" charset="0"/>
                <a:ea typeface="Consolas" pitchFamily="34" charset="-122"/>
                <a:cs typeface="Consolas" pitchFamily="34" charset="-120"/>
              </a:rPr>
              <a:t>'AULA'</a:t>
            </a:r>
            <a:r>
              <a:rPr lang="en-US" sz="1300" dirty="0">
                <a:solidFill>
                  <a:srgbClr val="E6EDF3"/>
                </a:solidFill>
                <a:latin typeface="Consolas" pitchFamily="34" charset="0"/>
                <a:ea typeface="Consolas" pitchFamily="34" charset="-122"/>
                <a:cs typeface="Consolas" pitchFamily="34" charset="-120"/>
              </a:rPr>
              <a:t>, kapasitas: </a:t>
            </a:r>
            <a:r>
              <a:rPr lang="en-US" sz="1300" dirty="0">
                <a:solidFill>
                  <a:srgbClr val="F78C6C"/>
                </a:solidFill>
                <a:latin typeface="Consolas" pitchFamily="34" charset="0"/>
                <a:ea typeface="Consolas" pitchFamily="34" charset="-122"/>
                <a:cs typeface="Consolas" pitchFamily="34" charset="-120"/>
              </a:rPr>
              <a:t>200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fasilitas: [</a:t>
            </a:r>
            <a:r>
              <a:rPr lang="en-US" sz="1300" dirty="0">
                <a:solidFill>
                  <a:srgbClr val="FFCB6B"/>
                </a:solidFill>
                <a:latin typeface="Consolas" pitchFamily="34" charset="0"/>
                <a:ea typeface="Consolas" pitchFamily="34" charset="-122"/>
                <a:cs typeface="Consolas" pitchFamily="34" charset="-120"/>
              </a:rPr>
              <a:t>Fasilitas</a:t>
            </a:r>
            <a:r>
              <a:rPr lang="en-US" sz="1300" dirty="0">
                <a:solidFill>
                  <a:srgbClr val="E6EDF3"/>
                </a:solidFill>
                <a:latin typeface="Consolas" pitchFamily="34" charset="0"/>
                <a:ea typeface="Consolas" pitchFamily="34" charset="-122"/>
                <a:cs typeface="Consolas" pitchFamily="34" charset="-120"/>
              </a:rPr>
              <a:t>.proyektor])</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Langkah 1: JSON Menjadi Model API</a:t>
            </a:r>
            <a:endParaRPr lang="en-US" sz="3200" dirty="0"/>
          </a:p>
        </p:txBody>
      </p:sp>
      <p:sp>
        <p:nvSpPr>
          <p:cNvPr id="4" name="kotak kode"/>
          <p:cNvSpPr txBox="1"/>
          <p:nvPr/>
        </p:nvSpPr>
        <p:spPr>
          <a:xfrm>
            <a:off x="548640" y="1371600"/>
            <a:ext cx="6949440" cy="3675888"/>
          </a:xfrm>
          <a:prstGeom prst="roundRect">
            <a:avLst>
              <a:gd name="adj" fmla="val 248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RuangApiModel</a:t>
            </a:r>
            <a:r>
              <a:rPr lang="en-US" sz="1200" dirty="0">
                <a:solidFill>
                  <a:srgbClr val="E6EDF3"/>
                </a:solidFill>
                <a:latin typeface="Consolas" pitchFamily="34" charset="0"/>
                <a:ea typeface="Consolas" pitchFamily="34" charset="-122"/>
                <a:cs typeface="Consolas" pitchFamily="34" charset="-120"/>
              </a:rPr>
              <a:t> { </a:t>
            </a:r>
            <a:r>
              <a:rPr lang="en-US" sz="1200" i="1" dirty="0">
                <a:solidFill>
                  <a:srgbClr val="8FA3BC"/>
                </a:solidFill>
                <a:latin typeface="Consolas" pitchFamily="34" charset="0"/>
                <a:ea typeface="Consolas" pitchFamily="34" charset="-122"/>
                <a:cs typeface="Consolas" pitchFamily="34" charset="-120"/>
              </a:rPr>
              <a:t>// bentuknya MENGIKUTI SERVER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factory</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RuangApiModel</a:t>
            </a:r>
            <a:r>
              <a:rPr lang="en-US" sz="1200" dirty="0">
                <a:solidFill>
                  <a:srgbClr val="E6EDF3"/>
                </a:solidFill>
                <a:latin typeface="Consolas" pitchFamily="34" charset="0"/>
                <a:ea typeface="Consolas" pitchFamily="34" charset="-122"/>
                <a:cs typeface="Consolas" pitchFamily="34" charset="-120"/>
              </a:rPr>
              <a:t>.fromJson(</a:t>
            </a:r>
            <a:r>
              <a:rPr lang="en-US" sz="1200" dirty="0">
                <a:solidFill>
                  <a:srgbClr val="FFCB6B"/>
                </a:solidFill>
                <a:latin typeface="Consolas" pitchFamily="34" charset="0"/>
                <a:ea typeface="Consolas" pitchFamily="34" charset="-122"/>
                <a:cs typeface="Consolas" pitchFamily="34" charset="-120"/>
              </a:rPr>
              <a:t>Object</a:t>
            </a:r>
            <a:r>
              <a:rPr lang="en-US" sz="1200" dirty="0">
                <a:solidFill>
                  <a:srgbClr val="E6EDF3"/>
                </a:solidFill>
                <a:latin typeface="Consolas" pitchFamily="34" charset="0"/>
                <a:ea typeface="Consolas" pitchFamily="34" charset="-122"/>
                <a:cs typeface="Consolas" pitchFamily="34" charset="-120"/>
              </a:rPr>
              <a:t>? json)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(json)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'room_code'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roomCode,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'room_name'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roomName,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'building'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building,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'floor'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floor,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'capacity'</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capacity,</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'facilities'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Object</a:t>
            </a:r>
            <a:r>
              <a:rPr lang="en-US" sz="1200" dirty="0">
                <a:solidFill>
                  <a:srgbClr val="E6EDF3"/>
                </a:solidFill>
                <a:latin typeface="Consolas" pitchFamily="34" charset="0"/>
                <a:ea typeface="Consolas" pitchFamily="34" charset="-122"/>
                <a:cs typeface="Consolas" pitchFamily="34" charset="-120"/>
              </a:rPr>
              <a:t>?&gt; facilities,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'is_active'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isActive,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RuangApiModel</a:t>
            </a:r>
            <a:r>
              <a:rPr lang="en-US" sz="1200" dirty="0">
                <a:solidFill>
                  <a:srgbClr val="E6EDF3"/>
                </a:solidFill>
                <a:latin typeface="Consolas" pitchFamily="34" charset="0"/>
                <a:ea typeface="Consolas" pitchFamily="34" charset="-122"/>
                <a:cs typeface="Consolas" pitchFamily="34" charset="-120"/>
              </a:rPr>
              <a:t>(roomCode: roomCode, </a:t>
            </a:r>
            <a:r>
              <a:rPr lang="en-US" sz="1200" i="1" dirty="0">
                <a:solidFill>
                  <a:srgbClr val="8FA3BC"/>
                </a:solidFill>
                <a:latin typeface="Consolas" pitchFamily="34" charset="0"/>
                <a:ea typeface="Consolas" pitchFamily="34" charset="-122"/>
                <a:cs typeface="Consolas" pitchFamily="34" charset="-120"/>
              </a:rPr>
              <a:t>/* ... */</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 =&gt;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'Data ruang tidak sesuai'</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2_clean_architecture/kode/contoh_04_model_api_dan_pemetaan.dart"/>
          </p:cNvPr>
          <p:cNvSpPr txBox="1"/>
          <p:nvPr/>
        </p:nvSpPr>
        <p:spPr>
          <a:xfrm>
            <a:off x="548640" y="5276088"/>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contoh_04_model_api_dan_pemetaan.dart</a:t>
            </a:r>
            <a:endParaRPr lang="en-US" sz="1300" dirty="0"/>
          </a:p>
        </p:txBody>
      </p:sp>
      <p:pic>
        <p:nvPicPr>
          <p:cNvPr id="6" name="Image 0" descr="ikon tautan">
            <a:hlinkClick r:id="rId3" tooltip="https://github.com/antonprafanto/mobile2026/blob/main/pertemuan_12_clean_architecture/kode/contoh_04_model_api_dan_pemetaan.dart"/>
          </p:cNvPr>
          <p:cNvPicPr>
            <a:picLocks noChangeAspect="1"/>
          </p:cNvPicPr>
          <p:nvPr/>
        </p:nvPicPr>
        <p:blipFill>
          <a:blip r:embed="rId2"/>
          <a:stretch>
            <a:fillRect/>
          </a:stretch>
        </p:blipFill>
        <p:spPr>
          <a:xfrm>
            <a:off x="694944" y="5367528"/>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Model API (DTO) tinggal di lapisan data: lib/data/models/.</a:t>
            </a:r>
            <a:endParaRPr lang="en-US" sz="1700" dirty="0"/>
          </a:p>
          <a:p>
            <a:pPr marL="228600" indent="-228600">
              <a:spcAft>
                <a:spcPts val="800"/>
              </a:spcAft>
              <a:buSzPct val="100000"/>
              <a:buChar char="•"/>
            </a:pPr>
            <a:r>
              <a:rPr lang="en-US" sz="1700" dirty="0">
                <a:solidFill>
                  <a:schemeClr val="tx1"/>
                </a:solidFill>
              </a:rPr>
              <a:t>Cabang pertama dipilih hanya jika SEMUA kunci ada dan tipenya cocok.</a:t>
            </a:r>
            <a:endParaRPr lang="en-US" sz="1700" dirty="0"/>
          </a:p>
          <a:p>
            <a:pPr marL="228600" indent="-228600">
              <a:spcAft>
                <a:spcPts val="800"/>
              </a:spcAft>
              <a:buSzPct val="100000"/>
              <a:buChar char="•"/>
            </a:pPr>
            <a:r>
              <a:rPr lang="en-US" sz="1700" dirty="0">
                <a:solidFill>
                  <a:schemeClr val="tx1"/>
                </a:solidFill>
              </a:rPr>
              <a:t>capacity berisi "empat puluh"? FormatException dilempar di lapisan DATA, bukan di tengah tampilan.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Langkah 2: Model API Menjadi Entitas</a:t>
            </a:r>
            <a:endParaRPr lang="en-US" sz="3200" dirty="0"/>
          </a:p>
        </p:txBody>
      </p:sp>
      <p:sp>
        <p:nvSpPr>
          <p:cNvPr id="4" name="kotak kode"/>
          <p:cNvSpPr txBox="1"/>
          <p:nvPr/>
        </p:nvSpPr>
        <p:spPr>
          <a:xfrm>
            <a:off x="548640" y="1371600"/>
            <a:ext cx="6949440" cy="3867912"/>
          </a:xfrm>
          <a:prstGeom prst="roundRect">
            <a:avLst>
              <a:gd name="adj" fmla="val 2364"/>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Fasilitas</a:t>
            </a:r>
            <a:r>
              <a:rPr lang="en-US" sz="1200" dirty="0">
                <a:solidFill>
                  <a:srgbClr val="E6EDF3"/>
                </a:solidFill>
                <a:latin typeface="Consolas" pitchFamily="34" charset="0"/>
                <a:ea typeface="Consolas" pitchFamily="34" charset="-122"/>
                <a:cs typeface="Consolas" pitchFamily="34" charset="-120"/>
              </a:rPr>
              <a:t>&gt; petaFasilitas =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'projector'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Fasilitas</a:t>
            </a:r>
            <a:r>
              <a:rPr lang="en-US" sz="1200" dirty="0">
                <a:solidFill>
                  <a:srgbClr val="E6EDF3"/>
                </a:solidFill>
                <a:latin typeface="Consolas" pitchFamily="34" charset="0"/>
                <a:ea typeface="Consolas" pitchFamily="34" charset="-122"/>
                <a:cs typeface="Consolas" pitchFamily="34" charset="-120"/>
              </a:rPr>
              <a:t>.proyektor,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'air_conditioner'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Fasilitas</a:t>
            </a:r>
            <a:r>
              <a:rPr lang="en-US" sz="1200" dirty="0">
                <a:solidFill>
                  <a:srgbClr val="E6EDF3"/>
                </a:solidFill>
                <a:latin typeface="Consolas" pitchFamily="34" charset="0"/>
                <a:ea typeface="Consolas" pitchFamily="34" charset="-122"/>
                <a:cs typeface="Consolas" pitchFamily="34" charset="-120"/>
              </a:rPr>
              <a:t>.pendinginRuangan,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'computer'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Fasilitas</a:t>
            </a:r>
            <a:r>
              <a:rPr lang="en-US" sz="1200" dirty="0">
                <a:solidFill>
                  <a:srgbClr val="E6EDF3"/>
                </a:solidFill>
                <a:latin typeface="Consolas" pitchFamily="34" charset="0"/>
                <a:ea typeface="Consolas" pitchFamily="34" charset="-122"/>
                <a:cs typeface="Consolas" pitchFamily="34" charset="-120"/>
              </a:rPr>
              <a:t>.komputer,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Di dalam class RuangApiModel:</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Ruang</a:t>
            </a:r>
            <a:r>
              <a:rPr lang="en-US" sz="1200" dirty="0">
                <a:solidFill>
                  <a:srgbClr val="E6EDF3"/>
                </a:solidFill>
                <a:latin typeface="Consolas" pitchFamily="34" charset="0"/>
                <a:ea typeface="Consolas" pitchFamily="34" charset="-122"/>
                <a:cs typeface="Consolas" pitchFamily="34" charset="-120"/>
              </a:rPr>
              <a:t> keDomain()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Ruang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kode: roomCode,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nama: roomName,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gedung: </a:t>
            </a:r>
            <a:r>
              <a:rPr lang="en-US" sz="1200" dirty="0">
                <a:solidFill>
                  <a:srgbClr val="C3E88D"/>
                </a:solidFill>
                <a:latin typeface="Consolas" pitchFamily="34" charset="0"/>
                <a:ea typeface="Consolas" pitchFamily="34" charset="-122"/>
                <a:cs typeface="Consolas" pitchFamily="34" charset="-120"/>
              </a:rPr>
              <a:t>'Gedung $building'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lantai: floor,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kapasitas: capacity,</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fasilitas: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f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facilities) ?petaFasilitas[f]],</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2_clean_architecture/kode/contoh_04_model_api_dan_pemetaan.dart"/>
          </p:cNvPr>
          <p:cNvSpPr txBox="1"/>
          <p:nvPr/>
        </p:nvSpPr>
        <p:spPr>
          <a:xfrm>
            <a:off x="548640" y="546811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contoh_04_model_api_dan_pemetaan.dart</a:t>
            </a:r>
            <a:endParaRPr lang="en-US" sz="1300" dirty="0"/>
          </a:p>
        </p:txBody>
      </p:sp>
      <p:pic>
        <p:nvPicPr>
          <p:cNvPr id="6" name="Image 0" descr="ikon tautan">
            <a:hlinkClick r:id="rId3" tooltip="https://github.com/antonprafanto/mobile2026/blob/main/pertemuan_12_clean_architecture/kode/contoh_04_model_api_dan_pemetaan.dart"/>
          </p:cNvPr>
          <p:cNvPicPr>
            <a:picLocks noChangeAspect="1"/>
          </p:cNvPicPr>
          <p:nvPr/>
        </p:nvPicPr>
        <p:blipFill>
          <a:blip r:embed="rId2"/>
          <a:stretch>
            <a:fillRect/>
          </a:stretch>
        </p:blipFill>
        <p:spPr>
          <a:xfrm>
            <a:off x="694944" y="555955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keDomain() (sering juga toDomain() atau toEntity()).</a:t>
            </a:r>
            <a:endParaRPr lang="en-US" sz="1700" dirty="0"/>
          </a:p>
          <a:p>
            <a:pPr marL="228600" indent="-228600">
              <a:spcAft>
                <a:spcPts val="800"/>
              </a:spcAft>
              <a:buSzPct val="100000"/>
              <a:buChar char="•"/>
            </a:pPr>
            <a:r>
              <a:rPr lang="en-US" sz="1700" dirty="0">
                <a:solidFill>
                  <a:schemeClr val="tx1"/>
                </a:solidFill>
              </a:rPr>
              <a:t>?petaFasilitas[f]: elemen null-aware (Dart 3.8), masuk daftar hanya jika tidak null → "stage" dilewati.</a:t>
            </a:r>
            <a:endParaRPr lang="en-US" sz="1700" dirty="0"/>
          </a:p>
          <a:p>
            <a:pPr marL="228600" indent="-228600">
              <a:spcAft>
                <a:spcPts val="800"/>
              </a:spcAft>
              <a:buSzPct val="100000"/>
              <a:buChar char="•"/>
            </a:pPr>
            <a:r>
              <a:rPr lang="en-US" sz="1700" dirty="0">
                <a:solidFill>
                  <a:schemeClr val="tx1"/>
                </a:solidFill>
              </a:rPr>
              <a:t>Teks tampilan disusun SEKALI di sini.</a:t>
            </a:r>
            <a:endParaRPr lang="en-US" sz="1700" dirty="0"/>
          </a:p>
          <a:p>
            <a:pPr marL="228600" indent="-228600">
              <a:spcAft>
                <a:spcPts val="800"/>
              </a:spcAft>
              <a:buSzPct val="100000"/>
              <a:buChar char="•"/>
            </a:pPr>
            <a:r>
              <a:rPr lang="en-US" sz="1700" dirty="0">
                <a:solidFill>
                  <a:schemeClr val="tx1"/>
                </a:solidFill>
              </a:rPr>
              <a:t>Ruang tidak aktif disaring: if (m.isActive) m.keDomain().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Saat Server Berganti Versi</a:t>
            </a:r>
            <a:endParaRPr lang="en-US" sz="3200" dirty="0"/>
          </a:p>
        </p:txBody>
      </p:sp>
      <p:sp>
        <p:nvSpPr>
          <p:cNvPr id="4" name="kotak kode"/>
          <p:cNvSpPr txBox="1"/>
          <p:nvPr/>
        </p:nvSpPr>
        <p:spPr>
          <a:xfrm>
            <a:off x="548640" y="1371600"/>
            <a:ext cx="6949440" cy="2491740"/>
          </a:xfrm>
          <a:prstGeom prst="roundRect">
            <a:avLst>
              <a:gd name="adj" fmla="val 367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Server versi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nama dan bentuk kolom berubah total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"code"</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"LAB-1"</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"name"</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"Laboratorium Komputer 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"location"</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"building"</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"floor"</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"seats"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40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"amenities"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"projector"</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"air_conditioner"</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"computer"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"status"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"active"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a:t>
            </a:r>
            <a:r>
              <a:rPr lang="en-US" sz="1300" dirty="0">
                <a:solidFill>
                  <a:srgbClr val="E6EDF3"/>
                </a:solidFill>
                <a:latin typeface="Consolas" pitchFamily="34" charset="0"/>
                <a:ea typeface="Consolas" pitchFamily="34" charset="-122"/>
                <a:cs typeface="Consolas" pitchFamily="34" charset="-120"/>
              </a:rPr>
              <a:t> Server versi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mengganti nama kolom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LAB-</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 Laboratorium Komputer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 Gedung B, lantai </a:t>
            </a:r>
            <a:r>
              <a:rPr lang="en-US" sz="1300" dirty="0">
                <a:solidFill>
                  <a:srgbClr val="F78C6C"/>
                </a:solidFill>
                <a:latin typeface="Consolas" pitchFamily="34" charset="0"/>
                <a:ea typeface="Consolas" pitchFamily="34" charset="-122"/>
                <a:cs typeface="Consolas" pitchFamily="34" charset="-120"/>
              </a:rPr>
              <a:t>2</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40</a:t>
            </a:r>
            <a:r>
              <a:rPr lang="en-US" sz="1300" dirty="0">
                <a:solidFill>
                  <a:srgbClr val="E6EDF3"/>
                </a:solidFill>
                <a:latin typeface="Consolas" pitchFamily="34" charset="0"/>
                <a:ea typeface="Consolas" pitchFamily="34" charset="-122"/>
                <a:cs typeface="Consolas" pitchFamily="34" charset="-120"/>
              </a:rPr>
              <a:t> orang | Proyektor, AC, Komputer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Entitas dari versi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dan versi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sama: true</a:t>
            </a:r>
            <a:endParaRPr lang="en-US" sz="1300" dirty="0"/>
          </a:p>
        </p:txBody>
      </p:sp>
      <p:sp>
        <p:nvSpPr>
          <p:cNvPr id="5" name="tombol tautan">
            <a:hlinkClick r:id="rId1" tooltip="https://github.com/antonprafanto/mobile2026/blob/main/pertemuan_12_clean_architecture/kode/contoh_04_model_api_dan_pemetaan.dart"/>
          </p:cNvPr>
          <p:cNvSpPr txBox="1"/>
          <p:nvPr/>
        </p:nvSpPr>
        <p:spPr>
          <a:xfrm>
            <a:off x="548640" y="4091940"/>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contoh_04_model_api_dan_pemetaan.dart</a:t>
            </a:r>
            <a:endParaRPr lang="en-US" sz="1300" dirty="0"/>
          </a:p>
        </p:txBody>
      </p:sp>
      <p:pic>
        <p:nvPicPr>
          <p:cNvPr id="6" name="Image 0" descr="ikon tautan">
            <a:hlinkClick r:id="rId3" tooltip="https://github.com/antonprafanto/mobile2026/blob/main/pertemuan_12_clean_architecture/kode/contoh_04_model_api_dan_pemetaan.dart"/>
          </p:cNvPr>
          <p:cNvPicPr>
            <a:picLocks noChangeAspect="1"/>
          </p:cNvPicPr>
          <p:nvPr/>
        </p:nvPicPr>
        <p:blipFill>
          <a:blip r:embed="rId2"/>
          <a:stretch>
            <a:fillRect/>
          </a:stretch>
        </p:blipFill>
        <p:spPr>
          <a:xfrm>
            <a:off x="694944" y="4183380"/>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Yang dibuat hanya SATU model API baru (RuangApiModelV2) + keDomain()-nya.</a:t>
            </a:r>
            <a:endParaRPr lang="en-US" sz="1700" dirty="0"/>
          </a:p>
          <a:p>
            <a:pPr marL="228600" indent="-228600">
              <a:spcAft>
                <a:spcPts val="800"/>
              </a:spcAft>
              <a:buSzPct val="100000"/>
              <a:buChar char="•"/>
            </a:pPr>
            <a:r>
              <a:rPr lang="en-US" sz="1700" dirty="0">
                <a:solidFill>
                  <a:schemeClr val="tx1"/>
                </a:solidFill>
              </a:rPr>
              <a:t>Entitas, aturan bisnis, ViewModel, dan semua widget TIDAK berubah.</a:t>
            </a:r>
            <a:endParaRPr lang="en-US" sz="1700" dirty="0"/>
          </a:p>
          <a:p>
            <a:pPr marL="228600" indent="-228600">
              <a:spcAft>
                <a:spcPts val="800"/>
              </a:spcAft>
              <a:buSzPct val="100000"/>
              <a:buChar char="•"/>
            </a:pPr>
            <a:r>
              <a:rPr lang="en-US" sz="1700" dirty="0">
                <a:solidFill>
                  <a:schemeClr val="tx1"/>
                </a:solidFill>
              </a:rPr>
              <a:t>Arah sebaliknya (POST): pengajuanKeJson() juga di lapisan data.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Jadi, fromJson Diletakkan di Mana?</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929774"/>
                <a:gridCol w="5164642"/>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Situasi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Pilihan yang disarankan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Aplikasi kecil, JSON hampir sama dengan kebutuhan tampilan, satu sumber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fromJson di class Model (Pertemuan 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Model ingin bersih dari JSON, bentuk datanya sederhana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Fungsi pengubah di repository (_dariJson, _dariBaris)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Nama kolom berbeda bahasa, kolom teknis, kode yang perlu diterjemahkan, server berganti versi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Model API terpisah + keDomain()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entitas dari dua sumber (server dan SQLite)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entitas; setiap sumber punya pemetaannya sendiri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Ketiganya benar. Panduan Flutter menyebut pemisahan model API sebagai rekomendasi BERSYARAT: berguna untuk aplikasi besar, menambah kode untuk aplikasi kecil.</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Hasil dan Kegagalan: Galat yang Menyeberangi Lapisan</a:t>
            </a:r>
            <a:endParaRPr lang="en-US" sz="4000" dirty="0"/>
          </a:p>
        </p:txBody>
      </p:sp>
      <p:sp>
        <p:nvSpPr>
          <p:cNvPr id="5" name="lingkaran galat"/>
          <p:cNvSpPr/>
          <p:nvPr/>
        </p:nvSpPr>
        <p:spPr>
          <a:xfrm>
            <a:off x="1097280" y="2148840"/>
            <a:ext cx="2011680" cy="2011680"/>
          </a:xfrm>
          <a:prstGeom prst="ellipse">
            <a:avLst/>
          </a:prstGeom>
          <a:solidFill>
            <a:schemeClr val="accent1"/>
          </a:solidFill>
          <a:ln/>
        </p:spPr>
      </p:sp>
      <p:pic>
        <p:nvPicPr>
          <p:cNvPr id="6" name="Image 0" descr="gal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Masalahnya: Exception yang "Bocor"</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awanputus"/>
          <p:cNvSpPr/>
          <p:nvPr/>
        </p:nvSpPr>
        <p:spPr>
          <a:xfrm>
            <a:off x="777240" y="1600200"/>
            <a:ext cx="685800" cy="685800"/>
          </a:xfrm>
          <a:prstGeom prst="ellipse">
            <a:avLst/>
          </a:prstGeom>
          <a:solidFill>
            <a:schemeClr val="accent5"/>
          </a:solidFill>
          <a:ln/>
        </p:spPr>
      </p:sp>
      <p:pic>
        <p:nvPicPr>
          <p:cNvPr id="6" name="Image 0" descr="awanputus">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UI ikut mengenal HTTP</a:t>
            </a:r>
            <a:endParaRPr lang="en-US" sz="1900" dirty="0"/>
          </a:p>
        </p:txBody>
      </p:sp>
      <p:sp>
        <p:nvSpPr>
          <p:cNvPr id="8" name="daftar poin"/>
          <p:cNvSpPr txBox="1"/>
          <p:nvPr/>
        </p:nvSpPr>
        <p:spPr>
          <a:xfrm>
            <a:off x="777240"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ViewModel dan berkas pesan mengimpor package:http hanya untuk mengenali ClientException</a:t>
            </a:r>
            <a:endParaRPr lang="en-US" sz="1800" dirty="0"/>
          </a:p>
          <a:p>
            <a:pPr marL="228600" indent="-228600">
              <a:spcAft>
                <a:spcPts val="800"/>
              </a:spcAft>
              <a:buSzPct val="100000"/>
              <a:buChar char="•"/>
            </a:pPr>
            <a:r>
              <a:rPr lang="en-US" sz="1800" dirty="0">
                <a:solidFill>
                  <a:schemeClr val="tx1"/>
                </a:solidFill>
              </a:rPr>
              <a:t>Repository diganti SQLite → daftar exception berubah → UI ikut diubah</a:t>
            </a:r>
            <a:endParaRPr lang="en-US" sz="1800" dirty="0"/>
          </a:p>
        </p:txBody>
      </p:sp>
      <p:sp>
        <p:nvSpPr>
          <p:cNvPr id="9" name="kolom 2"/>
          <p:cNvSpPr/>
          <p:nvPr/>
        </p:nvSpPr>
        <p:spPr>
          <a:xfrm>
            <a:off x="6255868" y="1371600"/>
            <a:ext cx="5387188" cy="3931920"/>
          </a:xfrm>
          <a:prstGeom prst="roundRect">
            <a:avLst>
              <a:gd name="adj" fmla="val 2791"/>
            </a:avLst>
          </a:prstGeom>
          <a:solidFill>
            <a:schemeClr val="bg2"/>
          </a:solidFill>
          <a:ln/>
        </p:spPr>
      </p:sp>
      <p:sp>
        <p:nvSpPr>
          <p:cNvPr id="10" name="lingkaran peringatan"/>
          <p:cNvSpPr/>
          <p:nvPr/>
        </p:nvSpPr>
        <p:spPr>
          <a:xfrm>
            <a:off x="6484468" y="1600200"/>
            <a:ext cx="685800" cy="685800"/>
          </a:xfrm>
          <a:prstGeom prst="ellipse">
            <a:avLst/>
          </a:prstGeom>
          <a:solidFill>
            <a:schemeClr val="accent5"/>
          </a:solidFill>
          <a:ln/>
        </p:spPr>
      </p:sp>
      <p:pic>
        <p:nvPicPr>
          <p:cNvPr id="11" name="Image 1" descr="peringatan">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Kegagalan tidak terlihat</a:t>
            </a:r>
            <a:endParaRPr lang="en-US" sz="1900" dirty="0"/>
          </a:p>
        </p:txBody>
      </p:sp>
      <p:sp>
        <p:nvSpPr>
          <p:cNvPr id="13" name="daftar poin"/>
          <p:cNvSpPr txBox="1"/>
          <p:nvPr/>
        </p:nvSpPr>
        <p:spPr>
          <a:xfrm>
            <a:off x="6484468"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Future&lt;List&lt;Ruang&gt;&gt; semuaRuang() tidak berkata "saya bisa gagal"</a:t>
            </a:r>
            <a:endParaRPr lang="en-US" sz="1800" dirty="0"/>
          </a:p>
          <a:p>
            <a:pPr marL="228600" indent="-228600">
              <a:spcAft>
                <a:spcPts val="800"/>
              </a:spcAft>
              <a:buSzPct val="100000"/>
              <a:buChar char="•"/>
            </a:pPr>
            <a:r>
              <a:rPr lang="en-US" sz="1800" dirty="0">
                <a:solidFill>
                  <a:schemeClr val="tx1"/>
                </a:solidFill>
              </a:rPr>
              <a:t>Lupa satu try–catch → layar merah</a:t>
            </a:r>
            <a:endParaRPr lang="en-US" sz="1800" dirty="0"/>
          </a:p>
        </p:txBody>
      </p:sp>
      <p:sp>
        <p:nvSpPr>
          <p:cNvPr id="14" name="lingkaran lampu"/>
          <p:cNvSpPr/>
          <p:nvPr/>
        </p:nvSpPr>
        <p:spPr>
          <a:xfrm>
            <a:off x="548640" y="5532120"/>
            <a:ext cx="548640" cy="548640"/>
          </a:xfrm>
          <a:prstGeom prst="ellipse">
            <a:avLst/>
          </a:prstGeom>
          <a:solidFill>
            <a:schemeClr val="accent3"/>
          </a:solidFill>
          <a:ln/>
        </p:spPr>
      </p:sp>
      <p:pic>
        <p:nvPicPr>
          <p:cNvPr id="15"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6" name="Text 10"/>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Jawabannya: repository mengembalikan Hasil&lt;T&gt; berisi nilai ATAU Kegagalan milik aplikasi.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Hasil&lt;T&gt; dan Kegagalan</a:t>
            </a:r>
            <a:endParaRPr lang="en-US" sz="3200" dirty="0"/>
          </a:p>
        </p:txBody>
      </p:sp>
      <p:sp>
        <p:nvSpPr>
          <p:cNvPr id="4" name="kotak kode"/>
          <p:cNvSpPr txBox="1"/>
          <p:nvPr/>
        </p:nvSpPr>
        <p:spPr>
          <a:xfrm>
            <a:off x="548640" y="1371600"/>
            <a:ext cx="6766560" cy="3931920"/>
          </a:xfrm>
          <a:prstGeom prst="roundRect">
            <a:avLst>
              <a:gd name="adj" fmla="val 23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sealed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.nilai);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 nilai;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.kegagalan);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kegagalan;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Bahasa kegagalan milik aplikasi, bebas istilah HTTP.</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sealed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TanpaKoneksi</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 ...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WaktuHabis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 ...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ServerBermasalah</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ServerBermasalah</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.kodeStatus);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kodeStatus;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DataRusak</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 ... }</a:t>
            </a:r>
            <a:endParaRPr lang="en-US" sz="1100" dirty="0"/>
          </a:p>
        </p:txBody>
      </p:sp>
      <p:sp>
        <p:nvSpPr>
          <p:cNvPr id="5" name="tombol tautan">
            <a:hlinkClick r:id="rId1" tooltip="https://github.com/antonprafanto/mobile2026/blob/main/pertemuan_12_clean_architecture/kode/contoh_05_hasil_dan_kegagalan.dart"/>
          </p:cNvPr>
          <p:cNvSpPr txBox="1"/>
          <p:nvPr/>
        </p:nvSpPr>
        <p:spPr>
          <a:xfrm>
            <a:off x="548640" y="5532120"/>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contoh_05_hasil_dan_kegagalan.dart</a:t>
            </a:r>
            <a:endParaRPr lang="en-US" sz="1300" dirty="0"/>
          </a:p>
        </p:txBody>
      </p:sp>
      <p:pic>
        <p:nvPicPr>
          <p:cNvPr id="6" name="Image 0" descr="ikon tautan">
            <a:hlinkClick r:id="rId3" tooltip="https://github.com/antonprafanto/mobile2026/blob/main/pertemuan_12_clean_architecture/kode/contoh_05_hasil_dan_kegagalan.dart"/>
          </p:cNvPr>
          <p:cNvPicPr>
            <a:picLocks noChangeAspect="1"/>
          </p:cNvPicPr>
          <p:nvPr/>
        </p:nvPicPr>
        <p:blipFill>
          <a:blip r:embed="rId2"/>
          <a:stretch>
            <a:fillRect/>
          </a:stretch>
        </p:blipFill>
        <p:spPr>
          <a:xfrm>
            <a:off x="694944" y="5623560"/>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Future&lt;Hasil&lt;List&lt;Ruang&gt;&gt;&gt;: tanda tangan yang JUJUR.</a:t>
            </a:r>
            <a:endParaRPr lang="en-US" sz="1700" dirty="0"/>
          </a:p>
          <a:p>
            <a:pPr marL="228600" indent="-228600">
              <a:spcAft>
                <a:spcPts val="800"/>
              </a:spcAft>
              <a:buSzPct val="100000"/>
              <a:buChar char="•"/>
            </a:pPr>
            <a:r>
              <a:rPr lang="en-US" sz="1700" dirty="0">
                <a:solidFill>
                  <a:schemeClr val="tx1"/>
                </a:solidFill>
              </a:rPr>
              <a:t>Seperti amplop hasil laboratorium: isinya normal atau catatan masalah, dan wajib dibuka.</a:t>
            </a:r>
            <a:endParaRPr lang="en-US" sz="1700" dirty="0"/>
          </a:p>
          <a:p>
            <a:pPr marL="228600" indent="-228600">
              <a:spcAft>
                <a:spcPts val="800"/>
              </a:spcAft>
              <a:buSzPct val="100000"/>
              <a:buChar char="•"/>
            </a:pPr>
            <a:r>
              <a:rPr lang="en-US" sz="1700" dirty="0">
                <a:solidFill>
                  <a:schemeClr val="tx1"/>
                </a:solidFill>
              </a:rPr>
              <a:t>sealed → switch wajib menangani semua kemungkinan.</a:t>
            </a:r>
            <a:endParaRPr lang="en-US" sz="1700" dirty="0"/>
          </a:p>
          <a:p>
            <a:pPr marL="228600" indent="-228600">
              <a:spcAft>
                <a:spcPts val="800"/>
              </a:spcAft>
              <a:buSzPct val="100000"/>
              <a:buChar char="•"/>
            </a:pPr>
            <a:r>
              <a:rPr lang="en-US" sz="1700" dirty="0">
                <a:solidFill>
                  <a:schemeClr val="tx1"/>
                </a:solidFill>
              </a:rPr>
              <a:t>Studi kasus menambah AturanDilanggar(alasan).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Dari Exception Menjadi Kalimat</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56170"/>
                <a:gridCol w="3156170"/>
                <a:gridCol w="4782076"/>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Exception teknis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Kegagalan (domain)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Kalimat untuk pengguna (UI)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http.ClientException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TanpaKoneksi()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dapat terhubung. Periksa koneksi internet Anda.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TimeoutException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WaktuHabis()</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Server terlalu lama menjawab. Coba lagi sebentar lagi.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ApiException(500)</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ServerBermasalah(500)</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Server sedang bermasalah (kode 500). Coba lagi nanti.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FormatException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DataRusak()</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dari server tidak bisa dibaca.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(aturan bisnis)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AturanDilanggar(alasan)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Isi alasan, misalnya "Bentrok dengan ..."</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Repository: Satu-satunya Penerjemah</a:t>
            </a:r>
            <a:endParaRPr lang="en-US" sz="3200" dirty="0"/>
          </a:p>
        </p:txBody>
      </p:sp>
      <p:sp>
        <p:nvSpPr>
          <p:cNvPr id="4" name="kotak kode"/>
          <p:cNvSpPr txBox="1"/>
          <p:nvPr/>
        </p:nvSpPr>
        <p:spPr>
          <a:xfrm>
            <a:off x="548640" y="1371600"/>
            <a:ext cx="676656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&gt;&gt;&gt; semuaRuang()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try</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 json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_layanan.ambilDataRuang();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 daftar =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(json)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'rooms'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?&gt; rooms} =&gt;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for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 baris </a:t>
            </a:r>
            <a:r>
              <a:rPr lang="en-US" sz="1100" dirty="0">
                <a:solidFill>
                  <a:srgbClr val="C792EA"/>
                </a:solidFill>
                <a:latin typeface="Consolas" pitchFamily="34" charset="0"/>
                <a:ea typeface="Consolas" pitchFamily="34" charset="-122"/>
                <a:cs typeface="Consolas" pitchFamily="34" charset="-120"/>
              </a:rPr>
              <a:t>in</a:t>
            </a:r>
            <a:r>
              <a:rPr lang="en-US" sz="1100" dirty="0">
                <a:solidFill>
                  <a:srgbClr val="E6EDF3"/>
                </a:solidFill>
                <a:latin typeface="Consolas" pitchFamily="34" charset="0"/>
                <a:ea typeface="Consolas" pitchFamily="34" charset="-122"/>
                <a:cs typeface="Consolas" pitchFamily="34" charset="-120"/>
              </a:rPr>
              <a:t> rooms) _bacaRuang(baris),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 =&gt; </a:t>
            </a:r>
            <a:r>
              <a:rPr lang="en-US" sz="1100" dirty="0">
                <a:solidFill>
                  <a:srgbClr val="C792EA"/>
                </a:solidFill>
                <a:latin typeface="Consolas" pitchFamily="34" charset="0"/>
                <a:ea typeface="Consolas" pitchFamily="34" charset="-122"/>
                <a:cs typeface="Consolas" pitchFamily="34" charset="-120"/>
              </a:rPr>
              <a:t>throw</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FormatException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'Kolom rooms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(daftar);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TimeoutException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WaktuHabis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FFCB6B"/>
                </a:solidFill>
                <a:latin typeface="Consolas" pitchFamily="34" charset="0"/>
                <a:ea typeface="Consolas" pitchFamily="34" charset="-122"/>
                <a:cs typeface="Consolas" pitchFamily="34" charset="-120"/>
              </a:rPr>
              <a:t>ClientException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TanpaKoneksi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ApiException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catch</a:t>
            </a:r>
            <a:r>
              <a:rPr lang="en-US" sz="1100" dirty="0">
                <a:solidFill>
                  <a:srgbClr val="E6EDF3"/>
                </a:solidFill>
                <a:latin typeface="Consolas" pitchFamily="34" charset="0"/>
                <a:ea typeface="Consolas" pitchFamily="34" charset="-122"/>
                <a:cs typeface="Consolas" pitchFamily="34" charset="-120"/>
              </a:rPr>
              <a:t> (galat)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ServerBermasalah</a:t>
            </a:r>
            <a:r>
              <a:rPr lang="en-US" sz="1100" dirty="0">
                <a:solidFill>
                  <a:srgbClr val="E6EDF3"/>
                </a:solidFill>
                <a:latin typeface="Consolas" pitchFamily="34" charset="0"/>
                <a:ea typeface="Consolas" pitchFamily="34" charset="-122"/>
                <a:cs typeface="Consolas" pitchFamily="34" charset="-120"/>
              </a:rPr>
              <a:t>(galat.kodeStatus));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on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FormatException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DataRusak</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8_studi_kasus_pinjam_ruang.dart"/>
          </p:cNvPr>
          <p:cNvSpPr txBox="1"/>
          <p:nvPr/>
        </p:nvSpPr>
        <p:spPr>
          <a:xfrm>
            <a:off x="548640" y="570814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contoh_08_studi_kasus_pinjam_ruang.dart</a:t>
            </a:r>
            <a:endParaRPr lang="en-US" sz="1300" dirty="0"/>
          </a:p>
        </p:txBody>
      </p:sp>
      <p:pic>
        <p:nvPicPr>
          <p:cNvPr id="6" name="Image 0" descr="ikon tautan">
            <a:hlinkClick r:id="rId3" tooltip="https://github.com/antonprafanto/mobile2026/blob/main/pertemuan_12_clean_architecture/kode/contoh_08_studi_kasus_pinjam_ruang.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Layanan boleh melempar exception; tidak ada yang lolos ke luar repository.</a:t>
            </a:r>
            <a:endParaRPr lang="en-US" sz="1700" dirty="0"/>
          </a:p>
          <a:p>
            <a:pPr marL="228600" indent="-228600">
              <a:spcAft>
                <a:spcPts val="800"/>
              </a:spcAft>
              <a:buSzPct val="100000"/>
              <a:buChar char="•"/>
            </a:pPr>
            <a:r>
              <a:rPr lang="en-US" sz="1700" dirty="0">
                <a:solidFill>
                  <a:schemeClr val="tx1"/>
                </a:solidFill>
              </a:rPr>
              <a:t>on X: hanya jenis itu. Urutan on menentukan cabang yang dicoba lebih dulu.</a:t>
            </a:r>
            <a:endParaRPr lang="en-US" sz="1700" dirty="0"/>
          </a:p>
          <a:p>
            <a:pPr marL="228600" indent="-228600">
              <a:spcAft>
                <a:spcPts val="800"/>
              </a:spcAft>
              <a:buSzPct val="100000"/>
              <a:buChar char="•"/>
            </a:pPr>
            <a:r>
              <a:rPr lang="en-US" sz="1700" dirty="0">
                <a:solidFill>
                  <a:schemeClr val="tx1"/>
                </a:solidFill>
              </a:rPr>
              <a:t>Tidak ada catch (e) umum, DISENGAJA: exception lain = bug di kode kita, dan bug harus terlihat.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ViewModel dan View Membaca Hasil</a:t>
            </a:r>
            <a:endParaRPr lang="en-US" sz="3200" dirty="0"/>
          </a:p>
        </p:txBody>
      </p:sp>
      <p:sp>
        <p:nvSpPr>
          <p:cNvPr id="4" name="kotak kode"/>
          <p:cNvSpPr txBox="1"/>
          <p:nvPr/>
        </p:nvSpPr>
        <p:spPr>
          <a:xfrm>
            <a:off x="548640" y="1371600"/>
            <a:ext cx="694944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ViewModel: tanpa try-catch, tanpa import http</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&gt;&gt; hasil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_repositori.semuaRuang();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UI: SATU tempat untuk kalimat. switch wajib lengkap.</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pesanKegagalan(</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kegagalan)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(kegagalan)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TanpaKoneksi</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'Tidak dapat terhubung.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WaktuHabis</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'Server terlalu lama menjawab.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ServerBermasalah</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kodeStatus)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'Server sedang bermasalah (kode $kodeStatus).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DataRusak</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'Data dari server tidak bisa dibaca.'</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View: membuka Hasil dengan pola objek</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(hasil)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 nilai) =&gt; [ </a:t>
            </a:r>
            <a:r>
              <a:rPr lang="en-US" sz="1100" i="1" dirty="0">
                <a:solidFill>
                  <a:srgbClr val="8FA3BC"/>
                </a:solidFill>
                <a:latin typeface="Consolas" pitchFamily="34" charset="0"/>
                <a:ea typeface="Consolas" pitchFamily="34" charset="-122"/>
                <a:cs typeface="Consolas" pitchFamily="34" charset="-120"/>
              </a:rPr>
              <a:t>/* daftar */</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kegagalan) =&gt;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Text</a:t>
            </a:r>
            <a:r>
              <a:rPr lang="en-US" sz="1100" dirty="0">
                <a:solidFill>
                  <a:srgbClr val="E6EDF3"/>
                </a:solidFill>
                <a:latin typeface="Consolas" pitchFamily="34" charset="0"/>
                <a:ea typeface="Consolas" pitchFamily="34" charset="-122"/>
                <a:cs typeface="Consolas" pitchFamily="34" charset="-120"/>
              </a:rPr>
              <a:t>(pesanKegagalan(kegagalan)), </a:t>
            </a:r>
            <a:r>
              <a:rPr lang="en-US" sz="1100" i="1" dirty="0">
                <a:solidFill>
                  <a:srgbClr val="8FA3BC"/>
                </a:solidFill>
                <a:latin typeface="Consolas" pitchFamily="34" charset="0"/>
                <a:ea typeface="Consolas" pitchFamily="34" charset="-122"/>
                <a:cs typeface="Consolas" pitchFamily="34" charset="-120"/>
              </a:rPr>
              <a:t>/* tombol Coba lagi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5_hasil_dan_kegagalan.dart"/>
          </p:cNvPr>
          <p:cNvSpPr txBox="1"/>
          <p:nvPr/>
        </p:nvSpPr>
        <p:spPr>
          <a:xfrm>
            <a:off x="548640" y="570814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contoh_05_hasil_dan_kegagalan.dart</a:t>
            </a:r>
            <a:endParaRPr lang="en-US" sz="1300" dirty="0"/>
          </a:p>
        </p:txBody>
      </p:sp>
      <p:pic>
        <p:nvPicPr>
          <p:cNvPr id="6" name="Image 0" descr="ikon tautan">
            <a:hlinkClick r:id="rId3" tooltip="https://github.com/antonprafanto/mobile2026/blob/main/pertemuan_12_clean_architecture/kode/contoh_05_hasil_dan_kegagalan.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Kalimat = urusan tampilan: versi bahasa Inggris cukup mengubah UI.</a:t>
            </a:r>
            <a:endParaRPr lang="en-US" sz="1700" dirty="0"/>
          </a:p>
          <a:p>
            <a:pPr marL="228600" indent="-228600">
              <a:spcAft>
                <a:spcPts val="800"/>
              </a:spcAft>
              <a:buSzPct val="100000"/>
              <a:buChar char="•"/>
            </a:pPr>
            <a:r>
              <a:rPr lang="en-US" sz="1700" dirty="0">
                <a:solidFill>
                  <a:schemeClr val="tx1"/>
                </a:solidFill>
              </a:rPr>
              <a:t>Kegagalan baru (misalnya TidakBerwenang)? Analyzer langsung menandai switch yang tidak lengkap.</a:t>
            </a:r>
            <a:endParaRPr lang="en-US" sz="1700" dirty="0"/>
          </a:p>
          <a:p>
            <a:pPr marL="228600" indent="-228600">
              <a:spcAft>
                <a:spcPts val="800"/>
              </a:spcAft>
              <a:buSzPct val="100000"/>
              <a:buChar char="•"/>
            </a:pPr>
            <a:r>
              <a:rPr lang="en-US" sz="1700" dirty="0">
                <a:solidFill>
                  <a:schemeClr val="tx1"/>
                </a:solidFill>
              </a:rPr>
              <a:t>:final nilai → nama variabel sama dengan nama field.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05: Lima Skenario Server Palsu</a:t>
            </a:r>
            <a:endParaRPr lang="en-US" sz="3200" dirty="0"/>
          </a:p>
        </p:txBody>
      </p:sp>
      <p:sp>
        <p:nvSpPr>
          <p:cNvPr id="4" name="bingkai layar 1"/>
          <p:cNvSpPr/>
          <p:nvPr/>
        </p:nvSpPr>
        <p:spPr>
          <a:xfrm>
            <a:off x="4181551" y="1316736"/>
            <a:ext cx="2395728" cy="3663874"/>
          </a:xfrm>
          <a:prstGeom prst="roundRect">
            <a:avLst>
              <a:gd name="adj" fmla="val 3817"/>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4236415" y="1371600"/>
            <a:ext cx="2286000" cy="3554146"/>
          </a:xfrm>
          <a:prstGeom prst="rect">
            <a:avLst/>
          </a:prstGeom>
        </p:spPr>
      </p:pic>
      <p:sp>
        <p:nvSpPr>
          <p:cNvPr id="6" name="bingkai layar 2"/>
          <p:cNvSpPr/>
          <p:nvPr/>
        </p:nvSpPr>
        <p:spPr>
          <a:xfrm>
            <a:off x="6741871" y="1316736"/>
            <a:ext cx="2395728" cy="3663874"/>
          </a:xfrm>
          <a:prstGeom prst="roundRect">
            <a:avLst>
              <a:gd name="adj" fmla="val 3817"/>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6796735" y="1371600"/>
            <a:ext cx="2286000" cy="3554146"/>
          </a:xfrm>
          <a:prstGeom prst="rect">
            <a:avLst/>
          </a:prstGeom>
        </p:spPr>
      </p:pic>
      <p:sp>
        <p:nvSpPr>
          <p:cNvPr id="8" name="bingkai layar 3"/>
          <p:cNvSpPr/>
          <p:nvPr/>
        </p:nvSpPr>
        <p:spPr>
          <a:xfrm>
            <a:off x="9302191" y="1316736"/>
            <a:ext cx="2395728" cy="3663874"/>
          </a:xfrm>
          <a:prstGeom prst="roundRect">
            <a:avLst>
              <a:gd name="adj" fmla="val 3817"/>
            </a:avLst>
          </a:prstGeom>
          <a:solidFill>
            <a:srgbClr val="FFFFFF"/>
          </a:solidFill>
          <a:ln w="12700">
            <a:solidFill>
              <a:srgbClr val="C9D3E0"/>
            </a:solidFill>
            <a:prstDash val="solid"/>
          </a:ln>
        </p:spPr>
      </p:sp>
      <p:pic>
        <p:nvPicPr>
          <p:cNvPr id="9" name="layar 3" descr="Tangkapan layar aplikasi (hasil_contoh_05c.jpg)">    </p:cNvPr>
          <p:cNvPicPr>
            <a:picLocks noChangeAspect="1"/>
          </p:cNvPicPr>
          <p:nvPr/>
        </p:nvPicPr>
        <p:blipFill>
          <a:blip r:embed="rId3"/>
          <a:stretch>
            <a:fillRect/>
          </a:stretch>
        </p:blipFill>
        <p:spPr>
          <a:xfrm>
            <a:off x="9357055" y="1371600"/>
            <a:ext cx="2286000" cy="3554146"/>
          </a:xfrm>
          <a:prstGeom prst="rect">
            <a:avLst/>
          </a:prstGeom>
        </p:spPr>
      </p:pic>
      <p:sp>
        <p:nvSpPr>
          <p:cNvPr id="10" name="tombol tautan">
            <a:hlinkClick r:id="rId4" tooltip="https://github.com/antonprafanto/mobile2026/blob/main/pertemuan_12_clean_architecture/kode/contoh_05_hasil_dan_kegagalan.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200" b="1" dirty="0">
                <a:solidFill>
                  <a:schemeClr val="bg1"/>
                </a:solidFill>
              </a:rPr>
              <a:t>Kode di GitHub  ·  contoh_05_hasil_dan_kegagalan.dart</a:t>
            </a:r>
            <a:endParaRPr lang="en-US" sz="1200" dirty="0"/>
          </a:p>
        </p:txBody>
      </p:sp>
      <p:pic>
        <p:nvPicPr>
          <p:cNvPr id="11" name="Image 3" descr="ikon tautan">
            <a:hlinkClick r:id="rId6" tooltip="https://github.com/antonprafanto/mobile2026/blob/main/pertemuan_12_clean_architecture/kode/contoh_05_hasil_dan_kegagalan.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Normal → Berhasil(3 ruang)</a:t>
            </a:r>
            <a:endParaRPr lang="en-US" sz="1400" dirty="0"/>
          </a:p>
          <a:p>
            <a:pPr marL="228600" indent="-228600">
              <a:spcAft>
                <a:spcPts val="800"/>
              </a:spcAft>
              <a:buSzPct val="100000"/>
              <a:buChar char="•"/>
            </a:pPr>
            <a:r>
              <a:rPr lang="en-US" sz="1400" dirty="0">
                <a:solidFill>
                  <a:schemeClr val="tx1"/>
                </a:solidFill>
              </a:rPr>
              <a:t>Lambat 5 detik (batas 3) → Gagal(WaktuHabis())</a:t>
            </a:r>
            <a:endParaRPr lang="en-US" sz="1400" dirty="0"/>
          </a:p>
          <a:p>
            <a:pPr marL="228600" indent="-228600">
              <a:spcAft>
                <a:spcPts val="800"/>
              </a:spcAft>
              <a:buSzPct val="100000"/>
              <a:buChar char="•"/>
            </a:pPr>
            <a:r>
              <a:rPr lang="en-US" sz="1400" dirty="0">
                <a:solidFill>
                  <a:schemeClr val="tx1"/>
                </a:solidFill>
              </a:rPr>
              <a:t>Server error → Gagal(ServerBermasalah(500))</a:t>
            </a:r>
            <a:endParaRPr lang="en-US" sz="1400" dirty="0"/>
          </a:p>
          <a:p>
            <a:pPr marL="228600" indent="-228600">
              <a:spcAft>
                <a:spcPts val="800"/>
              </a:spcAft>
              <a:buSzPct val="100000"/>
              <a:buChar char="•"/>
            </a:pPr>
            <a:r>
              <a:rPr lang="en-US" sz="1400" dirty="0">
                <a:solidFill>
                  <a:schemeClr val="tx1"/>
                </a:solidFill>
              </a:rPr>
              <a:t>Bukan JSON → Gagal(DataRusak())</a:t>
            </a:r>
            <a:endParaRPr lang="en-US" sz="1400" dirty="0"/>
          </a:p>
          <a:p>
            <a:pPr marL="228600" indent="-228600">
              <a:spcAft>
                <a:spcPts val="800"/>
              </a:spcAft>
              <a:buSzPct val="100000"/>
              <a:buChar char="•"/>
            </a:pPr>
            <a:r>
              <a:rPr lang="en-US" sz="1400" dirty="0">
                <a:solidFill>
                  <a:schemeClr val="tx1"/>
                </a:solidFill>
              </a:rPr>
              <a:t>Tanpa koneksi → Gagal(TanpaKoneksi())</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Use Case: Satu Tindakan, Lengkap dengan Aturannya</a:t>
            </a:r>
            <a:endParaRPr lang="en-US" sz="4000" dirty="0"/>
          </a:p>
        </p:txBody>
      </p:sp>
      <p:sp>
        <p:nvSpPr>
          <p:cNvPr id="5" name="lingkaran tugas"/>
          <p:cNvSpPr/>
          <p:nvPr/>
        </p:nvSpPr>
        <p:spPr>
          <a:xfrm>
            <a:off x="1097280" y="2148840"/>
            <a:ext cx="2011680" cy="2011680"/>
          </a:xfrm>
          <a:prstGeom prst="ellipse">
            <a:avLst/>
          </a:prstGeom>
          <a:solidFill>
            <a:schemeClr val="accent1"/>
          </a:solidFill>
          <a:ln/>
        </p:spPr>
      </p:sp>
      <p:pic>
        <p:nvPicPr>
          <p:cNvPr id="6" name="Image 0" descr="tuga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Kapan Butuh Use Case?</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Use case: class kecil di domain yang mewakili SATU tindakan pengguna, lengkap dengan aturannya.</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547208"/>
                <a:gridCol w="5547208"/>
              </a:tblGrid>
              <a:tr h="7315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Keadaan (panduan resmi Flutter)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 "Pinjam Ruang Kampus"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Menggabungkan data dari BEBERAPA repository</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Ruang (kapasitas) + peminjaman (jadwal dan kuota)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Logikanya sangat RUMIT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 Lima langkah pemeriksaan berurutan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DIPAKAI ULANG oleh beberapa ViewModel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Kelak tombol "ajukan cepat" di halaman lain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Tidak satu pun terpenuhi (ViewModel hanya meneruskan repositori.semuaRuang())? Use case tidak diperlukan.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AjukanPeminjaman Langkah demi Langkah</a:t>
            </a:r>
            <a:endParaRPr lang="en-US" sz="3200" dirty="0"/>
          </a:p>
        </p:txBody>
      </p:sp>
      <p:sp>
        <p:nvSpPr>
          <p:cNvPr id="4" name="kotak kode"/>
          <p:cNvSpPr txBox="1"/>
          <p:nvPr/>
        </p:nvSpPr>
        <p:spPr>
          <a:xfrm>
            <a:off x="548640" y="1371600"/>
            <a:ext cx="7132320" cy="3755898"/>
          </a:xfrm>
          <a:prstGeom prst="roundRect">
            <a:avLst>
              <a:gd name="adj" fmla="val 2435"/>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AjukanPeminjaman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AjukanPeminjaman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._ruang, </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._peminjaman,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Function</a:t>
            </a:r>
            <a:r>
              <a:rPr lang="en-US" sz="1100" dirty="0">
                <a:solidFill>
                  <a:srgbClr val="E6EDF3"/>
                </a:solidFill>
                <a:latin typeface="Consolas" pitchFamily="34" charset="0"/>
                <a:ea typeface="Consolas" pitchFamily="34" charset="-122"/>
                <a:cs typeface="Consolas" pitchFamily="34" charset="-120"/>
              </a:rPr>
              <a:t>()? sekarang})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_sekarang = sekarang ??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.now;</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Peminjaman</a:t>
            </a:r>
            <a:r>
              <a:rPr lang="en-US" sz="1100" dirty="0">
                <a:solidFill>
                  <a:srgbClr val="E6EDF3"/>
                </a:solidFill>
                <a:latin typeface="Consolas" pitchFamily="34" charset="0"/>
                <a:ea typeface="Consolas" pitchFamily="34" charset="-122"/>
                <a:cs typeface="Consolas" pitchFamily="34" charset="-120"/>
              </a:rPr>
              <a:t>&gt;&gt; jalankan(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PengajuanPeminjaman</a:t>
            </a:r>
            <a:r>
              <a:rPr lang="en-US" sz="1100" dirty="0">
                <a:solidFill>
                  <a:srgbClr val="E6EDF3"/>
                </a:solidFill>
                <a:latin typeface="Consolas" pitchFamily="34" charset="0"/>
                <a:ea typeface="Consolas" pitchFamily="34" charset="-122"/>
                <a:cs typeface="Consolas" pitchFamily="34" charset="-120"/>
              </a:rPr>
              <a:t> pengajuan, </a:t>
            </a:r>
            <a:r>
              <a:rPr lang="en-US" sz="1100" dirty="0">
                <a:solidFill>
                  <a:srgbClr val="FFCB6B"/>
                </a:solidFill>
                <a:latin typeface="Consolas" pitchFamily="34" charset="0"/>
                <a:ea typeface="Consolas" pitchFamily="34" charset="-122"/>
                <a:cs typeface="Consolas" pitchFamily="34" charset="-120"/>
              </a:rPr>
              <a:t>Pengguna</a:t>
            </a:r>
            <a:r>
              <a:rPr lang="en-US" sz="1100" dirty="0">
                <a:solidFill>
                  <a:srgbClr val="E6EDF3"/>
                </a:solidFill>
                <a:latin typeface="Consolas" pitchFamily="34" charset="0"/>
                <a:ea typeface="Consolas" pitchFamily="34" charset="-122"/>
                <a:cs typeface="Consolas" pitchFamily="34" charset="-120"/>
              </a:rPr>
              <a:t> peminjam)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1. Data ruang (kapasitas)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&gt;&gt; hasilRuang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_ruang.semuaRuang();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Gagal? teruskan. Ruang tidak ada? AturanDilanggar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2. Aturan yang cukup dilihat dari pengajuannya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masalah = periksaPengajuan(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pengajuan, ruang: ruang, sekarang: _sekarang());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(masalah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AturanDilanggar</a:t>
            </a:r>
            <a:r>
              <a:rPr lang="en-US" sz="1100" dirty="0">
                <a:solidFill>
                  <a:srgbClr val="E6EDF3"/>
                </a:solidFill>
                <a:latin typeface="Consolas" pitchFamily="34" charset="0"/>
                <a:ea typeface="Consolas" pitchFamily="34" charset="-122"/>
                <a:cs typeface="Consolas" pitchFamily="34" charset="-120"/>
              </a:rPr>
              <a:t>(masalah));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3. Tidak bentrok   4. Paling banyak 2 aktif</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5. Semua aturan terpenuhi: SIMPAN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_peminjaman.simpan(pengajuan, peminjam);</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6_use_case_dan_data_palsu.dart"/>
          </p:cNvPr>
          <p:cNvSpPr txBox="1"/>
          <p:nvPr/>
        </p:nvSpPr>
        <p:spPr>
          <a:xfrm>
            <a:off x="548640" y="5356098"/>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contoh_06_use_case_dan_data_palsu.dart</a:t>
            </a:r>
            <a:endParaRPr lang="en-US" sz="1300" dirty="0"/>
          </a:p>
        </p:txBody>
      </p:sp>
      <p:pic>
        <p:nvPicPr>
          <p:cNvPr id="6" name="Image 0" descr="ikon tautan">
            <a:hlinkClick r:id="rId3" tooltip="https://github.com/antonprafanto/mobile2026/blob/main/pertemuan_12_clean_architecture/kode/contoh_06_use_case_dan_data_palsu.dart"/>
          </p:cNvPr>
          <p:cNvPicPr>
            <a:picLocks noChangeAspect="1"/>
          </p:cNvPicPr>
          <p:nvPr/>
        </p:nvPicPr>
        <p:blipFill>
          <a:blip r:embed="rId2"/>
          <a:stretch>
            <a:fillRect/>
          </a:stretch>
        </p:blipFill>
        <p:spPr>
          <a:xfrm>
            <a:off x="694944" y="5447538"/>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Yang disuntikkan: FUNGSI jam. DateTime.now tanpa kurung = fungsinya.</a:t>
            </a:r>
            <a:endParaRPr lang="en-US" sz="1700" dirty="0"/>
          </a:p>
          <a:p>
            <a:pPr marL="228600" indent="-228600">
              <a:spcAft>
                <a:spcPts val="800"/>
              </a:spcAft>
              <a:buSzPct val="100000"/>
              <a:buChar char="•"/>
            </a:pPr>
            <a:r>
              <a:rPr lang="en-US" sz="1700" dirty="0">
                <a:solidFill>
                  <a:schemeClr val="tx1"/>
                </a:solidFill>
              </a:rPr>
              <a:t>Pemeriksaan murah didahulukan.</a:t>
            </a:r>
            <a:endParaRPr lang="en-US" sz="1700" dirty="0"/>
          </a:p>
          <a:p>
            <a:pPr marL="228600" indent="-228600">
              <a:spcAft>
                <a:spcPts val="800"/>
              </a:spcAft>
              <a:buSzPct val="100000"/>
              <a:buChar char="•"/>
            </a:pPr>
            <a:r>
              <a:rPr lang="en-US" sz="1700" dirty="0">
                <a:solidFill>
                  <a:schemeClr val="tx1"/>
                </a:solidFill>
              </a:rPr>
              <a:t>simpan hanya dipanggil jika SEMUA aturan lolos.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Mengapa Tidak Ditulis di ViewModel?</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peringatan"/>
          <p:cNvSpPr/>
          <p:nvPr/>
        </p:nvSpPr>
        <p:spPr>
          <a:xfrm>
            <a:off x="777240" y="1600200"/>
            <a:ext cx="685800" cy="685800"/>
          </a:xfrm>
          <a:prstGeom prst="ellipse">
            <a:avLst/>
          </a:prstGeom>
          <a:solidFill>
            <a:schemeClr val="accent5"/>
          </a:solidFill>
          <a:ln/>
        </p:spPr>
      </p:sp>
      <p:pic>
        <p:nvPicPr>
          <p:cNvPr id="6" name="Image 0" descr="peringatan">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Di ViewModel</a:t>
            </a:r>
            <a:endParaRPr lang="en-US" sz="1900" dirty="0"/>
          </a:p>
        </p:txBody>
      </p:sp>
      <p:sp>
        <p:nvSpPr>
          <p:cNvPr id="8" name="daftar poin"/>
          <p:cNvSpPr txBox="1"/>
          <p:nvPr/>
        </p:nvSpPr>
        <p:spPr>
          <a:xfrm>
            <a:off x="777240"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ViewModel butuh dua repository + jam, dan ikut memuat semua aturan</a:t>
            </a:r>
            <a:endParaRPr lang="en-US" sz="1800" dirty="0"/>
          </a:p>
          <a:p>
            <a:pPr marL="228600" indent="-228600">
              <a:spcAft>
                <a:spcPts val="800"/>
              </a:spcAft>
              <a:buSzPct val="100000"/>
              <a:buChar char="•"/>
            </a:pPr>
            <a:r>
              <a:rPr lang="en-US" sz="1800" dirty="0">
                <a:solidFill>
                  <a:schemeClr val="tx1"/>
                </a:solidFill>
              </a:rPr>
              <a:t>Halaman lain harus menyalin kodenya</a:t>
            </a:r>
            <a:endParaRPr lang="en-US" sz="1800" dirty="0"/>
          </a:p>
          <a:p>
            <a:pPr marL="228600" indent="-228600">
              <a:spcAft>
                <a:spcPts val="800"/>
              </a:spcAft>
              <a:buSzPct val="100000"/>
              <a:buChar char="•"/>
            </a:pPr>
            <a:r>
              <a:rPr lang="en-US" sz="1800" dirty="0">
                <a:solidFill>
                  <a:schemeClr val="tx1"/>
                </a:solidFill>
              </a:rPr>
              <a:t>Menguji aturan = membuat ViewModel (yang memakai Flutter)</a:t>
            </a:r>
            <a:endParaRPr lang="en-US" sz="1800" dirty="0"/>
          </a:p>
        </p:txBody>
      </p:sp>
      <p:sp>
        <p:nvSpPr>
          <p:cNvPr id="9"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0" name="lingkaran centang"/>
          <p:cNvSpPr/>
          <p:nvPr/>
        </p:nvSpPr>
        <p:spPr>
          <a:xfrm>
            <a:off x="6484468" y="1600200"/>
            <a:ext cx="685800" cy="685800"/>
          </a:xfrm>
          <a:prstGeom prst="ellipse">
            <a:avLst/>
          </a:prstGeom>
          <a:solidFill>
            <a:schemeClr val="accent4"/>
          </a:solidFill>
          <a:ln/>
        </p:spPr>
      </p:sp>
      <p:pic>
        <p:nvPicPr>
          <p:cNvPr id="11"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Sebagai use case</a:t>
            </a:r>
            <a:endParaRPr lang="en-US" sz="1900" dirty="0"/>
          </a:p>
        </p:txBody>
      </p:sp>
      <p:sp>
        <p:nvSpPr>
          <p:cNvPr id="13" name="daftar poin"/>
          <p:cNvSpPr txBox="1"/>
          <p:nvPr/>
        </p:nvSpPr>
        <p:spPr>
          <a:xfrm>
            <a:off x="6484468" y="2560320"/>
            <a:ext cx="4929988" cy="2606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ViewModel cukup memanggil ajukanPeminjaman.jalankan(...)</a:t>
            </a:r>
            <a:endParaRPr lang="en-US" sz="1800" dirty="0"/>
          </a:p>
          <a:p>
            <a:pPr marL="228600" indent="-228600">
              <a:spcAft>
                <a:spcPts val="800"/>
              </a:spcAft>
              <a:buSzPct val="100000"/>
              <a:buChar char="•"/>
            </a:pPr>
            <a:r>
              <a:rPr lang="en-US" sz="1800" dirty="0">
                <a:solidFill>
                  <a:schemeClr val="tx1"/>
                </a:solidFill>
              </a:rPr>
              <a:t>Halaman lain cukup memakai use case yang sama</a:t>
            </a:r>
            <a:endParaRPr lang="en-US" sz="1800" dirty="0"/>
          </a:p>
          <a:p>
            <a:pPr marL="228600" indent="-228600">
              <a:spcAft>
                <a:spcPts val="800"/>
              </a:spcAft>
              <a:buSzPct val="100000"/>
              <a:buChar char="•"/>
            </a:pPr>
            <a:r>
              <a:rPr lang="en-US" sz="1800" dirty="0">
                <a:solidFill>
                  <a:schemeClr val="tx1"/>
                </a:solidFill>
              </a:rPr>
              <a:t>Diuji sebagai Dart murni dengan data palsu</a:t>
            </a:r>
            <a:endParaRPr lang="en-US" sz="1800" dirty="0"/>
          </a:p>
        </p:txBody>
      </p:sp>
      <p:sp>
        <p:nvSpPr>
          <p:cNvPr id="14" name="lingkaran lampu"/>
          <p:cNvSpPr/>
          <p:nvPr/>
        </p:nvSpPr>
        <p:spPr>
          <a:xfrm>
            <a:off x="548640" y="5532120"/>
            <a:ext cx="548640" cy="548640"/>
          </a:xfrm>
          <a:prstGeom prst="ellipse">
            <a:avLst/>
          </a:prstGeom>
          <a:solidFill>
            <a:schemeClr val="accent3"/>
          </a:solidFill>
          <a:ln/>
        </p:spPr>
      </p:sp>
      <p:pic>
        <p:nvPicPr>
          <p:cNvPr id="15"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6" name="Text 10"/>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Cek cepat: aturan "maksimal dua peminjaman aktif" ditaruh di onPressed tombol Ajukan. Kerugiannya? Hanya bisa diuji dengan menekan tombol, dan cara lain mengajukan harus menyalin aturannya.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Menguji dengan Data Palsu dan Mata-mata</a:t>
            </a:r>
            <a:endParaRPr lang="en-US" sz="3200" dirty="0"/>
          </a:p>
        </p:txBody>
      </p:sp>
      <p:sp>
        <p:nvSpPr>
          <p:cNvPr id="4" name="kotak kode"/>
          <p:cNvSpPr txBox="1"/>
          <p:nvPr/>
        </p:nvSpPr>
        <p:spPr>
          <a:xfrm>
            <a:off x="548640" y="1371600"/>
            <a:ext cx="6949440" cy="3227832"/>
          </a:xfrm>
          <a:prstGeom prst="roundRect">
            <a:avLst>
              <a:gd name="adj" fmla="val 2833"/>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RepositoriRuangPalsu</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RepositoriRuang</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putus = </a:t>
            </a:r>
            <a:r>
              <a:rPr lang="en-US" sz="1100" dirty="0">
                <a:solidFill>
                  <a:srgbClr val="C792EA"/>
                </a:solidFill>
                <a:latin typeface="Consolas" pitchFamily="34" charset="0"/>
                <a:ea typeface="Consolas" pitchFamily="34" charset="-122"/>
                <a:cs typeface="Consolas" pitchFamily="34" charset="-120"/>
              </a:rPr>
              <a:t>false</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true = pura-pura internet mati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Ruang</a:t>
            </a:r>
            <a:r>
              <a:rPr lang="en-US" sz="1100" dirty="0">
                <a:solidFill>
                  <a:srgbClr val="E6EDF3"/>
                </a:solidFill>
                <a:latin typeface="Consolas" pitchFamily="34" charset="0"/>
                <a:ea typeface="Consolas" pitchFamily="34" charset="-122"/>
                <a:cs typeface="Consolas" pitchFamily="34" charset="-120"/>
              </a:rPr>
              <a:t>&gt;&gt;&gt; semuaRuang()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(putus)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TanpaKoneksi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C-105, C-110, LAB-1 */</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RepositoriPeminjamanPalsu</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RepositoriPeminjaman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jumlahSimpan = </a:t>
            </a:r>
            <a:r>
              <a:rPr lang="en-US" sz="1100" dirty="0">
                <a:solidFill>
                  <a:srgbClr val="F78C6C"/>
                </a:solidFill>
                <a:latin typeface="Consolas" pitchFamily="34" charset="0"/>
                <a:ea typeface="Consolas" pitchFamily="34" charset="-122"/>
                <a:cs typeface="Consolas" pitchFamily="34" charset="-120"/>
              </a:rPr>
              <a:t>0</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MATA-MATA (spy)</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 milikRuang, milikPengguna, simpan di memori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jam tetap: Jumat, 16 Oktober 2026 pukul 10.00</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 jumatPagi() =&gt; </a:t>
            </a:r>
            <a:r>
              <a:rPr lang="en-US" sz="1100" dirty="0">
                <a:solidFill>
                  <a:srgbClr val="FFCB6B"/>
                </a:solidFill>
                <a:latin typeface="Consolas" pitchFamily="34" charset="0"/>
                <a:ea typeface="Consolas" pitchFamily="34" charset="-122"/>
                <a:cs typeface="Consolas" pitchFamily="34" charset="-120"/>
              </a:rPr>
              <a:t>DateTime</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78C6C"/>
                </a:solidFill>
                <a:latin typeface="Consolas" pitchFamily="34" charset="0"/>
                <a:ea typeface="Consolas" pitchFamily="34" charset="-122"/>
                <a:cs typeface="Consolas" pitchFamily="34" charset="-120"/>
              </a:rPr>
              <a:t>2026</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78C6C"/>
                </a:solidFill>
                <a:latin typeface="Consolas" pitchFamily="34" charset="0"/>
                <a:ea typeface="Consolas" pitchFamily="34" charset="-122"/>
                <a:cs typeface="Consolas" pitchFamily="34" charset="-120"/>
              </a:rPr>
              <a:t>10</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78C6C"/>
                </a:solidFill>
                <a:latin typeface="Consolas" pitchFamily="34" charset="0"/>
                <a:ea typeface="Consolas" pitchFamily="34" charset="-122"/>
                <a:cs typeface="Consolas" pitchFamily="34" charset="-120"/>
              </a:rPr>
              <a:t>16</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78C6C"/>
                </a:solidFill>
                <a:latin typeface="Consolas" pitchFamily="34" charset="0"/>
                <a:ea typeface="Consolas" pitchFamily="34" charset="-122"/>
                <a:cs typeface="Consolas" pitchFamily="34" charset="-120"/>
              </a:rPr>
              <a:t>10</a:t>
            </a: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6_use_case_dan_data_palsu.dart"/>
          </p:cNvPr>
          <p:cNvSpPr txBox="1"/>
          <p:nvPr/>
        </p:nvSpPr>
        <p:spPr>
          <a:xfrm>
            <a:off x="548640" y="482803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contoh_06_use_case_dan_data_palsu.dart</a:t>
            </a:r>
            <a:endParaRPr lang="en-US" sz="1300" dirty="0"/>
          </a:p>
        </p:txBody>
      </p:sp>
      <p:pic>
        <p:nvPicPr>
          <p:cNvPr id="6" name="Image 0" descr="ikon tautan">
            <a:hlinkClick r:id="rId3" tooltip="https://github.com/antonprafanto/mobile2026/blob/main/pertemuan_12_clean_architecture/kode/contoh_06_use_case_dan_data_palsu.dart"/>
          </p:cNvPr>
          <p:cNvPicPr>
            <a:picLocks noChangeAspect="1"/>
          </p:cNvPicPr>
          <p:nvPr/>
        </p:nvPicPr>
        <p:blipFill>
          <a:blip r:embed="rId2"/>
          <a:stretch>
            <a:fillRect/>
          </a:stretch>
        </p:blipFill>
        <p:spPr>
          <a:xfrm>
            <a:off x="694944" y="491947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Data palsu (fake): implementasi kontrak yang sederhana, di memori.</a:t>
            </a:r>
            <a:endParaRPr lang="en-US" sz="1700" dirty="0"/>
          </a:p>
          <a:p>
            <a:pPr marL="228600" indent="-228600">
              <a:spcAft>
                <a:spcPts val="800"/>
              </a:spcAft>
              <a:buSzPct val="100000"/>
              <a:buChar char="•"/>
            </a:pPr>
            <a:r>
              <a:rPr lang="en-US" sz="1700" dirty="0">
                <a:solidFill>
                  <a:schemeClr val="tx1"/>
                </a:solidFill>
              </a:rPr>
              <a:t>Mata-mata (spy): data palsu yang juga MENCATAT apa yang terjadi.</a:t>
            </a:r>
            <a:endParaRPr lang="en-US" sz="1700" dirty="0"/>
          </a:p>
          <a:p>
            <a:pPr marL="228600" indent="-228600">
              <a:spcAft>
                <a:spcPts val="800"/>
              </a:spcAft>
              <a:buSzPct val="100000"/>
              <a:buChar char="•"/>
            </a:pPr>
            <a:r>
              <a:rPr lang="en-US" sz="1700" dirty="0">
                <a:solidFill>
                  <a:schemeClr val="tx1"/>
                </a:solidFill>
              </a:rPr>
              <a:t>Bukti tak terlihat di layar: pengajuan yang DITOLAK tidak pernah disimpan (jumlahSimpan tetap 0).</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Hasil Contoh 06</a:t>
            </a:r>
            <a:endParaRPr lang="en-US" sz="3200" dirty="0"/>
          </a:p>
        </p:txBody>
      </p:sp>
      <p:sp>
        <p:nvSpPr>
          <p:cNvPr id="4" name="kotak kode"/>
          <p:cNvSpPr txBox="1"/>
          <p:nvPr/>
        </p:nvSpPr>
        <p:spPr>
          <a:xfrm>
            <a:off x="548640" y="1371600"/>
            <a:ext cx="7315200" cy="3483864"/>
          </a:xfrm>
          <a:prstGeom prst="roundRect">
            <a:avLst>
              <a:gd name="adj" fmla="val 262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 Budi mengajukan peminjaman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a:t>
            </a:r>
            <a:r>
              <a:rPr lang="en-US" sz="1200" dirty="0">
                <a:solidFill>
                  <a:srgbClr val="F78C6C"/>
                </a:solidFill>
                <a:latin typeface="Consolas" pitchFamily="34" charset="0"/>
                <a:ea typeface="Consolas" pitchFamily="34" charset="-122"/>
                <a:cs typeface="Consolas" pitchFamily="34" charset="-120"/>
              </a:rPr>
              <a:t>105</a:t>
            </a:r>
            <a:r>
              <a:rPr lang="en-US" sz="1200" dirty="0">
                <a:solidFill>
                  <a:srgbClr val="E6EDF3"/>
                </a:solidFill>
                <a:latin typeface="Consolas" pitchFamily="34" charset="0"/>
                <a:ea typeface="Consolas" pitchFamily="34" charset="-122"/>
                <a:cs typeface="Consolas" pitchFamily="34" charset="-120"/>
              </a:rPr>
              <a:t> Senin </a:t>
            </a:r>
            <a:r>
              <a:rPr lang="en-US" sz="1200" dirty="0">
                <a:solidFill>
                  <a:srgbClr val="F78C6C"/>
                </a:solidFill>
                <a:latin typeface="Consolas" pitchFamily="34" charset="0"/>
                <a:ea typeface="Consolas" pitchFamily="34" charset="-122"/>
                <a:cs typeface="Consolas" pitchFamily="34" charset="-120"/>
              </a:rPr>
              <a:t>10.00</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11.00</a:t>
            </a:r>
            <a:r>
              <a:rPr lang="en-US" sz="1200" dirty="0">
                <a:solidFill>
                  <a:srgbClr val="E6EDF3"/>
                </a:solidFill>
                <a:latin typeface="Consolas" pitchFamily="34" charset="0"/>
                <a:ea typeface="Consolas" pitchFamily="34" charset="-122"/>
                <a:cs typeface="Consolas" pitchFamily="34" charset="-120"/>
              </a:rPr>
              <a:t> -&gt; Ditolak: Bentrok dengan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"Seminar Proposal Skripsi"</a:t>
            </a:r>
            <a:r>
              <a:rPr lang="en-US" sz="1200" dirty="0">
                <a:solidFill>
                  <a:srgbClr val="E6EDF3"/>
                </a:solidFill>
                <a:latin typeface="Consolas" pitchFamily="34" charset="0"/>
                <a:ea typeface="Consolas" pitchFamily="34" charset="-122"/>
                <a:cs typeface="Consolas" pitchFamily="34" charset="-120"/>
              </a:rPr>
              <a:t> pukul </a:t>
            </a:r>
            <a:r>
              <a:rPr lang="en-US" sz="1200" dirty="0">
                <a:solidFill>
                  <a:srgbClr val="F78C6C"/>
                </a:solidFill>
                <a:latin typeface="Consolas" pitchFamily="34" charset="0"/>
                <a:ea typeface="Consolas" pitchFamily="34" charset="-122"/>
                <a:cs typeface="Consolas" pitchFamily="34" charset="-120"/>
              </a:rPr>
              <a:t>09.00</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11.00.</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a:t>
            </a:r>
            <a:r>
              <a:rPr lang="en-US" sz="1200" dirty="0">
                <a:solidFill>
                  <a:srgbClr val="F78C6C"/>
                </a:solidFill>
                <a:latin typeface="Consolas" pitchFamily="34" charset="0"/>
                <a:ea typeface="Consolas" pitchFamily="34" charset="-122"/>
                <a:cs typeface="Consolas" pitchFamily="34" charset="-120"/>
              </a:rPr>
              <a:t>105</a:t>
            </a:r>
            <a:r>
              <a:rPr lang="en-US" sz="1200" dirty="0">
                <a:solidFill>
                  <a:srgbClr val="E6EDF3"/>
                </a:solidFill>
                <a:latin typeface="Consolas" pitchFamily="34" charset="0"/>
                <a:ea typeface="Consolas" pitchFamily="34" charset="-122"/>
                <a:cs typeface="Consolas" pitchFamily="34" charset="-120"/>
              </a:rPr>
              <a:t> Senin </a:t>
            </a:r>
            <a:r>
              <a:rPr lang="en-US" sz="1200" dirty="0">
                <a:solidFill>
                  <a:srgbClr val="F78C6C"/>
                </a:solidFill>
                <a:latin typeface="Consolas" pitchFamily="34" charset="0"/>
                <a:ea typeface="Consolas" pitchFamily="34" charset="-122"/>
                <a:cs typeface="Consolas" pitchFamily="34" charset="-120"/>
              </a:rPr>
              <a:t>11.00</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12.00</a:t>
            </a:r>
            <a:r>
              <a:rPr lang="en-US" sz="1200" dirty="0">
                <a:solidFill>
                  <a:srgbClr val="E6EDF3"/>
                </a:solidFill>
                <a:latin typeface="Consolas" pitchFamily="34" charset="0"/>
                <a:ea typeface="Consolas" pitchFamily="34" charset="-122"/>
                <a:cs typeface="Consolas" pitchFamily="34" charset="-120"/>
              </a:rPr>
              <a:t> -&gt; Berhasil: PJ-</a:t>
            </a:r>
            <a:r>
              <a:rPr lang="en-US" sz="1200" dirty="0">
                <a:solidFill>
                  <a:srgbClr val="F78C6C"/>
                </a:solidFill>
                <a:latin typeface="Consolas" pitchFamily="34" charset="0"/>
                <a:ea typeface="Consolas" pitchFamily="34" charset="-122"/>
                <a:cs typeface="Consolas" pitchFamily="34" charset="-120"/>
              </a:rPr>
              <a:t>003</a:t>
            </a:r>
            <a:r>
              <a:rPr lang="en-US" sz="1200" dirty="0">
                <a:solidFill>
                  <a:srgbClr val="E6EDF3"/>
                </a:solidFill>
                <a:latin typeface="Consolas" pitchFamily="34" charset="0"/>
                <a:ea typeface="Consolas" pitchFamily="34" charset="-122"/>
                <a:cs typeface="Consolas" pitchFamily="34" charset="-120"/>
              </a:rPr>
              <a:t> tersimpan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a:t>
            </a:r>
            <a:r>
              <a:rPr lang="en-US" sz="1200" dirty="0">
                <a:solidFill>
                  <a:srgbClr val="F78C6C"/>
                </a:solidFill>
                <a:latin typeface="Consolas" pitchFamily="34" charset="0"/>
                <a:ea typeface="Consolas" pitchFamily="34" charset="-122"/>
                <a:cs typeface="Consolas" pitchFamily="34" charset="-120"/>
              </a:rPr>
              <a:t>110</a:t>
            </a:r>
            <a:r>
              <a:rPr lang="en-US" sz="1200" dirty="0">
                <a:solidFill>
                  <a:srgbClr val="E6EDF3"/>
                </a:solidFill>
                <a:latin typeface="Consolas" pitchFamily="34" charset="0"/>
                <a:ea typeface="Consolas" pitchFamily="34" charset="-122"/>
                <a:cs typeface="Consolas" pitchFamily="34" charset="-120"/>
              </a:rPr>
              <a:t> Senin </a:t>
            </a:r>
            <a:r>
              <a:rPr lang="en-US" sz="1200" dirty="0">
                <a:solidFill>
                  <a:srgbClr val="F78C6C"/>
                </a:solidFill>
                <a:latin typeface="Consolas" pitchFamily="34" charset="0"/>
                <a:ea typeface="Consolas" pitchFamily="34" charset="-122"/>
                <a:cs typeface="Consolas" pitchFamily="34" charset="-120"/>
              </a:rPr>
              <a:t>13.00</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14.00</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20</a:t>
            </a:r>
            <a:r>
              <a:rPr lang="en-US" sz="1200" dirty="0">
                <a:solidFill>
                  <a:srgbClr val="E6EDF3"/>
                </a:solidFill>
                <a:latin typeface="Consolas" pitchFamily="34" charset="0"/>
                <a:ea typeface="Consolas" pitchFamily="34" charset="-122"/>
                <a:cs typeface="Consolas" pitchFamily="34" charset="-120"/>
              </a:rPr>
              <a:t> orang -&gt; Ditolak: Peserta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20</a:t>
            </a:r>
            <a:r>
              <a:rPr lang="en-US" sz="1200" dirty="0">
                <a:solidFill>
                  <a:srgbClr val="E6EDF3"/>
                </a:solidFill>
                <a:latin typeface="Consolas" pitchFamily="34" charset="0"/>
                <a:ea typeface="Consolas" pitchFamily="34" charset="-122"/>
                <a:cs typeface="Consolas" pitchFamily="34" charset="-120"/>
              </a:rPr>
              <a:t>) melebihi kapasitas Ruang Diskusi C.</a:t>
            </a:r>
            <a:r>
              <a:rPr lang="en-US" sz="1200" dirty="0">
                <a:solidFill>
                  <a:srgbClr val="F78C6C"/>
                </a:solidFill>
                <a:latin typeface="Consolas" pitchFamily="34" charset="0"/>
                <a:ea typeface="Consolas" pitchFamily="34" charset="-122"/>
                <a:cs typeface="Consolas" pitchFamily="34" charset="-120"/>
              </a:rPr>
              <a:t>110</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12</a:t>
            </a:r>
            <a:r>
              <a:rPr lang="en-US" sz="1200" dirty="0">
                <a:solidFill>
                  <a:srgbClr val="E6EDF3"/>
                </a:solidFill>
                <a:latin typeface="Consolas" pitchFamily="34" charset="0"/>
                <a:ea typeface="Consolas" pitchFamily="34" charset="-122"/>
                <a:cs typeface="Consolas" pitchFamily="34" charset="-120"/>
              </a:rPr>
              <a:t> orang).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LAB-</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Senin </a:t>
            </a:r>
            <a:r>
              <a:rPr lang="en-US" sz="1200" dirty="0">
                <a:solidFill>
                  <a:srgbClr val="F78C6C"/>
                </a:solidFill>
                <a:latin typeface="Consolas" pitchFamily="34" charset="0"/>
                <a:ea typeface="Consolas" pitchFamily="34" charset="-122"/>
                <a:cs typeface="Consolas" pitchFamily="34" charset="-120"/>
              </a:rPr>
              <a:t>08.00</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09.00</a:t>
            </a:r>
            <a:r>
              <a:rPr lang="en-US" sz="1200" dirty="0">
                <a:solidFill>
                  <a:srgbClr val="E6EDF3"/>
                </a:solidFill>
                <a:latin typeface="Consolas" pitchFamily="34" charset="0"/>
                <a:ea typeface="Consolas" pitchFamily="34" charset="-122"/>
                <a:cs typeface="Consolas" pitchFamily="34" charset="-120"/>
              </a:rPr>
              <a:t> -&gt; Ditolak: Anda sudah punya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peminjaman aktif. Batalkan salah satu dulu.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 Pengujian otomatis dengan data palsu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Bentrok ditolak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Pengajuan yang ditolak tidak disimpan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Jam bersambung (</a:t>
            </a:r>
            <a:r>
              <a:rPr lang="en-US" sz="1200" dirty="0">
                <a:solidFill>
                  <a:srgbClr val="F78C6C"/>
                </a:solidFill>
                <a:latin typeface="Consolas" pitchFamily="34" charset="0"/>
                <a:ea typeface="Consolas" pitchFamily="34" charset="-122"/>
                <a:cs typeface="Consolas" pitchFamily="34" charset="-120"/>
              </a:rPr>
              <a:t>11.00</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12.00</a:t>
            </a:r>
            <a:r>
              <a:rPr lang="en-US" sz="1200" dirty="0">
                <a:solidFill>
                  <a:srgbClr val="E6EDF3"/>
                </a:solidFill>
                <a:latin typeface="Consolas" pitchFamily="34" charset="0"/>
                <a:ea typeface="Consolas" pitchFamily="34" charset="-122"/>
                <a:cs typeface="Consolas" pitchFamily="34" charset="-120"/>
              </a:rPr>
              <a:t>) diterima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Disimpan tepat satu kali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Internet mati -&gt; Gagal(TanpaKoneksi), bukan exception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Ringkasan: </a:t>
            </a:r>
            <a:r>
              <a:rPr lang="en-US" sz="1200" dirty="0">
                <a:solidFill>
                  <a:srgbClr val="F78C6C"/>
                </a:solidFill>
                <a:latin typeface="Consolas" pitchFamily="34" charset="0"/>
                <a:ea typeface="Consolas" pitchFamily="34" charset="-122"/>
                <a:cs typeface="Consolas" pitchFamily="34" charset="-120"/>
              </a:rPr>
              <a:t>5</a:t>
            </a:r>
            <a:r>
              <a:rPr lang="en-US" sz="1200" dirty="0">
                <a:solidFill>
                  <a:srgbClr val="E6EDF3"/>
                </a:solidFill>
                <a:latin typeface="Consolas" pitchFamily="34" charset="0"/>
                <a:ea typeface="Consolas" pitchFamily="34" charset="-122"/>
                <a:cs typeface="Consolas" pitchFamily="34" charset="-120"/>
              </a:rPr>
              <a:t> dari </a:t>
            </a:r>
            <a:r>
              <a:rPr lang="en-US" sz="1200" dirty="0">
                <a:solidFill>
                  <a:srgbClr val="F78C6C"/>
                </a:solidFill>
                <a:latin typeface="Consolas" pitchFamily="34" charset="0"/>
                <a:ea typeface="Consolas" pitchFamily="34" charset="-122"/>
                <a:cs typeface="Consolas" pitchFamily="34" charset="-120"/>
              </a:rPr>
              <a:t>5</a:t>
            </a:r>
            <a:r>
              <a:rPr lang="en-US" sz="1200" dirty="0">
                <a:solidFill>
                  <a:srgbClr val="E6EDF3"/>
                </a:solidFill>
                <a:latin typeface="Consolas" pitchFamily="34" charset="0"/>
                <a:ea typeface="Consolas" pitchFamily="34" charset="-122"/>
                <a:cs typeface="Consolas" pitchFamily="34" charset="-120"/>
              </a:rPr>
              <a:t> uji lulus</a:t>
            </a:r>
            <a:endParaRPr lang="en-US" sz="1200" dirty="0"/>
          </a:p>
        </p:txBody>
      </p:sp>
      <p:sp>
        <p:nvSpPr>
          <p:cNvPr id="5" name="tombol tautan">
            <a:hlinkClick r:id="rId1" tooltip="https://github.com/antonprafanto/mobile2026/blob/main/pertemuan_12_clean_architecture/kode/contoh_06_use_case_dan_data_palsu.dart"/>
          </p:cNvPr>
          <p:cNvSpPr txBox="1"/>
          <p:nvPr/>
        </p:nvSpPr>
        <p:spPr>
          <a:xfrm>
            <a:off x="548640" y="5084064"/>
            <a:ext cx="73152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contoh_06_use_case_dan_data_palsu.dart</a:t>
            </a:r>
            <a:endParaRPr lang="en-US" sz="1300" dirty="0"/>
          </a:p>
        </p:txBody>
      </p:sp>
      <p:pic>
        <p:nvPicPr>
          <p:cNvPr id="6" name="Image 0" descr="ikon tautan">
            <a:hlinkClick r:id="rId3" tooltip="https://github.com/antonprafanto/mobile2026/blob/main/pertemuan_12_clean_architecture/kode/contoh_06_use_case_dan_data_palsu.dart"/>
          </p:cNvPr>
          <p:cNvPicPr>
            <a:picLocks noChangeAspect="1"/>
          </p:cNvPicPr>
          <p:nvPr/>
        </p:nvPicPr>
        <p:blipFill>
          <a:blip r:embed="rId2"/>
          <a:stretch>
            <a:fillRect/>
          </a:stretch>
        </p:blipFill>
        <p:spPr>
          <a:xfrm>
            <a:off x="694944" y="5175504"/>
            <a:ext cx="274320" cy="274320"/>
          </a:xfrm>
          <a:prstGeom prst="rect">
            <a:avLst/>
          </a:prstGeom>
        </p:spPr>
      </p:pic>
      <p:sp>
        <p:nvSpPr>
          <p:cNvPr id="7" name="daftar poin"/>
          <p:cNvSpPr txBox="1"/>
          <p:nvPr/>
        </p:nvSpPr>
        <p:spPr>
          <a:xfrm>
            <a:off x="8275320" y="1417320"/>
            <a:ext cx="33677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Pengajuan LAB-1 sendiri wajar, tetapi Budi sudah punya dua peminjaman aktif (PJ-002 dan PJ-003).</a:t>
            </a:r>
            <a:endParaRPr lang="en-US" sz="1700" dirty="0"/>
          </a:p>
          <a:p>
            <a:pPr marL="228600" indent="-228600">
              <a:spcAft>
                <a:spcPts val="800"/>
              </a:spcAft>
              <a:buSzPct val="100000"/>
              <a:buChar char="•"/>
            </a:pPr>
            <a:r>
              <a:rPr lang="en-US" sz="1700" dirty="0">
                <a:solidFill>
                  <a:schemeClr val="tx1"/>
                </a:solidFill>
              </a:rPr>
              <a:t>Aturan seperti ini HANYA bisa diperiksa use case: butuh data dari repository.</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Perintah (Command): Status Milik Setiap Aksi</a:t>
            </a:r>
            <a:endParaRPr lang="en-US" sz="4000" dirty="0"/>
          </a:p>
        </p:txBody>
      </p:sp>
      <p:sp>
        <p:nvSpPr>
          <p:cNvPr id="5" name="lingkaran tombol"/>
          <p:cNvSpPr/>
          <p:nvPr/>
        </p:nvSpPr>
        <p:spPr>
          <a:xfrm>
            <a:off x="1097280" y="2148840"/>
            <a:ext cx="2011680" cy="2011680"/>
          </a:xfrm>
          <a:prstGeom prst="ellipse">
            <a:avLst/>
          </a:prstGeom>
          <a:solidFill>
            <a:schemeClr val="accent1"/>
          </a:solidFill>
          <a:ln/>
        </p:spPr>
      </p:sp>
      <p:pic>
        <p:nvPicPr>
          <p:cNvPr id="6" name="Image 0" descr="tombo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Isi Class Perintah</a:t>
            </a:r>
            <a:endParaRPr lang="en-US" sz="3200" dirty="0"/>
          </a:p>
        </p:txBody>
      </p:sp>
      <p:sp>
        <p:nvSpPr>
          <p:cNvPr id="4" name="kotak kode"/>
          <p:cNvSpPr txBox="1"/>
          <p:nvPr/>
        </p:nvSpPr>
        <p:spPr>
          <a:xfrm>
            <a:off x="548640" y="1371600"/>
            <a:ext cx="694944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abstract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ChangeNotifier</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_sedangBerjalan = </a:t>
            </a:r>
            <a:r>
              <a:rPr lang="en-US" sz="1100" dirty="0">
                <a:solidFill>
                  <a:srgbClr val="C792EA"/>
                </a:solidFill>
                <a:latin typeface="Consolas" pitchFamily="34" charset="0"/>
                <a:ea typeface="Consolas" pitchFamily="34" charset="-122"/>
                <a:cs typeface="Consolas" pitchFamily="34" charset="-120"/>
              </a:rPr>
              <a:t>false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_hasil;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 sedangBerjalan =&gt; _sedangBerjalan;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 hasil =&gt; _hasil;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 bersihkanHasil() { _hasil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_kabari();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_jalankan(</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&gt;&gt; </a:t>
            </a:r>
            <a:r>
              <a:rPr lang="en-US" sz="1100" dirty="0">
                <a:solidFill>
                  <a:srgbClr val="FFCB6B"/>
                </a:solidFill>
                <a:latin typeface="Consolas" pitchFamily="34" charset="0"/>
                <a:ea typeface="Consolas" pitchFamily="34" charset="-122"/>
                <a:cs typeface="Consolas" pitchFamily="34" charset="-120"/>
              </a:rPr>
              <a:t>Function</a:t>
            </a:r>
            <a:r>
              <a:rPr lang="en-US" sz="1100" dirty="0">
                <a:solidFill>
                  <a:srgbClr val="E6EDF3"/>
                </a:solidFill>
                <a:latin typeface="Consolas" pitchFamily="34" charset="0"/>
                <a:ea typeface="Consolas" pitchFamily="34" charset="-122"/>
                <a:cs typeface="Consolas" pitchFamily="34" charset="-120"/>
              </a:rPr>
              <a:t>() aksi)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(_sedangBerjalan)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PENJAGA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_sedangBerjalan =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_hasil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_kabari();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try</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_hasil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aksi();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finally</a:t>
            </a:r>
            <a:r>
              <a:rPr lang="en-US" sz="1100" dirty="0">
                <a:solidFill>
                  <a:srgbClr val="E6EDF3"/>
                </a:solidFill>
                <a:latin typeface="Consolas" pitchFamily="34" charset="0"/>
                <a:ea typeface="Consolas" pitchFamily="34" charset="-122"/>
                <a:cs typeface="Consolas" pitchFamily="34" charset="-120"/>
              </a:rPr>
              <a:t> { </a:t>
            </a:r>
            <a:r>
              <a:rPr lang="en-US" sz="1100" i="1" dirty="0">
                <a:solidFill>
                  <a:srgbClr val="8FA3BC"/>
                </a:solidFill>
                <a:latin typeface="Consolas" pitchFamily="34" charset="0"/>
                <a:ea typeface="Consolas" pitchFamily="34" charset="-122"/>
                <a:cs typeface="Consolas" pitchFamily="34" charset="-120"/>
              </a:rPr>
              <a:t>// tetap dijalankan walau aksi melempar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_sedangBerjalan = </a:t>
            </a:r>
            <a:r>
              <a:rPr lang="en-US" sz="1100" dirty="0">
                <a:solidFill>
                  <a:srgbClr val="C792EA"/>
                </a:solidFill>
                <a:latin typeface="Consolas" pitchFamily="34" charset="0"/>
                <a:ea typeface="Consolas" pitchFamily="34" charset="-122"/>
                <a:cs typeface="Consolas" pitchFamily="34" charset="-120"/>
              </a:rPr>
              <a:t>false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_kabari();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7_perintah_command.dart"/>
          </p:cNvPr>
          <p:cNvSpPr txBox="1"/>
          <p:nvPr/>
        </p:nvSpPr>
        <p:spPr>
          <a:xfrm>
            <a:off x="548640" y="570814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contoh_07_perintah_command.dart</a:t>
            </a:r>
            <a:endParaRPr lang="en-US" sz="1300" dirty="0"/>
          </a:p>
        </p:txBody>
      </p:sp>
      <p:pic>
        <p:nvPicPr>
          <p:cNvPr id="6" name="Image 0" descr="ikon tautan">
            <a:hlinkClick r:id="rId3" tooltip="https://github.com/antonprafanto/mobile2026/blob/main/pertemuan_12_clean_architecture/kode/contoh_07_perintah_command.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sedangBerjalan: mematikan tombol dan memutar lingkaran DI TOMBOL ITU SAJA.</a:t>
            </a:r>
            <a:endParaRPr lang="en-US" sz="1700" dirty="0"/>
          </a:p>
          <a:p>
            <a:pPr marL="228600" indent="-228600">
              <a:spcAft>
                <a:spcPts val="800"/>
              </a:spcAft>
              <a:buSzPct val="100000"/>
              <a:buChar char="•"/>
            </a:pPr>
            <a:r>
              <a:rPr lang="en-US" sz="1700" dirty="0">
                <a:solidFill>
                  <a:schemeClr val="tx1"/>
                </a:solidFill>
              </a:rPr>
              <a:t>Penjaga: ketukan kedua dan ketiga diabaikan.</a:t>
            </a:r>
            <a:endParaRPr lang="en-US" sz="1700" dirty="0"/>
          </a:p>
          <a:p>
            <a:pPr marL="228600" indent="-228600">
              <a:spcAft>
                <a:spcPts val="800"/>
              </a:spcAft>
              <a:buSzPct val="100000"/>
              <a:buChar char="•"/>
            </a:pPr>
            <a:r>
              <a:rPr lang="en-US" sz="1700" dirty="0">
                <a:solidFill>
                  <a:schemeClr val="tx1"/>
                </a:solidFill>
              </a:rPr>
              <a:t>finally: tombol tidak terkunci selamanya.</a:t>
            </a:r>
            <a:endParaRPr lang="en-US" sz="1700" dirty="0"/>
          </a:p>
          <a:p>
            <a:pPr marL="228600" indent="-228600">
              <a:spcAft>
                <a:spcPts val="800"/>
              </a:spcAft>
              <a:buSzPct val="100000"/>
              <a:buChar char="•"/>
            </a:pPr>
            <a:r>
              <a:rPr lang="en-US" sz="1700" dirty="0">
                <a:solidFill>
                  <a:schemeClr val="tx1"/>
                </a:solidFill>
              </a:rPr>
              <a:t>bersihkanHasil(): tanggapan (SnackBar) tidak muncul berulang.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Perintah0, Perintah1, dan ViewModel</a:t>
            </a:r>
            <a:endParaRPr lang="en-US" sz="3200" dirty="0"/>
          </a:p>
        </p:txBody>
      </p:sp>
      <p:sp>
        <p:nvSpPr>
          <p:cNvPr id="4" name="kotak kode"/>
          <p:cNvSpPr txBox="1"/>
          <p:nvPr/>
        </p:nvSpPr>
        <p:spPr>
          <a:xfrm>
            <a:off x="548640" y="1371600"/>
            <a:ext cx="6766560" cy="3755898"/>
          </a:xfrm>
          <a:prstGeom prst="roundRect">
            <a:avLst>
              <a:gd name="adj" fmla="val 2435"/>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Perintah0</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 </a:t>
            </a:r>
            <a:r>
              <a:rPr lang="en-US" sz="1100" i="1" dirty="0">
                <a:solidFill>
                  <a:srgbClr val="8FA3BC"/>
                </a:solidFill>
                <a:latin typeface="Consolas" pitchFamily="34" charset="0"/>
                <a:ea typeface="Consolas" pitchFamily="34" charset="-122"/>
                <a:cs typeface="Consolas" pitchFamily="34" charset="-120"/>
              </a:rPr>
              <a:t>// tanpa argumen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Perintah0</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._aksi);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&gt;&gt; </a:t>
            </a:r>
            <a:r>
              <a:rPr lang="en-US" sz="1100" dirty="0">
                <a:solidFill>
                  <a:srgbClr val="FFCB6B"/>
                </a:solidFill>
                <a:latin typeface="Consolas" pitchFamily="34" charset="0"/>
                <a:ea typeface="Consolas" pitchFamily="34" charset="-122"/>
                <a:cs typeface="Consolas" pitchFamily="34" charset="-120"/>
              </a:rPr>
              <a:t>Function</a:t>
            </a:r>
            <a:r>
              <a:rPr lang="en-US" sz="1100" dirty="0">
                <a:solidFill>
                  <a:srgbClr val="E6EDF3"/>
                </a:solidFill>
                <a:latin typeface="Consolas" pitchFamily="34" charset="0"/>
                <a:ea typeface="Consolas" pitchFamily="34" charset="-122"/>
                <a:cs typeface="Consolas" pitchFamily="34" charset="-120"/>
              </a:rPr>
              <a:t>() _aksi;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jalankan() =&gt; _jalankan(_aksi);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Perintah1</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 { </a:t>
            </a:r>
            <a:r>
              <a:rPr lang="en-US" sz="1100" i="1" dirty="0">
                <a:solidFill>
                  <a:srgbClr val="8FA3BC"/>
                </a:solidFill>
                <a:latin typeface="Consolas" pitchFamily="34" charset="0"/>
                <a:ea typeface="Consolas" pitchFamily="34" charset="-122"/>
                <a:cs typeface="Consolas" pitchFamily="34" charset="-120"/>
              </a:rPr>
              <a:t>// satu argumen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Perintah1</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._aksi);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T</a:t>
            </a:r>
            <a:r>
              <a:rPr lang="en-US" sz="1100" dirty="0">
                <a:solidFill>
                  <a:srgbClr val="E6EDF3"/>
                </a:solidFill>
                <a:latin typeface="Consolas" pitchFamily="34" charset="0"/>
                <a:ea typeface="Consolas" pitchFamily="34" charset="-122"/>
                <a:cs typeface="Consolas" pitchFamily="34" charset="-120"/>
              </a:rPr>
              <a:t>&gt;&gt; </a:t>
            </a:r>
            <a:r>
              <a:rPr lang="en-US" sz="1100" dirty="0">
                <a:solidFill>
                  <a:srgbClr val="FFCB6B"/>
                </a:solidFill>
                <a:latin typeface="Consolas" pitchFamily="34" charset="0"/>
                <a:ea typeface="Consolas" pitchFamily="34" charset="-122"/>
                <a:cs typeface="Consolas" pitchFamily="34" charset="-120"/>
              </a:rPr>
              <a:t>Function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A</a:t>
            </a:r>
            <a:r>
              <a:rPr lang="en-US" sz="1100" dirty="0">
                <a:solidFill>
                  <a:srgbClr val="E6EDF3"/>
                </a:solidFill>
                <a:latin typeface="Consolas" pitchFamily="34" charset="0"/>
                <a:ea typeface="Consolas" pitchFamily="34" charset="-122"/>
                <a:cs typeface="Consolas" pitchFamily="34" charset="-120"/>
              </a:rPr>
              <a:t>) _aksi;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jalankan(</a:t>
            </a:r>
            <a:r>
              <a:rPr lang="en-US" sz="1100" dirty="0">
                <a:solidFill>
                  <a:srgbClr val="FFCB6B"/>
                </a:solidFill>
                <a:latin typeface="Consolas" pitchFamily="34" charset="0"/>
                <a:ea typeface="Consolas" pitchFamily="34" charset="-122"/>
                <a:cs typeface="Consolas" pitchFamily="34" charset="-120"/>
              </a:rPr>
              <a:t>A</a:t>
            </a:r>
            <a:r>
              <a:rPr lang="en-US" sz="1100" dirty="0">
                <a:solidFill>
                  <a:srgbClr val="E6EDF3"/>
                </a:solidFill>
                <a:latin typeface="Consolas" pitchFamily="34" charset="0"/>
                <a:ea typeface="Consolas" pitchFamily="34" charset="-122"/>
                <a:cs typeface="Consolas" pitchFamily="34" charset="-120"/>
              </a:rPr>
              <a:t> argumen)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_jalankan(() =&gt; _aksi(argumen));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FormulirViewModel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ChangeNotifier</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FormulirViewModel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required</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._repositori})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ajukan = </a:t>
            </a:r>
            <a:r>
              <a:rPr lang="en-US" sz="1100" dirty="0">
                <a:solidFill>
                  <a:srgbClr val="FFCB6B"/>
                </a:solidFill>
                <a:latin typeface="Consolas" pitchFamily="34" charset="0"/>
                <a:ea typeface="Consolas" pitchFamily="34" charset="-122"/>
                <a:cs typeface="Consolas" pitchFamily="34" charset="-120"/>
              </a:rPr>
              <a:t>Perintah1</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&gt;(_kirim);</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late</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Perintah1</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&gt; ajukan;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dispose(): ajukan.dispose() juga!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7_perintah_command.dart"/>
          </p:cNvPr>
          <p:cNvSpPr txBox="1"/>
          <p:nvPr/>
        </p:nvSpPr>
        <p:spPr>
          <a:xfrm>
            <a:off x="548640" y="5356098"/>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contoh_07_perintah_command.dart</a:t>
            </a:r>
            <a:endParaRPr lang="en-US" sz="1300" dirty="0"/>
          </a:p>
        </p:txBody>
      </p:sp>
      <p:pic>
        <p:nvPicPr>
          <p:cNvPr id="6" name="Image 0" descr="ikon tautan">
            <a:hlinkClick r:id="rId3" tooltip="https://github.com/antonprafanto/mobile2026/blob/main/pertemuan_12_clean_architecture/kode/contoh_07_perintah_command.dart"/>
          </p:cNvPr>
          <p:cNvPicPr>
            <a:picLocks noChangeAspect="1"/>
          </p:cNvPicPr>
          <p:nvPr/>
        </p:nvPicPr>
        <p:blipFill>
          <a:blip r:embed="rId2"/>
          <a:stretch>
            <a:fillRect/>
          </a:stretch>
        </p:blipFill>
        <p:spPr>
          <a:xfrm>
            <a:off x="694944" y="5447538"/>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Perintah1&lt;Peminjaman, PengajuanPeminjaman&gt;: menerima pengajuan, menghasilkan Hasil&lt;Peminjaman&gt;.</a:t>
            </a:r>
            <a:endParaRPr lang="en-US" sz="1700" dirty="0"/>
          </a:p>
          <a:p>
            <a:pPr marL="228600" indent="-228600">
              <a:spcAft>
                <a:spcPts val="800"/>
              </a:spcAft>
              <a:buSzPct val="100000"/>
              <a:buChar char="•"/>
            </a:pPr>
            <a:r>
              <a:rPr lang="en-US" sz="1700" dirty="0">
                <a:solidFill>
                  <a:schemeClr val="tx1"/>
                </a:solidFill>
              </a:rPr>
              <a:t>Dua argumen? Bungkus dalam satu objek atau record.</a:t>
            </a:r>
            <a:endParaRPr lang="en-US" sz="1700" dirty="0"/>
          </a:p>
          <a:p>
            <a:pPr marL="228600" indent="-228600">
              <a:spcAft>
                <a:spcPts val="800"/>
              </a:spcAft>
              <a:buSzPct val="100000"/>
              <a:buChar char="•"/>
            </a:pPr>
            <a:r>
              <a:rPr lang="en-US" sz="1700" dirty="0">
                <a:solidFill>
                  <a:schemeClr val="tx1"/>
                </a:solidFill>
              </a:rPr>
              <a:t>late final: diisi sekali di constructor, karena _kirim butuh this.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Memakai Perintah di View</a:t>
            </a:r>
            <a:endParaRPr lang="en-US" sz="3200" dirty="0"/>
          </a:p>
        </p:txBody>
      </p:sp>
      <p:sp>
        <p:nvSpPr>
          <p:cNvPr id="4" name="kotak kode"/>
          <p:cNvSpPr txBox="1"/>
          <p:nvPr/>
        </p:nvSpPr>
        <p:spPr>
          <a:xfrm>
            <a:off x="548640" y="1371600"/>
            <a:ext cx="6949440" cy="3755898"/>
          </a:xfrm>
          <a:prstGeom prst="roundRect">
            <a:avLst>
              <a:gd name="adj" fmla="val 2435"/>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ListenableBuilder</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hanya tombol ini yang dibangun ulang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listenable: vm.ajukan,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builder: (</a:t>
            </a:r>
            <a:r>
              <a:rPr lang="en-US" sz="1100" dirty="0">
                <a:solidFill>
                  <a:srgbClr val="FFCB6B"/>
                </a:solidFill>
                <a:latin typeface="Consolas" pitchFamily="34" charset="0"/>
                <a:ea typeface="Consolas" pitchFamily="34" charset="-122"/>
                <a:cs typeface="Consolas" pitchFamily="34" charset="-120"/>
              </a:rPr>
              <a:t>BuildContext</a:t>
            </a:r>
            <a:r>
              <a:rPr lang="en-US" sz="1100" dirty="0">
                <a:solidFill>
                  <a:srgbClr val="E6EDF3"/>
                </a:solidFill>
                <a:latin typeface="Consolas" pitchFamily="34" charset="0"/>
                <a:ea typeface="Consolas" pitchFamily="34" charset="-122"/>
                <a:cs typeface="Consolas" pitchFamily="34" charset="-120"/>
              </a:rPr>
              <a:t> context, </a:t>
            </a:r>
            <a:r>
              <a:rPr lang="en-US" sz="1100" dirty="0">
                <a:solidFill>
                  <a:srgbClr val="FFCB6B"/>
                </a:solidFill>
                <a:latin typeface="Consolas" pitchFamily="34" charset="0"/>
                <a:ea typeface="Consolas" pitchFamily="34" charset="-122"/>
                <a:cs typeface="Consolas" pitchFamily="34" charset="-120"/>
              </a:rPr>
              <a:t>Widget</a:t>
            </a:r>
            <a:r>
              <a:rPr lang="en-US" sz="1100" dirty="0">
                <a:solidFill>
                  <a:srgbClr val="E6EDF3"/>
                </a:solidFill>
                <a:latin typeface="Consolas" pitchFamily="34" charset="0"/>
                <a:ea typeface="Consolas" pitchFamily="34" charset="-122"/>
                <a:cs typeface="Consolas" pitchFamily="34" charset="-120"/>
              </a:rPr>
              <a:t>? child)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sibuk = vm.ajukan.sedangBerjalan;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FilledButton</a:t>
            </a:r>
            <a:r>
              <a:rPr lang="en-US" sz="1100" dirty="0">
                <a:solidFill>
                  <a:srgbClr val="E6EDF3"/>
                </a:solidFill>
                <a:latin typeface="Consolas" pitchFamily="34" charset="0"/>
                <a:ea typeface="Consolas" pitchFamily="34" charset="-122"/>
                <a:cs typeface="Consolas" pitchFamily="34" charset="-120"/>
              </a:rPr>
              <a:t>.icon(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onPressed: sibuk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 () =&gt; vm.ajukan.jalankan(...),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icon: sibuk ? </a:t>
            </a:r>
            <a:r>
              <a:rPr lang="en-US" sz="1100" i="1" dirty="0">
                <a:solidFill>
                  <a:srgbClr val="8FA3BC"/>
                </a:solidFill>
                <a:latin typeface="Consolas" pitchFamily="34" charset="0"/>
                <a:ea typeface="Consolas" pitchFamily="34" charset="-122"/>
                <a:cs typeface="Consolas" pitchFamily="34" charset="-120"/>
              </a:rPr>
              <a:t>/* lingkaran kecil */</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Icon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Icons</a:t>
            </a:r>
            <a:r>
              <a:rPr lang="en-US" sz="1100" dirty="0">
                <a:solidFill>
                  <a:srgbClr val="E6EDF3"/>
                </a:solidFill>
                <a:latin typeface="Consolas" pitchFamily="34" charset="0"/>
                <a:ea typeface="Consolas" pitchFamily="34" charset="-122"/>
                <a:cs typeface="Consolas" pitchFamily="34" charset="-120"/>
              </a:rPr>
              <a:t>.send),</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label: </a:t>
            </a:r>
            <a:r>
              <a:rPr lang="en-US" sz="1100" dirty="0">
                <a:solidFill>
                  <a:srgbClr val="FFCB6B"/>
                </a:solidFill>
                <a:latin typeface="Consolas" pitchFamily="34" charset="0"/>
                <a:ea typeface="Consolas" pitchFamily="34" charset="-122"/>
                <a:cs typeface="Consolas" pitchFamily="34" charset="-120"/>
              </a:rPr>
              <a:t>Text</a:t>
            </a:r>
            <a:r>
              <a:rPr lang="en-US" sz="1100" dirty="0">
                <a:solidFill>
                  <a:srgbClr val="E6EDF3"/>
                </a:solidFill>
                <a:latin typeface="Consolas" pitchFamily="34" charset="0"/>
                <a:ea typeface="Consolas" pitchFamily="34" charset="-122"/>
                <a:cs typeface="Consolas" pitchFamily="34" charset="-120"/>
              </a:rPr>
              <a:t>(sibuk ? </a:t>
            </a:r>
            <a:r>
              <a:rPr lang="en-US" sz="1100" dirty="0">
                <a:solidFill>
                  <a:srgbClr val="C3E88D"/>
                </a:solidFill>
                <a:latin typeface="Consolas" pitchFamily="34" charset="0"/>
                <a:ea typeface="Consolas" pitchFamily="34" charset="-122"/>
                <a:cs typeface="Consolas" pitchFamily="34" charset="-120"/>
              </a:rPr>
              <a:t>'Menyimpan...'</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3E88D"/>
                </a:solidFill>
                <a:latin typeface="Consolas" pitchFamily="34" charset="0"/>
                <a:ea typeface="Consolas" pitchFamily="34" charset="-122"/>
                <a:cs typeface="Consolas" pitchFamily="34" charset="-120"/>
              </a:rPr>
              <a:t>'Ajukan'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SnackBar: lewat LISTENER, sekali jalan</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 _saatAjukanBerubah()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&gt;? hasil = _vm.ajukan.hasil;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(hasil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belum selesai / sudah ditanggapi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_vm.ajukan.bersihkanHasil();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_tampilkan(</a:t>
            </a:r>
            <a:r>
              <a:rPr lang="en-US" sz="1100" dirty="0">
                <a:solidFill>
                  <a:srgbClr val="C3E88D"/>
                </a:solidFill>
                <a:latin typeface="Consolas" pitchFamily="34" charset="0"/>
                <a:ea typeface="Consolas" pitchFamily="34" charset="-122"/>
                <a:cs typeface="Consolas" pitchFamily="34" charset="-120"/>
              </a:rPr>
              <a:t>'B'</a:t>
            </a:r>
            <a:r>
              <a:rPr lang="en-US" sz="1100" dirty="0">
                <a:solidFill>
                  <a:srgbClr val="E6EDF3"/>
                </a:solidFill>
                <a:latin typeface="Consolas" pitchFamily="34" charset="0"/>
                <a:ea typeface="Consolas" pitchFamily="34" charset="-122"/>
                <a:cs typeface="Consolas" pitchFamily="34" charset="-120"/>
              </a:rPr>
              <a:t>, 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2_clean_architecture/kode/contoh_07_perintah_command.dart"/>
          </p:cNvPr>
          <p:cNvSpPr txBox="1"/>
          <p:nvPr/>
        </p:nvSpPr>
        <p:spPr>
          <a:xfrm>
            <a:off x="548640" y="5356098"/>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contoh_07_perintah_command.dart</a:t>
            </a:r>
            <a:endParaRPr lang="en-US" sz="1300" dirty="0"/>
          </a:p>
        </p:txBody>
      </p:sp>
      <p:pic>
        <p:nvPicPr>
          <p:cNvPr id="6" name="Image 0" descr="ikon tautan">
            <a:hlinkClick r:id="rId3" tooltip="https://github.com/antonprafanto/mobile2026/blob/main/pertemuan_12_clean_architecture/kode/contoh_07_perintah_command.dart"/>
          </p:cNvPr>
          <p:cNvPicPr>
            <a:picLocks noChangeAspect="1"/>
          </p:cNvPicPr>
          <p:nvPr/>
        </p:nvPicPr>
        <p:blipFill>
          <a:blip r:embed="rId2"/>
          <a:stretch>
            <a:fillRect/>
          </a:stretch>
        </p:blipFill>
        <p:spPr>
          <a:xfrm>
            <a:off x="694944" y="5447538"/>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onPressed null = tombol mati (abu-abu).</a:t>
            </a:r>
            <a:endParaRPr lang="en-US" sz="1700" dirty="0"/>
          </a:p>
          <a:p>
            <a:pPr marL="228600" indent="-228600">
              <a:spcAft>
                <a:spcPts val="800"/>
              </a:spcAft>
              <a:buSzPct val="100000"/>
              <a:buChar char="•"/>
            </a:pPr>
            <a:r>
              <a:rPr lang="en-US" sz="1700" dirty="0">
                <a:solidFill>
                  <a:schemeClr val="tx1"/>
                </a:solidFill>
              </a:rPr>
              <a:t>Listener dipasang di initState, DILEPAS di dispose.</a:t>
            </a:r>
            <a:endParaRPr lang="en-US" sz="1700" dirty="0"/>
          </a:p>
          <a:p>
            <a:pPr marL="228600" indent="-228600">
              <a:spcAft>
                <a:spcPts val="800"/>
              </a:spcAft>
              <a:buSzPct val="100000"/>
              <a:buChar char="•"/>
            </a:pPr>
            <a:r>
              <a:rPr lang="en-US" sz="1700" dirty="0">
                <a:solidFill>
                  <a:schemeClr val="tx1"/>
                </a:solidFill>
              </a:rPr>
              <a:t>JANGAN menampilkan SnackBar dari build(): build() bisa dipanggil berkali-kali.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07: Tanpa dan dengan Perintah</a:t>
            </a:r>
            <a:endParaRPr lang="en-US" sz="3200" dirty="0"/>
          </a:p>
        </p:txBody>
      </p:sp>
      <p:sp>
        <p:nvSpPr>
          <p:cNvPr id="4" name="bingkai layar 1"/>
          <p:cNvSpPr/>
          <p:nvPr/>
        </p:nvSpPr>
        <p:spPr>
          <a:xfrm>
            <a:off x="5736031" y="1316736"/>
            <a:ext cx="2898648" cy="4445786"/>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7a.jpg)">    </p:cNvPr>
          <p:cNvPicPr>
            <a:picLocks noChangeAspect="1"/>
          </p:cNvPicPr>
          <p:nvPr/>
        </p:nvPicPr>
        <p:blipFill>
          <a:blip r:embed="rId1"/>
          <a:stretch>
            <a:fillRect/>
          </a:stretch>
        </p:blipFill>
        <p:spPr>
          <a:xfrm>
            <a:off x="5790895" y="1371600"/>
            <a:ext cx="2788920" cy="4336058"/>
          </a:xfrm>
          <a:prstGeom prst="rect">
            <a:avLst/>
          </a:prstGeom>
        </p:spPr>
      </p:pic>
      <p:sp>
        <p:nvSpPr>
          <p:cNvPr id="6" name="bingkai layar 2"/>
          <p:cNvSpPr/>
          <p:nvPr/>
        </p:nvSpPr>
        <p:spPr>
          <a:xfrm>
            <a:off x="8799271" y="1316736"/>
            <a:ext cx="2898648" cy="4445786"/>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7b.jpg)">    </p:cNvPr>
          <p:cNvPicPr>
            <a:picLocks noChangeAspect="1"/>
          </p:cNvPicPr>
          <p:nvPr/>
        </p:nvPicPr>
        <p:blipFill>
          <a:blip r:embed="rId2"/>
          <a:stretch>
            <a:fillRect/>
          </a:stretch>
        </p:blipFill>
        <p:spPr>
          <a:xfrm>
            <a:off x="8854135" y="1371600"/>
            <a:ext cx="2788920" cy="4336058"/>
          </a:xfrm>
          <a:prstGeom prst="rect">
            <a:avLst/>
          </a:prstGeom>
        </p:spPr>
      </p:pic>
      <p:sp>
        <p:nvSpPr>
          <p:cNvPr id="8" name="tombol tautan">
            <a:hlinkClick r:id="rId3" tooltip="https://github.com/antonprafanto/mobile2026/blob/main/pertemuan_12_clean_architecture/kode/contoh_07_perintah_command.dart"/>
          </p:cNvPr>
          <p:cNvSpPr txBox="1"/>
          <p:nvPr/>
        </p:nvSpPr>
        <p:spPr>
          <a:xfrm>
            <a:off x="548640" y="1371600"/>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contoh_07_perintah_command.dart</a:t>
            </a:r>
            <a:endParaRPr lang="en-US" sz="1300" dirty="0"/>
          </a:p>
        </p:txBody>
      </p:sp>
      <p:pic>
        <p:nvPicPr>
          <p:cNvPr id="9" name="Image 2" descr="ikon tautan">
            <a:hlinkClick r:id="rId5" tooltip="https://github.com/antonprafanto/mobile2026/blob/main/pertemuan_12_clean_architecture/kode/contoh_07_perintah_command.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785055" cy="41148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Setiap tombol diketuk tiga kali dengan cepat (server palsu butuh 2 detik).</a:t>
            </a:r>
            <a:endParaRPr lang="en-US" sz="1600" dirty="0"/>
          </a:p>
          <a:p>
            <a:pPr marL="228600" indent="-228600">
              <a:spcAft>
                <a:spcPts val="800"/>
              </a:spcAft>
              <a:buSzPct val="100000"/>
              <a:buChar char="•"/>
            </a:pPr>
            <a:r>
              <a:rPr lang="en-US" sz="1600" dirty="0">
                <a:solidFill>
                  <a:schemeClr val="tx1"/>
                </a:solidFill>
              </a:rPr>
              <a:t>Kartu A (tanpa Perintah): 3 terkirim, tombol tetap aktif, SnackBar tiga kali.</a:t>
            </a:r>
            <a:endParaRPr lang="en-US" sz="1600" dirty="0"/>
          </a:p>
          <a:p>
            <a:pPr marL="228600" indent="-228600">
              <a:spcAft>
                <a:spcPts val="800"/>
              </a:spcAft>
              <a:buSzPct val="100000"/>
              <a:buChar char="•"/>
            </a:pPr>
            <a:r>
              <a:rPr lang="en-US" sz="1600" dirty="0">
                <a:solidFill>
                  <a:schemeClr val="tx1"/>
                </a:solidFill>
              </a:rPr>
              <a:t>Kartu B (dengan Perintah): 1 terkirim, abu-abu "Menyimpan...", SnackBar sekali.</a:t>
            </a:r>
            <a:endParaRPr lang="en-US" sz="1600" dirty="0"/>
          </a:p>
          <a:p>
            <a:pPr marL="228600" indent="-228600">
              <a:spcAft>
                <a:spcPts val="800"/>
              </a:spcAft>
              <a:buSzPct val="100000"/>
              <a:buChar char="•"/>
            </a:pPr>
            <a:r>
              <a:rPr lang="en-US" sz="1600" dirty="0">
                <a:solidFill>
                  <a:schemeClr val="tx1"/>
                </a:solidFill>
              </a:rPr>
              <a:t>Angka 4 = 3 (kartu A) + 1 (kartu B).</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9–10</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Setiap Lapisan dan Menata Folder</a:t>
            </a:r>
            <a:endParaRPr lang="en-US" sz="4000" dirty="0"/>
          </a:p>
        </p:txBody>
      </p:sp>
      <p:sp>
        <p:nvSpPr>
          <p:cNvPr id="5" name="lingkaran uji"/>
          <p:cNvSpPr/>
          <p:nvPr/>
        </p:nvSpPr>
        <p:spPr>
          <a:xfrm>
            <a:off x="1097280" y="2148840"/>
            <a:ext cx="2011680" cy="2011680"/>
          </a:xfrm>
          <a:prstGeom prst="ellipse">
            <a:avLst/>
          </a:prstGeom>
          <a:solidFill>
            <a:schemeClr val="accent1"/>
          </a:solidFill>
          <a:ln/>
        </p:spPr>
      </p:sp>
      <p:pic>
        <p:nvPicPr>
          <p:cNvPr id="6" name="Image 0" descr="uj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Apa yang Diuji di Setiap Lapisan</a:t>
            </a:r>
            <a:endParaRPr lang="en-US" sz="3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91038"/>
                <a:gridCol w="2869245"/>
                <a:gridCol w="4016943"/>
                <a:gridCol w="1817189"/>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diuji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Diganti dengan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 pemeriksaan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 modul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Entitas, aturan bisnis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perlu apa pun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"Sabtu ditolak"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Contoh 02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Use case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Repository palsu + jam tetap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"Bentrok ditolak dan tidak disimpan"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Contoh 06</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Repository server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Server palsu (MockClient)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"Kode 500 → ServerBermasalah"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Contoh 08</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ViewModel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Repository palsu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"Jadwal dibaca ulang setelah mengajukan"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Contoh 08</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View (widget)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ViewModel dengan data palsu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"Tombol mati selama menyimpan"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Pertemuan 14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Data palsu: CEPAT (di memori), PASTI (isinya kita tentukan), dan bisa PURA-PURA GAGAL. Internet sungguhan membuat pengujian rapuh.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Struktur Folder Lengkap</a:t>
            </a:r>
            <a:endParaRPr lang="en-US" sz="3200" dirty="0"/>
          </a:p>
        </p:txBody>
      </p:sp>
      <p:sp>
        <p:nvSpPr>
          <p:cNvPr id="4" name="kotak kode"/>
          <p:cNvSpPr txBox="1"/>
          <p:nvPr/>
        </p:nvSpPr>
        <p:spPr>
          <a:xfrm>
            <a:off x="548640" y="1371600"/>
            <a:ext cx="6949440" cy="3947922"/>
          </a:xfrm>
          <a:prstGeom prst="roundRect">
            <a:avLst>
              <a:gd name="adj" fmla="val 2316"/>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lib/</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main.dart, main_pengembangan.dart  ← titik masuk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config/dependensi.dart             ← akar komposisi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domain/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hasil.dart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models/        ← entitas, objek nilai, aturan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repositories/  ← KONTRAK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use_cases/     ← satu berkas per tindakan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data/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services/      ← HTTP, SQLite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models/        ← model API + keDomain()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repositories/  ← IMPLEMENTASI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ui/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core/          ← perintah, pesan_kegagalan,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daftar_ruang/  ← view_models/ + widgets/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jadwal_ruang/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peminjaman_saya/</a:t>
            </a:r>
            <a:endParaRPr lang="en-US" sz="1300" dirty="0"/>
          </a:p>
        </p:txBody>
      </p:sp>
      <p:sp>
        <p:nvSpPr>
          <p:cNvPr id="5" name="tombol tautan">
            <a:hlinkClick r:id="rId1" tooltip="https://github.com/antonprafanto/mobile2026/blob/main/pertemuan_12_clean_architecture/kode/contoh_08_studi_kasus_pinjam_ruang.dart"/>
          </p:cNvPr>
          <p:cNvSpPr txBox="1"/>
          <p:nvPr/>
        </p:nvSpPr>
        <p:spPr>
          <a:xfrm>
            <a:off x="548640" y="5548122"/>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contoh_08_studi_kasus_pinjam_ruang.dart</a:t>
            </a:r>
            <a:endParaRPr lang="en-US" sz="1300" dirty="0"/>
          </a:p>
        </p:txBody>
      </p:sp>
      <p:pic>
        <p:nvPicPr>
          <p:cNvPr id="6" name="Image 0" descr="ikon tautan">
            <a:hlinkClick r:id="rId3" tooltip="https://github.com/antonprafanto/mobile2026/blob/main/pertemuan_12_clean_architecture/kode/contoh_08_studi_kasus_pinjam_ruang.dart"/>
          </p:cNvPr>
          <p:cNvPicPr>
            <a:picLocks noChangeAspect="1"/>
          </p:cNvPicPr>
          <p:nvPr/>
        </p:nvPicPr>
        <p:blipFill>
          <a:blip r:embed="rId2"/>
          <a:stretch>
            <a:fillRect/>
          </a:stretch>
        </p:blipFill>
        <p:spPr>
          <a:xfrm>
            <a:off x="694944" y="5639562"/>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domain/ dan data/: dikelompokkan menurut JENIS.</a:t>
            </a:r>
            <a:endParaRPr lang="en-US" sz="1700" dirty="0"/>
          </a:p>
          <a:p>
            <a:pPr marL="228600" indent="-228600">
              <a:spcAft>
                <a:spcPts val="800"/>
              </a:spcAft>
              <a:buSzPct val="100000"/>
              <a:buChar char="•"/>
            </a:pPr>
            <a:r>
              <a:rPr lang="en-US" sz="1700" dirty="0">
                <a:solidFill>
                  <a:schemeClr val="tx1"/>
                </a:solidFill>
              </a:rPr>
              <a:t>ui/: dikelompokkan menurut FITUR (halaman).</a:t>
            </a:r>
            <a:endParaRPr lang="en-US" sz="1700" dirty="0"/>
          </a:p>
          <a:p>
            <a:pPr marL="228600" indent="-228600">
              <a:spcAft>
                <a:spcPts val="800"/>
              </a:spcAft>
              <a:buSzPct val="100000"/>
              <a:buChar char="•"/>
            </a:pPr>
            <a:r>
              <a:rPr lang="en-US" sz="1700" dirty="0">
                <a:solidFill>
                  <a:schemeClr val="tx1"/>
                </a:solidFill>
              </a:rPr>
              <a:t>Studi kasus ditulis satu berkas; setiap bagian berjudul BERKAS: lib/...</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Siapa Boleh Mengimpor Siapa</a:t>
            </a:r>
            <a:endParaRPr lang="en-US" sz="3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69245"/>
                <a:gridCol w="3921302"/>
                <a:gridCol w="4303868"/>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Berkas di folder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Boleh mengimpor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TIDAK boleh mengimpor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domain/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 lain, pustaka Dart (dart:async)</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flutter, provider, http, sqflite, shared_preferences, data/, ui/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data/</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 http, sqflite, shared_preferences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ui/, package:flutter/material.dart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ui/</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 Flutter, provider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Implementasi di data/ (cukup kontrak di 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config/, main*.dart</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Semuanya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Cek cepat di VS Code: Ctrl + Shift + F, cari package:flutter, isi "files to include" dengan lib/domain. Kosong = domain bersih.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Titik Masuk</a:t>
            </a:r>
            <a:endParaRPr lang="en-US" sz="3200" dirty="0"/>
          </a:p>
        </p:txBody>
      </p:sp>
      <p:sp>
        <p:nvSpPr>
          <p:cNvPr id="4" name="kotak kode"/>
          <p:cNvSpPr txBox="1"/>
          <p:nvPr/>
        </p:nvSpPr>
        <p:spPr>
          <a:xfrm>
            <a:off x="548640" y="1371600"/>
            <a:ext cx="7132320"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lib/main.dart: aplikasi sungguhan</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 main()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runApp(</a:t>
            </a:r>
            <a:r>
              <a:rPr lang="en-US" sz="1100" dirty="0">
                <a:solidFill>
                  <a:srgbClr val="FFCB6B"/>
                </a:solidFill>
                <a:latin typeface="Consolas" pitchFamily="34" charset="0"/>
                <a:ea typeface="Consolas" pitchFamily="34" charset="-122"/>
                <a:cs typeface="Consolas" pitchFamily="34" charset="-120"/>
              </a:rPr>
              <a:t>MultiProvider</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providers: buatPenyedia(</a:t>
            </a:r>
            <a:r>
              <a:rPr lang="en-US" sz="1100" dirty="0">
                <a:solidFill>
                  <a:srgbClr val="FFCB6B"/>
                </a:solidFill>
                <a:latin typeface="Consolas" pitchFamily="34" charset="0"/>
                <a:ea typeface="Consolas" pitchFamily="34" charset="-122"/>
                <a:cs typeface="Consolas" pitchFamily="34" charset="-120"/>
              </a:rPr>
              <a:t>Lingkungan</a:t>
            </a:r>
            <a:r>
              <a:rPr lang="en-US" sz="1100" dirty="0">
                <a:solidFill>
                  <a:srgbClr val="E6EDF3"/>
                </a:solidFill>
                <a:latin typeface="Consolas" pitchFamily="34" charset="0"/>
                <a:ea typeface="Consolas" pitchFamily="34" charset="-122"/>
                <a:cs typeface="Consolas" pitchFamily="34" charset="-120"/>
              </a:rPr>
              <a:t>.produksi),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AplikasiPinjamRuang</a:t>
            </a:r>
            <a:r>
              <a:rPr lang="en-US" sz="1100" dirty="0">
                <a:solidFill>
                  <a:srgbClr val="E6EDF3"/>
                </a:solidFill>
                <a:latin typeface="Consolas" pitchFamily="34" charset="0"/>
                <a:ea typeface="Consolas" pitchFamily="34" charset="-122"/>
                <a:cs typeface="Consolas" pitchFamily="34" charset="-120"/>
              </a:rPr>
              <a:t>(lingkungan: </a:t>
            </a:r>
            <a:r>
              <a:rPr lang="en-US" sz="1100" dirty="0">
                <a:solidFill>
                  <a:srgbClr val="FFCB6B"/>
                </a:solidFill>
                <a:latin typeface="Consolas" pitchFamily="34" charset="0"/>
                <a:ea typeface="Consolas" pitchFamily="34" charset="-122"/>
                <a:cs typeface="Consolas" pitchFamily="34" charset="-120"/>
              </a:rPr>
              <a:t>Lingkungan</a:t>
            </a:r>
            <a:r>
              <a:rPr lang="en-US" sz="1100" dirty="0">
                <a:solidFill>
                  <a:srgbClr val="E6EDF3"/>
                </a:solidFill>
                <a:latin typeface="Consolas" pitchFamily="34" charset="0"/>
                <a:ea typeface="Consolas" pitchFamily="34" charset="-122"/>
                <a:cs typeface="Consolas" pitchFamily="34" charset="-120"/>
              </a:rPr>
              <a:t>.produksi),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lib/main_pengembangan.dart: data palsu + pita "DATA PALSU"</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 sama, dengan Lingkungan.pengembangan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Pilih</a:t>
            </a:r>
            <a:r>
              <a:rPr lang="en-US" sz="1100" dirty="0">
                <a:solidFill>
                  <a:srgbClr val="E6EDF3"/>
                </a:solidFill>
                <a:latin typeface="Consolas" pitchFamily="34" charset="0"/>
                <a:ea typeface="Consolas" pitchFamily="34" charset="-122"/>
                <a:cs typeface="Consolas" pitchFamily="34" charset="-120"/>
              </a:rPr>
              <a:t> titik masuk dengan -t (target):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flutter run -d chrome --web-port=</a:t>
            </a:r>
            <a:r>
              <a:rPr lang="en-US" sz="1100" dirty="0">
                <a:solidFill>
                  <a:srgbClr val="F78C6C"/>
                </a:solidFill>
                <a:latin typeface="Consolas" pitchFamily="34" charset="0"/>
                <a:ea typeface="Consolas" pitchFamily="34" charset="-122"/>
                <a:cs typeface="Consolas" pitchFamily="34" charset="-120"/>
              </a:rPr>
              <a:t>8080</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flutter run -d chrome --web-port=</a:t>
            </a:r>
            <a:r>
              <a:rPr lang="en-US" sz="1100" dirty="0">
                <a:solidFill>
                  <a:srgbClr val="F78C6C"/>
                </a:solidFill>
                <a:latin typeface="Consolas" pitchFamily="34" charset="0"/>
                <a:ea typeface="Consolas" pitchFamily="34" charset="-122"/>
                <a:cs typeface="Consolas" pitchFamily="34" charset="-120"/>
              </a:rPr>
              <a:t>8080</a:t>
            </a:r>
            <a:r>
              <a:rPr lang="en-US" sz="1100" dirty="0">
                <a:solidFill>
                  <a:srgbClr val="E6EDF3"/>
                </a:solidFill>
                <a:latin typeface="Consolas" pitchFamily="34" charset="0"/>
                <a:ea typeface="Consolas" pitchFamily="34" charset="-122"/>
                <a:cs typeface="Consolas" pitchFamily="34" charset="-120"/>
              </a:rPr>
              <a:t> -t lib/main_pengembangan.dart</a:t>
            </a:r>
            <a:endParaRPr lang="en-US" sz="1100" dirty="0"/>
          </a:p>
        </p:txBody>
      </p:sp>
      <p:sp>
        <p:nvSpPr>
          <p:cNvPr id="5" name="tombol tautan">
            <a:hlinkClick r:id="rId1" tooltip="https://github.com/antonprafanto/mobile2026/blob/main/pertemuan_12_clean_architecture/kode/contoh_08_studi_kasus_pinjam_ruang.dart"/>
          </p:cNvPr>
          <p:cNvSpPr txBox="1"/>
          <p:nvPr/>
        </p:nvSpPr>
        <p:spPr>
          <a:xfrm>
            <a:off x="548640" y="4475988"/>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contoh_08_studi_kasus_pinjam_ruang.dart</a:t>
            </a:r>
            <a:endParaRPr lang="en-US" sz="1300" dirty="0"/>
          </a:p>
        </p:txBody>
      </p:sp>
      <p:pic>
        <p:nvPicPr>
          <p:cNvPr id="6" name="Image 0" descr="ikon tautan">
            <a:hlinkClick r:id="rId3" tooltip="https://github.com/antonprafanto/mobile2026/blob/main/pertemuan_12_clean_architecture/kode/contoh_08_studi_kasus_pinjam_ruang.dart"/>
          </p:cNvPr>
          <p:cNvPicPr>
            <a:picLocks noChangeAspect="1"/>
          </p:cNvPicPr>
          <p:nvPr/>
        </p:nvPicPr>
        <p:blipFill>
          <a:blip r:embed="rId2"/>
          <a:stretch>
            <a:fillRect/>
          </a:stretch>
        </p:blipFill>
        <p:spPr>
          <a:xfrm>
            <a:off x="694944" y="4567428"/>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Tidak perlu mengganti satu baris setiap kali.</a:t>
            </a:r>
            <a:endParaRPr lang="en-US" sz="1700" dirty="0"/>
          </a:p>
          <a:p>
            <a:pPr marL="228600" indent="-228600">
              <a:spcAft>
                <a:spcPts val="800"/>
              </a:spcAft>
              <a:buSzPct val="100000"/>
              <a:buChar char="•"/>
            </a:pPr>
            <a:r>
              <a:rPr lang="en-US" sz="1700" dirty="0">
                <a:solidFill>
                  <a:schemeClr val="tx1"/>
                </a:solidFill>
              </a:rPr>
              <a:t>Studi kasus resmi Flutter ("Compass"): main_development.dart dan main_staging.dart.</a:t>
            </a:r>
            <a:endParaRPr lang="en-US" sz="1700" dirty="0"/>
          </a:p>
          <a:p>
            <a:pPr marL="228600" indent="-228600">
              <a:spcAft>
                <a:spcPts val="800"/>
              </a:spcAft>
              <a:buSzPct val="100000"/>
              <a:buChar char="•"/>
            </a:pPr>
            <a:r>
              <a:rPr lang="en-US" sz="1700" dirty="0">
                <a:solidFill>
                  <a:schemeClr val="tx1"/>
                </a:solidFill>
              </a:rPr>
              <a:t>Tim bekerja paralel: tampilan dengan data palsu, server disambung orang lain.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Pindah dari Struktur Pertemuan 9–11</a:t>
            </a:r>
            <a:endParaRPr lang="en-US" sz="3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43094"/>
                <a:gridCol w="3730019"/>
                <a:gridCol w="3921302"/>
              </a:tblGrid>
              <a:tr h="676656">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Pertemuan 9–11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Hari ini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Alasannya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Kontrak di data/repositories/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Kontrak di domain/repositories/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 tidak boleh bergantung pada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Repository melempar exception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Repository mengembalikan Hasil&lt;T&gt;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Kegagalan terlihat; UI bebas dari http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fromJson di Model atau repository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Bisa di model API (data/models/)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Jika JSON jauh berbeda dari kebutuhan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MultiProvider di main.dart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buatPenyedia() di config/dependensi.dart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tempat memilih implementasi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bool memuat di ViewModel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Perintah (ui/core/perintah.dart)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Setiap aksi punya status sendiri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76656">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domain/use_cases/ (jika perlu)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Logika yang memakai beberapa repository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Pinjam Ruang Kampus</a:t>
            </a:r>
            <a:endParaRPr lang="en-US" sz="4000" dirty="0"/>
          </a:p>
        </p:txBody>
      </p:sp>
      <p:sp>
        <p:nvSpPr>
          <p:cNvPr id="5" name="lingkaran gedung"/>
          <p:cNvSpPr/>
          <p:nvPr/>
        </p:nvSpPr>
        <p:spPr>
          <a:xfrm>
            <a:off x="1097280" y="2148840"/>
            <a:ext cx="2011680" cy="2011680"/>
          </a:xfrm>
          <a:prstGeom prst="ellipse">
            <a:avLst/>
          </a:prstGeom>
          <a:solidFill>
            <a:schemeClr val="accent1"/>
          </a:solidFill>
          <a:ln/>
        </p:spPr>
      </p:sp>
      <p:pic>
        <p:nvPicPr>
          <p:cNvPr id="6" name="Image 0" descr="gedu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Fitur dan Aturan</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77962"/>
                <a:gridCol w="8416453"/>
              </a:tblGrid>
              <a:tr h="7315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Halaman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Fitur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3152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Ruang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Daftar ruang aktif dari server: gedung, lantai, fasilitas, kapasitas. Saringan: Semua, ≥ 20, ≥ 40, ≥ 80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Jadwal ruang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Lima hari kerja, jadwal yang sudah terisi, tombol Ajukan peminjaman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3152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Lembar pengajuan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Keperluan, peserta, jam mulai (07.00–20.00), lama (1, 1½, 2, 3 jam). Penolakan di kartu merah tanpa menutup lembar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Peminjaman Saya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Peminjaman milik pengguna aktif, jumlah yang masih aktif (dari batas 2), tombol batal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Aturan: keperluan wajib; peserta 1 sampai kapasitas; 30 menit sampai 3 jam; Senin–Jumat 07.00–21.00; tidak di masa lalu; tidak bentrok; paling banyak 2 peminjaman aktif.</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Perjalanan Satu Ketukan "Ajukan"</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sentuh"/>
          <p:cNvSpPr/>
          <p:nvPr/>
        </p:nvSpPr>
        <p:spPr>
          <a:xfrm>
            <a:off x="1095726" y="2103120"/>
            <a:ext cx="868680" cy="868680"/>
          </a:xfrm>
          <a:prstGeom prst="ellipse">
            <a:avLst/>
          </a:prstGeom>
          <a:solidFill>
            <a:schemeClr val="accent1"/>
          </a:solidFill>
          <a:ln/>
        </p:spPr>
      </p:sp>
      <p:pic>
        <p:nvPicPr>
          <p:cNvPr id="6" name="Image 0" descr="sentuh">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500" b="1" dirty="0">
                <a:solidFill>
                  <a:schemeClr val="tx2"/>
                </a:solidFill>
              </a:rPr>
              <a:t>LembarPengajuan</a:t>
            </a:r>
            <a:endParaRPr lang="en-US" sz="15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Hanya mengumpulkan isian, lalu menjalankan Perintah</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tombol"/>
          <p:cNvSpPr/>
          <p:nvPr/>
        </p:nvSpPr>
        <p:spPr>
          <a:xfrm>
            <a:off x="3378617" y="2103120"/>
            <a:ext cx="868680" cy="868680"/>
          </a:xfrm>
          <a:prstGeom prst="ellipse">
            <a:avLst/>
          </a:prstGeom>
          <a:solidFill>
            <a:schemeClr val="accent6"/>
          </a:solidFill>
          <a:ln/>
        </p:spPr>
      </p:sp>
      <p:pic>
        <p:nvPicPr>
          <p:cNvPr id="13" name="Image 1" descr="tombol">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Perintah ajukan</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sedangBerjalan = true: tombol mati</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restoran"/>
          <p:cNvSpPr/>
          <p:nvPr/>
        </p:nvSpPr>
        <p:spPr>
          <a:xfrm>
            <a:off x="5661508" y="2103120"/>
            <a:ext cx="868680" cy="868680"/>
          </a:xfrm>
          <a:prstGeom prst="ellipse">
            <a:avLst/>
          </a:prstGeom>
          <a:solidFill>
            <a:schemeClr val="accent1"/>
          </a:solidFill>
          <a:ln/>
        </p:spPr>
      </p:sp>
      <p:pic>
        <p:nvPicPr>
          <p:cNvPr id="20" name="Image 2" descr="restoran">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JadwalRuang ViewModel</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Meneruskan ke use case bersama pengguna aktif</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tugas"/>
          <p:cNvSpPr/>
          <p:nvPr/>
        </p:nvSpPr>
        <p:spPr>
          <a:xfrm>
            <a:off x="7944399" y="2103120"/>
            <a:ext cx="868680" cy="868680"/>
          </a:xfrm>
          <a:prstGeom prst="ellipse">
            <a:avLst/>
          </a:prstGeom>
          <a:solidFill>
            <a:schemeClr val="accent4"/>
          </a:solidFill>
          <a:ln/>
        </p:spPr>
      </p:sp>
      <p:pic>
        <p:nvPicPr>
          <p:cNvPr id="27" name="Image 3" descr="tugas">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400" b="1" dirty="0">
                <a:solidFill>
                  <a:schemeClr val="tx2"/>
                </a:solidFill>
              </a:rPr>
              <a:t>AjukanPeminjaman</a:t>
            </a:r>
            <a:endParaRPr lang="en-US" sz="14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Membaca repository; melanggar aturan → Gagal, lolos → simpan</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ulang"/>
          <p:cNvSpPr/>
          <p:nvPr/>
        </p:nvSpPr>
        <p:spPr>
          <a:xfrm>
            <a:off x="10227290" y="2103120"/>
            <a:ext cx="868680" cy="868680"/>
          </a:xfrm>
          <a:prstGeom prst="ellipse">
            <a:avLst/>
          </a:prstGeom>
          <a:solidFill>
            <a:schemeClr val="accent3"/>
          </a:solidFill>
          <a:ln/>
        </p:spPr>
      </p:sp>
      <p:pic>
        <p:nvPicPr>
          <p:cNvPr id="34" name="Image 4" descr="ulang">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Baca ulang</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Jadwal dibaca ulang; kartu merah, atau lembar ditutup + SnackBar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08: Ruang, Jadwal, dan Penolakan</a:t>
            </a:r>
            <a:endParaRPr lang="en-US" sz="3200" dirty="0"/>
          </a:p>
        </p:txBody>
      </p:sp>
      <p:sp>
        <p:nvSpPr>
          <p:cNvPr id="4" name="bingkai layar 1"/>
          <p:cNvSpPr/>
          <p:nvPr/>
        </p:nvSpPr>
        <p:spPr>
          <a:xfrm>
            <a:off x="4181551" y="1316736"/>
            <a:ext cx="2395728" cy="3663874"/>
          </a:xfrm>
          <a:prstGeom prst="roundRect">
            <a:avLst>
              <a:gd name="adj" fmla="val 3817"/>
            </a:avLst>
          </a:prstGeom>
          <a:solidFill>
            <a:srgbClr val="FFFFFF"/>
          </a:solidFill>
          <a:ln w="12700">
            <a:solidFill>
              <a:srgbClr val="C9D3E0"/>
            </a:solidFill>
            <a:prstDash val="solid"/>
          </a:ln>
        </p:spPr>
      </p:sp>
      <p:pic>
        <p:nvPicPr>
          <p:cNvPr id="5" name="layar 1" descr="Tangkapan layar aplikasi (hasil_contoh_08a.jpg)">    </p:cNvPr>
          <p:cNvPicPr>
            <a:picLocks noChangeAspect="1"/>
          </p:cNvPicPr>
          <p:nvPr/>
        </p:nvPicPr>
        <p:blipFill>
          <a:blip r:embed="rId1"/>
          <a:stretch>
            <a:fillRect/>
          </a:stretch>
        </p:blipFill>
        <p:spPr>
          <a:xfrm>
            <a:off x="4236415" y="1371600"/>
            <a:ext cx="2286000" cy="3554146"/>
          </a:xfrm>
          <a:prstGeom prst="rect">
            <a:avLst/>
          </a:prstGeom>
        </p:spPr>
      </p:pic>
      <p:sp>
        <p:nvSpPr>
          <p:cNvPr id="6" name="bingkai layar 2"/>
          <p:cNvSpPr/>
          <p:nvPr/>
        </p:nvSpPr>
        <p:spPr>
          <a:xfrm>
            <a:off x="6741871" y="1316736"/>
            <a:ext cx="2395728" cy="3663874"/>
          </a:xfrm>
          <a:prstGeom prst="roundRect">
            <a:avLst>
              <a:gd name="adj" fmla="val 3817"/>
            </a:avLst>
          </a:prstGeom>
          <a:solidFill>
            <a:srgbClr val="FFFFFF"/>
          </a:solidFill>
          <a:ln w="12700">
            <a:solidFill>
              <a:srgbClr val="C9D3E0"/>
            </a:solidFill>
            <a:prstDash val="solid"/>
          </a:ln>
        </p:spPr>
      </p:sp>
      <p:pic>
        <p:nvPicPr>
          <p:cNvPr id="7" name="layar 2" descr="Tangkapan layar aplikasi (hasil_contoh_08b.jpg)">    </p:cNvPr>
          <p:cNvPicPr>
            <a:picLocks noChangeAspect="1"/>
          </p:cNvPicPr>
          <p:nvPr/>
        </p:nvPicPr>
        <p:blipFill>
          <a:blip r:embed="rId2"/>
          <a:stretch>
            <a:fillRect/>
          </a:stretch>
        </p:blipFill>
        <p:spPr>
          <a:xfrm>
            <a:off x="6796735" y="1371600"/>
            <a:ext cx="2286000" cy="3554146"/>
          </a:xfrm>
          <a:prstGeom prst="rect">
            <a:avLst/>
          </a:prstGeom>
        </p:spPr>
      </p:pic>
      <p:sp>
        <p:nvSpPr>
          <p:cNvPr id="8" name="bingkai layar 3"/>
          <p:cNvSpPr/>
          <p:nvPr/>
        </p:nvSpPr>
        <p:spPr>
          <a:xfrm>
            <a:off x="9302191" y="1316736"/>
            <a:ext cx="2395728" cy="3663874"/>
          </a:xfrm>
          <a:prstGeom prst="roundRect">
            <a:avLst>
              <a:gd name="adj" fmla="val 3817"/>
            </a:avLst>
          </a:prstGeom>
          <a:solidFill>
            <a:srgbClr val="FFFFFF"/>
          </a:solidFill>
          <a:ln w="12700">
            <a:solidFill>
              <a:srgbClr val="C9D3E0"/>
            </a:solidFill>
            <a:prstDash val="solid"/>
          </a:ln>
        </p:spPr>
      </p:sp>
      <p:pic>
        <p:nvPicPr>
          <p:cNvPr id="9" name="layar 3" descr="Tangkapan layar aplikasi (hasil_contoh_08c.jpg)">    </p:cNvPr>
          <p:cNvPicPr>
            <a:picLocks noChangeAspect="1"/>
          </p:cNvPicPr>
          <p:nvPr/>
        </p:nvPicPr>
        <p:blipFill>
          <a:blip r:embed="rId3"/>
          <a:stretch>
            <a:fillRect/>
          </a:stretch>
        </p:blipFill>
        <p:spPr>
          <a:xfrm>
            <a:off x="9357055" y="1371600"/>
            <a:ext cx="2286000" cy="3554146"/>
          </a:xfrm>
          <a:prstGeom prst="rect">
            <a:avLst/>
          </a:prstGeom>
        </p:spPr>
      </p:pic>
      <p:sp>
        <p:nvSpPr>
          <p:cNvPr id="10" name="tombol tautan">
            <a:hlinkClick r:id="rId4" tooltip="https://github.com/antonprafanto/mobile2026/blob/main/pertemuan_12_clean_architecture/kode/contoh_08_studi_kasus_pinjam_ruang.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050" b="1" dirty="0">
                <a:solidFill>
                  <a:schemeClr val="bg1"/>
                </a:solidFill>
              </a:rPr>
              <a:t>Kode di GitHub  ·  contoh_08_studi_kasus_pinjam_ruang.dart</a:t>
            </a:r>
            <a:endParaRPr lang="en-US" sz="1050" dirty="0"/>
          </a:p>
        </p:txBody>
      </p:sp>
      <p:pic>
        <p:nvPicPr>
          <p:cNvPr id="11" name="Image 3" descr="ikon tautan">
            <a:hlinkClick r:id="rId6" tooltip="https://github.com/antonprafanto/mobile2026/blob/main/pertemuan_12_clean_architecture/kode/contoh_08_studi_kasus_pinjam_ruang.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Daftar ruang dengan saringan kapasitas.</a:t>
            </a:r>
            <a:endParaRPr lang="en-US" sz="1500" dirty="0"/>
          </a:p>
          <a:p>
            <a:pPr marL="228600" indent="-228600">
              <a:spcAft>
                <a:spcPts val="800"/>
              </a:spcAft>
              <a:buSzPct val="100000"/>
              <a:buChar char="•"/>
            </a:pPr>
            <a:r>
              <a:rPr lang="en-US" sz="1500" dirty="0">
                <a:solidFill>
                  <a:schemeClr val="tx1"/>
                </a:solidFill>
              </a:rPr>
              <a:t>Jadwal Ruang Seminar C.105, Senin 19 Okt.</a:t>
            </a:r>
            <a:endParaRPr lang="en-US" sz="1500" dirty="0"/>
          </a:p>
          <a:p>
            <a:pPr marL="228600" indent="-228600">
              <a:spcAft>
                <a:spcPts val="800"/>
              </a:spcAft>
              <a:buSzPct val="100000"/>
              <a:buChar char="•"/>
            </a:pPr>
            <a:r>
              <a:rPr lang="en-US" sz="1500" dirty="0">
                <a:solidFill>
                  <a:schemeClr val="tx1"/>
                </a:solidFill>
              </a:rPr>
              <a:t>Rapat pukul 09.00 → kartu merah "Bentrok dengan "Seminar Proposal Skripsi" pukul 09.00–11.00."</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08: Berhasil, Peminjaman Saya, Data Palsu</a:t>
            </a:r>
            <a:endParaRPr lang="en-US" sz="3200" dirty="0"/>
          </a:p>
        </p:txBody>
      </p:sp>
      <p:sp>
        <p:nvSpPr>
          <p:cNvPr id="4" name="bingkai layar 1"/>
          <p:cNvSpPr/>
          <p:nvPr/>
        </p:nvSpPr>
        <p:spPr>
          <a:xfrm>
            <a:off x="4181551" y="1316736"/>
            <a:ext cx="2395728" cy="3663874"/>
          </a:xfrm>
          <a:prstGeom prst="roundRect">
            <a:avLst>
              <a:gd name="adj" fmla="val 3817"/>
            </a:avLst>
          </a:prstGeom>
          <a:solidFill>
            <a:srgbClr val="FFFFFF"/>
          </a:solidFill>
          <a:ln w="12700">
            <a:solidFill>
              <a:srgbClr val="C9D3E0"/>
            </a:solidFill>
            <a:prstDash val="solid"/>
          </a:ln>
        </p:spPr>
      </p:sp>
      <p:pic>
        <p:nvPicPr>
          <p:cNvPr id="5" name="layar 1" descr="Tangkapan layar aplikasi (hasil_contoh_08d.jpg)">    </p:cNvPr>
          <p:cNvPicPr>
            <a:picLocks noChangeAspect="1"/>
          </p:cNvPicPr>
          <p:nvPr/>
        </p:nvPicPr>
        <p:blipFill>
          <a:blip r:embed="rId1"/>
          <a:stretch>
            <a:fillRect/>
          </a:stretch>
        </p:blipFill>
        <p:spPr>
          <a:xfrm>
            <a:off x="4236415" y="1371600"/>
            <a:ext cx="2286000" cy="3554146"/>
          </a:xfrm>
          <a:prstGeom prst="rect">
            <a:avLst/>
          </a:prstGeom>
        </p:spPr>
      </p:pic>
      <p:sp>
        <p:nvSpPr>
          <p:cNvPr id="6" name="bingkai layar 2"/>
          <p:cNvSpPr/>
          <p:nvPr/>
        </p:nvSpPr>
        <p:spPr>
          <a:xfrm>
            <a:off x="6741871" y="1316736"/>
            <a:ext cx="2395728" cy="3663874"/>
          </a:xfrm>
          <a:prstGeom prst="roundRect">
            <a:avLst>
              <a:gd name="adj" fmla="val 3817"/>
            </a:avLst>
          </a:prstGeom>
          <a:solidFill>
            <a:srgbClr val="FFFFFF"/>
          </a:solidFill>
          <a:ln w="12700">
            <a:solidFill>
              <a:srgbClr val="C9D3E0"/>
            </a:solidFill>
            <a:prstDash val="solid"/>
          </a:ln>
        </p:spPr>
      </p:sp>
      <p:pic>
        <p:nvPicPr>
          <p:cNvPr id="7" name="layar 2" descr="Tangkapan layar aplikasi (hasil_contoh_08e.jpg)">    </p:cNvPr>
          <p:cNvPicPr>
            <a:picLocks noChangeAspect="1"/>
          </p:cNvPicPr>
          <p:nvPr/>
        </p:nvPicPr>
        <p:blipFill>
          <a:blip r:embed="rId2"/>
          <a:stretch>
            <a:fillRect/>
          </a:stretch>
        </p:blipFill>
        <p:spPr>
          <a:xfrm>
            <a:off x="6796735" y="1371600"/>
            <a:ext cx="2286000" cy="3554146"/>
          </a:xfrm>
          <a:prstGeom prst="rect">
            <a:avLst/>
          </a:prstGeom>
        </p:spPr>
      </p:pic>
      <p:sp>
        <p:nvSpPr>
          <p:cNvPr id="8" name="bingkai layar 3"/>
          <p:cNvSpPr/>
          <p:nvPr/>
        </p:nvSpPr>
        <p:spPr>
          <a:xfrm>
            <a:off x="9302191" y="1316736"/>
            <a:ext cx="2395728" cy="3663874"/>
          </a:xfrm>
          <a:prstGeom prst="roundRect">
            <a:avLst>
              <a:gd name="adj" fmla="val 3817"/>
            </a:avLst>
          </a:prstGeom>
          <a:solidFill>
            <a:srgbClr val="FFFFFF"/>
          </a:solidFill>
          <a:ln w="12700">
            <a:solidFill>
              <a:srgbClr val="C9D3E0"/>
            </a:solidFill>
            <a:prstDash val="solid"/>
          </a:ln>
        </p:spPr>
      </p:sp>
      <p:pic>
        <p:nvPicPr>
          <p:cNvPr id="9" name="layar 3" descr="Tangkapan layar aplikasi (hasil_contoh_08f.jpg)">    </p:cNvPr>
          <p:cNvPicPr>
            <a:picLocks noChangeAspect="1"/>
          </p:cNvPicPr>
          <p:nvPr/>
        </p:nvPicPr>
        <p:blipFill>
          <a:blip r:embed="rId3"/>
          <a:stretch>
            <a:fillRect/>
          </a:stretch>
        </p:blipFill>
        <p:spPr>
          <a:xfrm>
            <a:off x="9357055" y="1371600"/>
            <a:ext cx="2286000" cy="3554146"/>
          </a:xfrm>
          <a:prstGeom prst="rect">
            <a:avLst/>
          </a:prstGeom>
        </p:spPr>
      </p:pic>
      <p:sp>
        <p:nvSpPr>
          <p:cNvPr id="10" name="tombol tautan">
            <a:hlinkClick r:id="rId4" tooltip="https://github.com/antonprafanto/mobile2026/blob/main/pertemuan_12_clean_architecture/kode/contoh_08_studi_kasus_pinjam_ruang.dart"/>
          </p:cNvPr>
          <p:cNvSpPr txBox="1"/>
          <p:nvPr/>
        </p:nvSpPr>
        <p:spPr>
          <a:xfrm>
            <a:off x="548640" y="1371600"/>
            <a:ext cx="3230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050" b="1" dirty="0">
                <a:solidFill>
                  <a:schemeClr val="bg1"/>
                </a:solidFill>
              </a:rPr>
              <a:t>Kode di GitHub  ·  contoh_08_studi_kasus_pinjam_ruang.dart</a:t>
            </a:r>
            <a:endParaRPr lang="en-US" sz="1050" dirty="0"/>
          </a:p>
        </p:txBody>
      </p:sp>
      <p:pic>
        <p:nvPicPr>
          <p:cNvPr id="11" name="Image 3" descr="ikon tautan">
            <a:hlinkClick r:id="rId6" tooltip="https://github.com/antonprafanto/mobile2026/blob/main/pertemuan_12_clean_architecture/kode/contoh_08_studi_kasus_pinjam_ruang.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2305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Jam diganti 11.00 → "Peminjaman PJ-005 tercatat".</a:t>
            </a:r>
            <a:endParaRPr lang="en-US" sz="1500" dirty="0"/>
          </a:p>
          <a:p>
            <a:pPr marL="228600" indent="-228600">
              <a:spcAft>
                <a:spcPts val="800"/>
              </a:spcAft>
              <a:buSzPct val="100000"/>
              <a:buChar char="•"/>
            </a:pPr>
            <a:r>
              <a:rPr lang="en-US" sz="1500" dirty="0">
                <a:solidFill>
                  <a:schemeClr val="tx1"/>
                </a:solidFill>
              </a:rPr>
              <a:t>Budi: "2 dari 2 peminjaman aktif" → pengajuan ketiga ditolak.</a:t>
            </a:r>
            <a:endParaRPr lang="en-US" sz="1500" dirty="0"/>
          </a:p>
          <a:p>
            <a:pPr marL="228600" indent="-228600">
              <a:spcAft>
                <a:spcPts val="800"/>
              </a:spcAft>
              <a:buSzPct val="100000"/>
              <a:buChar char="•"/>
            </a:pPr>
            <a:r>
              <a:rPr lang="en-US" sz="1500" dirty="0">
                <a:solidFill>
                  <a:schemeClr val="tx1"/>
                </a:solidFill>
              </a:rPr>
              <a:t>Lingkungan pengembangan: pita DATA PALSU, saringan ≥ 40.</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Lingkungan dan 23 Pemeriksaan</a:t>
            </a:r>
            <a:endParaRPr lang="en-US" sz="3200" dirty="0"/>
          </a:p>
        </p:txBody>
      </p:sp>
      <p:sp>
        <p:nvSpPr>
          <p:cNvPr id="4" name="kotak kode"/>
          <p:cNvSpPr txBox="1"/>
          <p:nvPr/>
        </p:nvSpPr>
        <p:spPr>
          <a:xfrm>
            <a:off x="548640" y="1371600"/>
            <a:ext cx="731520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Satu-satunya baris yang diubah untuk memakai data palsu</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Lingkungan</a:t>
            </a:r>
            <a:r>
              <a:rPr lang="en-US" sz="1200" dirty="0">
                <a:solidFill>
                  <a:srgbClr val="E6EDF3"/>
                </a:solidFill>
                <a:latin typeface="Consolas" pitchFamily="34" charset="0"/>
                <a:ea typeface="Consolas" pitchFamily="34" charset="-122"/>
                <a:cs typeface="Consolas" pitchFamily="34" charset="-120"/>
              </a:rPr>
              <a:t> lingkungan = </a:t>
            </a:r>
            <a:r>
              <a:rPr lang="en-US" sz="1200" dirty="0">
                <a:solidFill>
                  <a:srgbClr val="FFCB6B"/>
                </a:solidFill>
                <a:latin typeface="Consolas" pitchFamily="34" charset="0"/>
                <a:ea typeface="Consolas" pitchFamily="34" charset="-122"/>
                <a:cs typeface="Consolas" pitchFamily="34" charset="-120"/>
              </a:rPr>
              <a:t>Lingkungan</a:t>
            </a:r>
            <a:r>
              <a:rPr lang="en-US" sz="1200" dirty="0">
                <a:solidFill>
                  <a:srgbClr val="E6EDF3"/>
                </a:solidFill>
                <a:latin typeface="Consolas" pitchFamily="34" charset="0"/>
                <a:ea typeface="Consolas" pitchFamily="34" charset="-122"/>
                <a:cs typeface="Consolas" pitchFamily="34" charset="-120"/>
              </a:rPr>
              <a:t>.produksi;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Konsol sebelum aplikasi tampil (sebagian dari 23 baris):</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Rentang 09.00-11.00 dan 11.00-12.00 tidak bertumpuk</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Sabtu ditolak</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Bentrok dengan jadwal lain ditolak</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Peminjaman ketiga yang masih aktif ditolak</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Fasilitas yang belum dikenal (stage) dilewati</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Panggilan kedua memakai salinan memori</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Kode 500 -&gt; ServerBermasalah</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Tanpa koneksi -&gt; TanpaKoneksi</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LULUS  Jadwal Kamis dibaca ulang setelah mengajukan</a:t>
            </a:r>
            <a:endParaRPr lang="en-US" sz="1200" dirty="0"/>
          </a:p>
        </p:txBody>
      </p:sp>
      <p:sp>
        <p:nvSpPr>
          <p:cNvPr id="5" name="tombol tautan">
            <a:hlinkClick r:id="rId1" tooltip="https://github.com/antonprafanto/mobile2026/blob/main/pertemuan_12_clean_architecture/kode/contoh_08_studi_kasus_pinjam_ruang.dart"/>
          </p:cNvPr>
          <p:cNvSpPr txBox="1"/>
          <p:nvPr/>
        </p:nvSpPr>
        <p:spPr>
          <a:xfrm>
            <a:off x="548640" y="4507992"/>
            <a:ext cx="73152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contoh_08_studi_kasus_pinjam_ruang.dart</a:t>
            </a:r>
            <a:endParaRPr lang="en-US" sz="1300" dirty="0"/>
          </a:p>
        </p:txBody>
      </p:sp>
      <p:pic>
        <p:nvPicPr>
          <p:cNvPr id="6" name="Image 0" descr="ikon tautan">
            <a:hlinkClick r:id="rId3" tooltip="https://github.com/antonprafanto/mobile2026/blob/main/pertemuan_12_clean_architecture/kode/contoh_08_studi_kasus_pinjam_ruang.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8275320" y="1417320"/>
            <a:ext cx="33677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Jam tetap: Rabu, 14 Oktober 2026 pukul 10.00.</a:t>
            </a:r>
            <a:endParaRPr lang="en-US" sz="1700" dirty="0"/>
          </a:p>
          <a:p>
            <a:pPr marL="228600" indent="-228600">
              <a:spcAft>
                <a:spcPts val="800"/>
              </a:spcAft>
              <a:buSzPct val="100000"/>
              <a:buChar char="•"/>
            </a:pPr>
            <a:r>
              <a:rPr lang="en-US" sz="1700" dirty="0">
                <a:solidFill>
                  <a:schemeClr val="tx1"/>
                </a:solidFill>
              </a:rPr>
              <a:t>Empat bagian: domain, use case, repository server (MockClient), ViewModel.</a:t>
            </a:r>
            <a:endParaRPr lang="en-US" sz="1700" dirty="0"/>
          </a:p>
          <a:p>
            <a:pPr marL="228600" indent="-228600">
              <a:spcAft>
                <a:spcPts val="800"/>
              </a:spcAft>
              <a:buSzPct val="100000"/>
              <a:buChar char="•"/>
            </a:pPr>
            <a:r>
              <a:rPr lang="en-US" sz="1700" dirty="0">
                <a:solidFill>
                  <a:schemeClr val="tx1"/>
                </a:solidFill>
              </a:rPr>
              <a:t>Semua LULUS = lapisannya benar, sebelum satu tombol pun diketuk.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12–14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Secukupnya, Kesalahan Umum, dan Proyek Akhir</a:t>
            </a:r>
            <a:endParaRPr lang="en-US" sz="4000" dirty="0"/>
          </a:p>
        </p:txBody>
      </p:sp>
      <p:sp>
        <p:nvSpPr>
          <p:cNvPr id="5" name="lingkaran rambu"/>
          <p:cNvSpPr/>
          <p:nvPr/>
        </p:nvSpPr>
        <p:spPr>
          <a:xfrm>
            <a:off x="1097280" y="2148840"/>
            <a:ext cx="2011680" cy="2011680"/>
          </a:xfrm>
          <a:prstGeom prst="ellipse">
            <a:avLst/>
          </a:prstGeom>
          <a:solidFill>
            <a:schemeClr val="accent1"/>
          </a:solidFill>
          <a:ln/>
        </p:spPr>
      </p:sp>
      <p:pic>
        <p:nvPicPr>
          <p:cNvPr id="6" name="Image 0" descr="rambu">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Kapan Cukup? (YAGNI)</a:t>
            </a:r>
            <a:endParaRPr lang="en-US" sz="32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929774"/>
                <a:gridCol w="5164642"/>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Ukuran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cukup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halaman, data tetap, untuk belajar atau percobaan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StatefulWidget + setState (Pertemuan 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Beberapa halaman, satu sumber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MVVM + repository (Pertemuan 9–11)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server DAN perangkat, ada aturan bisnis, dikerjakan beberapa orang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kontrak di domain, Hasil, akar komposisi, dua lingkungan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Aturan rumit dari beberapa repository, dipakai ulang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use case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YAGNI (You Aren't Gonna Need It): jangan membangun sesuatu sebelum benar-benar dibutuhkan.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Tanda-tanda Berlebihan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634377"/>
                <a:gridCol w="4016943"/>
                <a:gridCol w="3443094"/>
              </a:tblGrid>
              <a:tr h="8412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Tanda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Contohnya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Sebaiknya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4124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Use case yang hanya meneruskan satu panggilan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AmbilSemuaRuang: return _repositori.semuaRuang();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ViewModel langsung memakai repository</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4124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Model API sama persis dengan entitas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RuangApiModel dan Ruang punya field dan nama yang sama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fromJson di repository sudah cukup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4124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Kontrak yang tidak pernah diganti, bahkan untuk pengujian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Kontrak berguna untuk pengujian; jika tak pernah diuji, pertimbangkan ulang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4124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Folder kosong "untuk nanti"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domain/use_cases/ tanpa 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Buat folder saat berkas pertamanya dibutuhkan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312340"/>
                <a:gridCol w="4782076"/>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Gejala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Solusi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ProviderNotFoundException ... Provider&lt;RepositoriRuang&gt;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Provider&lt;RepositoriRuang&gt;(create: ...)</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domain/ mengimpor package:flutter/material.dart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enum di domain; ikon/warna di UI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The method 'fromJson' isn't defined for the type 'Ruang'</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RuangApiModel.fromJson(json).keDomain()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The type 'Kegagalan' isn't exhaustively matched ...</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Tambahkan cabangnya: galat ini melindungi Anda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Layar merah padahal repository mengembalikan Hasil</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Setiap jenis exception punya on ...</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Tombol tetap mengirim dua kali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Selalu lewat perintah.jalankan(...)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SnackBar muncul berulang-ulang</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Listener + bersihkanHasil(), bukan build()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Pemeriksaan lulus hari ini, gagal besok</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Suntikkan jam: DateTime Function()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Laporan Kemajuan Proyek Akhir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Yang dinilai: fitur utama yang sudah berjalan dari ujung ke ujung, bukan kelengkapan arsitektur.</a:t>
            </a:r>
            <a:endParaRPr lang="en-US" sz="1800" dirty="0"/>
          </a:p>
        </p:txBody>
      </p:sp>
      <p:sp>
        <p:nvSpPr>
          <p:cNvPr id="5" name="kartu 1"/>
          <p:cNvSpPr/>
          <p:nvPr/>
        </p:nvSpPr>
        <p:spPr>
          <a:xfrm>
            <a:off x="548640" y="2011680"/>
            <a:ext cx="3484778" cy="4206240"/>
          </a:xfrm>
          <a:prstGeom prst="roundRect">
            <a:avLst>
              <a:gd name="adj" fmla="val 3149"/>
            </a:avLst>
          </a:prstGeom>
          <a:solidFill>
            <a:schemeClr val="bg2"/>
          </a:solidFill>
          <a:ln/>
        </p:spPr>
      </p:sp>
      <p:sp>
        <p:nvSpPr>
          <p:cNvPr id="6" name="lingkaran centang"/>
          <p:cNvSpPr/>
          <p:nvPr/>
        </p:nvSpPr>
        <p:spPr>
          <a:xfrm>
            <a:off x="777240" y="2240280"/>
            <a:ext cx="685800" cy="685800"/>
          </a:xfrm>
          <a:prstGeom prst="ellipse">
            <a:avLst/>
          </a:prstGeom>
          <a:solidFill>
            <a:schemeClr val="accent4"/>
          </a:solidFill>
          <a:ln/>
        </p:spPr>
      </p:sp>
      <p:pic>
        <p:nvPicPr>
          <p:cNvPr id="7" name="Image 0" descr="centang">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Daftar periksa</a:t>
            </a:r>
            <a:endParaRPr lang="en-US" sz="1800" dirty="0"/>
          </a:p>
        </p:txBody>
      </p:sp>
      <p:sp>
        <p:nvSpPr>
          <p:cNvPr id="9" name="Text 5"/>
          <p:cNvSpPr txBox="1"/>
          <p:nvPr/>
        </p:nvSpPr>
        <p:spPr>
          <a:xfrm>
            <a:off x="777240" y="3063240"/>
            <a:ext cx="3027578" cy="3017520"/>
          </a:xfrm>
          <a:prstGeom prst="rect">
            <a:avLst/>
          </a:prstGeom>
          <a:noFill/>
          <a:ln/>
        </p:spPr>
        <p:txBody>
          <a:bodyPr wrap="square" lIns="0" tIns="0" rIns="0" bIns="0" rtlCol="0" anchor="t"/>
          <a:lstStyle/>
          <a:p>
            <a:pPr indent="0" marL="0">
              <a:buNone/>
            </a:pPr>
            <a:r>
              <a:rPr lang="en-US" sz="1500" dirty="0">
                <a:solidFill>
                  <a:schemeClr val="tx1"/>
                </a:solidFill>
              </a:rPr>
              <a:t>Minimal 3 halaman; data API + memuat/gagal; minimal 1 data tersimpan di perangkat; folder MVVM; flutter analyze bersih; setiap anggota punya commit.</a:t>
            </a:r>
            <a:endParaRPr lang="en-US" sz="1500" dirty="0"/>
          </a:p>
        </p:txBody>
      </p:sp>
      <p:sp>
        <p:nvSpPr>
          <p:cNvPr id="10" name="kartu 2"/>
          <p:cNvSpPr/>
          <p:nvPr/>
        </p:nvSpPr>
        <p:spPr>
          <a:xfrm>
            <a:off x="4353458" y="2011680"/>
            <a:ext cx="3484778" cy="4206240"/>
          </a:xfrm>
          <a:prstGeom prst="roundRect">
            <a:avLst>
              <a:gd name="adj" fmla="val 3149"/>
            </a:avLst>
          </a:prstGeom>
          <a:solidFill>
            <a:schemeClr val="bg2"/>
          </a:solidFill>
          <a:ln/>
        </p:spPr>
      </p:sp>
      <p:sp>
        <p:nvSpPr>
          <p:cNvPr id="11" name="lingkaran jalankan"/>
          <p:cNvSpPr/>
          <p:nvPr/>
        </p:nvSpPr>
        <p:spPr>
          <a:xfrm>
            <a:off x="4582058" y="2240280"/>
            <a:ext cx="685800" cy="685800"/>
          </a:xfrm>
          <a:prstGeom prst="ellipse">
            <a:avLst/>
          </a:prstGeom>
          <a:solidFill>
            <a:schemeClr val="accent1"/>
          </a:solidFill>
          <a:ln/>
        </p:spPr>
      </p:sp>
      <p:pic>
        <p:nvPicPr>
          <p:cNvPr id="12" name="Image 1" descr="jalankan">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Demo 3–5 menit</a:t>
            </a:r>
            <a:endParaRPr lang="en-US" sz="1800" dirty="0"/>
          </a:p>
        </p:txBody>
      </p:sp>
      <p:sp>
        <p:nvSpPr>
          <p:cNvPr id="14" name="Text 9"/>
          <p:cNvSpPr txBox="1"/>
          <p:nvPr/>
        </p:nvSpPr>
        <p:spPr>
          <a:xfrm>
            <a:off x="4582058" y="3063240"/>
            <a:ext cx="3027578" cy="3017520"/>
          </a:xfrm>
          <a:prstGeom prst="rect">
            <a:avLst/>
          </a:prstGeom>
          <a:noFill/>
          <a:ln/>
        </p:spPr>
        <p:txBody>
          <a:bodyPr wrap="square" lIns="0" tIns="0" rIns="0" bIns="0" rtlCol="0" anchor="t"/>
          <a:lstStyle/>
          <a:p>
            <a:pPr indent="0" marL="0">
              <a:buNone/>
            </a:pPr>
            <a:r>
              <a:rPr lang="en-US" sz="1500" dirty="0">
                <a:solidFill>
                  <a:schemeClr val="tx1"/>
                </a:solidFill>
              </a:rPr>
              <a:t>Alur utama; struktur lib/ dan lapisan setiap folder; satu aturan bisnis (berkasnya dan cara memeriksanya); rencana sampai Pertemuan 15.</a:t>
            </a:r>
            <a:endParaRPr lang="en-US" sz="1500" dirty="0"/>
          </a:p>
        </p:txBody>
      </p:sp>
      <p:sp>
        <p:nvSpPr>
          <p:cNvPr id="15" name="kartu 3"/>
          <p:cNvSpPr/>
          <p:nvPr/>
        </p:nvSpPr>
        <p:spPr>
          <a:xfrm>
            <a:off x="8158277" y="2011680"/>
            <a:ext cx="3484778" cy="4206240"/>
          </a:xfrm>
          <a:prstGeom prst="roundRect">
            <a:avLst>
              <a:gd name="adj" fmla="val 3149"/>
            </a:avLst>
          </a:prstGeom>
          <a:solidFill>
            <a:schemeClr val="bg2"/>
          </a:solidFill>
          <a:ln/>
        </p:spPr>
      </p:sp>
      <p:sp>
        <p:nvSpPr>
          <p:cNvPr id="16" name="lingkaran cabang"/>
          <p:cNvSpPr/>
          <p:nvPr/>
        </p:nvSpPr>
        <p:spPr>
          <a:xfrm>
            <a:off x="8386877" y="2240280"/>
            <a:ext cx="685800" cy="685800"/>
          </a:xfrm>
          <a:prstGeom prst="ellipse">
            <a:avLst/>
          </a:prstGeom>
          <a:solidFill>
            <a:schemeClr val="accent6"/>
          </a:solidFill>
          <a:ln/>
        </p:spPr>
      </p:sp>
      <p:pic>
        <p:nvPicPr>
          <p:cNvPr id="17" name="Image 2" descr="cabang">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Menata ulang dengan aman</a:t>
            </a:r>
            <a:endParaRPr lang="en-US" sz="1800" dirty="0"/>
          </a:p>
        </p:txBody>
      </p:sp>
      <p:sp>
        <p:nvSpPr>
          <p:cNvPr id="19" name="Text 13"/>
          <p:cNvSpPr txBox="1"/>
          <p:nvPr/>
        </p:nvSpPr>
        <p:spPr>
          <a:xfrm>
            <a:off x="8386877" y="3063240"/>
            <a:ext cx="3027578" cy="3017520"/>
          </a:xfrm>
          <a:prstGeom prst="rect">
            <a:avLst/>
          </a:prstGeom>
          <a:noFill/>
          <a:ln/>
        </p:spPr>
        <p:txBody>
          <a:bodyPr wrap="square" lIns="0" tIns="0" rIns="0" bIns="0" rtlCol="0" anchor="t"/>
          <a:lstStyle/>
          <a:p>
            <a:pPr indent="0" marL="0">
              <a:buNone/>
            </a:pPr>
            <a:r>
              <a:rPr lang="en-US" sz="1500" dirty="0">
                <a:solidFill>
                  <a:schemeClr val="tx1"/>
                </a:solidFill>
              </a:rPr>
              <a:t>Commit dulu; pindahkan kontrak; satu repository ke Hasil&lt;T&gt;, lalu ViewModel-nya; buat dependensi.dart + main_pengembangan.dart. flutter analyze + commit setiap langkah.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47208"/>
                <a:gridCol w="5547208"/>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Kebutuhan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Pakai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Aturan bisnis yang bisa diuji tanpa layar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Fungsi dan entitas Dart murni di 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Sumber data yang bisa ditukar (palsu ⇄ server ⇄ SQLite)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Kontrak di domain/repositories/ + implementasi di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Memilih implementasi menurut lingkungan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config/dependensi.dart + main_pengembangan.dart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JSON yang bentuknya jauh berbeda dari kebutuhan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Model API (data/models/) + keDomain()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Kegagalan yang tidak boleh lupa ditangani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Hasil&lt;T&gt; dan sealed class Kegagalan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Logika yang memakai beberapa repository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Use case (domain/use_cases/)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Tombol yang tidak boleh mengirim dua kali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Perintah (ui/core/perintah.dart)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Arsitektur: di mana kode diletakkan, siapa mengenal siapa, bagaimana mengujinya.</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Aturan ketergantungan: kode hanya bergantung ke DALAM. Domain = Dart murni.</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Kontrak milik domain; implementasi di data; DI lewat constructor; satu akar komposisi.</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Model API mengikuti server; entitas mengikuti aplikasi; keDomain() menerjemahkan.</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Repository menerjemahkan exception SEKALI menjadi Hasil&lt;T&gt; berisi Kegagalan.</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Use case untuk logika yang menggabungkan beberapa repository; jam disuntikkan.</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Perintah: status per aksi, penjaga ketukan ganda, tanggapan sekali jalan.</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Uji setiap lapisan dengan data palsu. Tambahkan lapisan saat dibutuhkan (YAGNI).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12 (lima praktikum + tugas Koperasi Mahasiswa), lalu uji diri di Latihan. Siapkan demo laporan kemajuan proyek akhir. Pertemuan berikutnya: fitur perangkat dan izin akses.</a:t>
            </a:r>
            <a:endParaRPr lang="en-US" sz="2000" dirty="0"/>
          </a:p>
        </p:txBody>
      </p:sp>
      <p:sp>
        <p:nvSpPr>
          <p:cNvPr id="5" name="tombol tautan">
            <a:hlinkClick r:id="rId1" tooltip="https://github.com/antonprafanto/mobile2026/blob/main/pertemuan_12_clean_architecture/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P12</a:t>
            </a:r>
            <a:endParaRPr lang="en-US" sz="1600" dirty="0"/>
          </a:p>
        </p:txBody>
      </p:sp>
      <p:pic>
        <p:nvPicPr>
          <p:cNvPr id="6" name="Image 0" descr="ikon tautan">
            <a:hlinkClick r:id="rId3" tooltip="https://github.com/antonprafanto/mobile2026/blob/main/pertemuan_12_clean_architecture/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2_clean_architecture/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P12</a:t>
            </a:r>
            <a:endParaRPr lang="en-US" sz="1600" dirty="0"/>
          </a:p>
        </p:txBody>
      </p:sp>
      <p:pic>
        <p:nvPicPr>
          <p:cNvPr id="8" name="Image 1" descr="ikon tautan">
            <a:hlinkClick r:id="rId6" tooltip="https://github.com/antonprafanto/mobile2026/blob/main/pertemuan_12_clean_architecture/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12 - Clean Architecture</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2026-10-16T00:06:08Z</dcterms:created>
  <dcterms:modified xsi:type="dcterms:W3CDTF">2026-10-16T00:06:08Z</dcterms:modified>
</cp:coreProperties>
</file>