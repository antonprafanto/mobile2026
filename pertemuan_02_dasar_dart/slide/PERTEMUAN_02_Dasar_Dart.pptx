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bd848616-9c45-eebf-6b5f-6e9e5f7b2a6b}">
          <p14:sldIdLst>
            <p14:sldId id="256"/>
            <p14:sldId id="257"/>
            <p14:sldId id="258"/>
            <p14:sldId id="259"/>
            <p14:sldId id="260"/>
          </p14:sldIdLst>
        </p14:section>
        <p14:section name="Menyimpan Data" id="{949aa4ca-63d2-9485-cea6-01251814c03d}">
          <p14:sldIdLst>
            <p14:sldId id="261"/>
            <p14:sldId id="262"/>
            <p14:sldId id="263"/>
            <p14:sldId id="264"/>
            <p14:sldId id="265"/>
          </p14:sldIdLst>
        </p14:section>
        <p14:section name="Null Safety: Aman dari Kotak Kosong" id="{ea03234d-a673-28e7-b6bb-e43f651b3bd3}">
          <p14:sldIdLst>
            <p14:sldId id="266"/>
            <p14:sldId id="267"/>
            <p14:sldId id="268"/>
          </p14:sldIdLst>
        </p14:section>
        <p14:section name="Mengolah Data &amp; Mengatur Alur" id="{fc26df3c-cc4c-693a-5052-470df59d37a7}">
          <p14:sldIdLst>
            <p14:sldId id="269"/>
            <p14:sldId id="270"/>
            <p14:sldId id="271"/>
            <p14:sldId id="272"/>
          </p14:sldIdLst>
        </p14:section>
        <p14:section name="Fungsi: Membungkus Logika" id="{a0ccfd5d-2d79-6ed0-00d6-21e505b6eaa4}">
          <p14:sldIdLst>
            <p14:sldId id="273"/>
            <p14:sldId id="274"/>
            <p14:sldId id="275"/>
          </p14:sldIdLst>
        </p14:section>
        <p14:section name="Koleksi: Mengelola Banyak Data" id="{915148a0-cead-a4a3-e9bb-955154e0d65a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Hari ini fokus pada bahasa Dart murni (tanpa tampilan). Semua contoh bisa dijalankan di DartPad, jadi mahasiswa bisa berlatih dari HP sekalipun.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bahwa materi ini adalah fondasi: setiap baris kode Flutter berikutnya ditulis dalam Dart.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Urutannya seperti tangga: setiap anak tangga memakai anak tangga sebelumnya.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cepat: buka DartPad, tempel contoh 01, klik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titik koma dan case-sensitive. Minta mahasiswa menebak apa yang terjadi jika main ditulis 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Gunakan analogi toples di dapur. Tunjukkan bahwa membuka komentar baris umur = dua puluh langsung memunculkan error di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Tipe koleksi (List, Set, Map) dibahas di Bagian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bahwa linter akan menyarankan interpolasi jika mahasiswa menulis "Halo, " + nama.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 ke mahasiswa: waktu login, batas nilai maksimal, dan nama hari, masing-masing cocok memakai apa?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kotak kado kosong. Tony Hoare, penemu referensi null, menyebutnya "kesalahan miliaran dolar".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05 di repositori memakai fungsi cariNamaPanggilan() dan cariKota() agar nilai null benar-benar berasal dari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Lanjutkan dengan operator perbandingan (==, !=, &gt;, &lt;, &gt;=, &lt;=) dan logika: &amp;&amp; (DAN), || (ATAU), ! (BUKAN). Ingatkan: = mengisi nilai, == membandingkan.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Telusuri alur untuk nilai 82: &gt;= 85 salah, &gt;= 70 benar, jadi huruf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continue (lewati putaran ini) dan break (hentikan perulangan). Peringatkan infinite loop: hentikan dengan Ctrl+C di terminal atau muat ulang DartPad.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membuat fungsi kecil sendiri, misalnya kelilingPersegi(int sisi).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Hubungkan dengan Flutter: AppBar(title: ...) dan Text(..., style: ...) adalah parameter bernama. Fungsi anonim seperti onPressed: () { ... } adalah fungsi yang dikirim sebagai 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Tanda &lt;...&gt; seperti List&lt;String&gt; menyatakan jenis isi koleksi.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Fungsi (int n) =&gt; n &gt;= 60 adalah fungsi anonim yang dikirim sebagai 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Bahas Andi: 84,9 nyaris A, tetapi syaratnya &gt;= 85. Dalam pemrograman, batas harus ditentukan dengan jelas sejak awal.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Biasakan membaca baris pertama pesan error. Tabel lengkap ada di modul bagian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Kode dibaca jauh lebih sering daripada ditulis, termasuk oleh diri sendiri beberapa minggu kemudian.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menyebutkan satu operator null safety dan kapan memakainya.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Praktikum dikerjakan di DartPad. Ingatkan untuk mengetik sendiri kode terbimbing, bukan menyalin.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2926080"/>
            <a:ext cx="5669280" cy="56692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PEMROGRAMAN PIRANTI BERGERAK  ·  INFORMATIKA S1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github.com/antonprafanto/mobile2026</a:t>
            </a:r>
            <a:endParaRPr lang="en-US" sz="13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Pemrograman Piranti Bergerak  ·  Pertemuan 02  ·  Dasar Pemrograman Dart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Pemrograman Piranti Bergerak  ·  Pertemuan 02  ·  Dasar Pemrograman Dart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1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1_halo_dart.dart" TargetMode="External"/><Relationship Id="rId3" Type="http://schemas.openxmlformats.org/officeDocument/2006/relationships/hyperlink" Target="https://github.com/antonprafanto/mobile2026/blob/main/pertemuan_02_dasar_dart/kode/contoh_01_halo_dart.dart" TargetMode="External"/><Relationship Id="rId2" Type="http://schemas.openxmlformats.org/officeDocument/2006/relationships/image" Target="../media/image-5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2_variabel_dan_tipe_data.dart" TargetMode="External"/><Relationship Id="rId3" Type="http://schemas.openxmlformats.org/officeDocument/2006/relationships/hyperlink" Target="https://github.com/antonprafanto/mobile2026/blob/main/pertemuan_02_dasar_dart/kode/contoh_02_variabel_dan_tipe_data.dart" TargetMode="External"/><Relationship Id="rId2" Type="http://schemas.openxmlformats.org/officeDocument/2006/relationships/image" Target="../media/image-7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3_string_dan_interpolasi.dart" TargetMode="External"/><Relationship Id="rId3" Type="http://schemas.openxmlformats.org/officeDocument/2006/relationships/hyperlink" Target="https://github.com/antonprafanto/mobile2026/blob/main/pertemuan_02_dasar_dart/kode/contoh_03_string_dan_interpolasi.dart" TargetMode="External"/><Relationship Id="rId2" Type="http://schemas.openxmlformats.org/officeDocument/2006/relationships/image" Target="../media/image-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4_final_dan_const.dart" TargetMode="External"/><Relationship Id="rId3" Type="http://schemas.openxmlformats.org/officeDocument/2006/relationships/hyperlink" Target="https://github.com/antonprafanto/mobile2026/blob/main/pertemuan_02_dasar_dart/kode/contoh_04_final_dan_const.dart" TargetMode="External"/><Relationship Id="rId2" Type="http://schemas.openxmlformats.org/officeDocument/2006/relationships/image" Target="../media/image-10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5_null_safety.dart" TargetMode="External"/><Relationship Id="rId3" Type="http://schemas.openxmlformats.org/officeDocument/2006/relationships/hyperlink" Target="https://github.com/antonprafanto/mobile2026/blob/main/pertemuan_02_dasar_dart/kode/contoh_05_null_safety.dart" TargetMode="External"/><Relationship Id="rId2" Type="http://schemas.openxmlformats.org/officeDocument/2006/relationships/image" Target="../media/image-13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6_operator.dart" TargetMode="External"/><Relationship Id="rId3" Type="http://schemas.openxmlformats.org/officeDocument/2006/relationships/hyperlink" Target="https://github.com/antonprafanto/mobile2026/blob/main/pertemuan_02_dasar_dart/kode/contoh_06_operator.dart" TargetMode="External"/><Relationship Id="rId2" Type="http://schemas.openxmlformats.org/officeDocument/2006/relationships/image" Target="../media/image-15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7_percabangan.dart" TargetMode="External"/><Relationship Id="rId3" Type="http://schemas.openxmlformats.org/officeDocument/2006/relationships/hyperlink" Target="https://github.com/antonprafanto/mobile2026/blob/main/pertemuan_02_dasar_dart/kode/contoh_07_percabangan.dart" TargetMode="External"/><Relationship Id="rId2" Type="http://schemas.openxmlformats.org/officeDocument/2006/relationships/image" Target="../media/image-16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antonprafanto/mobile2026/blob/main/pertemuan_02_dasar_dart/kode/contoh_08_perulangan.dart" TargetMode="External"/><Relationship Id="rId7" Type="http://schemas.openxmlformats.org/officeDocument/2006/relationships/hyperlink" Target="https://github.com/antonprafanto/mobile2026/blob/main/pertemuan_02_dasar_dart/kode/contoh_08_perulangan.dart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6" Type="http://schemas.openxmlformats.org/officeDocument/2006/relationships/image" Target="../media/image-17-5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09_fungsi_dasar.dart" TargetMode="External"/><Relationship Id="rId3" Type="http://schemas.openxmlformats.org/officeDocument/2006/relationships/hyperlink" Target="https://github.com/antonprafanto/mobile2026/blob/main/pertemuan_02_dasar_dart/kode/contoh_09_fungsi_dasar.dart" TargetMode="External"/><Relationship Id="rId2" Type="http://schemas.openxmlformats.org/officeDocument/2006/relationships/image" Target="../media/image-19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nprafanto/mobile2026/blob/main/pertemuan_02_dasar_dart/kode/contoh_10_parameter_fungsi.dart" TargetMode="External"/><Relationship Id="rId4" Type="http://schemas.openxmlformats.org/officeDocument/2006/relationships/hyperlink" Target="https://github.com/antonprafanto/mobile2026/blob/main/pertemuan_02_dasar_dart/kode/contoh_10_parameter_fungsi.dart" TargetMode="External"/><Relationship Id="rId1" Type="http://schemas.openxmlformats.org/officeDocument/2006/relationships/image" Target="../media/image-20-1.png"/><Relationship Id="rId3" Type="http://schemas.openxmlformats.org/officeDocument/2006/relationships/image" Target="../media/image-20-2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antonprafanto/mobile2026/blob/main/pertemuan_02_dasar_dart/kode/contoh_11_list.dart" TargetMode="External"/><Relationship Id="rId6" Type="http://schemas.openxmlformats.org/officeDocument/2006/relationships/hyperlink" Target="https://github.com/antonprafanto/mobile2026/blob/main/pertemuan_02_dasar_dart/kode/contoh_11_list.dart" TargetMode="External"/><Relationship Id="rId7" Type="http://schemas.openxmlformats.org/officeDocument/2006/relationships/hyperlink" Target="https://github.com/antonprafanto/mobile2026/blob/main/pertemuan_02_dasar_dart/kode/contoh_12_map_dan_set.dart" TargetMode="External"/><Relationship Id="rId9" Type="http://schemas.openxmlformats.org/officeDocument/2006/relationships/hyperlink" Target="https://github.com/antonprafanto/mobile2026/blob/main/pertemuan_02_dasar_dart/kode/contoh_12_map_dan_set.dart" TargetMode="Externa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5" Type="http://schemas.openxmlformats.org/officeDocument/2006/relationships/image" Target="../media/image-22-4.png"/><Relationship Id="rId8" Type="http://schemas.openxmlformats.org/officeDocument/2006/relationships/image" Target="../media/image-22-4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kode/contoh_13_studi_kasus_rekap_nilai.dart" TargetMode="External"/><Relationship Id="rId3" Type="http://schemas.openxmlformats.org/officeDocument/2006/relationships/hyperlink" Target="https://github.com/antonprafanto/mobile2026/blob/main/pertemuan_02_dasar_dart/kode/contoh_13_studi_kasus_rekap_nilai.dart" TargetMode="External"/><Relationship Id="rId2" Type="http://schemas.openxmlformats.org/officeDocument/2006/relationships/image" Target="../media/image-24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2_dasar_dart/JOBSHEET.md" TargetMode="External"/><Relationship Id="rId3" Type="http://schemas.openxmlformats.org/officeDocument/2006/relationships/hyperlink" Target="https://github.com/antonprafanto/mobile2026/blob/main/pertemuan_02_dasar_dart/JOBSHEET.md" TargetMode="External"/><Relationship Id="rId4" Type="http://schemas.openxmlformats.org/officeDocument/2006/relationships/hyperlink" Target="https://github.com/antonprafanto/mobile2026/blob/main/pertemuan_02_dasar_dart/LATIHAN.md" TargetMode="External"/><Relationship Id="rId6" Type="http://schemas.openxmlformats.org/officeDocument/2006/relationships/hyperlink" Target="https://github.com/antonprafanto/mobile2026/blob/main/pertemuan_02_dasar_dart/LATIHAN.md" TargetMode="External"/><Relationship Id="rId7" Type="http://schemas.openxmlformats.org/officeDocument/2006/relationships/hyperlink" Target="https://github.com/antonprafanto/mobile2026/blob/main/pertemuan_02_dasar_dart/README.md" TargetMode="External"/><Relationship Id="rId9" Type="http://schemas.openxmlformats.org/officeDocument/2006/relationships/hyperlink" Target="https://github.com/antonprafanto/mobile2026/blob/main/pertemuan_02_dasar_dart/README.md" TargetMode="External"/><Relationship Id="rId2" Type="http://schemas.openxmlformats.org/officeDocument/2006/relationships/image" Target="../media/image-28-1.png"/><Relationship Id="rId5" Type="http://schemas.openxmlformats.org/officeDocument/2006/relationships/image" Target="../media/image-28-2.png"/><Relationship Id="rId8" Type="http://schemas.openxmlformats.org/officeDocument/2006/relationships/image" Target="../media/image-28-3.png"/><Relationship Id="rId10" Type="http://schemas.openxmlformats.org/officeDocument/2006/relationships/image" Target="../media/image-28-4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Dasar Pemrograman Dart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Pertemuan 2  ·  Variabel, null safety, operator, percabangan, perulangan, fungsi, dan koleksi data</a:t>
            </a:r>
            <a:endParaRPr lang="en-US" sz="2000" dirty="0"/>
          </a:p>
        </p:txBody>
      </p:sp>
      <p:sp>
        <p:nvSpPr>
          <p:cNvPr id="5" name="lingkaran hp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Tujuan Pembelajaran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A5870"/>
                </a:solidFill>
              </a:rPr>
              <a:t>Setelah pertemuan ini, Anda mampu:</a:t>
            </a:r>
            <a:endParaRPr lang="en-US" sz="1800" dirty="0"/>
          </a:p>
        </p:txBody>
      </p:sp>
      <p:sp>
        <p:nvSpPr>
          <p:cNvPr id="5" name="lingkaran centang"/>
          <p:cNvSpPr/>
          <p:nvPr/>
        </p:nvSpPr>
        <p:spPr>
          <a:xfrm>
            <a:off x="548640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cent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142439"/>
            <a:ext cx="332842" cy="33284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Menjalankan program Dart di DartPad maupun terminal</a:t>
            </a:r>
            <a:endParaRPr lang="en-US" sz="1900" dirty="0"/>
          </a:p>
        </p:txBody>
      </p:sp>
      <p:sp>
        <p:nvSpPr>
          <p:cNvPr id="8" name="lingkaran centang"/>
          <p:cNvSpPr/>
          <p:nvPr/>
        </p:nvSpPr>
        <p:spPr>
          <a:xfrm>
            <a:off x="548640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Image 1" descr="centa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331159"/>
            <a:ext cx="332842" cy="3328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Memakai variabel, tipe data, final, dan const dengan tepat</a:t>
            </a:r>
            <a:endParaRPr lang="en-US" sz="1900" dirty="0"/>
          </a:p>
        </p:txBody>
      </p:sp>
      <p:sp>
        <p:nvSpPr>
          <p:cNvPr id="11" name="lingkaran centang"/>
          <p:cNvSpPr/>
          <p:nvPr/>
        </p:nvSpPr>
        <p:spPr>
          <a:xfrm>
            <a:off x="548640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2" descr="cent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4519879"/>
            <a:ext cx="332842" cy="33284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325880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Menangani nilai kosong dengan null safety</a:t>
            </a:r>
            <a:endParaRPr lang="en-US" sz="1900" dirty="0"/>
          </a:p>
        </p:txBody>
      </p:sp>
      <p:sp>
        <p:nvSpPr>
          <p:cNvPr id="14" name="lingkaran centang"/>
          <p:cNvSpPr/>
          <p:nvPr/>
        </p:nvSpPr>
        <p:spPr>
          <a:xfrm>
            <a:off x="6278728" y="201168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3" descr="centa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487" y="2142439"/>
            <a:ext cx="332842" cy="33284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55968" y="192024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Mengatur alur program dengan percabangan dan perulangan</a:t>
            </a:r>
            <a:endParaRPr lang="en-US" sz="1900" dirty="0"/>
          </a:p>
        </p:txBody>
      </p:sp>
      <p:sp>
        <p:nvSpPr>
          <p:cNvPr id="17" name="lingkaran centang"/>
          <p:cNvSpPr/>
          <p:nvPr/>
        </p:nvSpPr>
        <p:spPr>
          <a:xfrm>
            <a:off x="6278728" y="320040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8" name="Image 4" descr="centa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487" y="3331159"/>
            <a:ext cx="332842" cy="33284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055968" y="310896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Membuat fungsi dengan parameter posisi maupun bernama</a:t>
            </a:r>
            <a:endParaRPr lang="en-US" sz="1900" dirty="0"/>
          </a:p>
        </p:txBody>
      </p:sp>
      <p:sp>
        <p:nvSpPr>
          <p:cNvPr id="20" name="lingkaran centang"/>
          <p:cNvSpPr/>
          <p:nvPr/>
        </p:nvSpPr>
        <p:spPr>
          <a:xfrm>
            <a:off x="6278728" y="43891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Image 5" descr="centa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487" y="4519879"/>
            <a:ext cx="332842" cy="33284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55968" y="4297680"/>
            <a:ext cx="458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Mengolah banyak data dengan List, Set, dan Map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Peta Materi Hari Ini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5" name="lingkaran kotak"/>
          <p:cNvSpPr/>
          <p:nvPr/>
        </p:nvSpPr>
        <p:spPr>
          <a:xfrm>
            <a:off x="905485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kot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6594" y="229423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Menyimpan data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Variabel, tipe data, final/const, null safety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167585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langkah 2"/>
          <p:cNvSpPr/>
          <p:nvPr/>
        </p:nvSpPr>
        <p:spPr>
          <a:xfrm>
            <a:off x="2451049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2" name="lingkaran hitung"/>
          <p:cNvSpPr/>
          <p:nvPr/>
        </p:nvSpPr>
        <p:spPr>
          <a:xfrm>
            <a:off x="2807894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hitu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003" y="22942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560777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588209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Mengolah data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588209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aritmatika, perbandingan, logika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06999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langkah 3"/>
          <p:cNvSpPr/>
          <p:nvPr/>
        </p:nvSpPr>
        <p:spPr>
          <a:xfrm>
            <a:off x="435345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19" name="lingkaran cabang"/>
          <p:cNvSpPr/>
          <p:nvPr/>
        </p:nvSpPr>
        <p:spPr>
          <a:xfrm>
            <a:off x="4710303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cab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1413" y="22942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46318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449061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Mengatur alur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49061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Percabangan dan perulangan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5972404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langkah 4"/>
          <p:cNvSpPr/>
          <p:nvPr/>
        </p:nvSpPr>
        <p:spPr>
          <a:xfrm>
            <a:off x="6255868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26" name="lingkaran fungsi"/>
          <p:cNvSpPr/>
          <p:nvPr/>
        </p:nvSpPr>
        <p:spPr>
          <a:xfrm>
            <a:off x="6612712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fungs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822" y="2294230"/>
            <a:ext cx="486461" cy="48646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365596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393028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Membungkus logika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6393028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Fungsi dan jenis-jenis parameter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7874813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langkah 5"/>
          <p:cNvSpPr/>
          <p:nvPr/>
        </p:nvSpPr>
        <p:spPr>
          <a:xfrm>
            <a:off x="8158277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33" name="lingkaran daftar"/>
          <p:cNvSpPr/>
          <p:nvPr/>
        </p:nvSpPr>
        <p:spPr>
          <a:xfrm>
            <a:off x="8515121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4" descr="daft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6231" y="2294230"/>
            <a:ext cx="486461" cy="48646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8268005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8295437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Banyak data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8295437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List, Set, dan Map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9777222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9" name="langkah 6"/>
          <p:cNvSpPr/>
          <p:nvPr/>
        </p:nvSpPr>
        <p:spPr>
          <a:xfrm>
            <a:off x="10060686" y="1828800"/>
            <a:ext cx="1582369" cy="3566160"/>
          </a:xfrm>
          <a:prstGeom prst="roundRect">
            <a:avLst>
              <a:gd name="adj" fmla="val 8668"/>
            </a:avLst>
          </a:prstGeom>
          <a:solidFill>
            <a:schemeClr val="bg2"/>
          </a:solidFill>
          <a:ln/>
        </p:spPr>
      </p:sp>
      <p:sp>
        <p:nvSpPr>
          <p:cNvPr id="40" name="lingkaran tabel"/>
          <p:cNvSpPr/>
          <p:nvPr/>
        </p:nvSpPr>
        <p:spPr>
          <a:xfrm>
            <a:off x="10417531" y="21031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1" name="Image 5" descr="tabe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8640" y="2294230"/>
            <a:ext cx="486461" cy="486461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0170414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6</a:t>
            </a:r>
            <a:endParaRPr lang="en-US" sz="1400" dirty="0"/>
          </a:p>
        </p:txBody>
      </p:sp>
      <p:sp>
        <p:nvSpPr>
          <p:cNvPr id="43" name="Text 34"/>
          <p:cNvSpPr txBox="1"/>
          <p:nvPr/>
        </p:nvSpPr>
        <p:spPr>
          <a:xfrm>
            <a:off x="10197846" y="3108960"/>
            <a:ext cx="130804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Studi kasus</a:t>
            </a:r>
            <a:endParaRPr lang="en-US" sz="1700" dirty="0"/>
          </a:p>
        </p:txBody>
      </p:sp>
      <p:sp>
        <p:nvSpPr>
          <p:cNvPr id="44" name="Text 35"/>
          <p:cNvSpPr txBox="1"/>
          <p:nvPr/>
        </p:nvSpPr>
        <p:spPr>
          <a:xfrm>
            <a:off x="10197846" y="3931920"/>
            <a:ext cx="130804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Rekap nilai satu kelas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Dua Cara Menjalankan Kode Dart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rgbClr val="E3F2FD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lingkaran web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we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DartPad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✓ Disarankan untuk pertemuan ini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49299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Buka dartpad.dev di browser (bisa dari HP)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Tempel kode, klik Run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Hasil muncul di panel Output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Tanpa instalasi apa pun</a:t>
            </a:r>
            <a:endParaRPr lang="en-US" sz="1600" dirty="0"/>
          </a:p>
        </p:txBody>
      </p:sp>
      <p:sp>
        <p:nvSpPr>
          <p:cNvPr id="10" name="kolom 2"/>
          <p:cNvSpPr/>
          <p:nvPr/>
        </p:nvSpPr>
        <p:spPr>
          <a:xfrm>
            <a:off x="6255868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1" name="lingkaran terminal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termin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07428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Terminal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84468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Dart sudah ikut terpasang bersama Flutter</a:t>
            </a:r>
            <a:endParaRPr lang="en-US" sz="1400" dirty="0"/>
          </a:p>
        </p:txBody>
      </p:sp>
      <p:sp>
        <p:nvSpPr>
          <p:cNvPr id="15" name="daftar poin"/>
          <p:cNvSpPr txBox="1"/>
          <p:nvPr/>
        </p:nvSpPr>
        <p:spPr>
          <a:xfrm>
            <a:off x="6484468" y="2926080"/>
            <a:ext cx="49299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Cek: dart --version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Simpan kode sebagai halo.dart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Jalankan: dart run halo.dart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 VS Code: klik Run di atas void main()</a:t>
            </a:r>
            <a:endParaRPr lang="en-US" sz="1600" dirty="0"/>
          </a:p>
        </p:txBody>
      </p:sp>
      <p:sp>
        <p:nvSpPr>
          <p:cNvPr id="16" name="lingkaran lampu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6528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DartPad menampilkan 100.0 sebagai 100, sedangkan terminal menampilkan 100.0. Nilainya sama; hanya tampilannya yang berbeda.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Anatomi Program Dart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2859786"/>
          </a:xfrm>
          <a:prstGeom prst="roundRect">
            <a:avLst>
              <a:gd name="adj" fmla="val 319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Komentar satu baris: diabaikan komputer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Komentar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beberapa baris */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main() {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7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'Halo, Dart!'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7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7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7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hasilnya 15</a:t>
            </a:r>
            <a:endParaRPr lang="en-US" sz="1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7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01_halo_dart.dart"/>
          </p:cNvPr>
          <p:cNvSpPr txBox="1"/>
          <p:nvPr/>
        </p:nvSpPr>
        <p:spPr>
          <a:xfrm>
            <a:off x="548640" y="4459986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contoh_01_halo_dart.dart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1_halo_dart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551426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main() adalah pintu masuk: program selalu mulai dari sini.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{ } membentuk blok: kumpulan perintah yang menjadi satu kesatuan.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Setiap perintah diakhiri titik koma ( ; ). Lupa titik koma adalah kesalahan paling umum!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Dart membedakan huruf besar dan kecil: main, Main, dan MAIN adalah tiga nama berbeda.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1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Menyimpan Data</a:t>
            </a:r>
            <a:endParaRPr lang="en-US" sz="4000" dirty="0"/>
          </a:p>
        </p:txBody>
      </p:sp>
      <p:sp>
        <p:nvSpPr>
          <p:cNvPr id="4" name="lingkaran kotak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kota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Variabel = Toples Berlabel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051810"/>
          </a:xfrm>
          <a:prstGeom prst="roundRect">
            <a:avLst>
              <a:gd name="adj" fmla="val 2996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 = 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'Siti Aminah'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teks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umur =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bilangan bulat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ipk =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3.75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desimal (titik!)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sudahLulus =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true / false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kota = 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'Samarinda'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ditebak: String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umur =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   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boleh: tetap int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umur = 'dua puluh';       // ERROR: beda tipe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tahun =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.parse(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'2026'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teks -&gt; int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print(ipk.toStringAsFixed(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3.8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02_variabel_dan_tipe_data.dart"/>
          </p:cNvPr>
          <p:cNvSpPr txBox="1"/>
          <p:nvPr/>
        </p:nvSpPr>
        <p:spPr>
          <a:xfrm>
            <a:off x="548640" y="465201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contoh_02_variabel_dan_tipe_data.dart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2_variabel_dan_tipe_data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74345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Setiap toples punya label (nama) dan jenis isi (tipe). Kopi tidak dituang ke toples garam.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var: Dart menebak tipe dari nilai awal, lalu tipenya terkunci.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Kesalahan tipe langsung ditandai garis merah sebelum program dijalankan.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dari formulir berupa teks; ubah dengan int.parse() atau double.parse().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Tipe Data Dasar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849069"/>
                <a:gridCol w="5283055"/>
                <a:gridCol w="3962291"/>
              </a:tblGrid>
              <a:tr h="5551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Bilangan bulat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 -5, 2026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Bilangan desimal (memakai titik, bukan koma)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3.75, 165.5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int atau double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30, 30.5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Teks, diapit tanda kutip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'Samarinda'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bool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dua kemungkinan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true, false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dynamic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berganti tipe sesuka hati: HINDARI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Pemeriksa tipe jadi tidak bisa melindungi Anda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Nama variabel memakai lowerCamelCase dan harus bermakna: jumlahMahasiswa, bukan x atau jml2.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String dan Interpolasi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291840"/>
          </a:xfrm>
          <a:prstGeom prst="roundRect">
            <a:avLst>
              <a:gd name="adj" fmla="val 277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namaDepan = 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'Budi'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'Halo, $namaDepan!'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Halo, Budi!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'Panjang: ${namaDepan.length} huruf'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Panjang: 4 huruf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'5 x 4 = ${5 * 4}'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 x 4 = 20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  Hai  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.trim());         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Hai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'Flutter'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.substring(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Flu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'a,b'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.split(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          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[a, b]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03_string_dan_interpolasi.dart"/>
          </p:cNvPr>
          <p:cNvSpPr txBox="1"/>
          <p:nvPr/>
        </p:nvSpPr>
        <p:spPr>
          <a:xfrm>
            <a:off x="548640" y="48920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contoh_03_string_dan_interpolasi.dart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3_string_dan_interpolasi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9834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$nama menyisipkan isi variabel ke dalam teks.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${...} menyisipkan ekspresi, misalnya perhitungan 5 * 4 atau namaDepan.length.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Interpolasi lebih dianjurkan daripada menggabung teks dengan tanda +.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Gaya Dart: kutip tunggal, kecuali teksnya berisi kutip tunggal ("Jum'at").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final dan const: Nilai yang Terkunci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2811780"/>
          </a:xfrm>
          <a:prstGeom prst="roundRect">
            <a:avLst>
              <a:gd name="adj" fmla="val 3252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const: pasti SEBELUM program berjalan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jumlahHariSeminggu =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hari = [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'Senin'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'Rabu'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final: diisi SEKALI saat program berjalan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waktuMulai =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.now();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namaPengguna = 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'Rina'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namaPengguna = 'Andi';        // ERROR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waktu = DateTime.now(); // ERROR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04_final_dan_const.dart"/>
          </p:cNvPr>
          <p:cNvSpPr txBox="1"/>
          <p:nvPr/>
        </p:nvSpPr>
        <p:spPr>
          <a:xfrm>
            <a:off x="548640" y="441198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contoh_04_final_dan_const.dart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4_final_dan_const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50342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const ibarat tanggal Proklamasi: sudah pasti sejak awal.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final ibarat nomor antrean bank: baru diketahui saat mengambil tiket, lalu tidak berubah.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Kebiasaan baik: jika nilainya tidak akan berubah, jadikan final atau const.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 Flutter, widget const membuat Flutter bisa menghemat kerja saat menggambar ulang.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2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Null Safety: Aman dari Kotak Kosong</a:t>
            </a:r>
            <a:endParaRPr lang="en-US" sz="4000" dirty="0"/>
          </a:p>
        </p:txBody>
      </p:sp>
      <p:sp>
        <p:nvSpPr>
          <p:cNvPr id="4" name="lingkaran gembok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gemb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Perkakas Null Safety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Secara bawaan, variabel Dart TIDAK BOLEH null. Jika boleh kosong, wajib ditandai ? (nullable).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1447098"/>
                <a:gridCol w="3858927"/>
                <a:gridCol w="2653012"/>
                <a:gridCol w="313537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Dibaca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Jika x null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boleh kosong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String? x;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??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jika kosong, pakai cadangan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?? 'Tamu'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'Tamu'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?.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 hanya jika ada isinya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x?.length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(tidak crash)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??=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 hanya jika masih kosong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??= 'Tamu';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menjadi 'Tamu'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saya JAMIN tidak kosong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x!.length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Hemat memakai ! dan late. Keduanya janji kepada Dart; jika dilanggar, aplikasi crash saat berjalan.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Null Safety dalam Praktik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547872"/>
          </a:xfrm>
          <a:prstGeom prst="roundRect">
            <a:avLst>
              <a:gd name="adj" fmla="val 257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 =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'Dewi'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       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tak boleh null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panggilan = cariPanggilan(nama);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boleh null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print(panggilan ?? nama);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Dewi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print(panggilan?.length);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null, tidak crash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panggilan ??=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'Dede'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 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isi jika masih null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umur =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.tryParse(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'dua puluh'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null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print(umur ??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 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email = cariEmail(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(email !=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print(email.length);  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aman: sudah dicek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05_null_safety.dart"/>
          </p:cNvPr>
          <p:cNvSpPr txBox="1"/>
          <p:nvPr/>
        </p:nvSpPr>
        <p:spPr>
          <a:xfrm>
            <a:off x="548640" y="5148072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contoh_05_null_safety.dart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5_null_safety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239512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int.tryParse() menghasilkan null jika teks gagal diubah menjadi angka.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Membaca isi Map juga menghasilkan nilai nullable, karena kuncinya bisa saja tidak ada.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Setelah dicek if (x != null), Dart tahu x aman dipakai (type promotion).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Pemeriksaan if lebih aman daripada tanda !.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3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Mengolah Data &amp; Mengatur Alur</a:t>
            </a:r>
            <a:endParaRPr lang="en-US" sz="4000" dirty="0"/>
          </a:p>
        </p:txBody>
      </p:sp>
      <p:sp>
        <p:nvSpPr>
          <p:cNvPr id="4" name="lingkaran cabang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ab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Operator Aritmatika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602527"/>
                <a:gridCol w="5177394"/>
                <a:gridCol w="2465426"/>
                <a:gridCol w="1849069"/>
              </a:tblGrid>
              <a:tr h="529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Tambah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+ 5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17 - 5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*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 (hasilnya SELALU double)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/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~/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Bagi bulat (desimal dibuang)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~/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90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7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Sisa bagi (modulo); genap jika x % 2 == 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17 % 5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5" name="tombol tautan">
            <a:hlinkClick r:id="rId1" tooltip="https://github.com/antonprafanto/mobile2026/blob/main/pertemuan_02_dasar_dart/kode/contoh_06_operator.dart"/>
          </p:cNvPr>
          <p:cNvSpPr txBox="1"/>
          <p:nvPr/>
        </p:nvSpPr>
        <p:spPr>
          <a:xfrm>
            <a:off x="548640" y="53492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contoh_06_operator.dart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6_operator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44068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Percabangan: if dan switch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771900"/>
          </a:xfrm>
          <a:prstGeom prst="roundRect">
            <a:avLst>
              <a:gd name="adj" fmla="val 242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huruf;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(nilai &gt;=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huruf =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(nilai &gt;=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huruf =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huruf =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switch ekspresi (gaya Dart 3)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keterangan 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(huruf)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'Sangat baik'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'Baik'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'Perlu perbaikan'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07_percabangan.dart"/>
          </p:cNvPr>
          <p:cNvSpPr txBox="1"/>
          <p:nvPr/>
        </p:nvSpPr>
        <p:spPr>
          <a:xfrm>
            <a:off x="548640" y="537210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contoh_07_percabangan.dart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7_percabangan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546354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Syarat diperiksa dari atas; berhenti di syarat PERTAMA yang benar.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Biasakan selalu memakai kurung kurawal { } pada if.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switch ekspresi langsung menghasilkan nilai; _ berarti "selain semua pilihan di atas".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 Dart 3, switch pernyataan tidak memerlukan break.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Empat Jenis Perulangan</a:t>
            </a:r>
            <a:endParaRPr lang="en-US" sz="3200" dirty="0"/>
          </a:p>
        </p:txBody>
      </p:sp>
      <p:sp>
        <p:nvSpPr>
          <p:cNvPr id="4" name="kartu 1"/>
          <p:cNvSpPr/>
          <p:nvPr/>
        </p:nvSpPr>
        <p:spPr>
          <a:xfrm>
            <a:off x="548640" y="1371600"/>
            <a:ext cx="2533574" cy="361188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5" name="lingkaran putar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pu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207637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Jumlah putaran sudah diketahui sejak awal.</a:t>
            </a:r>
            <a:endParaRPr lang="en-US" sz="1500" dirty="0"/>
          </a:p>
        </p:txBody>
      </p:sp>
      <p:sp>
        <p:nvSpPr>
          <p:cNvPr id="9" name="kotak kode"/>
          <p:cNvSpPr txBox="1"/>
          <p:nvPr/>
        </p:nvSpPr>
        <p:spPr>
          <a:xfrm>
            <a:off x="731520" y="3557016"/>
            <a:ext cx="2167814" cy="1243584"/>
          </a:xfrm>
          <a:prstGeom prst="roundRect">
            <a:avLst>
              <a:gd name="adj" fmla="val 7353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&lt;=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i++)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kartu 2"/>
          <p:cNvSpPr/>
          <p:nvPr/>
        </p:nvSpPr>
        <p:spPr>
          <a:xfrm>
            <a:off x="3402254" y="1371600"/>
            <a:ext cx="2533574" cy="361188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1" name="lingkaran daftar"/>
          <p:cNvSpPr/>
          <p:nvPr/>
        </p:nvSpPr>
        <p:spPr>
          <a:xfrm>
            <a:off x="3630854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1" descr="daf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730" y="17510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453814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for-in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3630854" y="2423160"/>
            <a:ext cx="207637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Mengolah setiap isi sebuah daftar satu per satu.</a:t>
            </a:r>
            <a:endParaRPr lang="en-US" sz="1500" dirty="0"/>
          </a:p>
        </p:txBody>
      </p:sp>
      <p:sp>
        <p:nvSpPr>
          <p:cNvPr id="15" name="kotak kode"/>
          <p:cNvSpPr txBox="1"/>
          <p:nvPr/>
        </p:nvSpPr>
        <p:spPr>
          <a:xfrm>
            <a:off x="3585134" y="3557016"/>
            <a:ext cx="2167814" cy="1243584"/>
          </a:xfrm>
          <a:prstGeom prst="roundRect">
            <a:avLst>
              <a:gd name="adj" fmla="val 7353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buah)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kartu 3"/>
          <p:cNvSpPr/>
          <p:nvPr/>
        </p:nvSpPr>
        <p:spPr>
          <a:xfrm>
            <a:off x="6255868" y="1371600"/>
            <a:ext cx="2533574" cy="361188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17" name="lingkaran riwayat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mage 2" descr="riwaya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07428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while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6484468" y="2423160"/>
            <a:ext cx="207637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Ulangi SELAMA syarat benar; bisa saja 0 kali.</a:t>
            </a:r>
            <a:endParaRPr lang="en-US" sz="1500" dirty="0"/>
          </a:p>
        </p:txBody>
      </p:sp>
      <p:sp>
        <p:nvSpPr>
          <p:cNvPr id="21" name="kotak kode"/>
          <p:cNvSpPr txBox="1"/>
          <p:nvPr/>
        </p:nvSpPr>
        <p:spPr>
          <a:xfrm>
            <a:off x="6438748" y="3557016"/>
            <a:ext cx="2167814" cy="1243584"/>
          </a:xfrm>
          <a:prstGeom prst="roundRect">
            <a:avLst>
              <a:gd name="adj" fmla="val 7353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(uang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&gt;=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15000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2" name="kartu 4"/>
          <p:cNvSpPr/>
          <p:nvPr/>
        </p:nvSpPr>
        <p:spPr>
          <a:xfrm>
            <a:off x="9109481" y="1371600"/>
            <a:ext cx="2533574" cy="3611880"/>
          </a:xfrm>
          <a:prstGeom prst="roundRect">
            <a:avLst>
              <a:gd name="adj" fmla="val 4331"/>
            </a:avLst>
          </a:prstGeom>
          <a:solidFill>
            <a:schemeClr val="bg2"/>
          </a:solidFill>
          <a:ln/>
        </p:spPr>
      </p:sp>
      <p:sp>
        <p:nvSpPr>
          <p:cNvPr id="23" name="lingkaran ulang"/>
          <p:cNvSpPr/>
          <p:nvPr/>
        </p:nvSpPr>
        <p:spPr>
          <a:xfrm>
            <a:off x="9338081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mage 3" descr="ula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57" y="1751076"/>
            <a:ext cx="384048" cy="38404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161041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do-while</a:t>
            </a:r>
            <a:endParaRPr lang="en-US" sz="1800" dirty="0"/>
          </a:p>
        </p:txBody>
      </p:sp>
      <p:sp>
        <p:nvSpPr>
          <p:cNvPr id="26" name="Text 19"/>
          <p:cNvSpPr txBox="1"/>
          <p:nvPr/>
        </p:nvSpPr>
        <p:spPr>
          <a:xfrm>
            <a:off x="9338081" y="2423160"/>
            <a:ext cx="207637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Jalankan dulu, baru periksa; minimal 1 kali.</a:t>
            </a:r>
            <a:endParaRPr lang="en-US" sz="1500" dirty="0"/>
          </a:p>
        </p:txBody>
      </p:sp>
      <p:sp>
        <p:nvSpPr>
          <p:cNvPr id="27" name="kotak kode"/>
          <p:cNvSpPr txBox="1"/>
          <p:nvPr/>
        </p:nvSpPr>
        <p:spPr>
          <a:xfrm>
            <a:off x="9292361" y="3794760"/>
            <a:ext cx="2167814" cy="1005840"/>
          </a:xfrm>
          <a:prstGeom prst="roundRect">
            <a:avLst>
              <a:gd name="adj" fmla="val 9091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(x &lt; </a:t>
            </a: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</p:txBody>
      </p:sp>
      <p:sp>
        <p:nvSpPr>
          <p:cNvPr id="28" name="tombol tautan">
            <a:hlinkClick r:id="rId5" tooltip="https://github.com/antonprafanto/mobile2026/blob/main/pertemuan_02_dasar_dart/kode/contoh_08_perulangan.dart"/>
          </p:cNvPr>
          <p:cNvSpPr txBox="1"/>
          <p:nvPr/>
        </p:nvSpPr>
        <p:spPr>
          <a:xfrm>
            <a:off x="548640" y="53492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contoh_08_perulangan.dart</a:t>
            </a:r>
            <a:endParaRPr lang="en-US" sz="1300" dirty="0"/>
          </a:p>
        </p:txBody>
      </p:sp>
      <p:pic>
        <p:nvPicPr>
          <p:cNvPr id="29" name="Image 4" descr="ikon tautan">
            <a:hlinkClick r:id="rId7" tooltip="https://github.com/antonprafanto/mobile2026/blob/main/pertemuan_02_dasar_dart/kode/contoh_08_perulangan.dart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544068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4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Fungsi: Membungkus Logika</a:t>
            </a:r>
            <a:endParaRPr lang="en-US" sz="4000" dirty="0"/>
          </a:p>
        </p:txBody>
      </p:sp>
      <p:sp>
        <p:nvSpPr>
          <p:cNvPr id="4" name="lingkaran fungsi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ungs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Fungsi Itu Seperti Mesin Jus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291840"/>
          </a:xfrm>
          <a:prstGeom prst="roundRect">
            <a:avLst>
              <a:gd name="adj" fmla="val 2778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tipe hasil, nama, parameter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tambah(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a,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 + b; </a:t>
            </a: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serahkan hasilnya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tidak mengembalikan nilai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sapa(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nama)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print(</a:t>
            </a:r>
            <a:r>
              <a:rPr lang="en-US" sz="15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'Halo, $nama!'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fungsi panah: isinya SATU ekspresi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apakahLulus(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nilai) =&gt; nilai &gt;= </a:t>
            </a:r>
            <a:r>
              <a:rPr lang="en-US" sz="15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09_fungsi_dasar.dart"/>
          </p:cNvPr>
          <p:cNvSpPr txBox="1"/>
          <p:nvPr/>
        </p:nvSpPr>
        <p:spPr>
          <a:xfrm>
            <a:off x="548640" y="48920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contoh_09_fungsi_dasar.dart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09_fungsi_dasar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983480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Masukkan buah (parameter), mesin memproses, keluarlah jus (return).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Fungsi tanpa nilai kembali bertipe void.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Fungsi panah (=&gt;) adalah ringkasan untuk isi satu ekspresi.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Fungsi diberi nama agar bisa dipakai berulang: tambah(7, 8) menghasilkan 15.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Jenis-Jenis Parameter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70646"/>
                <a:gridCol w="4823659"/>
                <a:gridCol w="410011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Penulisan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memanggil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Posisi (wajib)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perkenalan(String nama)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perkenalan('Andi')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Posisi opsional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perkenalan(String nama, [String? asal])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perkenalan('Andi', 'Balikpapan')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hitungTotal({required int harga, int jumlah = 1})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hitungTotal(harga: 15000, jumlah: 3)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4372661"/>
            <a:ext cx="307238" cy="30723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80160" y="41605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Inilah kunci membaca kode Flutter! </a:t>
            </a:r>
            <a:r>
              <a:rPr lang="en-US" sz="1700" dirty="0">
                <a:solidFill>
                  <a:schemeClr val="tx1"/>
                </a:solidFill>
              </a:rPr>
              <a:t>AppBar(title: ...) dan Text('Hai', style: ...) memakai parameter bernama. Urutannya bebas dan maknanya langsung terbaca.</a:t>
            </a:r>
            <a:endParaRPr lang="en-US" sz="1700" dirty="0"/>
          </a:p>
        </p:txBody>
      </p:sp>
      <p:sp>
        <p:nvSpPr>
          <p:cNvPr id="8" name="tombol tautan">
            <a:hlinkClick r:id="rId2" tooltip="https://github.com/antonprafanto/mobile2026/blob/main/pertemuan_02_dasar_dart/kode/contoh_10_parameter_fungsi.dart"/>
          </p:cNvPr>
          <p:cNvSpPr txBox="1"/>
          <p:nvPr/>
        </p:nvSpPr>
        <p:spPr>
          <a:xfrm>
            <a:off x="548640" y="5349240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contoh_10_parameter_fungsi.dart</a:t>
            </a:r>
            <a:endParaRPr lang="en-US" sz="1300" dirty="0"/>
          </a:p>
        </p:txBody>
      </p:sp>
      <p:pic>
        <p:nvPicPr>
          <p:cNvPr id="9" name="Image 1" descr="ikon tautan">
            <a:hlinkClick r:id="rId4" tooltip="https://github.com/antonprafanto/mobile2026/blob/main/pertemuan_02_dasar_dart/kode/contoh_10_parameter_fungsi.dart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544068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BAGIAN 5</a:t>
            </a:r>
            <a:endParaRPr lang="en-US" sz="1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Koleksi: Mengelola Banyak Data</a:t>
            </a:r>
            <a:endParaRPr lang="en-US" sz="4000" dirty="0"/>
          </a:p>
        </p:txBody>
      </p:sp>
      <p:sp>
        <p:nvSpPr>
          <p:cNvPr id="4" name="lingkaran daftar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af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List, Set, dan Map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3484778" cy="37947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5" name="lingkaran daftar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daft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List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Antrean bernomor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Berurutan, indeks mulai dari 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Boleh ada isi kembar</a:t>
            </a:r>
            <a:endParaRPr lang="en-US" sz="1800" dirty="0"/>
          </a:p>
        </p:txBody>
      </p:sp>
      <p:sp>
        <p:nvSpPr>
          <p:cNvPr id="10" name="kotak kode"/>
          <p:cNvSpPr txBox="1"/>
          <p:nvPr/>
        </p:nvSpPr>
        <p:spPr>
          <a:xfrm>
            <a:off x="731520" y="4434840"/>
            <a:ext cx="3119018" cy="548640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'Apel'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'Mangga'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400" dirty="0"/>
          </a:p>
        </p:txBody>
      </p:sp>
      <p:sp>
        <p:nvSpPr>
          <p:cNvPr id="11" name="kolom 2"/>
          <p:cNvSpPr/>
          <p:nvPr/>
        </p:nvSpPr>
        <p:spPr>
          <a:xfrm>
            <a:off x="4353458" y="1371600"/>
            <a:ext cx="3484778" cy="37947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2" name="lingkaran label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lab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405018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Set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4582058" y="24231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Daftar hadir unik</a:t>
            </a:r>
            <a:endParaRPr lang="en-US" sz="1400" dirty="0"/>
          </a:p>
        </p:txBody>
      </p:sp>
      <p:sp>
        <p:nvSpPr>
          <p:cNvPr id="16" name="daftar poin"/>
          <p:cNvSpPr txBox="1"/>
          <p:nvPr/>
        </p:nvSpPr>
        <p:spPr>
          <a:xfrm>
            <a:off x="4582058" y="2926080"/>
            <a:ext cx="302757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Tidak ada isi kembar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Tidak memakai indeks</a:t>
            </a:r>
            <a:endParaRPr lang="en-US" sz="1800" dirty="0"/>
          </a:p>
        </p:txBody>
      </p:sp>
      <p:sp>
        <p:nvSpPr>
          <p:cNvPr id="17" name="kotak kode"/>
          <p:cNvSpPr txBox="1"/>
          <p:nvPr/>
        </p:nvSpPr>
        <p:spPr>
          <a:xfrm>
            <a:off x="4536338" y="4434840"/>
            <a:ext cx="3119018" cy="548640"/>
          </a:xfrm>
          <a:prstGeom prst="roundRect">
            <a:avLst>
              <a:gd name="adj" fmla="val 1666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8" name="kolom 3"/>
          <p:cNvSpPr/>
          <p:nvPr/>
        </p:nvSpPr>
        <p:spPr>
          <a:xfrm>
            <a:off x="8158277" y="1371600"/>
            <a:ext cx="3484778" cy="3794760"/>
          </a:xfrm>
          <a:prstGeom prst="roundRect">
            <a:avLst>
              <a:gd name="adj" fmla="val 3149"/>
            </a:avLst>
          </a:prstGeom>
          <a:solidFill>
            <a:schemeClr val="bg2"/>
          </a:solidFill>
          <a:ln/>
        </p:spPr>
      </p:sp>
      <p:sp>
        <p:nvSpPr>
          <p:cNvPr id="19" name="lingkaran kunci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2" descr="kunc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09837" y="1554480"/>
            <a:ext cx="22960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Map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8386877" y="2423160"/>
            <a:ext cx="30275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Kamus</a:t>
            </a:r>
            <a:endParaRPr lang="en-US" sz="1400" dirty="0"/>
          </a:p>
        </p:txBody>
      </p:sp>
      <p:sp>
        <p:nvSpPr>
          <p:cNvPr id="23" name="daftar poin"/>
          <p:cNvSpPr txBox="1"/>
          <p:nvPr/>
        </p:nvSpPr>
        <p:spPr>
          <a:xfrm>
            <a:off x="8386877" y="2926080"/>
            <a:ext cx="302757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Pasangan kunci → nilai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Kunci tak ada → null</a:t>
            </a:r>
            <a:endParaRPr lang="en-US" sz="1800" dirty="0"/>
          </a:p>
        </p:txBody>
      </p:sp>
      <p:sp>
        <p:nvSpPr>
          <p:cNvPr id="24" name="kotak kode"/>
          <p:cNvSpPr txBox="1"/>
          <p:nvPr/>
        </p:nvSpPr>
        <p:spPr>
          <a:xfrm>
            <a:off x="8341157" y="4178808"/>
            <a:ext cx="3119018" cy="804672"/>
          </a:xfrm>
          <a:prstGeom prst="roundRect">
            <a:avLst>
              <a:gd name="adj" fmla="val 11364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'Apel'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'Mangga'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25" name="tombol tautan">
            <a:hlinkClick r:id="rId4" tooltip="https://github.com/antonprafanto/mobile2026/blob/main/pertemuan_02_dasar_dart/kode/contoh_11_list.dart"/>
          </p:cNvPr>
          <p:cNvSpPr txBox="1"/>
          <p:nvPr/>
        </p:nvSpPr>
        <p:spPr>
          <a:xfrm>
            <a:off x="548640" y="5349240"/>
            <a:ext cx="5349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contoh_11_list.dart</a:t>
            </a:r>
            <a:endParaRPr lang="en-US" sz="1300" dirty="0"/>
          </a:p>
        </p:txBody>
      </p:sp>
      <p:pic>
        <p:nvPicPr>
          <p:cNvPr id="26" name="Image 3" descr="ikon tautan">
            <a:hlinkClick r:id="rId6" tooltip="https://github.com/antonprafanto/mobile2026/blob/main/pertemuan_02_dasar_dart/kode/contoh_11_list.dar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440680"/>
            <a:ext cx="274320" cy="274320"/>
          </a:xfrm>
          <a:prstGeom prst="rect">
            <a:avLst/>
          </a:prstGeom>
        </p:spPr>
      </p:pic>
      <p:sp>
        <p:nvSpPr>
          <p:cNvPr id="27" name="tombol tautan">
            <a:hlinkClick r:id="rId7" tooltip="https://github.com/antonprafanto/mobile2026/blob/main/pertemuan_02_dasar_dart/kode/contoh_12_map_dan_set.dart"/>
          </p:cNvPr>
          <p:cNvSpPr txBox="1"/>
          <p:nvPr/>
        </p:nvSpPr>
        <p:spPr>
          <a:xfrm>
            <a:off x="6263640" y="5349240"/>
            <a:ext cx="534924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contoh_12_map_dan_set.dart</a:t>
            </a:r>
            <a:endParaRPr lang="en-US" sz="1300" dirty="0"/>
          </a:p>
        </p:txBody>
      </p:sp>
      <p:pic>
        <p:nvPicPr>
          <p:cNvPr id="28" name="Image 4" descr="ikon tautan">
            <a:hlinkClick r:id="rId9" tooltip="https://github.com/antonprafanto/mobile2026/blob/main/pertemuan_02_dasar_dart/kode/contoh_12_map_dan_set.dart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5440680"/>
            <a:ext cx="274320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Menyaring dan Mengubah Isi List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547872"/>
          </a:xfrm>
          <a:prstGeom prst="roundRect">
            <a:avLst>
              <a:gd name="adj" fmla="val 257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nilai = 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print(nilai[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80 (indeks mulai 0!)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nilai.add(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 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tambah di akhir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where = SARING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lulus =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nilai.where((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n) =&gt; n &gt;=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).toList();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map = UBAH setiap isi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label =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nilai.map((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n) =&gt;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'Nilai $n'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).toList();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stok = {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'Apel'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print(stok[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'Salak'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??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kunci tak ada -&gt; 0</a:t>
            </a:r>
            <a:endParaRPr lang="en-US" sz="1400" dirty="0"/>
          </a:p>
        </p:txBody>
      </p:sp>
      <p:sp>
        <p:nvSpPr>
          <p:cNvPr id="5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where menyaring isi yang memenuhi syarat.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map mengubah setiap isi menjadi bentuk lain.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Akhiri dengan toList() agar hasilnya kembali menjadi List.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Dua method ini akan sangat sering dipakai untuk menampilkan daftar data di Flutter.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Studi Kasus: Rekap Nilai Satu Kelas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766560" cy="3099816"/>
          </a:xfrm>
          <a:prstGeom prst="roundRect">
            <a:avLst>
              <a:gd name="adj" fmla="val 2950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kelas =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'Andi'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'Budi'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MapEntry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data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kelas.entries)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 = data.value;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akhir = hitungNilaiAkhir(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tugas: n[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uts: n[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uas: n[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huruf = nilaiHuruf(akhir);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hitung jumlah lulus, total, nilai tertinggi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tombol tautan">
            <a:hlinkClick r:id="rId1" tooltip="https://github.com/antonprafanto/mobile2026/blob/main/pertemuan_02_dasar_dart/kode/contoh_13_studi_kasus_rekap_nilai.dart"/>
          </p:cNvPr>
          <p:cNvSpPr txBox="1"/>
          <p:nvPr/>
        </p:nvSpPr>
        <p:spPr>
          <a:xfrm>
            <a:off x="548640" y="4700016"/>
            <a:ext cx="6766560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Buka kode lengkap di GitHub  ·  contoh_13_studi_kasus_rekap_nilai.dart</a:t>
            </a:r>
            <a:endParaRPr lang="en-US" sz="13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kode/contoh_13_studi_kasus_rekap_nilai.dar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791456"/>
            <a:ext cx="274320" cy="274320"/>
          </a:xfrm>
          <a:prstGeom prst="rect">
            <a:avLst/>
          </a:prstGeom>
        </p:spPr>
      </p:pic>
      <p:sp>
        <p:nvSpPr>
          <p:cNvPr id="7" name="daftar poin"/>
          <p:cNvSpPr txBox="1"/>
          <p:nvPr/>
        </p:nvSpPr>
        <p:spPr>
          <a:xfrm>
            <a:off x="7726680" y="1417320"/>
            <a:ext cx="391637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Pecah masalah besar menjadi kecil: satu fungsi menghitung nilai akhir (30% tugas, 30% UTS, 40% UAS), satu fungsi mengubah angka menjadi huruf.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Data kelas disimpan dalam Map: nama → [tugas, UTS, UAS].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Hasil: Andi 84,9 (B), Budi 53,7 (D), Citra 91,7 (A), Dewi 56,5 (C); rata-rata kelas 71,70.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Kesalahan Umum Pemula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6029573"/>
                <a:gridCol w="506484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Pesan error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Penyebab dan solusi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to find ';'.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Lupa titik koma; tambahkan ;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value of type 'double' can't be assigned to a variable of type 'int'.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/ selalu double; pakai ~/ atau tipe double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argument type 'int' can't be assigned to the parameter type 'String'.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Menggabung teks + angka; pakai interpolasi 'Umur: $umur'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non-nullable local variable 'x' must be assigned before it can be used.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 dipakai sebelum diisi; beri nilai awal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check operator used on a null value / Unexpected null value.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Tanda ! pada nilai null; pakai ?? atau cek if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RangeError (index): Index out of range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Indeks mulai dari 0; indeks terakhir = length - 1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Menulis Kode yang Rapi</a:t>
            </a:r>
            <a:endParaRPr lang="en-US" sz="3200" dirty="0"/>
          </a:p>
        </p:txBody>
      </p:sp>
      <p:sp>
        <p:nvSpPr>
          <p:cNvPr id="4" name="kartu 1"/>
          <p:cNvSpPr/>
          <p:nvPr/>
        </p:nvSpPr>
        <p:spPr>
          <a:xfrm>
            <a:off x="548640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lingkaran teks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tek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lowerCamelCase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Untuk variabel dan fungsi: nilaiAkhir, hitungTotal()</a:t>
            </a:r>
            <a:endParaRPr lang="en-US" sz="1500" dirty="0"/>
          </a:p>
        </p:txBody>
      </p:sp>
      <p:sp>
        <p:nvSpPr>
          <p:cNvPr id="9" name="kartu 2"/>
          <p:cNvSpPr/>
          <p:nvPr/>
        </p:nvSpPr>
        <p:spPr>
          <a:xfrm>
            <a:off x="4353458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lingkaran label"/>
          <p:cNvSpPr/>
          <p:nvPr/>
        </p:nvSpPr>
        <p:spPr>
          <a:xfrm>
            <a:off x="458205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lab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934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05018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UpperCamelCase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4582058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Untuk nama kelas: Mahasiswa, HalamanUtama</a:t>
            </a:r>
            <a:endParaRPr lang="en-US" sz="1500" dirty="0"/>
          </a:p>
        </p:txBody>
      </p:sp>
      <p:sp>
        <p:nvSpPr>
          <p:cNvPr id="14" name="kartu 3"/>
          <p:cNvSpPr/>
          <p:nvPr/>
        </p:nvSpPr>
        <p:spPr>
          <a:xfrm>
            <a:off x="8158277" y="137160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lingkaran dokumen"/>
          <p:cNvSpPr/>
          <p:nvPr/>
        </p:nvSpPr>
        <p:spPr>
          <a:xfrm>
            <a:off x="8386877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dokum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7753" y="17510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09837" y="157276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snake_case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8386877" y="242316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Untuk nama berkas: rekap_nilai.dart</a:t>
            </a:r>
            <a:endParaRPr lang="en-US" sz="1500" dirty="0"/>
          </a:p>
        </p:txBody>
      </p:sp>
      <p:sp>
        <p:nvSpPr>
          <p:cNvPr id="19" name="kartu 4"/>
          <p:cNvSpPr/>
          <p:nvPr/>
        </p:nvSpPr>
        <p:spPr>
          <a:xfrm>
            <a:off x="548640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lingkaran lampu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3" descr="lampu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431139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00200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Nama bermakna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77240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jumlahLulus, bukan x atau jml2</a:t>
            </a:r>
            <a:endParaRPr lang="en-US" sz="1500" dirty="0"/>
          </a:p>
        </p:txBody>
      </p:sp>
      <p:sp>
        <p:nvSpPr>
          <p:cNvPr id="24" name="kartu 5"/>
          <p:cNvSpPr/>
          <p:nvPr/>
        </p:nvSpPr>
        <p:spPr>
          <a:xfrm>
            <a:off x="4353458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5" name="lingkaran fungsi"/>
          <p:cNvSpPr/>
          <p:nvPr/>
        </p:nvSpPr>
        <p:spPr>
          <a:xfrm>
            <a:off x="4582058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fungs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2934" y="43113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405018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Satu fungsi, satu tugas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4582058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nilaiHuruf() hanya mengubah angka menjadi huruf</a:t>
            </a:r>
            <a:endParaRPr lang="en-US" sz="1500" dirty="0"/>
          </a:p>
        </p:txBody>
      </p:sp>
      <p:sp>
        <p:nvSpPr>
          <p:cNvPr id="29" name="kartu 6"/>
          <p:cNvSpPr/>
          <p:nvPr/>
        </p:nvSpPr>
        <p:spPr>
          <a:xfrm>
            <a:off x="8158277" y="3931920"/>
            <a:ext cx="3484778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0" name="lingkaran kuas"/>
          <p:cNvSpPr/>
          <p:nvPr/>
        </p:nvSpPr>
        <p:spPr>
          <a:xfrm>
            <a:off x="8386877" y="416052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1" name="Image 5" descr="kua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7753" y="4311396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9209837" y="4133088"/>
            <a:ext cx="22503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Format otomatis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8386877" y="4983480"/>
            <a:ext cx="30275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Shift+Alt+F di VS Code, tombol Format di DartPad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Ringkasan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Program Dart dimulai dari main(); setiap perintah diakhiri ; dan huruf besar/kecil dibedakan.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Variabel punya tipe tetap: int, double, num, String, bool. var menebak tipe; hindari dynamic.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Interpolasi $nama dan ${ekspresi} adalah cara terbaik menyusun teks.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final diisi sekali saat berjalan; const pasti sejak sebelum berjalan.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324448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10248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Null safety: tandai ? jika boleh null; pakai ??, ?., ??=, dan cek if. Hemat memakai !.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10248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/ selalu menghasilkan double, ~/ membagi bulat, % memberi sisa bagi; = berbeda dengan ==.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24448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Alur program: if, switch, for, for-in, while, do-while, break, continue.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10248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Fungsi + parameter bernama adalah kunci membaca kode Flutter; List, Set, Map untuk banyak data.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Saatnya Praktik!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Kerjakan Jobsheet Pertemuan 2 (lima praktikum + tantangan Kasir Kantin), lalu uji diri di Latihan. Pertemuan berikutnya: OOP dan pemrograman asinkron.</a:t>
            </a:r>
            <a:endParaRPr lang="en-US" sz="2000" dirty="0"/>
          </a:p>
        </p:txBody>
      </p:sp>
      <p:sp>
        <p:nvSpPr>
          <p:cNvPr id="5" name="tombol tautan">
            <a:hlinkClick r:id="rId1" tooltip="https://github.com/antonprafanto/mobile2026/blob/main/pertemuan_02_dasar_dart/JOBSHEET.md"/>
          </p:cNvPr>
          <p:cNvSpPr txBox="1"/>
          <p:nvPr/>
        </p:nvSpPr>
        <p:spPr>
          <a:xfrm>
            <a:off x="73152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Jobsheet P2</a:t>
            </a:r>
            <a:endParaRPr lang="en-US" sz="1600" dirty="0"/>
          </a:p>
        </p:txBody>
      </p:sp>
      <p:pic>
        <p:nvPicPr>
          <p:cNvPr id="6" name="Image 0" descr="ikon tautan">
            <a:hlinkClick r:id="rId3" tooltip="https://github.com/antonprafanto/mobile2026/blob/main/pertemuan_02_dasar_dart/JOBSHEET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276088"/>
            <a:ext cx="329184" cy="329184"/>
          </a:xfrm>
          <a:prstGeom prst="rect">
            <a:avLst/>
          </a:prstGeom>
        </p:spPr>
      </p:pic>
      <p:sp>
        <p:nvSpPr>
          <p:cNvPr id="7" name="tombol tautan">
            <a:hlinkClick r:id="rId4" tooltip="https://github.com/antonprafanto/mobile2026/blob/main/pertemuan_02_dasar_dart/LATIHAN.md"/>
          </p:cNvPr>
          <p:cNvSpPr txBox="1"/>
          <p:nvPr/>
        </p:nvSpPr>
        <p:spPr>
          <a:xfrm>
            <a:off x="361188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Latihan P2</a:t>
            </a:r>
            <a:endParaRPr lang="en-US" sz="1600" dirty="0"/>
          </a:p>
        </p:txBody>
      </p:sp>
      <p:pic>
        <p:nvPicPr>
          <p:cNvPr id="8" name="Image 1" descr="ikon tautan">
            <a:hlinkClick r:id="rId6" tooltip="https://github.com/antonprafanto/mobile2026/blob/main/pertemuan_02_dasar_dart/LATIHAN.m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5276088"/>
            <a:ext cx="329184" cy="329184"/>
          </a:xfrm>
          <a:prstGeom prst="rect">
            <a:avLst/>
          </a:prstGeom>
        </p:spPr>
      </p:pic>
      <p:sp>
        <p:nvSpPr>
          <p:cNvPr id="9" name="tombol tautan">
            <a:hlinkClick r:id="rId7" tooltip="https://github.com/antonprafanto/mobile2026/blob/main/pertemuan_02_dasar_dart/README.md"/>
          </p:cNvPr>
          <p:cNvSpPr txBox="1"/>
          <p:nvPr/>
        </p:nvSpPr>
        <p:spPr>
          <a:xfrm>
            <a:off x="649224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Modul P2</a:t>
            </a:r>
            <a:endParaRPr lang="en-US" sz="1600" dirty="0"/>
          </a:p>
        </p:txBody>
      </p:sp>
      <p:pic>
        <p:nvPicPr>
          <p:cNvPr id="10" name="Image 2" descr="ikon tautan">
            <a:hlinkClick r:id="rId9" tooltip="https://github.com/antonprafanto/mobile2026/blob/main/pertemuan_02_dasar_dart/README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276088"/>
            <a:ext cx="329184" cy="329184"/>
          </a:xfrm>
          <a:prstGeom prst="rect">
            <a:avLst/>
          </a:prstGeom>
        </p:spPr>
      </p:pic>
      <p:sp>
        <p:nvSpPr>
          <p:cNvPr id="11" name="lingkaran roket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3" descr="roke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B Flutter 2026">
  <a:themeElements>
    <a:clrScheme name="PPB Flutter 2026">
      <a:dk1>
        <a:srgbClr val="1B2333"/>
      </a:dk1>
      <a:lt1>
        <a:srgbClr val="FFFFFF"/>
      </a:lt1>
      <a:dk2>
        <a:srgbClr val="0B2545"/>
      </a:dk2>
      <a:lt2>
        <a:srgbClr val="EEF3FA"/>
      </a:lt2>
      <a:accent1>
        <a:srgbClr val="0175C2"/>
      </a:accent1>
      <a:accent2>
        <a:srgbClr val="13B9FD"/>
      </a:accent2>
      <a:accent3>
        <a:srgbClr val="F2A900"/>
      </a:accent3>
      <a:accent4>
        <a:srgbClr val="2E7D32"/>
      </a:accent4>
      <a:accent5>
        <a:srgbClr val="C62828"/>
      </a:accent5>
      <a:accent6>
        <a:srgbClr val="6750A4"/>
      </a:accent6>
      <a:hlink>
        <a:srgbClr val="0175C2"/>
      </a:hlink>
      <a:folHlink>
        <a:srgbClr val="6750A4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02 - Dasar Pemrograman Dart</dc:title>
  <dc:subject>Materi kuliah Pemrograman Piranti Bergerak (Flutter 2026)</dc:subject>
  <dc:creator>Pemrograman Piranti Bergerak - Informatika S1</dc:creator>
  <cp:lastModifiedBy>Pemrograman Piranti Bergerak - Informatika S1</cp:lastModifiedBy>
  <cp:revision>1</cp:revision>
  <dcterms:created xsi:type="dcterms:W3CDTF">2026-10-13T14:32:55Z</dcterms:created>
  <dcterms:modified xsi:type="dcterms:W3CDTF">2026-10-13T14:32:55Z</dcterms:modified>
</cp:coreProperties>
</file>