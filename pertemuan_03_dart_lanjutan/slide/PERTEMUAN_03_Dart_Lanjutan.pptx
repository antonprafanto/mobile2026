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d341770-30f2-ad73-952c-67c99b042b51}">
          <p14:sldIdLst>
            <p14:sldId id="256"/>
            <p14:sldId id="257"/>
            <p14:sldId id="258"/>
            <p14:sldId id="259"/>
          </p14:sldIdLst>
        </p14:section>
        <p14:section name="Class dan Objek" id="{e65dae7c-dfac-e552-8e62-9cd9ff2f267f}">
          <p14:sldIdLst>
            <p14:sldId id="260"/>
            <p14:sldId id="261"/>
            <p14:sldId id="262"/>
          </p14:sldIdLst>
        </p14:section>
        <p14:section name="Constructor dan Enkapsulasi" id="{b32bf137-bb63-520f-bdcd-a0d6912c15cd}">
          <p14:sldIdLst>
            <p14:sldId id="263"/>
            <p14:sldId id="264"/>
            <p14:sldId id="265"/>
            <p14:sldId id="266"/>
            <p14:sldId id="267"/>
          </p14:sldIdLst>
        </p14:section>
        <p14:section name="Pewarisan, Abstract, dan Mixin" id="{af9d2400-1964-af25-553d-08a8249c0fd8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Enum dan Exception" id="{8c2ad780-ac74-a3a9-bc34-eef3add39786}">
          <p14:sldIdLst>
            <p14:sldId id="274"/>
            <p14:sldId id="275"/>
            <p14:sldId id="276"/>
            <p14:sldId id="277"/>
          </p14:sldIdLst>
        </p14:section>
        <p14:section name="Pemrograman Asinkron" id="{b590913f-0bac-ea6d-42e4-43430fa6130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terakhir yang fokus pada Dart murni. Semua contoh tetap bisa dijalankan di DartPad. Mulai Pertemuan 4 kita kembali ke Flutter, dan semua konsep hari ini akan langsung dipakai.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OOP adalah kunci membaca kode Flutter, sedangkan asinkron adalah kunci aplikasi yang tidak membeku saat menunggu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awal menata kode (OOP). Bagian akhir membuat program tangguh (exception) dan tidak macet saat menunggu (asinkron).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ini sudah mahasiswa lihat di Pertemuan 1. Janjikan bahwa di akhir pertemuan, setiap kata di dalamnya bisa mereka jelaskan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cetakan kue berbentuk ikan: cetakannya bukan kue, tetapi menentukan bentuk setiap kue.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jika budi.naikSemester() dipanggil dua kali dari semester 5, berapa semesternya? (7)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Text('Halo', style: ...) dan Padding(padding: ..., child: ...). Mahasiswa sudah memakai parameter bernama tanpa menyadarinya.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Dart 3.13 menambah primary constructor: class Titik(final int x, final int y); Kenalkan bentuknya saja. Di mata kuliah ini kita tetap memakai gaya klasik karena paling banyak dijumpai di dokumentasi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tanpa const, dua objek Warna dengan isi sama adalah dua objek berbeda (identical bernilai 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ATM: nasabah tidak bisa membuka brankas. Ingatkan bahwa main() di berkas yang sama masih bisa menyentuh _saldo; perlindungan terasa saat class disimpan di berkas sendiri, seperti di proyek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buku resep keluarga: anak mewarisi semua resep, boleh menambah atau memodifikasi. Kaitkan dengan HalamanUtama extends StatelessWidget yang meng-override build().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dosen berkata "perkenalkan diri masing-masing": setiap mahasiswa memperkenalkan diri dengan caranya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toko online yang mewajibkan setiap jasa pengiriman punya nama layanan dan cara menghitung ongkir.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apa yang terjadi jika koki.terbang() dipanggil pada objek Ikan? (ditolak editor karena Ikan tidak memakai BisaTerbang).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contoh lain: Mahasiswa extends Orang (adalah), Ponsel implements BisaDiisiDaya (berjanji), Bebek with BisaBerenang (kemampuan tambahan).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teks ajaib: status == 'diprosess' (salah ketik) tidak memunculkan error, tetapi syaratnya tidak pernah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payung: hujan (server mati, input salah) tidak bisa dicegah, tetapi kita bisa menyiapkan payung.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09 sengaja menangkap RangeError hanya untuk menunjukkan catch tanpa on. Di kode sungguhan, bug seperti itu diperbaiki, bukan ditangkap.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pager food court: Anda bebas duduk atau membeli minum, pager bergetar saat makanan siap. Future juga bisa gagal, seperti makanan yang ternyata habis.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contoh 10 di DartPad dan minta mahasiswa menebak urutan output sebelum menekan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memesan di tiga kios sekaligus, bukan mengantre satu per satu.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cepat: data profil saat aplikasi dibuka (Future), lokasi GPS saat navigasi (Stream), progres unggah foto (Stream), menyimpan satu catatan (Future).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urutan output: baris setelah listen dicetak lebih dulu daripada notifikasinya.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Kasir Kantin Pertemuan 2: data dan perilaku kini terbungkus rapi dalam class, status tidak mungkin salah ketik, dan program tidak crash saat stok habis.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lengkap ada di modul bagian 14, termasuk tanda lupa await: tercetak Instance of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menjelaskan ulang setiap kata pada kode HalamanUtama di awal pertemuan.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Praktikum 5 dan tugas mandiri memakai Future.delayed, jadi output muncul bertahap. Ingatkan mahasiswa untuk menunggu sampai program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PEMROGRAMAN PIRANTI BERGERAK  ·  INFORMATIKA 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github.com/antonprafanto/mobile2026</a:t>
            </a:r>
            <a:endParaRPr lang="en-US" sz="13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Pemrograman Piranti Bergerak  ·  Pertemuan 03  ·  Dart Lanjutan: OOP &amp; Pemrograman Asinkron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Pemrograman Piranti Bergerak  ·  Pertemuan 03  ·  Dart Lanjutan: OOP &amp; Pemrograman Asinkron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1_pengenalan_flutter/kode/contoh_02_materialapp_dan_scaffold.dart" TargetMode="External"/><Relationship Id="rId3" Type="http://schemas.openxmlformats.org/officeDocument/2006/relationships/hyperlink" Target="https://github.com/antonprafanto/mobile2026/blob/main/pertemuan_01_pengenalan_flutter/kode/contoh_02_materialapp_dan_scaffold.dart" TargetMode="External"/><Relationship Id="rId2" Type="http://schemas.openxmlformats.org/officeDocument/2006/relationships/image" Target="../media/image-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1_class_dan_objek.dart" TargetMode="External"/><Relationship Id="rId3" Type="http://schemas.openxmlformats.org/officeDocument/2006/relationships/hyperlink" Target="https://github.com/antonprafanto/mobile2026/blob/main/pertemuan_03_dart_lanjutan/kode/contoh_01_class_dan_objek.dart" TargetMode="External"/><Relationship Id="rId2" Type="http://schemas.openxmlformats.org/officeDocument/2006/relationships/image" Target="../media/image-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2_constructor.dart" TargetMode="External"/><Relationship Id="rId3" Type="http://schemas.openxmlformats.org/officeDocument/2006/relationships/hyperlink" Target="https://github.com/antonprafanto/mobile2026/blob/main/pertemuan_03_dart_lanjutan/kode/contoh_02_constructor.dart" TargetMode="External"/><Relationship Id="rId2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3_constructor_lainnya.dart" TargetMode="External"/><Relationship Id="rId3" Type="http://schemas.openxmlformats.org/officeDocument/2006/relationships/hyperlink" Target="https://github.com/antonprafanto/mobile2026/blob/main/pertemuan_03_dart_lanjutan/kode/contoh_03_constructor_lainnya.dart" TargetMode="External"/><Relationship Id="rId2" Type="http://schemas.openxmlformats.org/officeDocument/2006/relationships/image" Target="../media/image-1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3_constructor_lainnya.dart" TargetMode="External"/><Relationship Id="rId3" Type="http://schemas.openxmlformats.org/officeDocument/2006/relationships/hyperlink" Target="https://github.com/antonprafanto/mobile2026/blob/main/pertemuan_03_dart_lanjutan/kode/contoh_03_constructor_lainnya.dart" TargetMode="External"/><Relationship Id="rId2" Type="http://schemas.openxmlformats.org/officeDocument/2006/relationships/image" Target="../media/image-1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4_enkapsulasi.dart" TargetMode="External"/><Relationship Id="rId3" Type="http://schemas.openxmlformats.org/officeDocument/2006/relationships/hyperlink" Target="https://github.com/antonprafanto/mobile2026/blob/main/pertemuan_03_dart_lanjutan/kode/contoh_04_enkapsulasi.dart" TargetMode="External"/><Relationship Id="rId2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5_pewarisan.dart" TargetMode="External"/><Relationship Id="rId3" Type="http://schemas.openxmlformats.org/officeDocument/2006/relationships/hyperlink" Target="https://github.com/antonprafanto/mobile2026/blob/main/pertemuan_03_dart_lanjutan/kode/contoh_05_pewarisan.dart" TargetMode="External"/><Relationship Id="rId2" Type="http://schemas.openxmlformats.org/officeDocument/2006/relationships/image" Target="../media/image-1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5_pewarisan.dart" TargetMode="External"/><Relationship Id="rId3" Type="http://schemas.openxmlformats.org/officeDocument/2006/relationships/hyperlink" Target="https://github.com/antonprafanto/mobile2026/blob/main/pertemuan_03_dart_lanjutan/kode/contoh_05_pewarisan.dart" TargetMode="External"/><Relationship Id="rId2" Type="http://schemas.openxmlformats.org/officeDocument/2006/relationships/image" Target="../media/image-1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6_abstract_dan_interface.dart" TargetMode="External"/><Relationship Id="rId3" Type="http://schemas.openxmlformats.org/officeDocument/2006/relationships/hyperlink" Target="https://github.com/antonprafanto/mobile2026/blob/main/pertemuan_03_dart_lanjutan/kode/contoh_06_abstract_dan_interface.dart" TargetMode="External"/><Relationship Id="rId2" Type="http://schemas.openxmlformats.org/officeDocument/2006/relationships/image" Target="../media/image-1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7_mixin.dart" TargetMode="External"/><Relationship Id="rId3" Type="http://schemas.openxmlformats.org/officeDocument/2006/relationships/hyperlink" Target="https://github.com/antonprafanto/mobile2026/blob/main/pertemuan_03_dart_lanjutan/kode/contoh_07_mixin.dart" TargetMode="External"/><Relationship Id="rId2" Type="http://schemas.openxmlformats.org/officeDocument/2006/relationships/image" Target="../media/image-1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8_enum.dart" TargetMode="External"/><Relationship Id="rId3" Type="http://schemas.openxmlformats.org/officeDocument/2006/relationships/hyperlink" Target="https://github.com/antonprafanto/mobile2026/blob/main/pertemuan_03_dart_lanjutan/kode/contoh_08_enum.dart" TargetMode="External"/><Relationship Id="rId2" Type="http://schemas.openxmlformats.org/officeDocument/2006/relationships/image" Target="../media/image-2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09_exception.dart" TargetMode="External"/><Relationship Id="rId3" Type="http://schemas.openxmlformats.org/officeDocument/2006/relationships/hyperlink" Target="https://github.com/antonprafanto/mobile2026/blob/main/pertemuan_03_dart_lanjutan/kode/contoh_09_exception.dart" TargetMode="External"/><Relationship Id="rId2" Type="http://schemas.openxmlformats.org/officeDocument/2006/relationships/image" Target="../media/image-2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10_future_async_await.dart" TargetMode="External"/><Relationship Id="rId3" Type="http://schemas.openxmlformats.org/officeDocument/2006/relationships/hyperlink" Target="https://github.com/antonprafanto/mobile2026/blob/main/pertemuan_03_dart_lanjutan/kode/contoh_10_future_async_await.dart" TargetMode="External"/><Relationship Id="rId2" Type="http://schemas.openxmlformats.org/officeDocument/2006/relationships/image" Target="../media/image-2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11_future_paralel_dan_error.dart" TargetMode="External"/><Relationship Id="rId3" Type="http://schemas.openxmlformats.org/officeDocument/2006/relationships/hyperlink" Target="https://github.com/antonprafanto/mobile2026/blob/main/pertemuan_03_dart_lanjutan/kode/contoh_11_future_paralel_dan_error.dart" TargetMode="External"/><Relationship Id="rId2" Type="http://schemas.openxmlformats.org/officeDocument/2006/relationships/image" Target="../media/image-2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12_stream.dart" TargetMode="External"/><Relationship Id="rId3" Type="http://schemas.openxmlformats.org/officeDocument/2006/relationships/hyperlink" Target="https://github.com/antonprafanto/mobile2026/blob/main/pertemuan_03_dart_lanjutan/kode/contoh_12_stream.dart" TargetMode="External"/><Relationship Id="rId2" Type="http://schemas.openxmlformats.org/officeDocument/2006/relationships/image" Target="../media/image-28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kode/contoh_13_studi_kasus_pesanan_kantin.dart" TargetMode="External"/><Relationship Id="rId3" Type="http://schemas.openxmlformats.org/officeDocument/2006/relationships/hyperlink" Target="https://github.com/antonprafanto/mobile2026/blob/main/pertemuan_03_dart_lanjutan/kode/contoh_13_studi_kasus_pesanan_kantin.dart" TargetMode="External"/><Relationship Id="rId2" Type="http://schemas.openxmlformats.org/officeDocument/2006/relationships/image" Target="../media/image-2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3_dart_lanjutan/JOBSHEET.md" TargetMode="External"/><Relationship Id="rId3" Type="http://schemas.openxmlformats.org/officeDocument/2006/relationships/hyperlink" Target="https://github.com/antonprafanto/mobile2026/blob/main/pertemuan_03_dart_lanjutan/JOBSHEET.md" TargetMode="External"/><Relationship Id="rId4" Type="http://schemas.openxmlformats.org/officeDocument/2006/relationships/hyperlink" Target="https://github.com/antonprafanto/mobile2026/blob/main/pertemuan_03_dart_lanjutan/LATIHAN.md" TargetMode="External"/><Relationship Id="rId6" Type="http://schemas.openxmlformats.org/officeDocument/2006/relationships/hyperlink" Target="https://github.com/antonprafanto/mobile2026/blob/main/pertemuan_03_dart_lanjutan/LATIHAN.md" TargetMode="External"/><Relationship Id="rId7" Type="http://schemas.openxmlformats.org/officeDocument/2006/relationships/hyperlink" Target="https://github.com/antonprafanto/mobile2026/blob/main/pertemuan_03_dart_lanjutan/README.md" TargetMode="External"/><Relationship Id="rId9" Type="http://schemas.openxmlformats.org/officeDocument/2006/relationships/hyperlink" Target="https://github.com/antonprafanto/mobile2026/blob/main/pertemuan_03_dart_lanjutan/README.md" TargetMode="External"/><Relationship Id="rId2" Type="http://schemas.openxmlformats.org/officeDocument/2006/relationships/image" Target="../media/image-32-1.png"/><Relationship Id="rId5" Type="http://schemas.openxmlformats.org/officeDocument/2006/relationships/image" Target="../media/image-32-2.png"/><Relationship Id="rId8" Type="http://schemas.openxmlformats.org/officeDocument/2006/relationships/image" Target="../media/image-32-3.png"/><Relationship Id="rId10" Type="http://schemas.openxmlformats.org/officeDocument/2006/relationships/image" Target="../media/image-32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Dart Lanjutan: OOP &amp; Pemrograman Asinkron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Pertemuan 3  ·  Class, constructor, enkapsulasi, pewarisan, mixin, enum, exception, Future, dan Stream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Pembelajaran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Setelah pertemuan ini, Anda mampu:</a:t>
            </a:r>
            <a:endParaRPr lang="en-US" sz="1800" dirty="0"/>
          </a:p>
        </p:txBody>
      </p:sp>
      <p:sp>
        <p:nvSpPr>
          <p:cNvPr id="5" name="lingkaran centang"/>
          <p:cNvSpPr/>
          <p:nvPr/>
        </p:nvSpPr>
        <p:spPr>
          <a:xfrm>
            <a:off x="548640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ent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1424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Membuat class dengan properti, constructor, dan method</a:t>
            </a:r>
            <a:endParaRPr lang="en-US" sz="1900" dirty="0"/>
          </a:p>
        </p:txBody>
      </p:sp>
      <p:sp>
        <p:nvSpPr>
          <p:cNvPr id="8" name="lingkaran centang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cent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3311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Melindungi data dengan anggota privat, getter, dan setter</a:t>
            </a:r>
            <a:endParaRPr lang="en-US" sz="1900" dirty="0"/>
          </a:p>
        </p:txBody>
      </p:sp>
      <p:sp>
        <p:nvSpPr>
          <p:cNvPr id="11" name="lingkaran centang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2" descr="ce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1987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Menerapkan pewarisan, override, dan polimorfisme</a:t>
            </a:r>
            <a:endParaRPr lang="en-US" sz="1900" dirty="0"/>
          </a:p>
        </p:txBody>
      </p:sp>
      <p:sp>
        <p:nvSpPr>
          <p:cNvPr id="14" name="lingkaran centang"/>
          <p:cNvSpPr/>
          <p:nvPr/>
        </p:nvSpPr>
        <p:spPr>
          <a:xfrm>
            <a:off x="6278728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3" descr="cent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87" y="21424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55968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Memilih antara abstract class, interface, dan mixin</a:t>
            </a:r>
            <a:endParaRPr lang="en-US" sz="1900" dirty="0"/>
          </a:p>
        </p:txBody>
      </p:sp>
      <p:sp>
        <p:nvSpPr>
          <p:cNvPr id="17" name="lingkaran centang"/>
          <p:cNvSpPr/>
          <p:nvPr/>
        </p:nvSpPr>
        <p:spPr>
          <a:xfrm>
            <a:off x="6278728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487" y="3331159"/>
            <a:ext cx="332842" cy="33284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55968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Memakai enum dan menangani error dengan exception</a:t>
            </a:r>
            <a:endParaRPr lang="en-US" sz="1900" dirty="0"/>
          </a:p>
        </p:txBody>
      </p:sp>
      <p:sp>
        <p:nvSpPr>
          <p:cNvPr id="20" name="lingkaran centang"/>
          <p:cNvSpPr/>
          <p:nvPr/>
        </p:nvSpPr>
        <p:spPr>
          <a:xfrm>
            <a:off x="6278728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5" descr="centa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487" y="4519879"/>
            <a:ext cx="332842" cy="33284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5968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Menulis kode asinkron dengan Future dan Stream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Peta Materi Hari Ini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5" name="lingkaran kelas"/>
          <p:cNvSpPr/>
          <p:nvPr/>
        </p:nvSpPr>
        <p:spPr>
          <a:xfrm>
            <a:off x="905485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e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594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 &amp; objek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Cetakan dan hasil cetakannya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67585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451049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2" name="lingkaran gembok"/>
          <p:cNvSpPr/>
          <p:nvPr/>
        </p:nvSpPr>
        <p:spPr>
          <a:xfrm>
            <a:off x="2807894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emb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03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60777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588209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Constructor &amp; enkapsulasi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588209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Membuat objek dan menjaga datanya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06999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435345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9" name="lingkaran pohon"/>
          <p:cNvSpPr/>
          <p:nvPr/>
        </p:nvSpPr>
        <p:spPr>
          <a:xfrm>
            <a:off x="4710303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oh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13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6318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49061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Pewarisan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49061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extends, @override, polimorfisme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97240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625586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26" name="lingkaran puzzle"/>
          <p:cNvSpPr/>
          <p:nvPr/>
        </p:nvSpPr>
        <p:spPr>
          <a:xfrm>
            <a:off x="6612712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puzz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822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6559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9302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Abstract &amp; mixin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639302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Kontrak, interface, dan kemampuan tambahan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874813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8158277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33" name="lingkaran perisai"/>
          <p:cNvSpPr/>
          <p:nvPr/>
        </p:nvSpPr>
        <p:spPr>
          <a:xfrm>
            <a:off x="8515121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peris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31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68005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295437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Enum &amp; exception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8295437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Pilihan pasti dan penanganan error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9777222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langkah 6"/>
          <p:cNvSpPr/>
          <p:nvPr/>
        </p:nvSpPr>
        <p:spPr>
          <a:xfrm>
            <a:off x="10060686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40" name="lingkaran aliran"/>
          <p:cNvSpPr/>
          <p:nvPr/>
        </p:nvSpPr>
        <p:spPr>
          <a:xfrm>
            <a:off x="10417531" y="21031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mage 5" descr="alir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640" y="2294230"/>
            <a:ext cx="486461" cy="486461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17041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0197846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Future &amp; Stream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10197846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Asinkron, lalu studi kasus kantin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Flutter Dibangun dengan OOP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051810"/>
          </a:xfrm>
          <a:prstGeom prst="roundRect">
            <a:avLst>
              <a:gd name="adj" fmla="val 2996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HalamanUtama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StatelessWidget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HalamanUtama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.key});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AppBar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(title: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(child: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'Isi'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class HalamanUtama: membuat class (cetakan).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extends StatelessWidget: pewarisan, mewarisi kemampuan widget.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const HalamanUtama({super.key}): constructor const dengan parameter bernama.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@override: mengganti method build() milik induk.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Scaffold(appBar: ..., body: ...): membuat objek memakai parameter bernama.</a:t>
            </a:r>
            <a:endParaRPr lang="en-US" sz="1700" dirty="0"/>
          </a:p>
        </p:txBody>
      </p:sp>
      <p:sp>
        <p:nvSpPr>
          <p:cNvPr id="6" name="tombol tautan">
            <a:hlinkClick r:id="rId1" tooltip="https://github.com/antonprafanto/mobile2026/blob/main/pertemuan_01_pengenalan_flutter/kode/contoh_02_materialapp_dan_scaffold.dart"/>
          </p:cNvPr>
          <p:cNvSpPr txBox="1"/>
          <p:nvPr/>
        </p:nvSpPr>
        <p:spPr>
          <a:xfrm>
            <a:off x="548640" y="4654296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Kode Pertemuan 1  ·  contoh_02_materialapp_dan_scaffold.dart</a:t>
            </a:r>
            <a:endParaRPr lang="en-US" sz="1300" dirty="0"/>
          </a:p>
        </p:txBody>
      </p:sp>
      <p:pic>
        <p:nvPicPr>
          <p:cNvPr id="7" name="Image 0" descr="ikon tautan">
            <a:hlinkClick r:id="rId3" tooltip="https://github.com/antonprafanto/mobile2026/blob/main/pertemuan_01_pengenalan_flutter/kode/contoh_02_materialapp_dan_scaffold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745736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1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Class dan Objek</a:t>
            </a:r>
            <a:endParaRPr lang="en-US" sz="4000" dirty="0"/>
          </a:p>
        </p:txBody>
      </p:sp>
      <p:sp>
        <p:nvSpPr>
          <p:cNvPr id="4" name="lingkaran kelas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ke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Class = Cetakan, Objek = Hasil Cetakan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lingkaran kelas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e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Class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Cetakan atau rancangan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Menentukan data (properti) dan aksi (method)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Nama memakai UpperCamelCase</a:t>
            </a:r>
            <a:endParaRPr lang="en-US" sz="1600" dirty="0"/>
          </a:p>
        </p:txBody>
      </p:sp>
      <p:sp>
        <p:nvSpPr>
          <p:cNvPr id="10" name="kotak kode"/>
          <p:cNvSpPr txBox="1"/>
          <p:nvPr/>
        </p:nvSpPr>
        <p:spPr>
          <a:xfrm>
            <a:off x="731520" y="3895344"/>
            <a:ext cx="5021428" cy="1316736"/>
          </a:xfrm>
          <a:prstGeom prst="roundRect">
            <a:avLst>
              <a:gd name="adj" fmla="val 694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perkenalan() { ...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kolom 2"/>
          <p:cNvSpPr/>
          <p:nvPr/>
        </p:nvSpPr>
        <p:spPr>
          <a:xfrm>
            <a:off x="6255868" y="1371600"/>
            <a:ext cx="5387188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2" name="lingkaran orang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or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Objek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Hasil cetakan (instance)</a:t>
            </a:r>
            <a:endParaRPr lang="en-US" sz="1400" dirty="0"/>
          </a:p>
        </p:txBody>
      </p:sp>
      <p:sp>
        <p:nvSpPr>
          <p:cNvPr id="16" name="daftar poin"/>
          <p:cNvSpPr txBox="1"/>
          <p:nvPr/>
        </p:nvSpPr>
        <p:spPr>
          <a:xfrm>
            <a:off x="6484468" y="2926080"/>
            <a:ext cx="492998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Menyimpan datanya sendiri-sendiri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Bisa dibuat sebanyak yang dibutuhkan</a:t>
            </a:r>
            <a:endParaRPr lang="en-US" sz="1600" dirty="0"/>
          </a:p>
        </p:txBody>
      </p:sp>
      <p:sp>
        <p:nvSpPr>
          <p:cNvPr id="17" name="kotak kode"/>
          <p:cNvSpPr txBox="1"/>
          <p:nvPr/>
        </p:nvSpPr>
        <p:spPr>
          <a:xfrm>
            <a:off x="6438748" y="4151376"/>
            <a:ext cx="5021428" cy="1060704"/>
          </a:xfrm>
          <a:prstGeom prst="roundRect">
            <a:avLst>
              <a:gd name="adj" fmla="val 8621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andi 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'2609106001'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andi.perkenalan();</a:t>
            </a:r>
            <a:endParaRPr lang="en-US" sz="1400" dirty="0"/>
          </a:p>
        </p:txBody>
      </p:sp>
      <p:sp>
        <p:nvSpPr>
          <p:cNvPr id="18" name="lingkaran lampu"/>
          <p:cNvSpPr/>
          <p:nvPr/>
        </p:nvSpPr>
        <p:spPr>
          <a:xfrm>
            <a:off x="548640" y="56235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442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5532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Satu cetakan kue bisa menghasilkan banyak kue. Menaikkan semester Andi tidak mengubah semester Sari.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Anatomi Sebuah Class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Properti: data milik setiap objek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nim;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semester;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Constructor: mengisi properti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.nama,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.nim,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.semester);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Method: aksi yang bisa dilakukan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naikSemester()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semester++;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andi =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Mahasiswa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'2609106001'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andi.naikSemester();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semester Andi: 2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1_class_dan_objek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contoh_01_class_dan_objek.dart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1_class_dan_objek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Properti (field) adalah data yang dimiliki setiap objek.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Constructor adalah "mesin pencetak": this.nama mengisi properti nama.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Method adalah fungsi di dalam class, dipanggil dengan tanda titik.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Objek dibuat tanpa kata new, dan setiap objek menyimpan datanya sendiri.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Constructor dan Enkapsulasi</a:t>
            </a:r>
            <a:endParaRPr lang="en-US" sz="4000" dirty="0"/>
          </a:p>
        </p:txBody>
      </p:sp>
      <p:sp>
        <p:nvSpPr>
          <p:cNvPr id="4" name="lingkaran pabrik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abri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Constructor dengan Parameter Bernama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771900"/>
          </a:xfrm>
          <a:prstGeom prst="roundRect">
            <a:avLst>
              <a:gd name="adj" fmla="val 242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judul;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penulis;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halaman;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Parameter bernama, seperti widget Flutter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.judul,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.penulis,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.halaman 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Named constructor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.anonim(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judul)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(judul: judul, penulis: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'Anonim'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(penulis: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judul: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'Dasar Dart'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2_constructor.dart"/>
          </p:cNvPr>
          <p:cNvSpPr txBox="1"/>
          <p:nvPr/>
        </p:nvSpPr>
        <p:spPr>
          <a:xfrm>
            <a:off x="548640" y="537210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contoh_02_constructor.dart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2_constructor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6354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Parameter bernama { }: urutan bebas dan maknanya jelas. required berarti wajib diisi.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halaman = 100 adalah nilai bawaan jika tidak diisi.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final: properti hanya diisi sekali, saat objek dibuat.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Named constructor memberi cara lain membuat objek, seperti EdgeInsets.all() dan ListView.builder() di Flutter.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Lima Jenis Constructor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762664"/>
                <a:gridCol w="3421642"/>
                <a:gridCol w="3214270"/>
                <a:gridCol w="2695839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penulisan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dipakai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Flutter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Mahasiswa(this.nama, ...)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standar, parameter sedikit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Buku({required this.judul})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banyak, agar mudah dibaca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Hampir semua widget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Buku.anonim('...')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lain membuat objek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EdgeInsets.all(16)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Warna(255, 0, 0)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tetap yang tak pernah berubah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Text('Halo')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factory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Produk.dariTeks('...')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Perlu mengolah data dulu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fromJson (Pertemuan 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ombol tautan">
            <a:hlinkClick r:id="rId1" tooltip="https://github.com/antonprafanto/mobile2026/blob/main/pertemuan_03_dart_lanjutan/kode/contoh_03_constructor_lainnya.dart"/>
          </p:cNvPr>
          <p:cNvSpPr txBox="1"/>
          <p:nvPr/>
        </p:nvSpPr>
        <p:spPr>
          <a:xfrm>
            <a:off x="548640" y="53492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contoh_03_constructor_lainnya.dart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3_constructor_lainnya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const dan factory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const: objek beku, dibuat sekali, dipakai bersama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merah, hijau, biru;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.merah,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.hijau,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.biru);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print(identical(a, b));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true: objek yang SAMA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factory: olah data dulu, baru buat objek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.dariTeks(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teks)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bagian = teks.split(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(bagian[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.parse(bagian[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3_constructor_lainnya.dart"/>
          </p:cNvPr>
          <p:cNvSpPr txBox="1"/>
          <p:nvPr/>
        </p:nvSpPr>
        <p:spPr>
          <a:xfrm>
            <a:off x="548640" y="5148072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contoh_03_constructor_lainnya.dart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3_constructor_lainnya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239512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Syarat const: semua properti final. Inilah alasan Flutter menyarankan const Text(...): hemat memori dan tidak perlu dibuat ulang.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identical(a, b) memeriksa apakah a dan b objek yang sama persis di memori.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factory boleh "berpikir dulu": memecah teks atau memeriksa data, lalu return objek.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Pola factory dipakai lagi di Pertemuan 10: fromJson untuk data dari internet.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Enkapsulasi: Seperti Mesin ATM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995928"/>
          </a:xfrm>
          <a:prstGeom prst="roundRect">
            <a:avLst>
              <a:gd name="adj" fmla="val 228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RekeningTabungan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_saldo 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privat: diawali 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=&gt; _saldo;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getter: lihat saja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setor(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jumlah)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(jumlah &lt;=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'Setoran ditolak.'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_saldo += jumlah;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rekening.setor(-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ditolak "penjaga"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print(rekening.saldo);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getter, tanpa ()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4_enkapsulasi.dart"/>
          </p:cNvPr>
          <p:cNvSpPr txBox="1"/>
          <p:nvPr/>
        </p:nvSpPr>
        <p:spPr>
          <a:xfrm>
            <a:off x="548640" y="5596128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contoh_04_enkapsulasi.dart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4_enkapsulasi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87568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penting disembunyikan; perubahannya hanya lewat "pintu resmi" yang memeriksa aturan.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Nama berawalan _ bersifat privat per berkas (library), bukan per class.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Getter = jendela untuk melihat. Setter (set) = pintu masuk yang dijaga validasi.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setter, rekening.saldo = 1000000; ditolak: </a:t>
            </a:r>
            <a:r>
              <a:rPr lang="en-US" sz="14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 isn't a setter named 'saldo'...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3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Pewarisan, Abstract, dan Mixin</a:t>
            </a:r>
            <a:endParaRPr lang="en-US" sz="4000" dirty="0"/>
          </a:p>
        </p:txBody>
      </p:sp>
      <p:sp>
        <p:nvSpPr>
          <p:cNvPr id="4" name="lingkaran pohon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o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Pewarisan: Kucing Adalah Hewan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.nama);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bersuara()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'$nama mengeluarkan suara.'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Kucing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Kucing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.nama);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teruskan ke induk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bersuara()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'$nama: Meong!'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5_pewarisan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contoh_05_pewarisan.dart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5_pewarisa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extends: mewarisi semua isi class induk. Satu class hanya boleh punya satu induk.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super.nama: teruskan nilai ke constructor induk.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@override: sengaja mengganti method induk. super.bersuara() menjalankan versi induk.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Pakai pewarisan jika hubungannya "X adalah Y". Semua class adalah keturunan Object.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Polimorfisme dan Operator is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31870"/>
          </a:xfrm>
          <a:prstGeom prst="roundRect">
            <a:avLst>
              <a:gd name="adj" fmla="val 2589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kebunBinatang = [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Kucing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'Oyen'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Burung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'Kiki'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bisaBicara: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'Sapi'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hewan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kebunBinatang)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hewan.bersuara();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menyesuaikan jenisnya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(hewan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Burung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hewan.terbang();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aman: pasti Burung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5_pewarisan.dart"/>
          </p:cNvPr>
          <p:cNvSpPr txBox="1"/>
          <p:nvPr/>
        </p:nvSpPr>
        <p:spPr>
          <a:xfrm>
            <a:off x="548640" y="513207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contoh_05_pewarisan.dart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5_pewarisa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22351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Polimorfisme: satu perintah yang sama, setiap objek menjalankannya dengan caranya sendiri.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Flutter, Column(children: [...]) berisi Text, Icon, dan tombol; semuanya diperlakukan sebagai Widget.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is memeriksa jenis objek. Setelah dicek, method khusus jenis itu boleh dipanggil (type promotion).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cek is: </a:t>
            </a:r>
            <a:r>
              <a:rPr lang="en-US" sz="14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method 'terbang' isn't defined for the type 'Hewan'.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Abstract Class dan Interface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Pengiriman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nama;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hitungOngkir(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beratKg);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abstrak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Pengiriman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 =&gt; 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'Reguler (3-5 hari)'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hitungOngkir(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beratKg) =&gt; beratKg *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BisaDilacak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lacak(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nomorResi);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Kilat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Pengiriman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BisaDilacak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wajib menulis nama, hitungOngkir, DAN lacak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6_abstract_dan_interface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contoh_06_abstract_dan_interface.dart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6_abstract_dan_interface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Abstract class = kontrak sekaligus kerangka. Objeknya tidak bisa dibuat langsung.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Pengiriman() ditolak: </a:t>
            </a:r>
            <a:r>
              <a:rPr lang="en-US" sz="14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classes can't be instantiated.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Anggota abstrak wajib diisi class anak. Jika lupa: Missing concrete implementation...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implements = berjanji punya semua kemampuan dan menulis sendiri semua isinya. Boleh lebih dari satu.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Mixin: Menempelkan Kemampuan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BisaBerenang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berenang() =&gt;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'$nama berenang.'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BisaTerbang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ketinggianMaks 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terbang() =&gt;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'$nama terbang.'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Bebek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BisaBerjalan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BisaBerenang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BisaTerbang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Bebek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.nama);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Hewan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BisaBerenang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Ikan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.nama);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7_mixin.dart"/>
          </p:cNvPr>
          <p:cNvSpPr txBox="1"/>
          <p:nvPr/>
        </p:nvSpPr>
        <p:spPr>
          <a:xfrm>
            <a:off x="548640" y="58064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contoh_07_mixin.dart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7_mixi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8978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 class hanya punya satu induk, tetapi boleh memakai banyak mixin dengan with.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Analogi lencana keahlian pramuka: menambah kemampuan tanpa mengubah siapa dirinya.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 Hewan: mixin khusus keluarga Hewan, sehingga boleh memakai properti nama.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Flutter: with SingleTickerProviderStateMixin saat membuat animasi.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extends, implements, atau with?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82088"/>
                <a:gridCol w="2476432"/>
                <a:gridCol w="2674547"/>
                <a:gridCol w="406134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Dibaca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"adalah sebuah ..."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"berjanji bisa ..."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"punya kemampuan tambahan ..."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per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banyak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banyak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method diwarisi?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Tidak, wajib tulis ulang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Kucing extends Hewan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Kilat implements BisaDilacak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Bebek with BisaTerbang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Flutter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extends StatelessWidget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Jarang ditulis pemula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with SingleTickerProviderStateMixin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4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Enum dan Exception</a:t>
            </a:r>
            <a:endParaRPr lang="en-US" sz="4000" dirty="0"/>
          </a:p>
        </p:txBody>
      </p:sp>
      <p:sp>
        <p:nvSpPr>
          <p:cNvPr id="4" name="lingkaran perisai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eris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Enum: Pilihan yang Pasti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995928"/>
          </a:xfrm>
          <a:prstGeom prst="roundRect">
            <a:avLst>
              <a:gd name="adj" fmla="val 228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menunggu(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'Menunggu konfirmasi'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diproses(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'Sedang dimasak'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siap(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'Siap diambil'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selesai(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'Pesanan selesai'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.label);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saran(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s) =&gt;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.menunggu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'Mohon tunggu.'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.diproses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'Sedang dibuat.'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.siap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'Ambil di loket.'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.selesai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'Terima kasih!'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8_enum.dart"/>
          </p:cNvPr>
          <p:cNvSpPr txBox="1"/>
          <p:nvPr/>
        </p:nvSpPr>
        <p:spPr>
          <a:xfrm>
            <a:off x="548640" y="5596128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contoh_08_enum.dart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8_enum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87568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Enum seperti pilihan ganda: nilainya pasti dan terbatas, salah ketik langsung ketahuan.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.name, .index (mulai 0), dan .values (daftar semua nilai).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Enum boleh membawa properti, seperti label, dan getter.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switch tanpa _ memastikan semua nilai ditangani. Nilai baru yang terlupa memunculkan error isn't exhaustively matched.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Flutter: MainAxisAlignment.center dan TextAlign.center adalah enum.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Exception: try, on, catch, finally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771900"/>
          </a:xfrm>
          <a:prstGeom prst="roundRect">
            <a:avLst>
              <a:gd name="adj" fmla="val 242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tarikTunai(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jumlah)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(jumlah &gt; saldo)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SaldoTidakCukupException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(jumlah - saldo);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- jumlah;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tarikTunai(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'Tidak dicetak'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SaldoTidakCukupException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'Penarikan gagal: $e'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'Struk transaksi dicetak.'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09_exception.dart"/>
          </p:cNvPr>
          <p:cNvSpPr txBox="1"/>
          <p:nvPr/>
        </p:nvSpPr>
        <p:spPr>
          <a:xfrm>
            <a:off x="548640" y="537210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contoh_09_exception.dart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09_exceptio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6354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throw melempar masalah ke pemanggil; fungsi langsung berhenti di baris itu.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 = tangkap jenis tertentu. catch (e) = simpan objek error ke variabel 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finally selalu dijalankan: menutup koneksi atau menyembunyikan loading.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Exception buatan sendiri: class SaldoTidakCukupException implements Exception.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Aturan Menangani Error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perisai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eris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Exception: tangani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Masalah wajar yang memang perlu ditangani: input salah, koneksi putus, stok habis.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4353458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serangga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1" descr="serangg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Error: perbaiki kode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82058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Tanda ada bug, misalnya RangeError karena indeks di luar batas. Jangan ditangkap.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8158277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peringatan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eringat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Jangan catch kosong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catch (e) {} menelan error diam-diam, sehingga penyebab masalah sulit dilacak.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548640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saring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sa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Spesifik dulu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Tulis on JenisKhusus lebih dulu, baru catch umum sebagai jaring pengaman.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4353458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centang"/>
          <p:cNvSpPr/>
          <p:nvPr/>
        </p:nvSpPr>
        <p:spPr>
          <a:xfrm>
            <a:off x="458205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05018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Cegah jika bisa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82058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Untuk mengubah teks menjadi angka, int.tryParse() menghindari exception sama sekali.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8158277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jam"/>
          <p:cNvSpPr/>
          <p:nvPr/>
        </p:nvSpPr>
        <p:spPr>
          <a:xfrm>
            <a:off x="8386877" y="4160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j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09837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Ingat await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86877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try-catch hanya menangkap error dari Future yang di-await.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5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Pemrograman Asinkron</a:t>
            </a:r>
            <a:endParaRPr lang="en-US" sz="4000" dirty="0"/>
          </a:p>
        </p:txBody>
      </p:sp>
      <p:sp>
        <p:nvSpPr>
          <p:cNvPr id="4" name="lingkaran jam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j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Future, async, dan await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Future = "pager" di food court: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janji bahwa hasilnya tersedia NANTI.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ambilNamaPengguna()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.delayed(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(seconds: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'Rina'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main()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'Memuat...'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 =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ambilNamaPengguna();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'Halo, $nama!'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10_future_async_await.dart"/>
          </p:cNvPr>
          <p:cNvSpPr txBox="1"/>
          <p:nvPr/>
        </p:nvSpPr>
        <p:spPr>
          <a:xfrm>
            <a:off x="548640" y="48920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contoh_10_future_async_await.dart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10_future_async_await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9834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Memakai await? Fungsinya wajib ditandai async.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Fungsi async selalu mengembalikan Future&lt;TipeHasil&gt;, atau Future&lt;void&gt;.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await hanya menunda fungsi itu sendiri; tombol dan animasi tetap berjalan.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Future.delayed hanya pura-pura menunggu, pengganti proses internet di Pertemuan 10.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then() vs await: Siapa yang Duluan?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Nama diambil dua kali (tanpa await lewat then, lalu dengan await), kemudian jumlah notifikasi. Setiap pengambilan butuh 1 detik.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413994"/>
                <a:gridCol w="6961202"/>
                <a:gridCol w="2719219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terjadi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Panggilan tanpa await langsung lanjut. Panggilan dengan await membuat main() menunggu.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dan 2.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 pengambilan nama selesai: isi then() dijalankan, main() lanjut meminta jumlah notifikasi.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(then)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detik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notifikasi tiba.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dan 5.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Hasilnya sama-sama didapat, tetapi await terbaca dari atas ke bawah seperti kode biasa, sehingga lebih dianjurkan.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Future.wait dan Error Asinkron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995928"/>
          </a:xfrm>
          <a:prstGeom prst="roundRect">
            <a:avLst>
              <a:gd name="adj" fmla="val 228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Tiga pekerjaan @1 detik -&gt; selesai ±1 detik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stok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.wait([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cekStokGudang(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'Samarinda'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cekStokGudang(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'Balikpapan'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cekStokGudang(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'Bontang'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print(stok);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[12, 8, 5]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ambilSaldo(serverAktif: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'Saldo: Rp$saldo'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'Gagal memuat saldo: $e'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'Indikator loading disembunyikan.'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11_future_paralel_dan_error.dart"/>
          </p:cNvPr>
          <p:cNvSpPr txBox="1"/>
          <p:nvPr/>
        </p:nvSpPr>
        <p:spPr>
          <a:xfrm>
            <a:off x="548640" y="5596128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contoh_11_future_paralel_dan_error.dart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11_future_paralel_dan_error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87568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Future.wait menjalankan semuanya bersamaan; total waktunya kira-kira sama dengan pekerjaan paling lama.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Urutan hasil = urutan daftar, bukan urutan selesai.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Error dari Future ditangkap dengan try-catch biasa, asalkan di-await.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Pola "coba, tampilkan pesan gagal, sembunyikan loading" dipakai mulai Pertemuan 10.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vs Stream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lingkaran jam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j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Future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Paket kiriman: datang SEKALI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Dibuat dengan async + return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Diambil dengan await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Widget: FutureBuilder (P10)</a:t>
            </a:r>
            <a:endParaRPr lang="en-US" sz="1600" dirty="0"/>
          </a:p>
        </p:txBody>
      </p:sp>
      <p:sp>
        <p:nvSpPr>
          <p:cNvPr id="10" name="kotak kode"/>
          <p:cNvSpPr txBox="1"/>
          <p:nvPr/>
        </p:nvSpPr>
        <p:spPr>
          <a:xfrm>
            <a:off x="731520" y="4151376"/>
            <a:ext cx="5021428" cy="1060704"/>
          </a:xfrm>
          <a:prstGeom prst="roundRect">
            <a:avLst>
              <a:gd name="adj" fmla="val 8621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ambilNama()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kolom 2"/>
          <p:cNvSpPr/>
          <p:nvPr/>
        </p:nvSpPr>
        <p:spPr>
          <a:xfrm>
            <a:off x="6255868" y="1371600"/>
            <a:ext cx="5387188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2" name="lingkaran aliran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alir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Stream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Langganan: datang BERKALI-KALI</a:t>
            </a:r>
            <a:endParaRPr lang="en-US" sz="1400" dirty="0"/>
          </a:p>
        </p:txBody>
      </p:sp>
      <p:sp>
        <p:nvSpPr>
          <p:cNvPr id="16" name="daftar poin"/>
          <p:cNvSpPr txBox="1"/>
          <p:nvPr/>
        </p:nvSpPr>
        <p:spPr>
          <a:xfrm>
            <a:off x="6484468" y="2926080"/>
            <a:ext cx="492998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Dibuat dengan async* + yield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Didengar dengan await for atau listen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Widget: StreamBuilder (P10)</a:t>
            </a:r>
            <a:endParaRPr lang="en-US" sz="1600" dirty="0"/>
          </a:p>
        </p:txBody>
      </p:sp>
      <p:sp>
        <p:nvSpPr>
          <p:cNvPr id="17" name="kotak kode"/>
          <p:cNvSpPr txBox="1"/>
          <p:nvPr/>
        </p:nvSpPr>
        <p:spPr>
          <a:xfrm>
            <a:off x="6438748" y="3895344"/>
            <a:ext cx="5021428" cy="1316736"/>
          </a:xfrm>
          <a:prstGeom prst="roundRect">
            <a:avLst>
              <a:gd name="adj" fmla="val 694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hitung()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lingkaran lampu"/>
          <p:cNvSpPr/>
          <p:nvPr/>
        </p:nvSpPr>
        <p:spPr>
          <a:xfrm>
            <a:off x="548640" y="56235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442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5532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Contoh Stream: progres unduhan, lokasi GPS saat navigasi, pesan chat baru, status pesanan ojek online.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Stream: async*, yield, await for, listen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995928"/>
          </a:xfrm>
          <a:prstGeom prst="roundRect">
            <a:avLst>
              <a:gd name="adj" fmla="val 228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hitungMundur(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dari)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dari; i &gt;=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i--)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.delayed(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(milliseconds: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kirim satu nilai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detik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hitungMundur(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'$detik...'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3... 2... 1...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hitungMundur(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).listen(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sisa) =&gt;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'Tinggal $sisa'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onDone: () =&gt;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'Stream selesai.'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'Baris ini muncul duluan!'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12_stream.dart"/>
          </p:cNvPr>
          <p:cNvSpPr txBox="1"/>
          <p:nvPr/>
        </p:nvSpPr>
        <p:spPr>
          <a:xfrm>
            <a:off x="548640" y="5596128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contoh_12_stream.dart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12_stream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87568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async* + yield: fungsi yang mengalirkan banyak nilai, satu per satu.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await for: ikuti aliran sampai selesai; fungsinya ikut menunggu.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listen: berlangganan tanpa menunggu. onDone dipanggil saat aliran selesai.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where dan map juga bisa dipakai pada stream, sama seperti pada List.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Studi Kasus: Sistem Pesanan Kantin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namaMenu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antreanPesanan)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nomor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kantin.pesan(namaMenu);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'Pesanan #$nomor: $namaMenu'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StatusPesanan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kantin.pantauStatus(nomor))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#$nomor -&gt; ${status.label}'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StokHabisException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'Gagal memesan: $e'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'Gagal memesan: $e'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3_dart_lanjutan/kode/contoh_13_studi_kasus_pesanan_kantin.dart"/>
          </p:cNvPr>
          <p:cNvSpPr txBox="1"/>
          <p:nvPr/>
        </p:nvSpPr>
        <p:spPr>
          <a:xfrm>
            <a:off x="548640" y="5148072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contoh_13_studi_kasus_pesanan_kantin.dart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kode/contoh_13_studi_kasus_pesanan_kanti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239512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enum StatusPesanan: diterima, dimasak, lalu siap diambil.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class Menu + _daftarMenu yang privat; StokHabisException saat stok habis.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Future&lt;int&gt; pesan(): mengirim pesanan ke dapur butuh waktu.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Stream&lt;StatusPesanan&gt; pantauStatus(): status berubah beberapa kali.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Tangkap yang spesifik dulu (on), baru yang umum (catch).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Kesalahan Umum Pemula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511939"/>
                <a:gridCol w="4582476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 dan solusi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Non-nullable instance field 'nama' must be initialized.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 belum diisi; isi lewat constructor (this.nama)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named parameter 'penulis' is required, but there's no corresponding argument.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 required belum diisi saat membuat objek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classes can't be instantiated.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objek dari class anaknya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implicitly invoked unnamed constructor from 'Hewan' has required parameters.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Teruskan ke induk: Kucing(super.nama);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method 'terbang' isn't defined for the type 'Hewan'.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Periksa dulu: if (h is Burung)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await expression can only be used in an async function.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Tambahkan async pada fungsinya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of type 'Future&lt;String&gt;' can't be assigned to a variable of type 'String'.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Lupa menulis await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Class = cetakan, objek = hasil cetakan. Properti = data, method = aksi.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Constructor: biasa, parameter bernama, named, const, dan factory.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Enkapsulasi: _ privat per berkas; getter untuk melihat, setter untuk validasi.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extends (satu induk), super, @override; polimorfisme dan operator is.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10248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Abstract class = kontrak; implements = janji; mixin (with) = tempel kemampuan.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10248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Enum = pilihan pasti; switch memastikan semua nilai ditangani.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Exception: throw, try, on, catch, finally. Jangan tangkap Error, jangan biarkan catch kosong.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Future = satu hasil (async/await, Future.wait). Stream = banyak hasil (async*, yield, await for).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Saatnya Praktik!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Kerjakan Jobsheet Pertemuan 3 (lima praktikum + tantangan Laundry Kampus), lalu uji diri di Latihan. Pertemuan berikutnya: widget dan tata letak Flutter.</a:t>
            </a:r>
            <a:endParaRPr lang="en-US" sz="2000" dirty="0"/>
          </a:p>
        </p:txBody>
      </p:sp>
      <p:sp>
        <p:nvSpPr>
          <p:cNvPr id="5" name="tombol tautan">
            <a:hlinkClick r:id="rId1" tooltip="https://github.com/antonprafanto/mobile2026/blob/main/pertemuan_03_dart_lanjutan/JOBSHEET.md"/>
          </p:cNvPr>
          <p:cNvSpPr txBox="1"/>
          <p:nvPr/>
        </p:nvSpPr>
        <p:spPr>
          <a:xfrm>
            <a:off x="73152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Jobsheet P3</a:t>
            </a:r>
            <a:endParaRPr lang="en-US" sz="1600" dirty="0"/>
          </a:p>
        </p:txBody>
      </p:sp>
      <p:pic>
        <p:nvPicPr>
          <p:cNvPr id="6" name="Image 0" descr="ikon tautan">
            <a:hlinkClick r:id="rId3" tooltip="https://github.com/antonprafanto/mobile2026/blob/main/pertemuan_03_dart_lanjutan/JOBSHEE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76088"/>
            <a:ext cx="329184" cy="329184"/>
          </a:xfrm>
          <a:prstGeom prst="rect">
            <a:avLst/>
          </a:prstGeom>
        </p:spPr>
      </p:pic>
      <p:sp>
        <p:nvSpPr>
          <p:cNvPr id="7" name="tombol tautan">
            <a:hlinkClick r:id="rId4" tooltip="https://github.com/antonprafanto/mobile2026/blob/main/pertemuan_03_dart_lanjutan/LATIHAN.md"/>
          </p:cNvPr>
          <p:cNvSpPr txBox="1"/>
          <p:nvPr/>
        </p:nvSpPr>
        <p:spPr>
          <a:xfrm>
            <a:off x="361188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Latihan P3</a:t>
            </a:r>
            <a:endParaRPr lang="en-US" sz="1600" dirty="0"/>
          </a:p>
        </p:txBody>
      </p:sp>
      <p:pic>
        <p:nvPicPr>
          <p:cNvPr id="8" name="Image 1" descr="ikon tautan">
            <a:hlinkClick r:id="rId6" tooltip="https://github.com/antonprafanto/mobile2026/blob/main/pertemuan_03_dart_lanjutan/LATIHAN.m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76088"/>
            <a:ext cx="329184" cy="329184"/>
          </a:xfrm>
          <a:prstGeom prst="rect">
            <a:avLst/>
          </a:prstGeom>
        </p:spPr>
      </p:pic>
      <p:sp>
        <p:nvSpPr>
          <p:cNvPr id="9" name="tombol tautan">
            <a:hlinkClick r:id="rId7" tooltip="https://github.com/antonprafanto/mobile2026/blob/main/pertemuan_03_dart_lanjutan/README.md"/>
          </p:cNvPr>
          <p:cNvSpPr txBox="1"/>
          <p:nvPr/>
        </p:nvSpPr>
        <p:spPr>
          <a:xfrm>
            <a:off x="649224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 P3</a:t>
            </a:r>
            <a:endParaRPr lang="en-US" sz="1600" dirty="0"/>
          </a:p>
        </p:txBody>
      </p:sp>
      <p:pic>
        <p:nvPicPr>
          <p:cNvPr id="10" name="Image 2" descr="ikon tautan">
            <a:hlinkClick r:id="rId9" tooltip="https://github.com/antonprafanto/mobile2026/blob/main/pertemuan_03_dart_lanjutan/README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76088"/>
            <a:ext cx="329184" cy="329184"/>
          </a:xfrm>
          <a:prstGeom prst="rect">
            <a:avLst/>
          </a:prstGeom>
        </p:spPr>
      </p:pic>
      <p:sp>
        <p:nvSpPr>
          <p:cNvPr id="11" name="lingkaran roket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ro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03 - Dart Lanjutan: OOP &amp; Pemrograman Asinkron</dc:title>
  <dc:subject>Materi kuliah Pemrograman Piranti Bergerak (Flutter 2026)</dc:subject>
  <dc:creator>Pemrograman Piranti Bergerak - Informatika S1</dc:creator>
  <cp:lastModifiedBy>Pemrograman Piranti Bergerak - Informatika S1</cp:lastModifiedBy>
  <cp:revision>1</cp:revision>
  <dcterms:created xsi:type="dcterms:W3CDTF">2026-10-13T14:34:07Z</dcterms:created>
  <dcterms:modified xsi:type="dcterms:W3CDTF">2026-10-13T14:34:07Z</dcterms:modified>
</cp:coreProperties>
</file>