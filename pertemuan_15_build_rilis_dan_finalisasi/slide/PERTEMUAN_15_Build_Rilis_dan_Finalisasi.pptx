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c0ba25dc-00b5-f9b6-2f30-fd7afe08b17f}">
          <p14:sldIdLst>
            <p14:sldId id="256"/>
            <p14:sldId id="257"/>
            <p14:sldId id="258"/>
            <p14:sldId id="259"/>
          </p14:sldIdLst>
        </p14:section>
        <p14:section name="Dari &quot;Jalan di Laptop&quot; ke &quot;Siap Dibagikan&quot;" id="{377dc0df-988f-01ce-aae8-2bad73769c3b}">
          <p14:sldIdLst>
            <p14:sldId id="260"/>
            <p14:sldId id="261"/>
            <p14:sldId id="262"/>
            <p14:sldId id="263"/>
            <p14:sldId id="264"/>
          </p14:sldIdLst>
        </p14:section>
        <p14:section name="Tiga Mode Build: Debug, Profile, Release" id="{f1e4d131-0057-ec8e-f53a-1bdaaffa6089}">
          <p14:sldIdLst>
            <p14:sldId id="265"/>
            <p14:sldId id="266"/>
            <p14:sldId id="267"/>
            <p14:sldId id="268"/>
            <p14:sldId id="269"/>
          </p14:sldIdLst>
        </p14:section>
        <p14:section name="Konfigurasi Tanpa Mengubah Kode: --dart-define" id="{c0f8e36a-b4e0-702c-ba4e-cc7dde792dec}">
          <p14:sldIdLst>
            <p14:sldId id="270"/>
            <p14:sldId id="271"/>
            <p14:sldId id="272"/>
            <p14:sldId id="273"/>
            <p14:sldId id="274"/>
          </p14:sldIdLst>
        </p14:section>
        <p14:section name="Identitas Aplikasi: Nama, ID, Versi, Ikon" id="{b4f6852a-27c4-dcab-3a41-78ce5d83ef9f}">
          <p14:sldIdLst>
            <p14:sldId id="275"/>
            <p14:sldId id="276"/>
            <p14:sldId id="277"/>
            <p14:sldId id="278"/>
            <p14:sldId id="279"/>
            <p14:sldId id="280"/>
            <p14:sldId id="281"/>
            <p14:sldId id="282"/>
            <p14:sldId id="283"/>
            <p14:sldId id="284"/>
          </p14:sldIdLst>
        </p14:section>
        <p14:section name="Menangani Galat di Aplikasi Rilis" id="{b89b5ddc-272f-0645-8021-f8f2a9c2e8e1}">
          <p14:sldIdLst>
            <p14:sldId id="285"/>
            <p14:sldId id="286"/>
            <p14:sldId id="287"/>
            <p14:sldId id="288"/>
            <p14:sldId id="289"/>
            <p14:sldId id="290"/>
          </p14:sldIdLst>
        </p14:section>
        <p14:section name="Halaman Tentang, Kebijakan Privasi, dan Lisensi" id="{cfb2a4b5-c42d-a7fa-a656-88a836fa8ebe}">
          <p14:sldIdLst>
            <p14:sldId id="291"/>
            <p14:sldId id="292"/>
            <p14:sldId id="293"/>
            <p14:sldId id="294"/>
          </p14:sldIdLst>
        </p14:section>
        <p14:section name="Rilis Web" id="{f9b7c773-c923-9a6b-b6d4-7a307ee59bc1}">
          <p14:sldIdLst>
            <p14:sldId id="295"/>
            <p14:sldId id="296"/>
            <p14:sldId id="297"/>
            <p14:sldId id="298"/>
            <p14:sldId id="299"/>
          </p14:sldIdLst>
        </p14:section>
        <p14:section name="Rilis Android: APK, Tanda Tangan, App Bundle" id="{e8f7b045-ecb8-20eb-ff5f-d41f8794f76d}">
          <p14:sldIdLst>
            <p14:sldId id="300"/>
            <p14:sldId id="301"/>
            <p14:sldId id="302"/>
            <p14:sldId id="303"/>
            <p14:sldId id="304"/>
            <p14:sldId id="305"/>
            <p14:sldId id="306"/>
            <p14:sldId id="307"/>
            <p14:sldId id="308"/>
            <p14:sldId id="309"/>
            <p14:sldId id="310"/>
            <p14:sldId id="311"/>
          </p14:sldIdLst>
        </p14:section>
        <p14:section name="Rilis Otomatis dengan GitHub" id="{9c755e63-b12d-dd9a-b876-a540fee79e58}">
          <p14:sldIdLst>
            <p14:sldId id="312"/>
            <p14:sldId id="313"/>
            <p14:sldId id="314"/>
            <p14:sldId id="315"/>
          </p14:sldIdLst>
        </p14:section>
        <p14:section name="Cek Pembaruan untuk Aplikasi di Luar Toko" id="{80254595-a826-0c02-7871-d2785fd7a2da}">
          <p14:sldIdLst>
            <p14:sldId id="316"/>
            <p14:sldId id="317"/>
            <p14:sldId id="318"/>
            <p14:sldId id="319"/>
          </p14:sldIdLst>
        </p14:section>
        <p14:section name="Ukuran, Kecepatan, Keamanan, dan Toko Aplikasi" id="{1de8b5d9-0240-15c9-bb38-78e3cc33f950}">
          <p14:sldIdLst>
            <p14:sldId id="320"/>
            <p14:sldId id="321"/>
            <p14:sldId id="322"/>
            <p14:sldId id="323"/>
            <p14:sldId id="324"/>
          </p14:sldIdLst>
        </p14:section>
        <p14:section name="Studi Kasus: &quot;Cuaca Kampus 1.0.0&quot;" id="{7e5f5ed5-9777-1d23-14ef-1a0118229af3}">
          <p14:sldIdLst>
            <p14:sldId id="325"/>
            <p14:sldId id="326"/>
            <p14:sldId id="327"/>
            <p14:sldId id="328"/>
          </p14:sldIdLst>
        </p14:section>
        <p14:section name="Finalisasi Proyek Akhir" id="{611fcfc1-bcd8-1ee9-047b-60f2be82a25c}">
          <p14:sldIdLst>
            <p14:sldId id="329"/>
            <p14:sldId id="330"/>
            <p14:sldId id="331"/>
            <p14:sldId id="332"/>
            <p14:sldId id="333"/>
            <p14:sldId id="334"/>
            <p14:sldId id="335"/>
            <p14:sldId id="336"/>
            <p14:sldId id="337"/>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 ini aplikasi hanya kita jalankan di laptop sendiri dengan flutter run. Hari ini aplikasi itu "keluar rumah": punya nama, ikon, dan nomor versi; tahan terhadap galat; jujur soal data dan lisensinya; tersedia sebagai situs web dan APK yang bisa diunduh; serta dirilis otomatis lewat GitHub. Bekal: REST API, izin internet, dan --dart-define untuk kunci API (P10); akar komposisi dan data palsu (P12); izin dan privasi (P13); tes otomatis dan GitHub Actions (P14). Laptop RAM 8 GB cukup: rilis web hanya butuh Flutter dan Chrome. Rilis Android butuh Android SDK; yang belum punya bisa meminta robot GitHub mem-build APK (Bagian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proyek yang "jalan di laptop" menjadi aplikasi yang siap dipakai orang lain. Di jobsheet, "Tugas Kuliahku" dirilis sebagai versi 1.0.0: punya nama, ID, ikon, dan layar pembuka sendiri; tahan terhadap galat; punya halaman Tentang dan kebijakan privasi; terbit di GitHub Pages dan GitHub Releases. Menerbitkan ke Google Play TIDAK wajib; langkahnya dibahas sebagai gambaran.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apa bedanya aplikasi yang dijalankan dengan flutter run dan aplikasi yang dibagikan, serta cara memberi pengaturan tanpa mengubah kode. Bagian B: aplikasi mendapat nama, nomor versi, dan ikonnya sendiri, alih-alih "flutter_application_1" berlogo Flutter. Bagian C: apa yang dilihat pengguna saat terjadi galat, dan apa yang wajib diberitahukan tentang data dan lisensi. Bagian D: membuat berkas rilis web dan Android, mengujinya, dan menandatanganinya. Bagian E: rilis yang terjadi otomatis setiap ada versi baru, dan cara pengguna tahu ada versi baru. Bagian F: pemeriksaan sebelum rilis, toko aplikasi, dan yang dikumpulkan untuk proyek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01 dan 06 adalah program Dart murni; Contoh 02–05 dan 07 berjalan di DartPad. Folder templat/ berisi berkas siap salin: web.yml (menerbitkan versi web ke GitHub Pages setiap push ke main) dan rilis.yml (mem-build APK dan membuat halaman rilis setiap push tag versi) disalin ke .github/workflows/; README_PROYEK.md, CHANGELOG.md, dan KEBIJAKAN_PRIVASI.md menjadi dokumen proyek akhir. Folder aset/ berisi ikon contoh "Tugas Kuliahku" 1024 × 1024 untuk jobsheet; proyek akhir sebaiknya memakai ikon buatan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Anda sudah lama "matang" sejak Pertemuan 9: mengambil data dari internet, menyimpan data di perangkat, tertata rapi, dan teruji. Hari ini kita membuka warungnya.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Bayangkan Anda pandai memasak nasi goreng. Di dapur sendiri, peralatan berserakan tidak masalah, garam tanpa label pun Anda tahu isinya, dan kalau rasanya kurang, cukup ditambah saat itu juga. Suatu hari Anda membuka warung. Tiba-tiba ada hal yang tidak penting di dapur sendiri, tetapi wajib di warung. Kolom "Bagian" menunjukkan di mana setiap baris dibahas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 ini aplikasi dijalankan dengan flutter run atau tombol F5 di VS Code. Cara itu menghasilkan aplikasi mode debug: dirancang untuk PEMBUATNYA, bukan untuk penggunanya. Baris yang paling sering menjebak: izin internet (Bagian 10.2) dan layar merah yang menjadi kotak abu-abu (Bagian 7). Pita "DEBUG" di pojok kanan atas juga tidak pernah tampil di build rilis.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jalur rilis gratis yang wajib dikuasai: web (Bagian 9) dan APK (Bagian 10–12). Jalur ketiga, toko aplikasi, cukup diketahui gambarannya agar Anda tahu jalannya saat kelak membuat aplikasi sungguhan.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Rilis BUKAN garis akhir. Setiap perbaikan menghasilkan versi baru, dan perjalanan ini diulang: dari langkah terakhir kembali ke "build rilis". Karena diulang terus, sebagian besar langkahnya nanti dibuat OTOMATIS (Bagian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Flutter mengompilasi aplikasi dengan tiga cara yang berbeda, sesuai tahap pekerjaan 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Perumpamaannya latihan drama. Mode debug adalah LATIHAN: sutradara boleh menghentikan adegan kapan saja dan memberi catatan. Mode profile adalah GLADI BERSIH: berjalan seperti pertunjukan, tetapi masih ada yang mencatat waktu. Mode release adalah PERTUNJUKAN: penonton hanya melihat hasil akhirnya. Perintah build: flutter build web (Bagian 9), flutter build apk (Bagian 10). Untuk web, mode juga menentukan compiler: debug memakai dartdevc (tidak diperkecil, mudah di-debug); profile memakai dart2js dengan tree shaking tetapi tidak diperkecil; release memakai dart2js dengan tree shaking DAN diperkecil (minified). Flutter juga bisa mengompilasi ke WebAssembly dengan flutter build web --wasm (Bagian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if (kDebugMode), isi debugPrint tetap tertulis di log perangkat, dan orang yang menyambungkan HP ke laptop bisa membacanya. Fungsi seperti catatDebug ini dipakai di studi kasus Contoh 07 untuk menggantikan debugPrint("GET $alamat") dari Pertemuan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kesalahan nyata (Latihan C2): assert(simpanPengaturan(...)). Di DartPad (debug) pengaturan tersimpan; di build rilis, simpanPengaturan tidak pernah dipanggil, sehingga pengaturan pengguna tidak pernah tersimpan. Gejala seperti ini hanya muncul pada build rilis, alasan lain mengapa build rilis harus diuji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bawah layar (Lingkungan produksi, Alamat API, Log rinci) adalah konfigurasi --dart-define yang dibahas di Bagian 3. Setiap nilai disertai keterangan opsi --dart-define-nya.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Nilai pengaturan diberikan saat menjalankan atau mem-build, bukan ditulis di kode. Kodenya tidak pernah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 di modul Bagian 3.1: suatu sore Anda mengubah const Lingkungan lingkungan menjadi Lingkungan.pengembangan untuk menguji tampilan, lupa mengembalikannya, lalu mem-build APK untuk dosen. Jalan keluarnya: nilai pengaturan diberikan saat menjalankan atau mem-build. Garis miring terbalik di akhir baris hanya pemotong baris di terminal Linux/macOS; di PowerShell tulis dalam satu baris (atau pakai tanda `). Nilai --dart-define tidak berubah lewat hot reload: hentikan aplikasi, lalu jalankan ulang dengan nilai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galat di slide sudah kami buktikan di DartPad (Latihan C2 memakai kesalahan ini). Perhatikan perilaku int.fromEnvironment dan bool.fromEnvironment: jika teksnya tidak bisa dibaca (BATAS_DATA=lima, LOG_RINCI=ya), nilai bawaan dipakai diam-diam. Latihan B3 membahas bahayanya.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kebiasaan baik dari Contoh 02 (kode di slide sama dengan modul Bagian 3.4). Galat yang ketahuan saat diuji jauh lebih murah daripada galat yang ketahuan pengguna. DartPad tidak bisa diberi --dart-define; untuk mencobanya, ubah sementara defaultValue: produksi menjadi produksii.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Pita dipasang di builder milik MaterialApp; di slide, pemanggilan Banner diringkas menjadi dua baris (versi modul Bagian 3.5 satu argumen per baris). Tentang rahasia: lihat juga Pertemuan 10 Bagian 14.4 (kunci API jangan disimpan di repositori). Dua titik masuk (main.dart dan main_pengembangan.dart, dijalankan dengan -t) mudah dilihat di VS Code dan tiap lingkungan bisa punya kode awal berbeda; --dart-define cukup satu main.dart dan nilai apa pun bisa diberikan, termasuk alamat server dan nomor uji. Proyek besar memakai flavor: varian aplikasi dengan application ID, nama, dan ikon berbeda yang bisa terpasang berdampingan di satu HP (flutter run --flavor staging); materi ini di luar cakupan kuliah, panduannya ada di dokumentasi resmi Flutter.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baru dari flutter create memakai nama paket sebagai nama tampilan, ID com.example..., versi 1.0.0+1, dan ikon berlogo Flutter. Semuanya diganti sebelum rilis.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identitas yang sering tertukar. Nama tampilan untuk manusia; application ID untuk sistem operasi dan Google Play. Di iPhone, padanan application ID adalah Bundle Identifier, diatur lewat Xcode (Runner → General → Identity); karena mem-build aplikasi iPhone membutuhkan Mac, bagian ini cukup diketahui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perubahan di AndroidManifest.xml: android:label="Tugas Kuliahku". Di web/manifest.json: "name", "short_name", dan "description". Modifikasi 1 Praktikum 1 meminta mahasiswa membuktikan sendiri: judul tab saat aplikasi dimuat berasal dari web/index.html, tetapi setelah Flutter berjalan diganti oleh MaterialApp(title: ...). Jika salah satu lupa diubah, judul tab berganti-ganti.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NIM tidak bisa dijadikan bagian tersendiri karena diawali angka, tetapi boleh ditempel setelah huruf, misalnya com.mhs2609106001.tugaskuliahku. Google Play menolak com.example. Bagi HP, applicationId yang berbeda adalah aplikasi yang berbeda: setelah ID diganti, aplikasi lama ber-ID com.example... tetap terpasang di HP; hapus agar tidak bingung saat mencoba. Di slide, beberapa baris bawaan Gradle diwakili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 versi (1.0.0) dibaca pengguna: versionName di Android, CFBundleShortVersionString di iPhone. Nomor build (1) dibaca toko aplikasi dan sistem operasi: versionCode di Android, CFBundleVersion di iPhone. Aturannya Semantic Versioning: MAYOR.MINOR.PATCH. Android juga menolak memasang pembaruan yang nomor build-nya lebih kecil daripada aplikasi terpasang. Nomor versi bisa ditimpa saat build tanpa mengubah pubspec: flutter build apk --build-name=1.0.1 --build-number=2. Dengan --split-per-abi, Flutter menambahkan 1000 × kode ABI ke nomor build agar setiap APK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pengguna melapor "aplikasinya galat", pertanyaan pertama adalah "versi berapa?". Versi dibaca dari aplikasinya sendiri, sehingga selalu sama dengan pubspec.yaml. DartPad tidak menyediakan paket ini, jadi Contoh 04 dan 07 menulis versinya sebagai konstanta, lengkap dengan komentar pengingat. Di slide, tipe parameter hasil (AsyncSnapshot&lt;PackageInfo&gt;) tidak ditulis dan teks versi dipecah dua agar muat; versi lengkapnya ada di modul Bagian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ini dipakai di fitur cek pembaruan (Bagian 13) dan muncul di Latihan B1, C1, dan D3. Contoh 01 juga menunjukkan riwayat unggahan ke toko: 1.0.0+1 diterima, 1.0.1+2 diterima, 1.0.2+2 ditolak (nomor build 2 sudah dipakai), 1.1.0+1 ditolak (harus lebih dari 2), 1.1.0+3 diterima.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ini adalah gambaran hasil Praktikum 1 Jobsheet, dibuat dari tiga berkas di folder aset/: ikon biasa, ikon adaptif yang sama setelah dipotong HP menjadi lingkaran dan persegi membulat, serta layar pembuka Android 12. Ikon bawaan Flutter membuat aplikasi terlihat "belum jadi".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Android, iPhone, dan web membutuhkan ikon dalam belasan ukuran; paket ini membuat semuanya dari satu gambar. adaptive_icon_foreground_inset bawaan 16: paket menambahkan ruang kosong 16% di sekeliling lapisan depan agar simbol tidak terpotong. Untuk themed icon Android 13+, tambahkan adaptive_icon_monochrome berisi gambar simbol satu warna (Modifikasi 3 Praktikum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Bawaan Flutter berupa layar putih polos. Paket ini mengatur warna dan gambar untuk Android, iPhone, dan web sekaligus. Batasan Android 12 menurut panduan paketnya: gambar dipotong menjadi lingkaran, layar pembuka tidak tampil jika aplikasi dibuka dari notifikasi, dan peluncur HP buatan selain Google kadang menampilkannya berbeda. Pengguna membuka aplikasi untuk memakainya, bukan untuk menonton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Layar merah adalah bantuan untuk pengembang. Di build rilis, layar itu menjadi kotak abu-abu tanpa keterangan: pengguna bingung, dan Anda tidak pernah tahu galat itu terjadi.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resmi Flutter menyebutkan bahwa di build rilis, layar merah berubah menjadi kotak abu-abu. Galat yang diduga sudah kita tangani sejak Pertemuan 10–12 (Hasil dan Kegagalan). Hari ini kita menambahkan lapisan terakhir untuk galat yang tidak terduga.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PelaporGalat di Contoh 03 hanya menyimpan catatan di memori dan menampilkannya di layar. Aplikasi sungguhan mengirimnya ke layanan pelaporan seperti Firebase Crashlytics atau Sentry, sehingga pengembang menerima daftar galat dari HP semua pengguna, lengkap dengan stack trace-nya. Laporan galat dikirim ke server: jangan ikutkan nama, nomor HP, isi catatan, atau token; dan jika aplikasi mengirim laporan galat, hal itu wajib disebutkan di kebijakan privasi (Bagian 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Zona adalah ruang eksekusi Dart. runZonedGuarded menangkap galat asinkron yang lolos di dalamnya. Latihan B5 memperlihatkan urutan kerjanya: Future yang di-await di dalam try ditangkap catch; Future yang tidak di-await galatnya sampai ke fungsi kedua runZonedGuarded. Di Jobsheet Praktikum 2, fungsi jalankanDenganPengaman memasang zona hanya di web, dan memanggil _mulai langsung di platform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lengkapnya di modul Bagian 7.5 juga memuat ikon wajah sedih (Icons.sentiment_dissatisfied), Padding, dan warna teks; di slide diringkas. Di Jobsheet Praktikum 2, kotak ini dipasang di "Tugas Kuliahku", lalu diuji dengan bug buatan: hanya baris "Uji galat" yang berubah menjadi kotak oranye.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hal kecil yang menarik: pesan galat tanda ! di web berbunyi "Unexpected null value.", sedangkan di Android dan VS Code berbunyi "Null check operator used on a null value". Galatnya sama, hanya kata-katanya yang berbeda per platform. Gambar kanan: setelah tombol Muat ditekan, catatan teratas berbunyi FormatException: JSON dari server rusak, ditangani.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yang dipakai orang lain wajib jujur tentang dirinya: versi berapa, datanya dari mana, data pengguna diapakan, dan kode siapa saja yang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Open-Meteo: data berlisensi CC BY 4.0, wajib mencantumkan tautan ke Open-Meteo di dekat setiap tempat data ditampilkan, misalnya "Weather data by Open-Meteo.com". Data Terbuka BMKG: wajib mencantumkan BMKG sebagai sumber. Kebijakan Google Play: semua aplikasi wajib mencantumkan tautan kebijakan privasi di Play Console, termasuk aplikasi yang tidak mengakses data pribadi sama sekali, dan wajib menyediakan tautan atau teksnya di dalam aplikasi. Kebijakan privasi harus jujur: jika aplikasi meminta izin lokasi, menulis "tidak mengumpulkan data apa pun" adalah pelanggaran. Kerangkanya ada di templat/KEBIJAKAN_PRIVASI.md.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Lisensi data, misalnya data Open-Meteo atau huruf dari Google Fonts, tidak terkumpul otomatis, jadi ditambahkan sendiri dengan LicenseRegistry.addLicense. Di slide, ikon ListTile dan sebagian teks lisensi diwakili "..."; versi lengkapnya ada di modul Bagian 8.4. Di DartPad, berkas daftar lisensi yang biasanya dibuat saat build tidak ada, sehingga yang terbaca adalah halaman HTML. Judul halaman berbahasa Inggris ("Licenses") selama aplikasi belum diberi dukungan bahasa Indonesia lewat flutter_localizations.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04 membuat halaman Tentang untuk "Cuaca Kampus" (Pertemuan 10). Gambar kanan: halaman Kebijakan Privasi berisi empat bagian: data yang dikumpulkan (tidak ada), data yang disimpan di perangkat (kota terakhir yang dipilih), data yang dikirim (koordinat kota ke Open-Meteo.com), dan pertanyaan (alamat surel tim). Di Jobsheet Praktikum 2, mahasiswa membuat halaman serupa untuk "Tugas Kuliahku".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Rilis web cukup dengan Flutter dan Chrome; tidak butuh Android SDK. Hasilnya bisa dibuka siapa saja dari HP maupun laptop, cukup dengan sebuah tautan.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tanpa dukungan web bisa ditambahi foldernya dengan flutter create . --platforms web. Hasil build harus dibuka lewat web server; Flutter sudah membawa Dart, jadi kita bisa memasang server kecil dhttpd sekali saja. Muncul "dhttpd is not recognized"? Jalankan dart pub global run dhttpd --path build/web; atau, jika Python terpasang, python -m http.server 8000 dari folder build/web. Hentikan server dengan Ctrl + C. Di sinilah bug yang tidak muncul saat flutter run biasanya ketahuan.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mencoba di laptop, build tanpa --base-href. Untuk GitHub Pages, robot GitHub mem-build dengan --base-href (slide berikutnya). Modifikasi 1 Praktikum 3 meminta mahasiswa meniru keadaan GitHub Pages di laptop dengan folder coba/tugas_kuliahku/, lalu membaca galat 404 di konsol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Pages gratis untuk repositori publik; repositori privat membutuhkan GitHub Pro, yang gratis bagi mahasiswa lewat GitHub Student Developer Pack. Isi lengkap web.yml ada di folder templat/; di slide, beberapa langkah diringkas menjadi komentar (ambil kode, pasang Flutter, pub get sama seperti tes.yml Pertemuan 14; izin pages: write dan id-token: write; environment github-pages yang menampilkan tautan situs). upload-pages-artifact mengemas folder build/web; deploy-pages menerbitkannya.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Selain GitHub Pages, ada layanan lain yang juga gratis untuk situs kecil, misalnya Firebase Hosting (firebase deploy). Pilih satu saja yang Anda pahami. Header server yang dibutuhkan WebAssembly untuk kinerja penuhnya: Cross-Origin-Embedder-Policy dan Cross-Origin-Opener-Policy.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dibutuhkan: Android SDK (biasanya bersama Android Studio; flutter doctor bercentang di Android toolchain), lisensi SDK yang disetujui (flutter doctor --android-licenses), dan sebaiknya HP Android dengan USB debugging. Belum punya Android SDK? Minta robot GitHub mem-build APK (Bagian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 pengembangan, izin itu "dipinjami" oleh berkas debug. Di build rilis, pinjaman itu hilang. Sekalian periksa daftar ini sebelum build (Contoh 06 memeriksanya otomatis): izin internet dan izin lain yang benar-benar dipakai (kamera, lokasi); android:label rapi; applicationId bukan com.example; version di pubspec sudah dinaikkan; ikon dan layar pembuka sudah diganti; semua tes lulus dan flutter analyze bersih. Di Praktikum 4, Langkah 1 (izin internet) wajib untuk semua, karena APK buatan robot GitHub juga membutuhkannya.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Bagikan app-arm64-v8a-release.apk untuk HP masa kini, atau app-release.apk jika tidak yakin. Build rilis Android selalu diperkecil oleh R8 (membuang kode Java/Kotlin yang tidak terpakai); menurut panduan resmi, opsi lama --no-shrink tidak berpengaruh lagi. Saat memasang dari berkas, Google Play Protect bisa memperingatkan karena aplikasinya bukan dari Play Store; untuk aplikasi buatan sendiri, ini wajar. Jika tanda tangannya berbeda, pemasangan gagal dengan pesan seperti "Aplikasi tidak terpasang karena paket bentrok dengan paket yang sudah ada". Penyebab tersering di kelas: APK lama di-build di laptop A, APK baru di laptop B. Mengapa? Jawabannya di Bagian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ini juga menjadi persiapan demo UAS: penguji sering bertanya "kalau internetnya mati bagaimana?". Uji yang sama juga dilakukan untuk versi web dari HP (Praktikum 3 Langkah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Menurut halaman resmi Android developer verification (dibaca Oktober 2026): mulai 30 September 2026, perlindungan berlaku bagi pengguna di Brasil, Indonesia, Singapura, dan Thailand yang memasang aplikasi dari toko aplikasi yang berpartisipasi; FAQ-nya menyebutkan bahwa aplikasi yang dipasang langsung dari berkas (sideload) belum terkena aturan tenggat ini. Pada 2027, verifikasi diperluas ke seluruh dunia untuk aplikasi di perangkat Android bersertifikat. Pelajar dan penghobi bisa memakai akun distribusi terbatas (limited distribution) untuk membagikan aplikasi ke paling banyak 20 perangkat.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Sejauh ini Anda belum pernah mengurus tanda tangan, karena build.gradle.kts bawaan memakai kunci debug: signingConfig = signingConfigs.getByName("debug") dengan komentar TODO dari Flutter. Kunci debug dibuat otomatis di setiap laptop, jadi isinya berbeda di laptop A, laptop B, dan robot GitHub. Itulah penyebab gagal memperbarui di Bagian 10.4. Segel inilah yang melindungi pengguna: orang lain tidak bisa membuat APK palsu yang "memperbarui" aplikasi bank Anda. Jika kunci hilang, pengguna terpaksa menghapus aplikasi lama, termasuk datanya.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keytool ikut terpasang bersama Java di Android Studio; perintahnya dari panduan resmi Flutter. -keyalg RSA -keysize 2048 adalah jenis dan kekuatan kunci. Di PowerShell, panggil dengan alamat lengkapnya jika perlu, misalnya &amp; "C:\Program Files\Android\Android Studio\jbr\bin\keytool.exe" .... Simpan kata sandinya di pengelola kata sandi, bukan di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key.properties ditulis di slide sebagai komentar agar terbaca; di berkas aslinya tanpa tanda // . Di macOS atau Linux, baris terakhirnya misalnya storeFile=/Users/&lt;nama pengguna&gt;/upload-keystore.jks. Kode pembaca key.properties diambil dari panduan resmi Flutter.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ekspresi storeFile dipecah dua baris agar muat (di modul satu baris: storeFile = keystoreProperties.getProperty("storeFile")?.let { file(it) }). Kesalahan umum: signingConfig selalu memakai "release" tanpa if–else, sehingga robot GitHub di Praktikum 5 gagal mem-build dengan pesan yang menyebut keystore atau signing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yang terlanjur di-push harus dianggap bocor, karena riwayat Git dan salinan orang lain masih menyimpannya. Buat kunci baru, dan jika aplikasi sudah di Google Play, minta penggantian kunci unggah lewat Play Console. Aturan rahasia di jobsheet: key.properties dan *.jks tidak pernah di-commit, tidak dikirim ke grup kelas, dan tidak ditempel ke asisten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Bundle berisi semua bagian aplikasi untuk semua jenis HP. Google Play lalu meracik APK yang pas untuk setiap HP pengguna (jenis prosesor, kerapatan layar, bahasa), sehingga unduhan pengguna lebih kecil. signingReport dijalankan setelah pernah menjalankan flutter build; cari laporan untuk modul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resmi juga mengingatkan bahwa kode yang bergantung pada nama, seperti runtimeType.toString(), akan berubah hasilnya. Untuk web, penyamaran tidak berlaku, karena build rilis web sudah diperkecil. Modifikasi 4 Praktikum 4 (tantangan) meminta mahasiswa membandingkan ukuran APK dan menjelaskan isi folder build/simbol.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Perjalanan rilis diulang setiap ada perbaikan. Karena itu langkahnya dibuat otomatis: cukup push tag versi, robot GitHub menguji, mem-build APK, dan membuat halaman rilis.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tag -a membuat tag beranotasi pada commit terakhir, lengkap dengan pesannya. Modifikasi 2 Praktikum 5 memperlihatkan akibat tag yang tidak sama dengan pubspec.yaml: halaman rilis menyebut v1.0.2, tetapi halaman Tentang menulis versi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perintah cp dan gh release create dipotong dengan garis miring terbalik (lanjutan baris shell) agar muat; di templat masing-masing ditulis satu baris. Salin templat/rilis.yml ke .github/workflows/rilis.yml. Setiap kali tag berawalan v di-push, robot menjalankan flutter analyze dan flutter test, mem-build APK, lalu membuat halaman Release bernama sama dengan tag dan menempelkan APK-nya. Nilai dari GitHub dititipkan lewat env, bukan ditempel langsung di perintah: kebiasaan aman di GitHub Actions. Hasilnya di https://github.com/&lt;akun&gt;/&lt;repositori&gt;/releases; tautan .../releases/latest selalu menuju rilis terbaru, cocok ditaruh di README.md. Kunci debug robot berbeda setiap kali robot bekerja: pengguna yang ingin memperbarui harus menghapus versi lama dulu. Agar robot tidak gagal mem-build, build.gradle.kts harus memakai pola "kunci rilis jika ada, kunci debug jika tidak" (Bagian 11.4). Tanpa robot, rilis bisa dibuat lewat web: Releases → Draft a new release → Choose a tag v1.0.0 → Create new tag → isi catatan (salin dari CHANGELOG.md) → seret APK ke Attach binaries → Publish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perintah echo pertama dipotong dengan garis miring terbalik agar muat (di modul satu baris). Kunci tidak boleh masuk repositori, tetapi robot membutuhkannya. Mengubah berkas kunci menjadi teks base64: Windows (PowerShell) [Convert]::ToBase64String([IO.File]::ReadAllBytes("$env:USERPROFILE\upload-keystore.jks")) | Set-Clipboard; macOS base64 -i ~/upload-keystore.jks | pbcopy; Linux base64 -w 0 ~/upload-keystore.jks. KUNCI_PROPERTIES berisi isi key.properties, tetapi baris terakhirnya storeFile=upload-keystore.jks. Langkah ini menulis kembali kedua berkas di robot, tepat sebelum build. Dengan cara ini, APK dari robot dan dari laptop bertanda tangan sama, sehingga pembaruan bisa dipasang tanpa menghapus aplikasi (Modifikasi 3 Praktikum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dari Google Play diperbarui otomatis. Aplikasi yang dipasang dari berkas APK TIDAK: pengguna terus memakai versi lama. Lebih gawat lagi jika versi lama sudah tidak cocok dengan server, misalnya karena format datanya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Berkas data/info_rilis_cuaca_kampus.json sungguhan ada di repositori mata kuliah ini dan dibaca oleh Contoh 07. Contoh tabel keputusan dari modul (server: terbaru 1.3.0, minimum 1.2.0): terpasang 1.3.0 → terbaru; 1.2.4 → disarankan; 1.1.9 → wajib. Alternatif tanpa membuat berkas sendiri: https://api.github.com/repos/&lt;akun&gt;/&lt;repositori&gt;/releases/latest mengembalikan JSON berisi tag_name dan html_url rilis terbaru; alamat ini dibatasi jumlah permintaannya untuk pengguna tanpa akun, jadi periksa sekali saja saat aplikasi dibuka (Latihan D3). Untuk aplikasi di Google Play ada fitur resmi in-app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Latihan C3 berisi kebalikannya: ambil() yang melempar galat tanpa ditangkap dan tanpa batas waktu, sehingga tulisan "Memeriksa pembaruan ..." tidak pernah berganti saat server mati, dan dialog wajib yang bisa ditutup dengan mengetuk di luar dialog.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kiri: MaterialBanner "Versi 1.3.0 tersedia" dengan tombol Nanti dan Perbarui; di bawahnya versi terpasang 1.2.4 (build 10), skenario server, keputusan disarankan, dan tombol Periksa lagi. Gambar kanan: dialog "Perbarui aplikasi" di atas layar yang digelapkan, dengan satu tombol Perbarui sekarang.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Pemeriksaan terakhir sebelum rilis, lalu gambaran jalur toko aplikasi. Bagian 15 tidak wajib dipraktikkan di mata kuliah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resmi Flutter menyebutkan bahwa build debug berukuran besar karena membawa alat hot reload dan debugging. --analyze-size mencetak ringkasan ukuran per bagian dan menulis berkas *-code-size-analysis_*.json yang bisa dibuka di DevTools → App Size. Gambar PNG/JPG berukuran besar adalah penyebab tersering aplikasi yang membengkak. Modifikasi 3 Praktikum 4 meminta mahasiswa menyebutkan tiga bagian terbesar aplikasinya.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meringkas modul Bagian 14.3. Izin yang tidak dipakai juga harus dibuang karena kebijakan privasi wajib jujur: izin yang diminta harus dijelaskan (Bagian 8.3, Pertemuan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dan aturan dibaca dari halaman resmi pada Oktober 2026 dan bisa berubah. App content berisi kebijakan privasi, Data safety, rating konten, dan target usia. Dengan Play App Signing, kunci penandatangan aplikasi disimpan Google; Anda cukup menjaga kunci unggah, dan kunci unggah yang hilang masih bisa diganti. App Store (iPhone): butuh Mac dengan Xcode, Apple Developer Program US$99 per tahun, Bundle ID didaftarkan lalu dibuat catatan aplikasinya di App Store Connect, flutter build ipa (hasil di build/ios/ipa/), unggah lewat aplikasi Transporter, Xcode, atau xcrun altool, uji coba lewat TestFlight, dan ditinjau sesuai App Review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menjawab pertanyaan "jalur mana untuk proyek akhir?": web untuk demo dan portofolio (dibuka dari mana saja), APK untuk demo dan penilaian di HP (fitur perangkat penuh). Keduanya gratis dan tanpa peninjauan. Fitur kamera dan lokasi di web terbatas pada izin browser, jadi aplikasi yang memakai fitur perangkat sebaiknya juga punya APK.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07 mengambil aplikasi "Cuaca Kampus" dari Pertemuan 10, lalu menyiapkannya untuk rilis. Fiturnya tidak bertambah satu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pola rilis untuk proyek akhir: fitur tetap, yang bertambah adalah hal-hal yang dibutuhkan aplikasi yang dipakai orang lain. Bandingkan dengan jobsheet: "Tugas Kuliahku" mengalami perubahan yang sama di Praktikum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Lingkungan dipilih dari --dart-define (Bagian 3), bukan dari kode. Itulah sebabnya mengganti defaultValue LINGKUNGAN mengubah perilaku aplikasi tanpa menyentuh halaman mana pun (Coba sendiri 16.3 nomor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Coba sendiri (modul 16.3): (1) ubah versiAplikasi menjadi Versi.urai("0.9.0+1"): dialog wajib muncul dan tidak bisa ditutup, karena 0.9.0 lebih lama daripada versi minimum; (2) ubah menjadi Versi.urai("1.1.0+2"): banner tidak muncul lagi karena sudah versi terbaru; (3) ubah defaultValue LINGKUNGAN menjadi "pengembangan": data palsu dan pita BUILD UJI, tanpa satu pun berkas halaman diubah; (4) ubah menjadi "pengembangn" (salah ketik): aplikasi menolak berjalan dan menjelaskan sebabnya, lebih baik daripada diam-diam 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Pertemuan 15 adalah tahap finalisasi proyek akhir: aplikasi lengkap, tes lulus, dan berkas rilis siap. Bagian ini adalah daftar kerjanya.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lengkap ada di modul Bagian 17.1 (17 butir dalam lima kelompok). Tugas mandiri jobsheet meminta mahasiswa menyalinnya ke DAFTAR_PERIKSA_RILIS.md dan mencentang butir yang sudah terpenuhi; butir yang belum terpenuhi diberi alasan. Contoh 06 memeriksa sebagian butir secara otomatis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 Dart murni ini memeriksa proyek "Tugas Kuliahku" dua kali: sebelum dan sesudah dirapikan. Sebelum membuat tag proyek akhir, mahasiswa bisa menempelkan isi berkas proyeknya sendiri ke program ini (tip di Jobsheet Tugas Mandiri).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kerangka ada di folder templat/: README_PROYEK.md, CHANGELOG.md, KEBIJAKAN_PRIVASI.md. Isi CHANGELOG bisa langsung disalin ke catatan rilis GitHub (Bagian 12.3). Lisensi kode (Bagian 17.5) opsional: jika tim ingin kodenya boleh dipakai ulang, tambahkan berkas LICENSE (misalnya MIT) lewat tombol Choose a license template di GitHub; diskusikan dulu dengan dosen dan seluruh anggota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dikumpulkan (modul 17.7, ikuti arahan dosen): tautan repositori dengan tag v1.0.0; tautan halaman rilis (APK) dan/atau versi web; README.md, CHANGELOG.md, dan KEBIJAKAN_PRIVASI.md yang lengkap. Penilaian UAS ada di Panduan Proyek Akhir Bagian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(27 baris) ada di modul Bagian 18, termasuk: workflow web.yml gagal di langkah Terbitkan (Source belum GitHub Actions, atau repositori privat tanpa GitHub Pro); situs masih versi lama (Ctrl + Shift + R); SQLite gagal di GitHub Pages (commit sqlite3.wasm dan sqflite_sw.js); keytool is not recognized; ikon masih logo Flutter (hapus aplikasi dari HP); nama di bawah ikon masih tugas_kuliahku; dua aplikasi kembar di HP (applicationId diganti); nomor build lupa dinaikkan; versi di halaman Tentang berbeda dengan pubspec (pakai package_info_plus); nilai --dart-define tidak terbaca; APK untuk dosen berisi data palsu; kotak abu-abu kosong; galat asinkron web tidak tercatat (runZonedGuarded); data pribadi di log; Resource not accessible by integration (kembalikan permissions: contents: write); aplikasi macet saat dibuka tanpa internet (batas waktu 5 detik, kembalikan null); "aplikasi saya lambat" diukur di mode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dengan kata-kata sendiri: mengapa APK yang lancar saat flutter run bisa gagal memuat data, dan mengapa kunci unggah yang hilang adalah masalah besar bagi aplikasi di luar Google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ada di modul Bagian 19. Minta mahasiswa memetakan proyek akhirnya: jalur rilis mana yang dipakai, dan alat apa yang dibutuhkan untuk setiap butir daftar periksa.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praktikum dikerjakan di satu proyek, tugas_kuliahku, diawali dan diakhiri commit. Jawaban modifikasi dicatat di CATATAN_RILIS.md. Aturan rahasia: key.properties dan *.jks tidak pernah di-commit, tidak dikirim ke grup kelas, dan tidak ditempel ke asisten AI. Belum punya Android SDK? Kerjakan Praktikum 4 Langkah 1, baca Langkah 2–7, lalu lanjut ke Praktikum 5: robot GitHub tetap mem-build APK. Padanan di modul: Praktikum 1 ↔ Bagian 4–6, Praktikum 2 ↔ Contoh 03 dan 04, Praktikum 3 ↔ Bagian 9, Praktikum 4 ↔ Bagian 10–11, Praktikum 5 ↔ Bagian 12 dan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akhir: selesaikan daftar periksa Bagian 17.1, lalu buat tag v1.0.0. Pertemuan 16 adalah Ujian Akhir Semester: presentasi dan demo proyek akhir, dilanjutkan tanya jawab. Pelajari cara penilaiannya di Panduan Proyek Akhir Bagian 9, dan latih alur demonya sejak sekarang (Bagian 17.6).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15  ·  Build, Rilis &amp; Finalisasi Proyek</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15  ·  Build, Rilis &amp; Finalisasi Proyek</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image" Target="../media/image-2-1.png"/><Relationship Id="rId9" Type="http://schemas.openxmlformats.org/officeDocument/2006/relationships/image" Target="../media/image-2-1.png"/><Relationship Id="rId10" Type="http://schemas.openxmlformats.org/officeDocument/2006/relationships/image" Target="../media/image-2-1.png"/><Relationship Id="rId11" Type="http://schemas.openxmlformats.org/officeDocument/2006/relationships/slideLayout" Target="../slideLayouts/slideLayout4.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antonprafanto/mobile2026/blob/main/pertemuan_15_build_rilis_dan_finalisasi/kode/contoh_02_mode_build_dan_konfigurasi.dart" TargetMode="External"/><Relationship Id="rId4" Type="http://schemas.openxmlformats.org/officeDocument/2006/relationships/hyperlink" Target="https://github.com/antonprafanto/mobile2026/blob/main/pertemuan_15_build_rilis_dan_finalisasi/kode/contoh_02_mode_build_dan_konfigurasi.dart" TargetMode="External"/><Relationship Id="rId1" Type="http://schemas.openxmlformats.org/officeDocument/2006/relationships/image" Target="../media/image-14-1.jpg"/><Relationship Id="rId3" Type="http://schemas.openxmlformats.org/officeDocument/2006/relationships/image" Target="../media/image-14-2.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github.com/antonprafanto/mobile2026/blob/main/pertemuan_15_build_rilis_dan_finalisasi/kode/contoh_01_versi_dan_nomor_build_dart_murni.dart" TargetMode="External"/><Relationship Id="rId3" Type="http://schemas.openxmlformats.org/officeDocument/2006/relationships/hyperlink" Target="https://github.com/antonprafanto/mobile2026/blob/main/pertemuan_15_build_rilis_dan_finalisasi/kode/contoh_01_versi_dan_nomor_build_dart_murni.dart" TargetMode="External"/><Relationship Id="rId2" Type="http://schemas.openxmlformats.org/officeDocument/2006/relationships/image" Target="../media/image-26-1.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github.com/antonprafanto/mobile2026/blob/main/pertemuan_15_build_rilis_dan_finalisasi/kode/contoh_03_menangani_galat_di_rilis.dart" TargetMode="External"/><Relationship Id="rId3" Type="http://schemas.openxmlformats.org/officeDocument/2006/relationships/hyperlink" Target="https://github.com/antonprafanto/mobile2026/blob/main/pertemuan_15_build_rilis_dan_finalisasi/kode/contoh_03_menangani_galat_di_rilis.dart" TargetMode="External"/><Relationship Id="rId2" Type="http://schemas.openxmlformats.org/officeDocument/2006/relationships/image" Target="../media/image-32-1.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antonprafanto/mobile2026/blob/main/pertemuan_15_build_rilis_dan_finalisasi/kode/contoh_03_menangani_galat_di_rilis.dart" TargetMode="External"/><Relationship Id="rId5" Type="http://schemas.openxmlformats.org/officeDocument/2006/relationships/hyperlink" Target="https://github.com/antonprafanto/mobile2026/blob/main/pertemuan_15_build_rilis_dan_finalisasi/kode/contoh_03_menangani_galat_di_rilis.dart" TargetMode="External"/><Relationship Id="rId1" Type="http://schemas.openxmlformats.org/officeDocument/2006/relationships/image" Target="../media/image-35-1.jpg"/><Relationship Id="rId2" Type="http://schemas.openxmlformats.org/officeDocument/2006/relationships/image" Target="../media/image-35-2.jpg"/><Relationship Id="rId4" Type="http://schemas.openxmlformats.org/officeDocument/2006/relationships/image" Target="../media/image-35-3.png"/><Relationship Id="rId6" Type="http://schemas.openxmlformats.org/officeDocument/2006/relationships/slideLayout" Target="../slideLayouts/slideLayout4.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hyperlink" Target="https://github.com/antonprafanto/mobile2026/blob/main/pertemuan_15_build_rilis_dan_finalisasi/kode/contoh_04_halaman_tentang_dan_lisensi.dart" TargetMode="External"/><Relationship Id="rId5" Type="http://schemas.openxmlformats.org/officeDocument/2006/relationships/hyperlink" Target="https://github.com/antonprafanto/mobile2026/blob/main/pertemuan_15_build_rilis_dan_finalisasi/kode/contoh_04_halaman_tentang_dan_lisensi.dart" TargetMode="External"/><Relationship Id="rId1" Type="http://schemas.openxmlformats.org/officeDocument/2006/relationships/image" Target="../media/image-39-1.jpg"/><Relationship Id="rId2" Type="http://schemas.openxmlformats.org/officeDocument/2006/relationships/image" Target="../media/image-39-2.jpg"/><Relationship Id="rId4" Type="http://schemas.openxmlformats.org/officeDocument/2006/relationships/image" Target="../media/image-39-3.png"/><Relationship Id="rId6" Type="http://schemas.openxmlformats.org/officeDocument/2006/relationships/slideLayout" Target="../slideLayouts/slideLayout4.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github.com/antonprafanto/mobile2026/blob/main/pertemuan_15_build_rilis_dan_finalisasi/templat/web.yml" TargetMode="External"/><Relationship Id="rId3" Type="http://schemas.openxmlformats.org/officeDocument/2006/relationships/hyperlink" Target="https://github.com/antonprafanto/mobile2026/blob/main/pertemuan_15_build_rilis_dan_finalisasi/templat/web.yml" TargetMode="External"/><Relationship Id="rId2" Type="http://schemas.openxmlformats.org/officeDocument/2006/relationships/image" Target="../media/image-43-1.png"/><Relationship Id="rId4" Type="http://schemas.openxmlformats.org/officeDocument/2006/relationships/slideLayout" Target="../slideLayouts/slideLayout4.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slideLayout" Target="../slideLayouts/slideLayout4.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4.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github.com/antonprafanto/mobile2026/blob/main/pertemuan_15_build_rilis_dan_finalisasi/templat/rilis.yml" TargetMode="External"/><Relationship Id="rId3" Type="http://schemas.openxmlformats.org/officeDocument/2006/relationships/hyperlink" Target="https://github.com/antonprafanto/mobile2026/blob/main/pertemuan_15_build_rilis_dan_finalisasi/templat/rilis.yml" TargetMode="External"/><Relationship Id="rId2" Type="http://schemas.openxmlformats.org/officeDocument/2006/relationships/image" Target="../media/image-59-1.png"/><Relationship Id="rId4" Type="http://schemas.openxmlformats.org/officeDocument/2006/relationships/slideLayout" Target="../slideLayouts/slideLayout4.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hyperlink" Target="https://github.com/antonprafanto/mobile2026/blob/main/pertemuan_15_build_rilis_dan_finalisasi/kode/contoh_05_cek_pembaruan.dart" TargetMode="External"/><Relationship Id="rId5" Type="http://schemas.openxmlformats.org/officeDocument/2006/relationships/hyperlink" Target="https://github.com/antonprafanto/mobile2026/blob/main/pertemuan_15_build_rilis_dan_finalisasi/kode/contoh_05_cek_pembaruan.dart" TargetMode="External"/><Relationship Id="rId1" Type="http://schemas.openxmlformats.org/officeDocument/2006/relationships/image" Target="../media/image-64-1.jpg"/><Relationship Id="rId2" Type="http://schemas.openxmlformats.org/officeDocument/2006/relationships/image" Target="../media/image-64-2.jpg"/><Relationship Id="rId4" Type="http://schemas.openxmlformats.org/officeDocument/2006/relationships/image" Target="../media/image-64-3.png"/><Relationship Id="rId6" Type="http://schemas.openxmlformats.org/officeDocument/2006/relationships/slideLayout" Target="../slideLayouts/slideLayout4.xml"/><Relationship Id="rId7"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4.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hyperlink" Target="https://github.com/antonprafanto/mobile2026/blob/main/pertemuan_15_build_rilis_dan_finalisasi/kode/contoh_07_studi_kasus_cuaca_kampus_siap_rilis.dart" TargetMode="External"/><Relationship Id="rId3" Type="http://schemas.openxmlformats.org/officeDocument/2006/relationships/hyperlink" Target="https://github.com/antonprafanto/mobile2026/blob/main/pertemuan_15_build_rilis_dan_finalisasi/kode/contoh_07_studi_kasus_cuaca_kampus_siap_rilis.dart" TargetMode="External"/><Relationship Id="rId2" Type="http://schemas.openxmlformats.org/officeDocument/2006/relationships/image" Target="../media/image-72-1.png"/><Relationship Id="rId4" Type="http://schemas.openxmlformats.org/officeDocument/2006/relationships/slideLayout" Target="../slideLayouts/slideLayout4.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jpg"/><Relationship Id="rId3" Type="http://schemas.openxmlformats.org/officeDocument/2006/relationships/slideLayout" Target="../slideLayouts/slideLayout4.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image" Target="../media/image-75-6.png"/><Relationship Id="rId7" Type="http://schemas.openxmlformats.org/officeDocument/2006/relationships/slideLayout" Target="../slideLayouts/slideLayout4.xml"/><Relationship Id="rId8"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hyperlink" Target="https://github.com/antonprafanto/mobile2026/blob/main/pertemuan_15_build_rilis_dan_finalisasi/kode/contoh_06_pemeriksa_kesiapan_rilis_dart_murni.dart" TargetMode="External"/><Relationship Id="rId3" Type="http://schemas.openxmlformats.org/officeDocument/2006/relationships/hyperlink" Target="https://github.com/antonprafanto/mobile2026/blob/main/pertemuan_15_build_rilis_dan_finalisasi/kode/contoh_06_pemeriksa_kesiapan_rilis_dart_murni.dart" TargetMode="External"/><Relationship Id="rId2" Type="http://schemas.openxmlformats.org/officeDocument/2006/relationships/image" Target="../media/image-76-1.png"/><Relationship Id="rId4" Type="http://schemas.openxmlformats.org/officeDocument/2006/relationships/slideLayout" Target="../slideLayouts/slideLayout4.xml"/><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hyperlink" Target="https://github.com/antonprafanto/mobile2026/blob/main/pertemuan_15_build_rilis_dan_finalisasi/templat/CHANGELOG.md" TargetMode="External"/><Relationship Id="rId3" Type="http://schemas.openxmlformats.org/officeDocument/2006/relationships/hyperlink" Target="https://github.com/antonprafanto/mobile2026/blob/main/pertemuan_15_build_rilis_dan_finalisasi/templat/CHANGELOG.md" TargetMode="External"/><Relationship Id="rId2" Type="http://schemas.openxmlformats.org/officeDocument/2006/relationships/image" Target="../media/image-77-1.png"/><Relationship Id="rId4" Type="http://schemas.openxmlformats.org/officeDocument/2006/relationships/slideLayout" Target="../slideLayouts/slideLayout4.xml"/><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hyperlink" Target="https://github.com/antonprafanto/mobile2026/blob/main/pertemuan_15_build_rilis_dan_finalisasi/JOBSHEET.md" TargetMode="External"/><Relationship Id="rId3" Type="http://schemas.openxmlformats.org/officeDocument/2006/relationships/hyperlink" Target="https://github.com/antonprafanto/mobile2026/blob/main/pertemuan_15_build_rilis_dan_finalisasi/JOBSHEET.md" TargetMode="External"/><Relationship Id="rId4" Type="http://schemas.openxmlformats.org/officeDocument/2006/relationships/hyperlink" Target="https://github.com/antonprafanto/mobile2026/blob/main/pertemuan_15_build_rilis_dan_finalisasi/LATIHAN.md" TargetMode="External"/><Relationship Id="rId6" Type="http://schemas.openxmlformats.org/officeDocument/2006/relationships/hyperlink" Target="https://github.com/antonprafanto/mobile2026/blob/main/pertemuan_15_build_rilis_dan_finalisasi/LATIHAN.md" TargetMode="External"/><Relationship Id="rId7" Type="http://schemas.openxmlformats.org/officeDocument/2006/relationships/hyperlink" Target="https://github.com/antonprafanto/mobile2026/blob/main/panduan/05_proyek_akhir.md" TargetMode="External"/><Relationship Id="rId9" Type="http://schemas.openxmlformats.org/officeDocument/2006/relationships/hyperlink" Target="https://github.com/antonprafanto/mobile2026/blob/main/panduan/05_proyek_akhir.md" TargetMode="External"/><Relationship Id="rId2" Type="http://schemas.openxmlformats.org/officeDocument/2006/relationships/image" Target="../media/image-83-1.png"/><Relationship Id="rId5" Type="http://schemas.openxmlformats.org/officeDocument/2006/relationships/image" Target="../media/image-83-2.png"/><Relationship Id="rId8" Type="http://schemas.openxmlformats.org/officeDocument/2006/relationships/image" Target="../media/image-83-3.png"/><Relationship Id="rId10" Type="http://schemas.openxmlformats.org/officeDocument/2006/relationships/image" Target="../media/image-83-3.png"/><Relationship Id="rId11" Type="http://schemas.openxmlformats.org/officeDocument/2006/relationships/slideLayout" Target="../slideLayouts/slideLayout2.xml"/><Relationship Id="rId1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Build, Rilis &amp; Finalisasi Proyek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15  ·  mode build dan --dart-define; nama, versi, ikon, layar pembuka; galat di aplikasi rilis; halaman Tentang, privasi, lisensi; rilis web (GitHub Pages) dan Android (APK, tanda tangan, App Bundle); rilis otomatis dan cek pembaruan; toko aplikasi; finalisasi proyek akhir</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Membedakan mode debug, profile, dan release, termasuk yang hilang dan berubah saat rilis</a:t>
            </a:r>
            <a:endParaRPr lang="en-US" sz="1900" dirty="0"/>
          </a:p>
        </p:txBody>
      </p:sp>
      <p:sp>
        <p:nvSpPr>
          <p:cNvPr id="8" name="lingkaran centang"/>
          <p:cNvSpPr/>
          <p:nvPr/>
        </p:nvSpPr>
        <p:spPr>
          <a:xfrm>
            <a:off x="548640" y="2871216"/>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001975"/>
            <a:ext cx="332842" cy="332842"/>
          </a:xfrm>
          <a:prstGeom prst="rect">
            <a:avLst/>
          </a:prstGeom>
        </p:spPr>
      </p:pic>
      <p:sp>
        <p:nvSpPr>
          <p:cNvPr id="10" name="Text 5"/>
          <p:cNvSpPr txBox="1"/>
          <p:nvPr/>
        </p:nvSpPr>
        <p:spPr>
          <a:xfrm>
            <a:off x="1325880" y="2779776"/>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Memberi konfigurasi saat run/build dengan --dart-define dan membacanya dengan aman</a:t>
            </a:r>
            <a:endParaRPr lang="en-US" sz="1900" dirty="0"/>
          </a:p>
        </p:txBody>
      </p:sp>
      <p:sp>
        <p:nvSpPr>
          <p:cNvPr id="11" name="lingkaran centang"/>
          <p:cNvSpPr/>
          <p:nvPr/>
        </p:nvSpPr>
        <p:spPr>
          <a:xfrm>
            <a:off x="548640" y="3730752"/>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3861511"/>
            <a:ext cx="332842" cy="332842"/>
          </a:xfrm>
          <a:prstGeom prst="rect">
            <a:avLst/>
          </a:prstGeom>
        </p:spPr>
      </p:pic>
      <p:sp>
        <p:nvSpPr>
          <p:cNvPr id="13" name="Text 7"/>
          <p:cNvSpPr txBox="1"/>
          <p:nvPr/>
        </p:nvSpPr>
        <p:spPr>
          <a:xfrm>
            <a:off x="1325880" y="3639312"/>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Menyiapkan identitas: nama tampilan, application ID, versi, ikon adaptif, layar pembuka</a:t>
            </a:r>
            <a:endParaRPr lang="en-US" sz="1900" dirty="0"/>
          </a:p>
        </p:txBody>
      </p:sp>
      <p:sp>
        <p:nvSpPr>
          <p:cNvPr id="14" name="lingkaran centang"/>
          <p:cNvSpPr/>
          <p:nvPr/>
        </p:nvSpPr>
        <p:spPr>
          <a:xfrm>
            <a:off x="548640" y="4590288"/>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79399" y="4721047"/>
            <a:ext cx="332842" cy="332842"/>
          </a:xfrm>
          <a:prstGeom prst="rect">
            <a:avLst/>
          </a:prstGeom>
        </p:spPr>
      </p:pic>
      <p:sp>
        <p:nvSpPr>
          <p:cNvPr id="16" name="Text 9"/>
          <p:cNvSpPr txBox="1"/>
          <p:nvPr/>
        </p:nvSpPr>
        <p:spPr>
          <a:xfrm>
            <a:off x="1325880" y="4498848"/>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Memasang jaring pengaman galat dan pengganti layar merah yang ramah</a:t>
            </a:r>
            <a:endParaRPr lang="en-US" sz="1900" dirty="0"/>
          </a:p>
        </p:txBody>
      </p:sp>
      <p:sp>
        <p:nvSpPr>
          <p:cNvPr id="17" name="lingkaran centang"/>
          <p:cNvSpPr/>
          <p:nvPr/>
        </p:nvSpPr>
        <p:spPr>
          <a:xfrm>
            <a:off x="548640" y="5449824"/>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79399" y="5580583"/>
            <a:ext cx="332842" cy="332842"/>
          </a:xfrm>
          <a:prstGeom prst="rect">
            <a:avLst/>
          </a:prstGeom>
        </p:spPr>
      </p:pic>
      <p:sp>
        <p:nvSpPr>
          <p:cNvPr id="19" name="Text 11"/>
          <p:cNvSpPr txBox="1"/>
          <p:nvPr/>
        </p:nvSpPr>
        <p:spPr>
          <a:xfrm>
            <a:off x="1325880" y="5358384"/>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halaman Tentang: versi, atribusi data, kebijakan privasi, lisensi</a:t>
            </a:r>
            <a:endParaRPr lang="en-US" sz="1900" dirty="0"/>
          </a:p>
        </p:txBody>
      </p:sp>
      <p:sp>
        <p:nvSpPr>
          <p:cNvPr id="20" name="lingkaran centang"/>
          <p:cNvSpPr/>
          <p:nvPr/>
        </p:nvSpPr>
        <p:spPr>
          <a:xfrm>
            <a:off x="6278728" y="201168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2142439"/>
            <a:ext cx="332842" cy="332842"/>
          </a:xfrm>
          <a:prstGeom prst="rect">
            <a:avLst/>
          </a:prstGeom>
        </p:spPr>
      </p:pic>
      <p:sp>
        <p:nvSpPr>
          <p:cNvPr id="22" name="Text 13"/>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Mem-build dan menguji rilis web, lalu menerbitkannya di GitHub Pages</a:t>
            </a:r>
            <a:endParaRPr lang="en-US" sz="1900" dirty="0"/>
          </a:p>
        </p:txBody>
      </p:sp>
      <p:sp>
        <p:nvSpPr>
          <p:cNvPr id="23" name="lingkaran centang"/>
          <p:cNvSpPr/>
          <p:nvPr/>
        </p:nvSpPr>
        <p:spPr>
          <a:xfrm>
            <a:off x="6278728" y="2871216"/>
            <a:ext cx="594360" cy="594360"/>
          </a:xfrm>
          <a:prstGeom prst="ellipse">
            <a:avLst/>
          </a:prstGeom>
          <a:solidFill>
            <a:schemeClr val="accent4"/>
          </a:solidFill>
          <a:ln/>
        </p:spPr>
      </p:sp>
      <p:pic>
        <p:nvPicPr>
          <p:cNvPr id="24" name="Image 6" descr="centang">    </p:cNvPr>
          <p:cNvPicPr>
            <a:picLocks noChangeAspect="1"/>
          </p:cNvPicPr>
          <p:nvPr/>
        </p:nvPicPr>
        <p:blipFill>
          <a:blip r:embed="rId7"/>
          <a:stretch>
            <a:fillRect/>
          </a:stretch>
        </p:blipFill>
        <p:spPr>
          <a:xfrm>
            <a:off x="6409487" y="3001975"/>
            <a:ext cx="332842" cy="332842"/>
          </a:xfrm>
          <a:prstGeom prst="rect">
            <a:avLst/>
          </a:prstGeom>
        </p:spPr>
      </p:pic>
      <p:sp>
        <p:nvSpPr>
          <p:cNvPr id="25" name="Text 15"/>
          <p:cNvSpPr txBox="1"/>
          <p:nvPr/>
        </p:nvSpPr>
        <p:spPr>
          <a:xfrm>
            <a:off x="7055968" y="2779776"/>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Mem-build APK dan App Bundle, memasangnya, dan menandatanganinya dengan kunci unggah</a:t>
            </a:r>
            <a:endParaRPr lang="en-US" sz="1900" dirty="0"/>
          </a:p>
        </p:txBody>
      </p:sp>
      <p:sp>
        <p:nvSpPr>
          <p:cNvPr id="26" name="lingkaran centang"/>
          <p:cNvSpPr/>
          <p:nvPr/>
        </p:nvSpPr>
        <p:spPr>
          <a:xfrm>
            <a:off x="6278728" y="3730752"/>
            <a:ext cx="594360" cy="594360"/>
          </a:xfrm>
          <a:prstGeom prst="ellipse">
            <a:avLst/>
          </a:prstGeom>
          <a:solidFill>
            <a:schemeClr val="accent4"/>
          </a:solidFill>
          <a:ln/>
        </p:spPr>
      </p:sp>
      <p:pic>
        <p:nvPicPr>
          <p:cNvPr id="27" name="Image 7" descr="centang">    </p:cNvPr>
          <p:cNvPicPr>
            <a:picLocks noChangeAspect="1"/>
          </p:cNvPicPr>
          <p:nvPr/>
        </p:nvPicPr>
        <p:blipFill>
          <a:blip r:embed="rId8"/>
          <a:stretch>
            <a:fillRect/>
          </a:stretch>
        </p:blipFill>
        <p:spPr>
          <a:xfrm>
            <a:off x="6409487" y="3861511"/>
            <a:ext cx="332842" cy="332842"/>
          </a:xfrm>
          <a:prstGeom prst="rect">
            <a:avLst/>
          </a:prstGeom>
        </p:spPr>
      </p:pic>
      <p:sp>
        <p:nvSpPr>
          <p:cNvPr id="28" name="Text 17"/>
          <p:cNvSpPr txBox="1"/>
          <p:nvPr/>
        </p:nvSpPr>
        <p:spPr>
          <a:xfrm>
            <a:off x="7055968" y="3639312"/>
            <a:ext cx="4587088" cy="777240"/>
          </a:xfrm>
          <a:prstGeom prst="rect">
            <a:avLst/>
          </a:prstGeom>
          <a:noFill/>
          <a:ln/>
        </p:spPr>
        <p:txBody>
          <a:bodyPr wrap="square" lIns="0" tIns="0" rIns="0" bIns="0" rtlCol="0" anchor="ctr"/>
          <a:lstStyle/>
          <a:p>
            <a:pPr indent="0" marL="0">
              <a:buNone/>
            </a:pPr>
            <a:r>
              <a:rPr lang="en-US" sz="1900" dirty="0">
                <a:solidFill>
                  <a:schemeClr val="tx1"/>
                </a:solidFill>
              </a:rPr>
              <a:t>Merilis otomatis dengan tag Git dan GitHub Actions, plus cek pembaruan</a:t>
            </a:r>
            <a:endParaRPr lang="en-US" sz="1900" dirty="0"/>
          </a:p>
        </p:txBody>
      </p:sp>
      <p:sp>
        <p:nvSpPr>
          <p:cNvPr id="29" name="lingkaran centang"/>
          <p:cNvSpPr/>
          <p:nvPr/>
        </p:nvSpPr>
        <p:spPr>
          <a:xfrm>
            <a:off x="6278728" y="4590288"/>
            <a:ext cx="594360" cy="594360"/>
          </a:xfrm>
          <a:prstGeom prst="ellipse">
            <a:avLst/>
          </a:prstGeom>
          <a:solidFill>
            <a:schemeClr val="accent4"/>
          </a:solidFill>
          <a:ln/>
        </p:spPr>
      </p:sp>
      <p:pic>
        <p:nvPicPr>
          <p:cNvPr id="30" name="Image 8" descr="centang">    </p:cNvPr>
          <p:cNvPicPr>
            <a:picLocks noChangeAspect="1"/>
          </p:cNvPicPr>
          <p:nvPr/>
        </p:nvPicPr>
        <p:blipFill>
          <a:blip r:embed="rId9"/>
          <a:stretch>
            <a:fillRect/>
          </a:stretch>
        </p:blipFill>
        <p:spPr>
          <a:xfrm>
            <a:off x="6409487" y="4721047"/>
            <a:ext cx="332842" cy="332842"/>
          </a:xfrm>
          <a:prstGeom prst="rect">
            <a:avLst/>
          </a:prstGeom>
        </p:spPr>
      </p:pic>
      <p:sp>
        <p:nvSpPr>
          <p:cNvPr id="31" name="Text 19"/>
          <p:cNvSpPr txBox="1"/>
          <p:nvPr/>
        </p:nvSpPr>
        <p:spPr>
          <a:xfrm>
            <a:off x="7055968" y="4498848"/>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Memeriksa ukuran, kecepatan, dan keamanan; mengenal Google Play dan App Store</a:t>
            </a:r>
            <a:endParaRPr lang="en-US" sz="1900" dirty="0"/>
          </a:p>
        </p:txBody>
      </p:sp>
      <p:sp>
        <p:nvSpPr>
          <p:cNvPr id="32" name="lingkaran centang"/>
          <p:cNvSpPr/>
          <p:nvPr/>
        </p:nvSpPr>
        <p:spPr>
          <a:xfrm>
            <a:off x="6278728" y="5449824"/>
            <a:ext cx="594360" cy="594360"/>
          </a:xfrm>
          <a:prstGeom prst="ellipse">
            <a:avLst/>
          </a:prstGeom>
          <a:solidFill>
            <a:schemeClr val="accent4"/>
          </a:solidFill>
          <a:ln/>
        </p:spPr>
      </p:sp>
      <p:pic>
        <p:nvPicPr>
          <p:cNvPr id="33" name="Image 9" descr="centang">    </p:cNvPr>
          <p:cNvPicPr>
            <a:picLocks noChangeAspect="1"/>
          </p:cNvPicPr>
          <p:nvPr/>
        </p:nvPicPr>
        <p:blipFill>
          <a:blip r:embed="rId10"/>
          <a:stretch>
            <a:fillRect/>
          </a:stretch>
        </p:blipFill>
        <p:spPr>
          <a:xfrm>
            <a:off x="6409487" y="5580583"/>
            <a:ext cx="332842" cy="332842"/>
          </a:xfrm>
          <a:prstGeom prst="rect">
            <a:avLst/>
          </a:prstGeom>
        </p:spPr>
      </p:pic>
      <p:sp>
        <p:nvSpPr>
          <p:cNvPr id="34" name="Text 21"/>
          <p:cNvSpPr txBox="1"/>
          <p:nvPr/>
        </p:nvSpPr>
        <p:spPr>
          <a:xfrm>
            <a:off x="7055968" y="5358384"/>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Menyelesaikan finalisasi proyek akhir: daftar periksa, README, CHANGELOG, demo UAS</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582369" cy="3566160"/>
          </a:xfrm>
          <a:prstGeom prst="roundRect">
            <a:avLst>
              <a:gd name="adj" fmla="val 8668"/>
            </a:avLst>
          </a:prstGeom>
          <a:solidFill>
            <a:schemeClr val="bg2"/>
          </a:solidFill>
          <a:ln/>
        </p:spPr>
      </p:sp>
      <p:sp>
        <p:nvSpPr>
          <p:cNvPr id="5" name="lingkaran setel"/>
          <p:cNvSpPr/>
          <p:nvPr/>
        </p:nvSpPr>
        <p:spPr>
          <a:xfrm>
            <a:off x="905485" y="2103120"/>
            <a:ext cx="868680" cy="868680"/>
          </a:xfrm>
          <a:prstGeom prst="ellipse">
            <a:avLst/>
          </a:prstGeom>
          <a:solidFill>
            <a:schemeClr val="accent1"/>
          </a:solidFill>
          <a:ln/>
        </p:spPr>
      </p:sp>
      <p:pic>
        <p:nvPicPr>
          <p:cNvPr id="6" name="Image 0" descr="setel">    </p:cNvPr>
          <p:cNvPicPr>
            <a:picLocks noChangeAspect="1"/>
          </p:cNvPicPr>
          <p:nvPr/>
        </p:nvPicPr>
        <p:blipFill>
          <a:blip r:embed="rId1"/>
          <a:stretch>
            <a:fillRect/>
          </a:stretch>
        </p:blipFill>
        <p:spPr>
          <a:xfrm>
            <a:off x="1096594"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308049" cy="777240"/>
          </a:xfrm>
          <a:prstGeom prst="rect">
            <a:avLst/>
          </a:prstGeom>
          <a:noFill/>
          <a:ln/>
        </p:spPr>
        <p:txBody>
          <a:bodyPr wrap="square" lIns="0" tIns="0" rIns="0" bIns="0" rtlCol="0" anchor="t"/>
          <a:lstStyle/>
          <a:p>
            <a:pPr algn="ctr" indent="0" marL="0">
              <a:buNone/>
            </a:pPr>
            <a:r>
              <a:rPr lang="en-US" sz="1600" b="1" dirty="0">
                <a:solidFill>
                  <a:schemeClr val="tx2"/>
                </a:solidFill>
              </a:rPr>
              <a:t>A. Mode dan konfigurasi</a:t>
            </a:r>
            <a:endParaRPr lang="en-US" sz="1600" dirty="0"/>
          </a:p>
        </p:txBody>
      </p:sp>
      <p:sp>
        <p:nvSpPr>
          <p:cNvPr id="9" name="Text 5"/>
          <p:cNvSpPr txBox="1"/>
          <p:nvPr/>
        </p:nvSpPr>
        <p:spPr>
          <a:xfrm>
            <a:off x="685800"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Debug, profile, release; --dart-define (Bagian 1–3)</a:t>
            </a:r>
            <a:endParaRPr lang="en-US" sz="1400" dirty="0"/>
          </a:p>
        </p:txBody>
      </p:sp>
      <p:sp>
        <p:nvSpPr>
          <p:cNvPr id="10" name="Shape 6"/>
          <p:cNvSpPr/>
          <p:nvPr/>
        </p:nvSpPr>
        <p:spPr>
          <a:xfrm>
            <a:off x="2167585" y="2395728"/>
            <a:ext cx="246888" cy="274320"/>
          </a:xfrm>
          <a:prstGeom prst="rightArrow">
            <a:avLst/>
          </a:prstGeom>
          <a:solidFill>
            <a:schemeClr val="accent2"/>
          </a:solidFill>
          <a:ln/>
        </p:spPr>
      </p:sp>
      <p:sp>
        <p:nvSpPr>
          <p:cNvPr id="11" name="langkah 2"/>
          <p:cNvSpPr/>
          <p:nvPr/>
        </p:nvSpPr>
        <p:spPr>
          <a:xfrm>
            <a:off x="2451049" y="1828800"/>
            <a:ext cx="1582369" cy="3566160"/>
          </a:xfrm>
          <a:prstGeom prst="roundRect">
            <a:avLst>
              <a:gd name="adj" fmla="val 8668"/>
            </a:avLst>
          </a:prstGeom>
          <a:solidFill>
            <a:schemeClr val="bg2"/>
          </a:solidFill>
          <a:ln/>
        </p:spPr>
      </p:sp>
      <p:sp>
        <p:nvSpPr>
          <p:cNvPr id="12" name="lingkaran label"/>
          <p:cNvSpPr/>
          <p:nvPr/>
        </p:nvSpPr>
        <p:spPr>
          <a:xfrm>
            <a:off x="2807894" y="2103120"/>
            <a:ext cx="868680" cy="868680"/>
          </a:xfrm>
          <a:prstGeom prst="ellipse">
            <a:avLst/>
          </a:prstGeom>
          <a:solidFill>
            <a:schemeClr val="accent1"/>
          </a:solidFill>
          <a:ln/>
        </p:spPr>
      </p:sp>
      <p:pic>
        <p:nvPicPr>
          <p:cNvPr id="13" name="Image 1" descr="label">    </p:cNvPr>
          <p:cNvPicPr>
            <a:picLocks noChangeAspect="1"/>
          </p:cNvPicPr>
          <p:nvPr/>
        </p:nvPicPr>
        <p:blipFill>
          <a:blip r:embed="rId2"/>
          <a:stretch>
            <a:fillRect/>
          </a:stretch>
        </p:blipFill>
        <p:spPr>
          <a:xfrm>
            <a:off x="2999003" y="2294230"/>
            <a:ext cx="486461" cy="486461"/>
          </a:xfrm>
          <a:prstGeom prst="rect">
            <a:avLst/>
          </a:prstGeom>
        </p:spPr>
      </p:pic>
      <p:sp>
        <p:nvSpPr>
          <p:cNvPr id="14" name="Text 9"/>
          <p:cNvSpPr txBox="1"/>
          <p:nvPr/>
        </p:nvSpPr>
        <p:spPr>
          <a:xfrm>
            <a:off x="2560777"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588209"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B. Identitas</a:t>
            </a:r>
            <a:endParaRPr lang="en-US" sz="1700" dirty="0"/>
          </a:p>
        </p:txBody>
      </p:sp>
      <p:sp>
        <p:nvSpPr>
          <p:cNvPr id="16" name="Text 11"/>
          <p:cNvSpPr txBox="1"/>
          <p:nvPr/>
        </p:nvSpPr>
        <p:spPr>
          <a:xfrm>
            <a:off x="2588209"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Nama, ID, versi, ikon, layar pembuka (4–6)</a:t>
            </a:r>
            <a:endParaRPr lang="en-US" sz="1400" dirty="0"/>
          </a:p>
        </p:txBody>
      </p:sp>
      <p:sp>
        <p:nvSpPr>
          <p:cNvPr id="17" name="Shape 12"/>
          <p:cNvSpPr/>
          <p:nvPr/>
        </p:nvSpPr>
        <p:spPr>
          <a:xfrm>
            <a:off x="4069994" y="2395728"/>
            <a:ext cx="246888" cy="274320"/>
          </a:xfrm>
          <a:prstGeom prst="rightArrow">
            <a:avLst/>
          </a:prstGeom>
          <a:solidFill>
            <a:schemeClr val="accent2"/>
          </a:solidFill>
          <a:ln/>
        </p:spPr>
      </p:sp>
      <p:sp>
        <p:nvSpPr>
          <p:cNvPr id="18" name="langkah 3"/>
          <p:cNvSpPr/>
          <p:nvPr/>
        </p:nvSpPr>
        <p:spPr>
          <a:xfrm>
            <a:off x="4353458" y="1828800"/>
            <a:ext cx="1582369" cy="3566160"/>
          </a:xfrm>
          <a:prstGeom prst="roundRect">
            <a:avLst>
              <a:gd name="adj" fmla="val 8668"/>
            </a:avLst>
          </a:prstGeom>
          <a:solidFill>
            <a:schemeClr val="bg2"/>
          </a:solidFill>
          <a:ln/>
        </p:spPr>
      </p:sp>
      <p:sp>
        <p:nvSpPr>
          <p:cNvPr id="19" name="lingkaran perisai"/>
          <p:cNvSpPr/>
          <p:nvPr/>
        </p:nvSpPr>
        <p:spPr>
          <a:xfrm>
            <a:off x="4710303" y="2103120"/>
            <a:ext cx="868680" cy="868680"/>
          </a:xfrm>
          <a:prstGeom prst="ellipse">
            <a:avLst/>
          </a:prstGeom>
          <a:solidFill>
            <a:schemeClr val="accent1"/>
          </a:solidFill>
          <a:ln/>
        </p:spPr>
      </p:sp>
      <p:pic>
        <p:nvPicPr>
          <p:cNvPr id="20" name="Image 2" descr="perisai">    </p:cNvPr>
          <p:cNvPicPr>
            <a:picLocks noChangeAspect="1"/>
          </p:cNvPicPr>
          <p:nvPr/>
        </p:nvPicPr>
        <p:blipFill>
          <a:blip r:embed="rId3"/>
          <a:stretch>
            <a:fillRect/>
          </a:stretch>
        </p:blipFill>
        <p:spPr>
          <a:xfrm>
            <a:off x="4901413" y="2294230"/>
            <a:ext cx="486461" cy="486461"/>
          </a:xfrm>
          <a:prstGeom prst="rect">
            <a:avLst/>
          </a:prstGeom>
        </p:spPr>
      </p:pic>
      <p:sp>
        <p:nvSpPr>
          <p:cNvPr id="21" name="Text 15"/>
          <p:cNvSpPr txBox="1"/>
          <p:nvPr/>
        </p:nvSpPr>
        <p:spPr>
          <a:xfrm>
            <a:off x="446318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449061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C. Siap rilis dari dalam</a:t>
            </a:r>
            <a:endParaRPr lang="en-US" sz="1700" dirty="0"/>
          </a:p>
        </p:txBody>
      </p:sp>
      <p:sp>
        <p:nvSpPr>
          <p:cNvPr id="23" name="Text 17"/>
          <p:cNvSpPr txBox="1"/>
          <p:nvPr/>
        </p:nvSpPr>
        <p:spPr>
          <a:xfrm>
            <a:off x="449061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Galat, Tentang, privasi, lisensi (7–8)</a:t>
            </a:r>
            <a:endParaRPr lang="en-US" sz="1400" dirty="0"/>
          </a:p>
        </p:txBody>
      </p:sp>
      <p:sp>
        <p:nvSpPr>
          <p:cNvPr id="24" name="Shape 18"/>
          <p:cNvSpPr/>
          <p:nvPr/>
        </p:nvSpPr>
        <p:spPr>
          <a:xfrm>
            <a:off x="5972404" y="2395728"/>
            <a:ext cx="246888" cy="274320"/>
          </a:xfrm>
          <a:prstGeom prst="rightArrow">
            <a:avLst/>
          </a:prstGeom>
          <a:solidFill>
            <a:schemeClr val="accent2"/>
          </a:solidFill>
          <a:ln/>
        </p:spPr>
      </p:sp>
      <p:sp>
        <p:nvSpPr>
          <p:cNvPr id="25" name="langkah 4"/>
          <p:cNvSpPr/>
          <p:nvPr/>
        </p:nvSpPr>
        <p:spPr>
          <a:xfrm>
            <a:off x="6255868" y="1828800"/>
            <a:ext cx="1582369" cy="3566160"/>
          </a:xfrm>
          <a:prstGeom prst="roundRect">
            <a:avLst>
              <a:gd name="adj" fmla="val 8668"/>
            </a:avLst>
          </a:prstGeom>
          <a:solidFill>
            <a:schemeClr val="bg2"/>
          </a:solidFill>
          <a:ln/>
        </p:spPr>
      </p:sp>
      <p:sp>
        <p:nvSpPr>
          <p:cNvPr id="26" name="lingkaran unduh"/>
          <p:cNvSpPr/>
          <p:nvPr/>
        </p:nvSpPr>
        <p:spPr>
          <a:xfrm>
            <a:off x="6612712" y="2103120"/>
            <a:ext cx="868680" cy="868680"/>
          </a:xfrm>
          <a:prstGeom prst="ellipse">
            <a:avLst/>
          </a:prstGeom>
          <a:solidFill>
            <a:schemeClr val="accent5"/>
          </a:solidFill>
          <a:ln/>
        </p:spPr>
      </p:sp>
      <p:pic>
        <p:nvPicPr>
          <p:cNvPr id="27" name="Image 3" descr="unduh">    </p:cNvPr>
          <p:cNvPicPr>
            <a:picLocks noChangeAspect="1"/>
          </p:cNvPicPr>
          <p:nvPr/>
        </p:nvPicPr>
        <p:blipFill>
          <a:blip r:embed="rId4"/>
          <a:stretch>
            <a:fillRect/>
          </a:stretch>
        </p:blipFill>
        <p:spPr>
          <a:xfrm>
            <a:off x="6803822" y="2294230"/>
            <a:ext cx="486461" cy="486461"/>
          </a:xfrm>
          <a:prstGeom prst="rect">
            <a:avLst/>
          </a:prstGeom>
        </p:spPr>
      </p:pic>
      <p:sp>
        <p:nvSpPr>
          <p:cNvPr id="28" name="Text 21"/>
          <p:cNvSpPr txBox="1"/>
          <p:nvPr/>
        </p:nvSpPr>
        <p:spPr>
          <a:xfrm>
            <a:off x="636559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639302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D. Rilis web dan Android</a:t>
            </a:r>
            <a:endParaRPr lang="en-US" sz="1700" dirty="0"/>
          </a:p>
        </p:txBody>
      </p:sp>
      <p:sp>
        <p:nvSpPr>
          <p:cNvPr id="30" name="Text 23"/>
          <p:cNvSpPr txBox="1"/>
          <p:nvPr/>
        </p:nvSpPr>
        <p:spPr>
          <a:xfrm>
            <a:off x="639302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GitHub Pages, APK, tanda tangan, AAB (9–11)</a:t>
            </a:r>
            <a:endParaRPr lang="en-US" sz="1400" dirty="0"/>
          </a:p>
        </p:txBody>
      </p:sp>
      <p:sp>
        <p:nvSpPr>
          <p:cNvPr id="31" name="Shape 24"/>
          <p:cNvSpPr/>
          <p:nvPr/>
        </p:nvSpPr>
        <p:spPr>
          <a:xfrm>
            <a:off x="7874813" y="2395728"/>
            <a:ext cx="246888" cy="274320"/>
          </a:xfrm>
          <a:prstGeom prst="rightArrow">
            <a:avLst/>
          </a:prstGeom>
          <a:solidFill>
            <a:schemeClr val="accent2"/>
          </a:solidFill>
          <a:ln/>
        </p:spPr>
      </p:sp>
      <p:sp>
        <p:nvSpPr>
          <p:cNvPr id="32" name="langkah 5"/>
          <p:cNvSpPr/>
          <p:nvPr/>
        </p:nvSpPr>
        <p:spPr>
          <a:xfrm>
            <a:off x="8158277" y="1828800"/>
            <a:ext cx="1582369" cy="3566160"/>
          </a:xfrm>
          <a:prstGeom prst="roundRect">
            <a:avLst>
              <a:gd name="adj" fmla="val 8668"/>
            </a:avLst>
          </a:prstGeom>
          <a:solidFill>
            <a:schemeClr val="bg2"/>
          </a:solidFill>
          <a:ln/>
        </p:spPr>
      </p:sp>
      <p:sp>
        <p:nvSpPr>
          <p:cNvPr id="33" name="lingkaran sinkron"/>
          <p:cNvSpPr/>
          <p:nvPr/>
        </p:nvSpPr>
        <p:spPr>
          <a:xfrm>
            <a:off x="8515121" y="2103120"/>
            <a:ext cx="868680" cy="868680"/>
          </a:xfrm>
          <a:prstGeom prst="ellipse">
            <a:avLst/>
          </a:prstGeom>
          <a:solidFill>
            <a:schemeClr val="accent5"/>
          </a:solidFill>
          <a:ln/>
        </p:spPr>
      </p:sp>
      <p:pic>
        <p:nvPicPr>
          <p:cNvPr id="34" name="Image 4" descr="sinkron">    </p:cNvPr>
          <p:cNvPicPr>
            <a:picLocks noChangeAspect="1"/>
          </p:cNvPicPr>
          <p:nvPr/>
        </p:nvPicPr>
        <p:blipFill>
          <a:blip r:embed="rId5"/>
          <a:stretch>
            <a:fillRect/>
          </a:stretch>
        </p:blipFill>
        <p:spPr>
          <a:xfrm>
            <a:off x="8706231" y="2294230"/>
            <a:ext cx="486461" cy="486461"/>
          </a:xfrm>
          <a:prstGeom prst="rect">
            <a:avLst/>
          </a:prstGeom>
        </p:spPr>
      </p:pic>
      <p:sp>
        <p:nvSpPr>
          <p:cNvPr id="35" name="Text 27"/>
          <p:cNvSpPr txBox="1"/>
          <p:nvPr/>
        </p:nvSpPr>
        <p:spPr>
          <a:xfrm>
            <a:off x="8268005"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8295437"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E. Rilis otomatis</a:t>
            </a:r>
            <a:endParaRPr lang="en-US" sz="1700" dirty="0"/>
          </a:p>
        </p:txBody>
      </p:sp>
      <p:sp>
        <p:nvSpPr>
          <p:cNvPr id="37" name="Text 29"/>
          <p:cNvSpPr txBox="1"/>
          <p:nvPr/>
        </p:nvSpPr>
        <p:spPr>
          <a:xfrm>
            <a:off x="8295437"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Tag, GitHub Releases, cek pembaruan (12–13)</a:t>
            </a:r>
            <a:endParaRPr lang="en-US" sz="1400" dirty="0"/>
          </a:p>
        </p:txBody>
      </p:sp>
      <p:sp>
        <p:nvSpPr>
          <p:cNvPr id="38" name="Shape 30"/>
          <p:cNvSpPr/>
          <p:nvPr/>
        </p:nvSpPr>
        <p:spPr>
          <a:xfrm>
            <a:off x="9777222" y="2395728"/>
            <a:ext cx="246888" cy="274320"/>
          </a:xfrm>
          <a:prstGeom prst="rightArrow">
            <a:avLst/>
          </a:prstGeom>
          <a:solidFill>
            <a:schemeClr val="accent2"/>
          </a:solidFill>
          <a:ln/>
        </p:spPr>
      </p:sp>
      <p:sp>
        <p:nvSpPr>
          <p:cNvPr id="39" name="langkah 6"/>
          <p:cNvSpPr/>
          <p:nvPr/>
        </p:nvSpPr>
        <p:spPr>
          <a:xfrm>
            <a:off x="10060686" y="1828800"/>
            <a:ext cx="1582369" cy="3566160"/>
          </a:xfrm>
          <a:prstGeom prst="roundRect">
            <a:avLst>
              <a:gd name="adj" fmla="val 8668"/>
            </a:avLst>
          </a:prstGeom>
          <a:solidFill>
            <a:schemeClr val="bg2"/>
          </a:solidFill>
          <a:ln/>
        </p:spPr>
      </p:sp>
      <p:sp>
        <p:nvSpPr>
          <p:cNvPr id="40" name="lingkaran centang"/>
          <p:cNvSpPr/>
          <p:nvPr/>
        </p:nvSpPr>
        <p:spPr>
          <a:xfrm>
            <a:off x="10417531" y="2103120"/>
            <a:ext cx="868680" cy="868680"/>
          </a:xfrm>
          <a:prstGeom prst="ellipse">
            <a:avLst/>
          </a:prstGeom>
          <a:solidFill>
            <a:schemeClr val="accent4"/>
          </a:solidFill>
          <a:ln/>
        </p:spPr>
      </p:sp>
      <p:pic>
        <p:nvPicPr>
          <p:cNvPr id="41" name="Image 5" descr="centang">    </p:cNvPr>
          <p:cNvPicPr>
            <a:picLocks noChangeAspect="1"/>
          </p:cNvPicPr>
          <p:nvPr/>
        </p:nvPicPr>
        <p:blipFill>
          <a:blip r:embed="rId6"/>
          <a:stretch>
            <a:fillRect/>
          </a:stretch>
        </p:blipFill>
        <p:spPr>
          <a:xfrm>
            <a:off x="10608640" y="2294230"/>
            <a:ext cx="486461" cy="486461"/>
          </a:xfrm>
          <a:prstGeom prst="rect">
            <a:avLst/>
          </a:prstGeom>
        </p:spPr>
      </p:pic>
      <p:sp>
        <p:nvSpPr>
          <p:cNvPr id="42" name="Text 33"/>
          <p:cNvSpPr txBox="1"/>
          <p:nvPr/>
        </p:nvSpPr>
        <p:spPr>
          <a:xfrm>
            <a:off x="10170414"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6</a:t>
            </a:r>
            <a:endParaRPr lang="en-US" sz="1400" dirty="0"/>
          </a:p>
        </p:txBody>
      </p:sp>
      <p:sp>
        <p:nvSpPr>
          <p:cNvPr id="43" name="Text 34"/>
          <p:cNvSpPr txBox="1"/>
          <p:nvPr/>
        </p:nvSpPr>
        <p:spPr>
          <a:xfrm>
            <a:off x="10197846" y="3108960"/>
            <a:ext cx="1308049" cy="777240"/>
          </a:xfrm>
          <a:prstGeom prst="rect">
            <a:avLst/>
          </a:prstGeom>
          <a:noFill/>
          <a:ln/>
        </p:spPr>
        <p:txBody>
          <a:bodyPr wrap="square" lIns="0" tIns="0" rIns="0" bIns="0" rtlCol="0" anchor="t"/>
          <a:lstStyle/>
          <a:p>
            <a:pPr algn="ctr" indent="0" marL="0">
              <a:buNone/>
            </a:pPr>
            <a:r>
              <a:rPr lang="en-US" sz="1600" b="1" dirty="0">
                <a:solidFill>
                  <a:schemeClr val="tx2"/>
                </a:solidFill>
              </a:rPr>
              <a:t>F. Pemeriksaan akhir</a:t>
            </a:r>
            <a:endParaRPr lang="en-US" sz="1600" dirty="0"/>
          </a:p>
        </p:txBody>
      </p:sp>
      <p:sp>
        <p:nvSpPr>
          <p:cNvPr id="44" name="Text 35"/>
          <p:cNvSpPr txBox="1"/>
          <p:nvPr/>
        </p:nvSpPr>
        <p:spPr>
          <a:xfrm>
            <a:off x="10197846"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Ukuran, keamanan, toko, proyek akhir (14–17)</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Kode Contoh dan Templat Hari Ini</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58447"/>
                <a:gridCol w="5134605"/>
                <a:gridCol w="3300818"/>
                <a:gridCol w="2200545"/>
              </a:tblGrid>
              <a:tr h="47548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Berkas</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Isi</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Jalan di</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75488">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contoh_01_versi_dan_nomor_build_dart_murni.dart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Mengurai, membandingkan, menaikkan versi</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DartPad, dart run</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02</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contoh_02_mode_build_dan_konfigurasi.dart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"Info Build": mode, assert, --dart-define</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DartPad, proyek</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03</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contoh_03_menangani_galat_di_rilis.dart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"Uji Galat": jaring pengaman galat</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DartPad, proyek</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04</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contoh_04_halaman_tentang_dan_lisensi.dart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Halaman Tentang "Cuaca Kampus"</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DartPad, proyek</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contoh_05_cek_pembaruan.dart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"Jadwal Kuliah": lima skenario server</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DartPad, proyek</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06</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contoh_06_pemeriksa_kesiapan_rilis_dart_murni.dart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Daftar periksa rilis sebagai program</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DartPad, dart run</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07</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contoh_07_studi_kasus_cuaca_kampus_siap_rilis.dart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Studi kasus "Cuaca Kampus 1.0.0"</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DartPad, proyek</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000" dirty="0">
                          <a:solidFill>
                            <a:srgbClr val="1B2333"/>
                          </a:solidFill>
                          <a:latin typeface="Consolas" pitchFamily="34" charset="0"/>
                          <a:ea typeface="Consolas" pitchFamily="34" charset="-122"/>
                          <a:cs typeface="Consolas" pitchFamily="34" charset="-120"/>
                        </a:rPr>
                        <a:t>templat/: web.yml, rilis.yml, README_PROYEK.md, CHANGELOG.md, KEBIJAKAN_PRIVASI.md</a:t>
                      </a:r>
                      <a:endParaRPr lang="en-US" sz="10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Siap salin ke proyek Anda</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Repositori Anda</a:t>
                      </a:r>
                      <a:endParaRPr lang="en-US" sz="12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Dari "Jalan di Laptop" ke "Siap Dibagikan"</a:t>
            </a:r>
            <a:endParaRPr lang="en-US" sz="4000" dirty="0"/>
          </a:p>
        </p:txBody>
      </p:sp>
      <p:sp>
        <p:nvSpPr>
          <p:cNvPr id="5" name="lingkaran restoran"/>
          <p:cNvSpPr/>
          <p:nvPr/>
        </p:nvSpPr>
        <p:spPr>
          <a:xfrm>
            <a:off x="1097280" y="2148840"/>
            <a:ext cx="2011680" cy="2011680"/>
          </a:xfrm>
          <a:prstGeom prst="ellipse">
            <a:avLst/>
          </a:prstGeom>
          <a:solidFill>
            <a:schemeClr val="accent1"/>
          </a:solidFill>
          <a:ln/>
        </p:spPr>
      </p:sp>
      <p:pic>
        <p:nvPicPr>
          <p:cNvPr id="6" name="Image 0" descr="restor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Dapur Sendiri vs Warung</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Memasak di dapur sendiri berbeda dengan membuka warung. Begitu juga aplikasi yang dibagikan:</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4767848"/>
                <a:gridCol w="5134605"/>
                <a:gridCol w="1191962"/>
              </a:tblGrid>
              <a:tr h="53035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 warung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 aplikasi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Bagian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3035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Papan nama dan logo</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Nama aplikasi, ikon, application ID</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4, 6</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Nomor edisi menu ("menu baru mulai 1 November")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Nomor versi dan nomor build</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Masakan dikemas rapi, bukan dari wajan langsung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Build rilis: lebih kecil, lebih cepat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2, 9–11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Segel kemasan, agar yakin tidak ditukar orang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Tanda tangan digital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Daftar komposisi dan asal bahan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Atribusi data, lisensi, kebijakan privasi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Pelayan tetap sopan saat ada yang salah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Pesan galat yang ramah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Pengumuman "ada menu baru"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Catatan rilis dan cek pembaruan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12, 13</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Apa yang Berbeda saat Aplikasi Dibagikan?</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17439"/>
                <a:gridCol w="3850954"/>
                <a:gridCol w="4126022"/>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Saat flutter run (debug)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Saat dibagikan (rilis)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Hot reload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Ada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ada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Kecepatan dan ukuran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Bisa tersendat; besar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Lancar; jauh lebih kecil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Galat saat membangun widget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Layar MERAH berisi pesan lengkap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Kotak ABU-ABU tanpa keterangan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assert(...)</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Diperiksa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DILEWATI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Izin internet di Android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Ada otomatis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Hanya jika ditulis sendiri (10.2)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Tanda tangan digital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Kunci debug otomatis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Kunci milik Anda (Bagian 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Nama di HP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tugas_kuliahku</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Seharusnya "Tugas Kuliahku"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Aplikasi yang lancar saat flutter run belum tentu lancar saat dibagikan. Build rilis harus DIUJI SENDIRI sebelum diberikan kepada orang lain.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 Mana Aplikasi Dirilis?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58992"/>
                <a:gridCol w="2934060"/>
                <a:gridCol w="3300818"/>
                <a:gridCol w="2200545"/>
              </a:tblGrid>
              <a:tr h="7772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Jalur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Hasil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Cara orang lain memakainya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Biaya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Web di GitHub Pages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akun.github.io/nama-repo/</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Membuka tautan di browser HP atau laptop</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Gratis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APK di GitHub Releases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Berkas .apk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Mengunduh, lalu memasang di HP Android</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Gratis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Toko aplikasi (Google Play, App Store)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Halaman aplikasi di toko</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Memasang dari toko, diperbarui otomatis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Berbayar + peninjauan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Proyek akhir: versi web dan/atau APK sesuai arahan dosen. Google Play TIDAK wajib; langkahnya dibahas di Bagian 15 sebagai gambaran.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Perjalanan Rilis</a:t>
            </a:r>
            <a:endParaRPr lang="en-US" sz="3200" dirty="0"/>
          </a:p>
        </p:txBody>
      </p:sp>
      <p:sp>
        <p:nvSpPr>
          <p:cNvPr id="4" name="langkah 1"/>
          <p:cNvSpPr/>
          <p:nvPr/>
        </p:nvSpPr>
        <p:spPr>
          <a:xfrm>
            <a:off x="548640" y="1828800"/>
            <a:ext cx="1582369" cy="3566160"/>
          </a:xfrm>
          <a:prstGeom prst="roundRect">
            <a:avLst>
              <a:gd name="adj" fmla="val 8668"/>
            </a:avLst>
          </a:prstGeom>
          <a:solidFill>
            <a:schemeClr val="bg2"/>
          </a:solidFill>
          <a:ln/>
        </p:spPr>
      </p:sp>
      <p:sp>
        <p:nvSpPr>
          <p:cNvPr id="5" name="lingkaran centang"/>
          <p:cNvSpPr/>
          <p:nvPr/>
        </p:nvSpPr>
        <p:spPr>
          <a:xfrm>
            <a:off x="905485" y="2103120"/>
            <a:ext cx="868680" cy="868680"/>
          </a:xfrm>
          <a:prstGeom prst="ellipse">
            <a:avLst/>
          </a:prstGeom>
          <a:solidFill>
            <a:schemeClr val="accent1"/>
          </a:solidFill>
          <a:ln/>
        </p:spPr>
      </p:sp>
      <p:pic>
        <p:nvPicPr>
          <p:cNvPr id="6" name="Image 0" descr="centang">    </p:cNvPr>
          <p:cNvPicPr>
            <a:picLocks noChangeAspect="1"/>
          </p:cNvPicPr>
          <p:nvPr/>
        </p:nvPicPr>
        <p:blipFill>
          <a:blip r:embed="rId1"/>
          <a:stretch>
            <a:fillRect/>
          </a:stretch>
        </p:blipFill>
        <p:spPr>
          <a:xfrm>
            <a:off x="1096594"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Kode selesai</a:t>
            </a:r>
            <a:endParaRPr lang="en-US" sz="1700" dirty="0"/>
          </a:p>
        </p:txBody>
      </p:sp>
      <p:sp>
        <p:nvSpPr>
          <p:cNvPr id="9" name="Text 5"/>
          <p:cNvSpPr txBox="1"/>
          <p:nvPr/>
        </p:nvSpPr>
        <p:spPr>
          <a:xfrm>
            <a:off x="685800"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Fitur lengkap, tes lulus</a:t>
            </a:r>
            <a:endParaRPr lang="en-US" sz="1400" dirty="0"/>
          </a:p>
        </p:txBody>
      </p:sp>
      <p:sp>
        <p:nvSpPr>
          <p:cNvPr id="10" name="Shape 6"/>
          <p:cNvSpPr/>
          <p:nvPr/>
        </p:nvSpPr>
        <p:spPr>
          <a:xfrm>
            <a:off x="2167585" y="2395728"/>
            <a:ext cx="246888" cy="274320"/>
          </a:xfrm>
          <a:prstGeom prst="rightArrow">
            <a:avLst/>
          </a:prstGeom>
          <a:solidFill>
            <a:schemeClr val="accent2"/>
          </a:solidFill>
          <a:ln/>
        </p:spPr>
      </p:sp>
      <p:sp>
        <p:nvSpPr>
          <p:cNvPr id="11" name="langkah 2"/>
          <p:cNvSpPr/>
          <p:nvPr/>
        </p:nvSpPr>
        <p:spPr>
          <a:xfrm>
            <a:off x="2451049" y="1828800"/>
            <a:ext cx="1582369" cy="3566160"/>
          </a:xfrm>
          <a:prstGeom prst="roundRect">
            <a:avLst>
              <a:gd name="adj" fmla="val 8668"/>
            </a:avLst>
          </a:prstGeom>
          <a:solidFill>
            <a:schemeClr val="bg2"/>
          </a:solidFill>
          <a:ln/>
        </p:spPr>
      </p:sp>
      <p:sp>
        <p:nvSpPr>
          <p:cNvPr id="12" name="lingkaran label"/>
          <p:cNvSpPr/>
          <p:nvPr/>
        </p:nvSpPr>
        <p:spPr>
          <a:xfrm>
            <a:off x="2807894" y="2103120"/>
            <a:ext cx="868680" cy="868680"/>
          </a:xfrm>
          <a:prstGeom prst="ellipse">
            <a:avLst/>
          </a:prstGeom>
          <a:solidFill>
            <a:schemeClr val="accent1"/>
          </a:solidFill>
          <a:ln/>
        </p:spPr>
      </p:sp>
      <p:pic>
        <p:nvPicPr>
          <p:cNvPr id="13" name="Image 1" descr="label">    </p:cNvPr>
          <p:cNvPicPr>
            <a:picLocks noChangeAspect="1"/>
          </p:cNvPicPr>
          <p:nvPr/>
        </p:nvPicPr>
        <p:blipFill>
          <a:blip r:embed="rId2"/>
          <a:stretch>
            <a:fillRect/>
          </a:stretch>
        </p:blipFill>
        <p:spPr>
          <a:xfrm>
            <a:off x="2999003" y="2294230"/>
            <a:ext cx="486461" cy="486461"/>
          </a:xfrm>
          <a:prstGeom prst="rect">
            <a:avLst/>
          </a:prstGeom>
        </p:spPr>
      </p:pic>
      <p:sp>
        <p:nvSpPr>
          <p:cNvPr id="14" name="Text 9"/>
          <p:cNvSpPr txBox="1"/>
          <p:nvPr/>
        </p:nvSpPr>
        <p:spPr>
          <a:xfrm>
            <a:off x="2560777"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588209"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Identitas</a:t>
            </a:r>
            <a:endParaRPr lang="en-US" sz="1700" dirty="0"/>
          </a:p>
        </p:txBody>
      </p:sp>
      <p:sp>
        <p:nvSpPr>
          <p:cNvPr id="16" name="Text 11"/>
          <p:cNvSpPr txBox="1"/>
          <p:nvPr/>
        </p:nvSpPr>
        <p:spPr>
          <a:xfrm>
            <a:off x="2588209"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Nama, ID, versi, ikon</a:t>
            </a:r>
            <a:endParaRPr lang="en-US" sz="1400" dirty="0"/>
          </a:p>
        </p:txBody>
      </p:sp>
      <p:sp>
        <p:nvSpPr>
          <p:cNvPr id="17" name="Shape 12"/>
          <p:cNvSpPr/>
          <p:nvPr/>
        </p:nvSpPr>
        <p:spPr>
          <a:xfrm>
            <a:off x="4069994" y="2395728"/>
            <a:ext cx="246888" cy="274320"/>
          </a:xfrm>
          <a:prstGeom prst="rightArrow">
            <a:avLst/>
          </a:prstGeom>
          <a:solidFill>
            <a:schemeClr val="accent2"/>
          </a:solidFill>
          <a:ln/>
        </p:spPr>
      </p:sp>
      <p:sp>
        <p:nvSpPr>
          <p:cNvPr id="18" name="langkah 3"/>
          <p:cNvSpPr/>
          <p:nvPr/>
        </p:nvSpPr>
        <p:spPr>
          <a:xfrm>
            <a:off x="4353458" y="1828800"/>
            <a:ext cx="1582369" cy="3566160"/>
          </a:xfrm>
          <a:prstGeom prst="roundRect">
            <a:avLst>
              <a:gd name="adj" fmla="val 8668"/>
            </a:avLst>
          </a:prstGeom>
          <a:solidFill>
            <a:schemeClr val="bg2"/>
          </a:solidFill>
          <a:ln/>
        </p:spPr>
      </p:sp>
      <p:sp>
        <p:nvSpPr>
          <p:cNvPr id="19" name="lingkaran perisai"/>
          <p:cNvSpPr/>
          <p:nvPr/>
        </p:nvSpPr>
        <p:spPr>
          <a:xfrm>
            <a:off x="4710303" y="2103120"/>
            <a:ext cx="868680" cy="868680"/>
          </a:xfrm>
          <a:prstGeom prst="ellipse">
            <a:avLst/>
          </a:prstGeom>
          <a:solidFill>
            <a:schemeClr val="accent1"/>
          </a:solidFill>
          <a:ln/>
        </p:spPr>
      </p:sp>
      <p:pic>
        <p:nvPicPr>
          <p:cNvPr id="20" name="Image 2" descr="perisai">    </p:cNvPr>
          <p:cNvPicPr>
            <a:picLocks noChangeAspect="1"/>
          </p:cNvPicPr>
          <p:nvPr/>
        </p:nvPicPr>
        <p:blipFill>
          <a:blip r:embed="rId3"/>
          <a:stretch>
            <a:fillRect/>
          </a:stretch>
        </p:blipFill>
        <p:spPr>
          <a:xfrm>
            <a:off x="4901413" y="2294230"/>
            <a:ext cx="486461" cy="486461"/>
          </a:xfrm>
          <a:prstGeom prst="rect">
            <a:avLst/>
          </a:prstGeom>
        </p:spPr>
      </p:pic>
      <p:sp>
        <p:nvSpPr>
          <p:cNvPr id="21" name="Text 15"/>
          <p:cNvSpPr txBox="1"/>
          <p:nvPr/>
        </p:nvSpPr>
        <p:spPr>
          <a:xfrm>
            <a:off x="446318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449061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Siap rilis dari dalam</a:t>
            </a:r>
            <a:endParaRPr lang="en-US" sz="1700" dirty="0"/>
          </a:p>
        </p:txBody>
      </p:sp>
      <p:sp>
        <p:nvSpPr>
          <p:cNvPr id="23" name="Text 17"/>
          <p:cNvSpPr txBox="1"/>
          <p:nvPr/>
        </p:nvSpPr>
        <p:spPr>
          <a:xfrm>
            <a:off x="449061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Konfigurasi, galat, halaman Tentang</a:t>
            </a:r>
            <a:endParaRPr lang="en-US" sz="1400" dirty="0"/>
          </a:p>
        </p:txBody>
      </p:sp>
      <p:sp>
        <p:nvSpPr>
          <p:cNvPr id="24" name="Shape 18"/>
          <p:cNvSpPr/>
          <p:nvPr/>
        </p:nvSpPr>
        <p:spPr>
          <a:xfrm>
            <a:off x="5972404" y="2395728"/>
            <a:ext cx="246888" cy="274320"/>
          </a:xfrm>
          <a:prstGeom prst="rightArrow">
            <a:avLst/>
          </a:prstGeom>
          <a:solidFill>
            <a:schemeClr val="accent2"/>
          </a:solidFill>
          <a:ln/>
        </p:spPr>
      </p:sp>
      <p:sp>
        <p:nvSpPr>
          <p:cNvPr id="25" name="langkah 4"/>
          <p:cNvSpPr/>
          <p:nvPr/>
        </p:nvSpPr>
        <p:spPr>
          <a:xfrm>
            <a:off x="6255868" y="1828800"/>
            <a:ext cx="1582369" cy="3566160"/>
          </a:xfrm>
          <a:prstGeom prst="roundRect">
            <a:avLst>
              <a:gd name="adj" fmla="val 8668"/>
            </a:avLst>
          </a:prstGeom>
          <a:solidFill>
            <a:schemeClr val="bg2"/>
          </a:solidFill>
          <a:ln/>
        </p:spPr>
      </p:sp>
      <p:sp>
        <p:nvSpPr>
          <p:cNvPr id="26" name="lingkaran jalankan"/>
          <p:cNvSpPr/>
          <p:nvPr/>
        </p:nvSpPr>
        <p:spPr>
          <a:xfrm>
            <a:off x="6612712" y="2103120"/>
            <a:ext cx="868680" cy="868680"/>
          </a:xfrm>
          <a:prstGeom prst="ellipse">
            <a:avLst/>
          </a:prstGeom>
          <a:solidFill>
            <a:schemeClr val="accent1"/>
          </a:solidFill>
          <a:ln/>
        </p:spPr>
      </p:sp>
      <p:pic>
        <p:nvPicPr>
          <p:cNvPr id="27" name="Image 3" descr="jalankan">    </p:cNvPr>
          <p:cNvPicPr>
            <a:picLocks noChangeAspect="1"/>
          </p:cNvPicPr>
          <p:nvPr/>
        </p:nvPicPr>
        <p:blipFill>
          <a:blip r:embed="rId4"/>
          <a:stretch>
            <a:fillRect/>
          </a:stretch>
        </p:blipFill>
        <p:spPr>
          <a:xfrm>
            <a:off x="6803822" y="2294230"/>
            <a:ext cx="486461" cy="486461"/>
          </a:xfrm>
          <a:prstGeom prst="rect">
            <a:avLst/>
          </a:prstGeom>
        </p:spPr>
      </p:pic>
      <p:sp>
        <p:nvSpPr>
          <p:cNvPr id="28" name="Text 21"/>
          <p:cNvSpPr txBox="1"/>
          <p:nvPr/>
        </p:nvSpPr>
        <p:spPr>
          <a:xfrm>
            <a:off x="636559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639302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Build dan uji rilis</a:t>
            </a:r>
            <a:endParaRPr lang="en-US" sz="1700" dirty="0"/>
          </a:p>
        </p:txBody>
      </p:sp>
      <p:sp>
        <p:nvSpPr>
          <p:cNvPr id="30" name="Text 23"/>
          <p:cNvSpPr txBox="1"/>
          <p:nvPr/>
        </p:nvSpPr>
        <p:spPr>
          <a:xfrm>
            <a:off x="639302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Web, APK, AAB; diuji di Chrome dan HP</a:t>
            </a:r>
            <a:endParaRPr lang="en-US" sz="1400" dirty="0"/>
          </a:p>
        </p:txBody>
      </p:sp>
      <p:sp>
        <p:nvSpPr>
          <p:cNvPr id="31" name="Shape 24"/>
          <p:cNvSpPr/>
          <p:nvPr/>
        </p:nvSpPr>
        <p:spPr>
          <a:xfrm>
            <a:off x="7874813" y="2395728"/>
            <a:ext cx="246888" cy="274320"/>
          </a:xfrm>
          <a:prstGeom prst="rightArrow">
            <a:avLst/>
          </a:prstGeom>
          <a:solidFill>
            <a:schemeClr val="accent2"/>
          </a:solidFill>
          <a:ln/>
        </p:spPr>
      </p:sp>
      <p:sp>
        <p:nvSpPr>
          <p:cNvPr id="32" name="langkah 5"/>
          <p:cNvSpPr/>
          <p:nvPr/>
        </p:nvSpPr>
        <p:spPr>
          <a:xfrm>
            <a:off x="8158277" y="1828800"/>
            <a:ext cx="1582369" cy="3566160"/>
          </a:xfrm>
          <a:prstGeom prst="roundRect">
            <a:avLst>
              <a:gd name="adj" fmla="val 8668"/>
            </a:avLst>
          </a:prstGeom>
          <a:solidFill>
            <a:schemeClr val="bg2"/>
          </a:solidFill>
          <a:ln/>
        </p:spPr>
      </p:sp>
      <p:sp>
        <p:nvSpPr>
          <p:cNvPr id="33" name="lingkaran kirim"/>
          <p:cNvSpPr/>
          <p:nvPr/>
        </p:nvSpPr>
        <p:spPr>
          <a:xfrm>
            <a:off x="8515121" y="2103120"/>
            <a:ext cx="868680" cy="868680"/>
          </a:xfrm>
          <a:prstGeom prst="ellipse">
            <a:avLst/>
          </a:prstGeom>
          <a:solidFill>
            <a:schemeClr val="accent5"/>
          </a:solidFill>
          <a:ln/>
        </p:spPr>
      </p:sp>
      <p:pic>
        <p:nvPicPr>
          <p:cNvPr id="34" name="Image 4" descr="kirim">    </p:cNvPr>
          <p:cNvPicPr>
            <a:picLocks noChangeAspect="1"/>
          </p:cNvPicPr>
          <p:nvPr/>
        </p:nvPicPr>
        <p:blipFill>
          <a:blip r:embed="rId5"/>
          <a:stretch>
            <a:fillRect/>
          </a:stretch>
        </p:blipFill>
        <p:spPr>
          <a:xfrm>
            <a:off x="8706231" y="2294230"/>
            <a:ext cx="486461" cy="486461"/>
          </a:xfrm>
          <a:prstGeom prst="rect">
            <a:avLst/>
          </a:prstGeom>
        </p:spPr>
      </p:pic>
      <p:sp>
        <p:nvSpPr>
          <p:cNvPr id="35" name="Text 27"/>
          <p:cNvSpPr txBox="1"/>
          <p:nvPr/>
        </p:nvSpPr>
        <p:spPr>
          <a:xfrm>
            <a:off x="8268005"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8295437"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Terbitkan, umumkan</a:t>
            </a:r>
            <a:endParaRPr lang="en-US" sz="1700" dirty="0"/>
          </a:p>
        </p:txBody>
      </p:sp>
      <p:sp>
        <p:nvSpPr>
          <p:cNvPr id="37" name="Text 29"/>
          <p:cNvSpPr txBox="1"/>
          <p:nvPr/>
        </p:nvSpPr>
        <p:spPr>
          <a:xfrm>
            <a:off x="8295437"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GitHub Pages, Releases, README, catatan rilis</a:t>
            </a:r>
            <a:endParaRPr lang="en-US" sz="1400" dirty="0"/>
          </a:p>
        </p:txBody>
      </p:sp>
      <p:sp>
        <p:nvSpPr>
          <p:cNvPr id="38" name="Shape 30"/>
          <p:cNvSpPr/>
          <p:nvPr/>
        </p:nvSpPr>
        <p:spPr>
          <a:xfrm>
            <a:off x="9777222" y="2395728"/>
            <a:ext cx="246888" cy="274320"/>
          </a:xfrm>
          <a:prstGeom prst="rightArrow">
            <a:avLst/>
          </a:prstGeom>
          <a:solidFill>
            <a:schemeClr val="accent2"/>
          </a:solidFill>
          <a:ln/>
        </p:spPr>
      </p:sp>
      <p:sp>
        <p:nvSpPr>
          <p:cNvPr id="39" name="langkah 6"/>
          <p:cNvSpPr/>
          <p:nvPr/>
        </p:nvSpPr>
        <p:spPr>
          <a:xfrm>
            <a:off x="10060686" y="1828800"/>
            <a:ext cx="1582369" cy="3566160"/>
          </a:xfrm>
          <a:prstGeom prst="roundRect">
            <a:avLst>
              <a:gd name="adj" fmla="val 8668"/>
            </a:avLst>
          </a:prstGeom>
          <a:solidFill>
            <a:schemeClr val="bg2"/>
          </a:solidFill>
          <a:ln/>
        </p:spPr>
      </p:sp>
      <p:sp>
        <p:nvSpPr>
          <p:cNvPr id="40" name="lingkaran ulang"/>
          <p:cNvSpPr/>
          <p:nvPr/>
        </p:nvSpPr>
        <p:spPr>
          <a:xfrm>
            <a:off x="10417531" y="2103120"/>
            <a:ext cx="868680" cy="868680"/>
          </a:xfrm>
          <a:prstGeom prst="ellipse">
            <a:avLst/>
          </a:prstGeom>
          <a:solidFill>
            <a:schemeClr val="accent4"/>
          </a:solidFill>
          <a:ln/>
        </p:spPr>
      </p:sp>
      <p:pic>
        <p:nvPicPr>
          <p:cNvPr id="41" name="Image 5" descr="ulang">    </p:cNvPr>
          <p:cNvPicPr>
            <a:picLocks noChangeAspect="1"/>
          </p:cNvPicPr>
          <p:nvPr/>
        </p:nvPicPr>
        <p:blipFill>
          <a:blip r:embed="rId6"/>
          <a:stretch>
            <a:fillRect/>
          </a:stretch>
        </p:blipFill>
        <p:spPr>
          <a:xfrm>
            <a:off x="10608640" y="2294230"/>
            <a:ext cx="486461" cy="486461"/>
          </a:xfrm>
          <a:prstGeom prst="rect">
            <a:avLst/>
          </a:prstGeom>
        </p:spPr>
      </p:pic>
      <p:sp>
        <p:nvSpPr>
          <p:cNvPr id="42" name="Text 33"/>
          <p:cNvSpPr txBox="1"/>
          <p:nvPr/>
        </p:nvSpPr>
        <p:spPr>
          <a:xfrm>
            <a:off x="10170414"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6</a:t>
            </a:r>
            <a:endParaRPr lang="en-US" sz="1400" dirty="0"/>
          </a:p>
        </p:txBody>
      </p:sp>
      <p:sp>
        <p:nvSpPr>
          <p:cNvPr id="43" name="Text 34"/>
          <p:cNvSpPr txBox="1"/>
          <p:nvPr/>
        </p:nvSpPr>
        <p:spPr>
          <a:xfrm>
            <a:off x="10197846"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Pantau, perbaiki</a:t>
            </a:r>
            <a:endParaRPr lang="en-US" sz="1700" dirty="0"/>
          </a:p>
        </p:txBody>
      </p:sp>
      <p:sp>
        <p:nvSpPr>
          <p:cNvPr id="44" name="Text 35"/>
          <p:cNvSpPr txBox="1"/>
          <p:nvPr/>
        </p:nvSpPr>
        <p:spPr>
          <a:xfrm>
            <a:off x="10197846"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Naikkan versi, lalu kembali ke build</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Tiga Mode Build: Debug, Profile, Release</a:t>
            </a:r>
            <a:endParaRPr lang="en-US" sz="4000" dirty="0"/>
          </a:p>
        </p:txBody>
      </p:sp>
      <p:sp>
        <p:nvSpPr>
          <p:cNvPr id="5" name="lingkaran setel"/>
          <p:cNvSpPr/>
          <p:nvPr/>
        </p:nvSpPr>
        <p:spPr>
          <a:xfrm>
            <a:off x="1097280" y="2148840"/>
            <a:ext cx="2011680" cy="2011680"/>
          </a:xfrm>
          <a:prstGeom prst="ellipse">
            <a:avLst/>
          </a:prstGeom>
          <a:solidFill>
            <a:schemeClr val="accent1"/>
          </a:solidFill>
          <a:ln/>
        </p:spPr>
      </p:sp>
      <p:pic>
        <p:nvPicPr>
          <p:cNvPr id="6" name="Image 0" descr="setel">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Mode, Tiga Tujuan</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467030"/>
                <a:gridCol w="2567303"/>
                <a:gridCol w="3300818"/>
                <a:gridCol w="3759265"/>
              </a:tblGrid>
              <a:tr h="9144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Untuk apa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Cara menjalankan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Ciri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91440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Debug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Membuat dan memperbaiki aplikasi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flutter run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Hot reload, debugger, pesan galat lengkap, assert diperiksa. Bisa tersendat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91440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Profile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Mengukur kecepatan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flutter run --profile</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Hampir secepat rilis; DevTools masih bisa membaca kinerjanya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91440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Release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Dibagikan ke pengguna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flutter run --release</a:t>
                      </a:r>
                      <a:endParaRPr lang="en-US" sz="1500" dirty="0">
                        <a:latin typeface="Consolas" charset="0"/>
                        <a:ea typeface="Consolas" charset="0"/>
                        <a:cs typeface="Consolas" charset="0"/>
                      </a:endParaRPr>
                    </a:p>
                    <a:p>
                      <a:pPr indent="0" marL="0">
                        <a:buNone/>
                      </a:pPr>
                      <a:r>
                        <a:rPr lang="en-US" sz="1500" dirty="0">
                          <a:solidFill>
                            <a:srgbClr val="1B2333"/>
                          </a:solidFill>
                          <a:latin typeface="Consolas" pitchFamily="34" charset="0"/>
                          <a:ea typeface="Consolas" pitchFamily="34" charset="-122"/>
                          <a:cs typeface="Consolas" pitchFamily="34" charset="-120"/>
                        </a:rPr>
                        <a:t>flutter build ...</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Paling cepat dan paling kecil. Tanpa hot reload dan alat debugging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Emulator dan simulator hanya mendukung mode debug. Uji mode profile dan release di HP sungguhan atau di Chrome.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Mengenali Mode dari Dalam Kode</a:t>
            </a:r>
            <a:endParaRPr lang="en-US" sz="3200" dirty="0"/>
          </a:p>
        </p:txBody>
      </p:sp>
      <p:sp>
        <p:nvSpPr>
          <p:cNvPr id="4" name="kotak kode"/>
          <p:cNvSpPr txBox="1"/>
          <p:nvPr/>
        </p:nvSpPr>
        <p:spPr>
          <a:xfrm>
            <a:off x="548640" y="1371600"/>
            <a:ext cx="6035040" cy="3227832"/>
          </a:xfrm>
          <a:prstGeom prst="roundRect">
            <a:avLst>
              <a:gd name="adj" fmla="val 2833"/>
            </a:avLst>
          </a:prstGeom>
          <a:solidFill>
            <a:srgbClr val="0E1A2B"/>
          </a:solidFill>
          <a:ln/>
        </p:spPr>
        <p:txBody>
          <a:bodyPr wrap="square" lIns="177800" tIns="152400" rIns="152400" bIns="177800" rtlCol="0" anchor="t"/>
          <a:lstStyle/>
          <a:p>
            <a:pPr indent="0" marL="0">
              <a:lnSpc>
                <a:spcPct val="105000"/>
              </a:lnSpc>
              <a:buNone/>
            </a:pPr>
            <a:r>
              <a:rPr lang="en-US" sz="1600" dirty="0">
                <a:solidFill>
                  <a:srgbClr val="C792EA"/>
                </a:solidFill>
                <a:latin typeface="Consolas" pitchFamily="34" charset="0"/>
                <a:ea typeface="Consolas" pitchFamily="34" charset="-122"/>
                <a:cs typeface="Consolas" pitchFamily="34" charset="-120"/>
              </a:rPr>
              <a:t>import</a:t>
            </a:r>
            <a:r>
              <a:rPr lang="en-US" sz="1600" dirty="0">
                <a:solidFill>
                  <a:srgbClr val="E6EDF3"/>
                </a:solidFill>
                <a:latin typeface="Consolas" pitchFamily="34" charset="0"/>
                <a:ea typeface="Consolas" pitchFamily="34" charset="-122"/>
                <a:cs typeface="Consolas" pitchFamily="34" charset="-120"/>
              </a:rPr>
              <a:t> </a:t>
            </a:r>
            <a:r>
              <a:rPr lang="en-US" sz="1600" dirty="0">
                <a:solidFill>
                  <a:srgbClr val="C3E88D"/>
                </a:solidFill>
                <a:latin typeface="Consolas" pitchFamily="34" charset="0"/>
                <a:ea typeface="Consolas" pitchFamily="34" charset="-122"/>
                <a:cs typeface="Consolas" pitchFamily="34" charset="-120"/>
              </a:rPr>
              <a:t>'package:flutter/foundation.dart'</a:t>
            </a:r>
            <a:r>
              <a:rPr lang="en-US" sz="1600" dirty="0">
                <a:solidFill>
                  <a:srgbClr val="E6EDF3"/>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i="1" dirty="0">
                <a:solidFill>
                  <a:srgbClr val="8FA3BC"/>
                </a:solidFill>
                <a:latin typeface="Consolas" pitchFamily="34" charset="0"/>
                <a:ea typeface="Consolas" pitchFamily="34" charset="-122"/>
                <a:cs typeface="Consolas" pitchFamily="34" charset="-120"/>
              </a:rPr>
              <a:t>// kDebugMode, kProfileMode, kReleaseMode:</a:t>
            </a:r>
            <a:endParaRPr lang="en-US" sz="1600" dirty="0"/>
          </a:p>
          <a:p>
            <a:pPr indent="0" marL="0">
              <a:lnSpc>
                <a:spcPct val="105000"/>
              </a:lnSpc>
              <a:buNone/>
            </a:pPr>
            <a:r>
              <a:rPr lang="en-US" sz="1600" i="1" dirty="0">
                <a:solidFill>
                  <a:srgbClr val="8FA3BC"/>
                </a:solidFill>
                <a:latin typeface="Consolas" pitchFamily="34" charset="0"/>
                <a:ea typeface="Consolas" pitchFamily="34" charset="-122"/>
                <a:cs typeface="Consolas" pitchFamily="34" charset="-120"/>
              </a:rPr>
              <a:t>// konstanta waktu kompilasi.</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i="1" dirty="0">
                <a:solidFill>
                  <a:srgbClr val="8FA3BC"/>
                </a:solidFill>
                <a:latin typeface="Consolas" pitchFamily="34" charset="0"/>
                <a:ea typeface="Consolas" pitchFamily="34" charset="-122"/>
                <a:cs typeface="Consolas" pitchFamily="34" charset="-120"/>
              </a:rPr>
              <a:t>/// Log yang HANYA ada di mode debug.</a:t>
            </a:r>
            <a:endParaRPr lang="en-US" sz="1600" dirty="0"/>
          </a:p>
          <a:p>
            <a:pPr indent="0" marL="0">
              <a:lnSpc>
                <a:spcPct val="105000"/>
              </a:lnSpc>
              <a:buNone/>
            </a:pPr>
            <a:r>
              <a:rPr lang="en-US" sz="1600" dirty="0">
                <a:solidFill>
                  <a:srgbClr val="C792EA"/>
                </a:solidFill>
                <a:latin typeface="Consolas" pitchFamily="34" charset="0"/>
                <a:ea typeface="Consolas" pitchFamily="34" charset="-122"/>
                <a:cs typeface="Consolas" pitchFamily="34" charset="-120"/>
              </a:rPr>
              <a:t>void</a:t>
            </a:r>
            <a:r>
              <a:rPr lang="en-US" sz="1600" dirty="0">
                <a:solidFill>
                  <a:srgbClr val="E6EDF3"/>
                </a:solidFill>
                <a:latin typeface="Consolas" pitchFamily="34" charset="0"/>
                <a:ea typeface="Consolas" pitchFamily="34" charset="-122"/>
                <a:cs typeface="Consolas" pitchFamily="34" charset="-120"/>
              </a:rPr>
              <a:t> catatDebug(</a:t>
            </a:r>
            <a:r>
              <a:rPr lang="en-US" sz="1600" dirty="0">
                <a:solidFill>
                  <a:srgbClr val="FFCB6B"/>
                </a:solidFill>
                <a:latin typeface="Consolas" pitchFamily="34" charset="0"/>
                <a:ea typeface="Consolas" pitchFamily="34" charset="-122"/>
                <a:cs typeface="Consolas" pitchFamily="34" charset="-120"/>
              </a:rPr>
              <a:t>String</a:t>
            </a:r>
            <a:r>
              <a:rPr lang="en-US" sz="1600" dirty="0">
                <a:solidFill>
                  <a:srgbClr val="E6EDF3"/>
                </a:solidFill>
                <a:latin typeface="Consolas" pitchFamily="34" charset="0"/>
                <a:ea typeface="Consolas" pitchFamily="34" charset="-122"/>
                <a:cs typeface="Consolas" pitchFamily="34" charset="-120"/>
              </a:rPr>
              <a:t> pesan) {</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a:t>
            </a:r>
            <a:r>
              <a:rPr lang="en-US" sz="1600" dirty="0">
                <a:solidFill>
                  <a:srgbClr val="C792EA"/>
                </a:solidFill>
                <a:latin typeface="Consolas" pitchFamily="34" charset="0"/>
                <a:ea typeface="Consolas" pitchFamily="34" charset="-122"/>
                <a:cs typeface="Consolas" pitchFamily="34" charset="-120"/>
              </a:rPr>
              <a:t>if</a:t>
            </a:r>
            <a:r>
              <a:rPr lang="en-US" sz="1600" dirty="0">
                <a:solidFill>
                  <a:srgbClr val="E6EDF3"/>
                </a:solidFill>
                <a:latin typeface="Consolas" pitchFamily="34" charset="0"/>
                <a:ea typeface="Consolas" pitchFamily="34" charset="-122"/>
                <a:cs typeface="Consolas" pitchFamily="34" charset="-120"/>
              </a:rPr>
              <a:t> (kDebugMode) {</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debugPrint(</a:t>
            </a:r>
            <a:r>
              <a:rPr lang="en-US" sz="1600" dirty="0">
                <a:solidFill>
                  <a:srgbClr val="C3E88D"/>
                </a:solidFill>
                <a:latin typeface="Consolas" pitchFamily="34" charset="0"/>
                <a:ea typeface="Consolas" pitchFamily="34" charset="-122"/>
                <a:cs typeface="Consolas" pitchFamily="34" charset="-120"/>
              </a:rPr>
              <a:t>'[debug] $pesan'</a:t>
            </a:r>
            <a:r>
              <a:rPr lang="en-US" sz="1600" dirty="0">
                <a:solidFill>
                  <a:srgbClr val="E6EDF3"/>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a:t>
            </a:r>
            <a:endParaRPr lang="en-US" sz="1600" dirty="0"/>
          </a:p>
        </p:txBody>
      </p:sp>
      <p:sp>
        <p:nvSpPr>
          <p:cNvPr id="5"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Nilainya sudah ditetapkan saat build. Di build rilis, kDebugMode pasti false.</a:t>
            </a:r>
            <a:endParaRPr lang="en-US" sz="1700" dirty="0"/>
          </a:p>
          <a:p>
            <a:pPr marL="228600" indent="-228600">
              <a:spcAft>
                <a:spcPts val="800"/>
              </a:spcAft>
              <a:buSzPct val="100000"/>
              <a:buChar char="•"/>
            </a:pPr>
            <a:r>
              <a:rPr lang="en-US" sz="1700" dirty="0">
                <a:solidFill>
                  <a:schemeClr val="tx1"/>
                </a:solidFill>
              </a:rPr>
              <a:t>Compiler pun MEMBUANG seluruh isi if (kDebugMode): tidak memperlambat dan tidak terbawa ke HP pengguna.</a:t>
            </a:r>
            <a:endParaRPr lang="en-US" sz="1700" dirty="0"/>
          </a:p>
          <a:p>
            <a:pPr marL="228600" indent="-228600">
              <a:spcAft>
                <a:spcPts val="800"/>
              </a:spcAft>
              <a:buSzPct val="100000"/>
              <a:buChar char="•"/>
            </a:pPr>
            <a:r>
              <a:rPr lang="en-US" sz="1700" dirty="0">
                <a:solidFill>
                  <a:schemeClr val="tx1"/>
                </a:solidFill>
              </a:rPr>
              <a:t>Awas: debugPrint TIDAK otomatis hilang di build rilis, walaupun namanya diawali "debug".</a:t>
            </a:r>
            <a:endParaRPr lang="en-US" sz="1700" dirty="0"/>
          </a:p>
          <a:p>
            <a:pPr marL="228600" indent="-228600">
              <a:spcAft>
                <a:spcPts val="800"/>
              </a:spcAft>
              <a:buSzPct val="100000"/>
              <a:buChar char="•"/>
            </a:pPr>
            <a:r>
              <a:rPr lang="en-US" sz="1700" dirty="0">
                <a:solidFill>
                  <a:schemeClr val="tx1"/>
                </a:solidFill>
              </a:rPr>
              <a:t>Jangan pernah mencetak data pribadi atau token, bahkan dengan debugPrint. print juga diperingatkan linter (avoid_print).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assert Hanya Diperiksa di Mode Debug</a:t>
            </a:r>
            <a:endParaRPr lang="en-US" sz="3200" dirty="0"/>
          </a:p>
        </p:txBody>
      </p:sp>
      <p:sp>
        <p:nvSpPr>
          <p:cNvPr id="4" name="kotak kode"/>
          <p:cNvSpPr txBox="1"/>
          <p:nvPr/>
        </p:nvSpPr>
        <p:spPr>
          <a:xfrm>
            <a:off x="548640" y="1371600"/>
            <a:ext cx="6400800" cy="2571750"/>
          </a:xfrm>
          <a:prstGeom prst="roundRect">
            <a:avLst>
              <a:gd name="adj" fmla="val 3556"/>
            </a:avLst>
          </a:prstGeom>
          <a:solidFill>
            <a:srgbClr val="0E1A2B"/>
          </a:solidFill>
          <a:ln/>
        </p:spPr>
        <p:txBody>
          <a:bodyPr wrap="square" lIns="177800" tIns="152400" rIns="152400" bIns="177800" rtlCol="0" anchor="t"/>
          <a:lstStyle/>
          <a:p>
            <a:pPr indent="0" marL="0">
              <a:lnSpc>
                <a:spcPct val="105000"/>
              </a:lnSpc>
              <a:buNone/>
            </a:pPr>
            <a:r>
              <a:rPr lang="en-US" sz="1500" dirty="0">
                <a:solidFill>
                  <a:srgbClr val="FFCB6B"/>
                </a:solidFill>
                <a:latin typeface="Consolas" pitchFamily="34" charset="0"/>
                <a:ea typeface="Consolas" pitchFamily="34" charset="-122"/>
                <a:cs typeface="Consolas" pitchFamily="34" charset="-120"/>
              </a:rPr>
              <a:t>bool</a:t>
            </a:r>
            <a:r>
              <a:rPr lang="en-US" sz="1500" dirty="0">
                <a:solidFill>
                  <a:srgbClr val="E6EDF3"/>
                </a:solidFill>
                <a:latin typeface="Consolas" pitchFamily="34" charset="0"/>
                <a:ea typeface="Consolas" pitchFamily="34" charset="-122"/>
                <a:cs typeface="Consolas" pitchFamily="34" charset="-120"/>
              </a:rPr>
              <a:t> _assertDijalankan = </a:t>
            </a:r>
            <a:r>
              <a:rPr lang="en-US" sz="1500" dirty="0">
                <a:solidFill>
                  <a:srgbClr val="C792EA"/>
                </a:solidFill>
                <a:latin typeface="Consolas" pitchFamily="34" charset="0"/>
                <a:ea typeface="Consolas" pitchFamily="34" charset="-122"/>
                <a:cs typeface="Consolas" pitchFamily="34" charset="-120"/>
              </a:rPr>
              <a:t>false</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FFCB6B"/>
                </a:solidFill>
                <a:latin typeface="Consolas" pitchFamily="34" charset="0"/>
                <a:ea typeface="Consolas" pitchFamily="34" charset="-122"/>
                <a:cs typeface="Consolas" pitchFamily="34" charset="-120"/>
              </a:rPr>
              <a:t>bool</a:t>
            </a:r>
            <a:r>
              <a:rPr lang="en-US" sz="1500" dirty="0">
                <a:solidFill>
                  <a:srgbClr val="E6EDF3"/>
                </a:solidFill>
                <a:latin typeface="Consolas" pitchFamily="34" charset="0"/>
                <a:ea typeface="Consolas" pitchFamily="34" charset="-122"/>
                <a:cs typeface="Consolas" pitchFamily="34" charset="-120"/>
              </a:rPr>
              <a:t> _tandaiAssert()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_assertDijalankan = </a:t>
            </a:r>
            <a:r>
              <a:rPr lang="en-US" sz="1500" dirty="0">
                <a:solidFill>
                  <a:srgbClr val="C792EA"/>
                </a:solidFill>
                <a:latin typeface="Consolas" pitchFamily="34" charset="0"/>
                <a:ea typeface="Consolas" pitchFamily="34" charset="-122"/>
                <a:cs typeface="Consolas" pitchFamily="34" charset="-120"/>
              </a:rPr>
              <a:t>true</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return</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true</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Di dalam build():</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assert(_tandaiAssert()); </a:t>
            </a:r>
            <a:r>
              <a:rPr lang="en-US" sz="1500" i="1" dirty="0">
                <a:solidFill>
                  <a:srgbClr val="8FA3BC"/>
                </a:solidFill>
                <a:latin typeface="Consolas" pitchFamily="34" charset="0"/>
                <a:ea typeface="Consolas" pitchFamily="34" charset="-122"/>
                <a:cs typeface="Consolas" pitchFamily="34" charset="-120"/>
              </a:rPr>
              <a:t>// dilewati di build rilis</a:t>
            </a:r>
            <a:endParaRPr lang="en-US" sz="1500" dirty="0"/>
          </a:p>
        </p:txBody>
      </p:sp>
      <p:sp>
        <p:nvSpPr>
          <p:cNvPr id="5"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assert(kondisi): pemeriksaan untuk PENGEMBANG. Jika false, aplikasi berhenti dengan pesan galat.</a:t>
            </a:r>
            <a:endParaRPr lang="en-US" sz="1700" dirty="0"/>
          </a:p>
          <a:p>
            <a:pPr marL="228600" indent="-228600">
              <a:spcAft>
                <a:spcPts val="800"/>
              </a:spcAft>
              <a:buSzPct val="100000"/>
              <a:buChar char="•"/>
            </a:pPr>
            <a:r>
              <a:rPr lang="en-US" sz="1700" dirty="0">
                <a:solidFill>
                  <a:schemeClr val="tx1"/>
                </a:solidFill>
              </a:rPr>
              <a:t>Di build rilis, assert tidak dijalankan sama sekali, TERMASUK fungsi yang dipanggil di dalamnya.</a:t>
            </a:r>
            <a:endParaRPr lang="en-US" sz="1700" dirty="0"/>
          </a:p>
          <a:p>
            <a:pPr marL="228600" indent="-228600">
              <a:spcAft>
                <a:spcPts val="800"/>
              </a:spcAft>
              <a:buSzPct val="100000"/>
              <a:buChar char="•"/>
            </a:pPr>
            <a:r>
              <a:rPr lang="en-US" sz="1700" dirty="0">
                <a:solidFill>
                  <a:schemeClr val="tx1"/>
                </a:solidFill>
              </a:rPr>
              <a:t>Jangan pernah menaruh kode yang HARUS jalan di dalam assert.</a:t>
            </a:r>
            <a:endParaRPr lang="en-US" sz="1700" dirty="0"/>
          </a:p>
          <a:p>
            <a:pPr marL="228600" indent="-228600">
              <a:spcAft>
                <a:spcPts val="800"/>
              </a:spcAft>
              <a:buSzPct val="100000"/>
              <a:buChar char="•"/>
            </a:pPr>
            <a:r>
              <a:rPr lang="en-US" sz="1700" dirty="0">
                <a:solidFill>
                  <a:schemeClr val="tx1"/>
                </a:solidFill>
              </a:rPr>
              <a:t>Contoh 02 memakai sifat ini untuk menunjukkan mode yang sedang aktif.</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Coba Sendiri: Contoh 02 "Info Build"</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2a.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651510"/>
          </a:xfrm>
          <a:prstGeom prst="roundRect">
            <a:avLst>
              <a:gd name="adj" fmla="val 14035"/>
            </a:avLst>
          </a:prstGeom>
          <a:solidFill>
            <a:srgbClr val="0E1A2B"/>
          </a:solidFill>
          <a:ln/>
        </p:spPr>
        <p:txBody>
          <a:bodyPr wrap="square" lIns="177800" tIns="152400" rIns="152400" bIns="177800" rtlCol="0" anchor="t"/>
          <a:lstStyle/>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flutter run -d chrome --release</a:t>
            </a:r>
            <a:endParaRPr lang="en-US" sz="1500" dirty="0"/>
          </a:p>
        </p:txBody>
      </p:sp>
      <p:sp>
        <p:nvSpPr>
          <p:cNvPr id="7" name="tombol tautan">
            <a:hlinkClick r:id="rId2" tooltip="https://github.com/antonprafanto/mobile2026/blob/main/pertemuan_15_build_rilis_dan_finalisasi/kode/contoh_02_mode_build_dan_konfigurasi.dart"/>
          </p:cNvPr>
          <p:cNvSpPr txBox="1"/>
          <p:nvPr/>
        </p:nvSpPr>
        <p:spPr>
          <a:xfrm>
            <a:off x="548640" y="2205990"/>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contoh_02_mode_build_dan_konfigurasi.dart</a:t>
            </a:r>
            <a:endParaRPr lang="en-US" sz="1300" dirty="0"/>
          </a:p>
        </p:txBody>
      </p:sp>
      <p:pic>
        <p:nvPicPr>
          <p:cNvPr id="8" name="Image 1" descr="ikon tautan">
            <a:hlinkClick r:id="rId4" tooltip="https://github.com/antonprafanto/mobile2026/blob/main/pertemuan_15_build_rilis_dan_finalisasi/kode/contoh_02_mode_build_dan_konfigurasi.dart"/>
          </p:cNvPr>
          <p:cNvPicPr>
            <a:picLocks noChangeAspect="1"/>
          </p:cNvPicPr>
          <p:nvPr/>
        </p:nvPicPr>
        <p:blipFill>
          <a:blip r:embed="rId3"/>
          <a:stretch>
            <a:fillRect/>
          </a:stretch>
        </p:blipFill>
        <p:spPr>
          <a:xfrm>
            <a:off x="694944" y="2297430"/>
            <a:ext cx="274320" cy="274320"/>
          </a:xfrm>
          <a:prstGeom prst="rect">
            <a:avLst/>
          </a:prstGeom>
        </p:spPr>
      </p:pic>
      <p:sp>
        <p:nvSpPr>
          <p:cNvPr id="9" name="daftar poin"/>
          <p:cNvSpPr txBox="1"/>
          <p:nvPr/>
        </p:nvSpPr>
        <p:spPr>
          <a:xfrm>
            <a:off x="548640" y="2937510"/>
            <a:ext cx="7608319" cy="328041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DartPad selalu memakai mode debug: layar menulis Mode build: Debug dan assert(): dijalankan.</a:t>
            </a:r>
            <a:endParaRPr lang="en-US" sz="1700" dirty="0"/>
          </a:p>
          <a:p>
            <a:pPr marL="228600" indent="-228600">
              <a:spcAft>
                <a:spcPts val="800"/>
              </a:spcAft>
              <a:buSzPct val="100000"/>
              <a:buChar char="•"/>
            </a:pPr>
            <a:r>
              <a:rPr lang="en-US" sz="1700" dirty="0">
                <a:solidFill>
                  <a:schemeClr val="tx1"/>
                </a:solidFill>
              </a:rPr>
              <a:t>Salin ke proyek latihan, lalu jalankan dengan --release: kini Mode build: Release dan assert(): dilewati.</a:t>
            </a:r>
            <a:endParaRPr lang="en-US" sz="1700" dirty="0"/>
          </a:p>
          <a:p>
            <a:pPr marL="228600" indent="-228600">
              <a:spcAft>
                <a:spcPts val="800"/>
              </a:spcAft>
              <a:buSzPct val="100000"/>
              <a:buChar char="•"/>
            </a:pPr>
            <a:r>
              <a:rPr lang="en-US" sz="1700" dirty="0">
                <a:solidFill>
                  <a:schemeClr val="tx1"/>
                </a:solidFill>
              </a:rPr>
              <a:t>Kode yang sama, hasil berbeda, karena mode build-nya berbeda.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Konfigurasi Tanpa Mengubah Kode: --dart-define</a:t>
            </a:r>
            <a:endParaRPr lang="en-US" sz="4000" dirty="0"/>
          </a:p>
        </p:txBody>
      </p:sp>
      <p:sp>
        <p:nvSpPr>
          <p:cNvPr id="5" name="lingkaran sakelar"/>
          <p:cNvSpPr/>
          <p:nvPr/>
        </p:nvSpPr>
        <p:spPr>
          <a:xfrm>
            <a:off x="1097280" y="2148840"/>
            <a:ext cx="2011680" cy="2011680"/>
          </a:xfrm>
          <a:prstGeom prst="ellipse">
            <a:avLst/>
          </a:prstGeom>
          <a:solidFill>
            <a:schemeClr val="accent1"/>
          </a:solidFill>
          <a:ln/>
        </p:spPr>
      </p:sp>
      <p:pic>
        <p:nvPicPr>
          <p:cNvPr id="6" name="Image 0" descr="sakela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Memberi Nilai dengan --dart-define</a:t>
            </a:r>
            <a:endParaRPr lang="en-US" sz="3200" dirty="0"/>
          </a:p>
        </p:txBody>
      </p:sp>
      <p:sp>
        <p:nvSpPr>
          <p:cNvPr id="4" name="kotak kode"/>
          <p:cNvSpPr txBox="1"/>
          <p:nvPr/>
        </p:nvSpPr>
        <p:spPr>
          <a:xfrm>
            <a:off x="548640" y="1371600"/>
            <a:ext cx="6949440"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Pertemuan 12: SATU baris kode diubah untuk data palsu</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const Lingkungan lingkungan = Lingkungan.produksi;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run -d chrome --dart-define=LINGKUNGAN=pengembangan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build web --dart-define=LINGKUNGAN=produksi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boleh berkali-kali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run -d chrome --dart-define=LINGKUNGAN=pengembangan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--dart-define=LOG_RINCI=true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banyak nilai: kumpulkan di config/pengembangan.json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run -d chrome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--dart-define-from-file=config/pengembangan.json</a:t>
            </a:r>
            <a:endParaRPr lang="en-US" sz="130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Cara lama berbahaya: diubah ke pengembangan untuk mencoba, lupa dikembalikan, lalu APK untuk dosen berisi DATA PALSU.</a:t>
            </a:r>
            <a:endParaRPr lang="en-US" sz="1700" dirty="0"/>
          </a:p>
          <a:p>
            <a:pPr marL="228600" indent="-228600">
              <a:spcAft>
                <a:spcPts val="800"/>
              </a:spcAft>
              <a:buSzPct val="100000"/>
              <a:buChar char="•"/>
            </a:pPr>
            <a:r>
              <a:rPr lang="en-US" sz="1700" dirty="0">
                <a:solidFill>
                  <a:schemeClr val="tx1"/>
                </a:solidFill>
              </a:rPr>
              <a:t>Format: --dart-define=NAMA=nilai. Nama membedakan huruf besar dan kecil.</a:t>
            </a:r>
            <a:endParaRPr lang="en-US" sz="1700" dirty="0"/>
          </a:p>
          <a:p>
            <a:pPr marL="228600" indent="-228600">
              <a:spcAft>
                <a:spcPts val="800"/>
              </a:spcAft>
              <a:buSzPct val="100000"/>
              <a:buChar char="•"/>
            </a:pPr>
            <a:r>
              <a:rPr lang="en-US" sz="1700" dirty="0">
                <a:solidFill>
                  <a:schemeClr val="tx1"/>
                </a:solidFill>
              </a:rPr>
              <a:t>Berkas JSON: { "LINGKUNGAN": "pengembangan", "ALAMAT_API": "http://localhost:8080", "LOG_RINCI": "true" }</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Membaca Nilainya: Wajib const</a:t>
            </a:r>
            <a:endParaRPr lang="en-US" sz="3200" dirty="0"/>
          </a:p>
        </p:txBody>
      </p:sp>
      <p:sp>
        <p:nvSpPr>
          <p:cNvPr id="4" name="kotak kode"/>
          <p:cNvSpPr txBox="1"/>
          <p:nvPr/>
        </p:nvSpPr>
        <p:spPr>
          <a:xfrm>
            <a:off x="548640" y="1371600"/>
            <a:ext cx="6766560" cy="3323844"/>
          </a:xfrm>
          <a:prstGeom prst="roundRect">
            <a:avLst>
              <a:gd name="adj" fmla="val 2751"/>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Kosong / nilai bawaan jika --dart-define tidak diberikan.</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 teksLingkungan = </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.fromEnvironment(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'LINGKUNGAN'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defaultValue: </a:t>
            </a:r>
            <a:r>
              <a:rPr lang="en-US" sz="1300" dirty="0">
                <a:solidFill>
                  <a:srgbClr val="C3E88D"/>
                </a:solidFill>
                <a:latin typeface="Consolas" pitchFamily="34" charset="0"/>
                <a:ea typeface="Consolas" pitchFamily="34" charset="-122"/>
                <a:cs typeface="Consolas" pitchFamily="34" charset="-120"/>
              </a:rPr>
              <a:t>'produksi'</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bool</a:t>
            </a:r>
            <a:r>
              <a:rPr lang="en-US" sz="1300" dirty="0">
                <a:solidFill>
                  <a:srgbClr val="E6EDF3"/>
                </a:solidFill>
                <a:latin typeface="Consolas" pitchFamily="34" charset="0"/>
                <a:ea typeface="Consolas" pitchFamily="34" charset="-122"/>
                <a:cs typeface="Consolas" pitchFamily="34" charset="-120"/>
              </a:rPr>
              <a:t> logRinci = </a:t>
            </a:r>
            <a:r>
              <a:rPr lang="en-US" sz="1300" dirty="0">
                <a:solidFill>
                  <a:srgbClr val="FFCB6B"/>
                </a:solidFill>
                <a:latin typeface="Consolas" pitchFamily="34" charset="0"/>
                <a:ea typeface="Consolas" pitchFamily="34" charset="-122"/>
                <a:cs typeface="Consolas" pitchFamily="34" charset="-120"/>
              </a:rPr>
              <a:t>bool</a:t>
            </a:r>
            <a:r>
              <a:rPr lang="en-US" sz="1300" dirty="0">
                <a:solidFill>
                  <a:srgbClr val="E6EDF3"/>
                </a:solidFill>
                <a:latin typeface="Consolas" pitchFamily="34" charset="0"/>
                <a:ea typeface="Consolas" pitchFamily="34" charset="-122"/>
                <a:cs typeface="Consolas" pitchFamily="34" charset="-120"/>
              </a:rPr>
              <a:t>.fromEnvironment(</a:t>
            </a:r>
            <a:r>
              <a:rPr lang="en-US" sz="1300" dirty="0">
                <a:solidFill>
                  <a:srgbClr val="C3E88D"/>
                </a:solidFill>
                <a:latin typeface="Consolas" pitchFamily="34" charset="0"/>
                <a:ea typeface="Consolas" pitchFamily="34" charset="-122"/>
                <a:cs typeface="Consolas" pitchFamily="34" charset="-120"/>
              </a:rPr>
              <a:t>'LOG_RINCI'</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batasData = </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.fromEnvironment(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'BATAS_DATA'</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defaultValue: </a:t>
            </a:r>
            <a:r>
              <a:rPr lang="en-US" sz="1300" dirty="0">
                <a:solidFill>
                  <a:srgbClr val="F78C6C"/>
                </a:solidFill>
                <a:latin typeface="Consolas" pitchFamily="34" charset="0"/>
                <a:ea typeface="Consolas" pitchFamily="34" charset="-122"/>
                <a:cs typeface="Consolas" pitchFamily="34" charset="-120"/>
              </a:rPr>
              <a:t>20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Tanpa const, di web langsung galat: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Unsupported operation: String.fromEnvironment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can only be used as a const constructor</a:t>
            </a:r>
            <a:endParaRPr lang="en-US" sz="13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Nilai --dart-define ditanamkan ke kode saat DIKOMPILASI.</a:t>
            </a:r>
            <a:endParaRPr lang="en-US" sz="1700" dirty="0"/>
          </a:p>
          <a:p>
            <a:pPr marL="228600" indent="-228600">
              <a:spcAft>
                <a:spcPts val="800"/>
              </a:spcAft>
              <a:buSzPct val="100000"/>
              <a:buChar char="•"/>
            </a:pPr>
            <a:r>
              <a:rPr lang="en-US" sz="1700" dirty="0">
                <a:solidFill>
                  <a:schemeClr val="tx1"/>
                </a:solidFill>
              </a:rPr>
              <a:t>Dokumentasi Dart: fromEnvironment hanya DIJAMIN bekerja jika dipanggil sebagai const.</a:t>
            </a:r>
            <a:endParaRPr lang="en-US" sz="1700" dirty="0"/>
          </a:p>
          <a:p>
            <a:pPr marL="228600" indent="-228600">
              <a:spcAft>
                <a:spcPts val="800"/>
              </a:spcAft>
              <a:buSzPct val="100000"/>
              <a:buChar char="•"/>
            </a:pPr>
            <a:r>
              <a:rPr lang="en-US" sz="1700" dirty="0">
                <a:solidFill>
                  <a:schemeClr val="tx1"/>
                </a:solidFill>
              </a:rPr>
              <a:t>Tanpa const: di build rilis Android/iOS nilainya tidak dijamin terbaca; di web langsung galat.</a:t>
            </a:r>
            <a:endParaRPr lang="en-US" sz="1700" dirty="0"/>
          </a:p>
          <a:p>
            <a:pPr marL="228600" indent="-228600">
              <a:spcAft>
                <a:spcPts val="800"/>
              </a:spcAft>
              <a:buSzPct val="100000"/>
              <a:buChar char="•"/>
            </a:pPr>
            <a:r>
              <a:rPr lang="en-US" sz="1700" dirty="0">
                <a:solidFill>
                  <a:schemeClr val="tx1"/>
                </a:solidFill>
              </a:rPr>
              <a:t>bool.fromEnvironment bawaannya false; int.fromEnvironment memakai defaultValue jika teksnya bukan bilangan.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Nilai Bawaan yang Aman, Salah Ketik Ketahuan</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2b.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static </a:t>
            </a:r>
            <a:r>
              <a:rPr lang="en-US" sz="1200" dirty="0">
                <a:solidFill>
                  <a:srgbClr val="FFCB6B"/>
                </a:solidFill>
                <a:latin typeface="Consolas" pitchFamily="34" charset="0"/>
                <a:ea typeface="Consolas" pitchFamily="34" charset="-122"/>
                <a:cs typeface="Consolas" pitchFamily="34" charset="-120"/>
              </a:rPr>
              <a:t>Konfigurasi</a:t>
            </a:r>
            <a:r>
              <a:rPr lang="en-US" sz="1200" dirty="0">
                <a:solidFill>
                  <a:srgbClr val="E6EDF3"/>
                </a:solidFill>
                <a:latin typeface="Consolas" pitchFamily="34" charset="0"/>
                <a:ea typeface="Consolas" pitchFamily="34" charset="-122"/>
                <a:cs typeface="Consolas" pitchFamily="34" charset="-120"/>
              </a:rPr>
              <a:t> dariLingkungan()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asNameMap(): {'pengembangan': Lingkungan.pengembangan,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Lingkungan</a:t>
            </a:r>
            <a:r>
              <a:rPr lang="en-US" sz="1200" dirty="0">
                <a:solidFill>
                  <a:srgbClr val="E6EDF3"/>
                </a:solidFill>
                <a:latin typeface="Consolas" pitchFamily="34" charset="0"/>
                <a:ea typeface="Consolas" pitchFamily="34" charset="-122"/>
                <a:cs typeface="Consolas" pitchFamily="34" charset="-120"/>
              </a:rPr>
              <a:t>? lingkungan = </a:t>
            </a:r>
            <a:r>
              <a:rPr lang="en-US" sz="1200" dirty="0">
                <a:solidFill>
                  <a:srgbClr val="FFCB6B"/>
                </a:solidFill>
                <a:latin typeface="Consolas" pitchFamily="34" charset="0"/>
                <a:ea typeface="Consolas" pitchFamily="34" charset="-122"/>
                <a:cs typeface="Consolas" pitchFamily="34" charset="-120"/>
              </a:rPr>
              <a:t>Lingkungan</a:t>
            </a:r>
            <a:r>
              <a:rPr lang="en-US" sz="1200" dirty="0">
                <a:solidFill>
                  <a:srgbClr val="E6EDF3"/>
                </a:solidFill>
                <a:latin typeface="Consolas" pitchFamily="34" charset="0"/>
                <a:ea typeface="Consolas" pitchFamily="34" charset="-122"/>
                <a:cs typeface="Consolas" pitchFamily="34" charset="-120"/>
              </a:rPr>
              <a:t>.values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.asNameMap()[_teksLingkungan];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(lingkungan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KonfigurasiSalah</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'LINGKUNGAN "$_teksLingkungan" tidak dikenal.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'Pilih: ${Lingkungan.values.map((l) =&gt; l.name).join('</a:t>
            </a:r>
            <a:r>
              <a:rPr lang="en-US" sz="1200" dirty="0">
                <a:solidFill>
                  <a:srgbClr val="E6EDF3"/>
                </a:solidFill>
                <a:latin typeface="Consolas" pitchFamily="34" charset="0"/>
                <a:ea typeface="Consolas" pitchFamily="34" charset="-122"/>
                <a:cs typeface="Consolas" pitchFamily="34" charset="-120"/>
              </a:rPr>
              <a:t> atau </a:t>
            </a:r>
            <a:r>
              <a:rPr lang="en-US" sz="1200" dirty="0">
                <a:solidFill>
                  <a:srgbClr val="C3E88D"/>
                </a:solidFill>
                <a:latin typeface="Consolas" pitchFamily="34" charset="0"/>
                <a:ea typeface="Consolas" pitchFamily="34" charset="-122"/>
                <a:cs typeface="Consolas" pitchFamily="34" charset="-120"/>
              </a:rPr>
              <a: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 pemeriksaan alamat API: produksi wajib https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7" name="daftar poin"/>
          <p:cNvSpPr txBox="1"/>
          <p:nvPr/>
        </p:nvSpPr>
        <p:spPr>
          <a:xfrm>
            <a:off x="548640" y="4315968"/>
            <a:ext cx="7608319" cy="19019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Bawaan LINGKUNGAN = produksi: lupa --dart-define tetap menghasilkan aplikasi berdata sungguhan.</a:t>
            </a:r>
            <a:endParaRPr lang="en-US" sz="1500" dirty="0"/>
          </a:p>
          <a:p>
            <a:pPr marL="228600" indent="-228600">
              <a:spcAft>
                <a:spcPts val="800"/>
              </a:spcAft>
              <a:buSzPct val="100000"/>
              <a:buChar char="•"/>
            </a:pPr>
            <a:r>
              <a:rPr lang="en-US" sz="1500" dirty="0">
                <a:solidFill>
                  <a:schemeClr val="tx1"/>
                </a:solidFill>
              </a:rPr>
              <a:t>Salah ketik (produksii) TIDAK diam-diam dianggap nilai bawaan: aplikasi menolak berjalan dan menjelaskan sebabnya.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Pita Build Uji, Rahasia, dan Dua Titik Masuk</a:t>
            </a:r>
            <a:endParaRPr lang="en-US" sz="3200" dirty="0"/>
          </a:p>
        </p:txBody>
      </p:sp>
      <p:sp>
        <p:nvSpPr>
          <p:cNvPr id="4" name="kolom 1"/>
          <p:cNvSpPr/>
          <p:nvPr/>
        </p:nvSpPr>
        <p:spPr>
          <a:xfrm>
            <a:off x="548640" y="1371600"/>
            <a:ext cx="5387188" cy="4069080"/>
          </a:xfrm>
          <a:prstGeom prst="roundRect">
            <a:avLst>
              <a:gd name="adj" fmla="val 2697"/>
            </a:avLst>
          </a:prstGeom>
          <a:solidFill>
            <a:schemeClr val="bg2"/>
          </a:solidFill>
          <a:ln/>
        </p:spPr>
      </p:sp>
      <p:sp>
        <p:nvSpPr>
          <p:cNvPr id="5" name="lingkaran label"/>
          <p:cNvSpPr/>
          <p:nvPr/>
        </p:nvSpPr>
        <p:spPr>
          <a:xfrm>
            <a:off x="777240" y="1600200"/>
            <a:ext cx="685800" cy="685800"/>
          </a:xfrm>
          <a:prstGeom prst="ellipse">
            <a:avLst/>
          </a:prstGeom>
          <a:solidFill>
            <a:schemeClr val="accent4"/>
          </a:solidFill>
          <a:ln/>
        </p:spPr>
      </p:sp>
      <p:pic>
        <p:nvPicPr>
          <p:cNvPr id="6" name="Image 0" descr="label">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Pita "BUILD UJI"</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Build pengembangan harus terlihat beda, agar tidak tertukar saat didemokan</a:t>
            </a:r>
            <a:endParaRPr lang="en-US" sz="1400" dirty="0"/>
          </a:p>
        </p:txBody>
      </p:sp>
      <p:sp>
        <p:nvSpPr>
          <p:cNvPr id="9" name="daftar poin"/>
          <p:cNvSpPr txBox="1"/>
          <p:nvPr/>
        </p:nvSpPr>
        <p:spPr>
          <a:xfrm>
            <a:off x="777240" y="2926080"/>
            <a:ext cx="4929988" cy="5486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Sama seperti pita "DATA PALSU" di Pertemuan 12</a:t>
            </a:r>
            <a:endParaRPr lang="en-US" sz="1500" dirty="0"/>
          </a:p>
        </p:txBody>
      </p:sp>
      <p:sp>
        <p:nvSpPr>
          <p:cNvPr id="10" name="kotak kode"/>
          <p:cNvSpPr txBox="1"/>
          <p:nvPr/>
        </p:nvSpPr>
        <p:spPr>
          <a:xfrm>
            <a:off x="731520" y="3429000"/>
            <a:ext cx="5021428" cy="1828800"/>
          </a:xfrm>
          <a:prstGeom prst="roundRect">
            <a:avLst>
              <a:gd name="adj" fmla="val 5000"/>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builder: (</a:t>
            </a:r>
            <a:r>
              <a:rPr lang="en-US" sz="1050" dirty="0">
                <a:solidFill>
                  <a:srgbClr val="FFCB6B"/>
                </a:solidFill>
                <a:latin typeface="Consolas" pitchFamily="34" charset="0"/>
                <a:ea typeface="Consolas" pitchFamily="34" charset="-122"/>
                <a:cs typeface="Consolas" pitchFamily="34" charset="-120"/>
              </a:rPr>
              <a:t>BuildContext</a:t>
            </a:r>
            <a:r>
              <a:rPr lang="en-US" sz="1050" dirty="0">
                <a:solidFill>
                  <a:srgbClr val="E6EDF3"/>
                </a:solidFill>
                <a:latin typeface="Consolas" pitchFamily="34" charset="0"/>
                <a:ea typeface="Consolas" pitchFamily="34" charset="-122"/>
                <a:cs typeface="Consolas" pitchFamily="34" charset="-120"/>
              </a:rPr>
              <a:t> context, </a:t>
            </a:r>
            <a:r>
              <a:rPr lang="en-US" sz="1050" dirty="0">
                <a:solidFill>
                  <a:srgbClr val="FFCB6B"/>
                </a:solidFill>
                <a:latin typeface="Consolas" pitchFamily="34" charset="0"/>
                <a:ea typeface="Consolas" pitchFamily="34" charset="-122"/>
                <a:cs typeface="Consolas" pitchFamily="34" charset="-120"/>
              </a:rPr>
              <a:t>Widget</a:t>
            </a:r>
            <a:r>
              <a:rPr lang="en-US" sz="1050" dirty="0">
                <a:solidFill>
                  <a:srgbClr val="E6EDF3"/>
                </a:solidFill>
                <a:latin typeface="Consolas" pitchFamily="34" charset="0"/>
                <a:ea typeface="Consolas" pitchFamily="34" charset="-122"/>
                <a:cs typeface="Consolas" pitchFamily="34" charset="-120"/>
              </a:rPr>
              <a:t>? child)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(konfigurasi.lingkungan == </a:t>
            </a:r>
            <a:r>
              <a:rPr lang="en-US" sz="1050" dirty="0">
                <a:solidFill>
                  <a:srgbClr val="FFCB6B"/>
                </a:solidFill>
                <a:latin typeface="Consolas" pitchFamily="34" charset="0"/>
                <a:ea typeface="Consolas" pitchFamily="34" charset="-122"/>
                <a:cs typeface="Consolas" pitchFamily="34" charset="-120"/>
              </a:rPr>
              <a:t>Lingkungan</a:t>
            </a:r>
            <a:r>
              <a:rPr lang="en-US" sz="1050" dirty="0">
                <a:solidFill>
                  <a:srgbClr val="E6EDF3"/>
                </a:solidFill>
                <a:latin typeface="Consolas" pitchFamily="34" charset="0"/>
                <a:ea typeface="Consolas" pitchFamily="34" charset="-122"/>
                <a:cs typeface="Consolas" pitchFamily="34" charset="-120"/>
              </a:rPr>
              <a:t>.pengembangan)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Pesan pita maksimal sekitar 10 huruf.</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Banner</a:t>
            </a:r>
            <a:r>
              <a:rPr lang="en-US" sz="1050" dirty="0">
                <a:solidFill>
                  <a:srgbClr val="E6EDF3"/>
                </a:solidFill>
                <a:latin typeface="Consolas" pitchFamily="34" charset="0"/>
                <a:ea typeface="Consolas" pitchFamily="34" charset="-122"/>
                <a:cs typeface="Consolas" pitchFamily="34" charset="-120"/>
              </a:rPr>
              <a:t>(message: </a:t>
            </a:r>
            <a:r>
              <a:rPr lang="en-US" sz="1050" dirty="0">
                <a:solidFill>
                  <a:srgbClr val="C3E88D"/>
                </a:solidFill>
                <a:latin typeface="Consolas" pitchFamily="34" charset="0"/>
                <a:ea typeface="Consolas" pitchFamily="34" charset="-122"/>
                <a:cs typeface="Consolas" pitchFamily="34" charset="-120"/>
              </a:rPr>
              <a:t>'BUILD UJI'</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location: </a:t>
            </a:r>
            <a:r>
              <a:rPr lang="en-US" sz="1050" dirty="0">
                <a:solidFill>
                  <a:srgbClr val="FFCB6B"/>
                </a:solidFill>
                <a:latin typeface="Consolas" pitchFamily="34" charset="0"/>
                <a:ea typeface="Consolas" pitchFamily="34" charset="-122"/>
                <a:cs typeface="Consolas" pitchFamily="34" charset="-120"/>
              </a:rPr>
              <a:t>BannerLocation</a:t>
            </a:r>
            <a:r>
              <a:rPr lang="en-US" sz="1050" dirty="0">
                <a:solidFill>
                  <a:srgbClr val="E6EDF3"/>
                </a:solidFill>
                <a:latin typeface="Consolas" pitchFamily="34" charset="0"/>
                <a:ea typeface="Consolas" pitchFamily="34" charset="-122"/>
                <a:cs typeface="Consolas" pitchFamily="34" charset="-120"/>
              </a:rPr>
              <a:t>.topEnd, child: child!);</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child!;</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11" name="kolom 2"/>
          <p:cNvSpPr/>
          <p:nvPr/>
        </p:nvSpPr>
        <p:spPr>
          <a:xfrm>
            <a:off x="6255868" y="1371600"/>
            <a:ext cx="5387188" cy="4069080"/>
          </a:xfrm>
          <a:prstGeom prst="roundRect">
            <a:avLst>
              <a:gd name="adj" fmla="val 2697"/>
            </a:avLst>
          </a:prstGeom>
          <a:solidFill>
            <a:schemeClr val="bg2"/>
          </a:solidFill>
          <a:ln/>
        </p:spPr>
      </p:sp>
      <p:sp>
        <p:nvSpPr>
          <p:cNvPr id="12" name="lingkaran gembok"/>
          <p:cNvSpPr/>
          <p:nvPr/>
        </p:nvSpPr>
        <p:spPr>
          <a:xfrm>
            <a:off x="6484468" y="1600200"/>
            <a:ext cx="685800" cy="685800"/>
          </a:xfrm>
          <a:prstGeom prst="ellipse">
            <a:avLst/>
          </a:prstGeom>
          <a:solidFill>
            <a:schemeClr val="accent5"/>
          </a:solidFill>
          <a:ln/>
        </p:spPr>
      </p:sp>
      <p:pic>
        <p:nvPicPr>
          <p:cNvPr id="13" name="Image 1" descr="gembok">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Bukan tempat rahasia</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Nilai --dart-define IKUT DIBAWA di dalam aplikasi</a:t>
            </a:r>
            <a:endParaRPr lang="en-US" sz="1400" dirty="0"/>
          </a:p>
        </p:txBody>
      </p:sp>
      <p:sp>
        <p:nvSpPr>
          <p:cNvPr id="16" name="daftar poin"/>
          <p:cNvSpPr txBox="1"/>
          <p:nvPr/>
        </p:nvSpPr>
        <p:spPr>
          <a:xfrm>
            <a:off x="6484468" y="2926080"/>
            <a:ext cx="4929988"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APK bisa dibongkar; JavaScript versi web bisa dibaca</a:t>
            </a:r>
            <a:endParaRPr lang="en-US" sz="1500" dirty="0"/>
          </a:p>
          <a:p>
            <a:pPr marL="228600" indent="-228600">
              <a:spcAft>
                <a:spcPts val="800"/>
              </a:spcAft>
              <a:buSzPct val="100000"/>
              <a:buChar char="•"/>
            </a:pPr>
            <a:r>
              <a:rPr lang="en-US" sz="1500" dirty="0">
                <a:solidFill>
                  <a:schemeClr val="tx1"/>
                </a:solidFill>
              </a:rPr>
              <a:t>--dart-define hanya menjaga nilai agar tidak masuk Git</a:t>
            </a:r>
            <a:endParaRPr lang="en-US" sz="1500" dirty="0"/>
          </a:p>
          <a:p>
            <a:pPr marL="228600" indent="-228600">
              <a:spcAft>
                <a:spcPts val="800"/>
              </a:spcAft>
              <a:buSzPct val="100000"/>
              <a:buChar char="•"/>
            </a:pPr>
            <a:r>
              <a:rPr lang="en-US" sz="1500" dirty="0">
                <a:solidFill>
                  <a:schemeClr val="tx1"/>
                </a:solidFill>
              </a:rPr>
              <a:t>Kunci yang benar-benar rahasia (misalnya kunci pembayaran) tidak boleh ada di aplikasi sama sekali</a:t>
            </a:r>
            <a:endParaRPr lang="en-US" sz="1500" dirty="0"/>
          </a:p>
        </p:txBody>
      </p:sp>
      <p:sp>
        <p:nvSpPr>
          <p:cNvPr id="17" name="lingkaran lampu"/>
          <p:cNvSpPr/>
          <p:nvPr/>
        </p:nvSpPr>
        <p:spPr>
          <a:xfrm>
            <a:off x="548640" y="5669280"/>
            <a:ext cx="548640" cy="548640"/>
          </a:xfrm>
          <a:prstGeom prst="ellipse">
            <a:avLst/>
          </a:prstGeom>
          <a:solidFill>
            <a:schemeClr val="accent3"/>
          </a:solidFill>
          <a:ln/>
        </p:spPr>
      </p:sp>
      <p:pic>
        <p:nvPicPr>
          <p:cNvPr id="18" name="Image 2" descr="lampu">    </p:cNvPr>
          <p:cNvPicPr>
            <a:picLocks noChangeAspect="1"/>
          </p:cNvPicPr>
          <p:nvPr/>
        </p:nvPicPr>
        <p:blipFill>
          <a:blip r:embed="rId3"/>
          <a:stretch>
            <a:fillRect/>
          </a:stretch>
        </p:blipFill>
        <p:spPr>
          <a:xfrm>
            <a:off x="669341" y="5789981"/>
            <a:ext cx="307238" cy="307238"/>
          </a:xfrm>
          <a:prstGeom prst="rect">
            <a:avLst/>
          </a:prstGeom>
        </p:spPr>
      </p:pic>
      <p:sp>
        <p:nvSpPr>
          <p:cNvPr id="19" name="Text 13"/>
          <p:cNvSpPr txBox="1"/>
          <p:nvPr/>
        </p:nvSpPr>
        <p:spPr>
          <a:xfrm>
            <a:off x="1280160" y="5577840"/>
            <a:ext cx="10362895" cy="731520"/>
          </a:xfrm>
          <a:prstGeom prst="rect">
            <a:avLst/>
          </a:prstGeom>
          <a:noFill/>
          <a:ln/>
        </p:spPr>
        <p:txBody>
          <a:bodyPr wrap="square" lIns="0" tIns="0" rIns="0" bIns="0" rtlCol="0" anchor="ctr"/>
          <a:lstStyle/>
          <a:p>
            <a:pPr indent="0" marL="0">
              <a:buNone/>
            </a:pPr>
            <a:r>
              <a:rPr lang="en-US" sz="1700" dirty="0">
                <a:solidFill>
                  <a:schemeClr val="tx1"/>
                </a:solidFill>
              </a:rPr>
              <a:t>Dua titik masuk (-t lib/main_pengembangan.dart) atau --dart-define? Keduanya benar: titik masuk cocok untuk "Tugas Kuliahku"; --dart-define untuk nilai yang sering berganti, misalnya alamat API.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Identitas Aplikasi: Nama, ID, Versi, Ikon</a:t>
            </a:r>
            <a:endParaRPr lang="en-US" sz="4000" dirty="0"/>
          </a:p>
        </p:txBody>
      </p:sp>
      <p:sp>
        <p:nvSpPr>
          <p:cNvPr id="5" name="lingkaran label"/>
          <p:cNvSpPr/>
          <p:nvPr/>
        </p:nvSpPr>
        <p:spPr>
          <a:xfrm>
            <a:off x="1097280" y="2148840"/>
            <a:ext cx="2011680" cy="2011680"/>
          </a:xfrm>
          <a:prstGeom prst="ellipse">
            <a:avLst/>
          </a:prstGeom>
          <a:solidFill>
            <a:schemeClr val="accent1"/>
          </a:solidFill>
          <a:ln/>
        </p:spPr>
      </p:sp>
      <p:pic>
        <p:nvPicPr>
          <p:cNvPr id="6" name="Image 0" descr="label">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"Nama" yang Berbeda</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934060"/>
                <a:gridCol w="3850954"/>
                <a:gridCol w="4309401"/>
              </a:tblGrid>
              <a:tr h="658368">
                <a:tc>
                  <a:txBody>
                    <a:bodyPr/>
                    <a:lstStyle/>
                    <a:p>
                      <a:pPr indent="0" marL="0">
                        <a:buNone/>
                      </a:pP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Nama tampilan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Application ID</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Contoh</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Tugas Kuliahku</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com.budisantoso.tugaskuliahku</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Dibaca oleh</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Manusia (di bawah ikon, di toko)</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Sistem operasi dan toko aplikasi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Boleh sama dengan aplikasi lain?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Boleh</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TIDAK: unik di seluruh dunia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Boleh diganti setelah rilis?</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Boleh</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TIDAK: ID baru = aplikasi lain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Perumpamaan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Nama panggilan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Nomor KTP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flutter create tugas_kuliahku menghasilkan nama tampilan "tugas_kuliahku" dan ID com.example.tugas_kuliahku. Keduanya harus diganti sebelum rilis.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Nama Tampilan Ada di Beberapa Tempat</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850954"/>
                <a:gridCol w="3942643"/>
                <a:gridCol w="3300818"/>
              </a:tblGrid>
              <a:tr h="676656">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Tempat nama tampil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Berkas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diubah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 bawah ikon HP Android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android/app/src/main/AndroidManifest.xml</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android:label</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 bawah ikon iPhone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ios/Runner/Info.plist</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CFBundleDisplayName</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Tab browser saat aplikasi web dimuat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web/index.html</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&lt;title&gt;, description, apple-mobile-web-app-title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Saat versi web "dipasang" di HP (PWA)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web/manifest.json</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name, short_name, description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Daftar aplikasi terbuka di Android; tab setelah aplikasi berjalan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lib/...</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MaterialApp(title: ...)</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Application ID: Nomor KTP Aplikasi</a:t>
            </a:r>
            <a:endParaRPr lang="en-US" sz="3200" dirty="0"/>
          </a:p>
        </p:txBody>
      </p:sp>
      <p:sp>
        <p:nvSpPr>
          <p:cNvPr id="4" name="kotak kode"/>
          <p:cNvSpPr txBox="1"/>
          <p:nvPr/>
        </p:nvSpPr>
        <p:spPr>
          <a:xfrm>
            <a:off x="548640" y="1371600"/>
            <a:ext cx="6583680" cy="2611755"/>
          </a:xfrm>
          <a:prstGeom prst="roundRect">
            <a:avLst>
              <a:gd name="adj" fmla="val 3501"/>
            </a:avLst>
          </a:prstGeom>
          <a:solidFill>
            <a:srgbClr val="0E1A2B"/>
          </a:solidFill>
          <a:ln/>
        </p:spPr>
        <p:txBody>
          <a:bodyPr wrap="square" lIns="177800" tIns="152400" rIns="152400" bIns="177800" rtlCol="0" anchor="t"/>
          <a:lstStyle/>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android/app/build.gradle.kts (bawaan flutter create)</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android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namespace = </a:t>
            </a:r>
            <a:r>
              <a:rPr lang="en-US" sz="1250" dirty="0">
                <a:solidFill>
                  <a:srgbClr val="C3E88D"/>
                </a:solidFill>
                <a:latin typeface="Consolas" pitchFamily="34" charset="0"/>
                <a:ea typeface="Consolas" pitchFamily="34" charset="-122"/>
                <a:cs typeface="Consolas" pitchFamily="34" charset="-120"/>
              </a:rPr>
              <a:t>"com.example.tugas_kuliahku"</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defaultConfig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i="1" dirty="0">
                <a:solidFill>
                  <a:srgbClr val="8FA3BC"/>
                </a:solidFill>
                <a:latin typeface="Consolas" pitchFamily="34" charset="0"/>
                <a:ea typeface="Consolas" pitchFamily="34" charset="-122"/>
                <a:cs typeface="Consolas" pitchFamily="34" charset="-120"/>
              </a:rPr>
              <a:t>// TODO: Specify your own unique Application ID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applicationId = </a:t>
            </a:r>
            <a:r>
              <a:rPr lang="en-US" sz="1250" dirty="0">
                <a:solidFill>
                  <a:srgbClr val="C3E88D"/>
                </a:solidFill>
                <a:latin typeface="Consolas" pitchFamily="34" charset="0"/>
                <a:ea typeface="Consolas" pitchFamily="34" charset="-122"/>
                <a:cs typeface="Consolas" pitchFamily="34" charset="-120"/>
              </a:rPr>
              <a:t>"com.example.tugas_kuliahku"</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Proyek baru: ID sejak awal</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flutter create --org com.budisantoso tugas_kuliahku</a:t>
            </a:r>
            <a:endParaRPr lang="en-US" sz="1250" dirty="0"/>
          </a:p>
        </p:txBody>
      </p:sp>
      <p:sp>
        <p:nvSpPr>
          <p:cNvPr id="5"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applicationId: identitas di HP dan Google Play. GANTI sebelum rilis pertama.</a:t>
            </a:r>
            <a:endParaRPr lang="en-US" sz="1700" dirty="0"/>
          </a:p>
          <a:p>
            <a:pPr marL="228600" indent="-228600">
              <a:spcAft>
                <a:spcPts val="800"/>
              </a:spcAft>
              <a:buSzPct val="100000"/>
              <a:buChar char="•"/>
            </a:pPr>
            <a:r>
              <a:rPr lang="en-US" sz="1700" dirty="0">
                <a:solidFill>
                  <a:schemeClr val="tx1"/>
                </a:solidFill>
              </a:rPr>
              <a:t>namespace: nama paket kode Kotlin. Tidak wajib diganti (MainActivity.kt harus ikut dipindah).</a:t>
            </a:r>
            <a:endParaRPr lang="en-US" sz="1700" dirty="0"/>
          </a:p>
          <a:p>
            <a:pPr marL="228600" indent="-228600">
              <a:spcAft>
                <a:spcPts val="800"/>
              </a:spcAft>
              <a:buSzPct val="100000"/>
              <a:buChar char="•"/>
            </a:pPr>
            <a:r>
              <a:rPr lang="en-US" sz="1700" dirty="0">
                <a:solidFill>
                  <a:schemeClr val="tx1"/>
                </a:solidFill>
              </a:rPr>
              <a:t>Aturan: com.namaanda.namaaplikasi; minimal 2 bagian; tiap bagian diawali huruf; hanya huruf, angka, _; huruf kecil; bukan com.example.</a:t>
            </a:r>
            <a:endParaRPr lang="en-US" sz="1700" dirty="0"/>
          </a:p>
          <a:p>
            <a:pPr marL="228600" indent="-228600">
              <a:spcAft>
                <a:spcPts val="800"/>
              </a:spcAft>
              <a:buSzPct val="100000"/>
              <a:buChar char="•"/>
            </a:pPr>
            <a:r>
              <a:rPr lang="en-US" sz="1700" dirty="0">
                <a:solidFill>
                  <a:schemeClr val="tx1"/>
                </a:solidFill>
              </a:rPr>
              <a:t>✅ com.budisantoso.tugaskuliahku, id.timpelangi.cuacakampus</a:t>
            </a:r>
            <a:endParaRPr lang="en-US" sz="1700" dirty="0"/>
          </a:p>
          <a:p>
            <a:pPr marL="228600" indent="-228600">
              <a:spcAft>
                <a:spcPts val="800"/>
              </a:spcAft>
              <a:buSzPct val="100000"/>
              <a:buChar char="•"/>
            </a:pPr>
            <a:r>
              <a:rPr lang="en-US" sz="1700" dirty="0">
                <a:solidFill>
                  <a:schemeClr val="tx1"/>
                </a:solidFill>
              </a:rPr>
              <a:t>❌ com.budi-santoso.tugas (ada -), com.2609106001.tugas (diawali angka)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Nomor Versi: Satu Baris, Dua Nomor</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Di pubspec.yaml: version: 1.0.0+1. Flutter menyalinnya ke Android, iPhone, dan version.json web setiap build.</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750681"/>
                <a:gridCol w="3300818"/>
                <a:gridCol w="3117439"/>
                <a:gridCol w="1925477"/>
              </a:tblGrid>
              <a:tr h="603504">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Bagian</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Naik jika ...</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Contoh perubahan</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Dari 1.4.2+17</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PATCH (nama versi)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hanya memperbaiki bug</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Tombol simpan yang macet diperbaiki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1.4.3+18</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MINOR (nama versi)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menambah fitur, yang lama tetap jalan</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Fitur ekspor jadwal</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1.5.0+18</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MAYOR (nama versi)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perubahan besar yang tidak cocok dengan versi lama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Format data lama tidak dipakai lagi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2.0.0+18</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Nomor build (+...)</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SETIAP unggahan, apa pun perubahannya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Dibaca toko dan sistem operasi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…+18</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Saat satu bagian naik, bagian di kanannya kembali ke 0. Versi 0.x.y = belum rilis resmi; rilis resmi pertama 1.0.0. Nomor build yang sudah dipakai ditolak toko.</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Menampilkan Versi: package_info_plus</a:t>
            </a:r>
            <a:endParaRPr lang="en-US" sz="3200" dirty="0"/>
          </a:p>
        </p:txBody>
      </p:sp>
      <p:sp>
        <p:nvSpPr>
          <p:cNvPr id="4" name="kotak kode"/>
          <p:cNvSpPr txBox="1"/>
          <p:nvPr/>
        </p:nvSpPr>
        <p:spPr>
          <a:xfrm>
            <a:off x="548640" y="1371600"/>
            <a:ext cx="6583680" cy="4011930"/>
          </a:xfrm>
          <a:prstGeom prst="roundRect">
            <a:avLst>
              <a:gd name="adj" fmla="val 2279"/>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class</a:t>
            </a:r>
            <a:r>
              <a:rPr lang="en-US" sz="1250" dirty="0">
                <a:solidFill>
                  <a:srgbClr val="E6EDF3"/>
                </a:solidFill>
                <a:latin typeface="Consolas" pitchFamily="34" charset="0"/>
                <a:ea typeface="Consolas" pitchFamily="34" charset="-122"/>
                <a:cs typeface="Consolas" pitchFamily="34" charset="-120"/>
              </a:rPr>
              <a:t> _TeksVersiState </a:t>
            </a:r>
            <a:r>
              <a:rPr lang="en-US" sz="1250" dirty="0">
                <a:solidFill>
                  <a:srgbClr val="C792EA"/>
                </a:solidFill>
                <a:latin typeface="Consolas" pitchFamily="34" charset="0"/>
                <a:ea typeface="Consolas" pitchFamily="34" charset="-122"/>
                <a:cs typeface="Consolas" pitchFamily="34" charset="-120"/>
              </a:rPr>
              <a:t>extends</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State</a:t>
            </a:r>
            <a:r>
              <a:rPr lang="en-US" sz="1250" dirty="0">
                <a:solidFill>
                  <a:srgbClr val="E6EDF3"/>
                </a:solidFill>
                <a:latin typeface="Consolas" pitchFamily="34" charset="0"/>
                <a:ea typeface="Consolas" pitchFamily="34" charset="-122"/>
                <a:cs typeface="Consolas" pitchFamily="34" charset="-120"/>
              </a:rPr>
              <a:t>&lt;</a:t>
            </a:r>
            <a:r>
              <a:rPr lang="en-US" sz="1250" dirty="0">
                <a:solidFill>
                  <a:srgbClr val="FFCB6B"/>
                </a:solidFill>
                <a:latin typeface="Consolas" pitchFamily="34" charset="0"/>
                <a:ea typeface="Consolas" pitchFamily="34" charset="-122"/>
                <a:cs typeface="Consolas" pitchFamily="34" charset="-120"/>
              </a:rPr>
              <a:t>TeksVersi</a:t>
            </a:r>
            <a:r>
              <a:rPr lang="en-US" sz="1250" dirty="0">
                <a:solidFill>
                  <a:srgbClr val="E6EDF3"/>
                </a:solidFill>
                <a:latin typeface="Consolas" pitchFamily="34" charset="0"/>
                <a:ea typeface="Consolas" pitchFamily="34" charset="-122"/>
                <a:cs typeface="Consolas" pitchFamily="34" charset="-120"/>
              </a:rPr>
              <a:t>&gt;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i="1" dirty="0">
                <a:solidFill>
                  <a:srgbClr val="8FA3BC"/>
                </a:solidFill>
                <a:latin typeface="Consolas" pitchFamily="34" charset="0"/>
                <a:ea typeface="Consolas" pitchFamily="34" charset="-122"/>
                <a:cs typeface="Consolas" pitchFamily="34" charset="-120"/>
              </a:rPr>
              <a:t>// Future dibuat SEKALI, bukan di dalam build.</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late</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final</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Future</a:t>
            </a:r>
            <a:r>
              <a:rPr lang="en-US" sz="1250" dirty="0">
                <a:solidFill>
                  <a:srgbClr val="E6EDF3"/>
                </a:solidFill>
                <a:latin typeface="Consolas" pitchFamily="34" charset="0"/>
                <a:ea typeface="Consolas" pitchFamily="34" charset="-122"/>
                <a:cs typeface="Consolas" pitchFamily="34" charset="-120"/>
              </a:rPr>
              <a:t>&lt;</a:t>
            </a:r>
            <a:r>
              <a:rPr lang="en-US" sz="1250" dirty="0">
                <a:solidFill>
                  <a:srgbClr val="FFCB6B"/>
                </a:solidFill>
                <a:latin typeface="Consolas" pitchFamily="34" charset="0"/>
                <a:ea typeface="Consolas" pitchFamily="34" charset="-122"/>
                <a:cs typeface="Consolas" pitchFamily="34" charset="-120"/>
              </a:rPr>
              <a:t>PackageInfo</a:t>
            </a:r>
            <a:r>
              <a:rPr lang="en-US" sz="1250" dirty="0">
                <a:solidFill>
                  <a:srgbClr val="E6EDF3"/>
                </a:solidFill>
                <a:latin typeface="Consolas" pitchFamily="34" charset="0"/>
                <a:ea typeface="Consolas" pitchFamily="34" charset="-122"/>
                <a:cs typeface="Consolas" pitchFamily="34" charset="-120"/>
              </a:rPr>
              <a:t>&gt; _info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PackageInfo</a:t>
            </a:r>
            <a:r>
              <a:rPr lang="en-US" sz="1250" dirty="0">
                <a:solidFill>
                  <a:srgbClr val="E6EDF3"/>
                </a:solidFill>
                <a:latin typeface="Consolas" pitchFamily="34" charset="0"/>
                <a:ea typeface="Consolas" pitchFamily="34" charset="-122"/>
                <a:cs typeface="Consolas" pitchFamily="34" charset="-120"/>
              </a:rPr>
              <a:t>.fromPlatform();</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89DDFF"/>
                </a:solidFill>
                <a:latin typeface="Consolas" pitchFamily="34" charset="0"/>
                <a:ea typeface="Consolas" pitchFamily="34" charset="-122"/>
                <a:cs typeface="Consolas" pitchFamily="34" charset="-120"/>
              </a:rPr>
              <a:t>@override</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Widget</a:t>
            </a:r>
            <a:r>
              <a:rPr lang="en-US" sz="1250" dirty="0">
                <a:solidFill>
                  <a:srgbClr val="E6EDF3"/>
                </a:solidFill>
                <a:latin typeface="Consolas" pitchFamily="34" charset="0"/>
                <a:ea typeface="Consolas" pitchFamily="34" charset="-122"/>
                <a:cs typeface="Consolas" pitchFamily="34" charset="-120"/>
              </a:rPr>
              <a:t> build(</a:t>
            </a:r>
            <a:r>
              <a:rPr lang="en-US" sz="1250" dirty="0">
                <a:solidFill>
                  <a:srgbClr val="FFCB6B"/>
                </a:solidFill>
                <a:latin typeface="Consolas" pitchFamily="34" charset="0"/>
                <a:ea typeface="Consolas" pitchFamily="34" charset="-122"/>
                <a:cs typeface="Consolas" pitchFamily="34" charset="-120"/>
              </a:rPr>
              <a:t>BuildContext</a:t>
            </a:r>
            <a:r>
              <a:rPr lang="en-US" sz="1250" dirty="0">
                <a:solidFill>
                  <a:srgbClr val="E6EDF3"/>
                </a:solidFill>
                <a:latin typeface="Consolas" pitchFamily="34" charset="0"/>
                <a:ea typeface="Consolas" pitchFamily="34" charset="-122"/>
                <a:cs typeface="Consolas" pitchFamily="34" charset="-120"/>
              </a:rPr>
              <a:t> context)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return</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FutureBuilder</a:t>
            </a:r>
            <a:r>
              <a:rPr lang="en-US" sz="1250" dirty="0">
                <a:solidFill>
                  <a:srgbClr val="E6EDF3"/>
                </a:solidFill>
                <a:latin typeface="Consolas" pitchFamily="34" charset="0"/>
                <a:ea typeface="Consolas" pitchFamily="34" charset="-122"/>
                <a:cs typeface="Consolas" pitchFamily="34" charset="-120"/>
              </a:rPr>
              <a:t>&lt;</a:t>
            </a:r>
            <a:r>
              <a:rPr lang="en-US" sz="1250" dirty="0">
                <a:solidFill>
                  <a:srgbClr val="FFCB6B"/>
                </a:solidFill>
                <a:latin typeface="Consolas" pitchFamily="34" charset="0"/>
                <a:ea typeface="Consolas" pitchFamily="34" charset="-122"/>
                <a:cs typeface="Consolas" pitchFamily="34" charset="-120"/>
              </a:rPr>
              <a:t>PackageInfo</a:t>
            </a:r>
            <a:r>
              <a:rPr lang="en-US" sz="1250" dirty="0">
                <a:solidFill>
                  <a:srgbClr val="E6EDF3"/>
                </a:solidFill>
                <a:latin typeface="Consolas" pitchFamily="34" charset="0"/>
                <a:ea typeface="Consolas" pitchFamily="34" charset="-122"/>
                <a:cs typeface="Consolas" pitchFamily="34" charset="-120"/>
              </a:rPr>
              <a:t>&gt;(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future: _info,</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builder: (</a:t>
            </a:r>
            <a:r>
              <a:rPr lang="en-US" sz="1250" dirty="0">
                <a:solidFill>
                  <a:srgbClr val="FFCB6B"/>
                </a:solidFill>
                <a:latin typeface="Consolas" pitchFamily="34" charset="0"/>
                <a:ea typeface="Consolas" pitchFamily="34" charset="-122"/>
                <a:cs typeface="Consolas" pitchFamily="34" charset="-120"/>
              </a:rPr>
              <a:t>BuildContext</a:t>
            </a:r>
            <a:r>
              <a:rPr lang="en-US" sz="1250" dirty="0">
                <a:solidFill>
                  <a:srgbClr val="E6EDF3"/>
                </a:solidFill>
                <a:latin typeface="Consolas" pitchFamily="34" charset="0"/>
                <a:ea typeface="Consolas" pitchFamily="34" charset="-122"/>
                <a:cs typeface="Consolas" pitchFamily="34" charset="-120"/>
              </a:rPr>
              <a:t> context, hasil)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final</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PackageInfo</a:t>
            </a:r>
            <a:r>
              <a:rPr lang="en-US" sz="1250" dirty="0">
                <a:solidFill>
                  <a:srgbClr val="E6EDF3"/>
                </a:solidFill>
                <a:latin typeface="Consolas" pitchFamily="34" charset="0"/>
                <a:ea typeface="Consolas" pitchFamily="34" charset="-122"/>
                <a:cs typeface="Consolas" pitchFamily="34" charset="-120"/>
              </a:rPr>
              <a:t>? info = hasil.data;</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if</a:t>
            </a:r>
            <a:r>
              <a:rPr lang="en-US" sz="1250" dirty="0">
                <a:solidFill>
                  <a:srgbClr val="E6EDF3"/>
                </a:solidFill>
                <a:latin typeface="Consolas" pitchFamily="34" charset="0"/>
                <a:ea typeface="Consolas" pitchFamily="34" charset="-122"/>
                <a:cs typeface="Consolas" pitchFamily="34" charset="-120"/>
              </a:rPr>
              <a:t> (info == </a:t>
            </a:r>
            <a:r>
              <a:rPr lang="en-US" sz="1250" dirty="0">
                <a:solidFill>
                  <a:srgbClr val="C792EA"/>
                </a:solidFill>
                <a:latin typeface="Consolas" pitchFamily="34" charset="0"/>
                <a:ea typeface="Consolas" pitchFamily="34" charset="-122"/>
                <a:cs typeface="Consolas" pitchFamily="34" charset="-120"/>
              </a:rPr>
              <a:t>null</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return</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const</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Text</a:t>
            </a:r>
            <a:r>
              <a:rPr lang="en-US" sz="1250" dirty="0">
                <a:solidFill>
                  <a:srgbClr val="E6EDF3"/>
                </a:solidFill>
                <a:latin typeface="Consolas" pitchFamily="34" charset="0"/>
                <a:ea typeface="Consolas" pitchFamily="34" charset="-122"/>
                <a:cs typeface="Consolas" pitchFamily="34" charset="-120"/>
              </a:rPr>
              <a:t>(</a:t>
            </a:r>
            <a:r>
              <a:rPr lang="en-US" sz="1250" dirty="0">
                <a:solidFill>
                  <a:srgbClr val="C3E88D"/>
                </a:solidFill>
                <a:latin typeface="Consolas" pitchFamily="34" charset="0"/>
                <a:ea typeface="Consolas" pitchFamily="34" charset="-122"/>
                <a:cs typeface="Consolas" pitchFamily="34" charset="-120"/>
              </a:rPr>
              <a:t>'Versi ...'</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return</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Text</a:t>
            </a:r>
            <a:r>
              <a:rPr lang="en-US" sz="1250" dirty="0">
                <a:solidFill>
                  <a:srgbClr val="E6EDF3"/>
                </a:solidFill>
                <a:latin typeface="Consolas" pitchFamily="34" charset="0"/>
                <a:ea typeface="Consolas" pitchFamily="34" charset="-122"/>
                <a:cs typeface="Consolas" pitchFamily="34" charset="-120"/>
              </a:rPr>
              <a:t>(</a:t>
            </a:r>
            <a:r>
              <a:rPr lang="en-US" sz="1250" dirty="0">
                <a:solidFill>
                  <a:srgbClr val="C3E88D"/>
                </a:solidFill>
                <a:latin typeface="Consolas" pitchFamily="34" charset="0"/>
                <a:ea typeface="Consolas" pitchFamily="34" charset="-122"/>
                <a:cs typeface="Consolas" pitchFamily="34" charset="-120"/>
              </a:rPr>
              <a:t>'Versi ${info.version}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3E88D"/>
                </a:solidFill>
                <a:latin typeface="Consolas" pitchFamily="34" charset="0"/>
                <a:ea typeface="Consolas" pitchFamily="34" charset="-122"/>
                <a:cs typeface="Consolas" pitchFamily="34" charset="-120"/>
              </a:rPr>
              <a:t>'(build ${info.buildNumber})'</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5"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flutter pub add package_info_plus. Jangan tulis versi dua kali (pubspec DAN kode).</a:t>
            </a:r>
            <a:endParaRPr lang="en-US" sz="1700" dirty="0"/>
          </a:p>
          <a:p>
            <a:pPr marL="228600" indent="-228600">
              <a:spcAft>
                <a:spcPts val="800"/>
              </a:spcAft>
              <a:buSzPct val="100000"/>
              <a:buChar char="•"/>
            </a:pPr>
            <a:r>
              <a:rPr lang="en-US" sz="1700" dirty="0">
                <a:solidFill>
                  <a:schemeClr val="tx1"/>
                </a:solidFill>
              </a:rPr>
              <a:t>version: 1.0.0+1 → info.version 1.0.0, info.buildNumber 1; info.packageName = application ID.</a:t>
            </a:r>
            <a:endParaRPr lang="en-US" sz="1700" dirty="0"/>
          </a:p>
          <a:p>
            <a:pPr marL="228600" indent="-228600">
              <a:spcAft>
                <a:spcPts val="800"/>
              </a:spcAft>
              <a:buSzPct val="100000"/>
              <a:buChar char="•"/>
            </a:pPr>
            <a:r>
              <a:rPr lang="en-US" sz="1700" dirty="0">
                <a:solidFill>
                  <a:schemeClr val="tx1"/>
                </a:solidFill>
              </a:rPr>
              <a:t>Web: membaca version.json hasil build. Panggil DI DALAM widget, bukan sebelum runApp (bisa gagal di Android).</a:t>
            </a:r>
            <a:endParaRPr lang="en-US" sz="1700" dirty="0"/>
          </a:p>
          <a:p>
            <a:pPr marL="228600" indent="-228600">
              <a:spcAft>
                <a:spcPts val="800"/>
              </a:spcAft>
              <a:buSzPct val="100000"/>
              <a:buChar char="•"/>
            </a:pPr>
            <a:r>
              <a:rPr lang="en-US" sz="1700" dirty="0">
                <a:solidFill>
                  <a:schemeClr val="tx1"/>
                </a:solidFill>
              </a:rPr>
              <a:t>Tes widget: PackageInfo.setMockInitialValues(...).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Jangan Membandingkan Versi sebagai Teks</a:t>
            </a:r>
            <a:endParaRPr lang="en-US" sz="3200" dirty="0"/>
          </a:p>
        </p:txBody>
      </p:sp>
      <p:sp>
        <p:nvSpPr>
          <p:cNvPr id="4" name="kotak kode"/>
          <p:cNvSpPr txBox="1"/>
          <p:nvPr/>
        </p:nvSpPr>
        <p:spPr>
          <a:xfrm>
            <a:off x="548640" y="1371600"/>
            <a:ext cx="6858000"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Urutan menurut NAMA VERSI: mayor, minor, patch.</a:t>
            </a:r>
            <a:endParaRPr lang="en-US" sz="1300" dirty="0"/>
          </a:p>
          <a:p>
            <a:pPr indent="0" marL="0">
              <a:lnSpc>
                <a:spcPct val="105000"/>
              </a:lnSpc>
              <a:buNone/>
            </a:pPr>
            <a:r>
              <a:rPr lang="en-US" sz="1300" dirty="0">
                <a:solidFill>
                  <a:srgbClr val="89DDFF"/>
                </a:solidFill>
                <a:latin typeface="Consolas" pitchFamily="34" charset="0"/>
                <a:ea typeface="Consolas" pitchFamily="34" charset="-122"/>
                <a:cs typeface="Consolas" pitchFamily="34" charset="-120"/>
              </a:rPr>
              <a:t>@override</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compareTo(</a:t>
            </a:r>
            <a:r>
              <a:rPr lang="en-US" sz="1300" dirty="0">
                <a:solidFill>
                  <a:srgbClr val="FFCB6B"/>
                </a:solidFill>
                <a:latin typeface="Consolas" pitchFamily="34" charset="0"/>
                <a:ea typeface="Consolas" pitchFamily="34" charset="-122"/>
                <a:cs typeface="Consolas" pitchFamily="34" charset="-120"/>
              </a:rPr>
              <a:t>Versi</a:t>
            </a:r>
            <a:r>
              <a:rPr lang="en-US" sz="1300" dirty="0">
                <a:solidFill>
                  <a:srgbClr val="E6EDF3"/>
                </a:solidFill>
                <a:latin typeface="Consolas" pitchFamily="34" charset="0"/>
                <a:ea typeface="Consolas" pitchFamily="34" charset="-122"/>
                <a:cs typeface="Consolas" pitchFamily="34" charset="-120"/>
              </a:rPr>
              <a:t> lain)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(mayor != lain.mayor)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 mayor.compareTo(lain.mayor);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(minor != lain.minor)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 minor.compareTo(lain.minor);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 patch.compareTo(lain.patch);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Hasil Contoh 01:</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1.10.0 vs 1.9.0</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sebagai teks : 1.10.0 lebih LAMA</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sebagai Versi: 1.10.0 lebih BARU</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1.0.2+2  DITOLAK: nomor build 2 sudah dipakai</a:t>
            </a:r>
            <a:endParaRPr lang="en-US" sz="1300" dirty="0"/>
          </a:p>
        </p:txBody>
      </p:sp>
      <p:sp>
        <p:nvSpPr>
          <p:cNvPr id="5" name="tombol tautan">
            <a:hlinkClick r:id="rId1" tooltip="https://github.com/antonprafanto/mobile2026/blob/main/pertemuan_15_build_rilis_dan_finalisasi/kode/contoh_01_versi_dan_nomor_build_dart_murni.dart"/>
          </p:cNvPr>
          <p:cNvSpPr txBox="1"/>
          <p:nvPr/>
        </p:nvSpPr>
        <p:spPr>
          <a:xfrm>
            <a:off x="548640" y="4716018"/>
            <a:ext cx="68580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contoh_01_versi_dan_nomor_build_dart_murni.dart</a:t>
            </a:r>
            <a:endParaRPr lang="en-US" sz="1300" dirty="0"/>
          </a:p>
        </p:txBody>
      </p:sp>
      <p:pic>
        <p:nvPicPr>
          <p:cNvPr id="6" name="Image 0" descr="ikon tautan">
            <a:hlinkClick r:id="rId3" tooltip="https://github.com/antonprafanto/mobile2026/blob/main/pertemuan_15_build_rilis_dan_finalisasi/kode/contoh_01_versi_dan_nomor_build_dart_murni.dart"/>
          </p:cNvPr>
          <p:cNvPicPr>
            <a:picLocks noChangeAspect="1"/>
          </p:cNvPicPr>
          <p:nvPr/>
        </p:nvPicPr>
        <p:blipFill>
          <a:blip r:embed="rId2"/>
          <a:stretch>
            <a:fillRect/>
          </a:stretch>
        </p:blipFill>
        <p:spPr>
          <a:xfrm>
            <a:off x="694944" y="4807458"/>
            <a:ext cx="274320" cy="274320"/>
          </a:xfrm>
          <a:prstGeom prst="rect">
            <a:avLst/>
          </a:prstGeom>
        </p:spPr>
      </p:pic>
      <p:sp>
        <p:nvSpPr>
          <p:cNvPr id="7" name="daftar poin"/>
          <p:cNvSpPr txBox="1"/>
          <p:nvPr/>
        </p:nvSpPr>
        <p:spPr>
          <a:xfrm>
            <a:off x="7818120" y="1417320"/>
            <a:ext cx="38249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Teks dibandingkan HURUF DEMI HURUF: "1" lebih kecil daripada "9", jadi "1.10.0" &lt; "1.9.0".</a:t>
            </a:r>
            <a:endParaRPr lang="en-US" sz="1700" dirty="0"/>
          </a:p>
          <a:p>
            <a:pPr marL="228600" indent="-228600">
              <a:spcAft>
                <a:spcPts val="800"/>
              </a:spcAft>
              <a:buSzPct val="100000"/>
              <a:buChar char="•"/>
            </a:pPr>
            <a:r>
              <a:rPr lang="en-US" sz="1700" dirty="0">
                <a:solidFill>
                  <a:schemeClr val="tx1"/>
                </a:solidFill>
              </a:rPr>
              <a:t>Bandingkan per bagian sebagai ANGKA.</a:t>
            </a:r>
            <a:endParaRPr lang="en-US" sz="1700" dirty="0"/>
          </a:p>
          <a:p>
            <a:pPr marL="228600" indent="-228600">
              <a:spcAft>
                <a:spcPts val="800"/>
              </a:spcAft>
              <a:buSzPct val="100000"/>
              <a:buChar char="•"/>
            </a:pPr>
            <a:r>
              <a:rPr lang="en-US" sz="1700" dirty="0">
                <a:solidFill>
                  <a:schemeClr val="tx1"/>
                </a:solidFill>
              </a:rPr>
              <a:t>Nomor build tidak ikut dibandingkan: 1.4.2+17 dan 1.4.2+18 sama-sama "versi 1.4.2".</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Ikon yang Baik dan Ikon Adaptif</a:t>
            </a:r>
            <a:endParaRPr lang="en-US" sz="3200" dirty="0"/>
          </a:p>
        </p:txBody>
      </p:sp>
      <p:sp>
        <p:nvSpPr>
          <p:cNvPr id="4" name="bingkai layar 1"/>
          <p:cNvSpPr/>
          <p:nvPr/>
        </p:nvSpPr>
        <p:spPr>
          <a:xfrm>
            <a:off x="5553151" y="1316736"/>
            <a:ext cx="6144768" cy="3221546"/>
          </a:xfrm>
          <a:prstGeom prst="roundRect">
            <a:avLst>
              <a:gd name="adj" fmla="val 2838"/>
            </a:avLst>
          </a:prstGeom>
          <a:solidFill>
            <a:srgbClr val="FFFFFF"/>
          </a:solidFill>
          <a:ln w="12700">
            <a:solidFill>
              <a:srgbClr val="C9D3E0"/>
            </a:solidFill>
            <a:prstDash val="solid"/>
          </a:ln>
        </p:spPr>
      </p:sp>
      <p:pic>
        <p:nvPicPr>
          <p:cNvPr id="5" name="layar 1" descr="Tangkapan layar aplikasi (jobsheet_praktikum1.jpg)">    </p:cNvPr>
          <p:cNvPicPr>
            <a:picLocks noChangeAspect="1"/>
          </p:cNvPicPr>
          <p:nvPr/>
        </p:nvPicPr>
        <p:blipFill>
          <a:blip r:embed="rId1"/>
          <a:stretch>
            <a:fillRect/>
          </a:stretch>
        </p:blipFill>
        <p:spPr>
          <a:xfrm>
            <a:off x="5608015" y="1371600"/>
            <a:ext cx="6035040" cy="3111817"/>
          </a:xfrm>
          <a:prstGeom prst="rect">
            <a:avLst/>
          </a:prstGeom>
        </p:spPr>
      </p:pic>
      <p:sp>
        <p:nvSpPr>
          <p:cNvPr id="6" name="daftar poin"/>
          <p:cNvSpPr txBox="1"/>
          <p:nvPr/>
        </p:nvSpPr>
        <p:spPr>
          <a:xfrm>
            <a:off x="548640" y="1417320"/>
            <a:ext cx="4602175" cy="4800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Sederhana: satu bentuk utama yang tetap jelas saat kecil (± 1 cm di HP).</a:t>
            </a:r>
            <a:endParaRPr lang="en-US" sz="1600" dirty="0"/>
          </a:p>
          <a:p>
            <a:pPr marL="228600" indent="-228600">
              <a:spcAft>
                <a:spcPts val="800"/>
              </a:spcAft>
              <a:buSzPct val="100000"/>
              <a:buChar char="•"/>
            </a:pPr>
            <a:r>
              <a:rPr lang="en-US" sz="1600" dirty="0">
                <a:solidFill>
                  <a:schemeClr val="tx1"/>
                </a:solidFill>
              </a:rPr>
              <a:t>Persegi 1024 × 1024 piksel, PNG; untuk iPhone tidak boleh transparan.</a:t>
            </a:r>
            <a:endParaRPr lang="en-US" sz="1600" dirty="0"/>
          </a:p>
          <a:p>
            <a:pPr marL="228600" indent="-228600">
              <a:spcAft>
                <a:spcPts val="800"/>
              </a:spcAft>
              <a:buSzPct val="100000"/>
              <a:buChar char="•"/>
            </a:pPr>
            <a:r>
              <a:rPr lang="en-US" sz="1600" dirty="0">
                <a:solidFill>
                  <a:schemeClr val="tx1"/>
                </a:solidFill>
              </a:rPr>
              <a:t>Ikon adaptif (Android 8+): lapisan belakang + lapisan depan, lalu dipotong HP (lingkaran, persegi membulat, ...).</a:t>
            </a:r>
            <a:endParaRPr lang="en-US" sz="1600" dirty="0"/>
          </a:p>
          <a:p>
            <a:pPr marL="228600" indent="-228600">
              <a:spcAft>
                <a:spcPts val="800"/>
              </a:spcAft>
              <a:buSzPct val="100000"/>
              <a:buChar char="•"/>
            </a:pPr>
            <a:r>
              <a:rPr lang="en-US" sz="1600" dirty="0">
                <a:solidFill>
                  <a:schemeClr val="tx1"/>
                </a:solidFill>
              </a:rPr>
              <a:t>Simbol di TENGAH; pinggirannya boleh terpotong.</a:t>
            </a:r>
            <a:endParaRPr lang="en-US" sz="1600" dirty="0"/>
          </a:p>
          <a:p>
            <a:pPr marL="228600" indent="-228600">
              <a:spcAft>
                <a:spcPts val="800"/>
              </a:spcAft>
              <a:buSzPct val="100000"/>
              <a:buChar char="•"/>
            </a:pPr>
            <a:r>
              <a:rPr lang="en-US" sz="1600" dirty="0">
                <a:solidFill>
                  <a:schemeClr val="tx1"/>
                </a:solidFill>
              </a:rPr>
              <a:t>Android 13+: themed icon, satu warna mengikuti tema HP.</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Semua Ukuran Ikon: flutter_launcher_icons</a:t>
            </a:r>
            <a:endParaRPr lang="en-US" sz="3200" dirty="0"/>
          </a:p>
        </p:txBody>
      </p:sp>
      <p:sp>
        <p:nvSpPr>
          <p:cNvPr id="4" name="kotak kode"/>
          <p:cNvSpPr txBox="1"/>
          <p:nvPr/>
        </p:nvSpPr>
        <p:spPr>
          <a:xfrm>
            <a:off x="548640" y="1371600"/>
            <a:ext cx="7223760" cy="3227832"/>
          </a:xfrm>
          <a:prstGeom prst="roundRect">
            <a:avLst>
              <a:gd name="adj" fmla="val 2833"/>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flutter pub add dev:flutter_launcher_icons</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di AKHIR pubspec.yaml, sejajar dengan flutter: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flutter_launcher_icons: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android: true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ios: true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remove_alpha_ios: true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image_path: </a:t>
            </a:r>
            <a:r>
              <a:rPr lang="en-US" sz="1100" dirty="0">
                <a:solidFill>
                  <a:srgbClr val="C3E88D"/>
                </a:solidFill>
                <a:latin typeface="Consolas" pitchFamily="34" charset="0"/>
                <a:ea typeface="Consolas" pitchFamily="34" charset="-122"/>
                <a:cs typeface="Consolas" pitchFamily="34" charset="-120"/>
              </a:rPr>
              <a:t>"assets/ikon/ikon_tugas_kuliahku.png"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adaptive_icon_background: </a:t>
            </a:r>
            <a:r>
              <a:rPr lang="en-US" sz="1100" dirty="0">
                <a:solidFill>
                  <a:srgbClr val="C3E88D"/>
                </a:solidFill>
                <a:latin typeface="Consolas" pitchFamily="34" charset="0"/>
                <a:ea typeface="Consolas" pitchFamily="34" charset="-122"/>
                <a:cs typeface="Consolas" pitchFamily="34" charset="-120"/>
              </a:rPr>
              <a:t>"#673AB7"</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adaptive_icon_foreground: </a:t>
            </a:r>
            <a:r>
              <a:rPr lang="en-US" sz="1100" dirty="0">
                <a:solidFill>
                  <a:srgbClr val="C3E88D"/>
                </a:solidFill>
                <a:latin typeface="Consolas" pitchFamily="34" charset="0"/>
                <a:ea typeface="Consolas" pitchFamily="34" charset="-122"/>
                <a:cs typeface="Consolas" pitchFamily="34" charset="-120"/>
              </a:rPr>
              <a:t>"assets/ikon/ikon_tugas_kuliahku_latar_depan.png"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web:</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generate: true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image_path: </a:t>
            </a:r>
            <a:r>
              <a:rPr lang="en-US" sz="1100" dirty="0">
                <a:solidFill>
                  <a:srgbClr val="C3E88D"/>
                </a:solidFill>
                <a:latin typeface="Consolas" pitchFamily="34" charset="0"/>
                <a:ea typeface="Consolas" pitchFamily="34" charset="-122"/>
                <a:cs typeface="Consolas" pitchFamily="34" charset="-120"/>
              </a:rPr>
              <a:t>"assets/ikon/ikon_tugas_kuliahku.png"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background_color: </a:t>
            </a:r>
            <a:r>
              <a:rPr lang="en-US" sz="1100" dirty="0">
                <a:solidFill>
                  <a:srgbClr val="C3E88D"/>
                </a:solidFill>
                <a:latin typeface="Consolas" pitchFamily="34" charset="0"/>
                <a:ea typeface="Consolas" pitchFamily="34" charset="-122"/>
                <a:cs typeface="Consolas" pitchFamily="34" charset="-120"/>
              </a:rPr>
              <a:t>"#673AB7"</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theme_color: </a:t>
            </a:r>
            <a:r>
              <a:rPr lang="en-US" sz="1100" dirty="0">
                <a:solidFill>
                  <a:srgbClr val="C3E88D"/>
                </a:solidFill>
                <a:latin typeface="Consolas" pitchFamily="34" charset="0"/>
                <a:ea typeface="Consolas" pitchFamily="34" charset="-122"/>
                <a:cs typeface="Consolas" pitchFamily="34" charset="-120"/>
              </a:rPr>
              <a:t>"#673AB7"</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lalu: dart run flutter_launcher_icons</a:t>
            </a:r>
            <a:endParaRPr lang="en-US" sz="1100" dirty="0"/>
          </a:p>
        </p:txBody>
      </p:sp>
      <p:sp>
        <p:nvSpPr>
          <p:cNvPr id="5" name="daftar poin"/>
          <p:cNvSpPr txBox="1"/>
          <p:nvPr/>
        </p:nvSpPr>
        <p:spPr>
          <a:xfrm>
            <a:off x="8183880" y="1417320"/>
            <a:ext cx="34591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Dev dependency: hanya dipakai saat pengembangan, tidak ikut ke aplikasi.</a:t>
            </a:r>
            <a:endParaRPr lang="en-US" sz="1700" dirty="0"/>
          </a:p>
          <a:p>
            <a:pPr marL="228600" indent="-228600">
              <a:spcAft>
                <a:spcPts val="800"/>
              </a:spcAft>
              <a:buSzPct val="100000"/>
              <a:buChar char="•"/>
            </a:pPr>
            <a:r>
              <a:rPr lang="en-US" sz="1700" dirty="0">
                <a:solidFill>
                  <a:schemeClr val="tx1"/>
                </a:solidFill>
              </a:rPr>
              <a:t>Menulis ulang ikon di android/.../mipmap-*, ios/.../Assets.xcassets, dan web/. Lihat dengan git status.</a:t>
            </a:r>
            <a:endParaRPr lang="en-US" sz="1700" dirty="0"/>
          </a:p>
          <a:p>
            <a:pPr marL="228600" indent="-228600">
              <a:spcAft>
                <a:spcPts val="800"/>
              </a:spcAft>
              <a:buSzPct val="100000"/>
              <a:buChar char="•"/>
            </a:pPr>
            <a:r>
              <a:rPr lang="en-US" sz="1700" dirty="0">
                <a:solidFill>
                  <a:schemeClr val="tx1"/>
                </a:solidFill>
              </a:rPr>
              <a:t>Ikon adaptif dibuat hanya jika background DAN foreground diisi; inset bawaan 16%.</a:t>
            </a:r>
            <a:endParaRPr lang="en-US" sz="1700" dirty="0"/>
          </a:p>
          <a:p>
            <a:pPr marL="228600" indent="-228600">
              <a:spcAft>
                <a:spcPts val="800"/>
              </a:spcAft>
              <a:buSzPct val="100000"/>
              <a:buChar char="•"/>
            </a:pPr>
            <a:r>
              <a:rPr lang="en-US" sz="1700" dirty="0">
                <a:solidFill>
                  <a:schemeClr val="tx1"/>
                </a:solidFill>
              </a:rPr>
              <a:t>Ikon lama masih tampil? Hapus aplikasi dari HP; di Chrome: Ctrl + Shift + 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Layar Pembuka: flutter_native_splash</a:t>
            </a:r>
            <a:endParaRPr lang="en-US" sz="3200" dirty="0"/>
          </a:p>
        </p:txBody>
      </p:sp>
      <p:sp>
        <p:nvSpPr>
          <p:cNvPr id="4" name="kotak kode"/>
          <p:cNvSpPr txBox="1"/>
          <p:nvPr/>
        </p:nvSpPr>
        <p:spPr>
          <a:xfrm>
            <a:off x="548640" y="1371600"/>
            <a:ext cx="6949440" cy="3011805"/>
          </a:xfrm>
          <a:prstGeom prst="roundRect">
            <a:avLst>
              <a:gd name="adj" fmla="val 3036"/>
            </a:avLst>
          </a:prstGeom>
          <a:solidFill>
            <a:srgbClr val="0E1A2B"/>
          </a:solidFill>
          <a:ln/>
        </p:spPr>
        <p:txBody>
          <a:bodyPr wrap="square" lIns="177800" tIns="152400" rIns="152400" bIns="177800" rtlCol="0" anchor="t"/>
          <a:lstStyle/>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flutter pub add dev:flutter_native_splash</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flutter_native_splash:</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color: </a:t>
            </a:r>
            <a:r>
              <a:rPr lang="en-US" sz="1250" dirty="0">
                <a:solidFill>
                  <a:srgbClr val="C3E88D"/>
                </a:solidFill>
                <a:latin typeface="Consolas" pitchFamily="34" charset="0"/>
                <a:ea typeface="Consolas" pitchFamily="34" charset="-122"/>
                <a:cs typeface="Consolas" pitchFamily="34" charset="-120"/>
              </a:rPr>
              <a:t>"#673AB7"</a:t>
            </a:r>
            <a:r>
              <a:rPr lang="en-US" sz="1250" dirty="0">
                <a:solidFill>
                  <a:srgbClr val="E6EDF3"/>
                </a:solidFill>
                <a:latin typeface="Consolas" pitchFamily="34" charset="0"/>
                <a:ea typeface="Consolas" pitchFamily="34" charset="-122"/>
                <a:cs typeface="Consolas" pitchFamily="34" charset="-120"/>
              </a:rPr>
              <a:t>        </a:t>
            </a:r>
            <a:r>
              <a:rPr lang="en-US" sz="1250" i="1" dirty="0">
                <a:solidFill>
                  <a:srgbClr val="8FA3BC"/>
                </a:solidFill>
                <a:latin typeface="Consolas" pitchFamily="34" charset="0"/>
                <a:ea typeface="Consolas" pitchFamily="34" charset="-122"/>
                <a:cs typeface="Consolas" pitchFamily="34" charset="-120"/>
              </a:rPr>
              <a:t># warna latar (mode terang)</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color_dark: </a:t>
            </a:r>
            <a:r>
              <a:rPr lang="en-US" sz="1250" dirty="0">
                <a:solidFill>
                  <a:srgbClr val="C3E88D"/>
                </a:solidFill>
                <a:latin typeface="Consolas" pitchFamily="34" charset="0"/>
                <a:ea typeface="Consolas" pitchFamily="34" charset="-122"/>
                <a:cs typeface="Consolas" pitchFamily="34" charset="-120"/>
              </a:rPr>
              <a:t>"#311B92"</a:t>
            </a:r>
            <a:r>
              <a:rPr lang="en-US" sz="1250" dirty="0">
                <a:solidFill>
                  <a:srgbClr val="E6EDF3"/>
                </a:solidFill>
                <a:latin typeface="Consolas" pitchFamily="34" charset="0"/>
                <a:ea typeface="Consolas" pitchFamily="34" charset="-122"/>
                <a:cs typeface="Consolas" pitchFamily="34" charset="-120"/>
              </a:rPr>
              <a:t>   </a:t>
            </a:r>
            <a:r>
              <a:rPr lang="en-US" sz="1250" i="1" dirty="0">
                <a:solidFill>
                  <a:srgbClr val="8FA3BC"/>
                </a:solidFill>
                <a:latin typeface="Consolas" pitchFamily="34" charset="0"/>
                <a:ea typeface="Consolas" pitchFamily="34" charset="-122"/>
                <a:cs typeface="Consolas" pitchFamily="34" charset="-120"/>
              </a:rPr>
              <a:t># warna latar (mode gelap)</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image: assets/ikon/ikon_tugas_kuliahku_latar_depan.png</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android_12:</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color: </a:t>
            </a:r>
            <a:r>
              <a:rPr lang="en-US" sz="1250" dirty="0">
                <a:solidFill>
                  <a:srgbClr val="C3E88D"/>
                </a:solidFill>
                <a:latin typeface="Consolas" pitchFamily="34" charset="0"/>
                <a:ea typeface="Consolas" pitchFamily="34" charset="-122"/>
                <a:cs typeface="Consolas" pitchFamily="34" charset="-120"/>
              </a:rPr>
              <a:t>"#673AB7"</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color_dark: </a:t>
            </a:r>
            <a:r>
              <a:rPr lang="en-US" sz="1250" dirty="0">
                <a:solidFill>
                  <a:srgbClr val="C3E88D"/>
                </a:solidFill>
                <a:latin typeface="Consolas" pitchFamily="34" charset="0"/>
                <a:ea typeface="Consolas" pitchFamily="34" charset="-122"/>
                <a:cs typeface="Consolas" pitchFamily="34" charset="-120"/>
              </a:rPr>
              <a:t>"#311B92"</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i="1" dirty="0">
                <a:solidFill>
                  <a:srgbClr val="8FA3BC"/>
                </a:solidFill>
                <a:latin typeface="Consolas" pitchFamily="34" charset="0"/>
                <a:ea typeface="Consolas" pitchFamily="34" charset="-122"/>
                <a:cs typeface="Consolas" pitchFamily="34" charset="-120"/>
              </a:rPr>
              <a:t># 1152 x 1152, isi di lingkaran tengah 768 piksel</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image: assets/ikon/layar_pembuka_android12.png</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membuat:  dart run flutter_native_splash:create</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kembali:  dart run flutter_native_splash:remove</a:t>
            </a:r>
            <a:endParaRPr lang="en-US" sz="125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Layar pembuka mengisi jeda sampai Flutter siap menggambar layar pertama.</a:t>
            </a:r>
            <a:endParaRPr lang="en-US" sz="1700" dirty="0"/>
          </a:p>
          <a:p>
            <a:pPr marL="228600" indent="-228600">
              <a:spcAft>
                <a:spcPts val="800"/>
              </a:spcAft>
              <a:buSzPct val="100000"/>
              <a:buChar char="•"/>
            </a:pPr>
            <a:r>
              <a:rPr lang="en-US" sz="1700" dirty="0">
                <a:solidFill>
                  <a:schemeClr val="tx1"/>
                </a:solidFill>
              </a:rPr>
              <a:t>Android 12+: sistem SELALU menampilkan layar pembuka berisi ikon di tengah.</a:t>
            </a:r>
            <a:endParaRPr lang="en-US" sz="1700" dirty="0"/>
          </a:p>
          <a:p>
            <a:pPr marL="228600" indent="-228600">
              <a:spcAft>
                <a:spcPts val="800"/>
              </a:spcAft>
              <a:buSzPct val="100000"/>
              <a:buChar char="•"/>
            </a:pPr>
            <a:r>
              <a:rPr lang="en-US" sz="1700" dirty="0">
                <a:solidFill>
                  <a:schemeClr val="tx1"/>
                </a:solidFill>
              </a:rPr>
              <a:t>Jangan membuat "layar pembuka palsu" yang menahan pengguna 3 detik demi logo.</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Menangani Galat di Aplikasi Rilis</a:t>
            </a:r>
            <a:endParaRPr lang="en-US" sz="4000" dirty="0"/>
          </a:p>
        </p:txBody>
      </p:sp>
      <p:sp>
        <p:nvSpPr>
          <p:cNvPr id="5" name="lingkaran galat"/>
          <p:cNvSpPr/>
          <p:nvPr/>
        </p:nvSpPr>
        <p:spPr>
          <a:xfrm>
            <a:off x="1097280" y="2148840"/>
            <a:ext cx="2011680" cy="2011680"/>
          </a:xfrm>
          <a:prstGeom prst="ellipse">
            <a:avLst/>
          </a:prstGeom>
          <a:solidFill>
            <a:schemeClr val="accent1"/>
          </a:solidFill>
          <a:ln/>
        </p:spPr>
      </p:sp>
      <p:pic>
        <p:nvPicPr>
          <p:cNvPr id="6" name="Image 0" descr="gala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Galat yang Diduga dan Galat yang Tidak Terduga</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7166"/>
                <a:gridCol w="4492780"/>
                <a:gridCol w="4584469"/>
              </a:tblGrid>
              <a:tr h="777240">
                <a:tc>
                  <a:txBody>
                    <a:bodyPr/>
                    <a:lstStyle/>
                    <a:p>
                      <a:pPr indent="0" marL="0">
                        <a:buNone/>
                      </a:pP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Diduga (Exception)</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Tidak terduga (Error, bug)</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Contoh</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Internet putus, server menjawab 500, JSON rusak, izin ditolak</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Null check operator used on a null value, indeks di luar batas, salah tipe</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Penyebab</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Dunia luar</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Kode kita sendiri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Ditangani di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Tempatnya: try–catch di repository/ViewModel, lalu pesan ramah (P10–12)</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Jaring pengaman di main(), lalu dicatat dan dikirim ke pengembang</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Tujuan</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Pengguna tahu apa yang terjadi dan bisa mencoba lagi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Pengembang tahu ada bug dan memperbaikinya</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Jaring pengaman BUKAN pengganti try–catch. Ia lapisan terakhir untuk galat yang lolos. Dua hal disiapkan: pengganti kotak abu-abu yang sopan, dan pencatat galat.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Jaring Pengaman</a:t>
            </a:r>
            <a:endParaRPr lang="en-US" sz="3200" dirty="0"/>
          </a:p>
        </p:txBody>
      </p:sp>
      <p:sp>
        <p:nvSpPr>
          <p:cNvPr id="4" name="kotak kode"/>
          <p:cNvSpPr txBox="1"/>
          <p:nvPr/>
        </p:nvSpPr>
        <p:spPr>
          <a:xfrm>
            <a:off x="548640" y="1371600"/>
            <a:ext cx="694944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 mulaiAplikasi()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WidgetsFlutterBinding</a:t>
            </a:r>
            <a:r>
              <a:rPr lang="en-US" sz="1100" dirty="0">
                <a:solidFill>
                  <a:srgbClr val="E6EDF3"/>
                </a:solidFill>
                <a:latin typeface="Consolas" pitchFamily="34" charset="0"/>
                <a:ea typeface="Consolas" pitchFamily="34" charset="-122"/>
                <a:cs typeface="Consolas" pitchFamily="34" charset="-120"/>
              </a:rPr>
              <a:t>.ensureInitialized();</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1. Galat di dalam build, layout, dan paint.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FlutterError</a:t>
            </a:r>
            <a:r>
              <a:rPr lang="en-US" sz="1100" dirty="0">
                <a:solidFill>
                  <a:srgbClr val="E6EDF3"/>
                </a:solidFill>
                <a:latin typeface="Consolas" pitchFamily="34" charset="0"/>
                <a:ea typeface="Consolas" pitchFamily="34" charset="-122"/>
                <a:cs typeface="Consolas" pitchFamily="34" charset="-120"/>
              </a:rPr>
              <a:t>.onError = (</a:t>
            </a:r>
            <a:r>
              <a:rPr lang="en-US" sz="1100" dirty="0">
                <a:solidFill>
                  <a:srgbClr val="FFCB6B"/>
                </a:solidFill>
                <a:latin typeface="Consolas" pitchFamily="34" charset="0"/>
                <a:ea typeface="Consolas" pitchFamily="34" charset="-122"/>
                <a:cs typeface="Consolas" pitchFamily="34" charset="-120"/>
              </a:rPr>
              <a:t>FlutterErrorDetails</a:t>
            </a:r>
            <a:r>
              <a:rPr lang="en-US" sz="1100" dirty="0">
                <a:solidFill>
                  <a:srgbClr val="E6EDF3"/>
                </a:solidFill>
                <a:latin typeface="Consolas" pitchFamily="34" charset="0"/>
                <a:ea typeface="Consolas" pitchFamily="34" charset="-122"/>
                <a:cs typeface="Consolas" pitchFamily="34" charset="-120"/>
              </a:rPr>
              <a:t> rincian)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FlutterError</a:t>
            </a:r>
            <a:r>
              <a:rPr lang="en-US" sz="1100" dirty="0">
                <a:solidFill>
                  <a:srgbClr val="E6EDF3"/>
                </a:solidFill>
                <a:latin typeface="Consolas" pitchFamily="34" charset="0"/>
                <a:ea typeface="Consolas" pitchFamily="34" charset="-122"/>
                <a:cs typeface="Consolas" pitchFamily="34" charset="-120"/>
              </a:rPr>
              <a:t>.presentError(rincian); </a:t>
            </a:r>
            <a:r>
              <a:rPr lang="en-US" sz="1100" i="1" dirty="0">
                <a:solidFill>
                  <a:srgbClr val="8FA3BC"/>
                </a:solidFill>
                <a:latin typeface="Consolas" pitchFamily="34" charset="0"/>
                <a:ea typeface="Consolas" pitchFamily="34" charset="-122"/>
                <a:cs typeface="Consolas" pitchFamily="34" charset="-120"/>
              </a:rPr>
              <a:t>// tetap di konsol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pelapor.catat(rincian.exception, rincian.stack, sumber: </a:t>
            </a:r>
            <a:r>
              <a:rPr lang="en-US" sz="1100" dirty="0">
                <a:solidFill>
                  <a:srgbClr val="C3E88D"/>
                </a:solidFill>
                <a:latin typeface="Consolas" pitchFamily="34" charset="0"/>
                <a:ea typeface="Consolas" pitchFamily="34" charset="-122"/>
                <a:cs typeface="Consolas" pitchFamily="34" charset="-120"/>
              </a:rPr>
              <a:t>'widget'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2. Galat asinkron yang lolos (Android, iOS, desktop).</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PlatformDispatcher</a:t>
            </a:r>
            <a:r>
              <a:rPr lang="en-US" sz="1100" dirty="0">
                <a:solidFill>
                  <a:srgbClr val="E6EDF3"/>
                </a:solidFill>
                <a:latin typeface="Consolas" pitchFamily="34" charset="0"/>
                <a:ea typeface="Consolas" pitchFamily="34" charset="-122"/>
                <a:cs typeface="Consolas" pitchFamily="34" charset="-120"/>
              </a:rPr>
              <a:t>.instance.onError = (</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 galat, </a:t>
            </a:r>
            <a:r>
              <a:rPr lang="en-US" sz="1100" dirty="0">
                <a:solidFill>
                  <a:srgbClr val="FFCB6B"/>
                </a:solidFill>
                <a:latin typeface="Consolas" pitchFamily="34" charset="0"/>
                <a:ea typeface="Consolas" pitchFamily="34" charset="-122"/>
                <a:cs typeface="Consolas" pitchFamily="34" charset="-120"/>
              </a:rPr>
              <a:t>StackTrace</a:t>
            </a:r>
            <a:r>
              <a:rPr lang="en-US" sz="1100" dirty="0">
                <a:solidFill>
                  <a:srgbClr val="E6EDF3"/>
                </a:solidFill>
                <a:latin typeface="Consolas" pitchFamily="34" charset="0"/>
                <a:ea typeface="Consolas" pitchFamily="34" charset="-122"/>
                <a:cs typeface="Consolas" pitchFamily="34" charset="-120"/>
              </a:rPr>
              <a:t> jejak)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pelapor.catat(galat, jejak, sumber: </a:t>
            </a:r>
            <a:r>
              <a:rPr lang="en-US" sz="1100" dirty="0">
                <a:solidFill>
                  <a:srgbClr val="C3E88D"/>
                </a:solidFill>
                <a:latin typeface="Consolas" pitchFamily="34" charset="0"/>
                <a:ea typeface="Consolas" pitchFamily="34" charset="-122"/>
                <a:cs typeface="Consolas" pitchFamily="34" charset="-120"/>
              </a:rPr>
              <a:t>'async (platform)'</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true</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true = galat sudah ditangani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3. Pengganti kotak merah (debug) dan kotak abu-abu (rilis).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ErrorWidget</a:t>
            </a:r>
            <a:r>
              <a:rPr lang="en-US" sz="1100" dirty="0">
                <a:solidFill>
                  <a:srgbClr val="E6EDF3"/>
                </a:solidFill>
                <a:latin typeface="Consolas" pitchFamily="34" charset="0"/>
                <a:ea typeface="Consolas" pitchFamily="34" charset="-122"/>
                <a:cs typeface="Consolas" pitchFamily="34" charset="-120"/>
              </a:rPr>
              <a:t>.builder = (</a:t>
            </a:r>
            <a:r>
              <a:rPr lang="en-US" sz="1100" dirty="0">
                <a:solidFill>
                  <a:srgbClr val="FFCB6B"/>
                </a:solidFill>
                <a:latin typeface="Consolas" pitchFamily="34" charset="0"/>
                <a:ea typeface="Consolas" pitchFamily="34" charset="-122"/>
                <a:cs typeface="Consolas" pitchFamily="34" charset="-120"/>
              </a:rPr>
              <a:t>FlutterErrorDetails</a:t>
            </a:r>
            <a:r>
              <a:rPr lang="en-US" sz="1100" dirty="0">
                <a:solidFill>
                  <a:srgbClr val="E6EDF3"/>
                </a:solidFill>
                <a:latin typeface="Consolas" pitchFamily="34" charset="0"/>
                <a:ea typeface="Consolas" pitchFamily="34" charset="-122"/>
                <a:cs typeface="Consolas" pitchFamily="34" charset="-120"/>
              </a:rPr>
              <a:t> rincian)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KotakGalatRamah</a:t>
            </a:r>
            <a:r>
              <a:rPr lang="en-US" sz="1100" dirty="0">
                <a:solidFill>
                  <a:srgbClr val="E6EDF3"/>
                </a:solidFill>
                <a:latin typeface="Consolas" pitchFamily="34" charset="0"/>
                <a:ea typeface="Consolas" pitchFamily="34" charset="-122"/>
                <a:cs typeface="Consolas" pitchFamily="34" charset="-120"/>
              </a:rPr>
              <a:t>(rincian: rincian);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runApp(</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AplikasiUjiGalat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5_build_rilis_dan_finalisasi/kode/contoh_03_menangani_galat_di_rilis.dart"/>
          </p:cNvPr>
          <p:cNvSpPr txBox="1"/>
          <p:nvPr/>
        </p:nvSpPr>
        <p:spPr>
          <a:xfrm>
            <a:off x="548640" y="570814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contoh_03_menangani_galat_di_rilis.dart</a:t>
            </a:r>
            <a:endParaRPr lang="en-US" sz="1300" dirty="0"/>
          </a:p>
        </p:txBody>
      </p:sp>
      <p:pic>
        <p:nvPicPr>
          <p:cNvPr id="6" name="Image 0" descr="ikon tautan">
            <a:hlinkClick r:id="rId3" tooltip="https://github.com/antonprafanto/mobile2026/blob/main/pertemuan_15_build_rilis_dan_finalisasi/kode/contoh_03_menangani_galat_di_rilis.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FlutterError.onError: galat saat membangun, menata, menggambar widget (misalnya nilai! yang null di build).</a:t>
            </a:r>
            <a:endParaRPr lang="en-US" sz="1700" dirty="0"/>
          </a:p>
          <a:p>
            <a:pPr marL="228600" indent="-228600">
              <a:spcAft>
                <a:spcPts val="800"/>
              </a:spcAft>
              <a:buSzPct val="100000"/>
              <a:buChar char="•"/>
            </a:pPr>
            <a:r>
              <a:rPr lang="en-US" sz="1700" dirty="0">
                <a:solidFill>
                  <a:schemeClr val="tx1"/>
                </a:solidFill>
              </a:rPr>
              <a:t>PlatformDispatcher.instance.onError: Future gagal yang tidak di-await siapa pun.</a:t>
            </a:r>
            <a:endParaRPr lang="en-US" sz="1700" dirty="0"/>
          </a:p>
          <a:p>
            <a:pPr marL="228600" indent="-228600">
              <a:spcAft>
                <a:spcPts val="800"/>
              </a:spcAft>
              <a:buSzPct val="100000"/>
              <a:buChar char="•"/>
            </a:pPr>
            <a:r>
              <a:rPr lang="en-US" sz="1700" dirty="0">
                <a:solidFill>
                  <a:schemeClr val="tx1"/>
                </a:solidFill>
              </a:rPr>
              <a:t>ErrorWidget.builder: bukan penangkap, melainkan PENGGANTI TAMPILAN widget yang gagal.</a:t>
            </a:r>
            <a:endParaRPr lang="en-US" sz="1700" dirty="0"/>
          </a:p>
          <a:p>
            <a:pPr marL="228600" indent="-228600">
              <a:spcAft>
                <a:spcPts val="800"/>
              </a:spcAft>
              <a:buSzPct val="100000"/>
              <a:buChar char="•"/>
            </a:pPr>
            <a:r>
              <a:rPr lang="en-US" sz="1700" dirty="0">
                <a:solidFill>
                  <a:schemeClr val="tx1"/>
                </a:solidFill>
              </a:rPr>
              <a:t>Aplikasi sungguhan mengirim catatan ke Crashlytics atau Sentry, TANPA data pribadi.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Di Web: Tambahkan runZonedGuarded</a:t>
            </a:r>
            <a:endParaRPr lang="en-US" sz="3200" dirty="0"/>
          </a:p>
        </p:txBody>
      </p:sp>
      <p:sp>
        <p:nvSpPr>
          <p:cNvPr id="4" name="kotak kode"/>
          <p:cNvSpPr txBox="1"/>
          <p:nvPr/>
        </p:nvSpPr>
        <p:spPr>
          <a:xfrm>
            <a:off x="548640" y="1371600"/>
            <a:ext cx="6949440" cy="3531870"/>
          </a:xfrm>
          <a:prstGeom prst="roundRect">
            <a:avLst>
              <a:gd name="adj" fmla="val 2589"/>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 main()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(kIsWeb)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Semua kode di dalam runZonedGuarded berada di satu</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"zona". Galat asinkron yang tidak ditangkap di zona ini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diteruskan ke fungsi kedua, alih-alih hilang di konsol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browser.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runZonedGuarded(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mulaiAplikasi,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Object</a:t>
            </a:r>
            <a:r>
              <a:rPr lang="en-US" sz="1300" dirty="0">
                <a:solidFill>
                  <a:srgbClr val="E6EDF3"/>
                </a:solidFill>
                <a:latin typeface="Consolas" pitchFamily="34" charset="0"/>
                <a:ea typeface="Consolas" pitchFamily="34" charset="-122"/>
                <a:cs typeface="Consolas" pitchFamily="34" charset="-120"/>
              </a:rPr>
              <a:t> galat, </a:t>
            </a:r>
            <a:r>
              <a:rPr lang="en-US" sz="1300" dirty="0">
                <a:solidFill>
                  <a:srgbClr val="FFCB6B"/>
                </a:solidFill>
                <a:latin typeface="Consolas" pitchFamily="34" charset="0"/>
                <a:ea typeface="Consolas" pitchFamily="34" charset="-122"/>
                <a:cs typeface="Consolas" pitchFamily="34" charset="-120"/>
              </a:rPr>
              <a:t>StackTrace</a:t>
            </a:r>
            <a:r>
              <a:rPr lang="en-US" sz="1300" dirty="0">
                <a:solidFill>
                  <a:srgbClr val="E6EDF3"/>
                </a:solidFill>
                <a:latin typeface="Consolas" pitchFamily="34" charset="0"/>
                <a:ea typeface="Consolas" pitchFamily="34" charset="-122"/>
                <a:cs typeface="Consolas" pitchFamily="34" charset="-120"/>
              </a:rPr>
              <a:t> jejak)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pelapor.catat(galat, jejak, sumber: </a:t>
            </a:r>
            <a:r>
              <a:rPr lang="en-US" sz="1300" dirty="0">
                <a:solidFill>
                  <a:srgbClr val="C3E88D"/>
                </a:solidFill>
                <a:latin typeface="Consolas" pitchFamily="34" charset="0"/>
                <a:ea typeface="Consolas" pitchFamily="34" charset="-122"/>
                <a:cs typeface="Consolas" pitchFamily="34" charset="-120"/>
              </a:rPr>
              <a:t>'async (zona web)'</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C792EA"/>
                </a:solidFill>
                <a:latin typeface="Consolas" pitchFamily="34" charset="0"/>
                <a:ea typeface="Consolas" pitchFamily="34" charset="-122"/>
                <a:cs typeface="Consolas" pitchFamily="34" charset="-120"/>
              </a:rPr>
              <a:t>else</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mulaiAplikasi();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Saat kami menguji di DartPad, galat asinkron yang lolos TIDAK sampai ke PlatformDispatcher.instance.onError.</a:t>
            </a:r>
            <a:endParaRPr lang="en-US" sz="1700" dirty="0"/>
          </a:p>
          <a:p>
            <a:pPr marL="228600" indent="-228600">
              <a:spcAft>
                <a:spcPts val="800"/>
              </a:spcAft>
              <a:buSzPct val="100000"/>
              <a:buChar char="•"/>
            </a:pPr>
            <a:r>
              <a:rPr lang="en-US" sz="1700" dirty="0">
                <a:solidFill>
                  <a:schemeClr val="tx1"/>
                </a:solidFill>
              </a:rPr>
              <a:t>Galat itu hanya muncul di konsol browser, jadi web memakai zona.</a:t>
            </a:r>
            <a:endParaRPr lang="en-US" sz="1700" dirty="0"/>
          </a:p>
          <a:p>
            <a:pPr marL="228600" indent="-228600">
              <a:spcAft>
                <a:spcPts val="800"/>
              </a:spcAft>
              <a:buSzPct val="100000"/>
              <a:buChar char="•"/>
            </a:pPr>
            <a:r>
              <a:rPr lang="en-US" sz="1700" dirty="0">
                <a:solidFill>
                  <a:schemeClr val="tx1"/>
                </a:solidFill>
              </a:rPr>
              <a:t>ensureInitialized() dan runApp() harus di DALAM zona yang sama: keduanya ada di mulaiAplikasi().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Pengganti Layar Merah yang Ramah</a:t>
            </a:r>
            <a:endParaRPr lang="en-US" sz="3200" dirty="0"/>
          </a:p>
        </p:txBody>
      </p:sp>
      <p:sp>
        <p:nvSpPr>
          <p:cNvPr id="4" name="kotak kode"/>
          <p:cNvSpPr txBox="1"/>
          <p:nvPr/>
        </p:nvSpPr>
        <p:spPr>
          <a:xfrm>
            <a:off x="548640" y="1371600"/>
            <a:ext cx="6583680" cy="4572000"/>
          </a:xfrm>
          <a:prstGeom prst="roundRect">
            <a:avLst>
              <a:gd name="adj" fmla="val 2000"/>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KotakGalatRamah</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StatelessWidget</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constructor dan field rincian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Widget</a:t>
            </a:r>
            <a:r>
              <a:rPr lang="en-US" sz="1100" dirty="0">
                <a:solidFill>
                  <a:srgbClr val="E6EDF3"/>
                </a:solidFill>
                <a:latin typeface="Consolas" pitchFamily="34" charset="0"/>
                <a:ea typeface="Consolas" pitchFamily="34" charset="-122"/>
                <a:cs typeface="Consolas" pitchFamily="34" charset="-120"/>
              </a:rPr>
              <a:t> build(</a:t>
            </a:r>
            <a:r>
              <a:rPr lang="en-US" sz="1100" dirty="0">
                <a:solidFill>
                  <a:srgbClr val="FFCB6B"/>
                </a:solidFill>
                <a:latin typeface="Consolas" pitchFamily="34" charset="0"/>
                <a:ea typeface="Consolas" pitchFamily="34" charset="-122"/>
                <a:cs typeface="Consolas" pitchFamily="34" charset="-120"/>
              </a:rPr>
              <a:t>BuildContext</a:t>
            </a:r>
            <a:r>
              <a:rPr lang="en-US" sz="1100" dirty="0">
                <a:solidFill>
                  <a:srgbClr val="E6EDF3"/>
                </a:solidFill>
                <a:latin typeface="Consolas" pitchFamily="34" charset="0"/>
                <a:ea typeface="Consolas" pitchFamily="34" charset="-122"/>
                <a:cs typeface="Consolas" pitchFamily="34" charset="-120"/>
              </a:rPr>
              <a:t> context)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Bisa muncul DI MANA SAJA (bahkan di atas MaterialApp),</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jadi Directionality dan Material disediakan sendiri.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Directionality</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textDirection: </a:t>
            </a:r>
            <a:r>
              <a:rPr lang="en-US" sz="1100" dirty="0">
                <a:solidFill>
                  <a:srgbClr val="FFCB6B"/>
                </a:solidFill>
                <a:latin typeface="Consolas" pitchFamily="34" charset="0"/>
                <a:ea typeface="Consolas" pitchFamily="34" charset="-122"/>
                <a:cs typeface="Consolas" pitchFamily="34" charset="-120"/>
              </a:rPr>
              <a:t>TextDirection</a:t>
            </a:r>
            <a:r>
              <a:rPr lang="en-US" sz="1100" dirty="0">
                <a:solidFill>
                  <a:srgbClr val="E6EDF3"/>
                </a:solidFill>
                <a:latin typeface="Consolas" pitchFamily="34" charset="0"/>
                <a:ea typeface="Consolas" pitchFamily="34" charset="-122"/>
                <a:cs typeface="Consolas" pitchFamily="34" charset="-120"/>
              </a:rPr>
              <a:t>.ltr,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 </a:t>
            </a:r>
            <a:r>
              <a:rPr lang="en-US" sz="1100" dirty="0">
                <a:solidFill>
                  <a:srgbClr val="FFCB6B"/>
                </a:solidFill>
                <a:latin typeface="Consolas" pitchFamily="34" charset="0"/>
                <a:ea typeface="Consolas" pitchFamily="34" charset="-122"/>
                <a:cs typeface="Consolas" pitchFamily="34" charset="-120"/>
              </a:rPr>
              <a:t>Material</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color: </a:t>
            </a:r>
            <a:r>
              <a:rPr lang="en-US" sz="1100" dirty="0">
                <a:solidFill>
                  <a:srgbClr val="FFCB6B"/>
                </a:solidFill>
                <a:latin typeface="Consolas" pitchFamily="34" charset="0"/>
                <a:ea typeface="Consolas" pitchFamily="34" charset="-122"/>
                <a:cs typeface="Consolas" pitchFamily="34" charset="-120"/>
              </a:rPr>
              <a:t>Colors</a:t>
            </a:r>
            <a:r>
              <a:rPr lang="en-US" sz="1100" dirty="0">
                <a:solidFill>
                  <a:srgbClr val="E6EDF3"/>
                </a:solidFill>
                <a:latin typeface="Consolas" pitchFamily="34" charset="0"/>
                <a:ea typeface="Consolas" pitchFamily="34" charset="-122"/>
                <a:cs typeface="Consolas" pitchFamily="34" charset="-120"/>
              </a:rPr>
              <a:t>.orange.shade50,</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 </a:t>
            </a:r>
            <a:r>
              <a:rPr lang="en-US" sz="1100" dirty="0">
                <a:solidFill>
                  <a:srgbClr val="FFCB6B"/>
                </a:solidFill>
                <a:latin typeface="Consolas" pitchFamily="34" charset="0"/>
                <a:ea typeface="Consolas" pitchFamily="34" charset="-122"/>
                <a:cs typeface="Consolas" pitchFamily="34" charset="-120"/>
              </a:rPr>
              <a:t>Column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mainAxisSize: </a:t>
            </a:r>
            <a:r>
              <a:rPr lang="en-US" sz="1100" dirty="0">
                <a:solidFill>
                  <a:srgbClr val="FFCB6B"/>
                </a:solidFill>
                <a:latin typeface="Consolas" pitchFamily="34" charset="0"/>
                <a:ea typeface="Consolas" pitchFamily="34" charset="-122"/>
                <a:cs typeface="Consolas" pitchFamily="34" charset="-120"/>
              </a:rPr>
              <a:t>MainAxisSize</a:t>
            </a:r>
            <a:r>
              <a:rPr lang="en-US" sz="1100" dirty="0">
                <a:solidFill>
                  <a:srgbClr val="E6EDF3"/>
                </a:solidFill>
                <a:latin typeface="Consolas" pitchFamily="34" charset="0"/>
                <a:ea typeface="Consolas" pitchFamily="34" charset="-122"/>
                <a:cs typeface="Consolas" pitchFamily="34" charset="-120"/>
              </a:rPr>
              <a:t>.min,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children: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Text</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'Bagian ini gagal ditampilkan.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'Laporan sudah dicatat.'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Rincian teknis hanya untuk pengembang.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(kDebugMode) </a:t>
            </a:r>
            <a:r>
              <a:rPr lang="en-US" sz="1100" dirty="0">
                <a:solidFill>
                  <a:srgbClr val="FFCB6B"/>
                </a:solidFill>
                <a:latin typeface="Consolas" pitchFamily="34" charset="0"/>
                <a:ea typeface="Consolas" pitchFamily="34" charset="-122"/>
                <a:cs typeface="Consolas" pitchFamily="34" charset="-120"/>
              </a:rPr>
              <a:t>Text</a:t>
            </a:r>
            <a:r>
              <a:rPr lang="en-US" sz="1100" dirty="0">
                <a:solidFill>
                  <a:srgbClr val="E6EDF3"/>
                </a:solidFill>
                <a:latin typeface="Consolas" pitchFamily="34" charset="0"/>
                <a:ea typeface="Consolas" pitchFamily="34" charset="-122"/>
                <a:cs typeface="Consolas" pitchFamily="34" charset="-120"/>
              </a:rPr>
              <a:t>(rincian.exceptionAsString()),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Dipasang lewat ErrorWidget.builder: menggantikan kotak merah (debug) dan kotak abu-abu (rilis).</a:t>
            </a:r>
            <a:endParaRPr lang="en-US" sz="1700" dirty="0"/>
          </a:p>
          <a:p>
            <a:pPr marL="228600" indent="-228600">
              <a:spcAft>
                <a:spcPts val="800"/>
              </a:spcAft>
              <a:buSzPct val="100000"/>
              <a:buChar char="•"/>
            </a:pPr>
            <a:r>
              <a:rPr lang="en-US" sz="1700" dirty="0">
                <a:solidFill>
                  <a:schemeClr val="tx1"/>
                </a:solidFill>
              </a:rPr>
              <a:t>Hanya BAGIAN yang gagal yang diganti; sisa layar tetap bisa dipakai.</a:t>
            </a:r>
            <a:endParaRPr lang="en-US" sz="1700" dirty="0"/>
          </a:p>
          <a:p>
            <a:pPr marL="228600" indent="-228600">
              <a:spcAft>
                <a:spcPts val="800"/>
              </a:spcAft>
              <a:buSzPct val="100000"/>
              <a:buChar char="•"/>
            </a:pPr>
            <a:r>
              <a:rPr lang="en-US" sz="1700" dirty="0">
                <a:solidFill>
                  <a:schemeClr val="tx1"/>
                </a:solidFill>
              </a:rPr>
              <a:t>Rincian teknis hanya tampil saat kDebugMode.</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Coba Sendiri: Contoh 03 "Uji Galat"</a:t>
            </a:r>
            <a:endParaRPr lang="en-US" sz="3200" dirty="0"/>
          </a:p>
        </p:txBody>
      </p:sp>
      <p:sp>
        <p:nvSpPr>
          <p:cNvPr id="4" name="bingkai layar 1"/>
          <p:cNvSpPr/>
          <p:nvPr/>
        </p:nvSpPr>
        <p:spPr>
          <a:xfrm>
            <a:off x="5370271" y="1316736"/>
            <a:ext cx="3081528" cy="4730118"/>
          </a:xfrm>
          <a:prstGeom prst="roundRect">
            <a:avLst>
              <a:gd name="adj" fmla="val 2967"/>
            </a:avLst>
          </a:prstGeom>
          <a:solidFill>
            <a:srgbClr val="FFFFFF"/>
          </a:solidFill>
          <a:ln w="12700">
            <a:solidFill>
              <a:srgbClr val="C9D3E0"/>
            </a:solidFill>
            <a:prstDash val="solid"/>
          </a:ln>
        </p:spPr>
      </p:sp>
      <p:pic>
        <p:nvPicPr>
          <p:cNvPr id="5" name="layar 1" descr="Tangkapan layar aplikasi (hasil_contoh_03a.jpg)">    </p:cNvPr>
          <p:cNvPicPr>
            <a:picLocks noChangeAspect="1"/>
          </p:cNvPicPr>
          <p:nvPr/>
        </p:nvPicPr>
        <p:blipFill>
          <a:blip r:embed="rId1"/>
          <a:stretch>
            <a:fillRect/>
          </a:stretch>
        </p:blipFill>
        <p:spPr>
          <a:xfrm>
            <a:off x="5425135" y="1371600"/>
            <a:ext cx="2971800" cy="4620390"/>
          </a:xfrm>
          <a:prstGeom prst="rect">
            <a:avLst/>
          </a:prstGeom>
        </p:spPr>
      </p:pic>
      <p:sp>
        <p:nvSpPr>
          <p:cNvPr id="6" name="bingkai layar 2"/>
          <p:cNvSpPr/>
          <p:nvPr/>
        </p:nvSpPr>
        <p:spPr>
          <a:xfrm>
            <a:off x="8616391" y="1316736"/>
            <a:ext cx="3081528" cy="4730118"/>
          </a:xfrm>
          <a:prstGeom prst="roundRect">
            <a:avLst>
              <a:gd name="adj" fmla="val 2967"/>
            </a:avLst>
          </a:prstGeom>
          <a:solidFill>
            <a:srgbClr val="FFFFFF"/>
          </a:solidFill>
          <a:ln w="12700">
            <a:solidFill>
              <a:srgbClr val="C9D3E0"/>
            </a:solidFill>
            <a:prstDash val="solid"/>
          </a:ln>
        </p:spPr>
      </p:sp>
      <p:pic>
        <p:nvPicPr>
          <p:cNvPr id="7" name="layar 2" descr="Tangkapan layar aplikasi (hasil_contoh_03b.jpg)">    </p:cNvPr>
          <p:cNvPicPr>
            <a:picLocks noChangeAspect="1"/>
          </p:cNvPicPr>
          <p:nvPr/>
        </p:nvPicPr>
        <p:blipFill>
          <a:blip r:embed="rId2"/>
          <a:stretch>
            <a:fillRect/>
          </a:stretch>
        </p:blipFill>
        <p:spPr>
          <a:xfrm>
            <a:off x="8671255" y="1371600"/>
            <a:ext cx="2971800" cy="4620390"/>
          </a:xfrm>
          <a:prstGeom prst="rect">
            <a:avLst/>
          </a:prstGeom>
        </p:spPr>
      </p:pic>
      <p:sp>
        <p:nvSpPr>
          <p:cNvPr id="8" name="tombol tautan">
            <a:hlinkClick r:id="rId3" tooltip="https://github.com/antonprafanto/mobile2026/blob/main/pertemuan_15_build_rilis_dan_finalisasi/kode/contoh_03_menangani_galat_di_rilis.dart"/>
          </p:cNvPr>
          <p:cNvSpPr txBox="1"/>
          <p:nvPr/>
        </p:nvSpPr>
        <p:spPr>
          <a:xfrm>
            <a:off x="548640" y="1371600"/>
            <a:ext cx="441929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contoh_03_menangani_galat_di_rilis.dart</a:t>
            </a:r>
            <a:endParaRPr lang="en-US" sz="1300" dirty="0"/>
          </a:p>
        </p:txBody>
      </p:sp>
      <p:pic>
        <p:nvPicPr>
          <p:cNvPr id="9" name="Image 2" descr="ikon tautan">
            <a:hlinkClick r:id="rId5" tooltip="https://github.com/antonprafanto/mobile2026/blob/main/pertemuan_15_build_rilis_dan_finalisasi/kode/contoh_03_menangani_galat_di_rilis.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41929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Sakelar 1 "kartu yang rusak": kartu diganti kotak oranye, sisa layar normal → tercatat "widget".</a:t>
            </a:r>
            <a:endParaRPr lang="en-US" sz="1500" dirty="0"/>
          </a:p>
          <a:p>
            <a:pPr marL="228600" indent="-228600">
              <a:spcAft>
                <a:spcPts val="800"/>
              </a:spcAft>
              <a:buSzPct val="100000"/>
              <a:buChar char="•"/>
            </a:pPr>
            <a:r>
              <a:rPr lang="en-US" sz="1500" dirty="0">
                <a:solidFill>
                  <a:schemeClr val="tx1"/>
                </a:solidFill>
              </a:rPr>
              <a:t>Picu: tidak terlihat oleh pengguna → "async (zona web)" (di HP Android: "async (platform)").</a:t>
            </a:r>
            <a:endParaRPr lang="en-US" sz="1500" dirty="0"/>
          </a:p>
          <a:p>
            <a:pPr marL="228600" indent="-228600">
              <a:spcAft>
                <a:spcPts val="800"/>
              </a:spcAft>
              <a:buSzPct val="100000"/>
              <a:buChar char="•"/>
            </a:pPr>
            <a:r>
              <a:rPr lang="en-US" sz="1500" dirty="0">
                <a:solidFill>
                  <a:schemeClr val="tx1"/>
                </a:solidFill>
              </a:rPr>
              <a:t>Muat: SnackBar "Data gagal dibaca. Coba lagi nanti." → "ditangani".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8</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Halaman Tentang, Kebijakan Privasi, dan Lisensi</a:t>
            </a:r>
            <a:endParaRPr lang="en-US" sz="4000" dirty="0"/>
          </a:p>
        </p:txBody>
      </p:sp>
      <p:sp>
        <p:nvSpPr>
          <p:cNvPr id="5" name="lingkaran privasi"/>
          <p:cNvSpPr/>
          <p:nvPr/>
        </p:nvSpPr>
        <p:spPr>
          <a:xfrm>
            <a:off x="1097280" y="2148840"/>
            <a:ext cx="2011680" cy="2011680"/>
          </a:xfrm>
          <a:prstGeom prst="ellipse">
            <a:avLst/>
          </a:prstGeom>
          <a:solidFill>
            <a:schemeClr val="accent1"/>
          </a:solidFill>
          <a:ln/>
        </p:spPr>
      </p:sp>
      <p:pic>
        <p:nvPicPr>
          <p:cNvPr id="6" name="Image 0" descr="privas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Empat Pertanyaan yang Wajib Dijawab Aplikasi</a:t>
            </a:r>
            <a:endParaRPr lang="en-US" sz="3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842371"/>
                <a:gridCol w="4951227"/>
                <a:gridCol w="3300818"/>
              </a:tblGrid>
              <a:tr h="77724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Pertanyaan</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Mengapa</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Jawabannya di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Ini versi berapa?</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Laporan bug tanpa nomor versi sulit ditindaklanjuti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Halaman Tentang (package_info_plus)</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Datanya dari mana?</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Banyak penyedia data MEWAJIBKAN pencantuman sumber (Open-Meteo: CC BY 4.0; BMKG)</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Atribusi di dekat data DAN di halaman Tentang</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Data saya diapakan?</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Hak pengguna; diwajibkan Google Play untuk SEMUA aplikasi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Kebijakan privasi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Kode siapa saja yang dipakai?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Lisensi sumber terbuka mewajibkan pemberitahuan lisensi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50" dirty="0">
                          <a:solidFill>
                            <a:srgbClr val="1B2333"/>
                          </a:solidFill>
                          <a:latin typeface="Calibri" pitchFamily="34" charset="0"/>
                          <a:ea typeface="Calibri" pitchFamily="34" charset="-122"/>
                          <a:cs typeface="Calibri" pitchFamily="34" charset="-120"/>
                        </a:rPr>
                        <a:t>Halaman lisensi</a:t>
                      </a:r>
                      <a:endParaRPr lang="en-US" sz="15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Kebijakan privasi: siapa pengembangnya, data apa yang diakses/dikumpulkan/dibagikan, cara menjaganya, berapa lama disimpan dan cara menghapusnya. Di alamat web PUBLIK (bukan PDF) dan di dalam aplikasi.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Lisensi Sumber Terbuka: Dikumpulkan Otomatis</a:t>
            </a:r>
            <a:endParaRPr lang="en-US" sz="3200" dirty="0"/>
          </a:p>
        </p:txBody>
      </p:sp>
      <p:sp>
        <p:nvSpPr>
          <p:cNvPr id="4" name="kotak kode"/>
          <p:cNvSpPr txBox="1"/>
          <p:nvPr/>
        </p:nvSpPr>
        <p:spPr>
          <a:xfrm>
            <a:off x="548640" y="1371600"/>
            <a:ext cx="6766560" cy="3811905"/>
          </a:xfrm>
          <a:prstGeom prst="roundRect">
            <a:avLst>
              <a:gd name="adj" fmla="val 2399"/>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FFCB6B"/>
                </a:solidFill>
                <a:latin typeface="Consolas" pitchFamily="34" charset="0"/>
                <a:ea typeface="Consolas" pitchFamily="34" charset="-122"/>
                <a:cs typeface="Consolas" pitchFamily="34" charset="-120"/>
              </a:rPr>
              <a:t>ListTile</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title: </a:t>
            </a:r>
            <a:r>
              <a:rPr lang="en-US" sz="1250" dirty="0">
                <a:solidFill>
                  <a:srgbClr val="C792EA"/>
                </a:solidFill>
                <a:latin typeface="Consolas" pitchFamily="34" charset="0"/>
                <a:ea typeface="Consolas" pitchFamily="34" charset="-122"/>
                <a:cs typeface="Consolas" pitchFamily="34" charset="-120"/>
              </a:rPr>
              <a:t>const</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Text</a:t>
            </a:r>
            <a:r>
              <a:rPr lang="en-US" sz="1250" dirty="0">
                <a:solidFill>
                  <a:srgbClr val="E6EDF3"/>
                </a:solidFill>
                <a:latin typeface="Consolas" pitchFamily="34" charset="0"/>
                <a:ea typeface="Consolas" pitchFamily="34" charset="-122"/>
                <a:cs typeface="Consolas" pitchFamily="34" charset="-120"/>
              </a:rPr>
              <a:t>(</a:t>
            </a:r>
            <a:r>
              <a:rPr lang="en-US" sz="1250" dirty="0">
                <a:solidFill>
                  <a:srgbClr val="C3E88D"/>
                </a:solidFill>
                <a:latin typeface="Consolas" pitchFamily="34" charset="0"/>
                <a:ea typeface="Consolas" pitchFamily="34" charset="-122"/>
                <a:cs typeface="Consolas" pitchFamily="34" charset="-120"/>
              </a:rPr>
              <a:t>'Lisensi sumber terbuka'</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onTap: () =&gt; showLicensePage(</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context: context,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applicationName: </a:t>
            </a:r>
            <a:r>
              <a:rPr lang="en-US" sz="1250" dirty="0">
                <a:solidFill>
                  <a:srgbClr val="C3E88D"/>
                </a:solidFill>
                <a:latin typeface="Consolas" pitchFamily="34" charset="0"/>
                <a:ea typeface="Consolas" pitchFamily="34" charset="-122"/>
                <a:cs typeface="Consolas" pitchFamily="34" charset="-120"/>
              </a:rPr>
              <a:t>'Cuaca Kampus'</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applicationVersion: </a:t>
            </a:r>
            <a:r>
              <a:rPr lang="en-US" sz="1250" dirty="0">
                <a:solidFill>
                  <a:srgbClr val="C3E88D"/>
                </a:solidFill>
                <a:latin typeface="Consolas" pitchFamily="34" charset="0"/>
                <a:ea typeface="Consolas" pitchFamily="34" charset="-122"/>
                <a:cs typeface="Consolas" pitchFamily="34" charset="-120"/>
              </a:rPr>
              <a:t>'1.0.0'</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applicationLegalese: </a:t>
            </a:r>
            <a:r>
              <a:rPr lang="en-US" sz="1250" dirty="0">
                <a:solidFill>
                  <a:srgbClr val="C3E88D"/>
                </a:solidFill>
                <a:latin typeface="Consolas" pitchFamily="34" charset="0"/>
                <a:ea typeface="Consolas" pitchFamily="34" charset="-122"/>
                <a:cs typeface="Consolas" pitchFamily="34" charset="-120"/>
              </a:rPr>
              <a:t>'© 2026 Tim Cuaca Kampus'</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Lisensi DATA (bukan paket Dart), di main():</a:t>
            </a:r>
            <a:endParaRPr lang="en-US" sz="1250" dirty="0"/>
          </a:p>
          <a:p>
            <a:pPr indent="0" marL="0">
              <a:lnSpc>
                <a:spcPct val="105000"/>
              </a:lnSpc>
              <a:buNone/>
            </a:pPr>
            <a:r>
              <a:rPr lang="en-US" sz="1250" dirty="0">
                <a:solidFill>
                  <a:srgbClr val="FFCB6B"/>
                </a:solidFill>
                <a:latin typeface="Consolas" pitchFamily="34" charset="0"/>
                <a:ea typeface="Consolas" pitchFamily="34" charset="-122"/>
                <a:cs typeface="Consolas" pitchFamily="34" charset="-120"/>
              </a:rPr>
              <a:t>LicenseRegistry</a:t>
            </a:r>
            <a:r>
              <a:rPr lang="en-US" sz="1250" dirty="0">
                <a:solidFill>
                  <a:srgbClr val="E6EDF3"/>
                </a:solidFill>
                <a:latin typeface="Consolas" pitchFamily="34" charset="0"/>
                <a:ea typeface="Consolas" pitchFamily="34" charset="-122"/>
                <a:cs typeface="Consolas" pitchFamily="34" charset="-120"/>
              </a:rPr>
              <a:t>.addLicense(() </a:t>
            </a:r>
            <a:r>
              <a:rPr lang="en-US" sz="1250" dirty="0">
                <a:solidFill>
                  <a:srgbClr val="C792EA"/>
                </a:solidFill>
                <a:latin typeface="Consolas" pitchFamily="34" charset="0"/>
                <a:ea typeface="Consolas" pitchFamily="34" charset="-122"/>
                <a:cs typeface="Consolas" pitchFamily="34" charset="-120"/>
              </a:rPr>
              <a:t>async</a:t>
            </a: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yield</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const</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LicenseEntryWithLineBreaks</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3E88D"/>
                </a:solidFill>
                <a:latin typeface="Consolas" pitchFamily="34" charset="0"/>
                <a:ea typeface="Consolas" pitchFamily="34" charset="-122"/>
                <a:cs typeface="Consolas" pitchFamily="34" charset="-120"/>
              </a:rPr>
              <a:t>'Data cuaca Open-Meteo'</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3E88D"/>
                </a:solidFill>
                <a:latin typeface="Consolas" pitchFamily="34" charset="0"/>
                <a:ea typeface="Consolas" pitchFamily="34" charset="-122"/>
                <a:cs typeface="Consolas" pitchFamily="34" charset="-120"/>
              </a:rPr>
              <a:t>'Data cuaca disediakan oleh Open-Meteo.com ... (CC BY 4.0).'</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Flutter, provider, http, dan paket di bawahnya: lisensi BSD, MIT, Apache mewajibkan teksnya disertakan.</a:t>
            </a:r>
            <a:endParaRPr lang="en-US" sz="1700" dirty="0"/>
          </a:p>
          <a:p>
            <a:pPr marL="228600" indent="-228600">
              <a:spcAft>
                <a:spcPts val="800"/>
              </a:spcAft>
              <a:buSzPct val="100000"/>
              <a:buChar char="•"/>
            </a:pPr>
            <a:r>
              <a:rPr lang="en-US" sz="1700" dirty="0">
                <a:solidFill>
                  <a:schemeClr val="tx1"/>
                </a:solidFill>
              </a:rPr>
              <a:t>Saat build, Flutter otomatis MENGUMPULKAN lisensi semua paket; kita cukup menyediakan pintunya.</a:t>
            </a:r>
            <a:endParaRPr lang="en-US" sz="1700" dirty="0"/>
          </a:p>
          <a:p>
            <a:pPr marL="228600" indent="-228600">
              <a:spcAft>
                <a:spcPts val="800"/>
              </a:spcAft>
              <a:buSzPct val="100000"/>
              <a:buChar char="•"/>
            </a:pPr>
            <a:r>
              <a:rPr lang="en-US" sz="1700" dirty="0">
                <a:solidFill>
                  <a:schemeClr val="tx1"/>
                </a:solidFill>
              </a:rPr>
              <a:t>Siap pakai: AboutListTile dan showAboutDialog.</a:t>
            </a:r>
            <a:endParaRPr lang="en-US" sz="1700" dirty="0"/>
          </a:p>
          <a:p>
            <a:pPr marL="228600" indent="-228600">
              <a:spcAft>
                <a:spcPts val="800"/>
              </a:spcAft>
              <a:buSzPct val="100000"/>
              <a:buChar char="•"/>
            </a:pPr>
            <a:r>
              <a:rPr lang="en-US" sz="1700" dirty="0">
                <a:solidFill>
                  <a:schemeClr val="tx1"/>
                </a:solidFill>
              </a:rPr>
              <a:t>Di DartPad halaman lisensi tampil aneh (entri &lt;!DOCTYPE html&gt;); di proyek sungguhan rapi.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Coba Sendiri: Contoh 04 Halaman Tentang</a:t>
            </a:r>
            <a:endParaRPr lang="en-US" sz="3200" dirty="0"/>
          </a:p>
        </p:txBody>
      </p:sp>
      <p:sp>
        <p:nvSpPr>
          <p:cNvPr id="4" name="bingkai layar 1"/>
          <p:cNvSpPr/>
          <p:nvPr/>
        </p:nvSpPr>
        <p:spPr>
          <a:xfrm>
            <a:off x="5370271" y="1316736"/>
            <a:ext cx="3081528" cy="4730118"/>
          </a:xfrm>
          <a:prstGeom prst="roundRect">
            <a:avLst>
              <a:gd name="adj" fmla="val 2967"/>
            </a:avLst>
          </a:prstGeom>
          <a:solidFill>
            <a:srgbClr val="FFFFFF"/>
          </a:solidFill>
          <a:ln w="12700">
            <a:solidFill>
              <a:srgbClr val="C9D3E0"/>
            </a:solidFill>
            <a:prstDash val="solid"/>
          </a:ln>
        </p:spPr>
      </p:sp>
      <p:pic>
        <p:nvPicPr>
          <p:cNvPr id="5" name="layar 1" descr="Tangkapan layar aplikasi (hasil_contoh_04a.jpg)">    </p:cNvPr>
          <p:cNvPicPr>
            <a:picLocks noChangeAspect="1"/>
          </p:cNvPicPr>
          <p:nvPr/>
        </p:nvPicPr>
        <p:blipFill>
          <a:blip r:embed="rId1"/>
          <a:stretch>
            <a:fillRect/>
          </a:stretch>
        </p:blipFill>
        <p:spPr>
          <a:xfrm>
            <a:off x="5425135" y="1371600"/>
            <a:ext cx="2971800" cy="4620390"/>
          </a:xfrm>
          <a:prstGeom prst="rect">
            <a:avLst/>
          </a:prstGeom>
        </p:spPr>
      </p:pic>
      <p:sp>
        <p:nvSpPr>
          <p:cNvPr id="6" name="bingkai layar 2"/>
          <p:cNvSpPr/>
          <p:nvPr/>
        </p:nvSpPr>
        <p:spPr>
          <a:xfrm>
            <a:off x="8616391" y="1316736"/>
            <a:ext cx="3081528" cy="4730118"/>
          </a:xfrm>
          <a:prstGeom prst="roundRect">
            <a:avLst>
              <a:gd name="adj" fmla="val 2967"/>
            </a:avLst>
          </a:prstGeom>
          <a:solidFill>
            <a:srgbClr val="FFFFFF"/>
          </a:solidFill>
          <a:ln w="12700">
            <a:solidFill>
              <a:srgbClr val="C9D3E0"/>
            </a:solidFill>
            <a:prstDash val="solid"/>
          </a:ln>
        </p:spPr>
      </p:sp>
      <p:pic>
        <p:nvPicPr>
          <p:cNvPr id="7" name="layar 2" descr="Tangkapan layar aplikasi (hasil_contoh_04b.jpg)">    </p:cNvPr>
          <p:cNvPicPr>
            <a:picLocks noChangeAspect="1"/>
          </p:cNvPicPr>
          <p:nvPr/>
        </p:nvPicPr>
        <p:blipFill>
          <a:blip r:embed="rId2"/>
          <a:stretch>
            <a:fillRect/>
          </a:stretch>
        </p:blipFill>
        <p:spPr>
          <a:xfrm>
            <a:off x="8671255" y="1371600"/>
            <a:ext cx="2971800" cy="4620390"/>
          </a:xfrm>
          <a:prstGeom prst="rect">
            <a:avLst/>
          </a:prstGeom>
        </p:spPr>
      </p:pic>
      <p:sp>
        <p:nvSpPr>
          <p:cNvPr id="8" name="tombol tautan">
            <a:hlinkClick r:id="rId3" tooltip="https://github.com/antonprafanto/mobile2026/blob/main/pertemuan_15_build_rilis_dan_finalisasi/kode/contoh_04_halaman_tentang_dan_lisensi.dart"/>
          </p:cNvPr>
          <p:cNvSpPr txBox="1"/>
          <p:nvPr/>
        </p:nvSpPr>
        <p:spPr>
          <a:xfrm>
            <a:off x="548640" y="1371600"/>
            <a:ext cx="441929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contoh_04_halaman_tentang_dan_lisensi.dart</a:t>
            </a:r>
            <a:endParaRPr lang="en-US" sz="1300" dirty="0"/>
          </a:p>
        </p:txBody>
      </p:sp>
      <p:pic>
        <p:nvPicPr>
          <p:cNvPr id="9" name="Image 2" descr="ikon tautan">
            <a:hlinkClick r:id="rId5" tooltip="https://github.com/antonprafanto/mobile2026/blob/main/pertemuan_15_build_rilis_dan_finalisasi/kode/contoh_04_halaman_tentang_dan_lisensi.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41929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Versi 1.0.0 (build 1), dengan penanda "mode debug" yang dibuang di build rilis.</a:t>
            </a:r>
            <a:endParaRPr lang="en-US" sz="1500" dirty="0"/>
          </a:p>
          <a:p>
            <a:pPr marL="228600" indent="-228600">
              <a:spcAft>
                <a:spcPts val="800"/>
              </a:spcAft>
              <a:buSzPct val="100000"/>
              <a:buChar char="•"/>
            </a:pPr>
            <a:r>
              <a:rPr lang="en-US" sz="1500" dirty="0">
                <a:solidFill>
                  <a:schemeClr val="tx1"/>
                </a:solidFill>
              </a:rPr>
              <a:t>Sumber data Open-Meteo.com beserta lisensinya.</a:t>
            </a:r>
            <a:endParaRPr lang="en-US" sz="1500" dirty="0"/>
          </a:p>
          <a:p>
            <a:pPr marL="228600" indent="-228600">
              <a:spcAft>
                <a:spcPts val="800"/>
              </a:spcAft>
              <a:buSzPct val="100000"/>
              <a:buChar char="•"/>
            </a:pPr>
            <a:r>
              <a:rPr lang="en-US" sz="1500" dirty="0">
                <a:solidFill>
                  <a:schemeClr val="tx1"/>
                </a:solidFill>
              </a:rPr>
              <a:t>Kebijakan privasi DI DALAM aplikasi: data yang dikumpulkan, disimpan, dan dikirim.</a:t>
            </a:r>
            <a:endParaRPr lang="en-US" sz="1500" dirty="0"/>
          </a:p>
          <a:p>
            <a:pPr marL="228600" indent="-228600">
              <a:spcAft>
                <a:spcPts val="800"/>
              </a:spcAft>
              <a:buSzPct val="100000"/>
              <a:buChar char="•"/>
            </a:pPr>
            <a:r>
              <a:rPr lang="en-US" sz="1500" dirty="0">
                <a:solidFill>
                  <a:schemeClr val="tx1"/>
                </a:solidFill>
              </a:rPr>
              <a:t>Surel pengembang yang bisa disalin, dan halaman lisensi.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9</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Rilis Web</a:t>
            </a:r>
            <a:endParaRPr lang="en-US" sz="4000" dirty="0"/>
          </a:p>
        </p:txBody>
      </p:sp>
      <p:sp>
        <p:nvSpPr>
          <p:cNvPr id="5" name="lingkaran web"/>
          <p:cNvSpPr/>
          <p:nvPr/>
        </p:nvSpPr>
        <p:spPr>
          <a:xfrm>
            <a:off x="1097280" y="2148840"/>
            <a:ext cx="2011680" cy="2011680"/>
          </a:xfrm>
          <a:prstGeom prst="ellipse">
            <a:avLst/>
          </a:prstGeom>
          <a:solidFill>
            <a:schemeClr val="accent1"/>
          </a:solidFill>
          <a:ln/>
        </p:spPr>
      </p:sp>
      <p:pic>
        <p:nvPicPr>
          <p:cNvPr id="6" name="Image 0" descr="web">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Membuat Berkas Rilis Web</a:t>
            </a:r>
            <a:endParaRPr lang="en-US" sz="3200" dirty="0"/>
          </a:p>
        </p:txBody>
      </p:sp>
      <p:sp>
        <p:nvSpPr>
          <p:cNvPr id="4" name="kotak kode"/>
          <p:cNvSpPr txBox="1"/>
          <p:nvPr/>
        </p:nvSpPr>
        <p:spPr>
          <a:xfrm>
            <a:off x="548640" y="1371600"/>
            <a:ext cx="6949440" cy="3411855"/>
          </a:xfrm>
          <a:prstGeom prst="roundRect">
            <a:avLst>
              <a:gd name="adj" fmla="val 2680"/>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flutter build web          </a:t>
            </a:r>
            <a:r>
              <a:rPr lang="en-US" sz="1250" i="1" dirty="0">
                <a:solidFill>
                  <a:srgbClr val="8FA3BC"/>
                </a:solidFill>
                <a:latin typeface="Consolas" pitchFamily="34" charset="0"/>
                <a:ea typeface="Consolas" pitchFamily="34" charset="-122"/>
                <a:cs typeface="Consolas" pitchFamily="34" charset="-120"/>
              </a:rPr>
              <a:t># mode release</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build/web/</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index.html            ← halaman yang pertama dibuka</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flutter_bootstrap.js  ← pemuat aplikasi Flutter</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main.dart.js          ← kode Dart Anda, jadi JavaScript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manifest.json         ← nama dan ikon saat </a:t>
            </a:r>
            <a:r>
              <a:rPr lang="en-US" sz="1250" dirty="0">
                <a:solidFill>
                  <a:srgbClr val="C3E88D"/>
                </a:solidFill>
                <a:latin typeface="Consolas" pitchFamily="34" charset="0"/>
                <a:ea typeface="Consolas" pitchFamily="34" charset="-122"/>
                <a:cs typeface="Consolas" pitchFamily="34" charset="-120"/>
              </a:rPr>
              <a:t>"dipasang"</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version.json          ← nama aplikasi dan nomor versi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favicon.png, icons/   ← ikon</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assets/               ← gambar, huruf, aset lain</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canvaskit/            ← mesin penggambar Flutter</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mencoba di laptop (pasang sekali, lalu jalankan):</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dart pub global activate dhttpd</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dhttpd --path build/web    </a:t>
            </a:r>
            <a:r>
              <a:rPr lang="en-US" sz="1250" i="1" dirty="0">
                <a:solidFill>
                  <a:srgbClr val="8FA3BC"/>
                </a:solidFill>
                <a:latin typeface="Consolas" pitchFamily="34" charset="0"/>
                <a:ea typeface="Consolas" pitchFamily="34" charset="-122"/>
                <a:cs typeface="Consolas" pitchFamily="34" charset="-120"/>
              </a:rPr>
              <a:t># buka http://localhost:8080</a:t>
            </a:r>
            <a:endParaRPr lang="en-US" sz="125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Seluruh isi folder diunggah BERSAMA-SAMA; tidak ada satu berkas "aplikasi.exe".</a:t>
            </a:r>
            <a:endParaRPr lang="en-US" sz="1700" dirty="0"/>
          </a:p>
          <a:p>
            <a:pPr marL="228600" indent="-228600">
              <a:spcAft>
                <a:spcPts val="800"/>
              </a:spcAft>
              <a:buSzPct val="100000"/>
              <a:buChar char="•"/>
            </a:pPr>
            <a:r>
              <a:rPr lang="en-US" sz="1700" dirty="0">
                <a:solidFill>
                  <a:schemeClr val="tx1"/>
                </a:solidFill>
              </a:rPr>
              <a:t>Klik dua kali index.html TIDAK berhasil: browser tidak menjalankan aplikasi web dari file://.</a:t>
            </a:r>
            <a:endParaRPr lang="en-US" sz="1700" dirty="0"/>
          </a:p>
          <a:p>
            <a:pPr marL="228600" indent="-228600">
              <a:spcAft>
                <a:spcPts val="800"/>
              </a:spcAft>
              <a:buSzPct val="100000"/>
              <a:buChar char="•"/>
            </a:pPr>
            <a:r>
              <a:rPr lang="en-US" sz="1700" dirty="0">
                <a:solidFill>
                  <a:schemeClr val="tx1"/>
                </a:solidFill>
              </a:rPr>
              <a:t>Uji build rilis: muat dan simpan data, tutup tab lalu buka lagi, mode gelap, jendela selebar HP.</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Alamat Dasar (--base-href)</a:t>
            </a:r>
            <a:endParaRPr lang="en-US" sz="3200" dirty="0"/>
          </a:p>
        </p:txBody>
      </p:sp>
      <p:sp>
        <p:nvSpPr>
          <p:cNvPr id="4" name="kotak kode"/>
          <p:cNvSpPr txBox="1"/>
          <p:nvPr/>
        </p:nvSpPr>
        <p:spPr>
          <a:xfrm>
            <a:off x="548640" y="1371600"/>
            <a:ext cx="6949440" cy="2355723"/>
          </a:xfrm>
          <a:prstGeom prst="roundRect">
            <a:avLst>
              <a:gd name="adj" fmla="val 3882"/>
            </a:avLst>
          </a:prstGeom>
          <a:solidFill>
            <a:srgbClr val="0E1A2B"/>
          </a:solidFill>
          <a:ln/>
        </p:spPr>
        <p:txBody>
          <a:bodyPr wrap="square" lIns="177800" tIns="152400" rIns="152400" bIns="177800" rtlCol="0" anchor="t"/>
          <a:lstStyle/>
          <a:p>
            <a:pPr indent="0" marL="0">
              <a:lnSpc>
                <a:spcPct val="105000"/>
              </a:lnSpc>
              <a:buNone/>
            </a:pPr>
            <a:r>
              <a:rPr lang="en-US" sz="1350" i="1" dirty="0">
                <a:solidFill>
                  <a:srgbClr val="8FA3BC"/>
                </a:solidFill>
                <a:latin typeface="Consolas" pitchFamily="34" charset="0"/>
                <a:ea typeface="Consolas" pitchFamily="34" charset="-122"/>
                <a:cs typeface="Consolas" pitchFamily="34" charset="-120"/>
              </a:rPr>
              <a:t># GitHub Pages untuk satu repositori ada di SUB-FOLDER:</a:t>
            </a:r>
            <a:endParaRPr lang="en-US" sz="1350" dirty="0"/>
          </a:p>
          <a:p>
            <a:pPr indent="0" marL="0">
              <a:lnSpc>
                <a:spcPct val="105000"/>
              </a:lnSpc>
              <a:buNone/>
            </a:pPr>
            <a:r>
              <a:rPr lang="en-US" sz="1350" i="1" dirty="0">
                <a:solidFill>
                  <a:srgbClr val="8FA3BC"/>
                </a:solidFill>
                <a:latin typeface="Consolas" pitchFamily="34" charset="0"/>
                <a:ea typeface="Consolas" pitchFamily="34" charset="-122"/>
                <a:cs typeface="Consolas" pitchFamily="34" charset="-120"/>
              </a:rPr>
              <a:t>#   https://budisantoso.github.io/tugas_kuliahku/</a:t>
            </a:r>
            <a:endParaRPr lang="en-US" sz="1350" dirty="0"/>
          </a:p>
          <a:p>
            <a:pPr indent="0" marL="0">
              <a:lnSpc>
                <a:spcPct val="105000"/>
              </a:lnSpc>
              <a:buNone/>
            </a:pPr>
            <a:r>
              <a:rPr lang="en-US" sz="1350" i="1" dirty="0">
                <a:solidFill>
                  <a:srgbClr val="8FA3BC"/>
                </a:solidFill>
                <a:latin typeface="Consolas" pitchFamily="34" charset="0"/>
                <a:ea typeface="Consolas" pitchFamily="34" charset="-122"/>
                <a:cs typeface="Consolas" pitchFamily="34" charset="-120"/>
              </a:rPr>
              <a:t>#                                └─ nama repositori</a:t>
            </a:r>
            <a:endParaRPr lang="en-US" sz="1350" dirty="0"/>
          </a:p>
          <a:p>
            <a:pPr indent="0" marL="0">
              <a:lnSpc>
                <a:spcPct val="105000"/>
              </a:lnSpc>
              <a:buNone/>
            </a:pPr>
            <a:r>
              <a:rPr lang="en-US" sz="1350" dirty="0">
                <a:solidFill>
                  <a:srgbClr val="E6EDF3"/>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E6EDF3"/>
                </a:solidFill>
                <a:latin typeface="Consolas" pitchFamily="34" charset="0"/>
                <a:ea typeface="Consolas" pitchFamily="34" charset="-122"/>
                <a:cs typeface="Consolas" pitchFamily="34" charset="-120"/>
              </a:rPr>
              <a:t>flutter build web --base-href </a:t>
            </a:r>
            <a:r>
              <a:rPr lang="en-US" sz="1350" dirty="0">
                <a:solidFill>
                  <a:srgbClr val="C3E88D"/>
                </a:solidFill>
                <a:latin typeface="Consolas" pitchFamily="34" charset="0"/>
                <a:ea typeface="Consolas" pitchFamily="34" charset="-122"/>
                <a:cs typeface="Consolas" pitchFamily="34" charset="-120"/>
              </a:rPr>
              <a:t>"/tugas_kuliahku/"</a:t>
            </a:r>
            <a:endParaRPr lang="en-US" sz="1350" dirty="0"/>
          </a:p>
          <a:p>
            <a:pPr indent="0" marL="0">
              <a:lnSpc>
                <a:spcPct val="105000"/>
              </a:lnSpc>
              <a:buNone/>
            </a:pPr>
            <a:r>
              <a:rPr lang="en-US" sz="1350" dirty="0">
                <a:solidFill>
                  <a:srgbClr val="E6EDF3"/>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i="1" dirty="0">
                <a:solidFill>
                  <a:srgbClr val="8FA3BC"/>
                </a:solidFill>
                <a:latin typeface="Consolas" pitchFamily="34" charset="0"/>
                <a:ea typeface="Consolas" pitchFamily="34" charset="-122"/>
                <a:cs typeface="Consolas" pitchFamily="34" charset="-120"/>
              </a:rPr>
              <a:t># web/index.html:  &lt;base href="$FLUTTER_BASE_HREF"&gt;</a:t>
            </a:r>
            <a:endParaRPr lang="en-US" sz="1350" dirty="0"/>
          </a:p>
          <a:p>
            <a:pPr indent="0" marL="0">
              <a:lnSpc>
                <a:spcPct val="105000"/>
              </a:lnSpc>
              <a:buNone/>
            </a:pPr>
            <a:r>
              <a:rPr lang="en-US" sz="1350" i="1" dirty="0">
                <a:solidFill>
                  <a:srgbClr val="8FA3BC"/>
                </a:solidFill>
                <a:latin typeface="Consolas" pitchFamily="34" charset="0"/>
                <a:ea typeface="Consolas" pitchFamily="34" charset="-122"/>
                <a:cs typeface="Consolas" pitchFamily="34" charset="-120"/>
              </a:rPr>
              <a:t># Wajib diawali DAN diakhiri garis miring "/", jika tidak:</a:t>
            </a:r>
            <a:endParaRPr lang="en-US" sz="1350" dirty="0"/>
          </a:p>
          <a:p>
            <a:pPr indent="0" marL="0">
              <a:lnSpc>
                <a:spcPct val="105000"/>
              </a:lnSpc>
              <a:buNone/>
            </a:pPr>
            <a:r>
              <a:rPr lang="en-US" sz="1350" i="1" dirty="0">
                <a:solidFill>
                  <a:srgbClr val="8FA3BC"/>
                </a:solidFill>
                <a:latin typeface="Consolas" pitchFamily="34" charset="0"/>
                <a:ea typeface="Consolas" pitchFamily="34" charset="-122"/>
                <a:cs typeface="Consolas" pitchFamily="34" charset="-120"/>
              </a:rPr>
              <a:t>#   --base-href should start and end with /</a:t>
            </a:r>
            <a:endParaRPr lang="en-US" sz="135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Aplikasi perlu tahu sub-foldernya agar bisa memuat main.dart.js dan assets/ dari tempat yang benar.</a:t>
            </a:r>
            <a:endParaRPr lang="en-US" sz="1700" dirty="0"/>
          </a:p>
          <a:p>
            <a:pPr marL="228600" indent="-228600">
              <a:spcAft>
                <a:spcPts val="800"/>
              </a:spcAft>
              <a:buSzPct val="100000"/>
              <a:buChar char="•"/>
            </a:pPr>
            <a:r>
              <a:rPr lang="en-US" sz="1700" dirty="0">
                <a:solidFill>
                  <a:schemeClr val="tx1"/>
                </a:solidFill>
              </a:rPr>
              <a:t>Seperti alamat kos: "Jalan Mawar No. 5" belum cukup jika kamarnya di "Gang 3". Tanpa --base-href: layar PUTIH.</a:t>
            </a:r>
            <a:endParaRPr lang="en-US" sz="1700" dirty="0"/>
          </a:p>
          <a:p>
            <a:pPr marL="228600" indent="-228600">
              <a:spcAft>
                <a:spcPts val="800"/>
              </a:spcAft>
              <a:buSzPct val="100000"/>
              <a:buChar char="•"/>
            </a:pPr>
            <a:r>
              <a:rPr lang="en-US" sz="1700" dirty="0">
                <a:solidFill>
                  <a:schemeClr val="tx1"/>
                </a:solidFill>
              </a:rPr>
              <a:t>Build ber-base-href TIDAK bisa dicoba dengan dhttpd --path build/web. Biarkan robot GitHub yang mem-build-nya.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Terbit Otomatis di GitHub Pages</a:t>
            </a:r>
            <a:endParaRPr lang="en-US" sz="3200" dirty="0"/>
          </a:p>
        </p:txBody>
      </p:sp>
      <p:sp>
        <p:nvSpPr>
          <p:cNvPr id="4" name="kotak kode"/>
          <p:cNvSpPr txBox="1"/>
          <p:nvPr/>
        </p:nvSpPr>
        <p:spPr>
          <a:xfrm>
            <a:off x="548640" y="1371600"/>
            <a:ext cx="6035040" cy="4059936"/>
          </a:xfrm>
          <a:prstGeom prst="roundRect">
            <a:avLst>
              <a:gd name="adj" fmla="val 2252"/>
            </a:avLst>
          </a:prstGeom>
          <a:solidFill>
            <a:srgbClr val="0E1A2B"/>
          </a:solidFill>
          <a:ln/>
        </p:spPr>
        <p:txBody>
          <a:bodyPr wrap="square" lIns="177800" tIns="152400" rIns="152400" bIns="177800" rtlCol="0" anchor="t"/>
          <a:lstStyle/>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on:</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push:</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branches: [main]</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workflow_dispatch:</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jobs:</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build:</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runs-on: ubuntu-latest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steps:</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i="1" dirty="0">
                <a:solidFill>
                  <a:srgbClr val="8FA3BC"/>
                </a:solidFill>
                <a:latin typeface="Consolas" pitchFamily="34" charset="0"/>
                <a:ea typeface="Consolas" pitchFamily="34" charset="-122"/>
                <a:cs typeface="Consolas" pitchFamily="34" charset="-120"/>
              </a:rPr>
              <a:t># ... ambil kode, pasang Flutter, pub get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 name: Analisis dan tes</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run: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flutter analyze</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flutter test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 name: Build web</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env:</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NAMA_REPO: ${{ github.event.repository.name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run: flutter build web --base-href </a:t>
            </a:r>
            <a:r>
              <a:rPr lang="en-US" sz="950" dirty="0">
                <a:solidFill>
                  <a:srgbClr val="C3E88D"/>
                </a:solidFill>
                <a:latin typeface="Consolas" pitchFamily="34" charset="0"/>
                <a:ea typeface="Consolas" pitchFamily="34" charset="-122"/>
                <a:cs typeface="Consolas" pitchFamily="34" charset="-120"/>
              </a:rPr>
              <a:t>"/$NAMA_REPO/"</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 uses: actions/upload-pages-artifact</a:t>
            </a:r>
            <a:r>
              <a:rPr lang="en-US" sz="950" dirty="0">
                <a:solidFill>
                  <a:srgbClr val="89DDFF"/>
                </a:solidFill>
                <a:latin typeface="Consolas" pitchFamily="34" charset="0"/>
                <a:ea typeface="Consolas" pitchFamily="34" charset="-122"/>
                <a:cs typeface="Consolas" pitchFamily="34" charset="-120"/>
              </a:rPr>
              <a:t>@v4</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with:</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path: build/web</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terbitkan:</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needs: build</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steps:</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 uses: actions/deploy-pages</a:t>
            </a:r>
            <a:r>
              <a:rPr lang="en-US" sz="950" dirty="0">
                <a:solidFill>
                  <a:srgbClr val="89DDFF"/>
                </a:solidFill>
                <a:latin typeface="Consolas" pitchFamily="34" charset="0"/>
                <a:ea typeface="Consolas" pitchFamily="34" charset="-122"/>
                <a:cs typeface="Consolas" pitchFamily="34" charset="-120"/>
              </a:rPr>
              <a:t>@v4</a:t>
            </a:r>
            <a:endParaRPr lang="en-US" sz="950" dirty="0"/>
          </a:p>
        </p:txBody>
      </p:sp>
      <p:sp>
        <p:nvSpPr>
          <p:cNvPr id="5" name="tombol tautan">
            <a:hlinkClick r:id="rId1" tooltip="https://github.com/antonprafanto/mobile2026/blob/main/pertemuan_15_build_rilis_dan_finalisasi/templat/web.yml"/>
          </p:cNvPr>
          <p:cNvSpPr txBox="1"/>
          <p:nvPr/>
        </p:nvSpPr>
        <p:spPr>
          <a:xfrm>
            <a:off x="548640" y="5660136"/>
            <a:ext cx="60350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web.yml</a:t>
            </a:r>
            <a:endParaRPr lang="en-US" sz="1300" dirty="0"/>
          </a:p>
        </p:txBody>
      </p:sp>
      <p:pic>
        <p:nvPicPr>
          <p:cNvPr id="6" name="Image 0" descr="ikon tautan">
            <a:hlinkClick r:id="rId3" tooltip="https://github.com/antonprafanto/mobile2026/blob/main/pertemuan_15_build_rilis_dan_finalisasi/templat/web.yml"/>
          </p:cNvPr>
          <p:cNvPicPr>
            <a:picLocks noChangeAspect="1"/>
          </p:cNvPicPr>
          <p:nvPr/>
        </p:nvPicPr>
        <p:blipFill>
          <a:blip r:embed="rId2"/>
          <a:stretch>
            <a:fillRect/>
          </a:stretch>
        </p:blipFill>
        <p:spPr>
          <a:xfrm>
            <a:off x="694944" y="5751576"/>
            <a:ext cx="274320" cy="274320"/>
          </a:xfrm>
          <a:prstGeom prst="rect">
            <a:avLst/>
          </a:prstGeom>
        </p:spPr>
      </p:pic>
      <p:sp>
        <p:nvSpPr>
          <p:cNvPr id="7"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Sekali saja: Settings → Pages → Source: GitHub Actions.</a:t>
            </a:r>
            <a:endParaRPr lang="en-US" sz="1700" dirty="0"/>
          </a:p>
          <a:p>
            <a:pPr marL="228600" indent="-228600">
              <a:spcAft>
                <a:spcPts val="800"/>
              </a:spcAft>
              <a:buSzPct val="100000"/>
              <a:buChar char="•"/>
            </a:pPr>
            <a:r>
              <a:rPr lang="en-US" sz="1700" dirty="0">
                <a:solidFill>
                  <a:schemeClr val="tx1"/>
                </a:solidFill>
              </a:rPr>
              <a:t>Salin templat/web.yml ke .github/workflows/web.yml, lalu commit dan push.</a:t>
            </a:r>
            <a:endParaRPr lang="en-US" sz="1700" dirty="0"/>
          </a:p>
          <a:p>
            <a:pPr marL="228600" indent="-228600">
              <a:spcAft>
                <a:spcPts val="800"/>
              </a:spcAft>
              <a:buSzPct val="100000"/>
              <a:buChar char="•"/>
            </a:pPr>
            <a:r>
              <a:rPr lang="en-US" sz="1700" dirty="0">
                <a:solidFill>
                  <a:schemeClr val="tx1"/>
                </a:solidFill>
              </a:rPr>
              <a:t>Tab Actions ✅ → situs di https://&lt;akun&gt;.github.io/&lt;repositori&gt;/</a:t>
            </a:r>
            <a:endParaRPr lang="en-US" sz="1700" dirty="0"/>
          </a:p>
          <a:p>
            <a:pPr marL="228600" indent="-228600">
              <a:spcAft>
                <a:spcPts val="800"/>
              </a:spcAft>
              <a:buSzPct val="100000"/>
              <a:buChar char="•"/>
            </a:pPr>
            <a:r>
              <a:rPr lang="en-US" sz="1700" dirty="0">
                <a:solidFill>
                  <a:schemeClr val="tx1"/>
                </a:solidFill>
              </a:rPr>
              <a:t>analyze dan test dulu: jika gagal, situs TIDAK diperbarui.</a:t>
            </a:r>
            <a:endParaRPr lang="en-US" sz="1700" dirty="0"/>
          </a:p>
          <a:p>
            <a:pPr marL="228600" indent="-228600">
              <a:spcAft>
                <a:spcPts val="800"/>
              </a:spcAft>
              <a:buSzPct val="100000"/>
              <a:buChar char="•"/>
            </a:pPr>
            <a:r>
              <a:rPr lang="en-US" sz="1700" dirty="0">
                <a:solidFill>
                  <a:schemeClr val="tx1"/>
                </a:solidFill>
              </a:rPr>
              <a:t>Job terbitkan butuh izin pages: write dan id-token: write, serta environment github-pages.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Hal yang Perlu Diperhatikan di Web</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934060"/>
                <a:gridCol w="8160355"/>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Hal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Penjelasan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CORS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Ada API yang menolak dipanggil dari browser (P10 Bagian 14.1). Uji versi web dengan data sungguhan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SQLite di web (P11)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web/sqlite3.wasm dan web/sqflite_sw.js harus ikut di-commit: robot mem-build dari isi repositori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Data per browser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shared_preferences dan SQLite web tersimpan di browser masing-masing; data localhost tidak pindah ke GitHub Pages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Versi lama masih tampil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Salinan sementara (cache): muat ulang paksa Ctrl + Shift + R, atau tunggu beberapa menit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Alamat halaman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Bawaan memakai # (.../#/detail), aman di GitHub Pages; usePathUrlStrategy() bisa berujung 404</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WebAssembly</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flutter build web --wasm butuh header server khusus yang tidak bisa diatur di GitHub Pages; JavaScript biasa sudah cukup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Source map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flutter build web --source-maps: berkas .map tidak boleh diterbitkan untuk umum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10–11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Rilis Android: APK, Tanda Tangan, App Bundle</a:t>
            </a:r>
            <a:endParaRPr lang="en-US" sz="4000" dirty="0"/>
          </a:p>
        </p:txBody>
      </p:sp>
      <p:sp>
        <p:nvSpPr>
          <p:cNvPr id="5" name="lingkaran hp"/>
          <p:cNvSpPr/>
          <p:nvPr/>
        </p:nvSpPr>
        <p:spPr>
          <a:xfrm>
            <a:off x="1097280" y="2148840"/>
            <a:ext cx="2011680" cy="201168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Sebelum Build: Izin Internet</a:t>
            </a:r>
            <a:endParaRPr lang="en-US" sz="3200" dirty="0"/>
          </a:p>
        </p:txBody>
      </p:sp>
      <p:sp>
        <p:nvSpPr>
          <p:cNvPr id="4" name="kotak kode"/>
          <p:cNvSpPr txBox="1"/>
          <p:nvPr/>
        </p:nvSpPr>
        <p:spPr>
          <a:xfrm>
            <a:off x="548640" y="1371600"/>
            <a:ext cx="6766560" cy="1563624"/>
          </a:xfrm>
          <a:prstGeom prst="roundRect">
            <a:avLst>
              <a:gd name="adj" fmla="val 584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&lt;!-- android/app/src/main/AndroidManifest.xml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&lt;manifest xmlns:android=</a:t>
            </a:r>
            <a:r>
              <a:rPr lang="en-US" sz="1200" dirty="0">
                <a:solidFill>
                  <a:srgbClr val="C3E88D"/>
                </a:solidFill>
                <a:latin typeface="Consolas" pitchFamily="34" charset="0"/>
                <a:ea typeface="Consolas" pitchFamily="34" charset="-122"/>
                <a:cs typeface="Consolas" pitchFamily="34" charset="-120"/>
              </a:rPr>
              <a:t>"http://schemas.android.com/apk/res/android"</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&lt;uses-permission android:name=</a:t>
            </a:r>
            <a:r>
              <a:rPr lang="en-US" sz="1200" dirty="0">
                <a:solidFill>
                  <a:srgbClr val="C3E88D"/>
                </a:solidFill>
                <a:latin typeface="Consolas" pitchFamily="34" charset="0"/>
                <a:ea typeface="Consolas" pitchFamily="34" charset="-122"/>
                <a:cs typeface="Consolas" pitchFamily="34" charset="-120"/>
              </a:rPr>
              <a:t>"android.permission.INTERNET"</a:t>
            </a:r>
            <a:r>
              <a:rPr lang="en-US" sz="1200" dirty="0">
                <a:solidFill>
                  <a:srgbClr val="E6EDF3"/>
                </a:solidFill>
                <a:latin typeface="Consolas" pitchFamily="34" charset="0"/>
                <a:ea typeface="Consolas" pitchFamily="34" charset="-122"/>
                <a:cs typeface="Consolas" pitchFamily="34" charset="-120"/>
              </a:rPr>
              <a:t>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&lt;application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android:label=</a:t>
            </a:r>
            <a:r>
              <a:rPr lang="en-US" sz="1200" dirty="0">
                <a:solidFill>
                  <a:srgbClr val="C3E88D"/>
                </a:solidFill>
                <a:latin typeface="Consolas" pitchFamily="34" charset="0"/>
                <a:ea typeface="Consolas" pitchFamily="34" charset="-122"/>
                <a:cs typeface="Consolas" pitchFamily="34" charset="-120"/>
              </a:rPr>
              <a:t>"Tugas Kuliahku"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Jebakan paling terkenal: lancar saat flutter run, tetapi APK rilis tidak bisa memuat apa pun.</a:t>
            </a:r>
            <a:endParaRPr lang="en-US" sz="1700" dirty="0"/>
          </a:p>
          <a:p>
            <a:pPr marL="228600" indent="-228600">
              <a:spcAft>
                <a:spcPts val="800"/>
              </a:spcAft>
              <a:buSzPct val="100000"/>
              <a:buChar char="•"/>
            </a:pPr>
            <a:r>
              <a:rPr lang="en-US" sz="1700" dirty="0">
                <a:solidFill>
                  <a:schemeClr val="tx1"/>
                </a:solidFill>
              </a:rPr>
              <a:t>src/debug dan src/profile berisi izin internet (dibutuhkan hot reload dan debugger).</a:t>
            </a:r>
            <a:endParaRPr lang="en-US" sz="1700" dirty="0"/>
          </a:p>
          <a:p>
            <a:pPr marL="228600" indent="-228600">
              <a:spcAft>
                <a:spcPts val="800"/>
              </a:spcAft>
              <a:buSzPct val="100000"/>
              <a:buChar char="•"/>
            </a:pPr>
            <a:r>
              <a:rPr lang="en-US" sz="1700" dirty="0">
                <a:solidFill>
                  <a:schemeClr val="tx1"/>
                </a:solidFill>
              </a:rPr>
              <a:t>src/main dipakai SEMUA mode, termasuk rilis, dan TIDAK berisi izin internet sampai Anda menambahkannya.</a:t>
            </a:r>
            <a:endParaRPr lang="en-US" sz="1700" dirty="0"/>
          </a:p>
          <a:p>
            <a:pPr marL="228600" indent="-228600">
              <a:spcAft>
                <a:spcPts val="800"/>
              </a:spcAft>
              <a:buSzPct val="100000"/>
              <a:buChar char="•"/>
            </a:pPr>
            <a:r>
              <a:rPr lang="en-US" sz="1700" dirty="0">
                <a:solidFill>
                  <a:schemeClr val="tx1"/>
                </a:solidFill>
              </a:rPr>
              <a:t>Di dalam &lt;manifest&gt;, SEBELUM &lt;application&gt;.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Membuat dan Memasang APK</a:t>
            </a:r>
            <a:endParaRPr lang="en-US" sz="3200" dirty="0"/>
          </a:p>
        </p:txBody>
      </p:sp>
      <p:sp>
        <p:nvSpPr>
          <p:cNvPr id="4" name="kotak kode"/>
          <p:cNvSpPr txBox="1"/>
          <p:nvPr/>
        </p:nvSpPr>
        <p:spPr>
          <a:xfrm>
            <a:off x="548640" y="1371600"/>
            <a:ext cx="6766560" cy="2491740"/>
          </a:xfrm>
          <a:prstGeom prst="roundRect">
            <a:avLst>
              <a:gd name="adj" fmla="val 3670"/>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build apk</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build/app/outputs/flutter-apk/app-release.apk</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semua jenis prosesor: paling besar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build apk --split-per-abi</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app-armeabi-v7a-release.apk  ← HP lama (ARM 32-bit)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app-arm64-v8a-release.apk    ← hampir semua HP masa kini</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app-x86_64-release.apk       ← emulator, sebagian kecil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install   </a:t>
            </a:r>
            <a:r>
              <a:rPr lang="en-US" sz="1300" i="1" dirty="0">
                <a:solidFill>
                  <a:srgbClr val="8FA3BC"/>
                </a:solidFill>
                <a:latin typeface="Consolas" pitchFamily="34" charset="0"/>
                <a:ea typeface="Consolas" pitchFamily="34" charset="-122"/>
                <a:cs typeface="Consolas" pitchFamily="34" charset="-120"/>
              </a:rPr>
              <a:t># lewat kabel USB</a:t>
            </a:r>
            <a:endParaRPr lang="en-US" sz="13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Kabel USB: flutter install. Jika aplikasinya sudah ada, versi lama DIHAPUS dulu beserta datanya.</a:t>
            </a:r>
            <a:endParaRPr lang="en-US" sz="1700" dirty="0"/>
          </a:p>
          <a:p>
            <a:pPr marL="228600" indent="-228600">
              <a:spcAft>
                <a:spcPts val="800"/>
              </a:spcAft>
              <a:buSzPct val="100000"/>
              <a:buChar char="•"/>
            </a:pPr>
            <a:r>
              <a:rPr lang="en-US" sz="1700" dirty="0">
                <a:solidFill>
                  <a:schemeClr val="tx1"/>
                </a:solidFill>
              </a:rPr>
              <a:t>Kirim berkas (Drive, surel, aplikasi pesan): HP meminta izin "Pasang aplikasi tidak dikenal".</a:t>
            </a:r>
            <a:endParaRPr lang="en-US" sz="1700" dirty="0"/>
          </a:p>
          <a:p>
            <a:pPr marL="228600" indent="-228600">
              <a:spcAft>
                <a:spcPts val="800"/>
              </a:spcAft>
              <a:buSzPct val="100000"/>
              <a:buChar char="•"/>
            </a:pPr>
            <a:r>
              <a:rPr lang="en-US" sz="1700" dirty="0">
                <a:solidFill>
                  <a:schemeClr val="tx1"/>
                </a:solidFill>
              </a:rPr>
              <a:t>GitHub Releases: unduh APK lewat browser HP, lalu ketuk (Bagian 12).</a:t>
            </a:r>
            <a:endParaRPr lang="en-US" sz="1700" dirty="0"/>
          </a:p>
          <a:p>
            <a:pPr marL="228600" indent="-228600">
              <a:spcAft>
                <a:spcPts val="800"/>
              </a:spcAft>
              <a:buSzPct val="100000"/>
              <a:buChar char="•"/>
            </a:pPr>
            <a:r>
              <a:rPr lang="en-US" sz="1700" dirty="0">
                <a:solidFill>
                  <a:schemeClr val="tx1"/>
                </a:solidFill>
              </a:rPr>
              <a:t>Memperbarui: applicationId sama, TANDA TANGAN sama, nomor build tidak lebih kecil.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Menguji Build Rilis di HP</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Jangan berhenti di "aplikasinya terbuka". Uji seperti pengguna:</a:t>
            </a:r>
            <a:endParaRPr lang="en-US" sz="1800" dirty="0"/>
          </a:p>
        </p:txBody>
      </p:sp>
      <p:sp>
        <p:nvSpPr>
          <p:cNvPr id="5" name="kartu 1"/>
          <p:cNvSpPr/>
          <p:nvPr/>
        </p:nvSpPr>
        <p:spPr>
          <a:xfrm>
            <a:off x="548640" y="2011680"/>
            <a:ext cx="3484778" cy="1965960"/>
          </a:xfrm>
          <a:prstGeom prst="roundRect">
            <a:avLst>
              <a:gd name="adj" fmla="val 5581"/>
            </a:avLst>
          </a:prstGeom>
          <a:solidFill>
            <a:schemeClr val="bg2"/>
          </a:solidFill>
          <a:ln/>
        </p:spPr>
      </p:sp>
      <p:sp>
        <p:nvSpPr>
          <p:cNvPr id="6" name="lingkaran awan"/>
          <p:cNvSpPr/>
          <p:nvPr/>
        </p:nvSpPr>
        <p:spPr>
          <a:xfrm>
            <a:off x="777240" y="2240280"/>
            <a:ext cx="685800" cy="685800"/>
          </a:xfrm>
          <a:prstGeom prst="ellipse">
            <a:avLst/>
          </a:prstGeom>
          <a:solidFill>
            <a:schemeClr val="accent1"/>
          </a:solidFill>
          <a:ln/>
        </p:spPr>
      </p:sp>
      <p:pic>
        <p:nvPicPr>
          <p:cNvPr id="7" name="Image 0" descr="awan">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Data internet tampil</a:t>
            </a:r>
            <a:endParaRPr lang="en-US" sz="1800" dirty="0"/>
          </a:p>
        </p:txBody>
      </p:sp>
      <p:sp>
        <p:nvSpPr>
          <p:cNvPr id="9" name="Text 5"/>
          <p:cNvSpPr txBox="1"/>
          <p:nvPr/>
        </p:nvSpPr>
        <p:spPr>
          <a:xfrm>
            <a:off x="777240"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Jika tidak, periksa izin internet (Bagian 10.2).</a:t>
            </a:r>
            <a:endParaRPr lang="en-US" sz="1500" dirty="0"/>
          </a:p>
        </p:txBody>
      </p:sp>
      <p:sp>
        <p:nvSpPr>
          <p:cNvPr id="10" name="kartu 2"/>
          <p:cNvSpPr/>
          <p:nvPr/>
        </p:nvSpPr>
        <p:spPr>
          <a:xfrm>
            <a:off x="4353458" y="2011680"/>
            <a:ext cx="3484778" cy="1965960"/>
          </a:xfrm>
          <a:prstGeom prst="roundRect">
            <a:avLst>
              <a:gd name="adj" fmla="val 5581"/>
            </a:avLst>
          </a:prstGeom>
          <a:solidFill>
            <a:schemeClr val="bg2"/>
          </a:solidFill>
          <a:ln/>
        </p:spPr>
      </p:sp>
      <p:sp>
        <p:nvSpPr>
          <p:cNvPr id="11" name="lingkaran awanputus"/>
          <p:cNvSpPr/>
          <p:nvPr/>
        </p:nvSpPr>
        <p:spPr>
          <a:xfrm>
            <a:off x="4582058" y="2240280"/>
            <a:ext cx="685800" cy="685800"/>
          </a:xfrm>
          <a:prstGeom prst="ellipse">
            <a:avLst/>
          </a:prstGeom>
          <a:solidFill>
            <a:schemeClr val="accent5"/>
          </a:solidFill>
          <a:ln/>
        </p:spPr>
      </p:sp>
      <p:pic>
        <p:nvPicPr>
          <p:cNvPr id="12" name="Image 1" descr="awanputus">    </p:cNvPr>
          <p:cNvPicPr>
            <a:picLocks noChangeAspect="1"/>
          </p:cNvPicPr>
          <p:nvPr/>
        </p:nvPicPr>
        <p:blipFill>
          <a:blip r:embed="rId2"/>
          <a:stretch>
            <a:fillRect/>
          </a:stretch>
        </p:blipFill>
        <p:spPr>
          <a:xfrm>
            <a:off x="4732934" y="2391156"/>
            <a:ext cx="384048" cy="384048"/>
          </a:xfrm>
          <a:prstGeom prst="rect">
            <a:avLst/>
          </a:prstGeom>
        </p:spPr>
      </p:pic>
      <p:sp>
        <p:nvSpPr>
          <p:cNvPr id="13" name="Text 8"/>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Mode pesawat</a:t>
            </a:r>
            <a:endParaRPr lang="en-US" sz="1800" dirty="0"/>
          </a:p>
        </p:txBody>
      </p:sp>
      <p:sp>
        <p:nvSpPr>
          <p:cNvPr id="14" name="Text 9"/>
          <p:cNvSpPr txBox="1"/>
          <p:nvPr/>
        </p:nvSpPr>
        <p:spPr>
          <a:xfrm>
            <a:off x="4582058"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Pesan galatnya ramah, data tersimpan tetap tampil.</a:t>
            </a:r>
            <a:endParaRPr lang="en-US" sz="1500" dirty="0"/>
          </a:p>
        </p:txBody>
      </p:sp>
      <p:sp>
        <p:nvSpPr>
          <p:cNvPr id="15" name="kartu 3"/>
          <p:cNvSpPr/>
          <p:nvPr/>
        </p:nvSpPr>
        <p:spPr>
          <a:xfrm>
            <a:off x="8158277" y="2011680"/>
            <a:ext cx="3484778" cy="1965960"/>
          </a:xfrm>
          <a:prstGeom prst="roundRect">
            <a:avLst>
              <a:gd name="adj" fmla="val 5581"/>
            </a:avLst>
          </a:prstGeom>
          <a:solidFill>
            <a:schemeClr val="bg2"/>
          </a:solidFill>
          <a:ln/>
        </p:spPr>
      </p:sp>
      <p:sp>
        <p:nvSpPr>
          <p:cNvPr id="16" name="lingkaran simpan"/>
          <p:cNvSpPr/>
          <p:nvPr/>
        </p:nvSpPr>
        <p:spPr>
          <a:xfrm>
            <a:off x="8386877" y="2240280"/>
            <a:ext cx="685800" cy="685800"/>
          </a:xfrm>
          <a:prstGeom prst="ellipse">
            <a:avLst/>
          </a:prstGeom>
          <a:solidFill>
            <a:schemeClr val="accent1"/>
          </a:solidFill>
          <a:ln/>
        </p:spPr>
      </p:sp>
      <p:pic>
        <p:nvPicPr>
          <p:cNvPr id="17" name="Image 2" descr="simpan">    </p:cNvPr>
          <p:cNvPicPr>
            <a:picLocks noChangeAspect="1"/>
          </p:cNvPicPr>
          <p:nvPr/>
        </p:nvPicPr>
        <p:blipFill>
          <a:blip r:embed="rId3"/>
          <a:stretch>
            <a:fillRect/>
          </a:stretch>
        </p:blipFill>
        <p:spPr>
          <a:xfrm>
            <a:off x="8537753" y="2391156"/>
            <a:ext cx="384048" cy="384048"/>
          </a:xfrm>
          <a:prstGeom prst="rect">
            <a:avLst/>
          </a:prstGeom>
        </p:spPr>
      </p:pic>
      <p:sp>
        <p:nvSpPr>
          <p:cNvPr id="18" name="Text 12"/>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Tutup lalu buka lagi</a:t>
            </a:r>
            <a:endParaRPr lang="en-US" sz="1800" dirty="0"/>
          </a:p>
        </p:txBody>
      </p:sp>
      <p:sp>
        <p:nvSpPr>
          <p:cNvPr id="19" name="Text 13"/>
          <p:cNvSpPr txBox="1"/>
          <p:nvPr/>
        </p:nvSpPr>
        <p:spPr>
          <a:xfrm>
            <a:off x="8386877"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Simpan data, tutup dari daftar aplikasi terbuka, buka lagi: datanya masih ada.</a:t>
            </a:r>
            <a:endParaRPr lang="en-US" sz="1500" dirty="0"/>
          </a:p>
        </p:txBody>
      </p:sp>
      <p:sp>
        <p:nvSpPr>
          <p:cNvPr id="20" name="kartu 4"/>
          <p:cNvSpPr/>
          <p:nvPr/>
        </p:nvSpPr>
        <p:spPr>
          <a:xfrm>
            <a:off x="548640" y="4251960"/>
            <a:ext cx="3484778" cy="1965960"/>
          </a:xfrm>
          <a:prstGeom prst="roundRect">
            <a:avLst>
              <a:gd name="adj" fmla="val 5581"/>
            </a:avLst>
          </a:prstGeom>
          <a:solidFill>
            <a:schemeClr val="bg2"/>
          </a:solidFill>
          <a:ln/>
        </p:spPr>
      </p:sp>
      <p:sp>
        <p:nvSpPr>
          <p:cNvPr id="21" name="lingkaran huruf"/>
          <p:cNvSpPr/>
          <p:nvPr/>
        </p:nvSpPr>
        <p:spPr>
          <a:xfrm>
            <a:off x="777240" y="4480560"/>
            <a:ext cx="685800" cy="685800"/>
          </a:xfrm>
          <a:prstGeom prst="ellipse">
            <a:avLst/>
          </a:prstGeom>
          <a:solidFill>
            <a:schemeClr val="accent4"/>
          </a:solidFill>
          <a:ln/>
        </p:spPr>
      </p:sp>
      <p:pic>
        <p:nvPicPr>
          <p:cNvPr id="22" name="Image 3" descr="huruf">    </p:cNvPr>
          <p:cNvPicPr>
            <a:picLocks noChangeAspect="1"/>
          </p:cNvPicPr>
          <p:nvPr/>
        </p:nvPicPr>
        <p:blipFill>
          <a:blip r:embed="rId4"/>
          <a:stretch>
            <a:fillRect/>
          </a:stretch>
        </p:blipFill>
        <p:spPr>
          <a:xfrm>
            <a:off x="928116" y="4631436"/>
            <a:ext cx="384048" cy="384048"/>
          </a:xfrm>
          <a:prstGeom prst="rect">
            <a:avLst/>
          </a:prstGeom>
        </p:spPr>
      </p:pic>
      <p:sp>
        <p:nvSpPr>
          <p:cNvPr id="23" name="Text 16"/>
          <p:cNvSpPr txBox="1"/>
          <p:nvPr/>
        </p:nvSpPr>
        <p:spPr>
          <a:xfrm>
            <a:off x="1600200"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Putar layar, huruf besar</a:t>
            </a:r>
            <a:endParaRPr lang="en-US" sz="1800" dirty="0"/>
          </a:p>
        </p:txBody>
      </p:sp>
      <p:sp>
        <p:nvSpPr>
          <p:cNvPr id="24" name="Text 17"/>
          <p:cNvSpPr txBox="1"/>
          <p:nvPr/>
        </p:nvSpPr>
        <p:spPr>
          <a:xfrm>
            <a:off x="777240"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Perbesar ukuran huruf di pengaturan HP: tidak ada yang meluap.</a:t>
            </a:r>
            <a:endParaRPr lang="en-US" sz="1500" dirty="0"/>
          </a:p>
        </p:txBody>
      </p:sp>
      <p:sp>
        <p:nvSpPr>
          <p:cNvPr id="25" name="kartu 5"/>
          <p:cNvSpPr/>
          <p:nvPr/>
        </p:nvSpPr>
        <p:spPr>
          <a:xfrm>
            <a:off x="4353458" y="4251960"/>
            <a:ext cx="3484778" cy="1965960"/>
          </a:xfrm>
          <a:prstGeom prst="roundRect">
            <a:avLst>
              <a:gd name="adj" fmla="val 5581"/>
            </a:avLst>
          </a:prstGeom>
          <a:solidFill>
            <a:schemeClr val="bg2"/>
          </a:solidFill>
          <a:ln/>
        </p:spPr>
      </p:sp>
      <p:sp>
        <p:nvSpPr>
          <p:cNvPr id="26" name="lingkaran gelap"/>
          <p:cNvSpPr/>
          <p:nvPr/>
        </p:nvSpPr>
        <p:spPr>
          <a:xfrm>
            <a:off x="4582058" y="4480560"/>
            <a:ext cx="685800" cy="685800"/>
          </a:xfrm>
          <a:prstGeom prst="ellipse">
            <a:avLst/>
          </a:prstGeom>
          <a:solidFill>
            <a:schemeClr val="accent6"/>
          </a:solidFill>
          <a:ln/>
        </p:spPr>
      </p:sp>
      <p:pic>
        <p:nvPicPr>
          <p:cNvPr id="27" name="Image 4" descr="gelap">    </p:cNvPr>
          <p:cNvPicPr>
            <a:picLocks noChangeAspect="1"/>
          </p:cNvPicPr>
          <p:nvPr/>
        </p:nvPicPr>
        <p:blipFill>
          <a:blip r:embed="rId5"/>
          <a:stretch>
            <a:fillRect/>
          </a:stretch>
        </p:blipFill>
        <p:spPr>
          <a:xfrm>
            <a:off x="4732934" y="4631436"/>
            <a:ext cx="384048" cy="384048"/>
          </a:xfrm>
          <a:prstGeom prst="rect">
            <a:avLst/>
          </a:prstGeom>
        </p:spPr>
      </p:pic>
      <p:sp>
        <p:nvSpPr>
          <p:cNvPr id="28" name="Text 20"/>
          <p:cNvSpPr txBox="1"/>
          <p:nvPr/>
        </p:nvSpPr>
        <p:spPr>
          <a:xfrm>
            <a:off x="5405018"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Mode gelap</a:t>
            </a:r>
            <a:endParaRPr lang="en-US" sz="1800" dirty="0"/>
          </a:p>
        </p:txBody>
      </p:sp>
      <p:sp>
        <p:nvSpPr>
          <p:cNvPr id="29" name="Text 21"/>
          <p:cNvSpPr txBox="1"/>
          <p:nvPr/>
        </p:nvSpPr>
        <p:spPr>
          <a:xfrm>
            <a:off x="4582058"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Semua teks tetap terbaca.</a:t>
            </a:r>
            <a:endParaRPr lang="en-US" sz="1500" dirty="0"/>
          </a:p>
        </p:txBody>
      </p:sp>
      <p:sp>
        <p:nvSpPr>
          <p:cNvPr id="30" name="kartu 6"/>
          <p:cNvSpPr/>
          <p:nvPr/>
        </p:nvSpPr>
        <p:spPr>
          <a:xfrm>
            <a:off x="8158277" y="4251960"/>
            <a:ext cx="3484778" cy="1965960"/>
          </a:xfrm>
          <a:prstGeom prst="roundRect">
            <a:avLst>
              <a:gd name="adj" fmla="val 5581"/>
            </a:avLst>
          </a:prstGeom>
          <a:solidFill>
            <a:schemeClr val="bg2"/>
          </a:solidFill>
          <a:ln/>
        </p:spPr>
      </p:sp>
      <p:sp>
        <p:nvSpPr>
          <p:cNvPr id="31" name="lingkaran nomor"/>
          <p:cNvSpPr/>
          <p:nvPr/>
        </p:nvSpPr>
        <p:spPr>
          <a:xfrm>
            <a:off x="8386877" y="4480560"/>
            <a:ext cx="685800" cy="685800"/>
          </a:xfrm>
          <a:prstGeom prst="ellipse">
            <a:avLst/>
          </a:prstGeom>
          <a:solidFill>
            <a:schemeClr val="accent1"/>
          </a:solidFill>
          <a:ln/>
        </p:spPr>
      </p:sp>
      <p:pic>
        <p:nvPicPr>
          <p:cNvPr id="32" name="Image 5" descr="nomor">    </p:cNvPr>
          <p:cNvPicPr>
            <a:picLocks noChangeAspect="1"/>
          </p:cNvPicPr>
          <p:nvPr/>
        </p:nvPicPr>
        <p:blipFill>
          <a:blip r:embed="rId6"/>
          <a:stretch>
            <a:fillRect/>
          </a:stretch>
        </p:blipFill>
        <p:spPr>
          <a:xfrm>
            <a:off x="8537753" y="4631436"/>
            <a:ext cx="384048" cy="384048"/>
          </a:xfrm>
          <a:prstGeom prst="rect">
            <a:avLst/>
          </a:prstGeom>
        </p:spPr>
      </p:pic>
      <p:sp>
        <p:nvSpPr>
          <p:cNvPr id="33" name="Text 24"/>
          <p:cNvSpPr txBox="1"/>
          <p:nvPr/>
        </p:nvSpPr>
        <p:spPr>
          <a:xfrm>
            <a:off x="9209837"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Halaman Tentang</a:t>
            </a:r>
            <a:endParaRPr lang="en-US" sz="1800" dirty="0"/>
          </a:p>
        </p:txBody>
      </p:sp>
      <p:sp>
        <p:nvSpPr>
          <p:cNvPr id="34" name="Text 25"/>
          <p:cNvSpPr txBox="1"/>
          <p:nvPr/>
        </p:nvSpPr>
        <p:spPr>
          <a:xfrm>
            <a:off x="8386877"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Versi yang tampil sama dengan pubspec.yaml.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Kabar 2026–2027: Verifikasi Pengembang Android</a:t>
            </a:r>
            <a:endParaRPr lang="en-US" sz="3200" dirty="0"/>
          </a:p>
        </p:txBody>
      </p:sp>
      <p:sp>
        <p:nvSpPr>
          <p:cNvPr id="4" name="Shape 1"/>
          <p:cNvSpPr/>
          <p:nvPr/>
        </p:nvSpPr>
        <p:spPr>
          <a:xfrm>
            <a:off x="548640" y="1417320"/>
            <a:ext cx="3393338" cy="2926080"/>
          </a:xfrm>
          <a:prstGeom prst="roundRect">
            <a:avLst>
              <a:gd name="adj" fmla="val 4688"/>
            </a:avLst>
          </a:prstGeom>
          <a:solidFill>
            <a:schemeClr val="bg2"/>
          </a:solidFill>
          <a:ln/>
        </p:spPr>
      </p:sp>
      <p:sp>
        <p:nvSpPr>
          <p:cNvPr id="5" name="lingkaran jam"/>
          <p:cNvSpPr/>
          <p:nvPr/>
        </p:nvSpPr>
        <p:spPr>
          <a:xfrm>
            <a:off x="868680" y="1691640"/>
            <a:ext cx="731520" cy="731520"/>
          </a:xfrm>
          <a:prstGeom prst="ellipse">
            <a:avLst/>
          </a:prstGeom>
          <a:solidFill>
            <a:schemeClr val="accent5"/>
          </a:solidFill>
          <a:ln/>
        </p:spPr>
      </p:sp>
      <p:pic>
        <p:nvPicPr>
          <p:cNvPr id="6" name="Image 0" descr="jam">    </p:cNvPr>
          <p:cNvPicPr>
            <a:picLocks noChangeAspect="1"/>
          </p:cNvPicPr>
          <p:nvPr/>
        </p:nvPicPr>
        <p:blipFill>
          <a:blip r:embed="rId1"/>
          <a:stretch>
            <a:fillRect/>
          </a:stretch>
        </p:blipFill>
        <p:spPr>
          <a:xfrm>
            <a:off x="1029614" y="1852574"/>
            <a:ext cx="409651" cy="409651"/>
          </a:xfrm>
          <a:prstGeom prst="rect">
            <a:avLst/>
          </a:prstGeom>
        </p:spPr>
      </p:pic>
      <p:sp>
        <p:nvSpPr>
          <p:cNvPr id="7" name="Text 3"/>
          <p:cNvSpPr txBox="1"/>
          <p:nvPr/>
        </p:nvSpPr>
        <p:spPr>
          <a:xfrm>
            <a:off x="822960" y="2468880"/>
            <a:ext cx="2844698" cy="1188720"/>
          </a:xfrm>
          <a:prstGeom prst="rect">
            <a:avLst/>
          </a:prstGeom>
          <a:noFill/>
          <a:ln/>
        </p:spPr>
        <p:txBody>
          <a:bodyPr wrap="square" lIns="0" tIns="0" rIns="0" bIns="0" rtlCol="0" anchor="ctr"/>
          <a:lstStyle/>
          <a:p>
            <a:pPr indent="0" marL="0">
              <a:buNone/>
            </a:pPr>
            <a:r>
              <a:rPr lang="en-US" sz="3800" b="1" dirty="0">
                <a:solidFill>
                  <a:schemeClr val="accent5"/>
                </a:solidFill>
              </a:rPr>
              <a:t>30 Sep 2026</a:t>
            </a:r>
            <a:endParaRPr lang="en-US" sz="3800" dirty="0"/>
          </a:p>
        </p:txBody>
      </p:sp>
      <p:sp>
        <p:nvSpPr>
          <p:cNvPr id="8" name="Text 4"/>
          <p:cNvSpPr txBox="1"/>
          <p:nvPr/>
        </p:nvSpPr>
        <p:spPr>
          <a:xfrm>
            <a:off x="868680" y="3657600"/>
            <a:ext cx="2753258" cy="548640"/>
          </a:xfrm>
          <a:prstGeom prst="rect">
            <a:avLst/>
          </a:prstGeom>
          <a:noFill/>
          <a:ln/>
        </p:spPr>
        <p:txBody>
          <a:bodyPr wrap="square" lIns="0" tIns="0" rIns="0" bIns="0" rtlCol="0" anchor="ctr"/>
          <a:lstStyle/>
          <a:p>
            <a:pPr indent="0" marL="0">
              <a:buNone/>
            </a:pPr>
            <a:r>
              <a:rPr lang="en-US" sz="1800" dirty="0">
                <a:solidFill>
                  <a:schemeClr val="tx1"/>
                </a:solidFill>
              </a:rPr>
              <a:t>Mulai berlaku di Indonesia dan tiga negara lain</a:t>
            </a:r>
            <a:endParaRPr lang="en-US" sz="1800" dirty="0"/>
          </a:p>
        </p:txBody>
      </p:sp>
      <p:sp>
        <p:nvSpPr>
          <p:cNvPr id="9" name="Shape 5"/>
          <p:cNvSpPr/>
          <p:nvPr/>
        </p:nvSpPr>
        <p:spPr>
          <a:xfrm>
            <a:off x="4399178" y="1417320"/>
            <a:ext cx="3393338" cy="2926080"/>
          </a:xfrm>
          <a:prstGeom prst="roundRect">
            <a:avLst>
              <a:gd name="adj" fmla="val 4688"/>
            </a:avLst>
          </a:prstGeom>
          <a:solidFill>
            <a:schemeClr val="bg2"/>
          </a:solidFill>
          <a:ln/>
        </p:spPr>
      </p:sp>
      <p:sp>
        <p:nvSpPr>
          <p:cNvPr id="10" name="lingkaran jelajah"/>
          <p:cNvSpPr/>
          <p:nvPr/>
        </p:nvSpPr>
        <p:spPr>
          <a:xfrm>
            <a:off x="4719218" y="1691640"/>
            <a:ext cx="731520" cy="731520"/>
          </a:xfrm>
          <a:prstGeom prst="ellipse">
            <a:avLst/>
          </a:prstGeom>
          <a:solidFill>
            <a:schemeClr val="accent1"/>
          </a:solidFill>
          <a:ln/>
        </p:spPr>
      </p:sp>
      <p:pic>
        <p:nvPicPr>
          <p:cNvPr id="11" name="Image 1" descr="jelajah">    </p:cNvPr>
          <p:cNvPicPr>
            <a:picLocks noChangeAspect="1"/>
          </p:cNvPicPr>
          <p:nvPr/>
        </p:nvPicPr>
        <p:blipFill>
          <a:blip r:embed="rId2"/>
          <a:stretch>
            <a:fillRect/>
          </a:stretch>
        </p:blipFill>
        <p:spPr>
          <a:xfrm>
            <a:off x="4880153" y="1852574"/>
            <a:ext cx="409651" cy="409651"/>
          </a:xfrm>
          <a:prstGeom prst="rect">
            <a:avLst/>
          </a:prstGeom>
        </p:spPr>
      </p:pic>
      <p:sp>
        <p:nvSpPr>
          <p:cNvPr id="12" name="Text 7"/>
          <p:cNvSpPr txBox="1"/>
          <p:nvPr/>
        </p:nvSpPr>
        <p:spPr>
          <a:xfrm>
            <a:off x="4673498" y="2468880"/>
            <a:ext cx="2844698" cy="1188720"/>
          </a:xfrm>
          <a:prstGeom prst="rect">
            <a:avLst/>
          </a:prstGeom>
          <a:noFill/>
          <a:ln/>
        </p:spPr>
        <p:txBody>
          <a:bodyPr wrap="square" lIns="0" tIns="0" rIns="0" bIns="0" rtlCol="0" anchor="ctr"/>
          <a:lstStyle/>
          <a:p>
            <a:pPr indent="0" marL="0">
              <a:buNone/>
            </a:pPr>
            <a:r>
              <a:rPr lang="en-US" sz="3800" b="1" dirty="0">
                <a:solidFill>
                  <a:schemeClr val="accent1"/>
                </a:solidFill>
              </a:rPr>
              <a:t>2027</a:t>
            </a:r>
            <a:endParaRPr lang="en-US" sz="3800" dirty="0"/>
          </a:p>
        </p:txBody>
      </p:sp>
      <p:sp>
        <p:nvSpPr>
          <p:cNvPr id="13" name="Text 8"/>
          <p:cNvSpPr txBox="1"/>
          <p:nvPr/>
        </p:nvSpPr>
        <p:spPr>
          <a:xfrm>
            <a:off x="4719218" y="3657600"/>
            <a:ext cx="2753258" cy="548640"/>
          </a:xfrm>
          <a:prstGeom prst="rect">
            <a:avLst/>
          </a:prstGeom>
          <a:noFill/>
          <a:ln/>
        </p:spPr>
        <p:txBody>
          <a:bodyPr wrap="square" lIns="0" tIns="0" rIns="0" bIns="0" rtlCol="0" anchor="ctr"/>
          <a:lstStyle/>
          <a:p>
            <a:pPr indent="0" marL="0">
              <a:buNone/>
            </a:pPr>
            <a:r>
              <a:rPr lang="en-US" sz="1800" dirty="0">
                <a:solidFill>
                  <a:schemeClr val="tx1"/>
                </a:solidFill>
              </a:rPr>
              <a:t>Diperluas ke seluruh dunia</a:t>
            </a:r>
            <a:endParaRPr lang="en-US" sz="1800" dirty="0"/>
          </a:p>
        </p:txBody>
      </p:sp>
      <p:sp>
        <p:nvSpPr>
          <p:cNvPr id="14" name="Shape 9"/>
          <p:cNvSpPr/>
          <p:nvPr/>
        </p:nvSpPr>
        <p:spPr>
          <a:xfrm>
            <a:off x="8249717" y="1417320"/>
            <a:ext cx="3393338" cy="2926080"/>
          </a:xfrm>
          <a:prstGeom prst="roundRect">
            <a:avLst>
              <a:gd name="adj" fmla="val 4688"/>
            </a:avLst>
          </a:prstGeom>
          <a:solidFill>
            <a:schemeClr val="bg2"/>
          </a:solidFill>
          <a:ln/>
        </p:spPr>
      </p:sp>
      <p:sp>
        <p:nvSpPr>
          <p:cNvPr id="15" name="lingkaran hp"/>
          <p:cNvSpPr/>
          <p:nvPr/>
        </p:nvSpPr>
        <p:spPr>
          <a:xfrm>
            <a:off x="8569757" y="1691640"/>
            <a:ext cx="731520" cy="731520"/>
          </a:xfrm>
          <a:prstGeom prst="ellipse">
            <a:avLst/>
          </a:prstGeom>
          <a:solidFill>
            <a:schemeClr val="accent4"/>
          </a:solidFill>
          <a:ln/>
        </p:spPr>
      </p:sp>
      <p:pic>
        <p:nvPicPr>
          <p:cNvPr id="16" name="Image 2" descr="hp">    </p:cNvPr>
          <p:cNvPicPr>
            <a:picLocks noChangeAspect="1"/>
          </p:cNvPicPr>
          <p:nvPr/>
        </p:nvPicPr>
        <p:blipFill>
          <a:blip r:embed="rId3"/>
          <a:stretch>
            <a:fillRect/>
          </a:stretch>
        </p:blipFill>
        <p:spPr>
          <a:xfrm>
            <a:off x="8730691" y="1852574"/>
            <a:ext cx="409651" cy="409651"/>
          </a:xfrm>
          <a:prstGeom prst="rect">
            <a:avLst/>
          </a:prstGeom>
        </p:spPr>
      </p:pic>
      <p:sp>
        <p:nvSpPr>
          <p:cNvPr id="17" name="Text 11"/>
          <p:cNvSpPr txBox="1"/>
          <p:nvPr/>
        </p:nvSpPr>
        <p:spPr>
          <a:xfrm>
            <a:off x="8524037" y="2468880"/>
            <a:ext cx="2844698" cy="1188720"/>
          </a:xfrm>
          <a:prstGeom prst="rect">
            <a:avLst/>
          </a:prstGeom>
          <a:noFill/>
          <a:ln/>
        </p:spPr>
        <p:txBody>
          <a:bodyPr wrap="square" lIns="0" tIns="0" rIns="0" bIns="0" rtlCol="0" anchor="ctr"/>
          <a:lstStyle/>
          <a:p>
            <a:pPr indent="0" marL="0">
              <a:buNone/>
            </a:pPr>
            <a:r>
              <a:rPr lang="en-US" sz="3800" b="1" dirty="0">
                <a:solidFill>
                  <a:schemeClr val="accent4"/>
                </a:solidFill>
              </a:rPr>
              <a:t>20 HP</a:t>
            </a:r>
            <a:endParaRPr lang="en-US" sz="3800" dirty="0"/>
          </a:p>
        </p:txBody>
      </p:sp>
      <p:sp>
        <p:nvSpPr>
          <p:cNvPr id="18" name="Text 12"/>
          <p:cNvSpPr txBox="1"/>
          <p:nvPr/>
        </p:nvSpPr>
        <p:spPr>
          <a:xfrm>
            <a:off x="8569757" y="3657600"/>
            <a:ext cx="2753258" cy="548640"/>
          </a:xfrm>
          <a:prstGeom prst="rect">
            <a:avLst/>
          </a:prstGeom>
          <a:noFill/>
          <a:ln/>
        </p:spPr>
        <p:txBody>
          <a:bodyPr wrap="square" lIns="0" tIns="0" rIns="0" bIns="0" rtlCol="0" anchor="ctr"/>
          <a:lstStyle/>
          <a:p>
            <a:pPr indent="0" marL="0">
              <a:buNone/>
            </a:pPr>
            <a:r>
              <a:rPr lang="en-US" sz="1800" dirty="0">
                <a:solidFill>
                  <a:schemeClr val="tx1"/>
                </a:solidFill>
              </a:rPr>
              <a:t>Akun distribusi terbatas: gratis, tanpa KTP</a:t>
            </a:r>
            <a:endParaRPr lang="en-US" sz="1800" dirty="0"/>
          </a:p>
        </p:txBody>
      </p:sp>
      <p:sp>
        <p:nvSpPr>
          <p:cNvPr id="19" name="lingkaran lampu"/>
          <p:cNvSpPr/>
          <p:nvPr/>
        </p:nvSpPr>
        <p:spPr>
          <a:xfrm>
            <a:off x="548640" y="4617720"/>
            <a:ext cx="548640" cy="548640"/>
          </a:xfrm>
          <a:prstGeom prst="ellipse">
            <a:avLst/>
          </a:prstGeom>
          <a:solidFill>
            <a:schemeClr val="accent3"/>
          </a:solidFill>
          <a:ln/>
        </p:spPr>
      </p:sp>
      <p:pic>
        <p:nvPicPr>
          <p:cNvPr id="20" name="Image 3" descr="lampu">    </p:cNvPr>
          <p:cNvPicPr>
            <a:picLocks noChangeAspect="1"/>
          </p:cNvPicPr>
          <p:nvPr/>
        </p:nvPicPr>
        <p:blipFill>
          <a:blip r:embed="rId4"/>
          <a:stretch>
            <a:fillRect/>
          </a:stretch>
        </p:blipFill>
        <p:spPr>
          <a:xfrm>
            <a:off x="669341" y="4738421"/>
            <a:ext cx="307238" cy="307238"/>
          </a:xfrm>
          <a:prstGeom prst="rect">
            <a:avLst/>
          </a:prstGeom>
        </p:spPr>
      </p:pic>
      <p:sp>
        <p:nvSpPr>
          <p:cNvPr id="21" name="Text 14"/>
          <p:cNvSpPr txBox="1"/>
          <p:nvPr/>
        </p:nvSpPr>
        <p:spPr>
          <a:xfrm>
            <a:off x="1280160" y="4526280"/>
            <a:ext cx="10362895" cy="822960"/>
          </a:xfrm>
          <a:prstGeom prst="rect">
            <a:avLst/>
          </a:prstGeom>
          <a:noFill/>
          <a:ln/>
        </p:spPr>
        <p:txBody>
          <a:bodyPr wrap="square" lIns="0" tIns="0" rIns="0" bIns="0" rtlCol="0" anchor="ctr"/>
          <a:lstStyle/>
          <a:p>
            <a:pPr indent="0" marL="0">
              <a:buNone/>
            </a:pPr>
            <a:r>
              <a:rPr lang="en-US" sz="1800" dirty="0">
                <a:solidFill>
                  <a:schemeClr val="tx1"/>
                </a:solidFill>
              </a:rPr>
              <a:t>Aplikasi yang dipasang lewat ADB (termasuk flutter install) tidak memerlukan verifikasi. Aturan ini masih bisa berubah: baca halaman resminya sebelum membagikan APK ke banyak orang.</a:t>
            </a:r>
            <a:endParaRPr lang="en-US" sz="1800" dirty="0"/>
          </a:p>
        </p:txBody>
      </p:sp>
      <p:sp>
        <p:nvSpPr>
          <p:cNvPr id="22" name="Text 15"/>
          <p:cNvSpPr txBox="1"/>
          <p:nvPr/>
        </p:nvSpPr>
        <p:spPr>
          <a:xfrm>
            <a:off x="548640" y="5623560"/>
            <a:ext cx="11094415" cy="365760"/>
          </a:xfrm>
          <a:prstGeom prst="rect">
            <a:avLst/>
          </a:prstGeom>
          <a:noFill/>
          <a:ln/>
        </p:spPr>
        <p:txBody>
          <a:bodyPr wrap="square" lIns="0" tIns="0" rIns="0" bIns="0" rtlCol="0" anchor="ctr"/>
          <a:lstStyle/>
          <a:p>
            <a:pPr indent="0" marL="0">
              <a:buNone/>
            </a:pPr>
            <a:r>
              <a:rPr lang="en-US" sz="1100" i="1" dirty="0">
                <a:solidFill>
                  <a:srgbClr val="6B7A90"/>
                </a:solidFill>
              </a:rPr>
              <a:t>Sumber: developer.android.com/developer-verification (dibaca Oktober 2026)</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Tanda Tangan Digital: Tiga Kunci</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Setiap APK WAJIB ditandatangani, ibarat segel pabrik. Pembaruan dengan segel berbeda DITOLAK Android.</a:t>
            </a:r>
            <a:endParaRPr lang="en-US" sz="1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658992"/>
                <a:gridCol w="2475613"/>
                <a:gridCol w="3300818"/>
                <a:gridCol w="2658992"/>
              </a:tblGrid>
              <a:tr h="84124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Kunci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Dibuat oleh</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Dipakai untuk</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Jika hilang</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41248">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Kunci debug</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Otomatis, di SETIAP laptop</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Pengembangan dan APK untuk mencoba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Tidak apa-apa, dibuat lagi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41248">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Kunci unggah (upload key)</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ANDA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Menandatangani berkas yang diunggah ke Google Play</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Bisa diganti lewat Play Console, setelah dikonfirmasi Google</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41248">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Kunci penandatangan aplikasi (app signing key)</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Disimpan Google lewat Play App Signing</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Menandatangani aplikasi yang diterima HP pengguna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Dijaga Google</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Di luar Google Play (misalnya GitHub Releases), kunci buatan Anda sendirilah yang sampai ke HP pengguna. Kunci hilang = tidak akan pernah bisa menerbitkan pembaruan.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Membuat Kunci Unggah dengan keytool</a:t>
            </a:r>
            <a:endParaRPr lang="en-US" sz="3200" dirty="0"/>
          </a:p>
        </p:txBody>
      </p:sp>
      <p:sp>
        <p:nvSpPr>
          <p:cNvPr id="4" name="kotak kode"/>
          <p:cNvSpPr txBox="1"/>
          <p:nvPr/>
        </p:nvSpPr>
        <p:spPr>
          <a:xfrm>
            <a:off x="548640" y="1371600"/>
            <a:ext cx="7223760" cy="1947672"/>
          </a:xfrm>
          <a:prstGeom prst="roundRect">
            <a:avLst>
              <a:gd name="adj" fmla="val 4695"/>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Windows (PowerShell)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keytool -genkey -v -keystore $env:USERPROFILE\upload-keystore.jks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-storetype JKS -keyalg RSA -keysize </a:t>
            </a:r>
            <a:r>
              <a:rPr lang="en-US" sz="1200" dirty="0">
                <a:solidFill>
                  <a:srgbClr val="F78C6C"/>
                </a:solidFill>
                <a:latin typeface="Consolas" pitchFamily="34" charset="0"/>
                <a:ea typeface="Consolas" pitchFamily="34" charset="-122"/>
                <a:cs typeface="Consolas" pitchFamily="34" charset="-120"/>
              </a:rPr>
              <a:t>2048</a:t>
            </a:r>
            <a:r>
              <a:rPr lang="en-US" sz="1200" dirty="0">
                <a:solidFill>
                  <a:srgbClr val="E6EDF3"/>
                </a:solidFill>
                <a:latin typeface="Consolas" pitchFamily="34" charset="0"/>
                <a:ea typeface="Consolas" pitchFamily="34" charset="-122"/>
                <a:cs typeface="Consolas" pitchFamily="34" charset="-120"/>
              </a:rPr>
              <a:t> -validity </a:t>
            </a:r>
            <a:r>
              <a:rPr lang="en-US" sz="1200" dirty="0">
                <a:solidFill>
                  <a:srgbClr val="F78C6C"/>
                </a:solidFill>
                <a:latin typeface="Consolas" pitchFamily="34" charset="0"/>
                <a:ea typeface="Consolas" pitchFamily="34" charset="-122"/>
                <a:cs typeface="Consolas" pitchFamily="34" charset="-120"/>
              </a:rPr>
              <a:t>10000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-alias upload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macOS / Linux</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keytool -genkey -v -keystore ~/upload-keystore.jks -keyalg RSA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-storetype JKS -keysize </a:t>
            </a:r>
            <a:r>
              <a:rPr lang="en-US" sz="1200" dirty="0">
                <a:solidFill>
                  <a:srgbClr val="F78C6C"/>
                </a:solidFill>
                <a:latin typeface="Consolas" pitchFamily="34" charset="0"/>
                <a:ea typeface="Consolas" pitchFamily="34" charset="-122"/>
                <a:cs typeface="Consolas" pitchFamily="34" charset="-120"/>
              </a:rPr>
              <a:t>2048</a:t>
            </a:r>
            <a:r>
              <a:rPr lang="en-US" sz="1200" dirty="0">
                <a:solidFill>
                  <a:srgbClr val="E6EDF3"/>
                </a:solidFill>
                <a:latin typeface="Consolas" pitchFamily="34" charset="0"/>
                <a:ea typeface="Consolas" pitchFamily="34" charset="-122"/>
                <a:cs typeface="Consolas" pitchFamily="34" charset="-120"/>
              </a:rPr>
              <a:t> -validity </a:t>
            </a:r>
            <a:r>
              <a:rPr lang="en-US" sz="1200" dirty="0">
                <a:solidFill>
                  <a:srgbClr val="F78C6C"/>
                </a:solidFill>
                <a:latin typeface="Consolas" pitchFamily="34" charset="0"/>
                <a:ea typeface="Consolas" pitchFamily="34" charset="-122"/>
                <a:cs typeface="Consolas" pitchFamily="34" charset="-120"/>
              </a:rPr>
              <a:t>10000</a:t>
            </a:r>
            <a:r>
              <a:rPr lang="en-US" sz="1200" dirty="0">
                <a:solidFill>
                  <a:srgbClr val="E6EDF3"/>
                </a:solidFill>
                <a:latin typeface="Consolas" pitchFamily="34" charset="0"/>
                <a:ea typeface="Consolas" pitchFamily="34" charset="-122"/>
                <a:cs typeface="Consolas" pitchFamily="34" charset="-120"/>
              </a:rPr>
              <a:t> -alias upload</a:t>
            </a:r>
            <a:endParaRPr lang="en-US" sz="1200" dirty="0"/>
          </a:p>
        </p:txBody>
      </p:sp>
      <p:sp>
        <p:nvSpPr>
          <p:cNvPr id="5" name="daftar poin"/>
          <p:cNvSpPr txBox="1"/>
          <p:nvPr/>
        </p:nvSpPr>
        <p:spPr>
          <a:xfrm>
            <a:off x="8183880" y="1417320"/>
            <a:ext cx="34591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Ditanya: kata sandi (dua kali, tidak terlihat), nama, unit, organisasi, kota, provinsi, kode negara ID, lalu yes.</a:t>
            </a:r>
            <a:endParaRPr lang="en-US" sz="1700" dirty="0"/>
          </a:p>
          <a:p>
            <a:pPr marL="228600" indent="-228600">
              <a:spcAft>
                <a:spcPts val="800"/>
              </a:spcAft>
              <a:buSzPct val="100000"/>
              <a:buChar char="•"/>
            </a:pPr>
            <a:r>
              <a:rPr lang="en-US" sz="1700" dirty="0">
                <a:solidFill>
                  <a:schemeClr val="tx1"/>
                </a:solidFill>
              </a:rPr>
              <a:t>Hasil: upload-keystore.jks di folder pengguna, DI LUAR folder proyek.</a:t>
            </a:r>
            <a:endParaRPr lang="en-US" sz="1700" dirty="0"/>
          </a:p>
          <a:p>
            <a:pPr marL="228600" indent="-228600">
              <a:spcAft>
                <a:spcPts val="800"/>
              </a:spcAft>
              <a:buSzPct val="100000"/>
              <a:buChar char="•"/>
            </a:pPr>
            <a:r>
              <a:rPr lang="en-US" sz="1700" dirty="0">
                <a:solidFill>
                  <a:schemeClr val="tx1"/>
                </a:solidFill>
              </a:rPr>
              <a:t>-alias upload: nama kunci di dalam berkas; -validity 10000: ± 27 tahun.</a:t>
            </a:r>
            <a:endParaRPr lang="en-US" sz="1700" dirty="0"/>
          </a:p>
          <a:p>
            <a:pPr marL="228600" indent="-228600">
              <a:spcAft>
                <a:spcPts val="800"/>
              </a:spcAft>
              <a:buSzPct val="100000"/>
              <a:buChar char="•"/>
            </a:pPr>
            <a:r>
              <a:rPr lang="en-US" sz="1700" dirty="0">
                <a:solidFill>
                  <a:schemeClr val="tx1"/>
                </a:solidFill>
              </a:rPr>
              <a:t>keytool is not recognized? flutter doctor -v → "Java binary at:"; keytool ada di folder yang sama.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Memberi Tahu Gradle (1): key.properties</a:t>
            </a:r>
            <a:endParaRPr lang="en-US" sz="3200" dirty="0"/>
          </a:p>
        </p:txBody>
      </p:sp>
      <p:sp>
        <p:nvSpPr>
          <p:cNvPr id="4" name="kotak kode"/>
          <p:cNvSpPr txBox="1"/>
          <p:nvPr/>
        </p:nvSpPr>
        <p:spPr>
          <a:xfrm>
            <a:off x="548640" y="1371600"/>
            <a:ext cx="6766560" cy="4206240"/>
          </a:xfrm>
          <a:prstGeom prst="roundRect">
            <a:avLst>
              <a:gd name="adj" fmla="val 2174"/>
            </a:avLst>
          </a:prstGeom>
          <a:solidFill>
            <a:srgbClr val="0E1A2B"/>
          </a:solidFill>
          <a:ln/>
        </p:spPr>
        <p:txBody>
          <a:bodyPr wrap="square" lIns="177800" tIns="152400" rIns="152400" bIns="177800" rtlCol="0" anchor="t"/>
          <a:lstStyle/>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 android/key.properties (tanpa tanda &lt; &gt;)</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   storePassword=&lt;kata sandi&gt;</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   keyPassword=&lt;kata sandi&gt;</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   keyAlias=upload</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   storeFile=C:\\Users\\budi\\upload-keystore.jks</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 android/app/build.gradle.kts</a:t>
            </a:r>
            <a:endParaRPr lang="en-US" sz="1050" dirty="0"/>
          </a:p>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import</a:t>
            </a:r>
            <a:r>
              <a:rPr lang="en-US" sz="1050" dirty="0">
                <a:solidFill>
                  <a:srgbClr val="E6EDF3"/>
                </a:solidFill>
                <a:latin typeface="Consolas" pitchFamily="34" charset="0"/>
                <a:ea typeface="Consolas" pitchFamily="34" charset="-122"/>
                <a:cs typeface="Consolas" pitchFamily="34" charset="-120"/>
              </a:rPr>
              <a:t> java.util.</a:t>
            </a:r>
            <a:r>
              <a:rPr lang="en-US" sz="1050" dirty="0">
                <a:solidFill>
                  <a:srgbClr val="FFCB6B"/>
                </a:solidFill>
                <a:latin typeface="Consolas" pitchFamily="34" charset="0"/>
                <a:ea typeface="Consolas" pitchFamily="34" charset="-122"/>
                <a:cs typeface="Consolas" pitchFamily="34" charset="-120"/>
              </a:rPr>
              <a:t>Properties</a:t>
            </a: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baris PALING ATAS</a:t>
            </a:r>
            <a:endParaRPr lang="en-US" sz="1050" dirty="0"/>
          </a:p>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import</a:t>
            </a:r>
            <a:r>
              <a:rPr lang="en-US" sz="1050" dirty="0">
                <a:solidFill>
                  <a:srgbClr val="E6EDF3"/>
                </a:solidFill>
                <a:latin typeface="Consolas" pitchFamily="34" charset="0"/>
                <a:ea typeface="Consolas" pitchFamily="34" charset="-122"/>
                <a:cs typeface="Consolas" pitchFamily="34" charset="-120"/>
              </a:rPr>
              <a:t> java.io.</a:t>
            </a:r>
            <a:r>
              <a:rPr lang="en-US" sz="1050" dirty="0">
                <a:solidFill>
                  <a:srgbClr val="FFCB6B"/>
                </a:solidFill>
                <a:latin typeface="Consolas" pitchFamily="34" charset="0"/>
                <a:ea typeface="Consolas" pitchFamily="34" charset="-122"/>
                <a:cs typeface="Consolas" pitchFamily="34" charset="-120"/>
              </a:rPr>
              <a:t>FileInputStream</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plugins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 biarkan seperti semula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 Baca key.properties JIKA ada.</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val keystoreProperties = </a:t>
            </a:r>
            <a:r>
              <a:rPr lang="en-US" sz="1050" dirty="0">
                <a:solidFill>
                  <a:srgbClr val="FFCB6B"/>
                </a:solidFill>
                <a:latin typeface="Consolas" pitchFamily="34" charset="0"/>
                <a:ea typeface="Consolas" pitchFamily="34" charset="-122"/>
                <a:cs typeface="Consolas" pitchFamily="34" charset="-120"/>
              </a:rPr>
              <a:t>Properties</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val keystorePropertiesFile = rootProject.file(</a:t>
            </a:r>
            <a:r>
              <a:rPr lang="en-US" sz="1050" dirty="0">
                <a:solidFill>
                  <a:srgbClr val="C3E88D"/>
                </a:solidFill>
                <a:latin typeface="Consolas" pitchFamily="34" charset="0"/>
                <a:ea typeface="Consolas" pitchFamily="34" charset="-122"/>
                <a:cs typeface="Consolas" pitchFamily="34" charset="-120"/>
              </a:rPr>
              <a:t>"key.properties"</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(keystorePropertiesFile.exists())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keystoreProperties.load(</a:t>
            </a:r>
            <a:r>
              <a:rPr lang="en-US" sz="1050" dirty="0">
                <a:solidFill>
                  <a:srgbClr val="FFCB6B"/>
                </a:solidFill>
                <a:latin typeface="Consolas" pitchFamily="34" charset="0"/>
                <a:ea typeface="Consolas" pitchFamily="34" charset="-122"/>
                <a:cs typeface="Consolas" pitchFamily="34" charset="-120"/>
              </a:rPr>
              <a:t>FileInputStream</a:t>
            </a:r>
            <a:r>
              <a:rPr lang="en-US" sz="1050" dirty="0">
                <a:solidFill>
                  <a:srgbClr val="E6EDF3"/>
                </a:solidFill>
                <a:latin typeface="Consolas" pitchFamily="34" charset="0"/>
                <a:ea typeface="Consolas" pitchFamily="34" charset="-122"/>
                <a:cs typeface="Consolas" pitchFamily="34" charset="-120"/>
              </a:rPr>
              <a:t>(keystorePropertiesFile))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android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 isi bawaan ...</a:t>
            </a:r>
            <a:endParaRPr lang="en-US" sz="105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Di Windows, garis miring terbalik ditulis DUA KALI.</a:t>
            </a:r>
            <a:endParaRPr lang="en-US" sz="1700" dirty="0"/>
          </a:p>
          <a:p>
            <a:pPr marL="228600" indent="-228600">
              <a:spcAft>
                <a:spcPts val="800"/>
              </a:spcAft>
              <a:buSzPct val="100000"/>
              <a:buChar char="•"/>
            </a:pPr>
            <a:r>
              <a:rPr lang="en-US" sz="1700" dirty="0">
                <a:solidFill>
                  <a:schemeClr val="tx1"/>
                </a:solidFill>
              </a:rPr>
              <a:t>Urutan wajib: import di baris paling atas, lalu plugins, lalu kode val ..., baru android {.</a:t>
            </a:r>
            <a:endParaRPr lang="en-US" sz="1700" dirty="0"/>
          </a:p>
          <a:p>
            <a:pPr marL="228600" indent="-228600">
              <a:spcAft>
                <a:spcPts val="800"/>
              </a:spcAft>
              <a:buSzPct val="100000"/>
              <a:buChar char="•"/>
            </a:pPr>
            <a:r>
              <a:rPr lang="en-US" sz="1700" dirty="0">
                <a:solidFill>
                  <a:schemeClr val="tx1"/>
                </a:solidFill>
              </a:rPr>
              <a:t>Di Gradle berbahasa Kotlin, blok plugins harus di awal berkas; di atasnya hanya boleh import (dan komentar).</a:t>
            </a:r>
            <a:endParaRPr lang="en-US" sz="1700" dirty="0"/>
          </a:p>
          <a:p>
            <a:pPr marL="228600" indent="-228600">
              <a:spcAft>
                <a:spcPts val="800"/>
              </a:spcAft>
              <a:buSzPct val="100000"/>
              <a:buChar char="•"/>
            </a:pPr>
            <a:r>
              <a:rPr lang="en-US" sz="1700" dirty="0">
                <a:solidFill>
                  <a:schemeClr val="tx1"/>
                </a:solidFill>
              </a:rPr>
              <a:t>Di laptop teman atau robot GitHub, key.properties tidak ada: build tetap berjalan dengan kunci debug.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Memberi Tahu Gradle (2): signingConfigs</a:t>
            </a:r>
            <a:endParaRPr lang="en-US" sz="3200" dirty="0"/>
          </a:p>
        </p:txBody>
      </p:sp>
      <p:sp>
        <p:nvSpPr>
          <p:cNvPr id="4" name="kotak kode"/>
          <p:cNvSpPr txBox="1"/>
          <p:nvPr/>
        </p:nvSpPr>
        <p:spPr>
          <a:xfrm>
            <a:off x="548640" y="1371600"/>
            <a:ext cx="6949440" cy="3771900"/>
          </a:xfrm>
          <a:prstGeom prst="roundRect">
            <a:avLst>
              <a:gd name="adj" fmla="val 2424"/>
            </a:avLst>
          </a:prstGeom>
          <a:solidFill>
            <a:srgbClr val="0E1A2B"/>
          </a:solidFill>
          <a:ln/>
        </p:spPr>
        <p:txBody>
          <a:bodyPr wrap="square" lIns="177800" tIns="152400" rIns="152400" bIns="177800" rtlCol="0" anchor="t"/>
          <a:lstStyle/>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 di dalam android { ... }, menggantikan buildTypes bawaan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signingConfigs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create(</a:t>
            </a:r>
            <a:r>
              <a:rPr lang="en-US" sz="1050" dirty="0">
                <a:solidFill>
                  <a:srgbClr val="C3E88D"/>
                </a:solidFill>
                <a:latin typeface="Consolas" pitchFamily="34" charset="0"/>
                <a:ea typeface="Consolas" pitchFamily="34" charset="-122"/>
                <a:cs typeface="Consolas" pitchFamily="34" charset="-120"/>
              </a:rPr>
              <a:t>"release"</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keyAlias = keystoreProperties.getProperty(</a:t>
            </a:r>
            <a:r>
              <a:rPr lang="en-US" sz="1050" dirty="0">
                <a:solidFill>
                  <a:srgbClr val="C3E88D"/>
                </a:solidFill>
                <a:latin typeface="Consolas" pitchFamily="34" charset="0"/>
                <a:ea typeface="Consolas" pitchFamily="34" charset="-122"/>
                <a:cs typeface="Consolas" pitchFamily="34" charset="-120"/>
              </a:rPr>
              <a:t>"keyAlias"</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keyPassword = keystoreProperties.getProperty(</a:t>
            </a:r>
            <a:r>
              <a:rPr lang="en-US" sz="1050" dirty="0">
                <a:solidFill>
                  <a:srgbClr val="C3E88D"/>
                </a:solidFill>
                <a:latin typeface="Consolas" pitchFamily="34" charset="0"/>
                <a:ea typeface="Consolas" pitchFamily="34" charset="-122"/>
                <a:cs typeface="Consolas" pitchFamily="34" charset="-120"/>
              </a:rPr>
              <a:t>"keyPassword"</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storeFile = keystoreProperties.getProperty(</a:t>
            </a:r>
            <a:r>
              <a:rPr lang="en-US" sz="1050" dirty="0">
                <a:solidFill>
                  <a:srgbClr val="C3E88D"/>
                </a:solidFill>
                <a:latin typeface="Consolas" pitchFamily="34" charset="0"/>
                <a:ea typeface="Consolas" pitchFamily="34" charset="-122"/>
                <a:cs typeface="Consolas" pitchFamily="34" charset="-120"/>
              </a:rPr>
              <a:t>"storeFile"</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?.let { file(it)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storePassword = keystoreProperties.getProperty(</a:t>
            </a:r>
            <a:r>
              <a:rPr lang="en-US" sz="1050" dirty="0">
                <a:solidFill>
                  <a:srgbClr val="C3E88D"/>
                </a:solidFill>
                <a:latin typeface="Consolas" pitchFamily="34" charset="0"/>
                <a:ea typeface="Consolas" pitchFamily="34" charset="-122"/>
                <a:cs typeface="Consolas" pitchFamily="34" charset="-120"/>
              </a:rPr>
              <a:t>"storePassword"</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buildTypes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release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Kunci unggah jika key.properties ada, kunci debug jika tidak.</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signingConfig =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(keystorePropertiesFile.exists())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signingConfigs.getByName(</a:t>
            </a:r>
            <a:r>
              <a:rPr lang="en-US" sz="1050" dirty="0">
                <a:solidFill>
                  <a:srgbClr val="C3E88D"/>
                </a:solidFill>
                <a:latin typeface="Consolas" pitchFamily="34" charset="0"/>
                <a:ea typeface="Consolas" pitchFamily="34" charset="-122"/>
                <a:cs typeface="Consolas" pitchFamily="34" charset="-120"/>
              </a:rPr>
              <a:t>"release"</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 </a:t>
            </a:r>
            <a:r>
              <a:rPr lang="en-US" sz="1050" dirty="0">
                <a:solidFill>
                  <a:srgbClr val="C792EA"/>
                </a:solidFill>
                <a:latin typeface="Consolas" pitchFamily="34" charset="0"/>
                <a:ea typeface="Consolas" pitchFamily="34" charset="-122"/>
                <a:cs typeface="Consolas" pitchFamily="34" charset="-120"/>
              </a:rPr>
              <a:t>else</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signingConfigs.getByName(</a:t>
            </a:r>
            <a:r>
              <a:rPr lang="en-US" sz="1050" dirty="0">
                <a:solidFill>
                  <a:srgbClr val="C3E88D"/>
                </a:solidFill>
                <a:latin typeface="Consolas" pitchFamily="34" charset="0"/>
                <a:ea typeface="Consolas" pitchFamily="34" charset="-122"/>
                <a:cs typeface="Consolas" pitchFamily="34" charset="-120"/>
              </a:rPr>
              <a:t>"debug"</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signingConfigs dan pembaca key.properties: dari panduan resmi Flutter.</a:t>
            </a:r>
            <a:endParaRPr lang="en-US" sz="1700" dirty="0"/>
          </a:p>
          <a:p>
            <a:pPr marL="228600" indent="-228600">
              <a:spcAft>
                <a:spcPts val="800"/>
              </a:spcAft>
              <a:buSzPct val="100000"/>
              <a:buChar char="•"/>
            </a:pPr>
            <a:r>
              <a:rPr lang="en-US" sz="1700" dirty="0">
                <a:solidFill>
                  <a:schemeClr val="tx1"/>
                </a:solidFill>
              </a:rPr>
              <a:t>Tambahan kita hanya if–else di buildTypes.</a:t>
            </a:r>
            <a:endParaRPr lang="en-US" sz="1700" dirty="0"/>
          </a:p>
          <a:p>
            <a:pPr marL="228600" indent="-228600">
              <a:spcAft>
                <a:spcPts val="800"/>
              </a:spcAft>
              <a:buSzPct val="100000"/>
              <a:buChar char="•"/>
            </a:pPr>
            <a:r>
              <a:rPr lang="en-US" sz="1700" dirty="0">
                <a:solidFill>
                  <a:schemeClr val="tx1"/>
                </a:solidFill>
              </a:rPr>
              <a:t>Tanpa if–else, setiap orang tanpa key.properties (teman, dosen, robot GitHub) GAGAL mem-build.</a:t>
            </a:r>
            <a:endParaRPr lang="en-US" sz="1700" dirty="0"/>
          </a:p>
          <a:p>
            <a:pPr marL="228600" indent="-228600">
              <a:spcAft>
                <a:spcPts val="800"/>
              </a:spcAft>
              <a:buSzPct val="100000"/>
              <a:buChar char="•"/>
            </a:pPr>
            <a:r>
              <a:rPr lang="en-US" sz="1700" dirty="0">
                <a:solidFill>
                  <a:schemeClr val="tx1"/>
                </a:solidFill>
              </a:rPr>
              <a:t>Build aneh setelah Gradle diubah? flutter clean, lalu build ulang.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Menjaga Kunci: Dua Aturan Mutlak</a:t>
            </a:r>
            <a:endParaRPr lang="en-US" sz="3200" dirty="0"/>
          </a:p>
        </p:txBody>
      </p:sp>
      <p:sp>
        <p:nvSpPr>
          <p:cNvPr id="4" name="kotak kode"/>
          <p:cNvSpPr txBox="1"/>
          <p:nvPr/>
        </p:nvSpPr>
        <p:spPr>
          <a:xfrm>
            <a:off x="548640" y="1371600"/>
            <a:ext cx="6583680" cy="2699766"/>
          </a:xfrm>
          <a:prstGeom prst="roundRect">
            <a:avLst>
              <a:gd name="adj" fmla="val 3387"/>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android/.gitignore bawaan flutter create:</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Remember to never publicly share your keystore.</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See https://flutter.dev/to/reference-keystore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key.properties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**/*.keystore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**/*.jks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periksa: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git status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git check-ignore -v android/key.properties</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 baris yang menyebut android/.gitignore = aman</a:t>
            </a:r>
            <a:endParaRPr lang="en-US" sz="1300" dirty="0"/>
          </a:p>
        </p:txBody>
      </p:sp>
      <p:sp>
        <p:nvSpPr>
          <p:cNvPr id="5"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1. JANGAN PERNAH meng-commit kunci: key.properties dan .jks tidak boleh muncul di git status.</a:t>
            </a:r>
            <a:endParaRPr lang="en-US" sz="1700" dirty="0"/>
          </a:p>
          <a:p>
            <a:pPr marL="228600" indent="-228600">
              <a:spcAft>
                <a:spcPts val="800"/>
              </a:spcAft>
              <a:buSzPct val="100000"/>
              <a:buChar char="•"/>
            </a:pPr>
            <a:r>
              <a:rPr lang="en-US" sz="1700" dirty="0">
                <a:solidFill>
                  <a:schemeClr val="tx1"/>
                </a:solidFill>
              </a:rPr>
              <a:t>2. Simpan CADANGAN: .jks di dua tempat (flashdisk, cloud pribadi); kata sandi di password manager.</a:t>
            </a:r>
            <a:endParaRPr lang="en-US" sz="1700" dirty="0"/>
          </a:p>
          <a:p>
            <a:pPr marL="228600" indent="-228600">
              <a:spcAft>
                <a:spcPts val="800"/>
              </a:spcAft>
              <a:buSzPct val="100000"/>
              <a:buChar char="•"/>
            </a:pPr>
            <a:r>
              <a:rPr lang="en-US" sz="1700" dirty="0">
                <a:solidFill>
                  <a:schemeClr val="tx1"/>
                </a:solidFill>
              </a:rPr>
              <a:t>Kunci yang hilang tidak bisa dibuat ulang: kunci baru adalah segel yang BERBEDA.</a:t>
            </a:r>
            <a:endParaRPr lang="en-US" sz="1700" dirty="0"/>
          </a:p>
          <a:p>
            <a:pPr marL="228600" indent="-228600">
              <a:spcAft>
                <a:spcPts val="800"/>
              </a:spcAft>
              <a:buSzPct val="100000"/>
              <a:buChar char="•"/>
            </a:pPr>
            <a:r>
              <a:rPr lang="en-US" sz="1700" dirty="0">
                <a:solidFill>
                  <a:schemeClr val="tx1"/>
                </a:solidFill>
              </a:rPr>
              <a:t>Kunci yang terlanjur di-push dianggap BOCOR, walaupun commit-nya dihapus.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App Bundle (.aab) untuk Google Play</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flutter build appbundle → build/app/outputs/bundle/release/app-release.aab</a:t>
            </a:r>
            <a:endParaRPr lang="en-US" sz="1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300818"/>
                <a:gridCol w="3575886"/>
                <a:gridCol w="4217712"/>
              </a:tblGrid>
              <a:tr h="777240">
                <a:tc>
                  <a:txBody>
                    <a:bodyPr/>
                    <a:lstStyle/>
                    <a:p>
                      <a:pPr indent="0" marL="0">
                        <a:buNone/>
                      </a:pP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APK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App Bundle (AAB)</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Bisa langsung dipasang di HP?</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TIDAK: diolah dulu oleh Google Play atau bundletool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Untuk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Dibagikan langsung, GitHub Releases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Diunggah ke Google Play (aplikasi baru wajib AAB)</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Ukuran yang diunduh pengguna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Seluruh isi berkas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Hanya bagian yang dibutuhkan HP-nya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Sudah bertanda tangan kunci Anda? Dari folder android/: ./gradlew signingReport (Windows: .\gradlew signingReport) → Variant: release, Store: upload-keystore.jks, Alias: upload.</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Menyamarkan Kode (Obfuscation)</a:t>
            </a:r>
            <a:endParaRPr lang="en-US" sz="3200" dirty="0"/>
          </a:p>
        </p:txBody>
      </p:sp>
      <p:sp>
        <p:nvSpPr>
          <p:cNvPr id="4" name="kotak kode"/>
          <p:cNvSpPr txBox="1"/>
          <p:nvPr/>
        </p:nvSpPr>
        <p:spPr>
          <a:xfrm>
            <a:off x="548640" y="1371600"/>
            <a:ext cx="6949440" cy="1611630"/>
          </a:xfrm>
          <a:prstGeom prst="roundRect">
            <a:avLst>
              <a:gd name="adj" fmla="val 5674"/>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flutter build apk --obfuscate --split-debug-info=build/simbol</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stack trace dari HP pengguna kini berisi nama acak.</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menerjemahkannya kembali dengan berkas simbol build yang sama:</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flutter symbolize -i stack_trace.txt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-d build/simbol/app.android-arm64.symbols</a:t>
            </a:r>
            <a:endParaRPr lang="en-US" sz="125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--obfuscate: nama kelas dan fungsi diganti nama acak; kode lebih sulit dibaca pembongkar APK.</a:t>
            </a:r>
            <a:endParaRPr lang="en-US" sz="1700" dirty="0"/>
          </a:p>
          <a:p>
            <a:pPr marL="228600" indent="-228600">
              <a:spcAft>
                <a:spcPts val="800"/>
              </a:spcAft>
              <a:buSzPct val="100000"/>
              <a:buChar char="•"/>
            </a:pPr>
            <a:r>
              <a:rPr lang="en-US" sz="1700" dirty="0">
                <a:solidFill>
                  <a:schemeClr val="tx1"/>
                </a:solidFill>
              </a:rPr>
              <a:t>--split-debug-info: informasi debug dipisah, APK lebih kecil.</a:t>
            </a:r>
            <a:endParaRPr lang="en-US" sz="1700" dirty="0"/>
          </a:p>
          <a:p>
            <a:pPr marL="228600" indent="-228600">
              <a:spcAft>
                <a:spcPts val="800"/>
              </a:spcAft>
              <a:buSzPct val="100000"/>
              <a:buChar char="•"/>
            </a:pPr>
            <a:r>
              <a:rPr lang="en-US" sz="1700" dirty="0">
                <a:solidFill>
                  <a:schemeClr val="tx1"/>
                </a:solidFill>
              </a:rPr>
              <a:t>Simpan folder simbol untuk SETIAP rilis, tetapi jangan di-commit.</a:t>
            </a:r>
            <a:endParaRPr lang="en-US" sz="1700" dirty="0"/>
          </a:p>
          <a:p>
            <a:pPr marL="228600" indent="-228600">
              <a:spcAft>
                <a:spcPts val="800"/>
              </a:spcAft>
              <a:buSzPct val="100000"/>
              <a:buChar char="•"/>
            </a:pPr>
            <a:r>
              <a:rPr lang="en-US" sz="1700" dirty="0">
                <a:solidFill>
                  <a:schemeClr val="tx1"/>
                </a:solidFill>
              </a:rPr>
              <a:t>Penyamaran BUKAN pengaman: rahasia tetap tidak boleh di aplikasi.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Rilis Otomatis dengan GitHub</a:t>
            </a:r>
            <a:endParaRPr lang="en-US" sz="4000" dirty="0"/>
          </a:p>
        </p:txBody>
      </p:sp>
      <p:sp>
        <p:nvSpPr>
          <p:cNvPr id="5" name="lingkaran sinkron"/>
          <p:cNvSpPr/>
          <p:nvPr/>
        </p:nvSpPr>
        <p:spPr>
          <a:xfrm>
            <a:off x="1097280" y="2148840"/>
            <a:ext cx="2011680" cy="2011680"/>
          </a:xfrm>
          <a:prstGeom prst="ellipse">
            <a:avLst/>
          </a:prstGeom>
          <a:solidFill>
            <a:schemeClr val="accent1"/>
          </a:solidFill>
          <a:ln/>
        </p:spPr>
      </p:sp>
      <p:pic>
        <p:nvPicPr>
          <p:cNvPr id="6" name="Image 0" descr="sinkro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Tag: Penanda Versi di Riwayat Git</a:t>
            </a:r>
            <a:endParaRPr lang="en-US" sz="3200" dirty="0"/>
          </a:p>
        </p:txBody>
      </p:sp>
      <p:sp>
        <p:nvSpPr>
          <p:cNvPr id="4" name="kotak kode"/>
          <p:cNvSpPr txBox="1"/>
          <p:nvPr/>
        </p:nvSpPr>
        <p:spPr>
          <a:xfrm>
            <a:off x="548640" y="1371600"/>
            <a:ext cx="6766560" cy="1243584"/>
          </a:xfrm>
          <a:prstGeom prst="roundRect">
            <a:avLst>
              <a:gd name="adj" fmla="val 7353"/>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git tag -a v1.</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-m </a:t>
            </a:r>
            <a:r>
              <a:rPr lang="en-US" sz="1300" dirty="0">
                <a:solidFill>
                  <a:srgbClr val="C3E88D"/>
                </a:solidFill>
                <a:latin typeface="Consolas" pitchFamily="34" charset="0"/>
                <a:ea typeface="Consolas" pitchFamily="34" charset="-122"/>
                <a:cs typeface="Consolas" pitchFamily="34" charset="-120"/>
              </a:rPr>
              <a:t>"Rilis 1.0.0: versi pertama untuk UAS"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git push origin v1.</a:t>
            </a:r>
            <a:r>
              <a:rPr lang="en-US" sz="1300" dirty="0">
                <a:solidFill>
                  <a:srgbClr val="F78C6C"/>
                </a:solidFill>
                <a:latin typeface="Consolas" pitchFamily="34" charset="0"/>
                <a:ea typeface="Consolas" pitchFamily="34" charset="-122"/>
                <a:cs typeface="Consolas" pitchFamily="34" charset="-120"/>
              </a:rPr>
              <a:t>0.0</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git tag      </a:t>
            </a:r>
            <a:r>
              <a:rPr lang="en-US" sz="1300" i="1" dirty="0">
                <a:solidFill>
                  <a:srgbClr val="8FA3BC"/>
                </a:solidFill>
                <a:latin typeface="Consolas" pitchFamily="34" charset="0"/>
                <a:ea typeface="Consolas" pitchFamily="34" charset="-122"/>
                <a:cs typeface="Consolas" pitchFamily="34" charset="-120"/>
              </a:rPr>
              <a:t># melihat daftar tag</a:t>
            </a:r>
            <a:endParaRPr lang="en-US" sz="13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Tag: pembatas buku pada satu commit, "di sinilah versi 1.0.0". Nama: v + nama versi.</a:t>
            </a:r>
            <a:endParaRPr lang="en-US" sz="1700" dirty="0"/>
          </a:p>
          <a:p>
            <a:pPr marL="228600" indent="-228600">
              <a:spcAft>
                <a:spcPts val="800"/>
              </a:spcAft>
              <a:buSzPct val="100000"/>
              <a:buChar char="•"/>
            </a:pPr>
            <a:r>
              <a:rPr lang="en-US" sz="1700" dirty="0">
                <a:solidFill>
                  <a:schemeClr val="tx1"/>
                </a:solidFill>
              </a:rPr>
              <a:t>git push biasa TIDAK ikut mengirim tag.</a:t>
            </a:r>
            <a:endParaRPr lang="en-US" sz="1700" dirty="0"/>
          </a:p>
          <a:p>
            <a:pPr marL="228600" indent="-228600">
              <a:spcAft>
                <a:spcPts val="800"/>
              </a:spcAft>
              <a:buSzPct val="100000"/>
              <a:buChar char="•"/>
            </a:pPr>
            <a:r>
              <a:rPr lang="en-US" sz="1700" dirty="0">
                <a:solidFill>
                  <a:schemeClr val="tx1"/>
                </a:solidFill>
              </a:rPr>
              <a:t>Urutan yang benar: naikkan version: di pubspec.yaml → commit → push → buat tag → push tag.</a:t>
            </a:r>
            <a:endParaRPr lang="en-US" sz="1700" dirty="0"/>
          </a:p>
          <a:p>
            <a:pPr marL="228600" indent="-228600">
              <a:spcAft>
                <a:spcPts val="800"/>
              </a:spcAft>
              <a:buSzPct val="100000"/>
              <a:buChar char="•"/>
            </a:pPr>
            <a:r>
              <a:rPr lang="en-US" sz="1700" dirty="0">
                <a:solidFill>
                  <a:schemeClr val="tx1"/>
                </a:solidFill>
              </a:rPr>
              <a:t>Nama tag sebaiknya sama dengan nama versi di pubspec.yaml.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Robot yang Mem-build APK dan Membuat Halaman Rilis</a:t>
            </a:r>
            <a:endParaRPr lang="en-US" sz="3200" dirty="0"/>
          </a:p>
        </p:txBody>
      </p:sp>
      <p:sp>
        <p:nvSpPr>
          <p:cNvPr id="4" name="kotak kode"/>
          <p:cNvSpPr txBox="1"/>
          <p:nvPr/>
        </p:nvSpPr>
        <p:spPr>
          <a:xfrm>
            <a:off x="548640" y="1371600"/>
            <a:ext cx="6217920" cy="4091940"/>
          </a:xfrm>
          <a:prstGeom prst="roundRect">
            <a:avLst>
              <a:gd name="adj" fmla="val 2235"/>
            </a:avLst>
          </a:prstGeom>
          <a:solidFill>
            <a:srgbClr val="0E1A2B"/>
          </a:solidFill>
          <a:ln/>
        </p:spPr>
        <p:txBody>
          <a:bodyPr wrap="square" lIns="177800" tIns="152400" rIns="152400" bIns="177800" rtlCol="0" anchor="t"/>
          <a:lstStyle/>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on:</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push:</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tags:</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 </a:t>
            </a:r>
            <a:r>
              <a:rPr lang="en-US" sz="1000" dirty="0">
                <a:solidFill>
                  <a:srgbClr val="C3E88D"/>
                </a:solidFill>
                <a:latin typeface="Consolas" pitchFamily="34" charset="0"/>
                <a:ea typeface="Consolas" pitchFamily="34" charset="-122"/>
                <a:cs typeface="Consolas" pitchFamily="34" charset="-120"/>
              </a:rPr>
              <a:t>'v*'</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permissions:</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contents: write  </a:t>
            </a:r>
            <a:r>
              <a:rPr lang="en-US" sz="1000" i="1" dirty="0">
                <a:solidFill>
                  <a:srgbClr val="8FA3BC"/>
                </a:solidFill>
                <a:latin typeface="Consolas" pitchFamily="34" charset="0"/>
                <a:ea typeface="Consolas" pitchFamily="34" charset="-122"/>
                <a:cs typeface="Consolas" pitchFamily="34" charset="-120"/>
              </a:rPr>
              <a:t># untuk membuat halaman rilis</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jobs:</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rilis:</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runs-on: ubuntu-latest</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steps:</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a:t>
            </a:r>
            <a:r>
              <a:rPr lang="en-US" sz="1000" i="1" dirty="0">
                <a:solidFill>
                  <a:srgbClr val="8FA3BC"/>
                </a:solidFill>
                <a:latin typeface="Consolas" pitchFamily="34" charset="0"/>
                <a:ea typeface="Consolas" pitchFamily="34" charset="-122"/>
                <a:cs typeface="Consolas" pitchFamily="34" charset="-120"/>
              </a:rPr>
              <a:t># ... ambil kode, pasang Flutter, pub get, analyze, test ...</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 name: Build APK</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run: flutter build apk --release</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 name: Terbitkan rilis di GitHub</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env:</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GH_TOKEN: ${{ secrets.GITHUB_TOKEN }}</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TAG: ${{ github.ref_name }}</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NAMA_REPO: ${{ github.event.repository.name }}</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run: |</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cp build/app/outputs/flutter-apk/app-release.apk \</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a:t>
            </a:r>
            <a:r>
              <a:rPr lang="en-US" sz="1000" dirty="0">
                <a:solidFill>
                  <a:srgbClr val="C3E88D"/>
                </a:solidFill>
                <a:latin typeface="Consolas" pitchFamily="34" charset="0"/>
                <a:ea typeface="Consolas" pitchFamily="34" charset="-122"/>
                <a:cs typeface="Consolas" pitchFamily="34" charset="-120"/>
              </a:rPr>
              <a:t>"$NAMA_REPO-$TAG.apk"</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gh release create </a:t>
            </a:r>
            <a:r>
              <a:rPr lang="en-US" sz="1000" dirty="0">
                <a:solidFill>
                  <a:srgbClr val="C3E88D"/>
                </a:solidFill>
                <a:latin typeface="Consolas" pitchFamily="34" charset="0"/>
                <a:ea typeface="Consolas" pitchFamily="34" charset="-122"/>
                <a:cs typeface="Consolas" pitchFamily="34" charset="-120"/>
              </a:rPr>
              <a:t>"$TAG"</a:t>
            </a:r>
            <a:r>
              <a:rPr lang="en-US" sz="1000" dirty="0">
                <a:solidFill>
                  <a:srgbClr val="E6EDF3"/>
                </a:solidFill>
                <a:latin typeface="Consolas" pitchFamily="34" charset="0"/>
                <a:ea typeface="Consolas" pitchFamily="34" charset="-122"/>
                <a:cs typeface="Consolas" pitchFamily="34" charset="-120"/>
              </a:rPr>
              <a:t> </a:t>
            </a:r>
            <a:r>
              <a:rPr lang="en-US" sz="1000" dirty="0">
                <a:solidFill>
                  <a:srgbClr val="C3E88D"/>
                </a:solidFill>
                <a:latin typeface="Consolas" pitchFamily="34" charset="0"/>
                <a:ea typeface="Consolas" pitchFamily="34" charset="-122"/>
                <a:cs typeface="Consolas" pitchFamily="34" charset="-120"/>
              </a:rPr>
              <a:t>"$NAMA_REPO-$TAG.apk"</a:t>
            </a:r>
            <a:r>
              <a:rPr lang="en-US" sz="1000" dirty="0">
                <a:solidFill>
                  <a:srgbClr val="E6EDF3"/>
                </a:solidFill>
                <a:latin typeface="Consolas" pitchFamily="34" charset="0"/>
                <a:ea typeface="Consolas" pitchFamily="34" charset="-122"/>
                <a:cs typeface="Consolas" pitchFamily="34" charset="-120"/>
              </a:rPr>
              <a:t> \</a:t>
            </a:r>
            <a:endParaRPr lang="en-US" sz="1000" dirty="0"/>
          </a:p>
          <a:p>
            <a:pPr indent="0" marL="0">
              <a:lnSpc>
                <a:spcPct val="105000"/>
              </a:lnSpc>
              <a:buNone/>
            </a:pPr>
            <a:r>
              <a:rPr lang="en-US" sz="1000" dirty="0">
                <a:solidFill>
                  <a:srgbClr val="E6EDF3"/>
                </a:solidFill>
                <a:latin typeface="Consolas" pitchFamily="34" charset="0"/>
                <a:ea typeface="Consolas" pitchFamily="34" charset="-122"/>
                <a:cs typeface="Consolas" pitchFamily="34" charset="-120"/>
              </a:rPr>
              <a:t>            --title </a:t>
            </a:r>
            <a:r>
              <a:rPr lang="en-US" sz="1000" dirty="0">
                <a:solidFill>
                  <a:srgbClr val="C3E88D"/>
                </a:solidFill>
                <a:latin typeface="Consolas" pitchFamily="34" charset="0"/>
                <a:ea typeface="Consolas" pitchFamily="34" charset="-122"/>
                <a:cs typeface="Consolas" pitchFamily="34" charset="-120"/>
              </a:rPr>
              <a:t>"$TAG"</a:t>
            </a:r>
            <a:r>
              <a:rPr lang="en-US" sz="1000" dirty="0">
                <a:solidFill>
                  <a:srgbClr val="E6EDF3"/>
                </a:solidFill>
                <a:latin typeface="Consolas" pitchFamily="34" charset="0"/>
                <a:ea typeface="Consolas" pitchFamily="34" charset="-122"/>
                <a:cs typeface="Consolas" pitchFamily="34" charset="-120"/>
              </a:rPr>
              <a:t> --generate-notes</a:t>
            </a:r>
            <a:endParaRPr lang="en-US" sz="1000" dirty="0"/>
          </a:p>
        </p:txBody>
      </p:sp>
      <p:sp>
        <p:nvSpPr>
          <p:cNvPr id="5" name="tombol tautan">
            <a:hlinkClick r:id="rId1" tooltip="https://github.com/antonprafanto/mobile2026/blob/main/pertemuan_15_build_rilis_dan_finalisasi/templat/rilis.yml"/>
          </p:cNvPr>
          <p:cNvSpPr txBox="1"/>
          <p:nvPr/>
        </p:nvSpPr>
        <p:spPr>
          <a:xfrm>
            <a:off x="548640" y="5692140"/>
            <a:ext cx="62179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rilis.yml</a:t>
            </a:r>
            <a:endParaRPr lang="en-US" sz="1300" dirty="0"/>
          </a:p>
        </p:txBody>
      </p:sp>
      <p:pic>
        <p:nvPicPr>
          <p:cNvPr id="6" name="Image 0" descr="ikon tautan">
            <a:hlinkClick r:id="rId3" tooltip="https://github.com/antonprafanto/mobile2026/blob/main/pertemuan_15_build_rilis_dan_finalisasi/templat/rilis.yml"/>
          </p:cNvPr>
          <p:cNvPicPr>
            <a:picLocks noChangeAspect="1"/>
          </p:cNvPicPr>
          <p:nvPr/>
        </p:nvPicPr>
        <p:blipFill>
          <a:blip r:embed="rId2"/>
          <a:stretch>
            <a:fillRect/>
          </a:stretch>
        </p:blipFill>
        <p:spPr>
          <a:xfrm>
            <a:off x="694944" y="5783580"/>
            <a:ext cx="274320" cy="274320"/>
          </a:xfrm>
          <a:prstGeom prst="rect">
            <a:avLst/>
          </a:prstGeom>
        </p:spPr>
      </p:pic>
      <p:sp>
        <p:nvSpPr>
          <p:cNvPr id="7" name="daftar poin"/>
          <p:cNvSpPr txBox="1"/>
          <p:nvPr/>
        </p:nvSpPr>
        <p:spPr>
          <a:xfrm>
            <a:off x="7178040" y="1417320"/>
            <a:ext cx="44650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tags: 'v*': hanya saat tag versi di-push.</a:t>
            </a:r>
            <a:endParaRPr lang="en-US" sz="1700" dirty="0"/>
          </a:p>
          <a:p>
            <a:pPr marL="228600" indent="-228600">
              <a:spcAft>
                <a:spcPts val="800"/>
              </a:spcAft>
              <a:buSzPct val="100000"/>
              <a:buChar char="•"/>
            </a:pPr>
            <a:r>
              <a:rPr lang="en-US" sz="1700" dirty="0">
                <a:solidFill>
                  <a:schemeClr val="tx1"/>
                </a:solidFill>
              </a:rPr>
              <a:t>GITHUB_TOKEN: "kartu akses" otomatis dari GitHub.</a:t>
            </a:r>
            <a:endParaRPr lang="en-US" sz="1700" dirty="0"/>
          </a:p>
          <a:p>
            <a:pPr marL="228600" indent="-228600">
              <a:spcAft>
                <a:spcPts val="800"/>
              </a:spcAft>
              <a:buSzPct val="100000"/>
              <a:buChar char="•"/>
            </a:pPr>
            <a:r>
              <a:rPr lang="en-US" sz="1700" dirty="0">
                <a:solidFill>
                  <a:schemeClr val="tx1"/>
                </a:solidFill>
              </a:rPr>
              <a:t>gh release create: GitHub CLI; --generate-notes membuat catatan rilis.</a:t>
            </a:r>
            <a:endParaRPr lang="en-US" sz="1700" dirty="0"/>
          </a:p>
          <a:p>
            <a:pPr marL="228600" indent="-228600">
              <a:spcAft>
                <a:spcPts val="800"/>
              </a:spcAft>
              <a:buSzPct val="100000"/>
              <a:buChar char="•"/>
            </a:pPr>
            <a:r>
              <a:rPr lang="en-US" sz="1700" dirty="0">
                <a:solidFill>
                  <a:schemeClr val="tx1"/>
                </a:solidFill>
              </a:rPr>
              <a:t>APK robot bertanda tangan kunci debug ROBOT: untuk demo dan penilaian.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(Lanjutan) Robot Menandatangani dengan Kunci Unggah</a:t>
            </a:r>
            <a:endParaRPr lang="en-US" sz="3200" dirty="0"/>
          </a:p>
        </p:txBody>
      </p:sp>
      <p:sp>
        <p:nvSpPr>
          <p:cNvPr id="4" name="kotak kode"/>
          <p:cNvSpPr txBox="1"/>
          <p:nvPr/>
        </p:nvSpPr>
        <p:spPr>
          <a:xfrm>
            <a:off x="548640" y="1371600"/>
            <a:ext cx="6766560"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1. berkas kunci → teks base64</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Linux: base64 -w 0 ~/upload-keystore.jks</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2. Settings → Secrets and variables → Actions:</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KUNCI_UNGGAH_BASE64 dan KUNCI_PROPERTIES</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(storeFile=upload-keystore.jks)</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3. rilis.yml: hapus tanda # pada langkah ini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name: Pasang kunci unggah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env:</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KUNCI_UNGGAH_BASE64: ${{ secrets.KUNCI_UNGGAH_BASE64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KUNCI_PROPERTIES: ${{ secrets.KUNCI_PROPERTIES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run: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echo </a:t>
            </a:r>
            <a:r>
              <a:rPr lang="en-US" sz="1100" dirty="0">
                <a:solidFill>
                  <a:srgbClr val="C3E88D"/>
                </a:solidFill>
                <a:latin typeface="Consolas" pitchFamily="34" charset="0"/>
                <a:ea typeface="Consolas" pitchFamily="34" charset="-122"/>
                <a:cs typeface="Consolas" pitchFamily="34" charset="-120"/>
              </a:rPr>
              <a:t>"$KUNCI_UNGGAH_BASE64"</a:t>
            </a:r>
            <a:r>
              <a:rPr lang="en-US" sz="1100" dirty="0">
                <a:solidFill>
                  <a:srgbClr val="E6EDF3"/>
                </a:solidFill>
                <a:latin typeface="Consolas" pitchFamily="34" charset="0"/>
                <a:ea typeface="Consolas" pitchFamily="34" charset="-122"/>
                <a:cs typeface="Consolas" pitchFamily="34" charset="-120"/>
              </a:rPr>
              <a:t> | base64 --decode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&gt; android/app/upload-keystore.jks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echo </a:t>
            </a:r>
            <a:r>
              <a:rPr lang="en-US" sz="1100" dirty="0">
                <a:solidFill>
                  <a:srgbClr val="C3E88D"/>
                </a:solidFill>
                <a:latin typeface="Consolas" pitchFamily="34" charset="0"/>
                <a:ea typeface="Consolas" pitchFamily="34" charset="-122"/>
                <a:cs typeface="Consolas" pitchFamily="34" charset="-120"/>
              </a:rPr>
              <a:t>"$KUNCI_PROPERTIES"</a:t>
            </a:r>
            <a:r>
              <a:rPr lang="en-US" sz="1100" dirty="0">
                <a:solidFill>
                  <a:srgbClr val="E6EDF3"/>
                </a:solidFill>
                <a:latin typeface="Consolas" pitchFamily="34" charset="0"/>
                <a:ea typeface="Consolas" pitchFamily="34" charset="-122"/>
                <a:cs typeface="Consolas" pitchFamily="34" charset="-120"/>
              </a:rPr>
              <a:t> &gt; android/key.properties</a:t>
            </a:r>
            <a:endParaRPr lang="en-US" sz="11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Secrets: dibaca workflow, tetapi tidak bisa dilihat siapa pun, termasuk Anda.</a:t>
            </a:r>
            <a:endParaRPr lang="en-US" sz="1700" dirty="0"/>
          </a:p>
          <a:p>
            <a:pPr marL="228600" indent="-228600">
              <a:spcAft>
                <a:spcPts val="800"/>
              </a:spcAft>
              <a:buSzPct val="100000"/>
              <a:buChar char="•"/>
            </a:pPr>
            <a:r>
              <a:rPr lang="en-US" sz="1700" dirty="0">
                <a:solidFill>
                  <a:schemeClr val="tx1"/>
                </a:solidFill>
              </a:rPr>
              <a:t>storeFile tanpa folder, karena file(...) mencari relatif terhadap android/app/.</a:t>
            </a:r>
            <a:endParaRPr lang="en-US" sz="1700" dirty="0"/>
          </a:p>
          <a:p>
            <a:pPr marL="228600" indent="-228600">
              <a:spcAft>
                <a:spcPts val="800"/>
              </a:spcAft>
              <a:buSzPct val="100000"/>
              <a:buChar char="•"/>
            </a:pPr>
            <a:r>
              <a:rPr lang="en-US" sz="1700" dirty="0">
                <a:solidFill>
                  <a:schemeClr val="tx1"/>
                </a:solidFill>
              </a:rPr>
              <a:t>Rahasia tidak pernah dicetak ke log; GitHub tidak memberi secrets ke pull request dari fork.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Cek Pembaruan untuk Aplikasi di Luar Toko</a:t>
            </a:r>
            <a:endParaRPr lang="en-US" sz="4000" dirty="0"/>
          </a:p>
        </p:txBody>
      </p:sp>
      <p:sp>
        <p:nvSpPr>
          <p:cNvPr id="5" name="lingkaran lonceng"/>
          <p:cNvSpPr/>
          <p:nvPr/>
        </p:nvSpPr>
        <p:spPr>
          <a:xfrm>
            <a:off x="1097280" y="2148840"/>
            <a:ext cx="2011680" cy="2011680"/>
          </a:xfrm>
          <a:prstGeom prst="ellipse">
            <a:avLst/>
          </a:prstGeom>
          <a:solidFill>
            <a:schemeClr val="accent1"/>
          </a:solidFill>
          <a:ln/>
        </p:spPr>
      </p:sp>
      <p:pic>
        <p:nvPicPr>
          <p:cNvPr id="6" name="Image 0" descr="lonce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Polanya: Berkas Kecil Berisi Versi Terbaru</a:t>
            </a:r>
            <a:endParaRPr lang="en-US" sz="3200" dirty="0"/>
          </a:p>
        </p:txBody>
      </p:sp>
      <p:sp>
        <p:nvSpPr>
          <p:cNvPr id="4" name="kotak kode"/>
          <p:cNvSpPr txBox="1"/>
          <p:nvPr/>
        </p:nvSpPr>
        <p:spPr>
          <a:xfrm>
            <a:off x="548640" y="1371600"/>
            <a:ext cx="6949440" cy="3675888"/>
          </a:xfrm>
          <a:prstGeom prst="roundRect">
            <a:avLst>
              <a:gd name="adj" fmla="val 2488"/>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info_rilis.json (misalnya di repositori GitHub Anda):</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"versi_terbaru": "1.1.0",</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"versi_minimum": "1.0.0",</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"catatan":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"tautan": "https://github.com/..."</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Keputusan</a:t>
            </a:r>
            <a:r>
              <a:rPr lang="en-US" sz="1200" dirty="0">
                <a:solidFill>
                  <a:srgbClr val="E6EDF3"/>
                </a:solidFill>
                <a:latin typeface="Consolas" pitchFamily="34" charset="0"/>
                <a:ea typeface="Consolas" pitchFamily="34" charset="-122"/>
                <a:cs typeface="Consolas" pitchFamily="34" charset="-120"/>
              </a:rPr>
              <a:t> putuskanPembaruan({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Versi</a:t>
            </a:r>
            <a:r>
              <a:rPr lang="en-US" sz="1200" dirty="0">
                <a:solidFill>
                  <a:srgbClr val="E6EDF3"/>
                </a:solidFill>
                <a:latin typeface="Consolas" pitchFamily="34" charset="0"/>
                <a:ea typeface="Consolas" pitchFamily="34" charset="-122"/>
                <a:cs typeface="Consolas" pitchFamily="34" charset="-120"/>
              </a:rPr>
              <a:t> terpasang,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Versi</a:t>
            </a:r>
            <a:r>
              <a:rPr lang="en-US" sz="1200" dirty="0">
                <a:solidFill>
                  <a:srgbClr val="E6EDF3"/>
                </a:solidFill>
                <a:latin typeface="Consolas" pitchFamily="34" charset="0"/>
                <a:ea typeface="Consolas" pitchFamily="34" charset="-122"/>
                <a:cs typeface="Consolas" pitchFamily="34" charset="-120"/>
              </a:rPr>
              <a:t> terbaru,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Versi</a:t>
            </a:r>
            <a:r>
              <a:rPr lang="en-US" sz="1200" dirty="0">
                <a:solidFill>
                  <a:srgbClr val="E6EDF3"/>
                </a:solidFill>
                <a:latin typeface="Consolas" pitchFamily="34" charset="0"/>
                <a:ea typeface="Consolas" pitchFamily="34" charset="-122"/>
                <a:cs typeface="Consolas" pitchFamily="34" charset="-120"/>
              </a:rPr>
              <a:t> minimum,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(terpasang.lebihLamaDari(minimum))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Keputusan</a:t>
            </a:r>
            <a:r>
              <a:rPr lang="en-US" sz="1200" dirty="0">
                <a:solidFill>
                  <a:srgbClr val="E6EDF3"/>
                </a:solidFill>
                <a:latin typeface="Consolas" pitchFamily="34" charset="0"/>
                <a:ea typeface="Consolas" pitchFamily="34" charset="-122"/>
                <a:cs typeface="Consolas" pitchFamily="34" charset="-120"/>
              </a:rPr>
              <a:t>.wajib;</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(terpasang.lebihLamaDari(terbaru))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Keputusan</a:t>
            </a:r>
            <a:r>
              <a:rPr lang="en-US" sz="1200" dirty="0">
                <a:solidFill>
                  <a:srgbClr val="E6EDF3"/>
                </a:solidFill>
                <a:latin typeface="Consolas" pitchFamily="34" charset="0"/>
                <a:ea typeface="Consolas" pitchFamily="34" charset="-122"/>
                <a:cs typeface="Consolas" pitchFamily="34" charset="-120"/>
              </a:rPr>
              <a:t>.disarankan;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Keputusan</a:t>
            </a:r>
            <a:r>
              <a:rPr lang="en-US" sz="1200" dirty="0">
                <a:solidFill>
                  <a:srgbClr val="E6EDF3"/>
                </a:solidFill>
                <a:latin typeface="Consolas" pitchFamily="34" charset="0"/>
                <a:ea typeface="Consolas" pitchFamily="34" charset="-122"/>
                <a:cs typeface="Consolas" pitchFamily="34" charset="-120"/>
              </a:rPr>
              <a:t>.terbaru;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Saat dibuka, aplikasi mengambil berkas itu dan membandingkannya dengan versinya sendiri (aturan Contoh 01).</a:t>
            </a:r>
            <a:endParaRPr lang="en-US" sz="1700" dirty="0"/>
          </a:p>
          <a:p>
            <a:pPr marL="228600" indent="-228600">
              <a:spcAft>
                <a:spcPts val="800"/>
              </a:spcAft>
              <a:buSzPct val="100000"/>
              <a:buChar char="•"/>
            </a:pPr>
            <a:r>
              <a:rPr lang="en-US" sz="1700" dirty="0">
                <a:solidFill>
                  <a:schemeClr val="tx1"/>
                </a:solidFill>
              </a:rPr>
              <a:t>terbaru: tidak ada apa-apa.</a:t>
            </a:r>
            <a:endParaRPr lang="en-US" sz="1700" dirty="0"/>
          </a:p>
          <a:p>
            <a:pPr marL="228600" indent="-228600">
              <a:spcAft>
                <a:spcPts val="800"/>
              </a:spcAft>
              <a:buSzPct val="100000"/>
              <a:buChar char="•"/>
            </a:pPr>
            <a:r>
              <a:rPr lang="en-US" sz="1700" dirty="0">
                <a:solidFill>
                  <a:schemeClr val="tx1"/>
                </a:solidFill>
              </a:rPr>
              <a:t>disarankan: MaterialBanner dengan tombol Nanti dan Perbarui.</a:t>
            </a:r>
            <a:endParaRPr lang="en-US" sz="1700" dirty="0"/>
          </a:p>
          <a:p>
            <a:pPr marL="228600" indent="-228600">
              <a:spcAft>
                <a:spcPts val="800"/>
              </a:spcAft>
              <a:buSzPct val="100000"/>
              <a:buChar char="•"/>
            </a:pPr>
            <a:r>
              <a:rPr lang="en-US" sz="1700" dirty="0">
                <a:solidFill>
                  <a:schemeClr val="tx1"/>
                </a:solidFill>
              </a:rPr>
              <a:t>wajib: dialog yang TIDAK BISA DITUTUP: barrierDismissible: false + PopScope(canPop: false).</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Emas: Jangan Menghalangi Pengguna</a:t>
            </a:r>
            <a:endParaRPr lang="en-US" sz="3200" dirty="0"/>
          </a:p>
        </p:txBody>
      </p:sp>
      <p:sp>
        <p:nvSpPr>
          <p:cNvPr id="4" name="kotak kode"/>
          <p:cNvSpPr txBox="1"/>
          <p:nvPr/>
        </p:nvSpPr>
        <p:spPr>
          <a:xfrm>
            <a:off x="548640" y="1371600"/>
            <a:ext cx="7132320" cy="3483864"/>
          </a:xfrm>
          <a:prstGeom prst="roundRect">
            <a:avLst>
              <a:gd name="adj" fmla="val 2625"/>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null = gagal memeriksa. Sengaja TIDAK melempar galat:</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cek pembaruan hanyalah fitur tambahan.</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InfoRilis</a:t>
            </a:r>
            <a:r>
              <a:rPr lang="en-US" sz="1200" dirty="0">
                <a:solidFill>
                  <a:srgbClr val="E6EDF3"/>
                </a:solidFill>
                <a:latin typeface="Consolas" pitchFamily="34" charset="0"/>
                <a:ea typeface="Consolas" pitchFamily="34" charset="-122"/>
                <a:cs typeface="Consolas" pitchFamily="34" charset="-120"/>
              </a:rPr>
              <a:t>?&gt; ambil()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try</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http.</a:t>
            </a:r>
            <a:r>
              <a:rPr lang="en-US" sz="1200" dirty="0">
                <a:solidFill>
                  <a:srgbClr val="FFCB6B"/>
                </a:solidFill>
                <a:latin typeface="Consolas" pitchFamily="34" charset="0"/>
                <a:ea typeface="Consolas" pitchFamily="34" charset="-122"/>
                <a:cs typeface="Consolas" pitchFamily="34" charset="-120"/>
              </a:rPr>
              <a:t>Response</a:t>
            </a:r>
            <a:r>
              <a:rPr lang="en-US" sz="1200" dirty="0">
                <a:solidFill>
                  <a:srgbClr val="E6EDF3"/>
                </a:solidFill>
                <a:latin typeface="Consolas" pitchFamily="34" charset="0"/>
                <a:ea typeface="Consolas" pitchFamily="34" charset="-122"/>
                <a:cs typeface="Consolas" pitchFamily="34" charset="-120"/>
              </a:rPr>
              <a:t> respons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_klien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get</a:t>
            </a:r>
            <a:r>
              <a:rPr lang="en-US" sz="1200" dirty="0">
                <a:solidFill>
                  <a:srgbClr val="E6EDF3"/>
                </a:solidFill>
                <a:latin typeface="Consolas" pitchFamily="34" charset="0"/>
                <a:ea typeface="Consolas" pitchFamily="34" charset="-122"/>
                <a:cs typeface="Consolas" pitchFamily="34" charset="-120"/>
              </a:rPr>
              <a:t>(alamat)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.timeout(</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Duration</a:t>
            </a:r>
            <a:r>
              <a:rPr lang="en-US" sz="1200" dirty="0">
                <a:solidFill>
                  <a:srgbClr val="E6EDF3"/>
                </a:solidFill>
                <a:latin typeface="Consolas" pitchFamily="34" charset="0"/>
                <a:ea typeface="Consolas" pitchFamily="34" charset="-122"/>
                <a:cs typeface="Consolas" pitchFamily="34" charset="-120"/>
              </a:rPr>
              <a:t>(seconds: </a:t>
            </a:r>
            <a:r>
              <a:rPr lang="en-US" sz="1200" dirty="0">
                <a:solidFill>
                  <a:srgbClr val="F78C6C"/>
                </a:solidFill>
                <a:latin typeface="Consolas" pitchFamily="34" charset="0"/>
                <a:ea typeface="Consolas" pitchFamily="34" charset="-122"/>
                <a:cs typeface="Consolas" pitchFamily="34" charset="-120"/>
              </a:rPr>
              <a:t>5</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(respons.statusCode != </a:t>
            </a:r>
            <a:r>
              <a:rPr lang="en-US" sz="1200" dirty="0">
                <a:solidFill>
                  <a:srgbClr val="F78C6C"/>
                </a:solidFill>
                <a:latin typeface="Consolas" pitchFamily="34" charset="0"/>
                <a:ea typeface="Consolas" pitchFamily="34" charset="-122"/>
                <a:cs typeface="Consolas" pitchFamily="34" charset="-120"/>
              </a:rPr>
              <a:t>200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http.</a:t>
            </a:r>
            <a:r>
              <a:rPr lang="en-US" sz="1200" dirty="0">
                <a:solidFill>
                  <a:srgbClr val="FFCB6B"/>
                </a:solidFill>
                <a:latin typeface="Consolas" pitchFamily="34" charset="0"/>
                <a:ea typeface="Consolas" pitchFamily="34" charset="-122"/>
                <a:cs typeface="Consolas" pitchFamily="34" charset="-120"/>
              </a:rPr>
              <a:t>ClientException</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'kode status ${respons.statusCode}'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InfoRilis</a:t>
            </a:r>
            <a:r>
              <a:rPr lang="en-US" sz="1200" dirty="0">
                <a:solidFill>
                  <a:srgbClr val="E6EDF3"/>
                </a:solidFill>
                <a:latin typeface="Consolas" pitchFamily="34" charset="0"/>
                <a:ea typeface="Consolas" pitchFamily="34" charset="-122"/>
                <a:cs typeface="Consolas" pitchFamily="34" charset="-120"/>
              </a:rPr>
              <a:t>.dariJson(jsonDecode(respons.body));</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Exception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catch</a:t>
            </a:r>
            <a:r>
              <a:rPr lang="en-US" sz="1200" dirty="0">
                <a:solidFill>
                  <a:srgbClr val="E6EDF3"/>
                </a:solidFill>
                <a:latin typeface="Consolas" pitchFamily="34" charset="0"/>
                <a:ea typeface="Consolas" pitchFamily="34" charset="-122"/>
                <a:cs typeface="Consolas" pitchFamily="34" charset="-120"/>
              </a:rPr>
              <a:t> (galat)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(kDebugMode) debugPrint(</a:t>
            </a:r>
            <a:r>
              <a:rPr lang="en-US" sz="1200" dirty="0">
                <a:solidFill>
                  <a:srgbClr val="C3E88D"/>
                </a:solidFill>
                <a:latin typeface="Consolas" pitchFamily="34" charset="0"/>
                <a:ea typeface="Consolas" pitchFamily="34" charset="-122"/>
                <a:cs typeface="Consolas" pitchFamily="34" charset="-120"/>
              </a:rPr>
              <a:t>'Cek pembaruan gagal: $galat'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Server mati, internet putus, atau JSON rusak: aplikasi TETAP bisa dipakai seperti biasa.</a:t>
            </a:r>
            <a:endParaRPr lang="en-US" sz="1700" dirty="0"/>
          </a:p>
          <a:p>
            <a:pPr marL="228600" indent="-228600">
              <a:spcAft>
                <a:spcPts val="800"/>
              </a:spcAft>
              <a:buSzPct val="100000"/>
              <a:buChar char="•"/>
            </a:pPr>
            <a:r>
              <a:rPr lang="en-US" sz="1700" dirty="0">
                <a:solidFill>
                  <a:schemeClr val="tx1"/>
                </a:solidFill>
              </a:rPr>
              <a:t>Batas waktu 5 detik: pengguna tidak menunggu lama hanya karena server info rilis lambat.</a:t>
            </a:r>
            <a:endParaRPr lang="en-US" sz="1700" dirty="0"/>
          </a:p>
          <a:p>
            <a:pPr marL="228600" indent="-228600">
              <a:spcAft>
                <a:spcPts val="800"/>
              </a:spcAft>
              <a:buSzPct val="100000"/>
              <a:buChar char="•"/>
            </a:pPr>
            <a:r>
              <a:rPr lang="en-US" sz="1700" dirty="0">
                <a:solidFill>
                  <a:schemeClr val="tx1"/>
                </a:solidFill>
              </a:rPr>
              <a:t>Log hanya di mode debug.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Coba Sendiri: Contoh 05 "Jadwal Kuliah"</a:t>
            </a:r>
            <a:endParaRPr lang="en-US" sz="3200" dirty="0"/>
          </a:p>
        </p:txBody>
      </p:sp>
      <p:sp>
        <p:nvSpPr>
          <p:cNvPr id="4" name="bingkai layar 1"/>
          <p:cNvSpPr/>
          <p:nvPr/>
        </p:nvSpPr>
        <p:spPr>
          <a:xfrm>
            <a:off x="5370271" y="1316736"/>
            <a:ext cx="3081528" cy="4730118"/>
          </a:xfrm>
          <a:prstGeom prst="roundRect">
            <a:avLst>
              <a:gd name="adj" fmla="val 2967"/>
            </a:avLst>
          </a:prstGeom>
          <a:solidFill>
            <a:srgbClr val="FFFFFF"/>
          </a:solidFill>
          <a:ln w="12700">
            <a:solidFill>
              <a:srgbClr val="C9D3E0"/>
            </a:solidFill>
            <a:prstDash val="solid"/>
          </a:ln>
        </p:spPr>
      </p:sp>
      <p:pic>
        <p:nvPicPr>
          <p:cNvPr id="5" name="layar 1" descr="Tangkapan layar aplikasi (hasil_contoh_05a.jpg)">    </p:cNvPr>
          <p:cNvPicPr>
            <a:picLocks noChangeAspect="1"/>
          </p:cNvPicPr>
          <p:nvPr/>
        </p:nvPicPr>
        <p:blipFill>
          <a:blip r:embed="rId1"/>
          <a:stretch>
            <a:fillRect/>
          </a:stretch>
        </p:blipFill>
        <p:spPr>
          <a:xfrm>
            <a:off x="5425135" y="1371600"/>
            <a:ext cx="2971800" cy="4620390"/>
          </a:xfrm>
          <a:prstGeom prst="rect">
            <a:avLst/>
          </a:prstGeom>
        </p:spPr>
      </p:pic>
      <p:sp>
        <p:nvSpPr>
          <p:cNvPr id="6" name="bingkai layar 2"/>
          <p:cNvSpPr/>
          <p:nvPr/>
        </p:nvSpPr>
        <p:spPr>
          <a:xfrm>
            <a:off x="8616391" y="1316736"/>
            <a:ext cx="3081528" cy="4730118"/>
          </a:xfrm>
          <a:prstGeom prst="roundRect">
            <a:avLst>
              <a:gd name="adj" fmla="val 2967"/>
            </a:avLst>
          </a:prstGeom>
          <a:solidFill>
            <a:srgbClr val="FFFFFF"/>
          </a:solidFill>
          <a:ln w="12700">
            <a:solidFill>
              <a:srgbClr val="C9D3E0"/>
            </a:solidFill>
            <a:prstDash val="solid"/>
          </a:ln>
        </p:spPr>
      </p:sp>
      <p:pic>
        <p:nvPicPr>
          <p:cNvPr id="7" name="layar 2" descr="Tangkapan layar aplikasi (hasil_contoh_05b.jpg)">    </p:cNvPr>
          <p:cNvPicPr>
            <a:picLocks noChangeAspect="1"/>
          </p:cNvPicPr>
          <p:nvPr/>
        </p:nvPicPr>
        <p:blipFill>
          <a:blip r:embed="rId2"/>
          <a:stretch>
            <a:fillRect/>
          </a:stretch>
        </p:blipFill>
        <p:spPr>
          <a:xfrm>
            <a:off x="8671255" y="1371600"/>
            <a:ext cx="2971800" cy="4620390"/>
          </a:xfrm>
          <a:prstGeom prst="rect">
            <a:avLst/>
          </a:prstGeom>
        </p:spPr>
      </p:pic>
      <p:sp>
        <p:nvSpPr>
          <p:cNvPr id="8" name="tombol tautan">
            <a:hlinkClick r:id="rId3" tooltip="https://github.com/antonprafanto/mobile2026/blob/main/pertemuan_15_build_rilis_dan_finalisasi/kode/contoh_05_cek_pembaruan.dart"/>
          </p:cNvPr>
          <p:cNvSpPr txBox="1"/>
          <p:nvPr/>
        </p:nvSpPr>
        <p:spPr>
          <a:xfrm>
            <a:off x="548640" y="1371600"/>
            <a:ext cx="441929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contoh_05_cek_pembaruan.dart</a:t>
            </a:r>
            <a:endParaRPr lang="en-US" sz="1300" dirty="0"/>
          </a:p>
        </p:txBody>
      </p:sp>
      <p:pic>
        <p:nvPicPr>
          <p:cNvPr id="9" name="Image 2" descr="ikon tautan">
            <a:hlinkClick r:id="rId5" tooltip="https://github.com/antonprafanto/mobile2026/blob/main/pertemuan_15_build_rilis_dan_finalisasi/kode/contoh_05_cek_pembaruan.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41929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Server palsu (MockClient, P10); skenario dipilih lewat ikon server di pojok kanan atas.</a:t>
            </a:r>
            <a:endParaRPr lang="en-US" sz="1500" dirty="0"/>
          </a:p>
          <a:p>
            <a:pPr marL="228600" indent="-228600">
              <a:spcAft>
                <a:spcPts val="800"/>
              </a:spcAft>
              <a:buSzPct val="100000"/>
              <a:buChar char="•"/>
            </a:pPr>
            <a:r>
              <a:rPr lang="en-US" sz="1500" dirty="0">
                <a:solidFill>
                  <a:schemeClr val="tx1"/>
                </a:solidFill>
              </a:rPr>
              <a:t>Belum ada versi baru → tidak ada apa-apa. Ada versi 1.3.0 → banner.</a:t>
            </a:r>
            <a:endParaRPr lang="en-US" sz="1500" dirty="0"/>
          </a:p>
          <a:p>
            <a:pPr marL="228600" indent="-228600">
              <a:spcAft>
                <a:spcPts val="800"/>
              </a:spcAft>
              <a:buSzPct val="100000"/>
              <a:buChar char="•"/>
            </a:pPr>
            <a:r>
              <a:rPr lang="en-US" sz="1500" dirty="0">
                <a:solidFill>
                  <a:schemeClr val="tx1"/>
                </a:solidFill>
              </a:rPr>
              <a:t>Versi minimum naik ke 1.3.0 → dialog wajib.</a:t>
            </a:r>
            <a:endParaRPr lang="en-US" sz="1500" dirty="0"/>
          </a:p>
          <a:p>
            <a:pPr marL="228600" indent="-228600">
              <a:spcAft>
                <a:spcPts val="800"/>
              </a:spcAft>
              <a:buSzPct val="100000"/>
              <a:buChar char="•"/>
            </a:pPr>
            <a:r>
              <a:rPr lang="en-US" sz="1500" dirty="0">
                <a:solidFill>
                  <a:schemeClr val="tx1"/>
                </a:solidFill>
              </a:rPr>
              <a:t>Server mati (503) atau JSON rusak → "Gagal memeriksa. Aplikasi tetap bisa dipakai."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14–15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Ukuran, Kecepatan, Keamanan, dan Toko Aplikasi</a:t>
            </a:r>
            <a:endParaRPr lang="en-US" sz="4000" dirty="0"/>
          </a:p>
        </p:txBody>
      </p:sp>
      <p:sp>
        <p:nvSpPr>
          <p:cNvPr id="5" name="lingkaran ukur"/>
          <p:cNvSpPr/>
          <p:nvPr/>
        </p:nvSpPr>
        <p:spPr>
          <a:xfrm>
            <a:off x="1097280" y="2148840"/>
            <a:ext cx="2011680" cy="2011680"/>
          </a:xfrm>
          <a:prstGeom prst="ellipse">
            <a:avLst/>
          </a:prstGeom>
          <a:solidFill>
            <a:schemeClr val="accent1"/>
          </a:solidFill>
          <a:ln/>
        </p:spPr>
      </p:sp>
      <p:pic>
        <p:nvPicPr>
          <p:cNvPr id="6" name="Image 0" descr="uku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Ukuran dan Kecepatan</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401090"/>
                <a:gridCol w="6693325"/>
              </a:tblGrid>
              <a:tr h="603504">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Masalah</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Cara memeriksa atau memperbaiki</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Menilai ukuran dari flutter run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Build debug memang besar. Ukur dari build rilis: flutter build apk --analyze-size --target-platform=android-arm64, lalu DevTools → App Size</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Unduhan besar</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--split-per-abi atau App Bundle; --split-debug-info; kompres gambar; hapus aset dan paket yang tidak dipakai</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"Aplikasi saya lambat"</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Jangan menilai dari mode debug. Ukur: flutter run --profile di HP sungguhan + DevTools → Performance</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Daftar panjang dengan ListView(children: [...])</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ListView.builder (Pertemuan 6)</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Pekerjaan berat di build() (mengurutkan ribuan data, mengurai JSON)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Pindahkan ke ViewModel, lakukan sekali saja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Gambar internet jauh lebih besar daripada tampilannya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Minta ukuran kecil dari server, atau cacheWidth pada Image.network</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Widget yang tidak pernah berubah ikut dibuat ulang</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Tambahkan const di depannya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Keamanan: Lakukan dan Hindari</a:t>
            </a:r>
            <a:endParaRPr lang="en-US" sz="3200" dirty="0"/>
          </a:p>
        </p:txBody>
      </p:sp>
      <p:sp>
        <p:nvSpPr>
          <p:cNvPr id="4" name="kolom 1"/>
          <p:cNvSpPr/>
          <p:nvPr/>
        </p:nvSpPr>
        <p:spPr>
          <a:xfrm>
            <a:off x="548640" y="1371600"/>
            <a:ext cx="5387188" cy="4754880"/>
          </a:xfrm>
          <a:prstGeom prst="roundRect">
            <a:avLst>
              <a:gd name="adj" fmla="val 2308"/>
            </a:avLst>
          </a:prstGeom>
          <a:solidFill>
            <a:srgbClr val="E3F2FD"/>
          </a:solidFill>
          <a:ln w="25400">
            <a:solidFill>
              <a:schemeClr val="accent1"/>
            </a:solidFill>
            <a:prstDash val="solid"/>
          </a:ln>
        </p:spPr>
      </p:sp>
      <p:sp>
        <p:nvSpPr>
          <p:cNvPr id="5" name="lingkaran perisai"/>
          <p:cNvSpPr/>
          <p:nvPr/>
        </p:nvSpPr>
        <p:spPr>
          <a:xfrm>
            <a:off x="777240" y="1600200"/>
            <a:ext cx="685800" cy="685800"/>
          </a:xfrm>
          <a:prstGeom prst="ellipse">
            <a:avLst/>
          </a:prstGeom>
          <a:solidFill>
            <a:schemeClr val="accent4"/>
          </a:solidFill>
          <a:ln/>
        </p:spPr>
      </p:sp>
      <p:pic>
        <p:nvPicPr>
          <p:cNvPr id="6" name="Image 0" descr="perisai">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Lakukan</a:t>
            </a:r>
            <a:endParaRPr lang="en-US" sz="1900" dirty="0"/>
          </a:p>
        </p:txBody>
      </p:sp>
      <p:sp>
        <p:nvSpPr>
          <p:cNvPr id="8" name="daftar poin"/>
          <p:cNvSpPr txBox="1"/>
          <p:nvPr/>
        </p:nvSpPr>
        <p:spPr>
          <a:xfrm>
            <a:off x="777240" y="2560320"/>
            <a:ext cx="4929988" cy="3429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Hanya memakai https://</a:t>
            </a:r>
            <a:endParaRPr lang="en-US" sz="1600" dirty="0"/>
          </a:p>
          <a:p>
            <a:pPr marL="228600" indent="-228600">
              <a:spcAft>
                <a:spcPts val="800"/>
              </a:spcAft>
              <a:buSzPct val="100000"/>
              <a:buChar char="•"/>
            </a:pPr>
            <a:r>
              <a:rPr lang="en-US" sz="1600" dirty="0">
                <a:solidFill>
                  <a:schemeClr val="tx1"/>
                </a:solidFill>
              </a:rPr>
              <a:t>Meminta izin seperlunya</a:t>
            </a:r>
            <a:endParaRPr lang="en-US" sz="1600" dirty="0"/>
          </a:p>
          <a:p>
            <a:pPr marL="228600" indent="-228600">
              <a:spcAft>
                <a:spcPts val="800"/>
              </a:spcAft>
              <a:buSzPct val="100000"/>
              <a:buChar char="•"/>
            </a:pPr>
            <a:r>
              <a:rPr lang="en-US" sz="1600" dirty="0">
                <a:solidFill>
                  <a:schemeClr val="tx1"/>
                </a:solidFill>
              </a:rPr>
              <a:t>Rahasia disimpan di server</a:t>
            </a:r>
            <a:endParaRPr lang="en-US" sz="1600" dirty="0"/>
          </a:p>
          <a:p>
            <a:pPr marL="228600" indent="-228600">
              <a:spcAft>
                <a:spcPts val="800"/>
              </a:spcAft>
              <a:buSzPct val="100000"/>
              <a:buChar char="•"/>
            </a:pPr>
            <a:r>
              <a:rPr lang="en-US" sz="1600" dirty="0">
                <a:solidFill>
                  <a:schemeClr val="tx1"/>
                </a:solidFill>
              </a:rPr>
              <a:t>Data sensitif di flutter_secure_storage</a:t>
            </a:r>
            <a:endParaRPr lang="en-US" sz="1600" dirty="0"/>
          </a:p>
          <a:p>
            <a:pPr marL="228600" indent="-228600">
              <a:spcAft>
                <a:spcPts val="800"/>
              </a:spcAft>
              <a:buSzPct val="100000"/>
              <a:buChar char="•"/>
            </a:pPr>
            <a:r>
              <a:rPr lang="en-US" sz="1600" dirty="0">
                <a:solidFill>
                  <a:schemeClr val="tx1"/>
                </a:solidFill>
              </a:rPr>
              <a:t>Memeriksa paket usang: flutter pub outdated</a:t>
            </a:r>
            <a:endParaRPr lang="en-US" sz="1600" dirty="0"/>
          </a:p>
          <a:p>
            <a:pPr marL="228600" indent="-228600">
              <a:spcAft>
                <a:spcPts val="800"/>
              </a:spcAft>
              <a:buSzPct val="100000"/>
              <a:buChar char="•"/>
            </a:pPr>
            <a:r>
              <a:rPr lang="en-US" sz="1600" dirty="0">
                <a:solidFill>
                  <a:schemeClr val="tx1"/>
                </a:solidFill>
              </a:rPr>
              <a:t>Mengabaikan key.properties dan *.jks di Git</a:t>
            </a:r>
            <a:endParaRPr lang="en-US" sz="1600" dirty="0"/>
          </a:p>
        </p:txBody>
      </p:sp>
      <p:sp>
        <p:nvSpPr>
          <p:cNvPr id="9" name="kolom 2"/>
          <p:cNvSpPr/>
          <p:nvPr/>
        </p:nvSpPr>
        <p:spPr>
          <a:xfrm>
            <a:off x="6255868" y="1371600"/>
            <a:ext cx="5387188" cy="4754880"/>
          </a:xfrm>
          <a:prstGeom prst="roundRect">
            <a:avLst>
              <a:gd name="adj" fmla="val 2308"/>
            </a:avLst>
          </a:prstGeom>
          <a:solidFill>
            <a:schemeClr val="bg2"/>
          </a:solidFill>
          <a:ln/>
        </p:spPr>
      </p:sp>
      <p:sp>
        <p:nvSpPr>
          <p:cNvPr id="10" name="lingkaran peringatan"/>
          <p:cNvSpPr/>
          <p:nvPr/>
        </p:nvSpPr>
        <p:spPr>
          <a:xfrm>
            <a:off x="6484468" y="1600200"/>
            <a:ext cx="685800" cy="685800"/>
          </a:xfrm>
          <a:prstGeom prst="ellipse">
            <a:avLst/>
          </a:prstGeom>
          <a:solidFill>
            <a:schemeClr val="accent5"/>
          </a:solidFill>
          <a:ln/>
        </p:spPr>
      </p:sp>
      <p:pic>
        <p:nvPicPr>
          <p:cNvPr id="11" name="Image 1" descr="peringatan">    </p:cNvPr>
          <p:cNvPicPr>
            <a:picLocks noChangeAspect="1"/>
          </p:cNvPicPr>
          <p:nvPr/>
        </p:nvPicPr>
        <p:blipFill>
          <a:blip r:embed="rId2"/>
          <a:stretch>
            <a:fillRect/>
          </a:stretch>
        </p:blipFill>
        <p:spPr>
          <a:xfrm>
            <a:off x="6635344" y="1751076"/>
            <a:ext cx="384048" cy="384048"/>
          </a:xfrm>
          <a:prstGeom prst="rect">
            <a:avLst/>
          </a:prstGeom>
        </p:spPr>
      </p:pic>
      <p:sp>
        <p:nvSpPr>
          <p:cNvPr id="12" name="Text 7"/>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Hindari</a:t>
            </a:r>
            <a:endParaRPr lang="en-US" sz="1900" dirty="0"/>
          </a:p>
        </p:txBody>
      </p:sp>
      <p:sp>
        <p:nvSpPr>
          <p:cNvPr id="13" name="daftar poin"/>
          <p:cNvSpPr txBox="1"/>
          <p:nvPr/>
        </p:nvSpPr>
        <p:spPr>
          <a:xfrm>
            <a:off x="6484468" y="2560320"/>
            <a:ext cx="4929988" cy="3429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http:// tanpa enkripsi (diblokir bawaan sejak Android 9)</a:t>
            </a:r>
            <a:endParaRPr lang="en-US" sz="1600" dirty="0"/>
          </a:p>
          <a:p>
            <a:pPr marL="228600" indent="-228600">
              <a:spcAft>
                <a:spcPts val="800"/>
              </a:spcAft>
              <a:buSzPct val="100000"/>
              <a:buChar char="•"/>
            </a:pPr>
            <a:r>
              <a:rPr lang="en-US" sz="1600" dirty="0">
                <a:solidFill>
                  <a:schemeClr val="tx1"/>
                </a:solidFill>
              </a:rPr>
              <a:t>Izin lokasi/kamera yang tidak dipakai, terutama sisa percobaan</a:t>
            </a:r>
            <a:endParaRPr lang="en-US" sz="1600" dirty="0"/>
          </a:p>
          <a:p>
            <a:pPr marL="228600" indent="-228600">
              <a:spcAft>
                <a:spcPts val="800"/>
              </a:spcAft>
              <a:buSzPct val="100000"/>
              <a:buChar char="•"/>
            </a:pPr>
            <a:r>
              <a:rPr lang="en-US" sz="1600" dirty="0">
                <a:solidFill>
                  <a:schemeClr val="tx1"/>
                </a:solidFill>
              </a:rPr>
              <a:t>Kunci API rahasia di aplikasi, walaupun lewat --dart-define atau disamarkan</a:t>
            </a:r>
            <a:endParaRPr lang="en-US" sz="1600" dirty="0"/>
          </a:p>
          <a:p>
            <a:pPr marL="228600" indent="-228600">
              <a:spcAft>
                <a:spcPts val="800"/>
              </a:spcAft>
              <a:buSzPct val="100000"/>
              <a:buChar char="•"/>
            </a:pPr>
            <a:r>
              <a:rPr lang="en-US" sz="1600" dirty="0">
                <a:solidFill>
                  <a:schemeClr val="tx1"/>
                </a:solidFill>
              </a:rPr>
              <a:t>Token masuk di shared_preferences</a:t>
            </a:r>
            <a:endParaRPr lang="en-US" sz="1600" dirty="0"/>
          </a:p>
          <a:p>
            <a:pPr marL="228600" indent="-228600">
              <a:spcAft>
                <a:spcPts val="800"/>
              </a:spcAft>
              <a:buSzPct val="100000"/>
              <a:buChar char="•"/>
            </a:pPr>
            <a:r>
              <a:rPr lang="en-US" sz="1600" dirty="0">
                <a:solidFill>
                  <a:schemeClr val="tx1"/>
                </a:solidFill>
              </a:rPr>
              <a:t>Paket lama yang tidak pernah diperbarui</a:t>
            </a:r>
            <a:endParaRPr lang="en-US" sz="1600" dirty="0"/>
          </a:p>
          <a:p>
            <a:pPr marL="228600" indent="-228600">
              <a:spcAft>
                <a:spcPts val="800"/>
              </a:spcAft>
              <a:buSzPct val="100000"/>
              <a:buChar char="•"/>
            </a:pPr>
            <a:r>
              <a:rPr lang="en-US" sz="1600" dirty="0">
                <a:solidFill>
                  <a:schemeClr val="tx1"/>
                </a:solidFill>
              </a:rPr>
              <a:t>Kunci unggah ikut ter-commit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Google Play (Gambaran)</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17439"/>
                <a:gridCol w="7976976"/>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Hal</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Keterangan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Akun pengembang</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Biaya pendaftaran US$25, sekali bayar</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Berkas yang diunggah</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App Bundle (.aab), ditandatangani kunci unggah</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Akun pribadi baru</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Dibuat setelah 13 November 2023: uji tertutup minimal 12 penguji selama 14 hari berturut-turut sebelum rilis publik</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Target versi Android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Sejak 31 Agustus 2026: Android 16 (API 36) atau lebih baru (targetSdk = flutter.targetSdkVersion)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Kebijakan privasi, Data safety</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Wajib untuk SEMUA aplikasi; formulir data yang dikumpulkan dan dibagikan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Halaman toko</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Nama maks. 30 karakter, deskripsi singkat 80, lengkap 4.000; ikon, grafik fitur, tangkapan layar</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7548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Peninjauan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Setiap rilis ditinjau Google sebelum tampil di toko</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Urutan di Play Console: buat aplikasi → App content → halaman toko → unggah .aab ke pengujian internal → uji tertutup → produksi.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Membandingkan Jalur Rilis</a:t>
            </a:r>
            <a:endParaRPr lang="en-US" sz="32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83924"/>
                <a:gridCol w="2292235"/>
                <a:gridCol w="2292235"/>
                <a:gridCol w="2017166"/>
                <a:gridCol w="2108856"/>
              </a:tblGrid>
              <a:tr h="640080">
                <a:tc>
                  <a:txBody>
                    <a:bodyPr/>
                    <a:lstStyle/>
                    <a:p>
                      <a:pPr indent="0" marL="0">
                        <a:buNone/>
                      </a:pP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GitHub Pages (web)</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GitHub Releases (APK)</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Google Play</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App Store</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Biaya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Gratis</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Gratis</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US$25 sekali</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US$99 per tahun</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Perangkat pengguna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Semua yang punya browser</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Android</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Android</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iPhone, iPad</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Pembaruan</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Otomatis saat situs dibuka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Manual (Bagian 13)</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Otomatis</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Otomatis</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Peninjauan</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Tidak ada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Tidak ada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Ada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Ada</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Fitur perangkat</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Terbatas, lewat izin browser</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Penuh</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Penuh</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Penuh</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Cocok untuk</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Demo, proyek akhir, portofolio</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Demo dan penilaian di HP</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Aplikasi untuk umum</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50" dirty="0">
                          <a:solidFill>
                            <a:srgbClr val="1B2333"/>
                          </a:solidFill>
                          <a:latin typeface="Calibri" pitchFamily="34" charset="0"/>
                          <a:ea typeface="Calibri" pitchFamily="34" charset="-122"/>
                          <a:cs typeface="Calibri" pitchFamily="34" charset="-120"/>
                        </a:rPr>
                        <a:t>Aplikasi untuk umum</a:t>
                      </a:r>
                      <a:endParaRPr lang="en-US" sz="14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"Cuaca Kampus 1.0.0"</a:t>
            </a:r>
            <a:endParaRPr lang="en-US" sz="4000" dirty="0"/>
          </a:p>
        </p:txBody>
      </p:sp>
      <p:sp>
        <p:nvSpPr>
          <p:cNvPr id="5" name="lingkaran cuaca"/>
          <p:cNvSpPr/>
          <p:nvPr/>
        </p:nvSpPr>
        <p:spPr>
          <a:xfrm>
            <a:off x="1097280" y="2148840"/>
            <a:ext cx="2011680" cy="2011680"/>
          </a:xfrm>
          <a:prstGeom prst="ellipse">
            <a:avLst/>
          </a:prstGeom>
          <a:solidFill>
            <a:schemeClr val="accent1"/>
          </a:solidFill>
          <a:ln/>
        </p:spPr>
      </p:sp>
      <p:pic>
        <p:nvPicPr>
          <p:cNvPr id="6" name="Image 0" descr="cuac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Dari Pertemuan 10 ke Rilis 1.0.0</a:t>
            </a:r>
            <a:endParaRPr lang="en-US" sz="32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942643"/>
                <a:gridCol w="6051499"/>
                <a:gridCol w="1100273"/>
              </a:tblGrid>
              <a:tr h="530352">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Pertemuan 10</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Rilis 1.0.0</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Bagian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30352">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jalankanUji() setiap aplikasi dibuka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Dihapus; tes tinggal di folder test/ (P14)</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Selalu memakai Open-Meteo</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LINGKUNGAN=produksi: Open-Meteo; pengembangan: data palsu + pita "BUILD UJI"</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debugPrint('GET $alamat')</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catatDebug(...): hilang dari build rilis</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2.2</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Galat apa pun hanya ditampilkan sebagai pesan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Exception → pesan ramah; Error (bug) → pesan ramah DAN dilaporkan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7.2</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Tidak ada jaring pengaman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FlutterError.onError, PlatformDispatcher, zona di web, ErrorWidget.builder</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Atribusi di bawah daftar</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Juga di halaman Tentang, plus lisensi data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Tidak ada halaman Tentang</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Versi, sumber data, ringkasan privasi, lisensi</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Tidak tahu ada versi baru</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Cek pembaruan dari data/info_rilis_cuaca_kampus.json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13</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Pilihan Implementasi Tetap di Satu Tempat</a:t>
            </a:r>
            <a:endParaRPr lang="en-US" sz="3200" dirty="0"/>
          </a:p>
        </p:txBody>
      </p:sp>
      <p:sp>
        <p:nvSpPr>
          <p:cNvPr id="4" name="kotak kode"/>
          <p:cNvSpPr txBox="1"/>
          <p:nvPr/>
        </p:nvSpPr>
        <p:spPr>
          <a:xfrm>
            <a:off x="548640" y="1371600"/>
            <a:ext cx="6217920" cy="4059936"/>
          </a:xfrm>
          <a:prstGeom prst="roundRect">
            <a:avLst>
              <a:gd name="adj" fmla="val 2252"/>
            </a:avLst>
          </a:prstGeom>
          <a:solidFill>
            <a:srgbClr val="0E1A2B"/>
          </a:solidFill>
          <a:ln/>
        </p:spPr>
        <p:txBody>
          <a:bodyPr wrap="square" lIns="177800" tIns="152400" rIns="152400" bIns="177800" rtlCol="0" anchor="t"/>
          <a:lstStyle/>
          <a:p>
            <a:pPr indent="0" marL="0">
              <a:lnSpc>
                <a:spcPct val="105000"/>
              </a:lnSpc>
              <a:buNone/>
            </a:pPr>
            <a:r>
              <a:rPr lang="en-US" sz="950" dirty="0">
                <a:solidFill>
                  <a:srgbClr val="FFCB6B"/>
                </a:solidFill>
                <a:latin typeface="Consolas" pitchFamily="34" charset="0"/>
                <a:ea typeface="Consolas" pitchFamily="34" charset="-122"/>
                <a:cs typeface="Consolas" pitchFamily="34" charset="-120"/>
              </a:rPr>
              <a:t>List</a:t>
            </a:r>
            <a:r>
              <a:rPr lang="en-US" sz="950" dirty="0">
                <a:solidFill>
                  <a:srgbClr val="E6EDF3"/>
                </a:solidFill>
                <a:latin typeface="Consolas" pitchFamily="34" charset="0"/>
                <a:ea typeface="Consolas" pitchFamily="34" charset="-122"/>
                <a:cs typeface="Consolas" pitchFamily="34" charset="-120"/>
              </a:rPr>
              <a:t>&lt;</a:t>
            </a:r>
            <a:r>
              <a:rPr lang="en-US" sz="950" dirty="0">
                <a:solidFill>
                  <a:srgbClr val="FFCB6B"/>
                </a:solidFill>
                <a:latin typeface="Consolas" pitchFamily="34" charset="0"/>
                <a:ea typeface="Consolas" pitchFamily="34" charset="-122"/>
                <a:cs typeface="Consolas" pitchFamily="34" charset="-120"/>
              </a:rPr>
              <a:t>SingleChildWidget</a:t>
            </a:r>
            <a:r>
              <a:rPr lang="en-US" sz="950" dirty="0">
                <a:solidFill>
                  <a:srgbClr val="E6EDF3"/>
                </a:solidFill>
                <a:latin typeface="Consolas" pitchFamily="34" charset="0"/>
                <a:ea typeface="Consolas" pitchFamily="34" charset="-122"/>
                <a:cs typeface="Consolas" pitchFamily="34" charset="-120"/>
              </a:rPr>
              <a:t>&gt; buatPenyedia(</a:t>
            </a:r>
            <a:r>
              <a:rPr lang="en-US" sz="950" dirty="0">
                <a:solidFill>
                  <a:srgbClr val="FFCB6B"/>
                </a:solidFill>
                <a:latin typeface="Consolas" pitchFamily="34" charset="0"/>
                <a:ea typeface="Consolas" pitchFamily="34" charset="-122"/>
                <a:cs typeface="Consolas" pitchFamily="34" charset="-120"/>
              </a:rPr>
              <a:t>Konfigurasi</a:t>
            </a:r>
            <a:r>
              <a:rPr lang="en-US" sz="950" dirty="0">
                <a:solidFill>
                  <a:srgbClr val="E6EDF3"/>
                </a:solidFill>
                <a:latin typeface="Consolas" pitchFamily="34" charset="0"/>
                <a:ea typeface="Consolas" pitchFamily="34" charset="-122"/>
                <a:cs typeface="Consolas" pitchFamily="34" charset="-120"/>
              </a:rPr>
              <a:t> konfigurasi)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C792EA"/>
                </a:solidFill>
                <a:latin typeface="Consolas" pitchFamily="34" charset="0"/>
                <a:ea typeface="Consolas" pitchFamily="34" charset="-122"/>
                <a:cs typeface="Consolas" pitchFamily="34" charset="-120"/>
              </a:rPr>
              <a:t>return</a:t>
            </a:r>
            <a:r>
              <a:rPr lang="en-US" sz="950" dirty="0">
                <a:solidFill>
                  <a:srgbClr val="E6EDF3"/>
                </a:solidFill>
                <a:latin typeface="Consolas" pitchFamily="34" charset="0"/>
                <a:ea typeface="Consolas" pitchFamily="34" charset="-122"/>
                <a:cs typeface="Consolas" pitchFamily="34" charset="-120"/>
              </a:rPr>
              <a: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FFCB6B"/>
                </a:solidFill>
                <a:latin typeface="Consolas" pitchFamily="34" charset="0"/>
                <a:ea typeface="Consolas" pitchFamily="34" charset="-122"/>
                <a:cs typeface="Consolas" pitchFamily="34" charset="-120"/>
              </a:rPr>
              <a:t>Provider</a:t>
            </a:r>
            <a:r>
              <a:rPr lang="en-US" sz="950" dirty="0">
                <a:solidFill>
                  <a:srgbClr val="E6EDF3"/>
                </a:solidFill>
                <a:latin typeface="Consolas" pitchFamily="34" charset="0"/>
                <a:ea typeface="Consolas" pitchFamily="34" charset="-122"/>
                <a:cs typeface="Consolas" pitchFamily="34" charset="-120"/>
              </a:rPr>
              <a:t>&lt;</a:t>
            </a:r>
            <a:r>
              <a:rPr lang="en-US" sz="950" dirty="0">
                <a:solidFill>
                  <a:srgbClr val="FFCB6B"/>
                </a:solidFill>
                <a:latin typeface="Consolas" pitchFamily="34" charset="0"/>
                <a:ea typeface="Consolas" pitchFamily="34" charset="-122"/>
                <a:cs typeface="Consolas" pitchFamily="34" charset="-120"/>
              </a:rPr>
              <a:t>Konfigurasi</a:t>
            </a:r>
            <a:r>
              <a:rPr lang="en-US" sz="950" dirty="0">
                <a:solidFill>
                  <a:srgbClr val="E6EDF3"/>
                </a:solidFill>
                <a:latin typeface="Consolas" pitchFamily="34" charset="0"/>
                <a:ea typeface="Consolas" pitchFamily="34" charset="-122"/>
                <a:cs typeface="Consolas" pitchFamily="34" charset="-120"/>
              </a:rPr>
              <a:t>&gt;.value(value: konfigurasi),</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C792EA"/>
                </a:solidFill>
                <a:latin typeface="Consolas" pitchFamily="34" charset="0"/>
                <a:ea typeface="Consolas" pitchFamily="34" charset="-122"/>
                <a:cs typeface="Consolas" pitchFamily="34" charset="-120"/>
              </a:rPr>
              <a:t>switch</a:t>
            </a:r>
            <a:r>
              <a:rPr lang="en-US" sz="950" dirty="0">
                <a:solidFill>
                  <a:srgbClr val="E6EDF3"/>
                </a:solidFill>
                <a:latin typeface="Consolas" pitchFamily="34" charset="0"/>
                <a:ea typeface="Consolas" pitchFamily="34" charset="-122"/>
                <a:cs typeface="Consolas" pitchFamily="34" charset="-120"/>
              </a:rPr>
              <a:t> (konfigurasi.lingkungan)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FFCB6B"/>
                </a:solidFill>
                <a:latin typeface="Consolas" pitchFamily="34" charset="0"/>
                <a:ea typeface="Consolas" pitchFamily="34" charset="-122"/>
                <a:cs typeface="Consolas" pitchFamily="34" charset="-120"/>
              </a:rPr>
              <a:t>Lingkungan</a:t>
            </a:r>
            <a:r>
              <a:rPr lang="en-US" sz="950" dirty="0">
                <a:solidFill>
                  <a:srgbClr val="E6EDF3"/>
                </a:solidFill>
                <a:latin typeface="Consolas" pitchFamily="34" charset="0"/>
                <a:ea typeface="Consolas" pitchFamily="34" charset="-122"/>
                <a:cs typeface="Consolas" pitchFamily="34" charset="-120"/>
              </a:rPr>
              <a:t>.produksi =&gt;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i="1" dirty="0">
                <a:solidFill>
                  <a:srgbClr val="8FA3BC"/>
                </a:solidFill>
                <a:latin typeface="Consolas" pitchFamily="34" charset="0"/>
                <a:ea typeface="Consolas" pitchFamily="34" charset="-122"/>
                <a:cs typeface="Consolas" pitchFamily="34" charset="-120"/>
              </a:rPr>
              <a:t>// ... LayananOpenMeteo, RepositoriCuacaOpenMeteo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FFCB6B"/>
                </a:solidFill>
                <a:latin typeface="Consolas" pitchFamily="34" charset="0"/>
                <a:ea typeface="Consolas" pitchFamily="34" charset="-122"/>
                <a:cs typeface="Consolas" pitchFamily="34" charset="-120"/>
              </a:rPr>
              <a:t>Provider</a:t>
            </a:r>
            <a:r>
              <a:rPr lang="en-US" sz="950" dirty="0">
                <a:solidFill>
                  <a:srgbClr val="E6EDF3"/>
                </a:solidFill>
                <a:latin typeface="Consolas" pitchFamily="34" charset="0"/>
                <a:ea typeface="Consolas" pitchFamily="34" charset="-122"/>
                <a:cs typeface="Consolas" pitchFamily="34" charset="-120"/>
              </a:rPr>
              <a:t>&lt;</a:t>
            </a:r>
            <a:r>
              <a:rPr lang="en-US" sz="950" dirty="0">
                <a:solidFill>
                  <a:srgbClr val="FFCB6B"/>
                </a:solidFill>
                <a:latin typeface="Consolas" pitchFamily="34" charset="0"/>
                <a:ea typeface="Consolas" pitchFamily="34" charset="-122"/>
                <a:cs typeface="Consolas" pitchFamily="34" charset="-120"/>
              </a:rPr>
              <a:t>SumberInfoRilis</a:t>
            </a:r>
            <a:r>
              <a:rPr lang="en-US" sz="950" dirty="0">
                <a:solidFill>
                  <a:srgbClr val="E6EDF3"/>
                </a:solidFill>
                <a:latin typeface="Consolas" pitchFamily="34" charset="0"/>
                <a:ea typeface="Consolas" pitchFamily="34" charset="-122"/>
                <a:cs typeface="Consolas" pitchFamily="34" charset="-120"/>
              </a:rPr>
              <a:t>&gt;(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create: (</a:t>
            </a:r>
            <a:r>
              <a:rPr lang="en-US" sz="950" dirty="0">
                <a:solidFill>
                  <a:srgbClr val="FFCB6B"/>
                </a:solidFill>
                <a:latin typeface="Consolas" pitchFamily="34" charset="0"/>
                <a:ea typeface="Consolas" pitchFamily="34" charset="-122"/>
                <a:cs typeface="Consolas" pitchFamily="34" charset="-120"/>
              </a:rPr>
              <a:t>BuildContext</a:t>
            </a:r>
            <a:r>
              <a:rPr lang="en-US" sz="950" dirty="0">
                <a:solidFill>
                  <a:srgbClr val="E6EDF3"/>
                </a:solidFill>
                <a:latin typeface="Consolas" pitchFamily="34" charset="0"/>
                <a:ea typeface="Consolas" pitchFamily="34" charset="-122"/>
                <a:cs typeface="Consolas" pitchFamily="34" charset="-120"/>
              </a:rPr>
              <a:t> context) =&gt;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FFCB6B"/>
                </a:solidFill>
                <a:latin typeface="Consolas" pitchFamily="34" charset="0"/>
                <a:ea typeface="Consolas" pitchFamily="34" charset="-122"/>
                <a:cs typeface="Consolas" pitchFamily="34" charset="-120"/>
              </a:rPr>
              <a:t>LayananInfoRilis</a:t>
            </a:r>
            <a:r>
              <a:rPr lang="en-US" sz="950" dirty="0">
                <a:solidFill>
                  <a:srgbClr val="E6EDF3"/>
                </a:solidFill>
                <a:latin typeface="Consolas" pitchFamily="34" charset="0"/>
                <a:ea typeface="Consolas" pitchFamily="34" charset="-122"/>
                <a:cs typeface="Consolas" pitchFamily="34" charset="-120"/>
              </a:rPr>
              <a:t>(alamat: </a:t>
            </a:r>
            <a:r>
              <a:rPr lang="en-US" sz="950" dirty="0">
                <a:solidFill>
                  <a:srgbClr val="FFCB6B"/>
                </a:solidFill>
                <a:latin typeface="Consolas" pitchFamily="34" charset="0"/>
                <a:ea typeface="Consolas" pitchFamily="34" charset="-122"/>
                <a:cs typeface="Consolas" pitchFamily="34" charset="-120"/>
              </a:rPr>
              <a:t>Uri</a:t>
            </a:r>
            <a:r>
              <a:rPr lang="en-US" sz="950" dirty="0">
                <a:solidFill>
                  <a:srgbClr val="E6EDF3"/>
                </a:solidFill>
                <a:latin typeface="Consolas" pitchFamily="34" charset="0"/>
                <a:ea typeface="Consolas" pitchFamily="34" charset="-122"/>
                <a:cs typeface="Consolas" pitchFamily="34" charset="-120"/>
              </a:rPr>
              <a:t>.parse(alamatInfoRilis)),</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dispose: (</a:t>
            </a:r>
            <a:r>
              <a:rPr lang="en-US" sz="950" dirty="0">
                <a:solidFill>
                  <a:srgbClr val="FFCB6B"/>
                </a:solidFill>
                <a:latin typeface="Consolas" pitchFamily="34" charset="0"/>
                <a:ea typeface="Consolas" pitchFamily="34" charset="-122"/>
                <a:cs typeface="Consolas" pitchFamily="34" charset="-120"/>
              </a:rPr>
              <a:t>BuildContext</a:t>
            </a:r>
            <a:r>
              <a:rPr lang="en-US" sz="950" dirty="0">
                <a:solidFill>
                  <a:srgbClr val="E6EDF3"/>
                </a:solidFill>
                <a:latin typeface="Consolas" pitchFamily="34" charset="0"/>
                <a:ea typeface="Consolas" pitchFamily="34" charset="-122"/>
                <a:cs typeface="Consolas" pitchFamily="34" charset="-120"/>
              </a:rPr>
              <a:t> context, </a:t>
            </a:r>
            <a:r>
              <a:rPr lang="en-US" sz="950" dirty="0">
                <a:solidFill>
                  <a:srgbClr val="FFCB6B"/>
                </a:solidFill>
                <a:latin typeface="Consolas" pitchFamily="34" charset="0"/>
                <a:ea typeface="Consolas" pitchFamily="34" charset="-122"/>
                <a:cs typeface="Consolas" pitchFamily="34" charset="-120"/>
              </a:rPr>
              <a:t>SumberInfoRilis</a:t>
            </a:r>
            <a:r>
              <a:rPr lang="en-US" sz="950" dirty="0">
                <a:solidFill>
                  <a:srgbClr val="E6EDF3"/>
                </a:solidFill>
                <a:latin typeface="Consolas" pitchFamily="34" charset="0"/>
                <a:ea typeface="Consolas" pitchFamily="34" charset="-122"/>
                <a:cs typeface="Consolas" pitchFamily="34" charset="-120"/>
              </a:rPr>
              <a:t> sumber) =&gt;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sumber.tutup(),</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FFCB6B"/>
                </a:solidFill>
                <a:latin typeface="Consolas" pitchFamily="34" charset="0"/>
                <a:ea typeface="Consolas" pitchFamily="34" charset="-122"/>
                <a:cs typeface="Consolas" pitchFamily="34" charset="-120"/>
              </a:rPr>
              <a:t>Lingkungan</a:t>
            </a:r>
            <a:r>
              <a:rPr lang="en-US" sz="950" dirty="0">
                <a:solidFill>
                  <a:srgbClr val="E6EDF3"/>
                </a:solidFill>
                <a:latin typeface="Consolas" pitchFamily="34" charset="0"/>
                <a:ea typeface="Consolas" pitchFamily="34" charset="-122"/>
                <a:cs typeface="Consolas" pitchFamily="34" charset="-120"/>
              </a:rPr>
              <a:t>.pengembangan =&gt;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FFCB6B"/>
                </a:solidFill>
                <a:latin typeface="Consolas" pitchFamily="34" charset="0"/>
                <a:ea typeface="Consolas" pitchFamily="34" charset="-122"/>
                <a:cs typeface="Consolas" pitchFamily="34" charset="-120"/>
              </a:rPr>
              <a:t>Provider</a:t>
            </a:r>
            <a:r>
              <a:rPr lang="en-US" sz="950" dirty="0">
                <a:solidFill>
                  <a:srgbClr val="E6EDF3"/>
                </a:solidFill>
                <a:latin typeface="Consolas" pitchFamily="34" charset="0"/>
                <a:ea typeface="Consolas" pitchFamily="34" charset="-122"/>
                <a:cs typeface="Consolas" pitchFamily="34" charset="-120"/>
              </a:rPr>
              <a:t>&lt;</a:t>
            </a:r>
            <a:r>
              <a:rPr lang="en-US" sz="950" dirty="0">
                <a:solidFill>
                  <a:srgbClr val="FFCB6B"/>
                </a:solidFill>
                <a:latin typeface="Consolas" pitchFamily="34" charset="0"/>
                <a:ea typeface="Consolas" pitchFamily="34" charset="-122"/>
                <a:cs typeface="Consolas" pitchFamily="34" charset="-120"/>
              </a:rPr>
              <a:t>RepositoriCuaca</a:t>
            </a:r>
            <a:r>
              <a:rPr lang="en-US" sz="950" dirty="0">
                <a:solidFill>
                  <a:srgbClr val="E6EDF3"/>
                </a:solidFill>
                <a:latin typeface="Consolas" pitchFamily="34" charset="0"/>
                <a:ea typeface="Consolas" pitchFamily="34" charset="-122"/>
                <a:cs typeface="Consolas" pitchFamily="34" charset="-120"/>
              </a:rPr>
              <a:t>&gt;(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create: (</a:t>
            </a:r>
            <a:r>
              <a:rPr lang="en-US" sz="950" dirty="0">
                <a:solidFill>
                  <a:srgbClr val="FFCB6B"/>
                </a:solidFill>
                <a:latin typeface="Consolas" pitchFamily="34" charset="0"/>
                <a:ea typeface="Consolas" pitchFamily="34" charset="-122"/>
                <a:cs typeface="Consolas" pitchFamily="34" charset="-120"/>
              </a:rPr>
              <a:t>BuildContext</a:t>
            </a:r>
            <a:r>
              <a:rPr lang="en-US" sz="950" dirty="0">
                <a:solidFill>
                  <a:srgbClr val="E6EDF3"/>
                </a:solidFill>
                <a:latin typeface="Consolas" pitchFamily="34" charset="0"/>
                <a:ea typeface="Consolas" pitchFamily="34" charset="-122"/>
                <a:cs typeface="Consolas" pitchFamily="34" charset="-120"/>
              </a:rPr>
              <a:t> context) =&gt; </a:t>
            </a:r>
            <a:r>
              <a:rPr lang="en-US" sz="950" dirty="0">
                <a:solidFill>
                  <a:srgbClr val="FFCB6B"/>
                </a:solidFill>
                <a:latin typeface="Consolas" pitchFamily="34" charset="0"/>
                <a:ea typeface="Consolas" pitchFamily="34" charset="-122"/>
                <a:cs typeface="Consolas" pitchFamily="34" charset="-120"/>
              </a:rPr>
              <a:t>RepositoriCuacaPalsu</a:t>
            </a:r>
            <a:r>
              <a:rPr lang="en-US" sz="950" dirty="0">
                <a:solidFill>
                  <a:srgbClr val="E6EDF3"/>
                </a:solidFill>
                <a:latin typeface="Consolas" pitchFamily="34" charset="0"/>
                <a:ea typeface="Consolas" pitchFamily="34" charset="-122"/>
                <a:cs typeface="Consolas" pitchFamily="34" charset="-120"/>
              </a:rPr>
              <a: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r>
              <a:rPr lang="en-US" sz="950" dirty="0">
                <a:solidFill>
                  <a:srgbClr val="FFCB6B"/>
                </a:solidFill>
                <a:latin typeface="Consolas" pitchFamily="34" charset="0"/>
                <a:ea typeface="Consolas" pitchFamily="34" charset="-122"/>
                <a:cs typeface="Consolas" pitchFamily="34" charset="-120"/>
              </a:rPr>
              <a:t>Provider</a:t>
            </a:r>
            <a:r>
              <a:rPr lang="en-US" sz="950" dirty="0">
                <a:solidFill>
                  <a:srgbClr val="E6EDF3"/>
                </a:solidFill>
                <a:latin typeface="Consolas" pitchFamily="34" charset="0"/>
                <a:ea typeface="Consolas" pitchFamily="34" charset="-122"/>
                <a:cs typeface="Consolas" pitchFamily="34" charset="-120"/>
              </a:rPr>
              <a:t>&lt;</a:t>
            </a:r>
            <a:r>
              <a:rPr lang="en-US" sz="950" dirty="0">
                <a:solidFill>
                  <a:srgbClr val="FFCB6B"/>
                </a:solidFill>
                <a:latin typeface="Consolas" pitchFamily="34" charset="0"/>
                <a:ea typeface="Consolas" pitchFamily="34" charset="-122"/>
                <a:cs typeface="Consolas" pitchFamily="34" charset="-120"/>
              </a:rPr>
              <a:t>SumberInfoRilis</a:t>
            </a:r>
            <a:r>
              <a:rPr lang="en-US" sz="950" dirty="0">
                <a:solidFill>
                  <a:srgbClr val="E6EDF3"/>
                </a:solidFill>
                <a:latin typeface="Consolas" pitchFamily="34" charset="0"/>
                <a:ea typeface="Consolas" pitchFamily="34" charset="-122"/>
                <a:cs typeface="Consolas" pitchFamily="34" charset="-120"/>
              </a:rPr>
              <a:t>&gt;(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create: (</a:t>
            </a:r>
            <a:r>
              <a:rPr lang="en-US" sz="950" dirty="0">
                <a:solidFill>
                  <a:srgbClr val="FFCB6B"/>
                </a:solidFill>
                <a:latin typeface="Consolas" pitchFamily="34" charset="0"/>
                <a:ea typeface="Consolas" pitchFamily="34" charset="-122"/>
                <a:cs typeface="Consolas" pitchFamily="34" charset="-120"/>
              </a:rPr>
              <a:t>BuildContext</a:t>
            </a:r>
            <a:r>
              <a:rPr lang="en-US" sz="950" dirty="0">
                <a:solidFill>
                  <a:srgbClr val="E6EDF3"/>
                </a:solidFill>
                <a:latin typeface="Consolas" pitchFamily="34" charset="0"/>
                <a:ea typeface="Consolas" pitchFamily="34" charset="-122"/>
                <a:cs typeface="Consolas" pitchFamily="34" charset="-120"/>
              </a:rPr>
              <a:t> context) =&gt; </a:t>
            </a:r>
            <a:r>
              <a:rPr lang="en-US" sz="950" dirty="0">
                <a:solidFill>
                  <a:srgbClr val="C792EA"/>
                </a:solidFill>
                <a:latin typeface="Consolas" pitchFamily="34" charset="0"/>
                <a:ea typeface="Consolas" pitchFamily="34" charset="-122"/>
                <a:cs typeface="Consolas" pitchFamily="34" charset="-120"/>
              </a:rPr>
              <a:t>const</a:t>
            </a:r>
            <a:r>
              <a:rPr lang="en-US" sz="950" dirty="0">
                <a:solidFill>
                  <a:srgbClr val="E6EDF3"/>
                </a:solidFill>
                <a:latin typeface="Consolas" pitchFamily="34" charset="0"/>
                <a:ea typeface="Consolas" pitchFamily="34" charset="-122"/>
                <a:cs typeface="Consolas" pitchFamily="34" charset="-120"/>
              </a:rPr>
              <a:t> </a:t>
            </a:r>
            <a:r>
              <a:rPr lang="en-US" sz="950" dirty="0">
                <a:solidFill>
                  <a:srgbClr val="FFCB6B"/>
                </a:solidFill>
                <a:latin typeface="Consolas" pitchFamily="34" charset="0"/>
                <a:ea typeface="Consolas" pitchFamily="34" charset="-122"/>
                <a:cs typeface="Consolas" pitchFamily="34" charset="-120"/>
              </a:rPr>
              <a:t>TanpaInfoRilis</a:t>
            </a:r>
            <a:r>
              <a:rPr lang="en-US" sz="950" dirty="0">
                <a:solidFill>
                  <a:srgbClr val="E6EDF3"/>
                </a:solidFill>
                <a:latin typeface="Consolas" pitchFamily="34" charset="0"/>
                <a:ea typeface="Consolas" pitchFamily="34" charset="-122"/>
                <a:cs typeface="Consolas" pitchFamily="34" charset="-120"/>
              </a:rPr>
              <a:t>(),</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indent="0" marL="0">
              <a:lnSpc>
                <a:spcPct val="105000"/>
              </a:lnSpc>
              <a:buNone/>
            </a:pPr>
            <a:r>
              <a:rPr lang="en-US" sz="950" dirty="0">
                <a:solidFill>
                  <a:srgbClr val="E6EDF3"/>
                </a:solidFill>
                <a:latin typeface="Consolas" pitchFamily="34" charset="0"/>
                <a:ea typeface="Consolas" pitchFamily="34" charset="-122"/>
                <a:cs typeface="Consolas" pitchFamily="34" charset="-120"/>
              </a:rPr>
              <a:t>}</a:t>
            </a:r>
            <a:endParaRPr lang="en-US" sz="950" dirty="0"/>
          </a:p>
        </p:txBody>
      </p:sp>
      <p:sp>
        <p:nvSpPr>
          <p:cNvPr id="5" name="tombol tautan">
            <a:hlinkClick r:id="rId1" tooltip="https://github.com/antonprafanto/mobile2026/blob/main/pertemuan_15_build_rilis_dan_finalisasi/kode/contoh_07_studi_kasus_cuaca_kampus_siap_rilis.dart"/>
          </p:cNvPr>
          <p:cNvSpPr txBox="1"/>
          <p:nvPr/>
        </p:nvSpPr>
        <p:spPr>
          <a:xfrm>
            <a:off x="548640" y="5660136"/>
            <a:ext cx="62179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contoh_07_studi_kasus_cuaca_kampus_siap_rilis.dart</a:t>
            </a:r>
            <a:endParaRPr lang="en-US" sz="1300" dirty="0"/>
          </a:p>
        </p:txBody>
      </p:sp>
      <p:pic>
        <p:nvPicPr>
          <p:cNvPr id="6" name="Image 0" descr="ikon tautan">
            <a:hlinkClick r:id="rId3" tooltip="https://github.com/antonprafanto/mobile2026/blob/main/pertemuan_15_build_rilis_dan_finalisasi/kode/contoh_07_studi_kasus_cuaca_kampus_siap_rilis.dart"/>
          </p:cNvPr>
          <p:cNvPicPr>
            <a:picLocks noChangeAspect="1"/>
          </p:cNvPicPr>
          <p:nvPr/>
        </p:nvPicPr>
        <p:blipFill>
          <a:blip r:embed="rId2"/>
          <a:stretch>
            <a:fillRect/>
          </a:stretch>
        </p:blipFill>
        <p:spPr>
          <a:xfrm>
            <a:off x="694944" y="5751576"/>
            <a:ext cx="274320" cy="274320"/>
          </a:xfrm>
          <a:prstGeom prst="rect">
            <a:avLst/>
          </a:prstGeom>
        </p:spPr>
      </p:pic>
      <p:sp>
        <p:nvSpPr>
          <p:cNvPr id="7" name="daftar poin"/>
          <p:cNvSpPr txBox="1"/>
          <p:nvPr/>
        </p:nvSpPr>
        <p:spPr>
          <a:xfrm>
            <a:off x="7178040" y="1417320"/>
            <a:ext cx="44650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Akar komposisi Pertemuan 12: semua pilihan dirakit di buatPenyedia(konfigurasi).</a:t>
            </a:r>
            <a:endParaRPr lang="en-US" sz="1700" dirty="0"/>
          </a:p>
          <a:p>
            <a:pPr marL="228600" indent="-228600">
              <a:spcAft>
                <a:spcPts val="800"/>
              </a:spcAft>
              <a:buSzPct val="100000"/>
              <a:buChar char="•"/>
            </a:pPr>
            <a:r>
              <a:rPr lang="en-US" sz="1700" dirty="0">
                <a:solidFill>
                  <a:schemeClr val="tx1"/>
                </a:solidFill>
              </a:rPr>
              <a:t>Pengembangan: TanpaInfoRilis selalu menjawab null, jadi tidak ada cek pembaruan.</a:t>
            </a:r>
            <a:endParaRPr lang="en-US" sz="1700" dirty="0"/>
          </a:p>
          <a:p>
            <a:pPr marL="228600" indent="-228600">
              <a:spcAft>
                <a:spcPts val="800"/>
              </a:spcAft>
              <a:buSzPct val="100000"/>
              <a:buChar char="•"/>
            </a:pPr>
            <a:r>
              <a:rPr lang="en-US" sz="1700" dirty="0">
                <a:solidFill>
                  <a:schemeClr val="tx1"/>
                </a:solidFill>
              </a:rPr>
              <a:t>Halaman cuaca hanya mengenal kontrak SumberInfoRilis: tidak ada satu if pun untuk membedakan lingkungan.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Menjalankan "Cuaca Kampus 1.0.0"</a:t>
            </a:r>
            <a:endParaRPr lang="en-US" sz="3200" dirty="0"/>
          </a:p>
        </p:txBody>
      </p:sp>
      <p:sp>
        <p:nvSpPr>
          <p:cNvPr id="4" name="bingkai layar 1"/>
          <p:cNvSpPr/>
          <p:nvPr/>
        </p:nvSpPr>
        <p:spPr>
          <a:xfrm>
            <a:off x="5370271" y="1316736"/>
            <a:ext cx="3081528" cy="4730118"/>
          </a:xfrm>
          <a:prstGeom prst="roundRect">
            <a:avLst>
              <a:gd name="adj" fmla="val 2967"/>
            </a:avLst>
          </a:prstGeom>
          <a:solidFill>
            <a:srgbClr val="FFFFFF"/>
          </a:solidFill>
          <a:ln w="12700">
            <a:solidFill>
              <a:srgbClr val="C9D3E0"/>
            </a:solidFill>
            <a:prstDash val="solid"/>
          </a:ln>
        </p:spPr>
      </p:sp>
      <p:pic>
        <p:nvPicPr>
          <p:cNvPr id="5" name="layar 1" descr="Tangkapan layar aplikasi (hasil_contoh_07a.jpg)">    </p:cNvPr>
          <p:cNvPicPr>
            <a:picLocks noChangeAspect="1"/>
          </p:cNvPicPr>
          <p:nvPr/>
        </p:nvPicPr>
        <p:blipFill>
          <a:blip r:embed="rId1"/>
          <a:stretch>
            <a:fillRect/>
          </a:stretch>
        </p:blipFill>
        <p:spPr>
          <a:xfrm>
            <a:off x="5425135" y="1371600"/>
            <a:ext cx="2971800" cy="4620390"/>
          </a:xfrm>
          <a:prstGeom prst="rect">
            <a:avLst/>
          </a:prstGeom>
        </p:spPr>
      </p:pic>
      <p:sp>
        <p:nvSpPr>
          <p:cNvPr id="6" name="bingkai layar 2"/>
          <p:cNvSpPr/>
          <p:nvPr/>
        </p:nvSpPr>
        <p:spPr>
          <a:xfrm>
            <a:off x="8616391" y="1316736"/>
            <a:ext cx="3081528" cy="4730118"/>
          </a:xfrm>
          <a:prstGeom prst="roundRect">
            <a:avLst>
              <a:gd name="adj" fmla="val 2967"/>
            </a:avLst>
          </a:prstGeom>
          <a:solidFill>
            <a:srgbClr val="FFFFFF"/>
          </a:solidFill>
          <a:ln w="12700">
            <a:solidFill>
              <a:srgbClr val="C9D3E0"/>
            </a:solidFill>
            <a:prstDash val="solid"/>
          </a:ln>
        </p:spPr>
      </p:sp>
      <p:pic>
        <p:nvPicPr>
          <p:cNvPr id="7" name="layar 2" descr="Tangkapan layar aplikasi (hasil_contoh_07b.jpg)">    </p:cNvPr>
          <p:cNvPicPr>
            <a:picLocks noChangeAspect="1"/>
          </p:cNvPicPr>
          <p:nvPr/>
        </p:nvPicPr>
        <p:blipFill>
          <a:blip r:embed="rId2"/>
          <a:stretch>
            <a:fillRect/>
          </a:stretch>
        </p:blipFill>
        <p:spPr>
          <a:xfrm>
            <a:off x="8671255" y="1371600"/>
            <a:ext cx="2971800" cy="4620390"/>
          </a:xfrm>
          <a:prstGeom prst="rect">
            <a:avLst/>
          </a:prstGeom>
        </p:spPr>
      </p:pic>
      <p:sp>
        <p:nvSpPr>
          <p:cNvPr id="8" name="daftar poin"/>
          <p:cNvSpPr txBox="1"/>
          <p:nvPr/>
        </p:nvSpPr>
        <p:spPr>
          <a:xfrm>
            <a:off x="548640" y="1417320"/>
            <a:ext cx="4419295" cy="4800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DartPad: data sungguhan, lalu banner "Versi 1.1.0 tersedia" (info rilis 1.1.0, aplikasi 1.0.0).</a:t>
            </a:r>
            <a:endParaRPr lang="en-US" sz="1500" dirty="0"/>
          </a:p>
          <a:p>
            <a:pPr marL="228600" indent="-228600">
              <a:spcAft>
                <a:spcPts val="800"/>
              </a:spcAft>
              <a:buSzPct val="100000"/>
              <a:buChar char="•"/>
            </a:pPr>
            <a:r>
              <a:rPr lang="en-US" sz="1500" dirty="0">
                <a:solidFill>
                  <a:schemeClr val="tx1"/>
                </a:solidFill>
              </a:rPr>
              <a:t>--dart-define=LINGKUNGAN=pengembangan: data palsu yang selalu sama, pita "BUILD UJI", tanpa banner.</a:t>
            </a:r>
            <a:endParaRPr lang="en-US" sz="1500" dirty="0"/>
          </a:p>
          <a:p>
            <a:pPr marL="228600" indent="-228600">
              <a:spcAft>
                <a:spcPts val="800"/>
              </a:spcAft>
              <a:buSzPct val="100000"/>
              <a:buChar char="•"/>
            </a:pPr>
            <a:r>
              <a:rPr lang="en-US" sz="1500" dirty="0">
                <a:solidFill>
                  <a:schemeClr val="tx1"/>
                </a:solidFill>
              </a:rPr>
              <a:t>--release: sama seperti DartPad, tetapi log [debug] tidak muncul lagi.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Finalisasi Proyek Akhir</a:t>
            </a:r>
            <a:endParaRPr lang="en-US" sz="4000" dirty="0"/>
          </a:p>
        </p:txBody>
      </p:sp>
      <p:sp>
        <p:nvSpPr>
          <p:cNvPr id="5" name="lingkaran roket"/>
          <p:cNvSpPr/>
          <p:nvPr/>
        </p:nvSpPr>
        <p:spPr>
          <a:xfrm>
            <a:off x="1097280" y="2148840"/>
            <a:ext cx="2011680" cy="2011680"/>
          </a:xfrm>
          <a:prstGeom prst="ellipse">
            <a:avLst/>
          </a:prstGeom>
          <a:solidFill>
            <a:schemeClr val="accent1"/>
          </a:solidFill>
          <a:ln/>
        </p:spPr>
      </p:sp>
      <p:pic>
        <p:nvPicPr>
          <p:cNvPr id="6" name="Image 0" descr="roke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Daftar Periksa Rilis</a:t>
            </a:r>
            <a:endParaRPr lang="en-US" sz="3200" dirty="0"/>
          </a:p>
        </p:txBody>
      </p:sp>
      <p:sp>
        <p:nvSpPr>
          <p:cNvPr id="4" name="kartu 1"/>
          <p:cNvSpPr/>
          <p:nvPr/>
        </p:nvSpPr>
        <p:spPr>
          <a:xfrm>
            <a:off x="548640" y="1371600"/>
            <a:ext cx="3484778" cy="2286000"/>
          </a:xfrm>
          <a:prstGeom prst="roundRect">
            <a:avLst>
              <a:gd name="adj" fmla="val 4800"/>
            </a:avLst>
          </a:prstGeom>
          <a:solidFill>
            <a:schemeClr val="bg2"/>
          </a:solidFill>
          <a:ln/>
        </p:spPr>
      </p:sp>
      <p:sp>
        <p:nvSpPr>
          <p:cNvPr id="5" name="lingkaran centang"/>
          <p:cNvSpPr/>
          <p:nvPr/>
        </p:nvSpPr>
        <p:spPr>
          <a:xfrm>
            <a:off x="777240" y="1600200"/>
            <a:ext cx="685800" cy="685800"/>
          </a:xfrm>
          <a:prstGeom prst="ellipse">
            <a:avLst/>
          </a:prstGeom>
          <a:solidFill>
            <a:schemeClr val="accent1"/>
          </a:solidFill>
          <a:ln/>
        </p:spPr>
      </p:sp>
      <p:pic>
        <p:nvPicPr>
          <p:cNvPr id="6" name="Image 0" descr="centang">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Fungsi dan kualitas</a:t>
            </a:r>
            <a:endParaRPr lang="en-US" sz="1800" dirty="0"/>
          </a:p>
        </p:txBody>
      </p:sp>
      <p:sp>
        <p:nvSpPr>
          <p:cNvPr id="8" name="Text 4"/>
          <p:cNvSpPr txBox="1"/>
          <p:nvPr/>
        </p:nvSpPr>
        <p:spPr>
          <a:xfrm>
            <a:off x="777240"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Fitur wajib jalan; memuat/kosong/gagal ramah; 360 dan ≥ 840, terang dan gelap, huruf besar; analyze bersih, dart format; ≥ 3 tes unit; tanpa print.</a:t>
            </a:r>
            <a:endParaRPr lang="en-US" sz="1500" dirty="0"/>
          </a:p>
        </p:txBody>
      </p:sp>
      <p:sp>
        <p:nvSpPr>
          <p:cNvPr id="9" name="kartu 2"/>
          <p:cNvSpPr/>
          <p:nvPr/>
        </p:nvSpPr>
        <p:spPr>
          <a:xfrm>
            <a:off x="4353458" y="1371600"/>
            <a:ext cx="3484778" cy="2286000"/>
          </a:xfrm>
          <a:prstGeom prst="roundRect">
            <a:avLst>
              <a:gd name="adj" fmla="val 4800"/>
            </a:avLst>
          </a:prstGeom>
          <a:solidFill>
            <a:schemeClr val="bg2"/>
          </a:solidFill>
          <a:ln/>
        </p:spPr>
      </p:sp>
      <p:sp>
        <p:nvSpPr>
          <p:cNvPr id="10" name="lingkaran label"/>
          <p:cNvSpPr/>
          <p:nvPr/>
        </p:nvSpPr>
        <p:spPr>
          <a:xfrm>
            <a:off x="4582058" y="1600200"/>
            <a:ext cx="685800" cy="685800"/>
          </a:xfrm>
          <a:prstGeom prst="ellipse">
            <a:avLst/>
          </a:prstGeom>
          <a:solidFill>
            <a:schemeClr val="accent1"/>
          </a:solidFill>
          <a:ln/>
        </p:spPr>
      </p:sp>
      <p:pic>
        <p:nvPicPr>
          <p:cNvPr id="11" name="Image 1" descr="label">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Identitas</a:t>
            </a:r>
            <a:endParaRPr lang="en-US" sz="1800" dirty="0"/>
          </a:p>
        </p:txBody>
      </p:sp>
      <p:sp>
        <p:nvSpPr>
          <p:cNvPr id="13" name="Text 8"/>
          <p:cNvSpPr txBox="1"/>
          <p:nvPr/>
        </p:nvSpPr>
        <p:spPr>
          <a:xfrm>
            <a:off x="4582058"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Nama tampilan rapi (Android, web, MaterialApp); applicationId bukan com.example; version 1.0.0+1; ikon dan layar pembuka diganti.</a:t>
            </a:r>
            <a:endParaRPr lang="en-US" sz="1500" dirty="0"/>
          </a:p>
        </p:txBody>
      </p:sp>
      <p:sp>
        <p:nvSpPr>
          <p:cNvPr id="14" name="kartu 3"/>
          <p:cNvSpPr/>
          <p:nvPr/>
        </p:nvSpPr>
        <p:spPr>
          <a:xfrm>
            <a:off x="8158277" y="1371600"/>
            <a:ext cx="3484778" cy="2286000"/>
          </a:xfrm>
          <a:prstGeom prst="roundRect">
            <a:avLst>
              <a:gd name="adj" fmla="val 4800"/>
            </a:avLst>
          </a:prstGeom>
          <a:solidFill>
            <a:schemeClr val="bg2"/>
          </a:solidFill>
          <a:ln/>
        </p:spPr>
      </p:sp>
      <p:sp>
        <p:nvSpPr>
          <p:cNvPr id="15" name="lingkaran perisai"/>
          <p:cNvSpPr/>
          <p:nvPr/>
        </p:nvSpPr>
        <p:spPr>
          <a:xfrm>
            <a:off x="8386877" y="1600200"/>
            <a:ext cx="685800" cy="685800"/>
          </a:xfrm>
          <a:prstGeom prst="ellipse">
            <a:avLst/>
          </a:prstGeom>
          <a:solidFill>
            <a:schemeClr val="accent6"/>
          </a:solidFill>
          <a:ln/>
        </p:spPr>
      </p:sp>
      <p:pic>
        <p:nvPicPr>
          <p:cNvPr id="16" name="Image 2" descr="perisai">    </p:cNvPr>
          <p:cNvPicPr>
            <a:picLocks noChangeAspect="1"/>
          </p:cNvPicPr>
          <p:nvPr/>
        </p:nvPicPr>
        <p:blipFill>
          <a:blip r:embed="rId3"/>
          <a:stretch>
            <a:fillRect/>
          </a:stretch>
        </p:blipFill>
        <p:spPr>
          <a:xfrm>
            <a:off x="8537753" y="1751076"/>
            <a:ext cx="384048" cy="384048"/>
          </a:xfrm>
          <a:prstGeom prst="rect">
            <a:avLst/>
          </a:prstGeom>
        </p:spPr>
      </p:pic>
      <p:sp>
        <p:nvSpPr>
          <p:cNvPr id="17" name="Text 11"/>
          <p:cNvSpPr txBox="1"/>
          <p:nvPr/>
        </p:nvSpPr>
        <p:spPr>
          <a:xfrm>
            <a:off x="9209837"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Rilis dari dalam</a:t>
            </a:r>
            <a:endParaRPr lang="en-US" sz="1800" dirty="0"/>
          </a:p>
        </p:txBody>
      </p:sp>
      <p:sp>
        <p:nvSpPr>
          <p:cNvPr id="18" name="Text 12"/>
          <p:cNvSpPr txBox="1"/>
          <p:nvPr/>
        </p:nvSpPr>
        <p:spPr>
          <a:xfrm>
            <a:off x="8386877"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Jaring pengaman + pengganti layar merah; halaman Tentang; izin internet di manifest utama; tanpa kunci API, key.properties, *.jks di repositori.</a:t>
            </a:r>
            <a:endParaRPr lang="en-US" sz="1500" dirty="0"/>
          </a:p>
        </p:txBody>
      </p:sp>
      <p:sp>
        <p:nvSpPr>
          <p:cNvPr id="19" name="kartu 4"/>
          <p:cNvSpPr/>
          <p:nvPr/>
        </p:nvSpPr>
        <p:spPr>
          <a:xfrm>
            <a:off x="548640" y="3931920"/>
            <a:ext cx="3484778" cy="2286000"/>
          </a:xfrm>
          <a:prstGeom prst="roundRect">
            <a:avLst>
              <a:gd name="adj" fmla="val 4800"/>
            </a:avLst>
          </a:prstGeom>
          <a:solidFill>
            <a:schemeClr val="bg2"/>
          </a:solidFill>
          <a:ln/>
        </p:spPr>
      </p:sp>
      <p:sp>
        <p:nvSpPr>
          <p:cNvPr id="20" name="lingkaran unduh"/>
          <p:cNvSpPr/>
          <p:nvPr/>
        </p:nvSpPr>
        <p:spPr>
          <a:xfrm>
            <a:off x="777240" y="4160520"/>
            <a:ext cx="685800" cy="685800"/>
          </a:xfrm>
          <a:prstGeom prst="ellipse">
            <a:avLst/>
          </a:prstGeom>
          <a:solidFill>
            <a:schemeClr val="accent5"/>
          </a:solidFill>
          <a:ln/>
        </p:spPr>
      </p:sp>
      <p:pic>
        <p:nvPicPr>
          <p:cNvPr id="21" name="Image 3" descr="unduh">    </p:cNvPr>
          <p:cNvPicPr>
            <a:picLocks noChangeAspect="1"/>
          </p:cNvPicPr>
          <p:nvPr/>
        </p:nvPicPr>
        <p:blipFill>
          <a:blip r:embed="rId4"/>
          <a:stretch>
            <a:fillRect/>
          </a:stretch>
        </p:blipFill>
        <p:spPr>
          <a:xfrm>
            <a:off x="928116" y="4311396"/>
            <a:ext cx="384048" cy="384048"/>
          </a:xfrm>
          <a:prstGeom prst="rect">
            <a:avLst/>
          </a:prstGeom>
        </p:spPr>
      </p:pic>
      <p:sp>
        <p:nvSpPr>
          <p:cNvPr id="22" name="Text 15"/>
          <p:cNvSpPr txBox="1"/>
          <p:nvPr/>
        </p:nvSpPr>
        <p:spPr>
          <a:xfrm>
            <a:off x="1600200"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Berkas rilis</a:t>
            </a:r>
            <a:endParaRPr lang="en-US" sz="1800" dirty="0"/>
          </a:p>
        </p:txBody>
      </p:sp>
      <p:sp>
        <p:nvSpPr>
          <p:cNvPr id="23" name="Text 16"/>
          <p:cNvSpPr txBox="1"/>
          <p:nvPr/>
        </p:nvSpPr>
        <p:spPr>
          <a:xfrm>
            <a:off x="777240"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Minimal satu, keduanya lebih baik: web di GitHub Pages dan/atau APK di Releases (tag v1.0.0); sudah diuji: data internet, mode pesawat, tutup-buka.</a:t>
            </a:r>
            <a:endParaRPr lang="en-US" sz="1500" dirty="0"/>
          </a:p>
        </p:txBody>
      </p:sp>
      <p:sp>
        <p:nvSpPr>
          <p:cNvPr id="24" name="kartu 5"/>
          <p:cNvSpPr/>
          <p:nvPr/>
        </p:nvSpPr>
        <p:spPr>
          <a:xfrm>
            <a:off x="4353458" y="3931920"/>
            <a:ext cx="3484778" cy="2286000"/>
          </a:xfrm>
          <a:prstGeom prst="roundRect">
            <a:avLst>
              <a:gd name="adj" fmla="val 4800"/>
            </a:avLst>
          </a:prstGeom>
          <a:solidFill>
            <a:schemeClr val="bg2"/>
          </a:solidFill>
          <a:ln/>
        </p:spPr>
      </p:sp>
      <p:sp>
        <p:nvSpPr>
          <p:cNvPr id="25" name="lingkaran dokumen"/>
          <p:cNvSpPr/>
          <p:nvPr/>
        </p:nvSpPr>
        <p:spPr>
          <a:xfrm>
            <a:off x="4582058" y="4160520"/>
            <a:ext cx="685800" cy="685800"/>
          </a:xfrm>
          <a:prstGeom prst="ellipse">
            <a:avLst/>
          </a:prstGeom>
          <a:solidFill>
            <a:schemeClr val="accent4"/>
          </a:solidFill>
          <a:ln/>
        </p:spPr>
      </p:sp>
      <p:pic>
        <p:nvPicPr>
          <p:cNvPr id="26" name="Image 4" descr="dokumen">    </p:cNvPr>
          <p:cNvPicPr>
            <a:picLocks noChangeAspect="1"/>
          </p:cNvPicPr>
          <p:nvPr/>
        </p:nvPicPr>
        <p:blipFill>
          <a:blip r:embed="rId5"/>
          <a:stretch>
            <a:fillRect/>
          </a:stretch>
        </p:blipFill>
        <p:spPr>
          <a:xfrm>
            <a:off x="4732934" y="4311396"/>
            <a:ext cx="384048" cy="384048"/>
          </a:xfrm>
          <a:prstGeom prst="rect">
            <a:avLst/>
          </a:prstGeom>
        </p:spPr>
      </p:pic>
      <p:sp>
        <p:nvSpPr>
          <p:cNvPr id="27" name="Text 19"/>
          <p:cNvSpPr txBox="1"/>
          <p:nvPr/>
        </p:nvSpPr>
        <p:spPr>
          <a:xfrm>
            <a:off x="5405018"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Dokumen</a:t>
            </a:r>
            <a:endParaRPr lang="en-US" sz="1800" dirty="0"/>
          </a:p>
        </p:txBody>
      </p:sp>
      <p:sp>
        <p:nvSpPr>
          <p:cNvPr id="28" name="Text 20"/>
          <p:cNvSpPr txBox="1"/>
          <p:nvPr/>
        </p:nvSpPr>
        <p:spPr>
          <a:xfrm>
            <a:off x="4582058"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README.md final, CHANGELOG.md, KEBIJAKAN_PRIVASI.md; lisensi kode (opsional, diskusikan dengan tim).</a:t>
            </a:r>
            <a:endParaRPr lang="en-US" sz="1500" dirty="0"/>
          </a:p>
        </p:txBody>
      </p:sp>
      <p:sp>
        <p:nvSpPr>
          <p:cNvPr id="29" name="kartu 6"/>
          <p:cNvSpPr/>
          <p:nvPr/>
        </p:nvSpPr>
        <p:spPr>
          <a:xfrm>
            <a:off x="8158277" y="3931920"/>
            <a:ext cx="3484778" cy="2286000"/>
          </a:xfrm>
          <a:prstGeom prst="roundRect">
            <a:avLst>
              <a:gd name="adj" fmla="val 4800"/>
            </a:avLst>
          </a:prstGeom>
          <a:solidFill>
            <a:schemeClr val="bg2"/>
          </a:solidFill>
          <a:ln/>
        </p:spPr>
      </p:sp>
      <p:sp>
        <p:nvSpPr>
          <p:cNvPr id="30" name="lingkaran kode"/>
          <p:cNvSpPr/>
          <p:nvPr/>
        </p:nvSpPr>
        <p:spPr>
          <a:xfrm>
            <a:off x="8386877" y="4160520"/>
            <a:ext cx="685800" cy="685800"/>
          </a:xfrm>
          <a:prstGeom prst="ellipse">
            <a:avLst/>
          </a:prstGeom>
          <a:solidFill>
            <a:schemeClr val="accent3"/>
          </a:solidFill>
          <a:ln/>
        </p:spPr>
      </p:sp>
      <p:pic>
        <p:nvPicPr>
          <p:cNvPr id="31" name="Image 5" descr="kode">    </p:cNvPr>
          <p:cNvPicPr>
            <a:picLocks noChangeAspect="1"/>
          </p:cNvPicPr>
          <p:nvPr/>
        </p:nvPicPr>
        <p:blipFill>
          <a:blip r:embed="rId6"/>
          <a:stretch>
            <a:fillRect/>
          </a:stretch>
        </p:blipFill>
        <p:spPr>
          <a:xfrm>
            <a:off x="8537753" y="4311396"/>
            <a:ext cx="384048" cy="384048"/>
          </a:xfrm>
          <a:prstGeom prst="rect">
            <a:avLst/>
          </a:prstGeom>
        </p:spPr>
      </p:pic>
      <p:sp>
        <p:nvSpPr>
          <p:cNvPr id="32" name="Text 23"/>
          <p:cNvSpPr txBox="1"/>
          <p:nvPr/>
        </p:nvSpPr>
        <p:spPr>
          <a:xfrm>
            <a:off x="9209837"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Bantuan memeriksa</a:t>
            </a:r>
            <a:endParaRPr lang="en-US" sz="1800" dirty="0"/>
          </a:p>
        </p:txBody>
      </p:sp>
      <p:sp>
        <p:nvSpPr>
          <p:cNvPr id="33" name="Text 24"/>
          <p:cNvSpPr txBox="1"/>
          <p:nvPr/>
        </p:nvSpPr>
        <p:spPr>
          <a:xfrm>
            <a:off x="8386877"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Salin isi pubspec.yaml, AndroidManifest.xml, build.gradle.kts, dan android/.gitignore ke Contoh 06, lalu jalankan.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Daftar Periksa sebagai Program: Contoh 06</a:t>
            </a:r>
            <a:endParaRPr lang="en-US" sz="3200" dirty="0"/>
          </a:p>
        </p:txBody>
      </p:sp>
      <p:sp>
        <p:nvSpPr>
          <p:cNvPr id="4" name="kotak kode"/>
          <p:cNvSpPr txBox="1"/>
          <p:nvPr/>
        </p:nvSpPr>
        <p:spPr>
          <a:xfrm>
            <a:off x="548640" y="1371600"/>
            <a:ext cx="7223760" cy="3355848"/>
          </a:xfrm>
          <a:prstGeom prst="roundRect">
            <a:avLst>
              <a:gd name="adj" fmla="val 2725"/>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Tugas Kuliahku: sebelum dirapikan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[OK]    Nomor versi lengkap (</a:t>
            </a:r>
            <a:r>
              <a:rPr lang="en-US" sz="1150" dirty="0">
                <a:solidFill>
                  <a:srgbClr val="F78C6C"/>
                </a:solidFill>
                <a:latin typeface="Consolas" pitchFamily="34" charset="0"/>
                <a:ea typeface="Consolas" pitchFamily="34" charset="-122"/>
                <a:cs typeface="Consolas" pitchFamily="34" charset="-120"/>
              </a:rPr>
              <a:t>1.0.0</a:t>
            </a:r>
            <a:r>
              <a:rPr lang="en-US" sz="1150" dirty="0">
                <a:solidFill>
                  <a:srgbClr val="E6EDF3"/>
                </a:solidFill>
                <a:latin typeface="Consolas" pitchFamily="34" charset="0"/>
                <a:ea typeface="Consolas" pitchFamily="34" charset="-122"/>
                <a:cs typeface="Consolas" pitchFamily="34" charset="-120"/>
              </a:rPr>
              <a:t>+</a:t>
            </a:r>
            <a:r>
              <a:rPr lang="en-US" sz="1150" dirty="0">
                <a:solidFill>
                  <a:srgbClr val="F78C6C"/>
                </a:solidFill>
                <a:latin typeface="Consolas" pitchFamily="34" charset="0"/>
                <a:ea typeface="Consolas" pitchFamily="34" charset="-122"/>
                <a:cs typeface="Consolas" pitchFamily="34" charset="-120"/>
              </a:rPr>
              <a:t>1</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[SARAN] Deskripsi pubspec masih bawaan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[WAJIB] Izin INTERNET belum ada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[SARAN] Nama di HP masih </a:t>
            </a:r>
            <a:r>
              <a:rPr lang="en-US" sz="1150" dirty="0">
                <a:solidFill>
                  <a:srgbClr val="C3E88D"/>
                </a:solidFill>
                <a:latin typeface="Consolas" pitchFamily="34" charset="0"/>
                <a:ea typeface="Consolas" pitchFamily="34" charset="-122"/>
                <a:cs typeface="Consolas" pitchFamily="34" charset="-120"/>
              </a:rPr>
              <a:t>"tugas_kuliahku"</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[WAJIB] applicationId masih com.example.tugas_kuliahku</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[SARAN] Rilis masih memakai kunci debug</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[SARAN] Judul tab web masih </a:t>
            </a:r>
            <a:r>
              <a:rPr lang="en-US" sz="1150" dirty="0">
                <a:solidFill>
                  <a:srgbClr val="C3E88D"/>
                </a:solidFill>
                <a:latin typeface="Consolas" pitchFamily="34" charset="0"/>
                <a:ea typeface="Consolas" pitchFamily="34" charset="-122"/>
                <a:cs typeface="Consolas" pitchFamily="34" charset="-120"/>
              </a:rPr>
              <a:t>"tugas_kuliahku"</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[WAJIB] Kunci unggah bisa ter-commit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[WAJIB] Ada kunci rahasia di lib/config/kunci.dart:</a:t>
            </a:r>
            <a:r>
              <a:rPr lang="en-US" sz="1150" dirty="0">
                <a:solidFill>
                  <a:srgbClr val="F78C6C"/>
                </a:solidFill>
                <a:latin typeface="Consolas" pitchFamily="34" charset="0"/>
                <a:ea typeface="Consolas" pitchFamily="34" charset="-122"/>
                <a:cs typeface="Consolas" pitchFamily="34" charset="-120"/>
              </a:rPr>
              <a:t>2</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[SARAN] Ada print() di lib/data/services/layanan_dummy_json.dart:</a:t>
            </a:r>
            <a:r>
              <a:rPr lang="en-US" sz="1150" dirty="0">
                <a:solidFill>
                  <a:srgbClr val="F78C6C"/>
                </a:solidFill>
                <a:latin typeface="Consolas" pitchFamily="34" charset="0"/>
                <a:ea typeface="Consolas" pitchFamily="34" charset="-122"/>
                <a:cs typeface="Consolas" pitchFamily="34" charset="-120"/>
              </a:rPr>
              <a:t>2</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Hasil: </a:t>
            </a:r>
            <a:r>
              <a:rPr lang="en-US" sz="1150" dirty="0">
                <a:solidFill>
                  <a:srgbClr val="F78C6C"/>
                </a:solidFill>
                <a:latin typeface="Consolas" pitchFamily="34" charset="0"/>
                <a:ea typeface="Consolas" pitchFamily="34" charset="-122"/>
                <a:cs typeface="Consolas" pitchFamily="34" charset="-120"/>
              </a:rPr>
              <a:t>4</a:t>
            </a:r>
            <a:r>
              <a:rPr lang="en-US" sz="1150" dirty="0">
                <a:solidFill>
                  <a:srgbClr val="E6EDF3"/>
                </a:solidFill>
                <a:latin typeface="Consolas" pitchFamily="34" charset="0"/>
                <a:ea typeface="Consolas" pitchFamily="34" charset="-122"/>
                <a:cs typeface="Consolas" pitchFamily="34" charset="-120"/>
              </a:rPr>
              <a:t> wajib, </a:t>
            </a:r>
            <a:r>
              <a:rPr lang="en-US" sz="1150" dirty="0">
                <a:solidFill>
                  <a:srgbClr val="F78C6C"/>
                </a:solidFill>
                <a:latin typeface="Consolas" pitchFamily="34" charset="0"/>
                <a:ea typeface="Consolas" pitchFamily="34" charset="-122"/>
                <a:cs typeface="Consolas" pitchFamily="34" charset="-120"/>
              </a:rPr>
              <a:t>5</a:t>
            </a:r>
            <a:r>
              <a:rPr lang="en-US" sz="1150" dirty="0">
                <a:solidFill>
                  <a:srgbClr val="E6EDF3"/>
                </a:solidFill>
                <a:latin typeface="Consolas" pitchFamily="34" charset="0"/>
                <a:ea typeface="Consolas" pitchFamily="34" charset="-122"/>
                <a:cs typeface="Consolas" pitchFamily="34" charset="-120"/>
              </a:rPr>
              <a:t> saran -&gt; BELUM SIAP RILIS</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Tugas Kuliahku: sesudah dirapikan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(sepuluh baris [OK])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Hasil: </a:t>
            </a:r>
            <a:r>
              <a:rPr lang="en-US" sz="1150" dirty="0">
                <a:solidFill>
                  <a:srgbClr val="F78C6C"/>
                </a:solidFill>
                <a:latin typeface="Consolas" pitchFamily="34" charset="0"/>
                <a:ea typeface="Consolas" pitchFamily="34" charset="-122"/>
                <a:cs typeface="Consolas" pitchFamily="34" charset="-120"/>
              </a:rPr>
              <a:t>0</a:t>
            </a:r>
            <a:r>
              <a:rPr lang="en-US" sz="1150" dirty="0">
                <a:solidFill>
                  <a:srgbClr val="E6EDF3"/>
                </a:solidFill>
                <a:latin typeface="Consolas" pitchFamily="34" charset="0"/>
                <a:ea typeface="Consolas" pitchFamily="34" charset="-122"/>
                <a:cs typeface="Consolas" pitchFamily="34" charset="-120"/>
              </a:rPr>
              <a:t> wajib, </a:t>
            </a:r>
            <a:r>
              <a:rPr lang="en-US" sz="1150" dirty="0">
                <a:solidFill>
                  <a:srgbClr val="F78C6C"/>
                </a:solidFill>
                <a:latin typeface="Consolas" pitchFamily="34" charset="0"/>
                <a:ea typeface="Consolas" pitchFamily="34" charset="-122"/>
                <a:cs typeface="Consolas" pitchFamily="34" charset="-120"/>
              </a:rPr>
              <a:t>0</a:t>
            </a:r>
            <a:r>
              <a:rPr lang="en-US" sz="1150" dirty="0">
                <a:solidFill>
                  <a:srgbClr val="E6EDF3"/>
                </a:solidFill>
                <a:latin typeface="Consolas" pitchFamily="34" charset="0"/>
                <a:ea typeface="Consolas" pitchFamily="34" charset="-122"/>
                <a:cs typeface="Consolas" pitchFamily="34" charset="-120"/>
              </a:rPr>
              <a:t> saran -&gt; SIAP RILIS</a:t>
            </a:r>
            <a:endParaRPr lang="en-US" sz="1150" dirty="0"/>
          </a:p>
        </p:txBody>
      </p:sp>
      <p:sp>
        <p:nvSpPr>
          <p:cNvPr id="5" name="tombol tautan">
            <a:hlinkClick r:id="rId1" tooltip="https://github.com/antonprafanto/mobile2026/blob/main/pertemuan_15_build_rilis_dan_finalisasi/kode/contoh_06_pemeriksa_kesiapan_rilis_dart_murni.dart"/>
          </p:cNvPr>
          <p:cNvSpPr txBox="1"/>
          <p:nvPr/>
        </p:nvSpPr>
        <p:spPr>
          <a:xfrm>
            <a:off x="548640" y="4956048"/>
            <a:ext cx="72237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contoh_06_pemeriksa_kesiapan_rilis_dart_murni.dart</a:t>
            </a:r>
            <a:endParaRPr lang="en-US" sz="1300" dirty="0"/>
          </a:p>
        </p:txBody>
      </p:sp>
      <p:pic>
        <p:nvPicPr>
          <p:cNvPr id="6" name="Image 0" descr="ikon tautan">
            <a:hlinkClick r:id="rId3" tooltip="https://github.com/antonprafanto/mobile2026/blob/main/pertemuan_15_build_rilis_dan_finalisasi/kode/contoh_06_pemeriksa_kesiapan_rilis_dart_murni.dart"/>
          </p:cNvPr>
          <p:cNvPicPr>
            <a:picLocks noChangeAspect="1"/>
          </p:cNvPicPr>
          <p:nvPr/>
        </p:nvPicPr>
        <p:blipFill>
          <a:blip r:embed="rId2"/>
          <a:stretch>
            <a:fillRect/>
          </a:stretch>
        </p:blipFill>
        <p:spPr>
          <a:xfrm>
            <a:off x="694944" y="5047488"/>
            <a:ext cx="274320" cy="274320"/>
          </a:xfrm>
          <a:prstGeom prst="rect">
            <a:avLst/>
          </a:prstGeom>
        </p:spPr>
      </p:pic>
      <p:sp>
        <p:nvSpPr>
          <p:cNvPr id="7" name="daftar poin"/>
          <p:cNvSpPr txBox="1"/>
          <p:nvPr/>
        </p:nvSpPr>
        <p:spPr>
          <a:xfrm>
            <a:off x="8183880" y="1417320"/>
            <a:ext cx="34591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Isi berkas proyek disimpan sebagai teks (Map: nama berkas → isi).</a:t>
            </a:r>
            <a:endParaRPr lang="en-US" sz="1700" dirty="0"/>
          </a:p>
          <a:p>
            <a:pPr marL="228600" indent="-228600">
              <a:spcAft>
                <a:spcPts val="800"/>
              </a:spcAft>
              <a:buSzPct val="100000"/>
              <a:buChar char="•"/>
            </a:pPr>
            <a:r>
              <a:rPr lang="en-US" sz="1700" dirty="0">
                <a:solidFill>
                  <a:schemeClr val="tx1"/>
                </a:solidFill>
              </a:rPr>
              <a:t>Setiap pemeriksaan melapor OK, SARAN, atau WAJIB.</a:t>
            </a:r>
            <a:endParaRPr lang="en-US" sz="1700" dirty="0"/>
          </a:p>
          <a:p>
            <a:pPr marL="228600" indent="-228600">
              <a:spcAft>
                <a:spcPts val="800"/>
              </a:spcAft>
              <a:buSzPct val="100000"/>
              <a:buChar char="•"/>
            </a:pPr>
            <a:r>
              <a:rPr lang="en-US" sz="1700" dirty="0">
                <a:solidFill>
                  <a:schemeClr val="tx1"/>
                </a:solidFill>
              </a:rPr>
              <a:t>Daftar yang sering terlupa kini tidak bergantung pada ingatan.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README Final dan Catatan Perubahan</a:t>
            </a:r>
            <a:endParaRPr lang="en-US" sz="3200" dirty="0"/>
          </a:p>
        </p:txBody>
      </p:sp>
      <p:sp>
        <p:nvSpPr>
          <p:cNvPr id="4" name="kotak kode"/>
          <p:cNvSpPr txBox="1"/>
          <p:nvPr/>
        </p:nvSpPr>
        <p:spPr>
          <a:xfrm>
            <a:off x="548640" y="1371600"/>
            <a:ext cx="6400800" cy="3211830"/>
          </a:xfrm>
          <a:prstGeom prst="roundRect">
            <a:avLst>
              <a:gd name="adj" fmla="val 2847"/>
            </a:avLst>
          </a:prstGeom>
          <a:solidFill>
            <a:srgbClr val="0E1A2B"/>
          </a:solidFill>
          <a:ln/>
        </p:spPr>
        <p:txBody>
          <a:bodyPr wrap="square" lIns="177800" tIns="152400" rIns="152400" bIns="177800" rtlCol="0" anchor="t"/>
          <a:lstStyle/>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Catatan Perubahan</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[1.0.1] - 2026-12-10</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Diperbaiki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Tombol simpan tidak lagi macet saat judul tugas kosong.</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[1.0.0] - 2026-12-03</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Ditambahkan</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Daftar tugas dari server DummyJSON, tersimpan di perangkat.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Halaman Tentang beserta kebijakan privasi.</a:t>
            </a:r>
            <a:endParaRPr lang="en-US" sz="1250" dirty="0"/>
          </a:p>
        </p:txBody>
      </p:sp>
      <p:sp>
        <p:nvSpPr>
          <p:cNvPr id="5" name="tombol tautan">
            <a:hlinkClick r:id="rId1" tooltip="https://github.com/antonprafanto/mobile2026/blob/main/pertemuan_15_build_rilis_dan_finalisasi/templat/CHANGELOG.md"/>
          </p:cNvPr>
          <p:cNvSpPr txBox="1"/>
          <p:nvPr/>
        </p:nvSpPr>
        <p:spPr>
          <a:xfrm>
            <a:off x="548640" y="4812030"/>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CHANGELOG.md</a:t>
            </a:r>
            <a:endParaRPr lang="en-US" sz="1300" dirty="0"/>
          </a:p>
        </p:txBody>
      </p:sp>
      <p:pic>
        <p:nvPicPr>
          <p:cNvPr id="6" name="Image 0" descr="ikon tautan">
            <a:hlinkClick r:id="rId3" tooltip="https://github.com/antonprafanto/mobile2026/blob/main/pertemuan_15_build_rilis_dan_finalisasi/templat/CHANGELOG.md"/>
          </p:cNvPr>
          <p:cNvPicPr>
            <a:picLocks noChangeAspect="1"/>
          </p:cNvPicPr>
          <p:nvPr/>
        </p:nvPicPr>
        <p:blipFill>
          <a:blip r:embed="rId2"/>
          <a:stretch>
            <a:fillRect/>
          </a:stretch>
        </p:blipFill>
        <p:spPr>
          <a:xfrm>
            <a:off x="694944" y="4903470"/>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README.md = halaman depan proyek: judul, "Coba sekarang" (web + .../releases/latest), 3–5 tangkapan layar, fitur, tim, atribusi, cara menjalankan, pengujian, arsitektur, privasi.</a:t>
            </a:r>
            <a:endParaRPr lang="en-US" sz="1700" dirty="0"/>
          </a:p>
          <a:p>
            <a:pPr marL="228600" indent="-228600">
              <a:spcAft>
                <a:spcPts val="800"/>
              </a:spcAft>
              <a:buSzPct val="100000"/>
              <a:buChar char="•"/>
            </a:pPr>
            <a:r>
              <a:rPr lang="en-US" sz="1700" dirty="0">
                <a:solidFill>
                  <a:schemeClr val="tx1"/>
                </a:solidFill>
              </a:rPr>
              <a:t>CHANGELOG.md untuk MANUSIA, bukan daftar commit: Ditambahkan, Diubah, Diperbaiki, Dihapus; terbaru di atas.</a:t>
            </a:r>
            <a:endParaRPr lang="en-US" sz="1700" dirty="0"/>
          </a:p>
          <a:p>
            <a:pPr marL="228600" indent="-228600">
              <a:spcAft>
                <a:spcPts val="800"/>
              </a:spcAft>
              <a:buSzPct val="100000"/>
              <a:buChar char="•"/>
            </a:pPr>
            <a:r>
              <a:rPr lang="en-US" sz="1700" dirty="0">
                <a:solidFill>
                  <a:schemeClr val="tx1"/>
                </a:solidFill>
              </a:rPr>
              <a:t>KEBIJAKAN_PRIVASI.md: sesuai kenyataan; ditautkan dari README dan halaman Tentang.</a:t>
            </a:r>
            <a:endParaRPr lang="en-US" sz="1700" dirty="0"/>
          </a:p>
          <a:p>
            <a:pPr marL="228600" indent="-228600">
              <a:spcAft>
                <a:spcPts val="800"/>
              </a:spcAft>
              <a:buSzPct val="100000"/>
              <a:buChar char="•"/>
            </a:pPr>
            <a:r>
              <a:rPr lang="en-US" sz="1700" dirty="0">
                <a:solidFill>
                  <a:schemeClr val="tx1"/>
                </a:solidFill>
              </a:rPr>
              <a:t>Tanpa berkas LICENSE, kode secara hukum "semua hak dilindungi".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Persiapan Demo UAS (Pertemuan 16)</a:t>
            </a:r>
            <a:endParaRPr lang="en-US" sz="32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51227"/>
                <a:gridCol w="6143189"/>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Siapkan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Mengapa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APK sudah TERPASANG di HP yang akan dipakai demo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Memasang saat demo membuang waktu dan bisa gagal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Tautan versi web sudah dicoba dari HP dan laptop lain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Jaringan dan browser di ruang ujian bisa berbeda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Video demo cadangan 1–3 menit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Jika jaringan atau perangkat bermasalah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Data contoh yang rapi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Data uji bernama "asdf" atau "tes123" mengganggu kesan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Uji mode pesawat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Penguji sering bertanya, "Kalau internetnya mati bagaimana?"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Cadangan data palsu (LINGKUNGAN=pengembangan)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Jika API sedang bermasalah tepat saat demo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Alur demo 5–7 menit sudah dilatih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Waktu terbatas; alur yang dilatih tidak tersendat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Setiap anggota tahu bagian kodenya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Bagian kode yang tidak bisa dijelaskan tidak dinilai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593052"/>
                <a:gridCol w="5501363"/>
              </a:tblGrid>
              <a:tr h="4297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Gejala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Solusi</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APK rilis tidak bisa memuat data internet</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Izin INTERNET di android/app/src/main/AndroidManifest.xml</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GitHub Pages hanya putih, galat 404</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--base-href "/nama-repositori/", atau pakai templat/web.yml</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build/web/index.html diklik dua kali: kosong</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dhttpd --path build/web, buka localhost:8080</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Memperbarui gagal: "paket bentrok"</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Tanda tangan berbeda: hapus versi lama; pakai kunci unggah yang sama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Robot/teman gagal build: keystore, signing config</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Pola "kunci rilis jika ada, kunci debug jika tidak"</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key.properties atau .jks muncul di git status</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Simpan di luar proyek; git check-ignore -v</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Berkas .aab tidak bisa dipasang di HP</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AAB untuk Google Play; bagikan APK</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Cek pembaruan: 1.10.0 lebih lama dari 1.9.0</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Bandingkan per bagian sebagai angka</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150" dirty="0">
                          <a:solidFill>
                            <a:srgbClr val="1B2333"/>
                          </a:solidFill>
                          <a:latin typeface="Consolas" pitchFamily="34" charset="0"/>
                          <a:ea typeface="Consolas" pitchFamily="34" charset="-122"/>
                          <a:cs typeface="Consolas" pitchFamily="34" charset="-120"/>
                        </a:rPr>
                        <a:t>String.fromEnvironment can only be used as a const constructor</a:t>
                      </a:r>
                      <a:endParaRPr lang="en-US" sz="115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Tambahkan const</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Tag sudah dibuat, rilis.yml tidak jalan</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50" dirty="0">
                          <a:solidFill>
                            <a:srgbClr val="1B2333"/>
                          </a:solidFill>
                          <a:latin typeface="Calibri" pitchFamily="34" charset="0"/>
                          <a:ea typeface="Calibri" pitchFamily="34" charset="-122"/>
                          <a:cs typeface="Calibri" pitchFamily="34" charset="-120"/>
                        </a:rPr>
                        <a:t>git push origin v1.0.0; nama diawali v</a:t>
                      </a:r>
                      <a:endParaRPr lang="en-US" sz="135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886968"/>
          </a:xfrm>
          <a:prstGeom prst="rect">
            <a:avLst/>
          </a:prstGeom>
          <a:noFill/>
          <a:ln/>
        </p:spPr>
        <p:txBody>
          <a:bodyPr wrap="square" lIns="0" tIns="0" rIns="0" bIns="0" rtlCol="0" anchor="t"/>
          <a:lstStyle/>
          <a:p>
            <a:pPr indent="0" marL="0">
              <a:buNone/>
            </a:pPr>
            <a:r>
              <a:rPr lang="en-US" sz="1700" dirty="0">
                <a:solidFill>
                  <a:schemeClr val="tx1"/>
                </a:solidFill>
              </a:rPr>
              <a:t>Rilis bukan sekadar menjalankan: build rilis lebih kecil dan cepat, tanpa hot reload, assert dilewati, layar merah jadi abu-abu. Uji build rilis sendiri.</a:t>
            </a:r>
            <a:endParaRPr lang="en-US" sz="1700" dirty="0"/>
          </a:p>
        </p:txBody>
      </p:sp>
      <p:sp>
        <p:nvSpPr>
          <p:cNvPr id="6" name="Text 3"/>
          <p:cNvSpPr txBox="1"/>
          <p:nvPr/>
        </p:nvSpPr>
        <p:spPr>
          <a:xfrm>
            <a:off x="548640" y="23957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350008"/>
            <a:ext cx="4632808" cy="886968"/>
          </a:xfrm>
          <a:prstGeom prst="rect">
            <a:avLst/>
          </a:prstGeom>
          <a:noFill/>
          <a:ln/>
        </p:spPr>
        <p:txBody>
          <a:bodyPr wrap="square" lIns="0" tIns="0" rIns="0" bIns="0" rtlCol="0" anchor="t"/>
          <a:lstStyle/>
          <a:p>
            <a:pPr indent="0" marL="0">
              <a:buNone/>
            </a:pPr>
            <a:r>
              <a:rPr lang="en-US" sz="1700" dirty="0">
                <a:solidFill>
                  <a:schemeClr val="tx1"/>
                </a:solidFill>
              </a:rPr>
              <a:t>kDebugMode konstanta waktu kompilasi: isi if (kDebugMode) dibuang. debugPrint tidak hilang sendiri.</a:t>
            </a:r>
            <a:endParaRPr lang="en-US" sz="1700" dirty="0"/>
          </a:p>
        </p:txBody>
      </p:sp>
      <p:sp>
        <p:nvSpPr>
          <p:cNvPr id="8" name="Text 5"/>
          <p:cNvSpPr txBox="1"/>
          <p:nvPr/>
        </p:nvSpPr>
        <p:spPr>
          <a:xfrm>
            <a:off x="548640" y="3374136"/>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328416"/>
            <a:ext cx="4632808" cy="886968"/>
          </a:xfrm>
          <a:prstGeom prst="rect">
            <a:avLst/>
          </a:prstGeom>
          <a:noFill/>
          <a:ln/>
        </p:spPr>
        <p:txBody>
          <a:bodyPr wrap="square" lIns="0" tIns="0" rIns="0" bIns="0" rtlCol="0" anchor="t"/>
          <a:lstStyle/>
          <a:p>
            <a:pPr indent="0" marL="0">
              <a:buNone/>
            </a:pPr>
            <a:r>
              <a:rPr lang="en-US" sz="1700" dirty="0">
                <a:solidFill>
                  <a:schemeClr val="tx1"/>
                </a:solidFill>
              </a:rPr>
              <a:t>--dart-define + const fromEnvironment: bawaan aman, tolak salah ketik, bukan tempat rahasia.</a:t>
            </a:r>
            <a:endParaRPr lang="en-US" sz="1700" dirty="0"/>
          </a:p>
        </p:txBody>
      </p:sp>
      <p:sp>
        <p:nvSpPr>
          <p:cNvPr id="10" name="Text 7"/>
          <p:cNvSpPr txBox="1"/>
          <p:nvPr/>
        </p:nvSpPr>
        <p:spPr>
          <a:xfrm>
            <a:off x="548640" y="4352544"/>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306824"/>
            <a:ext cx="4632808" cy="886968"/>
          </a:xfrm>
          <a:prstGeom prst="rect">
            <a:avLst/>
          </a:prstGeom>
          <a:noFill/>
          <a:ln/>
        </p:spPr>
        <p:txBody>
          <a:bodyPr wrap="square" lIns="0" tIns="0" rIns="0" bIns="0" rtlCol="0" anchor="t"/>
          <a:lstStyle/>
          <a:p>
            <a:pPr indent="0" marL="0">
              <a:buNone/>
            </a:pPr>
            <a:r>
              <a:rPr lang="en-US" sz="1700" dirty="0">
                <a:solidFill>
                  <a:schemeClr val="tx1"/>
                </a:solidFill>
              </a:rPr>
              <a:t>Identitas: nama tampilan, applicationId unik dan permanen, version MAYOR.MINOR.PATCH+BUILD.</a:t>
            </a:r>
            <a:endParaRPr lang="en-US" sz="1700" dirty="0"/>
          </a:p>
        </p:txBody>
      </p:sp>
      <p:sp>
        <p:nvSpPr>
          <p:cNvPr id="12" name="Text 9"/>
          <p:cNvSpPr txBox="1"/>
          <p:nvPr/>
        </p:nvSpPr>
        <p:spPr>
          <a:xfrm>
            <a:off x="548640" y="533095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1234440" y="5285232"/>
            <a:ext cx="4632808" cy="886968"/>
          </a:xfrm>
          <a:prstGeom prst="rect">
            <a:avLst/>
          </a:prstGeom>
          <a:noFill/>
          <a:ln/>
        </p:spPr>
        <p:txBody>
          <a:bodyPr wrap="square" lIns="0" tIns="0" rIns="0" bIns="0" rtlCol="0" anchor="t"/>
          <a:lstStyle/>
          <a:p>
            <a:pPr indent="0" marL="0">
              <a:buNone/>
            </a:pPr>
            <a:r>
              <a:rPr lang="en-US" sz="1700" dirty="0">
                <a:solidFill>
                  <a:schemeClr val="tx1"/>
                </a:solidFill>
              </a:rPr>
              <a:t>Ikon adaptif (flutter_launcher_icons) dan layar pembuka (flutter_native_splash): dev dependency.</a:t>
            </a:r>
            <a:endParaRPr lang="en-US" sz="1700" dirty="0"/>
          </a:p>
        </p:txBody>
      </p:sp>
      <p:sp>
        <p:nvSpPr>
          <p:cNvPr id="14" name="Text 11"/>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1371600"/>
            <a:ext cx="4632808" cy="886968"/>
          </a:xfrm>
          <a:prstGeom prst="rect">
            <a:avLst/>
          </a:prstGeom>
          <a:noFill/>
          <a:ln/>
        </p:spPr>
        <p:txBody>
          <a:bodyPr wrap="square" lIns="0" tIns="0" rIns="0" bIns="0" rtlCol="0" anchor="t"/>
          <a:lstStyle/>
          <a:p>
            <a:pPr indent="0" marL="0">
              <a:buNone/>
            </a:pPr>
            <a:r>
              <a:rPr lang="en-US" sz="1700" dirty="0">
                <a:solidFill>
                  <a:schemeClr val="tx1"/>
                </a:solidFill>
              </a:rPr>
              <a:t>Galat diduga → pesan ramah; bug → jaring pengaman + laporan tanpa data pribadi + ErrorWidget.builder.</a:t>
            </a:r>
            <a:endParaRPr lang="en-US" sz="1700" dirty="0"/>
          </a:p>
        </p:txBody>
      </p:sp>
      <p:sp>
        <p:nvSpPr>
          <p:cNvPr id="16" name="Text 13"/>
          <p:cNvSpPr txBox="1"/>
          <p:nvPr/>
        </p:nvSpPr>
        <p:spPr>
          <a:xfrm>
            <a:off x="6324448" y="23957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2350008"/>
            <a:ext cx="4632808" cy="886968"/>
          </a:xfrm>
          <a:prstGeom prst="rect">
            <a:avLst/>
          </a:prstGeom>
          <a:noFill/>
          <a:ln/>
        </p:spPr>
        <p:txBody>
          <a:bodyPr wrap="square" lIns="0" tIns="0" rIns="0" bIns="0" rtlCol="0" anchor="t"/>
          <a:lstStyle/>
          <a:p>
            <a:pPr indent="0" marL="0">
              <a:buNone/>
            </a:pPr>
            <a:r>
              <a:rPr lang="en-US" sz="1700" dirty="0">
                <a:solidFill>
                  <a:schemeClr val="tx1"/>
                </a:solidFill>
              </a:rPr>
              <a:t>Jujur tentang diri: versi, atribusi, kebijakan privasi (wajib), lisensi (showLicensePage).</a:t>
            </a:r>
            <a:endParaRPr lang="en-US" sz="1700" dirty="0"/>
          </a:p>
        </p:txBody>
      </p:sp>
      <p:sp>
        <p:nvSpPr>
          <p:cNvPr id="18" name="Text 15"/>
          <p:cNvSpPr txBox="1"/>
          <p:nvPr/>
        </p:nvSpPr>
        <p:spPr>
          <a:xfrm>
            <a:off x="6324448" y="3374136"/>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3328416"/>
            <a:ext cx="4632808" cy="886968"/>
          </a:xfrm>
          <a:prstGeom prst="rect">
            <a:avLst/>
          </a:prstGeom>
          <a:noFill/>
          <a:ln/>
        </p:spPr>
        <p:txBody>
          <a:bodyPr wrap="square" lIns="0" tIns="0" rIns="0" bIns="0" rtlCol="0" anchor="t"/>
          <a:lstStyle/>
          <a:p>
            <a:pPr indent="0" marL="0">
              <a:buNone/>
            </a:pPr>
            <a:r>
              <a:rPr lang="en-US" sz="1700" dirty="0">
                <a:solidFill>
                  <a:schemeClr val="tx1"/>
                </a:solidFill>
              </a:rPr>
              <a:t>Web: build/web, dhttpd, GitHub Pages + --base-href. Android: APK/AAB, kunci unggah, jangan di-commit.</a:t>
            </a:r>
            <a:endParaRPr lang="en-US" sz="1700" dirty="0"/>
          </a:p>
        </p:txBody>
      </p:sp>
      <p:sp>
        <p:nvSpPr>
          <p:cNvPr id="20" name="Text 17"/>
          <p:cNvSpPr txBox="1"/>
          <p:nvPr/>
        </p:nvSpPr>
        <p:spPr>
          <a:xfrm>
            <a:off x="6324448" y="4352544"/>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1" name="Text 18"/>
          <p:cNvSpPr txBox="1"/>
          <p:nvPr/>
        </p:nvSpPr>
        <p:spPr>
          <a:xfrm>
            <a:off x="7010248" y="4306824"/>
            <a:ext cx="4632808" cy="886968"/>
          </a:xfrm>
          <a:prstGeom prst="rect">
            <a:avLst/>
          </a:prstGeom>
          <a:noFill/>
          <a:ln/>
        </p:spPr>
        <p:txBody>
          <a:bodyPr wrap="square" lIns="0" tIns="0" rIns="0" bIns="0" rtlCol="0" anchor="t"/>
          <a:lstStyle/>
          <a:p>
            <a:pPr indent="0" marL="0">
              <a:buNone/>
            </a:pPr>
            <a:r>
              <a:rPr lang="en-US" sz="1700" dirty="0">
                <a:solidFill>
                  <a:schemeClr val="tx1"/>
                </a:solidFill>
              </a:rPr>
              <a:t>Tag v1.0.0 → rilis.yml → GitHub Releases. Cek pembaruan: terbaru, disarankan, wajib; jangan menghalangi.</a:t>
            </a:r>
            <a:endParaRPr lang="en-US" sz="1700" dirty="0"/>
          </a:p>
        </p:txBody>
      </p:sp>
      <p:sp>
        <p:nvSpPr>
          <p:cNvPr id="22" name="Text 19"/>
          <p:cNvSpPr txBox="1"/>
          <p:nvPr/>
        </p:nvSpPr>
        <p:spPr>
          <a:xfrm>
            <a:off x="6324448" y="533095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23" name="Text 20"/>
          <p:cNvSpPr txBox="1"/>
          <p:nvPr/>
        </p:nvSpPr>
        <p:spPr>
          <a:xfrm>
            <a:off x="7010248" y="5285232"/>
            <a:ext cx="4632808" cy="886968"/>
          </a:xfrm>
          <a:prstGeom prst="rect">
            <a:avLst/>
          </a:prstGeom>
          <a:noFill/>
          <a:ln/>
        </p:spPr>
        <p:txBody>
          <a:bodyPr wrap="square" lIns="0" tIns="0" rIns="0" bIns="0" rtlCol="0" anchor="t"/>
          <a:lstStyle/>
          <a:p>
            <a:pPr indent="0" marL="0">
              <a:buNone/>
            </a:pPr>
            <a:r>
              <a:rPr lang="en-US" sz="1700" dirty="0">
                <a:solidFill>
                  <a:schemeClr val="tx1"/>
                </a:solidFill>
              </a:rPr>
              <a:t>Ukuran, kecepatan, keamanan; Google Play dan App Store; finalisasi: daftar periksa, README, CHANGELOG, demo.</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Alat yang Tepat</a:t>
            </a:r>
            <a:endParaRPr lang="en-US" sz="32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217712"/>
                <a:gridCol w="6876704"/>
              </a:tblGrid>
              <a:tr h="39319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Kebutuhan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Pakai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Mencoba rasa aplikasi rilis / mengukur kecepatan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onsolas" pitchFamily="34" charset="0"/>
                          <a:ea typeface="Consolas" pitchFamily="34" charset="-122"/>
                          <a:cs typeface="Consolas" pitchFamily="34" charset="-120"/>
                        </a:rPr>
                        <a:t>flutter run --release  /  flutter run --profile + DevTools</a:t>
                      </a:r>
                      <a:endParaRPr lang="en-US" sz="115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Kode yang hanya jalan saat pengembangan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if (kDebugMode) { ... }</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Pengaturan berbeda per build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--dart-define + const String.fromEnvironment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Nomor versi; menampilkannya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version: di pubspec.yaml; package_info_plus</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Ikon semua ukuran; layar pembuka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flutter_launcher_icons; flutter_native_splash</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Galat yang lolos; pengganti layar merah</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050" dirty="0">
                          <a:solidFill>
                            <a:srgbClr val="1B2333"/>
                          </a:solidFill>
                          <a:latin typeface="Consolas" pitchFamily="34" charset="0"/>
                          <a:ea typeface="Consolas" pitchFamily="34" charset="-122"/>
                          <a:cs typeface="Consolas" pitchFamily="34" charset="-120"/>
                        </a:rPr>
                        <a:t>FlutterError.onError, PlatformDispatcher, runZonedGuarded; ErrorWidget.builder</a:t>
                      </a:r>
                      <a:endParaRPr lang="en-US" sz="105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Halaman lisensi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showLicensePage; LicenseRegistry.addLicense</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Rilis web dan situsnya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flutter build web --base-href; GitHub Pages + web.yml</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Rilis Android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flutter build apk / appbundle; keytool + key.properties</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Rilis otomatis; rahasia robot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git tag + rilis.yml; Secrets</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9319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Membaca ukuran aplikasi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--analyze-size + DevTools App Size</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Jobsheet: Lima Praktikum dan Tugas Mandiri</a:t>
            </a:r>
            <a:endParaRPr lang="en-US" sz="32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7166"/>
                <a:gridCol w="6693325"/>
                <a:gridCol w="2383924"/>
              </a:tblGrid>
              <a:tr h="60350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Praktikum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Butuh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Identitas "Tugas Kuliahku": nama, ID, versi 1.0.0+1, ikon adaptif, layar pembuka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Laptop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Jaring pengaman galat, KotakGalatRamah, halaman Tentang, kebijakan privasi, lisensi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Laptop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Rilis web: build, dhttpd, GitHub Pages dengan web.yml, dibuka dari HP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Laptop + GitHub</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APK: izin internet (wajib semua), build, pasang, kunci unggah, signingReport, AAB</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Android SDK, HP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Rilis 1.0.0: README, CHANGELOG, KEBIJAKAN_PRIVASI, rilis.yml, tag v1.0.0</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Laptop + GitHub</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Tugas mandiri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Rilis 1.0.0 aplikasi Anda sendiri (dianjurkan "Pinjam Alat Lab" P14): web + APK + dokumen + DAFTAR_PERIKSA_RILIS.md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Semua di atas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Merilis!</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15 (rilis "Tugas Kuliahku" 1.0.0 + rilis aplikasi Anda sendiri), lalu uji diri di Latihan. Pertemuan berikutnya: UAS, presentasi dan demo proyek akhir.</a:t>
            </a:r>
            <a:endParaRPr lang="en-US" sz="2000" dirty="0"/>
          </a:p>
        </p:txBody>
      </p:sp>
      <p:sp>
        <p:nvSpPr>
          <p:cNvPr id="5" name="tombol tautan">
            <a:hlinkClick r:id="rId1" tooltip="https://github.com/antonprafanto/mobile2026/blob/main/pertemuan_15_build_rilis_dan_finalisasi/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P15</a:t>
            </a:r>
            <a:endParaRPr lang="en-US" sz="1600" dirty="0"/>
          </a:p>
        </p:txBody>
      </p:sp>
      <p:pic>
        <p:nvPicPr>
          <p:cNvPr id="6" name="Image 0" descr="ikon tautan">
            <a:hlinkClick r:id="rId3" tooltip="https://github.com/antonprafanto/mobile2026/blob/main/pertemuan_15_build_rilis_dan_finalisasi/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15_build_rilis_dan_finalisasi/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P15</a:t>
            </a:r>
            <a:endParaRPr lang="en-US" sz="1600" dirty="0"/>
          </a:p>
        </p:txBody>
      </p:sp>
      <p:pic>
        <p:nvPicPr>
          <p:cNvPr id="8" name="Image 1" descr="ikon tautan">
            <a:hlinkClick r:id="rId6" tooltip="https://github.com/antonprafanto/mobile2026/blob/main/pertemuan_15_build_rilis_dan_finalisasi/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anduan/05_proyek_akhir.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Proyek Akhir</a:t>
            </a:r>
            <a:endParaRPr lang="en-US" sz="1600" dirty="0"/>
          </a:p>
        </p:txBody>
      </p:sp>
      <p:pic>
        <p:nvPicPr>
          <p:cNvPr id="10" name="Image 2" descr="ikon tautan">
            <a:hlinkClick r:id="rId9" tooltip="https://github.com/antonprafanto/mobile2026/blob/main/panduan/05_proyek_akhir.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15 - Build, Rilis &amp; Finalisasi Proyek</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2026-10-16T20:51:44Z</dcterms:created>
  <dcterms:modified xsi:type="dcterms:W3CDTF">2026-10-16T20:51:44Z</dcterms:modified>
</cp:coreProperties>
</file>