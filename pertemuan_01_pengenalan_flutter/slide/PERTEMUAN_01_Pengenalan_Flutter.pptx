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3811ae53-2f0b-a551-2ed9-9ae21bce7f4b}">
          <p14:sldIdLst>
            <p14:sldId id="256"/>
            <p14:sldId id="257"/>
            <p14:sldId id="258"/>
          </p14:sldIdLst>
        </p14:section>
        <p14:section name="Mengenal Dunia Aplikasi Mobile" id="{4fa511fa-8b5d-9974-fcbe-523cdf8a5628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iklus Hidup (Lifecycle) Aplikasi" id="{5dd3b44d-c8cd-aabe-dafb-ccba5d8ce77f}">
          <p14:sldIdLst>
            <p14:sldId id="266"/>
            <p14:sldId id="267"/>
            <p14:sldId id="268"/>
          </p14:sldIdLst>
        </p14:section>
        <p14:section name="Menyiapkan Alat &amp; Proyek Pertama" id="{932a8960-2be2-98f9-fe8a-be4ba5f7f727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Sambut mahasiswa. Sampaikan bahwa semua materi (modul, kode, jobsheet, latihan, slide) ada di repositori GitHub mata kuliah, dan hari ini targetnya aplikasi Flutter pertama berjalan di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tujuan secara singkat. Tekankan bahwa poin 5 dan 6 akan langsung dipraktikkan di jobsheet.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1-3 adalah konsep, bagian 4-6 adalah praktik yang langkah lengkapnya ada di jobsheet.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mahasiswa membandingkan HP mereka dengan PC lab. Tanyakan: aplikasi apa yang paling sering mereka pakai dan apa yang menyebalkan saat sinyal hilang?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StatCounter September 2026. Jelaskan konsekuensinya: bahasa resmi Android adalah Kotlin, iOS adalah Swift. Ini menjadi jembatan ke slide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tidak ada pendekatan yang paling benar; perusahaan memilih berdasarkan kebutuhan, anggaran, dan keahlian 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analogi mobil. Sebutkan contoh aplikasi Flutter dari Flutter Showcase: Google Pay, Google Classroom, NotebookLM, BMW, Toyota, Alibaba, Nubank.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perusahaan diambil dari flutter.dev/showcase.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masuk terlalu dalam ke arsitektur engine. Cukup pahami ide "melukis sendiri" dan bahwa mahasiswa bekerja di lapisan paling 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Android/iOS urutannya biasanya resumed -&gt; inactive -&gt; hidden -&gt; paused, dan sebaliknya saat dibuka kembali. Beberapa status bisa terlewati jika sistem mematikan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langsung: jalankan contoh 06 di Chrome, lalu pindah tab dan kembali. Tunjukkan daftar catatan bertambah.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Panduan lengkap: panduan/02_instalasi_flutter_windows.md di repositori.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lab sudah terpasang Flutter, langsung ke langkah 5. Ingatkan: setelah Add SDK to PATH, semua terminal dan VS Code harus ditutup lalu dibuka 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Tampilkan contoh output flutter doctor di laptop dosen. Yang wajib hijau minggu ini: Flutter dan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flutter create, lalu buka struktur folder di VS Code. Tekankan dua item penting: lib/ dan pubspec.yaml. Ingatkan YAML wajib memakai spasi, bukan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menampilkan layar HP ke proyektor, dosen bisa memakai scrcpy.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dan tunjukkan hasilnya: layar hitam polos dengan tulisan putih. Tanyakan: apa yang kurang dari tampilan ini dibanding aplikasi sungguhan?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Gambarkan pohon widget di papan: AplikasiSaya → MaterialApp → HalamanUtama → Scaffold → AppBar/Center →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ganti Colors.indigo dengan Colors.green lalu simpan; semua warna ikut berubah serasi.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hot reload = mengganti baju orang yang sedang tidur tanpa membangunkannya; hot restart = membangunkannya dan menyuruh mulai hari dari awal. Demo dengan contoh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template asli memakai .center dan .fromSeed (dot shorthand Dart 3.10), artinya sama dengan MainAxisAlignment.center dan ColorScheme.fromSeed.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lengkap ada di panduan/04_troubleshooting.md.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2-3 mahasiswa menyebutkan satu hal baru yang mereka pelajari hari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lokasi jobsheet di GitHub. Bagian A-D dikerjakan di lab; Bagian F adalah tugas mandiri.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2926080"/>
            <a:ext cx="5669280" cy="56692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PEMROGRAMAN PIRANTI BERGERAK  ·  INFORMATIKA S1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github.com/antonprafanto/mobile2026</a:t>
            </a:r>
            <a:endParaRPr lang="en-US" sz="13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Pemrograman Piranti Bergerak  ·  Pertemuan 01  ·  Pengenalan Flutter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Pemrograman Piranti Bergerak  ·  Pertemuan 01  ·  Pengenalan Flutter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1_pengenalan_flutter/kode/06_siklus_hidup_aplikasi.dart" TargetMode="External"/><Relationship Id="rId3" Type="http://schemas.openxmlformats.org/officeDocument/2006/relationships/hyperlink" Target="https://github.com/antonprafanto/mobile2026/blob/main/pertemuan_01_pengenalan_flutter/kode/06_siklus_hidup_aplikasi.dart" TargetMode="External"/><Relationship Id="rId2" Type="http://schemas.openxmlformats.org/officeDocument/2006/relationships/image" Target="../media/image-1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1_pengenalan_flutter/kode/01_aplikasi_pertama.dart" TargetMode="External"/><Relationship Id="rId3" Type="http://schemas.openxmlformats.org/officeDocument/2006/relationships/hyperlink" Target="https://github.com/antonprafanto/mobile2026/blob/main/pertemuan_01_pengenalan_flutter/kode/01_aplikasi_pertama.dart" TargetMode="External"/><Relationship Id="rId2" Type="http://schemas.openxmlformats.org/officeDocument/2006/relationships/image" Target="../media/image-20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1_pengenalan_flutter/kode/02_materialapp_dan_scaffold.dart" TargetMode="External"/><Relationship Id="rId3" Type="http://schemas.openxmlformats.org/officeDocument/2006/relationships/hyperlink" Target="https://github.com/antonprafanto/mobile2026/blob/main/pertemuan_01_pengenalan_flutter/kode/02_materialapp_dan_scaffold.dart" TargetMode="External"/><Relationship Id="rId2" Type="http://schemas.openxmlformats.org/officeDocument/2006/relationships/image" Target="../media/image-21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1_pengenalan_flutter/kode/03_tema_warna_dan_teks.dart" TargetMode="External"/><Relationship Id="rId3" Type="http://schemas.openxmlformats.org/officeDocument/2006/relationships/hyperlink" Target="https://github.com/antonprafanto/mobile2026/blob/main/pertemuan_01_pengenalan_flutter/kode/03_tema_warna_dan_teks.dart" TargetMode="External"/><Relationship Id="rId2" Type="http://schemas.openxmlformats.org/officeDocument/2006/relationships/image" Target="../media/image-2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1_pengenalan_flutter/kode/04_hot_reload_vs_hot_restart.dart" TargetMode="External"/><Relationship Id="rId3" Type="http://schemas.openxmlformats.org/officeDocument/2006/relationships/hyperlink" Target="https://github.com/antonprafanto/mobile2026/blob/main/pertemuan_01_pengenalan_flutter/kode/04_hot_reload_vs_hot_restart.dart" TargetMode="External"/><Relationship Id="rId2" Type="http://schemas.openxmlformats.org/officeDocument/2006/relationships/image" Target="../media/image-2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antonprafanto/mobile2026/blob/main/pertemuan_01_pengenalan_flutter/kode/05_aplikasi_counter_bawaan.dart" TargetMode="External"/><Relationship Id="rId8" Type="http://schemas.openxmlformats.org/officeDocument/2006/relationships/hyperlink" Target="https://github.com/antonprafanto/mobile2026/blob/main/pertemuan_01_pengenalan_flutter/kode/05_aplikasi_counter_bawaan.dart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7" Type="http://schemas.openxmlformats.org/officeDocument/2006/relationships/image" Target="../media/image-24-6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1_pengenalan_flutter/JOBSHEET.md" TargetMode="External"/><Relationship Id="rId3" Type="http://schemas.openxmlformats.org/officeDocument/2006/relationships/hyperlink" Target="https://github.com/antonprafanto/mobile2026/blob/main/pertemuan_01_pengenalan_flutter/JOBSHEET.md" TargetMode="External"/><Relationship Id="rId4" Type="http://schemas.openxmlformats.org/officeDocument/2006/relationships/hyperlink" Target="https://github.com/antonprafanto/mobile2026/blob/main/pertemuan_01_pengenalan_flutter/LATIHAN.md" TargetMode="External"/><Relationship Id="rId6" Type="http://schemas.openxmlformats.org/officeDocument/2006/relationships/hyperlink" Target="https://github.com/antonprafanto/mobile2026/blob/main/pertemuan_01_pengenalan_flutter/LATIHAN.md" TargetMode="External"/><Relationship Id="rId7" Type="http://schemas.openxmlformats.org/officeDocument/2006/relationships/hyperlink" Target="https://github.com/antonprafanto/mobile2026/blob/main/pertemuan_01_pengenalan_flutter/README.md" TargetMode="External"/><Relationship Id="rId9" Type="http://schemas.openxmlformats.org/officeDocument/2006/relationships/hyperlink" Target="https://github.com/antonprafanto/mobile2026/blob/main/pertemuan_01_pengenalan_flutter/README.md" TargetMode="External"/><Relationship Id="rId2" Type="http://schemas.openxmlformats.org/officeDocument/2006/relationships/image" Target="../media/image-27-1.png"/><Relationship Id="rId5" Type="http://schemas.openxmlformats.org/officeDocument/2006/relationships/image" Target="../media/image-27-2.png"/><Relationship Id="rId8" Type="http://schemas.openxmlformats.org/officeDocument/2006/relationships/image" Target="../media/image-27-3.png"/><Relationship Id="rId10" Type="http://schemas.openxmlformats.org/officeDocument/2006/relationships/image" Target="../media/image-27-4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Pengenalan Pemrograman Piranti Bergerak &amp; Flutter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Pertemuan 1  ·  Dari konsep aplikasi mobile sampai aplikasi Flutter pertama Anda</a:t>
            </a:r>
            <a:endParaRPr lang="en-US" sz="2000" dirty="0"/>
          </a:p>
        </p:txBody>
      </p:sp>
      <p:sp>
        <p:nvSpPr>
          <p:cNvPr id="5" name="lingkaran hp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Tujuan Pembelajaran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Setelah pertemuan ini, Anda mampu:</a:t>
            </a:r>
            <a:endParaRPr lang="en-US" sz="1800" dirty="0"/>
          </a:p>
        </p:txBody>
      </p:sp>
      <p:sp>
        <p:nvSpPr>
          <p:cNvPr id="5" name="lingkaran centang"/>
          <p:cNvSpPr/>
          <p:nvPr/>
        </p:nvSpPr>
        <p:spPr>
          <a:xfrm>
            <a:off x="548640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cent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14243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Menjelaskan ciri khas aplikasi piranti bergerak</a:t>
            </a:r>
            <a:endParaRPr lang="en-US" sz="1900" dirty="0"/>
          </a:p>
        </p:txBody>
      </p:sp>
      <p:sp>
        <p:nvSpPr>
          <p:cNvPr id="8" name="lingkaran centang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1" descr="centa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3311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Membandingkan pendekatan native, web/hibrida, dan lintas platform</a:t>
            </a:r>
            <a:endParaRPr lang="en-US" sz="1900" dirty="0"/>
          </a:p>
        </p:txBody>
      </p:sp>
      <p:sp>
        <p:nvSpPr>
          <p:cNvPr id="11" name="lingkaran centang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2" descr="cent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519879"/>
            <a:ext cx="332842" cy="33284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Menjelaskan apa itu Flutter, Dart, dan cara kerja Flutter</a:t>
            </a:r>
            <a:endParaRPr lang="en-US" sz="1900" dirty="0"/>
          </a:p>
        </p:txBody>
      </p:sp>
      <p:sp>
        <p:nvSpPr>
          <p:cNvPr id="14" name="lingkaran centang"/>
          <p:cNvSpPr/>
          <p:nvPr/>
        </p:nvSpPr>
        <p:spPr>
          <a:xfrm>
            <a:off x="6278728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3" descr="centa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87" y="2142439"/>
            <a:ext cx="332842" cy="33284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55968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Menyebutkan status siklus hidup (lifecycle) aplikasi</a:t>
            </a:r>
            <a:endParaRPr lang="en-US" sz="1900" dirty="0"/>
          </a:p>
        </p:txBody>
      </p:sp>
      <p:sp>
        <p:nvSpPr>
          <p:cNvPr id="17" name="lingkaran centang"/>
          <p:cNvSpPr/>
          <p:nvPr/>
        </p:nvSpPr>
        <p:spPr>
          <a:xfrm>
            <a:off x="6278728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4" descr="centa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487" y="3331159"/>
            <a:ext cx="332842" cy="33284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55968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Membuat dan menjalankan proyek Flutter pertama</a:t>
            </a:r>
            <a:endParaRPr lang="en-US" sz="1900" dirty="0"/>
          </a:p>
        </p:txBody>
      </p:sp>
      <p:sp>
        <p:nvSpPr>
          <p:cNvPr id="20" name="lingkaran centang"/>
          <p:cNvSpPr/>
          <p:nvPr/>
        </p:nvSpPr>
        <p:spPr>
          <a:xfrm>
            <a:off x="6278728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5" descr="centa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487" y="4519879"/>
            <a:ext cx="332842" cy="33284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55968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Membedakan hot reload dan hot restart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Peta Materi Hari Ini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5" name="lingkaran hp"/>
          <p:cNvSpPr/>
          <p:nvPr/>
        </p:nvSpPr>
        <p:spPr>
          <a:xfrm>
            <a:off x="905485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594" y="229423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Konsep mobile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Ciri khas HP, Android vs iOS, tiga pendekatan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167585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langkah 2"/>
          <p:cNvSpPr/>
          <p:nvPr/>
        </p:nvSpPr>
        <p:spPr>
          <a:xfrm>
            <a:off x="2451049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2" name="lingkaran widget"/>
          <p:cNvSpPr/>
          <p:nvPr/>
        </p:nvSpPr>
        <p:spPr>
          <a:xfrm>
            <a:off x="2807894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wid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003" y="22942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60777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588209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Flutter &amp; Dart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588209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Apa, mengapa, dan bagaimana cara kerjanya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06999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langkah 3"/>
          <p:cNvSpPr/>
          <p:nvPr/>
        </p:nvSpPr>
        <p:spPr>
          <a:xfrm>
            <a:off x="435345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9" name="lingkaran riwayat"/>
          <p:cNvSpPr/>
          <p:nvPr/>
        </p:nvSpPr>
        <p:spPr>
          <a:xfrm>
            <a:off x="4710303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riway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413" y="22942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6318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49061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Siklus hidup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49061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Lima status aplikasi dan kegunaannya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97240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langkah 4"/>
          <p:cNvSpPr/>
          <p:nvPr/>
        </p:nvSpPr>
        <p:spPr>
          <a:xfrm>
            <a:off x="625586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26" name="lingkaran perkakas"/>
          <p:cNvSpPr/>
          <p:nvPr/>
        </p:nvSpPr>
        <p:spPr>
          <a:xfrm>
            <a:off x="6612712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perkak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822" y="2294230"/>
            <a:ext cx="486461" cy="48646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36559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39302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Alat kerja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639302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Git, VS Code, Flutter SDK, Chrome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874813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langkah 5"/>
          <p:cNvSpPr/>
          <p:nvPr/>
        </p:nvSpPr>
        <p:spPr>
          <a:xfrm>
            <a:off x="8158277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33" name="lingkaran folder"/>
          <p:cNvSpPr/>
          <p:nvPr/>
        </p:nvSpPr>
        <p:spPr>
          <a:xfrm>
            <a:off x="8515121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4" descr="fol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231" y="2294230"/>
            <a:ext cx="486461" cy="48646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268005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295437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Proyek pertama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8295437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Membuat, menjalankan, membedah kode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9777222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9" name="langkah 6"/>
          <p:cNvSpPr/>
          <p:nvPr/>
        </p:nvSpPr>
        <p:spPr>
          <a:xfrm>
            <a:off x="10060686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40" name="lingkaran kilat"/>
          <p:cNvSpPr/>
          <p:nvPr/>
        </p:nvSpPr>
        <p:spPr>
          <a:xfrm>
            <a:off x="10417531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5" descr="kil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8640" y="2294230"/>
            <a:ext cx="486461" cy="486461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170414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10197846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Hot reload</a:t>
            </a:r>
            <a:endParaRPr lang="en-US" sz="1700" dirty="0"/>
          </a:p>
        </p:txBody>
      </p:sp>
      <p:sp>
        <p:nvSpPr>
          <p:cNvPr id="44" name="Text 35"/>
          <p:cNvSpPr txBox="1"/>
          <p:nvPr/>
        </p:nvSpPr>
        <p:spPr>
          <a:xfrm>
            <a:off x="10197846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Perubahan terlihat dalam hitungan detik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1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Mengenal Dunia Aplikasi Mobile</a:t>
            </a:r>
            <a:endParaRPr lang="en-US" sz="4000" dirty="0"/>
          </a:p>
        </p:txBody>
      </p:sp>
      <p:sp>
        <p:nvSpPr>
          <p:cNvPr id="4" name="lingkaran hp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Mengapa Aplikasi Mobile Itu Berbeda?</a:t>
            </a:r>
            <a:endParaRPr lang="en-US" sz="3200" dirty="0"/>
          </a:p>
        </p:txBody>
      </p:sp>
      <p:sp>
        <p:nvSpPr>
          <p:cNvPr id="4" name="kartu 1"/>
          <p:cNvSpPr/>
          <p:nvPr/>
        </p:nvSpPr>
        <p:spPr>
          <a:xfrm>
            <a:off x="548640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lingkaran hp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Layar kecil &amp; beragam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Tampilan harus ringkas dan menyesuaikan banyak ukuran layar.</a:t>
            </a:r>
            <a:endParaRPr lang="en-US" sz="1500" dirty="0"/>
          </a:p>
        </p:txBody>
      </p:sp>
      <p:sp>
        <p:nvSpPr>
          <p:cNvPr id="9" name="kartu 2"/>
          <p:cNvSpPr/>
          <p:nvPr/>
        </p:nvSpPr>
        <p:spPr>
          <a:xfrm>
            <a:off x="4353458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lingkaran sentuh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sentu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5018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Dioperasikan dengan jari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82058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Tombol harus cukup besar untuk disentuh, bukan diklik mouse.</a:t>
            </a:r>
            <a:endParaRPr lang="en-US" sz="1500" dirty="0"/>
          </a:p>
        </p:txBody>
      </p:sp>
      <p:sp>
        <p:nvSpPr>
          <p:cNvPr id="14" name="kartu 3"/>
          <p:cNvSpPr/>
          <p:nvPr/>
        </p:nvSpPr>
        <p:spPr>
          <a:xfrm>
            <a:off x="8158277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lingkaran baterai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batera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09837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Baterai terbatas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86877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Aplikasi harus hemat daya, misalnya tidak terus memakai GPS.</a:t>
            </a:r>
            <a:endParaRPr lang="en-US" sz="1500" dirty="0"/>
          </a:p>
        </p:txBody>
      </p:sp>
      <p:sp>
        <p:nvSpPr>
          <p:cNvPr id="19" name="kartu 4"/>
          <p:cNvSpPr/>
          <p:nvPr/>
        </p:nvSpPr>
        <p:spPr>
          <a:xfrm>
            <a:off x="548640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lingkaran sinyal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siny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31139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Koneksi naik-turun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Aplikasi tetap "sopan" saat sinyal hilang: beri pesan, simpan data.</a:t>
            </a:r>
            <a:endParaRPr lang="en-US" sz="1500" dirty="0"/>
          </a:p>
        </p:txBody>
      </p:sp>
      <p:sp>
        <p:nvSpPr>
          <p:cNvPr id="24" name="kartu 5"/>
          <p:cNvSpPr/>
          <p:nvPr/>
        </p:nvSpPr>
        <p:spPr>
          <a:xfrm>
            <a:off x="4353458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5" name="lingkaran sensor"/>
          <p:cNvSpPr/>
          <p:nvPr/>
        </p:nvSpPr>
        <p:spPr>
          <a:xfrm>
            <a:off x="4582058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sens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934" y="43113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05018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Kaya sensor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82058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Kamera, GPS, sidik jari, akselerometer siap dimanfaatkan.</a:t>
            </a:r>
            <a:endParaRPr lang="en-US" sz="1500" dirty="0"/>
          </a:p>
        </p:txBody>
      </p:sp>
      <p:sp>
        <p:nvSpPr>
          <p:cNvPr id="29" name="kartu 6"/>
          <p:cNvSpPr/>
          <p:nvPr/>
        </p:nvSpPr>
        <p:spPr>
          <a:xfrm>
            <a:off x="8158277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0" name="lingkaran pindah"/>
          <p:cNvSpPr/>
          <p:nvPr/>
        </p:nvSpPr>
        <p:spPr>
          <a:xfrm>
            <a:off x="8386877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pinda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753" y="4311396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209837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Sering ditinggal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386877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Pengguna bisa pindah aplikasi kapan saja; data harus aman.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Dua Penguasa Pasar di Indonesia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1860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5" name="lingkaran hp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852574"/>
            <a:ext cx="409651" cy="4096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468880"/>
            <a:ext cx="476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4"/>
                </a:solidFill>
              </a:rPr>
              <a:t>79,16%</a:t>
            </a:r>
            <a:endParaRPr lang="en-US" sz="6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65760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Android (Google, banyak merek HP)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324448" y="1417320"/>
            <a:ext cx="531860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10" name="lingkaran hp"/>
          <p:cNvSpPr/>
          <p:nvPr/>
        </p:nvSpPr>
        <p:spPr>
          <a:xfrm>
            <a:off x="6644488" y="16916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h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422" y="1852574"/>
            <a:ext cx="409651" cy="40965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98768" y="2468880"/>
            <a:ext cx="476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6"/>
                </a:solidFill>
              </a:rPr>
              <a:t>20,79%</a:t>
            </a:r>
            <a:endParaRPr lang="en-US" sz="6600" dirty="0"/>
          </a:p>
        </p:txBody>
      </p:sp>
      <p:sp>
        <p:nvSpPr>
          <p:cNvPr id="13" name="Text 8"/>
          <p:cNvSpPr txBox="1"/>
          <p:nvPr/>
        </p:nvSpPr>
        <p:spPr>
          <a:xfrm>
            <a:off x="6644488" y="365760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iOS (Apple, khusus iPhone)</a:t>
            </a:r>
            <a:endParaRPr lang="en-US" sz="1800" dirty="0"/>
          </a:p>
        </p:txBody>
      </p:sp>
      <p:sp>
        <p:nvSpPr>
          <p:cNvPr id="14" name="lingkaran lampu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738421"/>
            <a:ext cx="307238" cy="30723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45262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Aplikasi untuk pasar Indonesia idealnya hadir di Android DAN iOS sekaligus. Masalahnya: keduanya "berbicara bahasa" yang berbeda.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</a:rPr>
              <a:t>Sumber: StatCounter Global Stats, Mobile Operating System Market Share Indonesia, September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Tiga Cara Membuat Aplikasi Mobile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3484778" cy="393192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5" name="lingkaran kode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k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Native</a:t>
            </a:r>
            <a:endParaRPr lang="en-US" sz="1900" dirty="0"/>
          </a:p>
        </p:txBody>
      </p:sp>
      <p:sp>
        <p:nvSpPr>
          <p:cNvPr id="8" name="daftar poin"/>
          <p:cNvSpPr txBox="1"/>
          <p:nvPr/>
        </p:nvSpPr>
        <p:spPr>
          <a:xfrm>
            <a:off x="777240" y="2560320"/>
            <a:ext cx="302757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Dua aplikasi terpisah, bahasa resmi tiap platform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Kotlin + Jetpack Compose, Swift + SwiftUI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Performa &amp; akses fitur paling maksimal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Biaya dan waktu dua kali lipat</a:t>
            </a:r>
            <a:endParaRPr lang="en-US" sz="1600" dirty="0"/>
          </a:p>
        </p:txBody>
      </p:sp>
      <p:sp>
        <p:nvSpPr>
          <p:cNvPr id="9" name="kolom 2"/>
          <p:cNvSpPr/>
          <p:nvPr/>
        </p:nvSpPr>
        <p:spPr>
          <a:xfrm>
            <a:off x="4353458" y="1371600"/>
            <a:ext cx="3484778" cy="393192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0" name="lingkaran web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5018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Web / Hibrida</a:t>
            </a:r>
            <a:endParaRPr lang="en-US" sz="1900" dirty="0"/>
          </a:p>
        </p:txBody>
      </p:sp>
      <p:sp>
        <p:nvSpPr>
          <p:cNvPr id="13" name="daftar poin"/>
          <p:cNvSpPr txBox="1"/>
          <p:nvPr/>
        </p:nvSpPr>
        <p:spPr>
          <a:xfrm>
            <a:off x="4582058" y="2560320"/>
            <a:ext cx="302757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Situs web dibungkus seperti aplikasi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PWA, Ionic/Capacitor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Cepat dibuat oleh pengembang web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Kurang mulus; akses fitur terbatas</a:t>
            </a:r>
            <a:endParaRPr lang="en-US" sz="1600" dirty="0"/>
          </a:p>
        </p:txBody>
      </p:sp>
      <p:sp>
        <p:nvSpPr>
          <p:cNvPr id="14" name="kolom 3"/>
          <p:cNvSpPr/>
          <p:nvPr/>
        </p:nvSpPr>
        <p:spPr>
          <a:xfrm>
            <a:off x="8158277" y="1371600"/>
            <a:ext cx="3484778" cy="3931920"/>
          </a:xfrm>
          <a:prstGeom prst="roundRect">
            <a:avLst>
              <a:gd name="adj" fmla="val 3149"/>
            </a:avLst>
          </a:prstGeom>
          <a:solidFill>
            <a:srgbClr val="E3F2FD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lingkaran perangkat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erangk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09837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Lintas Platform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8386877" y="24231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 Dipakai di mata kuliah ini</a:t>
            </a:r>
            <a:endParaRPr lang="en-US" sz="1400" dirty="0"/>
          </a:p>
        </p:txBody>
      </p:sp>
      <p:sp>
        <p:nvSpPr>
          <p:cNvPr id="19" name="daftar poin"/>
          <p:cNvSpPr txBox="1"/>
          <p:nvPr/>
        </p:nvSpPr>
        <p:spPr>
          <a:xfrm>
            <a:off x="8386877" y="2926080"/>
            <a:ext cx="302757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Satu kode untuk banyak platform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Flutter, React Native, Kotlin Multiplatform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Hemat waktu, tampilan konsisten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Ukuran aplikasi sedikit lebih besar</a:t>
            </a:r>
            <a:endParaRPr lang="en-US" sz="1600" dirty="0"/>
          </a:p>
        </p:txBody>
      </p:sp>
      <p:sp>
        <p:nvSpPr>
          <p:cNvPr id="20" name="lingkaran lampu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lamp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65282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Analogi katering: dapur di setiap kota (native), makanan beku dari dapur pusat (web), satu dapur modern dengan resep untuk semua kota (lintas platform).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Berkenalan dengan Flutter dan Dart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lingkaran widget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wi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Flutter = bodi &amp; dasbor</a:t>
            </a:r>
            <a:endParaRPr lang="en-US" sz="1900" dirty="0"/>
          </a:p>
        </p:txBody>
      </p:sp>
      <p:sp>
        <p:nvSpPr>
          <p:cNvPr id="8" name="daftar poin"/>
          <p:cNvSpPr txBox="1"/>
          <p:nvPr/>
        </p:nvSpPr>
        <p:spPr>
          <a:xfrm>
            <a:off x="777240" y="2560320"/>
            <a:ext cx="49299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Framework UI sumber terbuka dari Google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Stabil sejak Desember 2018; kini versi 3.47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Satu kode untuk 6 platform: Android, iOS, web, Windows, macOS, Linux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Komponen tampilan siap pakai (widget)</a:t>
            </a:r>
            <a:endParaRPr lang="en-US" sz="1600" dirty="0"/>
          </a:p>
        </p:txBody>
      </p:sp>
      <p:sp>
        <p:nvSpPr>
          <p:cNvPr id="9" name="kolom 2"/>
          <p:cNvSpPr/>
          <p:nvPr/>
        </p:nvSpPr>
        <p:spPr>
          <a:xfrm>
            <a:off x="6255868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lingkaran kode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k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07428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Dart = mesin</a:t>
            </a:r>
            <a:endParaRPr lang="en-US" sz="1900" dirty="0"/>
          </a:p>
        </p:txBody>
      </p:sp>
      <p:sp>
        <p:nvSpPr>
          <p:cNvPr id="13" name="daftar poin"/>
          <p:cNvSpPr txBox="1"/>
          <p:nvPr/>
        </p:nvSpPr>
        <p:spPr>
          <a:xfrm>
            <a:off x="6484468" y="2560320"/>
            <a:ext cx="49299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Bahasa pemrograman untuk menulis aplikasi Flutter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Juga buatan Google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Mengatur logika: variabel, perhitungan, keputusan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Dipelajari khusus di Pertemuan 2 dan 3</a:t>
            </a:r>
            <a:endParaRPr lang="en-US" sz="1600" dirty="0"/>
          </a:p>
        </p:txBody>
      </p:sp>
      <p:sp>
        <p:nvSpPr>
          <p:cNvPr id="14" name="lingkaran lampu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652821"/>
            <a:ext cx="307238" cy="30723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Mesinnya dikenal dulu sebelum mobilnya dikendarai jauh. Itulah sebabnya dua pertemuan berikutnya membahas Dart.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Mengapa Kita Memakai Flutter?</a:t>
            </a:r>
            <a:endParaRPr lang="en-US" sz="3200" dirty="0"/>
          </a:p>
        </p:txBody>
      </p:sp>
      <p:sp>
        <p:nvSpPr>
          <p:cNvPr id="4" name="kartu 1"/>
          <p:cNvSpPr/>
          <p:nvPr/>
        </p:nvSpPr>
        <p:spPr>
          <a:xfrm>
            <a:off x="548640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lingkaran perangkat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erangk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Satu kode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Android dan iOS dari satu kode sumber; waktu belajar efisien.</a:t>
            </a:r>
            <a:endParaRPr lang="en-US" sz="1500" dirty="0"/>
          </a:p>
        </p:txBody>
      </p:sp>
      <p:sp>
        <p:nvSpPr>
          <p:cNvPr id="9" name="kartu 2"/>
          <p:cNvSpPr/>
          <p:nvPr/>
        </p:nvSpPr>
        <p:spPr>
          <a:xfrm>
            <a:off x="4353458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lingkaran web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5018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Ringan di Chrome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82058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PC lab RAM 8 GB cukup: aplikasi dijalankan di browser, tanpa emulator.</a:t>
            </a:r>
            <a:endParaRPr lang="en-US" sz="1500" dirty="0"/>
          </a:p>
        </p:txBody>
      </p:sp>
      <p:sp>
        <p:nvSpPr>
          <p:cNvPr id="14" name="kartu 3"/>
          <p:cNvSpPr/>
          <p:nvPr/>
        </p:nvSpPr>
        <p:spPr>
          <a:xfrm>
            <a:off x="8158277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lingkaran kilat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kil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09837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Hot reload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86877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Perubahan kode terlihat dalam hitungan detik.</a:t>
            </a:r>
            <a:endParaRPr lang="en-US" sz="1500" dirty="0"/>
          </a:p>
        </p:txBody>
      </p:sp>
      <p:sp>
        <p:nvSpPr>
          <p:cNvPr id="19" name="kartu 4"/>
          <p:cNvSpPr/>
          <p:nvPr/>
        </p:nvSpPr>
        <p:spPr>
          <a:xfrm>
            <a:off x="548640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lingkaran palet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mage 3" descr="pa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31139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Material Design 3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Komponen tampilan modern sudah tersedia.</a:t>
            </a:r>
            <a:endParaRPr lang="en-US" sz="1500" dirty="0"/>
          </a:p>
        </p:txBody>
      </p:sp>
      <p:sp>
        <p:nvSpPr>
          <p:cNvPr id="24" name="kartu 5"/>
          <p:cNvSpPr/>
          <p:nvPr/>
        </p:nvSpPr>
        <p:spPr>
          <a:xfrm>
            <a:off x="4353458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5" name="lingkaran grup"/>
          <p:cNvSpPr/>
          <p:nvPr/>
        </p:nvSpPr>
        <p:spPr>
          <a:xfrm>
            <a:off x="4582058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gr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934" y="43113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05018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Dipakai industri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82058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Google Pay, Google Classroom, NotebookLM, BMW, Toyota, Nubank.</a:t>
            </a:r>
            <a:endParaRPr lang="en-US" sz="1500" dirty="0"/>
          </a:p>
        </p:txBody>
      </p:sp>
      <p:sp>
        <p:nvSpPr>
          <p:cNvPr id="29" name="kartu 6"/>
          <p:cNvSpPr/>
          <p:nvPr/>
        </p:nvSpPr>
        <p:spPr>
          <a:xfrm>
            <a:off x="8158277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0" name="lingkaran buku"/>
          <p:cNvSpPr/>
          <p:nvPr/>
        </p:nvSpPr>
        <p:spPr>
          <a:xfrm>
            <a:off x="8386877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buk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753" y="4311396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209837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Dokumentasi lengkap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386877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docs.flutter.dev dan DartPad untuk belajar mandiri.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Bagaimana Flutter Bekerja?</a:t>
            </a:r>
            <a:endParaRPr lang="en-US" sz="3200" dirty="0"/>
          </a:p>
        </p:txBody>
      </p:sp>
      <p:sp>
        <p:nvSpPr>
          <p:cNvPr id="4" name="lapisan 1"/>
          <p:cNvSpPr/>
          <p:nvPr/>
        </p:nvSpPr>
        <p:spPr>
          <a:xfrm>
            <a:off x="548640" y="1371600"/>
            <a:ext cx="6583680" cy="813816"/>
          </a:xfrm>
          <a:prstGeom prst="roundRect">
            <a:avLst>
              <a:gd name="adj" fmla="val 13483"/>
            </a:avLst>
          </a:prstGeom>
          <a:solidFill>
            <a:schemeClr val="bg2"/>
          </a:solidFill>
          <a:ln/>
        </p:spPr>
      </p:sp>
      <p:sp>
        <p:nvSpPr>
          <p:cNvPr id="5" name="lingkaran kode"/>
          <p:cNvSpPr/>
          <p:nvPr/>
        </p:nvSpPr>
        <p:spPr>
          <a:xfrm>
            <a:off x="731520" y="14584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k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599286"/>
            <a:ext cx="358445" cy="35844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371600"/>
            <a:ext cx="5394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Kode Dart Anda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lib/main.dart dan berkas lain yang Anda tulis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3703320" y="2167128"/>
            <a:ext cx="274320" cy="21945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9" name="lapisan 2"/>
          <p:cNvSpPr/>
          <p:nvPr/>
        </p:nvSpPr>
        <p:spPr>
          <a:xfrm>
            <a:off x="548640" y="2368296"/>
            <a:ext cx="6583680" cy="813816"/>
          </a:xfrm>
          <a:prstGeom prst="roundRect">
            <a:avLst>
              <a:gd name="adj" fmla="val 13483"/>
            </a:avLst>
          </a:prstGeom>
          <a:solidFill>
            <a:schemeClr val="bg2"/>
          </a:solidFill>
          <a:ln/>
        </p:spPr>
      </p:sp>
      <p:sp>
        <p:nvSpPr>
          <p:cNvPr id="10" name="lingkaran widget"/>
          <p:cNvSpPr/>
          <p:nvPr/>
        </p:nvSpPr>
        <p:spPr>
          <a:xfrm>
            <a:off x="731520" y="245516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wid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2595982"/>
            <a:ext cx="358445" cy="35844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54480" y="2368296"/>
            <a:ext cx="5394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Framework Flutter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Widget siap pakai: teks, tombol, daftar, tata letak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3703320" y="3163824"/>
            <a:ext cx="274320" cy="21945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4" name="lapisan 3"/>
          <p:cNvSpPr/>
          <p:nvPr/>
        </p:nvSpPr>
        <p:spPr>
          <a:xfrm>
            <a:off x="548640" y="3364992"/>
            <a:ext cx="6583680" cy="813816"/>
          </a:xfrm>
          <a:prstGeom prst="roundRect">
            <a:avLst>
              <a:gd name="adj" fmla="val 13483"/>
            </a:avLst>
          </a:prstGeom>
          <a:solidFill>
            <a:schemeClr val="bg2"/>
          </a:solidFill>
          <a:ln/>
        </p:spPr>
      </p:sp>
      <p:sp>
        <p:nvSpPr>
          <p:cNvPr id="15" name="lingkaran kuas"/>
          <p:cNvSpPr/>
          <p:nvPr/>
        </p:nvSpPr>
        <p:spPr>
          <a:xfrm>
            <a:off x="731520" y="34518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mage 2" descr="ku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3592678"/>
            <a:ext cx="358445" cy="3584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3364992"/>
            <a:ext cx="5394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Engine Flutter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Menggambar setiap piksel sendiri (Impeller)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3703320" y="4160520"/>
            <a:ext cx="274320" cy="21945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9" name="lapisan 4"/>
          <p:cNvSpPr/>
          <p:nvPr/>
        </p:nvSpPr>
        <p:spPr>
          <a:xfrm>
            <a:off x="548640" y="4361688"/>
            <a:ext cx="6583680" cy="813816"/>
          </a:xfrm>
          <a:prstGeom prst="roundRect">
            <a:avLst>
              <a:gd name="adj" fmla="val 13483"/>
            </a:avLst>
          </a:prstGeom>
          <a:solidFill>
            <a:schemeClr val="bg2"/>
          </a:solidFill>
          <a:ln/>
        </p:spPr>
      </p:sp>
      <p:sp>
        <p:nvSpPr>
          <p:cNvPr id="20" name="lingkaran perangkat"/>
          <p:cNvSpPr/>
          <p:nvPr/>
        </p:nvSpPr>
        <p:spPr>
          <a:xfrm>
            <a:off x="731520" y="4448556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3" descr="perangk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4589374"/>
            <a:ext cx="358445" cy="3584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4361688"/>
            <a:ext cx="5394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Embedder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Penghubung ke Android, iOS, web, dan desktop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3703320" y="5157216"/>
            <a:ext cx="274320" cy="21945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24" name="lapisan 5"/>
          <p:cNvSpPr/>
          <p:nvPr/>
        </p:nvSpPr>
        <p:spPr>
          <a:xfrm>
            <a:off x="548640" y="5358384"/>
            <a:ext cx="6583680" cy="813816"/>
          </a:xfrm>
          <a:prstGeom prst="roundRect">
            <a:avLst>
              <a:gd name="adj" fmla="val 13483"/>
            </a:avLst>
          </a:prstGeom>
          <a:solidFill>
            <a:schemeClr val="bg2"/>
          </a:solidFill>
          <a:ln/>
        </p:spPr>
      </p:sp>
      <p:sp>
        <p:nvSpPr>
          <p:cNvPr id="25" name="lingkaran hp"/>
          <p:cNvSpPr/>
          <p:nvPr/>
        </p:nvSpPr>
        <p:spPr>
          <a:xfrm>
            <a:off x="731520" y="5445252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mage 4" descr="h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5586070"/>
            <a:ext cx="358445" cy="35844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554480" y="5358384"/>
            <a:ext cx="5394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Layar perangkat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Hasil akhir yang dilihat pengguna</a:t>
            </a:r>
            <a:endParaRPr lang="en-US" sz="1800" dirty="0"/>
          </a:p>
        </p:txBody>
      </p:sp>
      <p:sp>
        <p:nvSpPr>
          <p:cNvPr id="28" name="daftar poin"/>
          <p:cNvSpPr txBox="1"/>
          <p:nvPr/>
        </p:nvSpPr>
        <p:spPr>
          <a:xfrm>
            <a:off x="7589520" y="1417320"/>
            <a:ext cx="405353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Flutter tidak "menyewa perabot" (komponen bawaan OS), tetapi "melukis sendiri" tampilannya.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Hasilnya: tampilan sama persis di semua perangkat dan bisa digambar sangat cepat.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Tugas Anda cukup di lapisan paling atas: menulis Dart dan menyusun widget.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2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Siklus Hidup (Lifecycle) Aplikasi</a:t>
            </a:r>
            <a:endParaRPr lang="en-US" sz="4000" dirty="0"/>
          </a:p>
        </p:txBody>
      </p:sp>
      <p:sp>
        <p:nvSpPr>
          <p:cNvPr id="4" name="lingkaran riwayat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riway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Lima Status Aplikasi (AppLifecycleState)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Mengapa video berhenti saat Anda menekan tombol Home? Karena aplikasinya memperhatikan siklus hidupnya.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1751750"/>
                <a:gridCol w="4379374"/>
                <a:gridCol w="4963291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Artinya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 situasi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resumed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Terlihat dan sedang dipakai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Menggulir beranda aplikasi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inactive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Terlihat, tetapi tidak menerima input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notifikasi ditarik; di web: klik jendela lain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hidden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tampilan tersembunyi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Aplikasi diminimalkan; tab browser ditinggal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paused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terlihat, berjalan di latar belakang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Menekan Home lalu membuka aplikasi lain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detached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Mesin masih ada, tanpa tampilan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Aplikasi sedang ditutup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Simpan data penting saat aplikasi masuk paused atau hidden. Jangan menunggu detached, karena aplikasi bisa "dibunuh" mendadak.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Melihat Siklus Hidup Secara Langsung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AppLifecycleListener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_pendengar;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initState()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.initState();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dikabari setiap kali status berubah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_pendengar =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AppLifecycleListener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onStateChange: _catatStatus,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dispose()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_pendengar.dispose(); </a:t>
            </a:r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WAJIB: cegah bocor memori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.dispose();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1_pengenalan_flutter/kode/06_siklus_hidup_aplikasi.dart"/>
          </p:cNvPr>
          <p:cNvSpPr txBox="1"/>
          <p:nvPr/>
        </p:nvSpPr>
        <p:spPr>
          <a:xfrm>
            <a:off x="548640" y="58064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06_siklus_hidup_aplikasi.dart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1_pengenalan_flutter/kode/06_siklus_hidup_aplikasi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8978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AppLifecycleListener memanggil _catatStatus setiap kali status aplikasi berubah.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Jalankan di Chrome, pindah ke tab lain, lalu kembali: catatan inactive, hidden, resumed akan muncul.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Detail initState() dan dispose() dibahas tuntas di Pertemuan 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3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Menyiapkan Alat &amp; Proyek Pertama</a:t>
            </a:r>
            <a:endParaRPr lang="en-US" sz="4000" dirty="0"/>
          </a:p>
        </p:txBody>
      </p:sp>
      <p:sp>
        <p:nvSpPr>
          <p:cNvPr id="4" name="lingkaran perkakas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erkak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Alat Kerja yang Dibutuhkan</a:t>
            </a:r>
            <a:endParaRPr lang="en-US" sz="3200" dirty="0"/>
          </a:p>
        </p:txBody>
      </p:sp>
      <p:sp>
        <p:nvSpPr>
          <p:cNvPr id="4" name="kartu 1"/>
          <p:cNvSpPr/>
          <p:nvPr/>
        </p:nvSpPr>
        <p:spPr>
          <a:xfrm>
            <a:off x="548640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lingkaran riwayat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riway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"Mesin waktu" kode. Juga dipakai saat mengunduh Flutter. (Wajib)</a:t>
            </a:r>
            <a:endParaRPr lang="en-US" sz="1500" dirty="0"/>
          </a:p>
        </p:txBody>
      </p:sp>
      <p:sp>
        <p:nvSpPr>
          <p:cNvPr id="9" name="kartu 2"/>
          <p:cNvSpPr/>
          <p:nvPr/>
        </p:nvSpPr>
        <p:spPr>
          <a:xfrm>
            <a:off x="4353458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lingkaran kode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k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5018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Visual Studio Code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82058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"Meja kerja" tempat menulis kode. (Wajib)</a:t>
            </a:r>
            <a:endParaRPr lang="en-US" sz="1500" dirty="0"/>
          </a:p>
        </p:txBody>
      </p:sp>
      <p:sp>
        <p:nvSpPr>
          <p:cNvPr id="14" name="kartu 3"/>
          <p:cNvSpPr/>
          <p:nvPr/>
        </p:nvSpPr>
        <p:spPr>
          <a:xfrm>
            <a:off x="8158277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lingkaran bintang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bint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09837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Ekstensi Flutter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86877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Pewarnaan kode, saran otomatis, tombol Run. Dart ikut terpasang. (Wajib)</a:t>
            </a:r>
            <a:endParaRPr lang="en-US" sz="1500" dirty="0"/>
          </a:p>
        </p:txBody>
      </p:sp>
      <p:sp>
        <p:nvSpPr>
          <p:cNvPr id="19" name="kartu 4"/>
          <p:cNvSpPr/>
          <p:nvPr/>
        </p:nvSpPr>
        <p:spPr>
          <a:xfrm>
            <a:off x="548640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lingkaran perkakas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erkak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31139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Flutter SDK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Kotak perkakas berisi Flutter, Dart, dan perintah flutter. (Wajib)</a:t>
            </a:r>
            <a:endParaRPr lang="en-US" sz="1500" dirty="0"/>
          </a:p>
        </p:txBody>
      </p:sp>
      <p:sp>
        <p:nvSpPr>
          <p:cNvPr id="24" name="kartu 5"/>
          <p:cNvSpPr/>
          <p:nvPr/>
        </p:nvSpPr>
        <p:spPr>
          <a:xfrm>
            <a:off x="4353458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5" name="lingkaran web"/>
          <p:cNvSpPr/>
          <p:nvPr/>
        </p:nvSpPr>
        <p:spPr>
          <a:xfrm>
            <a:off x="4582058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we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934" y="43113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05018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Google Chrome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82058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Panggung tercepat untuk menjalankan aplikasi. (Wajib)</a:t>
            </a:r>
            <a:endParaRPr lang="en-US" sz="1500" dirty="0"/>
          </a:p>
        </p:txBody>
      </p:sp>
      <p:sp>
        <p:nvSpPr>
          <p:cNvPr id="29" name="kartu 6"/>
          <p:cNvSpPr/>
          <p:nvPr/>
        </p:nvSpPr>
        <p:spPr>
          <a:xfrm>
            <a:off x="8158277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0" name="lingkaran hp"/>
          <p:cNvSpPr/>
          <p:nvPr/>
        </p:nvSpPr>
        <p:spPr>
          <a:xfrm>
            <a:off x="8386877" y="41605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h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753" y="4311396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209837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Android Studio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386877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Android SDK untuk HP Android atau emulator. (Opsional)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Langkah Instalasi (Cara Resmi)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5" name="lingkaran unduh"/>
          <p:cNvSpPr/>
          <p:nvPr/>
        </p:nvSpPr>
        <p:spPr>
          <a:xfrm>
            <a:off x="1095726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undu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835" y="229423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Pasang Git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git-scm.com/downloads/win; pilihan bawaan sudah tepat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548067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langkah 2"/>
          <p:cNvSpPr/>
          <p:nvPr/>
        </p:nvSpPr>
        <p:spPr>
          <a:xfrm>
            <a:off x="2831531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2" name="lingkaran kode"/>
          <p:cNvSpPr/>
          <p:nvPr/>
        </p:nvSpPr>
        <p:spPr>
          <a:xfrm>
            <a:off x="337861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k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26" y="22942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41259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968691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Pasang VS Code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968691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code.visualstudio.com; centang "Add to PATH"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830958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langkah 3"/>
          <p:cNvSpPr/>
          <p:nvPr/>
        </p:nvSpPr>
        <p:spPr>
          <a:xfrm>
            <a:off x="5114422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9" name="lingkaran bintang"/>
          <p:cNvSpPr/>
          <p:nvPr/>
        </p:nvSpPr>
        <p:spPr>
          <a:xfrm>
            <a:off x="566150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bint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617" y="22942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2415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251582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Ekstensi Flutter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251582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Extensions (Ctrl+Shift+X), cari "Flutter" dari Dart Code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113849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langkah 4"/>
          <p:cNvSpPr/>
          <p:nvPr/>
        </p:nvSpPr>
        <p:spPr>
          <a:xfrm>
            <a:off x="7397313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6" name="lingkaran perkakas"/>
          <p:cNvSpPr/>
          <p:nvPr/>
        </p:nvSpPr>
        <p:spPr>
          <a:xfrm>
            <a:off x="7944399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perkak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508" y="2294230"/>
            <a:ext cx="486461" cy="48646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507041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534473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Download SDK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7534473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Ctrl+Shift+P → Flutter: New Project → Download SDK → Clone Flutter → Add SDK to PATH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396740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langkah 5"/>
          <p:cNvSpPr/>
          <p:nvPr/>
        </p:nvSpPr>
        <p:spPr>
          <a:xfrm>
            <a:off x="9680204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33" name="lingkaran centang"/>
          <p:cNvSpPr/>
          <p:nvPr/>
        </p:nvSpPr>
        <p:spPr>
          <a:xfrm>
            <a:off x="10227290" y="21031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Image 4" descr="centa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8399" y="2294230"/>
            <a:ext cx="486461" cy="48646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89932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9817364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flutter doctor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9817364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Tutup &amp; buka ulang VS Code, lalu periksa di terminal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Membaca Hasil flutter doctor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176721"/>
                <a:gridCol w="1696793"/>
                <a:gridCol w="5220901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 [✓]?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 dari semuanya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- develop for the web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Menjalankan aplikasi di browser selama kuliah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toolchain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Opsional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untuk HP Android atau emulator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- develop Windows apps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untuk aplikasi desktop Windows. Abaikan.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[✓] sehat · [!] peringatan, baca pesannya · [✗] masalah, perbaiki jika bagian itu dibutuhkan.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Membuat Proyek Pertama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5669280" cy="2587752"/>
          </a:xfrm>
          <a:prstGeom prst="roundRect">
            <a:avLst>
              <a:gd name="adj" fmla="val 353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Cara B: lewat terminal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create halo_flutter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halo_flutter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Menjalankan di Chrome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devices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run -d chrome</a:t>
            </a:r>
            <a:endParaRPr lang="en-US" sz="1700" dirty="0"/>
          </a:p>
        </p:txBody>
      </p:sp>
      <p:sp>
        <p:nvSpPr>
          <p:cNvPr id="5" name="daftar poin"/>
          <p:cNvSpPr txBox="1"/>
          <p:nvPr/>
        </p:nvSpPr>
        <p:spPr>
          <a:xfrm>
            <a:off x="6629400" y="1417320"/>
            <a:ext cx="501365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Cara A (VS Code): Ctrl+Shift+P → Flutter: New Project → Application → pilih folder → ketik nama.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Nama proyek wajib snake_case: halo_flutter ✓, Halo Flutter ✗, halo-flutter ✗, 1halo ✗.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Kode Anda tinggal di lib/main.dart; identitas dan paket proyek di pubspec.yaml.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Folder android/, ios/, web/ berisi pengaturan platform; jarang disentuh di awal.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 Mana Aplikasi Dijalankan?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3484778" cy="3931920"/>
          </a:xfrm>
          <a:prstGeom prst="roundRect">
            <a:avLst>
              <a:gd name="adj" fmla="val 3149"/>
            </a:avLst>
          </a:prstGeom>
          <a:solidFill>
            <a:srgbClr val="E3F2FD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lingkaran web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Google Chrome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 Rekomendasi untuk lab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302757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Ringan, cocok untuk RAM 8 GB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VS Code: pilih Chrome, tekan F5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Terminal: flutter run -d chrome</a:t>
            </a:r>
            <a:endParaRPr lang="en-US" sz="1600" dirty="0"/>
          </a:p>
        </p:txBody>
      </p:sp>
      <p:sp>
        <p:nvSpPr>
          <p:cNvPr id="10" name="kolom 2"/>
          <p:cNvSpPr/>
          <p:nvPr/>
        </p:nvSpPr>
        <p:spPr>
          <a:xfrm>
            <a:off x="4353458" y="1371600"/>
            <a:ext cx="3484778" cy="393192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1" name="lingkaran usb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us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5018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HP Android asli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582058" y="24231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Opsional, butuh Android Studio</a:t>
            </a:r>
            <a:endParaRPr lang="en-US" sz="1400" dirty="0"/>
          </a:p>
        </p:txBody>
      </p:sp>
      <p:sp>
        <p:nvSpPr>
          <p:cNvPr id="15" name="daftar poin"/>
          <p:cNvSpPr txBox="1"/>
          <p:nvPr/>
        </p:nvSpPr>
        <p:spPr>
          <a:xfrm>
            <a:off x="4582058" y="2926080"/>
            <a:ext cx="302757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Aktifkan Opsi pengembang &amp; Debugging USB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Sambungkan kabel data, ketuk Izinkan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flutter devices → flutter run</a:t>
            </a:r>
            <a:endParaRPr lang="en-US" sz="1600" dirty="0"/>
          </a:p>
        </p:txBody>
      </p:sp>
      <p:sp>
        <p:nvSpPr>
          <p:cNvPr id="16" name="kolom 3"/>
          <p:cNvSpPr/>
          <p:nvPr/>
        </p:nvSpPr>
        <p:spPr>
          <a:xfrm>
            <a:off x="8158277" y="1371600"/>
            <a:ext cx="3484778" cy="393192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7" name="lingkaran memori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2" descr="memor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09837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Emulator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8386877" y="24231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Butuh RAM besar (disarankan 16 GB)</a:t>
            </a:r>
            <a:endParaRPr lang="en-US" sz="1400" dirty="0"/>
          </a:p>
        </p:txBody>
      </p:sp>
      <p:sp>
        <p:nvSpPr>
          <p:cNvPr id="21" name="daftar poin"/>
          <p:cNvSpPr txBox="1"/>
          <p:nvPr/>
        </p:nvSpPr>
        <p:spPr>
          <a:xfrm>
            <a:off x="8386877" y="2926080"/>
            <a:ext cx="302757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"HP palsu" di dalam komputer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Praktis, tetapi berat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Tidak disarankan untuk PC lab</a:t>
            </a:r>
            <a:endParaRPr lang="en-US" sz="1600" dirty="0"/>
          </a:p>
        </p:txBody>
      </p:sp>
      <p:sp>
        <p:nvSpPr>
          <p:cNvPr id="22" name="lingkaran lampu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3" descr="lamp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6528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8016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Saat flutter run di terminal: r = hot reload · R = hot restart · h = bantuan · q = berhenti.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Aplikasi Paling Sederhana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531870"/>
          </a:xfrm>
          <a:prstGeom prst="roundRect">
            <a:avLst>
              <a:gd name="adj" fmla="val 2589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'package:flutter/material.dart'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runApp(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'Halo, Dunia Flutter!'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textDirection: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TextDirection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.ltr,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TextStyle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(fontSize: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1_pengenalan_flutter/kode/01_aplikasi_pertama.dart"/>
          </p:cNvPr>
          <p:cNvSpPr txBox="1"/>
          <p:nvPr/>
        </p:nvSpPr>
        <p:spPr>
          <a:xfrm>
            <a:off x="548640" y="513207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01_aplikasi_pertama.dart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1_pengenalan_flutter/kode/01_aplikasi_pertama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22351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main() adalah pintu masuk: program selalu mulai dari sini.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runApp() memasang widget sebagai seluruh tampilan aplikasi.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Center menaruh anaknya (child) di tengah; Text menampilkan tulisan.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MaterialApp, arah tulisan (textDirection) wajib ditulis sendiri.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Semua Adalah Widget: MaterialApp &amp; Scaffold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AplikasiSaya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StatelessWidget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AplikasiSaya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.key});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MaterialApp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'Aplikasi Pertama'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home: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HalamanUtama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 dalam HalamanUtama.build():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appBar: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AppBar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(title: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(child: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'Isi'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1_pengenalan_flutter/kode/02_materialapp_dan_scaffold.dart"/>
          </p:cNvPr>
          <p:cNvSpPr txBox="1"/>
          <p:nvPr/>
        </p:nvSpPr>
        <p:spPr>
          <a:xfrm>
            <a:off x="548640" y="58064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02_materialapp_dan_scaffold.dart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1_pengenalan_flutter/kode/02_materialapp_dan_scaffold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8978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Widget disusun bertingkat seperti balok Lego: pohon widget.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StatelessWidget: widget buatan sendiri yang tampilannya tidak berubah sendiri.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build() adalah "resep" tampilan yang dipanggil Flutter.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MaterialApp = fondasi (tema, arah teks, navigasi). Scaffold = kerangka halaman: atap (appBar) dan isi (body).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Warna dari Tema, Bukan Ditulis Manual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771900"/>
          </a:xfrm>
          <a:prstGeom prst="roundRect">
            <a:avLst>
              <a:gd name="adj" fmla="val 242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ThemeData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colorScheme: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ColorScheme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.fromSeed(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seedColor: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.indigo, </a:t>
            </a:r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warna benih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memakai warna &amp; gaya teks dari tema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ColorScheme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warna =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.of(context).colorScheme;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TextTheme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gayaTeks =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.of(context).textTheme;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'Aplikasi Pertamaku'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style: gayaTeks.headlineMedium),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1_pengenalan_flutter/kode/03_tema_warna_dan_teks.dart"/>
          </p:cNvPr>
          <p:cNvSpPr txBox="1"/>
          <p:nvPr/>
        </p:nvSpPr>
        <p:spPr>
          <a:xfrm>
            <a:off x="548640" y="537210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03_tema_warna_dan_teks.dart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1_pengenalan_flutter/kode/03_tema_warna_dan_teks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46354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Satu warna benih → Flutter meracik palet Material 3 yang serasi.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Ambil warna dan gaya teks lewat Theme.of(context).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Ingin ganti warna seluruh aplikasi? Cukup ubah satu baris seedColor.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Hot Reload vs Hot Restart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11968"/>
                <a:gridCol w="4191224"/>
                <a:gridCol w="4191224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🔥 Hot Reload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Hot Restart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terjadi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baru disuntikkan ke aplikasi yang sedang berjalan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Aplikasi dimulai ulang dari main()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di layar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 (angka tidak kembali ke 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HILANG (kembali ke nilai awal)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Kecepatan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cepat (umumnya &lt; 1 detik)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Beberapa detik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Simpan (Ctrl+S) atau ikon petir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Ikon panah melingkar (Ctrl+Shift+F5)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Tekan 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Tekan 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ombol tautan">
            <a:hlinkClick r:id="rId1" tooltip="https://github.com/antonprafanto/mobile2026/blob/main/pertemuan_01_pengenalan_flutter/kode/04_hot_reload_vs_hot_restart.dart"/>
          </p:cNvPr>
          <p:cNvSpPr txBox="1"/>
          <p:nvPr/>
        </p:nvSpPr>
        <p:spPr>
          <a:xfrm>
            <a:off x="548640" y="548640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04_hot_reload_vs_hot_restart.dart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1_pengenalan_flutter/kode/04_hot_reload_vs_hot_restart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57784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Apa yang Terjadi Saat Tombol + Ditekan?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Aplikasi counter bawaan "flutter create" — versi berkomentar bahasa Indonesia ada di contoh 05.</a:t>
            </a:r>
            <a:endParaRPr lang="en-US" sz="1800" dirty="0"/>
          </a:p>
        </p:txBody>
      </p:sp>
      <p:sp>
        <p:nvSpPr>
          <p:cNvPr id="5" name="langkah 1"/>
          <p:cNvSpPr/>
          <p:nvPr/>
        </p:nvSpPr>
        <p:spPr>
          <a:xfrm>
            <a:off x="548640" y="2103120"/>
            <a:ext cx="1962851" cy="306324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6" name="lingkaran sentuh"/>
          <p:cNvSpPr/>
          <p:nvPr/>
        </p:nvSpPr>
        <p:spPr>
          <a:xfrm>
            <a:off x="1095726" y="2377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sentu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835" y="2568550"/>
            <a:ext cx="486461" cy="4864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8368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3832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Pengguna menekan +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2062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FloatingActionButton menerima sentuhan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548067" y="267004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langkah 2"/>
          <p:cNvSpPr/>
          <p:nvPr/>
        </p:nvSpPr>
        <p:spPr>
          <a:xfrm>
            <a:off x="2831531" y="2103120"/>
            <a:ext cx="1962851" cy="306324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3" name="lingkaran fungsi"/>
          <p:cNvSpPr/>
          <p:nvPr/>
        </p:nvSpPr>
        <p:spPr>
          <a:xfrm>
            <a:off x="3378617" y="2377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fung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26" y="2568550"/>
            <a:ext cx="486461" cy="48646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41259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968691" y="33832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Fungsi dipanggil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2968691" y="42062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_incrementCounter() yang terdaftar di onPressed dijalankan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830958" y="267004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langkah 3"/>
          <p:cNvSpPr/>
          <p:nvPr/>
        </p:nvSpPr>
        <p:spPr>
          <a:xfrm>
            <a:off x="5114422" y="2103120"/>
            <a:ext cx="1962851" cy="306324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0" name="lingkaran setel"/>
          <p:cNvSpPr/>
          <p:nvPr/>
        </p:nvSpPr>
        <p:spPr>
          <a:xfrm>
            <a:off x="5661508" y="2377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set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617" y="256855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2415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251582" y="33832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setState()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5251582" y="42062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Nilai _counter naik dan Flutter diberi tahu ada perubahan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113849" y="267004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6" name="langkah 4"/>
          <p:cNvSpPr/>
          <p:nvPr/>
        </p:nvSpPr>
        <p:spPr>
          <a:xfrm>
            <a:off x="7397313" y="2103120"/>
            <a:ext cx="1962851" cy="306324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7" name="lingkaran ulang"/>
          <p:cNvSpPr/>
          <p:nvPr/>
        </p:nvSpPr>
        <p:spPr>
          <a:xfrm>
            <a:off x="7944399" y="2377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3" descr="ula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508" y="2568550"/>
            <a:ext cx="486461" cy="48646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07041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534473" y="33832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build() diulang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7534473" y="42062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Flutter menggambar ulang halaman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9396740" y="267004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3" name="langkah 5"/>
          <p:cNvSpPr/>
          <p:nvPr/>
        </p:nvSpPr>
        <p:spPr>
          <a:xfrm>
            <a:off x="9680204" y="2103120"/>
            <a:ext cx="1962851" cy="306324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34" name="lingkaran lihat"/>
          <p:cNvSpPr/>
          <p:nvPr/>
        </p:nvSpPr>
        <p:spPr>
          <a:xfrm>
            <a:off x="10227290" y="23774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5" name="Image 4" descr="liha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8399" y="2568550"/>
            <a:ext cx="486461" cy="48646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789932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9817364" y="338328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Angka baru tampil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9817364" y="42062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Tanpa setState(), layar tidak berubah</a:t>
            </a:r>
            <a:endParaRPr lang="en-US" sz="1400" dirty="0"/>
          </a:p>
        </p:txBody>
      </p:sp>
      <p:sp>
        <p:nvSpPr>
          <p:cNvPr id="39" name="tombol tautan">
            <a:hlinkClick r:id="rId6" tooltip="https://github.com/antonprafanto/mobile2026/blob/main/pertemuan_01_pengenalan_flutter/kode/05_aplikasi_counter_bawaan.dart"/>
          </p:cNvPr>
          <p:cNvSpPr txBox="1"/>
          <p:nvPr/>
        </p:nvSpPr>
        <p:spPr>
          <a:xfrm>
            <a:off x="548640" y="544068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05_aplikasi_counter_bawaan.dart</a:t>
            </a:r>
            <a:endParaRPr lang="en-US" sz="1300" dirty="0"/>
          </a:p>
        </p:txBody>
      </p:sp>
      <p:pic>
        <p:nvPicPr>
          <p:cNvPr id="40" name="Image 5" descr="ikon tautan">
            <a:hlinkClick r:id="rId8" tooltip="https://github.com/antonprafanto/mobile2026/blob/main/pertemuan_01_pengenalan_flutter/kode/05_aplikasi_counter_bawaan.dart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53212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Kesalahan Umum Pemula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670479"/>
                <a:gridCol w="542393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Gejala / pesan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'flutter' is not recognized 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Tutup &amp; buka ulang terminal dan VS Code; periksa PATH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Flutter SDK is installed in a protected folder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Pindahkan SDK keluar dari C:\Program Files\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with plugins requires symlink support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Jalankan start ms-settings:developers, aktifkan Developer 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is not a valid Dart package 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Pakai snake_case: halo_flutter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Layar merah: No Directionality widget found.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Bungkus dengan MaterialApp atau beri textDirection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kode tidak terlihat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Tekan r di terminal; jika masih sama, tekan 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Ringkasan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Aplikasi mobile harus memperhatikan layar kecil, sentuhan, baterai, koneksi, sensor, dan pengguna yang sering berpindah aplikasi.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 Indonesia: Android ±79%, iOS ±21%. Idealnya aplikasi hadir di keduanya.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Tiga pendekatan: native, web/hibrida, lintas platform. Flutter termasuk lintas platform.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Flutter = framework UI, Dart = bahasanya. Flutter melukis sendiri tampilannya.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324448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10248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Siklus hidup: resumed, inactive, hidden, paused, detached.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10248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Alat wajib: Git, VS Code + ekstensi Flutter, Flutter SDK, Chrome; cek dengan flutter doctor.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24448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Semua adalah widget: MaterialApp sebagai fondasi, Scaffold sebagai kerangka halaman.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10248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Hot reload (r) menjaga data; hot restart (R) mengulang dari awal.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Saatnya Praktik!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Kerjakan Jobsheet Pertemuan 1, lalu uji pemahaman di Latihan. Pertemuan berikutnya: Dasar Pemrograman Dart.</a:t>
            </a:r>
            <a:endParaRPr lang="en-US" sz="2000" dirty="0"/>
          </a:p>
        </p:txBody>
      </p:sp>
      <p:sp>
        <p:nvSpPr>
          <p:cNvPr id="5" name="tombol tautan">
            <a:hlinkClick r:id="rId1" tooltip="https://github.com/antonprafanto/mobile2026/blob/main/pertemuan_01_pengenalan_flutter/JOBSHEET.md"/>
          </p:cNvPr>
          <p:cNvSpPr txBox="1"/>
          <p:nvPr/>
        </p:nvSpPr>
        <p:spPr>
          <a:xfrm>
            <a:off x="73152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Jobsheet P1</a:t>
            </a:r>
            <a:endParaRPr lang="en-US" sz="1600" dirty="0"/>
          </a:p>
        </p:txBody>
      </p:sp>
      <p:pic>
        <p:nvPicPr>
          <p:cNvPr id="6" name="Image 0" descr="ikon tautan">
            <a:hlinkClick r:id="rId3" tooltip="https://github.com/antonprafanto/mobile2026/blob/main/pertemuan_01_pengenalan_flutter/JOBSHEE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276088"/>
            <a:ext cx="329184" cy="329184"/>
          </a:xfrm>
          <a:prstGeom prst="rect">
            <a:avLst/>
          </a:prstGeom>
        </p:spPr>
      </p:pic>
      <p:sp>
        <p:nvSpPr>
          <p:cNvPr id="7" name="tombol tautan">
            <a:hlinkClick r:id="rId4" tooltip="https://github.com/antonprafanto/mobile2026/blob/main/pertemuan_01_pengenalan_flutter/LATIHAN.md"/>
          </p:cNvPr>
          <p:cNvSpPr txBox="1"/>
          <p:nvPr/>
        </p:nvSpPr>
        <p:spPr>
          <a:xfrm>
            <a:off x="361188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Latihan P1</a:t>
            </a:r>
            <a:endParaRPr lang="en-US" sz="1600" dirty="0"/>
          </a:p>
        </p:txBody>
      </p:sp>
      <p:pic>
        <p:nvPicPr>
          <p:cNvPr id="8" name="Image 1" descr="ikon tautan">
            <a:hlinkClick r:id="rId6" tooltip="https://github.com/antonprafanto/mobile2026/blob/main/pertemuan_01_pengenalan_flutter/LATIHAN.m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5276088"/>
            <a:ext cx="329184" cy="329184"/>
          </a:xfrm>
          <a:prstGeom prst="rect">
            <a:avLst/>
          </a:prstGeom>
        </p:spPr>
      </p:pic>
      <p:sp>
        <p:nvSpPr>
          <p:cNvPr id="9" name="tombol tautan">
            <a:hlinkClick r:id="rId7" tooltip="https://github.com/antonprafanto/mobile2026/blob/main/pertemuan_01_pengenalan_flutter/README.md"/>
          </p:cNvPr>
          <p:cNvSpPr txBox="1"/>
          <p:nvPr/>
        </p:nvSpPr>
        <p:spPr>
          <a:xfrm>
            <a:off x="649224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Modul P1</a:t>
            </a:r>
            <a:endParaRPr lang="en-US" sz="1600" dirty="0"/>
          </a:p>
        </p:txBody>
      </p:sp>
      <p:pic>
        <p:nvPicPr>
          <p:cNvPr id="10" name="Image 2" descr="ikon tautan">
            <a:hlinkClick r:id="rId9" tooltip="https://github.com/antonprafanto/mobile2026/blob/main/pertemuan_01_pengenalan_flutter/README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276088"/>
            <a:ext cx="329184" cy="329184"/>
          </a:xfrm>
          <a:prstGeom prst="rect">
            <a:avLst/>
          </a:prstGeom>
        </p:spPr>
      </p:pic>
      <p:sp>
        <p:nvSpPr>
          <p:cNvPr id="11" name="lingkaran roket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3" descr="roke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B Flutter 2026">
  <a:themeElements>
    <a:clrScheme name="PPB Flutter 2026">
      <a:dk1>
        <a:srgbClr val="1B2333"/>
      </a:dk1>
      <a:lt1>
        <a:srgbClr val="FFFFFF"/>
      </a:lt1>
      <a:dk2>
        <a:srgbClr val="0B2545"/>
      </a:dk2>
      <a:lt2>
        <a:srgbClr val="EEF3FA"/>
      </a:lt2>
      <a:accent1>
        <a:srgbClr val="0175C2"/>
      </a:accent1>
      <a:accent2>
        <a:srgbClr val="13B9FD"/>
      </a:accent2>
      <a:accent3>
        <a:srgbClr val="F2A900"/>
      </a:accent3>
      <a:accent4>
        <a:srgbClr val="2E7D32"/>
      </a:accent4>
      <a:accent5>
        <a:srgbClr val="C62828"/>
      </a:accent5>
      <a:accent6>
        <a:srgbClr val="6750A4"/>
      </a:accent6>
      <a:hlink>
        <a:srgbClr val="0175C2"/>
      </a:hlink>
      <a:folHlink>
        <a:srgbClr val="6750A4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01 - Pengenalan Flutter</dc:title>
  <dc:subject>Materi kuliah Pemrograman Piranti Bergerak (Flutter 2026)</dc:subject>
  <dc:creator>Pemrograman Piranti Bergerak - Informatika S1</dc:creator>
  <cp:lastModifiedBy>Pemrograman Piranti Bergerak - Informatika S1</cp:lastModifiedBy>
  <cp:revision>1</cp:revision>
  <dcterms:created xsi:type="dcterms:W3CDTF">2026-10-13T10:10:12Z</dcterms:created>
  <dcterms:modified xsi:type="dcterms:W3CDTF">2026-10-13T10:10:12Z</dcterms:modified>
</cp:coreProperties>
</file>