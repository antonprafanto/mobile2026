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b9cd337d-f82c-e61d-a776-5b7597e7a46f}">
          <p14:sldIdLst>
            <p14:sldId id="256"/>
            <p14:sldId id="257"/>
            <p14:sldId id="258"/>
          </p14:sldIdLst>
        </p14:section>
        <p14:section name="Apa Itu State?" id="{310ab129-1a99-0df5-e2ce-c6b8ac810641}">
          <p14:sldIdLst>
            <p14:sldId id="259"/>
            <p14:sldId id="260"/>
            <p14:sldId id="261"/>
            <p14:sldId id="262"/>
          </p14:sldIdLst>
        </p14:section>
        <p14:section name="Anatomi StatefulWidget" id="{242b3b96-1d2e-3462-c44e-9711981a1eb4}">
          <p14:sldIdLst>
            <p14:sldId id="263"/>
            <p14:sldId id="264"/>
            <p14:sldId id="265"/>
            <p14:sldId id="266"/>
          </p14:sldIdLst>
        </p14:section>
        <p14:section name="Tombol dan Sentuhan" id="{9322d30e-e225-1175-c093-e4c8f36b5f5d}">
          <p14:sldIdLst>
            <p14:sldId id="267"/>
            <p14:sldId id="268"/>
            <p14:sldId id="269"/>
          </p14:sldIdLst>
        </p14:section>
        <p14:section name="Memilih Nilai" id="{694761c3-9387-d171-99ff-2d6afa788f1a}">
          <p14:sldIdLst>
            <p14:sldId id="270"/>
            <p14:sldId id="271"/>
            <p14:sldId id="272"/>
            <p14:sldId id="273"/>
            <p14:sldId id="274"/>
          </p14:sldIdLst>
        </p14:section>
        <p14:section name="Siklus Hidup State" id="{33627c13-0858-1e10-f286-fe0319735ed7}">
          <p14:sldIdLst>
            <p14:sldId id="275"/>
            <p14:sldId id="276"/>
            <p14:sldId id="277"/>
          </p14:sldIdLst>
        </p14:section>
        <p14:section name="Teks, Formulir, dan Dialog" id="{f9d124d7-f565-da28-5840-97acf44ee48b}">
          <p14:sldIdLst>
            <p14:sldId id="278"/>
            <p14:sldId id="279"/>
            <p14:sldId id="280"/>
            <p14:sldId id="281"/>
            <p14:sldId id="282"/>
            <p14:sldId id="283"/>
            <p14:sldId id="284"/>
          </p14:sldIdLst>
        </p14:section>
        <p14:section name="Mengangkat State dan Studi Kasus" id="{aaefe8e8-5aed-46d6-8c7c-10524e711d6c}">
          <p14:sldIdLst>
            <p14:sldId id="285"/>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Pada Pertemuan 4 semua tombol masih onPressed: () {}. Hari ini tombol-tombol itu benar-benar bekerja. Bekal yang dipakai: class, getter, enum, async/await (Pertemuan 3) dan menyusun tampilan (Pertemuan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Target akhir hari ini: halaman Pesan Menu Kantin yang benar-benar bisa dipakai, dengan total harga yang ikut berubah dan dialog konfirmasi.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Alurnya: pahami dulu apa itu state, lalu buat aplikasi menanggapi sentuhan, intip siklus hidupnya, terima masukan pengguna dengan aman, dan akhirnya rangkai semuanya.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konsep: data yang berubah selama aplikasi dibuka, dan cara Flutter memperbarui layar.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Gaya deklaratif: kita tidak memerintah "ganti tulisan itu", tetapi mengubah data lalu Flutter menggambar ulang. Akibatnya tampilan tidak mungkin berbeda dengan datanya. Contoh state: angka penghitung, status centang, isi kolom yang sedang diketik, pilihan ukuran gelas.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kepada mahasiswa: apa yang terlihat di layar jika tombol ini ditekan 5 kali? (Tetap 0.) Tekankan kebiasaan: mulai dengan StatelessWidget, ubah menjadi StatefulWidget hanya jika ada data yang perlu berubah.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Pembedaan ini berasal dari dokumentasi Flutter (Differentiate between ephemeral state and app state). Batasnya tidak selalu tegas; jangan habiskan waktu memperdebatkannya.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Bedah contoh 01 (Pengingat Minum Air): dua class yang berpasangan dan cara kerja setState.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 ke kanan: 0, 3, dan 8 dari 8 gelas. Di VS Code ketik stful lalu Enter untuk membuat kerangka dua class ini. Tipe kembalian createState ditulis State&lt;HalamanMinumAir&gt; (aturan library_private_types_in_public_api), dan createState tidak boleh berisi logika lain (no_logic_in_create_state).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Contoh kode: void _tambahGelas() { setState(() { _gelas++; }); }. Jika _gelas++ ditulis tanpa setState, nilainya berubah di memori tetapi layar tidak ikut berubah: aplikasi terlihat macet. Peragakan di DartPad.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Pesan error baris ketiga: This expression has a type of 'void' so its value can't be used. Menonaktifkan tombol lebih baik daripada membiarkannya aktif lalu menolak di dalam fungsi: pengguna langsung melihat bahwa aksinya belum tersedia.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Memilih jenis tombol yang tepat, membuat apa saja bisa diketuk, dan memberi umpan balik.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Tooltip juga dibacakan oleh pembaca layar (TalkBack) untuk pengguna tunanetra. Kuis cepat: halaman pembayaran punya tombol Bayar dan Kembali ke keranjang. Jawaban: FilledButton dan OutlinedButton/TextButton.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diberi clipBehavior: Clip.antiAlias agar riak mengikuti sudut kartu. SnackBar yang punya action secara bawaan tidak hilang sendiri; persist: false membuatnya hilang setelah ±4 detik. Pola Batalkan dipakai untuk aksi yang mudah dikembalikan; untuk aksi permanen gunakan dialog (Bagian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Checkbox, Radio, SegmentedButton, Slider, dan Chip memakai pola yang sama: value + onChanged.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alurnya di papan: state → value → tampil → pengguna mengubah → onChanged → setState → state baru → build. Versi ListTile (SwitchListTile, CheckboxListTile, RadioListTile) membuat seluruh baris bisa diketuk.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kanan: saat Notifikasi dimatikan, kotak centang ikut nonaktif karena onChanged-nya bernilai null. Peringatan cara lama: groupValue is deprecated and shouldn't be used. Use a RadioGroup ancestor to manage group value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Pelajaran dari pengujian: masalah label terpotong hanya terlihat di lebar 320, tidak di 360. Kumpulan chip dibungkus Wrap (Pertemuan 4) agar pindah baris. Tanda (_) pada onSelected berarti nilai yang dikirim tidak dipakai.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Kuis cepat: kelas paralel A/B/C (SegmentedButton atau Radio), bidang lomba yang diminati (Checkbox atau FilterChip), persetujuan newsletter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Objek State lahir, bekerja, menerima arahan baru, lalu dibuang. Mengetahui urutannya membuat kita tahu di mana menaruh kode.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didChangeDependencies() dipanggil setelah initState() dan saat data dari atas (misalnya tema) berubah; jarang dipakai pemula. Pesan error jika Theme.of dipakai di initState: dependOnInheritedWidgetOfExactType ... was called before ...initState()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Jalankan contoh 06, buka panel Console di DartPad, lalu tekan tombolnya satu per satu sambil membaca catatan bersama mahasiswa. Catatan memakai debugPrint, bukan print (aturan avoid_print). Pertanyaan pancingan: jika _jumlah = 0 ditulis di dalam build(), apa yang terjadi? (Angka selalu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Menerima ketikan pengguna, memeriksa isiannya, lalu meminta konfirmasi dengan dialog.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 remote TV untuk kolom teks. Tanpa dispose, memorinya tidak pernah dikembalikan (memory leak). Controller yang dibuat di dalam build() membuat ketikan hilang dan kursor melompat. Atur keyboard dengan keyboardType, textInputAction, textCapitalization, maxLength, dan obscureText.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ExcludeFocus pada tombol hapus (×) di dalam kolom membuat tombol "lanjut" di keyboard langsung memindahkan fokus ke kolom berikutnya, bukan ke tombol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Tulis pesan error yang menunjukkan cara memperbaikinya, misalnya "Contoh email yang benar: rina@kampus.ac.id". Kolom khusus: NIM dengan digitsOnly + maxLength, kata sandi dengan obscureText + tombol mata, DropdownButtonFormField (pakai initialValue, bukan value yang usang), dan FormField&lt;bool&gt; untuk kotak centang persetujuan.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Gambar adalah versi pertama contoh 08: baru satu huruf R diketik di kolom Nama, tetapi semua kolom sudah merah. Pengguna dimarahi sebelum sempat mengisi. Mode lain: always (terus-menerus) dan onUnfocus (saat meninggalkan kolom).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showModalBottomSheet&lt;Prioritas&gt; bekerja dengan cara yang sama: Navigator.pop(context, p) mengirim pilihan. Aturan linter use_build_context_synchronously memperingatkan pemakaian context setelah await tanpa pemeriksaan mounted. Di luar class State, gunakan context.mounted.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Kuis cepat: konfirmasi keluar dari akun (dialog), memilih urutan daftar (bottom sheet), pesan "Tugas tersimpan" (SnackBar).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Ketika beberapa widget membutuhkan data yang sama, state dipindah ke induknya. Lalu semua konsep dirangkai dalam studi kasus.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Semboyan: data down, events up. Kartu tidak tahu apa yang terjadi saat tombolnya ditekan; ia hanya meneruskan fungsi dari induk, sehingga bisa dipakai di halaman lain dengan perilaku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Tanyakan sebelum menambah variabel state: bisakah nilai ini dihitung dari state yang sudah ada? Jika bisa, jadikan getter atau variabel lokal di build(). formatRupiah(15000) menghasilkan Rp15.000 dengan menyisipkan titik setiap tiga angka dari kanan.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Mulai dari tabel: daftar state dulu, lalu nilai turunannya. Favorit sengaja tidak dikembalikan setelah memesan, karena favorit adalah tanda menyukai menu, bukan bagian dari satu pesanan.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Ajak mahasiswa membiasakan diri: tekan setiap tombol, isi lalu tutup dialog, batalkan pilihan, coba nilai terkecil dan terbesar, dan uji di lebar 320 serta 360.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Tabel lengkap ada di modul bagian 14, termasuk pesan deprecated untuk Radio cara lama dan DropdownButtonFormField(value:).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Minta mahasiswa menyebutkan state dan nilai turunan pada halaman Pesan Menu Kantin.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Ingatkan: tugas mandiri wajib diuji seperti pengguna sungguhan (isian salah, batal dialog, ajukan sampai berhasil) dan bebas overflow di lebar 360 dan 320.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JUDUL">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8412480" y="2926080"/>
            <a:ext cx="5669280" cy="5669280"/>
          </a:xfrm>
          <a:prstGeom prst="ellipse">
            <a:avLst/>
          </a:prstGeom>
          <a:solidFill>
            <a:schemeClr val="accent1">
              <a:alpha val="30000"/>
            </a:schemeClr>
          </a:solidFill>
          <a:ln/>
        </p:spPr>
        <p:txBody>
          <a:bodyPr wrap="square" rtlCol="0" anchor="ctr"/>
          <a:lstStyle/>
          <a:p>
            <a:pPr indent="0" marL="0">
              <a:buNone/>
            </a:pPr>
            <a:endParaRPr lang="en-US" dirty="0"/>
          </a:p>
        </p:txBody>
      </p:sp>
      <p:sp>
        <p:nvSpPr>
          <p:cNvPr id="3" name="Text 1"/>
          <p:cNvSpPr/>
          <p:nvPr/>
        </p:nvSpPr>
        <p:spPr>
          <a:xfrm>
            <a:off x="9692640" y="-1280160"/>
            <a:ext cx="3291840" cy="3291840"/>
          </a:xfrm>
          <a:prstGeom prst="ellipse">
            <a:avLst/>
          </a:prstGeom>
          <a:solidFill>
            <a:schemeClr val="accent2">
              <a:alpha val="20000"/>
            </a:schemeClr>
          </a:solidFill>
          <a:ln/>
        </p:spPr>
        <p:txBody>
          <a:bodyPr wrap="square" rtlCol="0" anchor="ctr"/>
          <a:lstStyle/>
          <a:p>
            <a:pPr indent="0" marL="0">
              <a:buNone/>
            </a:pPr>
            <a:endParaRPr lang="en-US" dirty="0"/>
          </a:p>
        </p:txBody>
      </p:sp>
      <p:sp>
        <p:nvSpPr>
          <p:cNvPr id="4" name="Text 2"/>
          <p:cNvSpPr/>
          <p:nvPr/>
        </p:nvSpPr>
        <p:spPr>
          <a:xfrm>
            <a:off x="731520" y="1005840"/>
            <a:ext cx="82296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PEMROGRAMAN PIRANTI BERGERAK  ·  INFORMATIKA S1</a:t>
            </a:r>
            <a:endParaRPr lang="en-US" sz="1400" dirty="0"/>
          </a:p>
        </p:txBody>
      </p:sp>
      <p:sp>
        <p:nvSpPr>
          <p:cNvPr id="5" name="Text 3"/>
          <p:cNvSpPr/>
          <p:nvPr/>
        </p:nvSpPr>
        <p:spPr>
          <a:xfrm>
            <a:off x="731520" y="5989320"/>
            <a:ext cx="7315200" cy="320040"/>
          </a:xfrm>
          <a:prstGeom prst="rect">
            <a:avLst/>
          </a:prstGeom>
          <a:noFill/>
          <a:ln/>
        </p:spPr>
        <p:txBody>
          <a:bodyPr wrap="square" lIns="0" tIns="0" rIns="0" bIns="0" rtlCol="0" anchor="ctr"/>
          <a:lstStyle/>
          <a:p>
            <a:pPr indent="0" marL="0">
              <a:buNone/>
            </a:pPr>
            <a:r>
              <a:rPr lang="en-US" sz="1300" dirty="0">
                <a:solidFill>
                  <a:schemeClr val="bg2"/>
                </a:solidFill>
              </a:rPr>
              <a:t>github.com/antonprafanto/mobile2026</a:t>
            </a:r>
            <a:endParaRPr lang="en-US" sz="1300" dirty="0"/>
          </a:p>
        </p:txBody>
      </p:sp>
      <p:sp>
        <p:nvSpPr>
          <p:cNvPr id="6" name="Text 4"/>
          <p:cNvSpPr/>
          <p:nvPr>
            <p:ph idx="104" type="title" hasCustomPrompt="1"/>
          </p:nvPr>
        </p:nvSpPr>
        <p:spPr>
          <a:xfrm>
            <a:off x="731520" y="1554480"/>
            <a:ext cx="8778240" cy="21031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7" name="Text 4"/>
          <p:cNvSpPr/>
          <p:nvPr>
            <p:ph idx="105" type="body" hasCustomPrompt="1"/>
          </p:nvPr>
        </p:nvSpPr>
        <p:spPr>
          <a:xfrm>
            <a:off x="731520" y="3840480"/>
            <a:ext cx="8412480" cy="128016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GIAN">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1645920" y="4023360"/>
            <a:ext cx="4572000" cy="4572000"/>
          </a:xfrm>
          <a:prstGeom prst="ellipse">
            <a:avLst/>
          </a:prstGeom>
          <a:solidFill>
            <a:schemeClr val="accent1">
              <a:alpha val="25000"/>
            </a:schemeClr>
          </a:solidFill>
          <a:ln/>
        </p:spPr>
        <p:txBody>
          <a:bodyPr wrap="square" rtlCol="0" anchor="ctr"/>
          <a:lstStyle/>
          <a:p>
            <a:pPr indent="0" marL="0">
              <a:buNone/>
            </a:pPr>
            <a:endParaRPr lang="en-US" dirty="0"/>
          </a:p>
        </p:txBody>
      </p:sp>
      <p:sp>
        <p:nvSpPr>
          <p:cNvPr id="3" name="Text 1"/>
          <p:cNvSpPr/>
          <p:nvPr>
            <p:ph idx="101" type="body" hasCustomPrompt="1"/>
          </p:nvPr>
        </p:nvSpPr>
        <p:spPr>
          <a:xfrm>
            <a:off x="3840480" y="2103120"/>
            <a:ext cx="7680960" cy="457200"/>
          </a:xfrm>
          <a:prstGeom prst="rect">
            <a:avLst/>
          </a:prstGeom>
          <a:noFill/>
          <a:ln/>
        </p:spPr>
        <p:txBody>
          <a:bodyPr wrap="square" rtlCol="0"/>
          <a:lstStyle>
            <a:lvl1pPr indent="0" marL="0">
              <a:buNone/>
              <a:defRPr lang="en-US" sz="1800" b="1" spc="200" kern="0" dirty="0">
                <a:solidFill>
                  <a:schemeClr val="accent2"/>
                </a:solidFill>
              </a:defRPr>
            </a:lvl1pPr>
          </a:lstStyle>
          <a:p>
            <a:pPr indent="0" marL="0">
              <a:buNone/>
            </a:pP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5" name="Text 1"/>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chemeClr val="bg2"/>
                </a:solidFill>
              </a:rPr>
              <a:t>Pemrograman Piranti Bergerak  ·  Pertemuan 05  ·  Interaksi Pengguna &amp; State Lokal</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ONTE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8229600" cy="274320"/>
          </a:xfrm>
          <a:prstGeom prst="rect">
            <a:avLst/>
          </a:prstGeom>
          <a:noFill/>
          <a:ln/>
        </p:spPr>
        <p:txBody>
          <a:bodyPr wrap="square" lIns="0" tIns="0" rIns="0" bIns="0" rtlCol="0" anchor="ctr"/>
          <a:lstStyle/>
          <a:p>
            <a:pPr indent="0" marL="0">
              <a:buNone/>
            </a:pPr>
            <a:r>
              <a:rPr lang="en-US" sz="1000" dirty="0">
                <a:solidFill>
                  <a:srgbClr val="6B7A90"/>
                </a:solidFill>
              </a:rPr>
              <a:t>Pemrograman Piranti Bergerak  ·  Pertemuan 05  ·  Interaksi Pengguna &amp; State Lokal</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1.png"/><Relationship Id="rId3" Type="http://schemas.openxmlformats.org/officeDocument/2006/relationships/image" Target="../media/image-2-1.png"/><Relationship Id="rId4" Type="http://schemas.openxmlformats.org/officeDocument/2006/relationships/image" Target="../media/image-2-1.png"/><Relationship Id="rId5" Type="http://schemas.openxmlformats.org/officeDocument/2006/relationships/image" Target="../media/image-2-1.png"/><Relationship Id="rId6" Type="http://schemas.openxmlformats.org/officeDocument/2006/relationships/image" Target="../media/image-2-1.png"/><Relationship Id="rId7" Type="http://schemas.openxmlformats.org/officeDocument/2006/relationships/slideLayout" Target="../slideLayouts/slideLayout4.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4" Type="http://schemas.openxmlformats.org/officeDocument/2006/relationships/hyperlink" Target="https://github.com/antonprafanto/mobile2026/blob/main/pertemuan_05_interaksi_dan_state/kode/contoh_01_stateful_dasar.dart" TargetMode="External"/><Relationship Id="rId6" Type="http://schemas.openxmlformats.org/officeDocument/2006/relationships/hyperlink" Target="https://github.com/antonprafanto/mobile2026/blob/main/pertemuan_05_interaksi_dan_state/kode/contoh_01_stateful_dasar.dart" TargetMode="External"/><Relationship Id="rId1" Type="http://schemas.openxmlformats.org/officeDocument/2006/relationships/image" Target="../media/image-9-1.jpg"/><Relationship Id="rId2" Type="http://schemas.openxmlformats.org/officeDocument/2006/relationships/image" Target="../media/image-9-2.jpg"/><Relationship Id="rId3" Type="http://schemas.openxmlformats.org/officeDocument/2006/relationships/image" Target="../media/image-9-3.jpg"/><Relationship Id="rId5" Type="http://schemas.openxmlformats.org/officeDocument/2006/relationships/image" Target="../media/image-9-4.png"/><Relationship Id="rId7" Type="http://schemas.openxmlformats.org/officeDocument/2006/relationships/slideLayout" Target="../slideLayouts/slideLayout4.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4.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ntonprafanto/mobile2026/blob/main/pertemuan_05_interaksi_dan_state/kode/contoh_02_jenis_tombol.dart" TargetMode="External"/><Relationship Id="rId5" Type="http://schemas.openxmlformats.org/officeDocument/2006/relationships/hyperlink" Target="https://github.com/antonprafanto/mobile2026/blob/main/pertemuan_05_interaksi_dan_state/kode/contoh_02_jenis_tombol.dart" TargetMode="External"/><Relationship Id="rId1" Type="http://schemas.openxmlformats.org/officeDocument/2006/relationships/image" Target="../media/image-13-1.jpg"/><Relationship Id="rId2" Type="http://schemas.openxmlformats.org/officeDocument/2006/relationships/image" Target="../media/image-13-2.jpg"/><Relationship Id="rId4" Type="http://schemas.openxmlformats.org/officeDocument/2006/relationships/image" Target="../media/image-13-3.png"/><Relationship Id="rId6" Type="http://schemas.openxmlformats.org/officeDocument/2006/relationships/slideLayout" Target="../slideLayouts/slideLayout4.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github.com/antonprafanto/mobile2026/blob/main/pertemuan_05_interaksi_dan_state/kode/contoh_03_sentuhan_dan_snackbar.dart" TargetMode="External"/><Relationship Id="rId5" Type="http://schemas.openxmlformats.org/officeDocument/2006/relationships/hyperlink" Target="https://github.com/antonprafanto/mobile2026/blob/main/pertemuan_05_interaksi_dan_state/kode/contoh_03_sentuhan_dan_snackbar.dart" TargetMode="External"/><Relationship Id="rId1" Type="http://schemas.openxmlformats.org/officeDocument/2006/relationships/image" Target="../media/image-14-1.jpg"/><Relationship Id="rId2" Type="http://schemas.openxmlformats.org/officeDocument/2006/relationships/image" Target="../media/image-14-2.jpg"/><Relationship Id="rId4" Type="http://schemas.openxmlformats.org/officeDocument/2006/relationships/image" Target="../media/image-14-3.png"/><Relationship Id="rId6" Type="http://schemas.openxmlformats.org/officeDocument/2006/relationships/slideLayout" Target="../slideLayouts/slideLayout4.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4" Type="http://schemas.openxmlformats.org/officeDocument/2006/relationships/hyperlink" Target="https://github.com/antonprafanto/mobile2026/blob/main/pertemuan_05_interaksi_dan_state/kode/contoh_04_switch_checkbox_radio.dart" TargetMode="External"/><Relationship Id="rId6" Type="http://schemas.openxmlformats.org/officeDocument/2006/relationships/hyperlink" Target="https://github.com/antonprafanto/mobile2026/blob/main/pertemuan_05_interaksi_dan_state/kode/contoh_04_switch_checkbox_radio.dart" TargetMode="External"/><Relationship Id="rId1" Type="http://schemas.openxmlformats.org/officeDocument/2006/relationships/image" Target="../media/image-17-1.jpg"/><Relationship Id="rId2" Type="http://schemas.openxmlformats.org/officeDocument/2006/relationships/image" Target="../media/image-17-2.jpg"/><Relationship Id="rId3" Type="http://schemas.openxmlformats.org/officeDocument/2006/relationships/image" Target="../media/image-17-3.jpg"/><Relationship Id="rId5" Type="http://schemas.openxmlformats.org/officeDocument/2006/relationships/image" Target="../media/image-17-4.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antonprafanto/mobile2026/blob/main/pertemuan_05_interaksi_dan_state/kode/contoh_05_slider_segmented_chip.dart" TargetMode="External"/><Relationship Id="rId5" Type="http://schemas.openxmlformats.org/officeDocument/2006/relationships/hyperlink" Target="https://github.com/antonprafanto/mobile2026/blob/main/pertemuan_05_interaksi_dan_state/kode/contoh_05_slider_segmented_chip.dart" TargetMode="External"/><Relationship Id="rId1" Type="http://schemas.openxmlformats.org/officeDocument/2006/relationships/image" Target="../media/image-18-1.jpg"/><Relationship Id="rId2" Type="http://schemas.openxmlformats.org/officeDocument/2006/relationships/image" Target="../media/image-18-2.jpg"/><Relationship Id="rId4" Type="http://schemas.openxmlformats.org/officeDocument/2006/relationships/image" Target="../media/image-18-3.png"/><Relationship Id="rId6" Type="http://schemas.openxmlformats.org/officeDocument/2006/relationships/slideLayout" Target="../slideLayouts/slideLayout4.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antonprafanto/mobile2026/blob/main/pertemuan_05_interaksi_dan_state/kode/contoh_06_siklus_hidup_state.dart" TargetMode="External"/><Relationship Id="rId4" Type="http://schemas.openxmlformats.org/officeDocument/2006/relationships/hyperlink" Target="https://github.com/antonprafanto/mobile2026/blob/main/pertemuan_05_interaksi_dan_state/kode/contoh_06_siklus_hidup_state.dart" TargetMode="External"/><Relationship Id="rId1" Type="http://schemas.openxmlformats.org/officeDocument/2006/relationships/image" Target="../media/image-22-1.jpg"/><Relationship Id="rId3" Type="http://schemas.openxmlformats.org/officeDocument/2006/relationships/image" Target="../media/image-22-2.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antonprafanto/mobile2026/blob/main/pertemuan_05_interaksi_dan_state/kode/contoh_07_textfield_controller.dart" TargetMode="External"/><Relationship Id="rId5" Type="http://schemas.openxmlformats.org/officeDocument/2006/relationships/hyperlink" Target="https://github.com/antonprafanto/mobile2026/blob/main/pertemuan_05_interaksi_dan_state/kode/contoh_07_textfield_controller.dart" TargetMode="External"/><Relationship Id="rId1" Type="http://schemas.openxmlformats.org/officeDocument/2006/relationships/image" Target="../media/image-24-1.jpg"/><Relationship Id="rId2" Type="http://schemas.openxmlformats.org/officeDocument/2006/relationships/image" Target="../media/image-24-2.jpg"/><Relationship Id="rId4" Type="http://schemas.openxmlformats.org/officeDocument/2006/relationships/image" Target="../media/image-24-3.png"/><Relationship Id="rId6" Type="http://schemas.openxmlformats.org/officeDocument/2006/relationships/slideLayout" Target="../slideLayouts/slideLayout4.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slideLayout" Target="../slideLayouts/slideLayout4.xml"/><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4" Type="http://schemas.openxmlformats.org/officeDocument/2006/relationships/hyperlink" Target="https://github.com/antonprafanto/mobile2026/blob/main/pertemuan_05_interaksi_dan_state/kode/contoh_08_form_validasi.dart" TargetMode="External"/><Relationship Id="rId6" Type="http://schemas.openxmlformats.org/officeDocument/2006/relationships/hyperlink" Target="https://github.com/antonprafanto/mobile2026/blob/main/pertemuan_05_interaksi_dan_state/kode/contoh_08_form_validasi.dart" TargetMode="External"/><Relationship Id="rId1" Type="http://schemas.openxmlformats.org/officeDocument/2006/relationships/image" Target="../media/image-26-1.jpg"/><Relationship Id="rId2" Type="http://schemas.openxmlformats.org/officeDocument/2006/relationships/image" Target="../media/image-26-2.jpg"/><Relationship Id="rId3" Type="http://schemas.openxmlformats.org/officeDocument/2006/relationships/image" Target="../media/image-26-3.jpg"/><Relationship Id="rId5" Type="http://schemas.openxmlformats.org/officeDocument/2006/relationships/image" Target="../media/image-26-4.png"/><Relationship Id="rId7" Type="http://schemas.openxmlformats.org/officeDocument/2006/relationships/slideLayout" Target="../slideLayouts/slideLayout4.xml"/><Relationship Id="rId8"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antonprafanto/mobile2026/blob/main/pertemuan_05_interaksi_dan_state/kode/contoh_09_dialog_dan_bottom_sheet.dart" TargetMode="External"/><Relationship Id="rId5" Type="http://schemas.openxmlformats.org/officeDocument/2006/relationships/hyperlink" Target="https://github.com/antonprafanto/mobile2026/blob/main/pertemuan_05_interaksi_dan_state/kode/contoh_09_dialog_dan_bottom_sheet.dart" TargetMode="External"/><Relationship Id="rId1" Type="http://schemas.openxmlformats.org/officeDocument/2006/relationships/image" Target="../media/image-28-1.jpg"/><Relationship Id="rId2" Type="http://schemas.openxmlformats.org/officeDocument/2006/relationships/image" Target="../media/image-28-2.jpg"/><Relationship Id="rId4" Type="http://schemas.openxmlformats.org/officeDocument/2006/relationships/image" Target="../media/image-28-3.png"/><Relationship Id="rId6" Type="http://schemas.openxmlformats.org/officeDocument/2006/relationships/slideLayout" Target="../slideLayouts/slideLayout4.xml"/><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2" Type="http://schemas.openxmlformats.org/officeDocument/2006/relationships/hyperlink" Target="https://github.com/antonprafanto/mobile2026/blob/main/pertemuan_05_interaksi_dan_state/kode/contoh_10_mengangkat_state.dart" TargetMode="External"/><Relationship Id="rId4" Type="http://schemas.openxmlformats.org/officeDocument/2006/relationships/hyperlink" Target="https://github.com/antonprafanto/mobile2026/blob/main/pertemuan_05_interaksi_dan_state/kode/contoh_10_mengangkat_state.dart" TargetMode="External"/><Relationship Id="rId1" Type="http://schemas.openxmlformats.org/officeDocument/2006/relationships/image" Target="../media/image-31-1.jpg"/><Relationship Id="rId3" Type="http://schemas.openxmlformats.org/officeDocument/2006/relationships/image" Target="../media/image-31-2.png"/><Relationship Id="rId5" Type="http://schemas.openxmlformats.org/officeDocument/2006/relationships/slideLayout" Target="../slideLayouts/slideLayout4.xml"/><Relationship Id="rId6"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antonprafanto/mobile2026/blob/main/pertemuan_05_interaksi_dan_state/kode/contoh_11_studi_kasus_pesan_menu.dart" TargetMode="External"/><Relationship Id="rId5" Type="http://schemas.openxmlformats.org/officeDocument/2006/relationships/hyperlink" Target="https://github.com/antonprafanto/mobile2026/blob/main/pertemuan_05_interaksi_dan_state/kode/contoh_11_studi_kasus_pesan_menu.dart" TargetMode="External"/><Relationship Id="rId1" Type="http://schemas.openxmlformats.org/officeDocument/2006/relationships/image" Target="../media/image-33-1.jpg"/><Relationship Id="rId2" Type="http://schemas.openxmlformats.org/officeDocument/2006/relationships/image" Target="../media/image-33-2.jpg"/><Relationship Id="rId4" Type="http://schemas.openxmlformats.org/officeDocument/2006/relationships/image" Target="../media/image-33-3.png"/><Relationship Id="rId6" Type="http://schemas.openxmlformats.org/officeDocument/2006/relationships/slideLayout" Target="../slideLayouts/slideLayout4.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slideLayout" Target="../slideLayouts/slideLayout4.xml"/><Relationship Id="rId5"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hyperlink" Target="https://github.com/antonprafanto/mobile2026/blob/main/pertemuan_05_interaksi_dan_state/JOBSHEET.md" TargetMode="External"/><Relationship Id="rId3" Type="http://schemas.openxmlformats.org/officeDocument/2006/relationships/hyperlink" Target="https://github.com/antonprafanto/mobile2026/blob/main/pertemuan_05_interaksi_dan_state/JOBSHEET.md" TargetMode="External"/><Relationship Id="rId4" Type="http://schemas.openxmlformats.org/officeDocument/2006/relationships/hyperlink" Target="https://github.com/antonprafanto/mobile2026/blob/main/pertemuan_05_interaksi_dan_state/LATIHAN.md" TargetMode="External"/><Relationship Id="rId6" Type="http://schemas.openxmlformats.org/officeDocument/2006/relationships/hyperlink" Target="https://github.com/antonprafanto/mobile2026/blob/main/pertemuan_05_interaksi_dan_state/LATIHAN.md" TargetMode="External"/><Relationship Id="rId7" Type="http://schemas.openxmlformats.org/officeDocument/2006/relationships/hyperlink" Target="https://github.com/antonprafanto/mobile2026/blob/main/pertemuan_05_interaksi_dan_state/README.md" TargetMode="External"/><Relationship Id="rId9" Type="http://schemas.openxmlformats.org/officeDocument/2006/relationships/hyperlink" Target="https://github.com/antonprafanto/mobile2026/blob/main/pertemuan_05_interaksi_dan_state/README.md" TargetMode="External"/><Relationship Id="rId2" Type="http://schemas.openxmlformats.org/officeDocument/2006/relationships/image" Target="../media/image-37-1.png"/><Relationship Id="rId5" Type="http://schemas.openxmlformats.org/officeDocument/2006/relationships/image" Target="../media/image-37-2.png"/><Relationship Id="rId8" Type="http://schemas.openxmlformats.org/officeDocument/2006/relationships/image" Target="../media/image-37-3.png"/><Relationship Id="rId10" Type="http://schemas.openxmlformats.org/officeDocument/2006/relationships/image" Target="../media/image-37-4.png"/><Relationship Id="rId11" Type="http://schemas.openxmlformats.org/officeDocument/2006/relationships/slideLayout" Target="../slideLayouts/slideLayout2.xml"/><Relationship Id="rId1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Interaksi Pengguna &amp; State Lokal</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Pertemuan 5  ·  StatefulWidget, setState, tombol &amp; sentuhan, pemilih nilai, siklus hidup, formulir, dialog, dan mengangkat state</a:t>
            </a:r>
            <a:endParaRPr lang="en-US" sz="2000" dirty="0"/>
          </a:p>
        </p:txBody>
      </p:sp>
      <p:sp>
        <p:nvSpPr>
          <p:cNvPr id="5" name="lingkaran hp"/>
          <p:cNvSpPr/>
          <p:nvPr/>
        </p:nvSpPr>
        <p:spPr>
          <a:xfrm>
            <a:off x="9646920" y="1828800"/>
            <a:ext cx="1737360" cy="1737360"/>
          </a:xfrm>
          <a:prstGeom prst="ellipse">
            <a:avLst/>
          </a:prstGeom>
          <a:solidFill>
            <a:schemeClr val="accent1"/>
          </a:solidFill>
          <a:ln/>
        </p:spPr>
      </p:sp>
      <p:pic>
        <p:nvPicPr>
          <p:cNvPr id="6" name="Image 0" descr="hp">    </p:cNvPr>
          <p:cNvPicPr>
            <a:picLocks noChangeAspect="1"/>
          </p:cNvPicPr>
          <p:nvPr/>
        </p:nvPicPr>
        <p:blipFill>
          <a:blip r:embed="rId1"/>
          <a:stretch>
            <a:fillRect/>
          </a:stretch>
        </p:blipFill>
        <p:spPr>
          <a:xfrm>
            <a:off x="10029139" y="2211019"/>
            <a:ext cx="972922" cy="97292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Tujuan Pembelajaran</a:t>
            </a:r>
            <a:endParaRPr lang="en-US" sz="3200" dirty="0"/>
          </a:p>
        </p:txBody>
      </p:sp>
      <p:sp>
        <p:nvSpPr>
          <p:cNvPr id="4" name="Text 1"/>
          <p:cNvSpPr txBox="1"/>
          <p:nvPr/>
        </p:nvSpPr>
        <p:spPr>
          <a:xfrm>
            <a:off x="548640" y="1325880"/>
            <a:ext cx="11094415" cy="411480"/>
          </a:xfrm>
          <a:prstGeom prst="rect">
            <a:avLst/>
          </a:prstGeom>
          <a:noFill/>
          <a:ln/>
        </p:spPr>
        <p:txBody>
          <a:bodyPr wrap="square" lIns="0" tIns="0" rIns="0" bIns="0" rtlCol="0" anchor="ctr"/>
          <a:lstStyle/>
          <a:p>
            <a:pPr indent="0" marL="0">
              <a:buNone/>
            </a:pPr>
            <a:r>
              <a:rPr lang="en-US" sz="1800" i="1" dirty="0">
                <a:solidFill>
                  <a:srgbClr val="4A5870"/>
                </a:solidFill>
              </a:rPr>
              <a:t>Setelah pertemuan ini, Anda mampu:</a:t>
            </a:r>
            <a:endParaRPr lang="en-US" sz="1800" dirty="0"/>
          </a:p>
        </p:txBody>
      </p:sp>
      <p:sp>
        <p:nvSpPr>
          <p:cNvPr id="5" name="lingkaran centang"/>
          <p:cNvSpPr/>
          <p:nvPr/>
        </p:nvSpPr>
        <p:spPr>
          <a:xfrm>
            <a:off x="548640" y="2011680"/>
            <a:ext cx="594360" cy="594360"/>
          </a:xfrm>
          <a:prstGeom prst="ellipse">
            <a:avLst/>
          </a:prstGeom>
          <a:solidFill>
            <a:schemeClr val="accent4"/>
          </a:solidFill>
          <a:ln/>
        </p:spPr>
      </p:sp>
      <p:pic>
        <p:nvPicPr>
          <p:cNvPr id="6" name="Image 0" descr="centang">    </p:cNvPr>
          <p:cNvPicPr>
            <a:picLocks noChangeAspect="1"/>
          </p:cNvPicPr>
          <p:nvPr/>
        </p:nvPicPr>
        <p:blipFill>
          <a:blip r:embed="rId1"/>
          <a:stretch>
            <a:fillRect/>
          </a:stretch>
        </p:blipFill>
        <p:spPr>
          <a:xfrm>
            <a:off x="679399" y="2142439"/>
            <a:ext cx="332842" cy="332842"/>
          </a:xfrm>
          <a:prstGeom prst="rect">
            <a:avLst/>
          </a:prstGeom>
        </p:spPr>
      </p:pic>
      <p:sp>
        <p:nvSpPr>
          <p:cNvPr id="7" name="Text 3"/>
          <p:cNvSpPr txBox="1"/>
          <p:nvPr/>
        </p:nvSpPr>
        <p:spPr>
          <a:xfrm>
            <a:off x="1325880"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arti state dan memilih StatelessWidget atau StatefulWidget</a:t>
            </a:r>
            <a:endParaRPr lang="en-US" sz="1900" dirty="0"/>
          </a:p>
        </p:txBody>
      </p:sp>
      <p:sp>
        <p:nvSpPr>
          <p:cNvPr id="8" name="lingkaran centang"/>
          <p:cNvSpPr/>
          <p:nvPr/>
        </p:nvSpPr>
        <p:spPr>
          <a:xfrm>
            <a:off x="548640" y="3200400"/>
            <a:ext cx="594360" cy="594360"/>
          </a:xfrm>
          <a:prstGeom prst="ellipse">
            <a:avLst/>
          </a:prstGeom>
          <a:solidFill>
            <a:schemeClr val="accent4"/>
          </a:solidFill>
          <a:ln/>
        </p:spPr>
      </p:sp>
      <p:pic>
        <p:nvPicPr>
          <p:cNvPr id="9" name="Image 1" descr="centang">    </p:cNvPr>
          <p:cNvPicPr>
            <a:picLocks noChangeAspect="1"/>
          </p:cNvPicPr>
          <p:nvPr/>
        </p:nvPicPr>
        <p:blipFill>
          <a:blip r:embed="rId2"/>
          <a:stretch>
            <a:fillRect/>
          </a:stretch>
        </p:blipFill>
        <p:spPr>
          <a:xfrm>
            <a:off x="679399" y="3331159"/>
            <a:ext cx="332842" cy="332842"/>
          </a:xfrm>
          <a:prstGeom prst="rect">
            <a:avLst/>
          </a:prstGeom>
        </p:spPr>
      </p:pic>
      <p:sp>
        <p:nvSpPr>
          <p:cNvPr id="10" name="Text 5"/>
          <p:cNvSpPr txBox="1"/>
          <p:nvPr/>
        </p:nvSpPr>
        <p:spPr>
          <a:xfrm>
            <a:off x="1325880" y="31089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Memperbarui tampilan dengan setState() dan menonaktifkan tombol</a:t>
            </a:r>
            <a:endParaRPr lang="en-US" sz="1900" dirty="0"/>
          </a:p>
        </p:txBody>
      </p:sp>
      <p:sp>
        <p:nvSpPr>
          <p:cNvPr id="11" name="lingkaran centang"/>
          <p:cNvSpPr/>
          <p:nvPr/>
        </p:nvSpPr>
        <p:spPr>
          <a:xfrm>
            <a:off x="548640" y="4389120"/>
            <a:ext cx="594360" cy="594360"/>
          </a:xfrm>
          <a:prstGeom prst="ellipse">
            <a:avLst/>
          </a:prstGeom>
          <a:solidFill>
            <a:schemeClr val="accent4"/>
          </a:solidFill>
          <a:ln/>
        </p:spPr>
      </p:sp>
      <p:pic>
        <p:nvPicPr>
          <p:cNvPr id="12" name="Image 2" descr="centang">    </p:cNvPr>
          <p:cNvPicPr>
            <a:picLocks noChangeAspect="1"/>
          </p:cNvPicPr>
          <p:nvPr/>
        </p:nvPicPr>
        <p:blipFill>
          <a:blip r:embed="rId3"/>
          <a:stretch>
            <a:fillRect/>
          </a:stretch>
        </p:blipFill>
        <p:spPr>
          <a:xfrm>
            <a:off x="679399" y="4519879"/>
            <a:ext cx="332842" cy="332842"/>
          </a:xfrm>
          <a:prstGeom prst="rect">
            <a:avLst/>
          </a:prstGeom>
        </p:spPr>
      </p:pic>
      <p:sp>
        <p:nvSpPr>
          <p:cNvPr id="13" name="Text 7"/>
          <p:cNvSpPr txBox="1"/>
          <p:nvPr/>
        </p:nvSpPr>
        <p:spPr>
          <a:xfrm>
            <a:off x="1325880" y="42976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Memakai tombol, sentuhan, SnackBar, dan widget pemilih nilai</a:t>
            </a:r>
            <a:endParaRPr lang="en-US" sz="1900" dirty="0"/>
          </a:p>
        </p:txBody>
      </p:sp>
      <p:sp>
        <p:nvSpPr>
          <p:cNvPr id="14" name="lingkaran centang"/>
          <p:cNvSpPr/>
          <p:nvPr/>
        </p:nvSpPr>
        <p:spPr>
          <a:xfrm>
            <a:off x="6278728" y="2011680"/>
            <a:ext cx="594360" cy="594360"/>
          </a:xfrm>
          <a:prstGeom prst="ellipse">
            <a:avLst/>
          </a:prstGeom>
          <a:solidFill>
            <a:schemeClr val="accent4"/>
          </a:solidFill>
          <a:ln/>
        </p:spPr>
      </p:sp>
      <p:pic>
        <p:nvPicPr>
          <p:cNvPr id="15" name="Image 3" descr="centang">    </p:cNvPr>
          <p:cNvPicPr>
            <a:picLocks noChangeAspect="1"/>
          </p:cNvPicPr>
          <p:nvPr/>
        </p:nvPicPr>
        <p:blipFill>
          <a:blip r:embed="rId4"/>
          <a:stretch>
            <a:fillRect/>
          </a:stretch>
        </p:blipFill>
        <p:spPr>
          <a:xfrm>
            <a:off x="6409487" y="2142439"/>
            <a:ext cx="332842" cy="332842"/>
          </a:xfrm>
          <a:prstGeom prst="rect">
            <a:avLst/>
          </a:prstGeom>
        </p:spPr>
      </p:pic>
      <p:sp>
        <p:nvSpPr>
          <p:cNvPr id="16" name="Text 9"/>
          <p:cNvSpPr txBox="1"/>
          <p:nvPr/>
        </p:nvSpPr>
        <p:spPr>
          <a:xfrm>
            <a:off x="7055968" y="192024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Menjelaskan siklus hidup State: initState, build, dispose</a:t>
            </a:r>
            <a:endParaRPr lang="en-US" sz="1900" dirty="0"/>
          </a:p>
        </p:txBody>
      </p:sp>
      <p:sp>
        <p:nvSpPr>
          <p:cNvPr id="17" name="lingkaran centang"/>
          <p:cNvSpPr/>
          <p:nvPr/>
        </p:nvSpPr>
        <p:spPr>
          <a:xfrm>
            <a:off x="6278728" y="3200400"/>
            <a:ext cx="594360" cy="594360"/>
          </a:xfrm>
          <a:prstGeom prst="ellipse">
            <a:avLst/>
          </a:prstGeom>
          <a:solidFill>
            <a:schemeClr val="accent4"/>
          </a:solidFill>
          <a:ln/>
        </p:spPr>
      </p:sp>
      <p:pic>
        <p:nvPicPr>
          <p:cNvPr id="18" name="Image 4" descr="centang">    </p:cNvPr>
          <p:cNvPicPr>
            <a:picLocks noChangeAspect="1"/>
          </p:cNvPicPr>
          <p:nvPr/>
        </p:nvPicPr>
        <p:blipFill>
          <a:blip r:embed="rId5"/>
          <a:stretch>
            <a:fillRect/>
          </a:stretch>
        </p:blipFill>
        <p:spPr>
          <a:xfrm>
            <a:off x="6409487" y="3331159"/>
            <a:ext cx="332842" cy="332842"/>
          </a:xfrm>
          <a:prstGeom prst="rect">
            <a:avLst/>
          </a:prstGeom>
        </p:spPr>
      </p:pic>
      <p:sp>
        <p:nvSpPr>
          <p:cNvPr id="19" name="Text 11"/>
          <p:cNvSpPr txBox="1"/>
          <p:nvPr/>
        </p:nvSpPr>
        <p:spPr>
          <a:xfrm>
            <a:off x="7055968" y="310896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Membuat formulir dengan validator, dialog, dan pemeriksaan mounted</a:t>
            </a:r>
            <a:endParaRPr lang="en-US" sz="1900" dirty="0"/>
          </a:p>
        </p:txBody>
      </p:sp>
      <p:sp>
        <p:nvSpPr>
          <p:cNvPr id="20" name="lingkaran centang"/>
          <p:cNvSpPr/>
          <p:nvPr/>
        </p:nvSpPr>
        <p:spPr>
          <a:xfrm>
            <a:off x="6278728" y="4389120"/>
            <a:ext cx="594360" cy="594360"/>
          </a:xfrm>
          <a:prstGeom prst="ellipse">
            <a:avLst/>
          </a:prstGeom>
          <a:solidFill>
            <a:schemeClr val="accent4"/>
          </a:solidFill>
          <a:ln/>
        </p:spPr>
      </p:sp>
      <p:pic>
        <p:nvPicPr>
          <p:cNvPr id="21" name="Image 5" descr="centang">    </p:cNvPr>
          <p:cNvPicPr>
            <a:picLocks noChangeAspect="1"/>
          </p:cNvPicPr>
          <p:nvPr/>
        </p:nvPicPr>
        <p:blipFill>
          <a:blip r:embed="rId6"/>
          <a:stretch>
            <a:fillRect/>
          </a:stretch>
        </p:blipFill>
        <p:spPr>
          <a:xfrm>
            <a:off x="6409487" y="4519879"/>
            <a:ext cx="332842" cy="332842"/>
          </a:xfrm>
          <a:prstGeom prst="rect">
            <a:avLst/>
          </a:prstGeom>
        </p:spPr>
      </p:pic>
      <p:sp>
        <p:nvSpPr>
          <p:cNvPr id="22" name="Text 13"/>
          <p:cNvSpPr txBox="1"/>
          <p:nvPr/>
        </p:nvSpPr>
        <p:spPr>
          <a:xfrm>
            <a:off x="7055968" y="4297680"/>
            <a:ext cx="4587088" cy="777240"/>
          </a:xfrm>
          <a:prstGeom prst="rect">
            <a:avLst/>
          </a:prstGeom>
          <a:noFill/>
          <a:ln/>
        </p:spPr>
        <p:txBody>
          <a:bodyPr wrap="square" lIns="0" tIns="0" rIns="0" bIns="0" rtlCol="0" anchor="ctr"/>
          <a:lstStyle/>
          <a:p>
            <a:pPr indent="0" marL="0">
              <a:buNone/>
            </a:pPr>
            <a:r>
              <a:rPr lang="en-US" sz="1900" dirty="0">
                <a:solidFill>
                  <a:schemeClr val="tx1"/>
                </a:solidFill>
              </a:rPr>
              <a:t>Mengangkat state ke induk dan memakai callback dari widget anak</a:t>
            </a:r>
            <a:endParaRPr lang="en-US" sz="19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Peta Materi Hari Ini</a:t>
            </a:r>
            <a:endParaRPr lang="en-US" sz="3200" dirty="0"/>
          </a:p>
        </p:txBody>
      </p:sp>
      <p:sp>
        <p:nvSpPr>
          <p:cNvPr id="4" name="langkah 1"/>
          <p:cNvSpPr/>
          <p:nvPr/>
        </p:nvSpPr>
        <p:spPr>
          <a:xfrm>
            <a:off x="548640" y="1828800"/>
            <a:ext cx="1582369" cy="3566160"/>
          </a:xfrm>
          <a:prstGeom prst="roundRect">
            <a:avLst>
              <a:gd name="adj" fmla="val 8668"/>
            </a:avLst>
          </a:prstGeom>
          <a:solidFill>
            <a:schemeClr val="bg2"/>
          </a:solidFill>
          <a:ln/>
        </p:spPr>
      </p:sp>
      <p:sp>
        <p:nvSpPr>
          <p:cNvPr id="5" name="lingkaran sinkron"/>
          <p:cNvSpPr/>
          <p:nvPr/>
        </p:nvSpPr>
        <p:spPr>
          <a:xfrm>
            <a:off x="905485" y="2103120"/>
            <a:ext cx="868680" cy="868680"/>
          </a:xfrm>
          <a:prstGeom prst="ellipse">
            <a:avLst/>
          </a:prstGeom>
          <a:solidFill>
            <a:schemeClr val="accent1"/>
          </a:solidFill>
          <a:ln/>
        </p:spPr>
      </p:sp>
      <p:pic>
        <p:nvPicPr>
          <p:cNvPr id="6" name="Image 0" descr="sinkron">    </p:cNvPr>
          <p:cNvPicPr>
            <a:picLocks noChangeAspect="1"/>
          </p:cNvPicPr>
          <p:nvPr/>
        </p:nvPicPr>
        <p:blipFill>
          <a:blip r:embed="rId1"/>
          <a:stretch>
            <a:fillRect/>
          </a:stretch>
        </p:blipFill>
        <p:spPr>
          <a:xfrm>
            <a:off x="1096594"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Apa itu state</a:t>
            </a:r>
            <a:endParaRPr lang="en-US" sz="1700" dirty="0"/>
          </a:p>
        </p:txBody>
      </p:sp>
      <p:sp>
        <p:nvSpPr>
          <p:cNvPr id="9" name="Text 5"/>
          <p:cNvSpPr txBox="1"/>
          <p:nvPr/>
        </p:nvSpPr>
        <p:spPr>
          <a:xfrm>
            <a:off x="685800"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Tampilan = f(state) dan StatefulWidget</a:t>
            </a:r>
            <a:endParaRPr lang="en-US" sz="1400" dirty="0"/>
          </a:p>
        </p:txBody>
      </p:sp>
      <p:sp>
        <p:nvSpPr>
          <p:cNvPr id="10" name="Shape 6"/>
          <p:cNvSpPr/>
          <p:nvPr/>
        </p:nvSpPr>
        <p:spPr>
          <a:xfrm>
            <a:off x="2167585" y="2395728"/>
            <a:ext cx="246888" cy="274320"/>
          </a:xfrm>
          <a:prstGeom prst="rightArrow">
            <a:avLst/>
          </a:prstGeom>
          <a:solidFill>
            <a:schemeClr val="accent2"/>
          </a:solidFill>
          <a:ln/>
        </p:spPr>
      </p:sp>
      <p:sp>
        <p:nvSpPr>
          <p:cNvPr id="11" name="langkah 2"/>
          <p:cNvSpPr/>
          <p:nvPr/>
        </p:nvSpPr>
        <p:spPr>
          <a:xfrm>
            <a:off x="2451049" y="1828800"/>
            <a:ext cx="1582369" cy="3566160"/>
          </a:xfrm>
          <a:prstGeom prst="roundRect">
            <a:avLst>
              <a:gd name="adj" fmla="val 8668"/>
            </a:avLst>
          </a:prstGeom>
          <a:solidFill>
            <a:schemeClr val="bg2"/>
          </a:solidFill>
          <a:ln/>
        </p:spPr>
      </p:sp>
      <p:sp>
        <p:nvSpPr>
          <p:cNvPr id="12" name="lingkaran tombol"/>
          <p:cNvSpPr/>
          <p:nvPr/>
        </p:nvSpPr>
        <p:spPr>
          <a:xfrm>
            <a:off x="2807894" y="2103120"/>
            <a:ext cx="868680" cy="868680"/>
          </a:xfrm>
          <a:prstGeom prst="ellipse">
            <a:avLst/>
          </a:prstGeom>
          <a:solidFill>
            <a:schemeClr val="accent1"/>
          </a:solidFill>
          <a:ln/>
        </p:spPr>
      </p:sp>
      <p:pic>
        <p:nvPicPr>
          <p:cNvPr id="13" name="Image 1" descr="tombol">    </p:cNvPr>
          <p:cNvPicPr>
            <a:picLocks noChangeAspect="1"/>
          </p:cNvPicPr>
          <p:nvPr/>
        </p:nvPicPr>
        <p:blipFill>
          <a:blip r:embed="rId2"/>
          <a:stretch>
            <a:fillRect/>
          </a:stretch>
        </p:blipFill>
        <p:spPr>
          <a:xfrm>
            <a:off x="2999003" y="2294230"/>
            <a:ext cx="486461" cy="486461"/>
          </a:xfrm>
          <a:prstGeom prst="rect">
            <a:avLst/>
          </a:prstGeom>
        </p:spPr>
      </p:pic>
      <p:sp>
        <p:nvSpPr>
          <p:cNvPr id="14" name="Text 9"/>
          <p:cNvSpPr txBox="1"/>
          <p:nvPr/>
        </p:nvSpPr>
        <p:spPr>
          <a:xfrm>
            <a:off x="2560777"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2588209"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Tombol &amp; sentuhan</a:t>
            </a:r>
            <a:endParaRPr lang="en-US" sz="1700" dirty="0"/>
          </a:p>
        </p:txBody>
      </p:sp>
      <p:sp>
        <p:nvSpPr>
          <p:cNvPr id="16" name="Text 11"/>
          <p:cNvSpPr txBox="1"/>
          <p:nvPr/>
        </p:nvSpPr>
        <p:spPr>
          <a:xfrm>
            <a:off x="2588209"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Jenis tombol, InkWell, SnackBar</a:t>
            </a:r>
            <a:endParaRPr lang="en-US" sz="1400" dirty="0"/>
          </a:p>
        </p:txBody>
      </p:sp>
      <p:sp>
        <p:nvSpPr>
          <p:cNvPr id="17" name="Shape 12"/>
          <p:cNvSpPr/>
          <p:nvPr/>
        </p:nvSpPr>
        <p:spPr>
          <a:xfrm>
            <a:off x="4069994" y="2395728"/>
            <a:ext cx="246888" cy="274320"/>
          </a:xfrm>
          <a:prstGeom prst="rightArrow">
            <a:avLst/>
          </a:prstGeom>
          <a:solidFill>
            <a:schemeClr val="accent2"/>
          </a:solidFill>
          <a:ln/>
        </p:spPr>
      </p:sp>
      <p:sp>
        <p:nvSpPr>
          <p:cNvPr id="18" name="langkah 3"/>
          <p:cNvSpPr/>
          <p:nvPr/>
        </p:nvSpPr>
        <p:spPr>
          <a:xfrm>
            <a:off x="4353458" y="1828800"/>
            <a:ext cx="1582369" cy="3566160"/>
          </a:xfrm>
          <a:prstGeom prst="roundRect">
            <a:avLst>
              <a:gd name="adj" fmla="val 8668"/>
            </a:avLst>
          </a:prstGeom>
          <a:solidFill>
            <a:schemeClr val="bg2"/>
          </a:solidFill>
          <a:ln/>
        </p:spPr>
      </p:sp>
      <p:sp>
        <p:nvSpPr>
          <p:cNvPr id="19" name="lingkaran sakelar"/>
          <p:cNvSpPr/>
          <p:nvPr/>
        </p:nvSpPr>
        <p:spPr>
          <a:xfrm>
            <a:off x="4710303" y="2103120"/>
            <a:ext cx="868680" cy="868680"/>
          </a:xfrm>
          <a:prstGeom prst="ellipse">
            <a:avLst/>
          </a:prstGeom>
          <a:solidFill>
            <a:schemeClr val="accent1"/>
          </a:solidFill>
          <a:ln/>
        </p:spPr>
      </p:sp>
      <p:pic>
        <p:nvPicPr>
          <p:cNvPr id="20" name="Image 2" descr="sakelar">    </p:cNvPr>
          <p:cNvPicPr>
            <a:picLocks noChangeAspect="1"/>
          </p:cNvPicPr>
          <p:nvPr/>
        </p:nvPicPr>
        <p:blipFill>
          <a:blip r:embed="rId3"/>
          <a:stretch>
            <a:fillRect/>
          </a:stretch>
        </p:blipFill>
        <p:spPr>
          <a:xfrm>
            <a:off x="4901413" y="2294230"/>
            <a:ext cx="486461" cy="486461"/>
          </a:xfrm>
          <a:prstGeom prst="rect">
            <a:avLst/>
          </a:prstGeom>
        </p:spPr>
      </p:pic>
      <p:sp>
        <p:nvSpPr>
          <p:cNvPr id="21" name="Text 15"/>
          <p:cNvSpPr txBox="1"/>
          <p:nvPr/>
        </p:nvSpPr>
        <p:spPr>
          <a:xfrm>
            <a:off x="446318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449061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Pemilih nilai</a:t>
            </a:r>
            <a:endParaRPr lang="en-US" sz="1700" dirty="0"/>
          </a:p>
        </p:txBody>
      </p:sp>
      <p:sp>
        <p:nvSpPr>
          <p:cNvPr id="23" name="Text 17"/>
          <p:cNvSpPr txBox="1"/>
          <p:nvPr/>
        </p:nvSpPr>
        <p:spPr>
          <a:xfrm>
            <a:off x="449061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Switch, Checkbox, Radio, Slider, Chip</a:t>
            </a:r>
            <a:endParaRPr lang="en-US" sz="1400" dirty="0"/>
          </a:p>
        </p:txBody>
      </p:sp>
      <p:sp>
        <p:nvSpPr>
          <p:cNvPr id="24" name="Shape 18"/>
          <p:cNvSpPr/>
          <p:nvPr/>
        </p:nvSpPr>
        <p:spPr>
          <a:xfrm>
            <a:off x="5972404" y="2395728"/>
            <a:ext cx="246888" cy="274320"/>
          </a:xfrm>
          <a:prstGeom prst="rightArrow">
            <a:avLst/>
          </a:prstGeom>
          <a:solidFill>
            <a:schemeClr val="accent2"/>
          </a:solidFill>
          <a:ln/>
        </p:spPr>
      </p:sp>
      <p:sp>
        <p:nvSpPr>
          <p:cNvPr id="25" name="langkah 4"/>
          <p:cNvSpPr/>
          <p:nvPr/>
        </p:nvSpPr>
        <p:spPr>
          <a:xfrm>
            <a:off x="6255868" y="1828800"/>
            <a:ext cx="1582369" cy="3566160"/>
          </a:xfrm>
          <a:prstGeom prst="roundRect">
            <a:avLst>
              <a:gd name="adj" fmla="val 8668"/>
            </a:avLst>
          </a:prstGeom>
          <a:solidFill>
            <a:schemeClr val="bg2"/>
          </a:solidFill>
          <a:ln/>
        </p:spPr>
      </p:sp>
      <p:sp>
        <p:nvSpPr>
          <p:cNvPr id="26" name="lingkaran siklus"/>
          <p:cNvSpPr/>
          <p:nvPr/>
        </p:nvSpPr>
        <p:spPr>
          <a:xfrm>
            <a:off x="6612712" y="2103120"/>
            <a:ext cx="868680" cy="868680"/>
          </a:xfrm>
          <a:prstGeom prst="ellipse">
            <a:avLst/>
          </a:prstGeom>
          <a:solidFill>
            <a:schemeClr val="accent1"/>
          </a:solidFill>
          <a:ln/>
        </p:spPr>
      </p:sp>
      <p:pic>
        <p:nvPicPr>
          <p:cNvPr id="27" name="Image 3" descr="siklus">    </p:cNvPr>
          <p:cNvPicPr>
            <a:picLocks noChangeAspect="1"/>
          </p:cNvPicPr>
          <p:nvPr/>
        </p:nvPicPr>
        <p:blipFill>
          <a:blip r:embed="rId4"/>
          <a:stretch>
            <a:fillRect/>
          </a:stretch>
        </p:blipFill>
        <p:spPr>
          <a:xfrm>
            <a:off x="6803822" y="2294230"/>
            <a:ext cx="486461" cy="486461"/>
          </a:xfrm>
          <a:prstGeom prst="rect">
            <a:avLst/>
          </a:prstGeom>
        </p:spPr>
      </p:pic>
      <p:sp>
        <p:nvSpPr>
          <p:cNvPr id="28" name="Text 21"/>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6393028"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Siklus hidup</a:t>
            </a:r>
            <a:endParaRPr lang="en-US" sz="1700" dirty="0"/>
          </a:p>
        </p:txBody>
      </p:sp>
      <p:sp>
        <p:nvSpPr>
          <p:cNvPr id="30" name="Text 23"/>
          <p:cNvSpPr txBox="1"/>
          <p:nvPr/>
        </p:nvSpPr>
        <p:spPr>
          <a:xfrm>
            <a:off x="6393028"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initState, build, dispose</a:t>
            </a:r>
            <a:endParaRPr lang="en-US" sz="1400" dirty="0"/>
          </a:p>
        </p:txBody>
      </p:sp>
      <p:sp>
        <p:nvSpPr>
          <p:cNvPr id="31" name="Shape 24"/>
          <p:cNvSpPr/>
          <p:nvPr/>
        </p:nvSpPr>
        <p:spPr>
          <a:xfrm>
            <a:off x="7874813" y="2395728"/>
            <a:ext cx="246888" cy="274320"/>
          </a:xfrm>
          <a:prstGeom prst="rightArrow">
            <a:avLst/>
          </a:prstGeom>
          <a:solidFill>
            <a:schemeClr val="accent2"/>
          </a:solidFill>
          <a:ln/>
        </p:spPr>
      </p:sp>
      <p:sp>
        <p:nvSpPr>
          <p:cNvPr id="32" name="langkah 5"/>
          <p:cNvSpPr/>
          <p:nvPr/>
        </p:nvSpPr>
        <p:spPr>
          <a:xfrm>
            <a:off x="8158277" y="1828800"/>
            <a:ext cx="1582369" cy="3566160"/>
          </a:xfrm>
          <a:prstGeom prst="roundRect">
            <a:avLst>
              <a:gd name="adj" fmla="val 8668"/>
            </a:avLst>
          </a:prstGeom>
          <a:solidFill>
            <a:schemeClr val="bg2"/>
          </a:solidFill>
          <a:ln/>
        </p:spPr>
      </p:sp>
      <p:sp>
        <p:nvSpPr>
          <p:cNvPr id="33" name="lingkaran formulir"/>
          <p:cNvSpPr/>
          <p:nvPr/>
        </p:nvSpPr>
        <p:spPr>
          <a:xfrm>
            <a:off x="8515121" y="2103120"/>
            <a:ext cx="868680" cy="868680"/>
          </a:xfrm>
          <a:prstGeom prst="ellipse">
            <a:avLst/>
          </a:prstGeom>
          <a:solidFill>
            <a:schemeClr val="accent1"/>
          </a:solidFill>
          <a:ln/>
        </p:spPr>
      </p:sp>
      <p:pic>
        <p:nvPicPr>
          <p:cNvPr id="34" name="Image 4" descr="formulir">    </p:cNvPr>
          <p:cNvPicPr>
            <a:picLocks noChangeAspect="1"/>
          </p:cNvPicPr>
          <p:nvPr/>
        </p:nvPicPr>
        <p:blipFill>
          <a:blip r:embed="rId5"/>
          <a:stretch>
            <a:fillRect/>
          </a:stretch>
        </p:blipFill>
        <p:spPr>
          <a:xfrm>
            <a:off x="8706231" y="2294230"/>
            <a:ext cx="486461" cy="486461"/>
          </a:xfrm>
          <a:prstGeom prst="rect">
            <a:avLst/>
          </a:prstGeom>
        </p:spPr>
      </p:pic>
      <p:sp>
        <p:nvSpPr>
          <p:cNvPr id="35" name="Text 27"/>
          <p:cNvSpPr txBox="1"/>
          <p:nvPr/>
        </p:nvSpPr>
        <p:spPr>
          <a:xfrm>
            <a:off x="8268005"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5</a:t>
            </a:r>
            <a:endParaRPr lang="en-US" sz="1400" dirty="0"/>
          </a:p>
        </p:txBody>
      </p:sp>
      <p:sp>
        <p:nvSpPr>
          <p:cNvPr id="36" name="Text 28"/>
          <p:cNvSpPr txBox="1"/>
          <p:nvPr/>
        </p:nvSpPr>
        <p:spPr>
          <a:xfrm>
            <a:off x="8295437"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Formulir &amp; dialog</a:t>
            </a:r>
            <a:endParaRPr lang="en-US" sz="1700" dirty="0"/>
          </a:p>
        </p:txBody>
      </p:sp>
      <p:sp>
        <p:nvSpPr>
          <p:cNvPr id="37" name="Text 29"/>
          <p:cNvSpPr txBox="1"/>
          <p:nvPr/>
        </p:nvSpPr>
        <p:spPr>
          <a:xfrm>
            <a:off x="8295437"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Controller, validator, await + mounted</a:t>
            </a:r>
            <a:endParaRPr lang="en-US" sz="1400" dirty="0"/>
          </a:p>
        </p:txBody>
      </p:sp>
      <p:sp>
        <p:nvSpPr>
          <p:cNvPr id="38" name="Shape 30"/>
          <p:cNvSpPr/>
          <p:nvPr/>
        </p:nvSpPr>
        <p:spPr>
          <a:xfrm>
            <a:off x="9777222" y="2395728"/>
            <a:ext cx="246888" cy="274320"/>
          </a:xfrm>
          <a:prstGeom prst="rightArrow">
            <a:avLst/>
          </a:prstGeom>
          <a:solidFill>
            <a:schemeClr val="accent2"/>
          </a:solidFill>
          <a:ln/>
        </p:spPr>
      </p:sp>
      <p:sp>
        <p:nvSpPr>
          <p:cNvPr id="39" name="langkah 6"/>
          <p:cNvSpPr/>
          <p:nvPr/>
        </p:nvSpPr>
        <p:spPr>
          <a:xfrm>
            <a:off x="10060686" y="1828800"/>
            <a:ext cx="1582369" cy="3566160"/>
          </a:xfrm>
          <a:prstGeom prst="roundRect">
            <a:avLst>
              <a:gd name="adj" fmla="val 8668"/>
            </a:avLst>
          </a:prstGeom>
          <a:solidFill>
            <a:schemeClr val="bg2"/>
          </a:solidFill>
          <a:ln/>
        </p:spPr>
      </p:sp>
      <p:sp>
        <p:nvSpPr>
          <p:cNvPr id="40" name="lingkaran angkat"/>
          <p:cNvSpPr/>
          <p:nvPr/>
        </p:nvSpPr>
        <p:spPr>
          <a:xfrm>
            <a:off x="10417531" y="2103120"/>
            <a:ext cx="868680" cy="868680"/>
          </a:xfrm>
          <a:prstGeom prst="ellipse">
            <a:avLst/>
          </a:prstGeom>
          <a:solidFill>
            <a:schemeClr val="accent4"/>
          </a:solidFill>
          <a:ln/>
        </p:spPr>
      </p:sp>
      <p:pic>
        <p:nvPicPr>
          <p:cNvPr id="41" name="Image 5" descr="angkat">    </p:cNvPr>
          <p:cNvPicPr>
            <a:picLocks noChangeAspect="1"/>
          </p:cNvPicPr>
          <p:nvPr/>
        </p:nvPicPr>
        <p:blipFill>
          <a:blip r:embed="rId6"/>
          <a:stretch>
            <a:fillRect/>
          </a:stretch>
        </p:blipFill>
        <p:spPr>
          <a:xfrm>
            <a:off x="10608640" y="2294230"/>
            <a:ext cx="486461" cy="486461"/>
          </a:xfrm>
          <a:prstGeom prst="rect">
            <a:avLst/>
          </a:prstGeom>
        </p:spPr>
      </p:pic>
      <p:sp>
        <p:nvSpPr>
          <p:cNvPr id="42" name="Text 33"/>
          <p:cNvSpPr txBox="1"/>
          <p:nvPr/>
        </p:nvSpPr>
        <p:spPr>
          <a:xfrm>
            <a:off x="10170414"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6</a:t>
            </a:r>
            <a:endParaRPr lang="en-US" sz="1400" dirty="0"/>
          </a:p>
        </p:txBody>
      </p:sp>
      <p:sp>
        <p:nvSpPr>
          <p:cNvPr id="43" name="Text 34"/>
          <p:cNvSpPr txBox="1"/>
          <p:nvPr/>
        </p:nvSpPr>
        <p:spPr>
          <a:xfrm>
            <a:off x="10197846" y="3108960"/>
            <a:ext cx="1308049" cy="777240"/>
          </a:xfrm>
          <a:prstGeom prst="rect">
            <a:avLst/>
          </a:prstGeom>
          <a:noFill/>
          <a:ln/>
        </p:spPr>
        <p:txBody>
          <a:bodyPr wrap="square" lIns="0" tIns="0" rIns="0" bIns="0" rtlCol="0" anchor="t"/>
          <a:lstStyle/>
          <a:p>
            <a:pPr algn="ctr" indent="0" marL="0">
              <a:buNone/>
            </a:pPr>
            <a:r>
              <a:rPr lang="en-US" sz="1700" b="1" dirty="0">
                <a:solidFill>
                  <a:schemeClr val="tx2"/>
                </a:solidFill>
              </a:rPr>
              <a:t>Mengangkat state</a:t>
            </a:r>
            <a:endParaRPr lang="en-US" sz="1700" dirty="0"/>
          </a:p>
        </p:txBody>
      </p:sp>
      <p:sp>
        <p:nvSpPr>
          <p:cNvPr id="44" name="Text 35"/>
          <p:cNvSpPr txBox="1"/>
          <p:nvPr/>
        </p:nvSpPr>
        <p:spPr>
          <a:xfrm>
            <a:off x="10197846" y="3931920"/>
            <a:ext cx="1308049" cy="1371600"/>
          </a:xfrm>
          <a:prstGeom prst="rect">
            <a:avLst/>
          </a:prstGeom>
          <a:noFill/>
          <a:ln/>
        </p:spPr>
        <p:txBody>
          <a:bodyPr wrap="square" lIns="0" tIns="0" rIns="0" bIns="0" rtlCol="0" anchor="t"/>
          <a:lstStyle/>
          <a:p>
            <a:pPr algn="ctr" indent="0" marL="0">
              <a:buNone/>
            </a:pPr>
            <a:r>
              <a:rPr lang="en-US" sz="1400" dirty="0">
                <a:solidFill>
                  <a:schemeClr val="tx1"/>
                </a:solidFill>
              </a:rPr>
              <a:t>Callback, nilai turunan, studi kasus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1</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Apa Itu State?</a:t>
            </a:r>
            <a:endParaRPr lang="en-US" sz="4000" dirty="0"/>
          </a:p>
        </p:txBody>
      </p:sp>
      <p:sp>
        <p:nvSpPr>
          <p:cNvPr id="5" name="lingkaran sinkron"/>
          <p:cNvSpPr/>
          <p:nvPr/>
        </p:nvSpPr>
        <p:spPr>
          <a:xfrm>
            <a:off x="1097280" y="2148840"/>
            <a:ext cx="2011680" cy="2011680"/>
          </a:xfrm>
          <a:prstGeom prst="ellipse">
            <a:avLst/>
          </a:prstGeom>
          <a:solidFill>
            <a:schemeClr val="accent1"/>
          </a:solidFill>
          <a:ln/>
        </p:spPr>
      </p:sp>
      <p:pic>
        <p:nvPicPr>
          <p:cNvPr id="6" name="Image 0" descr="sinkron">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Tampilan = f(State)</a:t>
            </a:r>
            <a:endParaRPr lang="en-US" sz="3200" dirty="0"/>
          </a:p>
        </p:txBody>
      </p:sp>
      <p:sp>
        <p:nvSpPr>
          <p:cNvPr id="4" name="Text 1"/>
          <p:cNvSpPr txBox="1"/>
          <p:nvPr/>
        </p:nvSpPr>
        <p:spPr>
          <a:xfrm>
            <a:off x="548640" y="1325880"/>
            <a:ext cx="11094415" cy="548640"/>
          </a:xfrm>
          <a:prstGeom prst="rect">
            <a:avLst/>
          </a:prstGeom>
          <a:noFill/>
          <a:ln/>
        </p:spPr>
        <p:txBody>
          <a:bodyPr wrap="square" lIns="0" tIns="0" rIns="0" bIns="0" rtlCol="0" anchor="ctr"/>
          <a:lstStyle/>
          <a:p>
            <a:pPr indent="0" marL="0">
              <a:buNone/>
            </a:pPr>
            <a:r>
              <a:rPr lang="en-US" sz="1800" dirty="0">
                <a:solidFill>
                  <a:srgbClr val="4A5870"/>
                </a:solidFill>
              </a:rPr>
              <a:t>Analogi papan skor futsal: bentuk papannya tetap, yang berubah hanya angka skornya. Angka itulah state.</a:t>
            </a:r>
            <a:endParaRPr lang="en-US" sz="1800" dirty="0"/>
          </a:p>
        </p:txBody>
      </p:sp>
      <p:sp>
        <p:nvSpPr>
          <p:cNvPr id="5" name="langkah 1"/>
          <p:cNvSpPr/>
          <p:nvPr/>
        </p:nvSpPr>
        <p:spPr>
          <a:xfrm>
            <a:off x="548640" y="2103120"/>
            <a:ext cx="2533574" cy="3108960"/>
          </a:xfrm>
          <a:prstGeom prst="roundRect">
            <a:avLst>
              <a:gd name="adj" fmla="val 5414"/>
            </a:avLst>
          </a:prstGeom>
          <a:solidFill>
            <a:schemeClr val="bg2"/>
          </a:solidFill>
          <a:ln/>
        </p:spPr>
      </p:sp>
      <p:sp>
        <p:nvSpPr>
          <p:cNvPr id="6" name="lingkaran sentuh"/>
          <p:cNvSpPr/>
          <p:nvPr/>
        </p:nvSpPr>
        <p:spPr>
          <a:xfrm>
            <a:off x="1381087" y="2377440"/>
            <a:ext cx="868680" cy="868680"/>
          </a:xfrm>
          <a:prstGeom prst="ellipse">
            <a:avLst/>
          </a:prstGeom>
          <a:solidFill>
            <a:schemeClr val="accent1"/>
          </a:solidFill>
          <a:ln/>
        </p:spPr>
      </p:sp>
      <p:pic>
        <p:nvPicPr>
          <p:cNvPr id="7" name="Image 0" descr="sentuh">    </p:cNvPr>
          <p:cNvPicPr>
            <a:picLocks noChangeAspect="1"/>
          </p:cNvPicPr>
          <p:nvPr/>
        </p:nvPicPr>
        <p:blipFill>
          <a:blip r:embed="rId1"/>
          <a:stretch>
            <a:fillRect/>
          </a:stretch>
        </p:blipFill>
        <p:spPr>
          <a:xfrm>
            <a:off x="1572197" y="2568550"/>
            <a:ext cx="486461" cy="486461"/>
          </a:xfrm>
          <a:prstGeom prst="rect">
            <a:avLst/>
          </a:prstGeom>
        </p:spPr>
      </p:pic>
      <p:sp>
        <p:nvSpPr>
          <p:cNvPr id="8" name="Text 4"/>
          <p:cNvSpPr txBox="1"/>
          <p:nvPr/>
        </p:nvSpPr>
        <p:spPr>
          <a:xfrm>
            <a:off x="658368"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9" name="Text 5"/>
          <p:cNvSpPr txBox="1"/>
          <p:nvPr/>
        </p:nvSpPr>
        <p:spPr>
          <a:xfrm>
            <a:off x="685800"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Pengguna menekan</a:t>
            </a:r>
            <a:endParaRPr lang="en-US" sz="1700" dirty="0"/>
          </a:p>
        </p:txBody>
      </p:sp>
      <p:sp>
        <p:nvSpPr>
          <p:cNvPr id="10" name="Text 6"/>
          <p:cNvSpPr txBox="1"/>
          <p:nvPr/>
        </p:nvSpPr>
        <p:spPr>
          <a:xfrm>
            <a:off x="685800" y="4206240"/>
            <a:ext cx="2259254" cy="914400"/>
          </a:xfrm>
          <a:prstGeom prst="rect">
            <a:avLst/>
          </a:prstGeom>
          <a:noFill/>
          <a:ln/>
        </p:spPr>
        <p:txBody>
          <a:bodyPr wrap="square" lIns="0" tIns="0" rIns="0" bIns="0" rtlCol="0" anchor="t"/>
          <a:lstStyle/>
          <a:p>
            <a:pPr algn="ctr" indent="0" marL="0">
              <a:buNone/>
            </a:pPr>
            <a:r>
              <a:rPr lang="en-US" sz="1400" dirty="0">
                <a:solidFill>
                  <a:schemeClr val="tx1"/>
                </a:solidFill>
              </a:rPr>
              <a:t>Tombol "Minum 1 gelas" ditekan.</a:t>
            </a:r>
            <a:endParaRPr lang="en-US" sz="1400" dirty="0"/>
          </a:p>
        </p:txBody>
      </p:sp>
      <p:sp>
        <p:nvSpPr>
          <p:cNvPr id="11" name="Shape 7"/>
          <p:cNvSpPr/>
          <p:nvPr/>
        </p:nvSpPr>
        <p:spPr>
          <a:xfrm>
            <a:off x="3118790" y="2670048"/>
            <a:ext cx="246888" cy="274320"/>
          </a:xfrm>
          <a:prstGeom prst="rightArrow">
            <a:avLst/>
          </a:prstGeom>
          <a:solidFill>
            <a:schemeClr val="accent2"/>
          </a:solidFill>
          <a:ln/>
        </p:spPr>
      </p:sp>
      <p:sp>
        <p:nvSpPr>
          <p:cNvPr id="12" name="langkah 2"/>
          <p:cNvSpPr/>
          <p:nvPr/>
        </p:nvSpPr>
        <p:spPr>
          <a:xfrm>
            <a:off x="3402254" y="2103120"/>
            <a:ext cx="2533574" cy="3108960"/>
          </a:xfrm>
          <a:prstGeom prst="roundRect">
            <a:avLst>
              <a:gd name="adj" fmla="val 5414"/>
            </a:avLst>
          </a:prstGeom>
          <a:solidFill>
            <a:schemeClr val="bg2"/>
          </a:solidFill>
          <a:ln/>
        </p:spPr>
      </p:sp>
      <p:sp>
        <p:nvSpPr>
          <p:cNvPr id="13" name="lingkaran ubah"/>
          <p:cNvSpPr/>
          <p:nvPr/>
        </p:nvSpPr>
        <p:spPr>
          <a:xfrm>
            <a:off x="4234701" y="2377440"/>
            <a:ext cx="868680" cy="868680"/>
          </a:xfrm>
          <a:prstGeom prst="ellipse">
            <a:avLst/>
          </a:prstGeom>
          <a:solidFill>
            <a:schemeClr val="accent1"/>
          </a:solidFill>
          <a:ln/>
        </p:spPr>
      </p:sp>
      <p:pic>
        <p:nvPicPr>
          <p:cNvPr id="14" name="Image 1" descr="ubah">    </p:cNvPr>
          <p:cNvPicPr>
            <a:picLocks noChangeAspect="1"/>
          </p:cNvPicPr>
          <p:nvPr/>
        </p:nvPicPr>
        <p:blipFill>
          <a:blip r:embed="rId2"/>
          <a:stretch>
            <a:fillRect/>
          </a:stretch>
        </p:blipFill>
        <p:spPr>
          <a:xfrm>
            <a:off x="4425810" y="2568550"/>
            <a:ext cx="486461" cy="486461"/>
          </a:xfrm>
          <a:prstGeom prst="rect">
            <a:avLst/>
          </a:prstGeom>
        </p:spPr>
      </p:pic>
      <p:sp>
        <p:nvSpPr>
          <p:cNvPr id="15" name="Text 10"/>
          <p:cNvSpPr txBox="1"/>
          <p:nvPr/>
        </p:nvSpPr>
        <p:spPr>
          <a:xfrm>
            <a:off x="3511982"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6" name="Text 11"/>
          <p:cNvSpPr txBox="1"/>
          <p:nvPr/>
        </p:nvSpPr>
        <p:spPr>
          <a:xfrm>
            <a:off x="3539414"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setState() mengubah data</a:t>
            </a:r>
            <a:endParaRPr lang="en-US" sz="1700" dirty="0"/>
          </a:p>
        </p:txBody>
      </p:sp>
      <p:sp>
        <p:nvSpPr>
          <p:cNvPr id="17" name="Text 12"/>
          <p:cNvSpPr txBox="1"/>
          <p:nvPr/>
        </p:nvSpPr>
        <p:spPr>
          <a:xfrm>
            <a:off x="3539414" y="4206240"/>
            <a:ext cx="2259254" cy="914400"/>
          </a:xfrm>
          <a:prstGeom prst="rect">
            <a:avLst/>
          </a:prstGeom>
          <a:noFill/>
          <a:ln/>
        </p:spPr>
        <p:txBody>
          <a:bodyPr wrap="square" lIns="0" tIns="0" rIns="0" bIns="0" rtlCol="0" anchor="t"/>
          <a:lstStyle/>
          <a:p>
            <a:pPr algn="ctr" indent="0" marL="0">
              <a:buNone/>
            </a:pPr>
            <a:r>
              <a:rPr lang="en-US" sz="1400" dirty="0">
                <a:solidFill>
                  <a:schemeClr val="tx1"/>
                </a:solidFill>
              </a:rPr>
              <a:t>_gelas berubah dari 2 menjadi 3.</a:t>
            </a:r>
            <a:endParaRPr lang="en-US" sz="1400" dirty="0"/>
          </a:p>
        </p:txBody>
      </p:sp>
      <p:sp>
        <p:nvSpPr>
          <p:cNvPr id="18" name="Shape 13"/>
          <p:cNvSpPr/>
          <p:nvPr/>
        </p:nvSpPr>
        <p:spPr>
          <a:xfrm>
            <a:off x="5972404" y="2670048"/>
            <a:ext cx="246888" cy="274320"/>
          </a:xfrm>
          <a:prstGeom prst="rightArrow">
            <a:avLst/>
          </a:prstGeom>
          <a:solidFill>
            <a:schemeClr val="accent2"/>
          </a:solidFill>
          <a:ln/>
        </p:spPr>
      </p:sp>
      <p:sp>
        <p:nvSpPr>
          <p:cNvPr id="19" name="langkah 3"/>
          <p:cNvSpPr/>
          <p:nvPr/>
        </p:nvSpPr>
        <p:spPr>
          <a:xfrm>
            <a:off x="6255868" y="2103120"/>
            <a:ext cx="2533574" cy="3108960"/>
          </a:xfrm>
          <a:prstGeom prst="roundRect">
            <a:avLst>
              <a:gd name="adj" fmla="val 5414"/>
            </a:avLst>
          </a:prstGeom>
          <a:solidFill>
            <a:schemeClr val="bg2"/>
          </a:solidFill>
          <a:ln/>
        </p:spPr>
      </p:sp>
      <p:sp>
        <p:nvSpPr>
          <p:cNvPr id="20" name="lingkaran putar"/>
          <p:cNvSpPr/>
          <p:nvPr/>
        </p:nvSpPr>
        <p:spPr>
          <a:xfrm>
            <a:off x="7088315" y="2377440"/>
            <a:ext cx="868680" cy="868680"/>
          </a:xfrm>
          <a:prstGeom prst="ellipse">
            <a:avLst/>
          </a:prstGeom>
          <a:solidFill>
            <a:schemeClr val="accent1"/>
          </a:solidFill>
          <a:ln/>
        </p:spPr>
      </p:sp>
      <p:pic>
        <p:nvPicPr>
          <p:cNvPr id="21" name="Image 2" descr="putar">    </p:cNvPr>
          <p:cNvPicPr>
            <a:picLocks noChangeAspect="1"/>
          </p:cNvPicPr>
          <p:nvPr/>
        </p:nvPicPr>
        <p:blipFill>
          <a:blip r:embed="rId3"/>
          <a:stretch>
            <a:fillRect/>
          </a:stretch>
        </p:blipFill>
        <p:spPr>
          <a:xfrm>
            <a:off x="7279424" y="2568550"/>
            <a:ext cx="486461" cy="486461"/>
          </a:xfrm>
          <a:prstGeom prst="rect">
            <a:avLst/>
          </a:prstGeom>
        </p:spPr>
      </p:pic>
      <p:sp>
        <p:nvSpPr>
          <p:cNvPr id="22" name="Text 16"/>
          <p:cNvSpPr txBox="1"/>
          <p:nvPr/>
        </p:nvSpPr>
        <p:spPr>
          <a:xfrm>
            <a:off x="6365596"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3" name="Text 17"/>
          <p:cNvSpPr txBox="1"/>
          <p:nvPr/>
        </p:nvSpPr>
        <p:spPr>
          <a:xfrm>
            <a:off x="6393028"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build() dijalankan lagi</a:t>
            </a:r>
            <a:endParaRPr lang="en-US" sz="1700" dirty="0"/>
          </a:p>
        </p:txBody>
      </p:sp>
      <p:sp>
        <p:nvSpPr>
          <p:cNvPr id="24" name="Text 18"/>
          <p:cNvSpPr txBox="1"/>
          <p:nvPr/>
        </p:nvSpPr>
        <p:spPr>
          <a:xfrm>
            <a:off x="6393028" y="4206240"/>
            <a:ext cx="2259254" cy="914400"/>
          </a:xfrm>
          <a:prstGeom prst="rect">
            <a:avLst/>
          </a:prstGeom>
          <a:noFill/>
          <a:ln/>
        </p:spPr>
        <p:txBody>
          <a:bodyPr wrap="square" lIns="0" tIns="0" rIns="0" bIns="0" rtlCol="0" anchor="t"/>
          <a:lstStyle/>
          <a:p>
            <a:pPr algn="ctr" indent="0" marL="0">
              <a:buNone/>
            </a:pPr>
            <a:r>
              <a:rPr lang="en-US" sz="1400" dirty="0">
                <a:solidFill>
                  <a:schemeClr val="tx1"/>
                </a:solidFill>
              </a:rPr>
              <a:t>Flutter menyusun ulang tampilan dari data terbaru.</a:t>
            </a:r>
            <a:endParaRPr lang="en-US" sz="1400" dirty="0"/>
          </a:p>
        </p:txBody>
      </p:sp>
      <p:sp>
        <p:nvSpPr>
          <p:cNvPr id="25" name="Shape 19"/>
          <p:cNvSpPr/>
          <p:nvPr/>
        </p:nvSpPr>
        <p:spPr>
          <a:xfrm>
            <a:off x="8826017" y="2670048"/>
            <a:ext cx="246888" cy="274320"/>
          </a:xfrm>
          <a:prstGeom prst="rightArrow">
            <a:avLst/>
          </a:prstGeom>
          <a:solidFill>
            <a:schemeClr val="accent2"/>
          </a:solidFill>
          <a:ln/>
        </p:spPr>
      </p:sp>
      <p:sp>
        <p:nvSpPr>
          <p:cNvPr id="26" name="langkah 4"/>
          <p:cNvSpPr/>
          <p:nvPr/>
        </p:nvSpPr>
        <p:spPr>
          <a:xfrm>
            <a:off x="9109481" y="2103120"/>
            <a:ext cx="2533574" cy="3108960"/>
          </a:xfrm>
          <a:prstGeom prst="roundRect">
            <a:avLst>
              <a:gd name="adj" fmla="val 5414"/>
            </a:avLst>
          </a:prstGeom>
          <a:solidFill>
            <a:schemeClr val="bg2"/>
          </a:solidFill>
          <a:ln/>
        </p:spPr>
      </p:sp>
      <p:sp>
        <p:nvSpPr>
          <p:cNvPr id="27" name="lingkaran hp"/>
          <p:cNvSpPr/>
          <p:nvPr/>
        </p:nvSpPr>
        <p:spPr>
          <a:xfrm>
            <a:off x="9941928" y="2377440"/>
            <a:ext cx="868680" cy="868680"/>
          </a:xfrm>
          <a:prstGeom prst="ellipse">
            <a:avLst/>
          </a:prstGeom>
          <a:solidFill>
            <a:schemeClr val="accent4"/>
          </a:solidFill>
          <a:ln/>
        </p:spPr>
      </p:sp>
      <p:pic>
        <p:nvPicPr>
          <p:cNvPr id="28" name="Image 3" descr="hp">    </p:cNvPr>
          <p:cNvPicPr>
            <a:picLocks noChangeAspect="1"/>
          </p:cNvPicPr>
          <p:nvPr/>
        </p:nvPicPr>
        <p:blipFill>
          <a:blip r:embed="rId4"/>
          <a:stretch>
            <a:fillRect/>
          </a:stretch>
        </p:blipFill>
        <p:spPr>
          <a:xfrm>
            <a:off x="10133038" y="2568550"/>
            <a:ext cx="486461" cy="486461"/>
          </a:xfrm>
          <a:prstGeom prst="rect">
            <a:avLst/>
          </a:prstGeom>
        </p:spPr>
      </p:pic>
      <p:sp>
        <p:nvSpPr>
          <p:cNvPr id="29" name="Text 22"/>
          <p:cNvSpPr txBox="1"/>
          <p:nvPr/>
        </p:nvSpPr>
        <p:spPr>
          <a:xfrm>
            <a:off x="9219209" y="219456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30" name="Text 23"/>
          <p:cNvSpPr txBox="1"/>
          <p:nvPr/>
        </p:nvSpPr>
        <p:spPr>
          <a:xfrm>
            <a:off x="9246641" y="338328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Layar diperbarui</a:t>
            </a:r>
            <a:endParaRPr lang="en-US" sz="1700" dirty="0"/>
          </a:p>
        </p:txBody>
      </p:sp>
      <p:sp>
        <p:nvSpPr>
          <p:cNvPr id="31" name="Text 24"/>
          <p:cNvSpPr txBox="1"/>
          <p:nvPr/>
        </p:nvSpPr>
        <p:spPr>
          <a:xfrm>
            <a:off x="9246641" y="4206240"/>
            <a:ext cx="2259254" cy="914400"/>
          </a:xfrm>
          <a:prstGeom prst="rect">
            <a:avLst/>
          </a:prstGeom>
          <a:noFill/>
          <a:ln/>
        </p:spPr>
        <p:txBody>
          <a:bodyPr wrap="square" lIns="0" tIns="0" rIns="0" bIns="0" rtlCol="0" anchor="t"/>
          <a:lstStyle/>
          <a:p>
            <a:pPr algn="ctr" indent="0" marL="0">
              <a:buNone/>
            </a:pPr>
            <a:r>
              <a:rPr lang="en-US" sz="1400" dirty="0">
                <a:solidFill>
                  <a:schemeClr val="tx1"/>
                </a:solidFill>
              </a:rPr>
              <a:t>Tulisan menjadi "3 / 8 gelas".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Mengapa StatelessWidget Tidak Cukup?</a:t>
            </a:r>
            <a:endParaRPr lang="en-US" sz="3200" dirty="0"/>
          </a:p>
        </p:txBody>
      </p:sp>
      <p:sp>
        <p:nvSpPr>
          <p:cNvPr id="4" name="kotak kode"/>
          <p:cNvSpPr txBox="1"/>
          <p:nvPr/>
        </p:nvSpPr>
        <p:spPr>
          <a:xfrm>
            <a:off x="548640" y="1371600"/>
            <a:ext cx="6766560" cy="3547872"/>
          </a:xfrm>
          <a:prstGeom prst="roundRect">
            <a:avLst>
              <a:gd name="adj" fmla="val 2577"/>
            </a:avLst>
          </a:prstGeom>
          <a:solidFill>
            <a:srgbClr val="0E1A2B"/>
          </a:solidFill>
          <a:ln/>
        </p:spPr>
        <p:txBody>
          <a:bodyPr wrap="square" lIns="177800" tIns="152400" rIns="152400" bIns="177800" rtlCol="0" anchor="t"/>
          <a:lstStyle/>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 JANGAN ditiru</a:t>
            </a:r>
            <a:endParaRPr lang="en-US" sz="1400" dirty="0"/>
          </a:p>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class</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Penghitung</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extends</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StatelessWidget</a:t>
            </a: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Penghitung</a:t>
            </a:r>
            <a:r>
              <a:rPr lang="en-US" sz="1400" dirty="0">
                <a:solidFill>
                  <a:srgbClr val="E6EDF3"/>
                </a:solidFill>
                <a:latin typeface="Consolas" pitchFamily="34" charset="0"/>
                <a:ea typeface="Consolas" pitchFamily="34" charset="-122"/>
                <a:cs typeface="Consolas" pitchFamily="34" charset="-120"/>
              </a:rPr>
              <a:t>({</a:t>
            </a:r>
            <a:r>
              <a:rPr lang="en-US" sz="1400" dirty="0">
                <a:solidFill>
                  <a:srgbClr val="C792EA"/>
                </a:solidFill>
                <a:latin typeface="Consolas" pitchFamily="34" charset="0"/>
                <a:ea typeface="Consolas" pitchFamily="34" charset="-122"/>
                <a:cs typeface="Consolas" pitchFamily="34" charset="-120"/>
              </a:rPr>
              <a:t>super</a:t>
            </a:r>
            <a:r>
              <a:rPr lang="en-US" sz="1400" dirty="0">
                <a:solidFill>
                  <a:srgbClr val="E6EDF3"/>
                </a:solidFill>
                <a:latin typeface="Consolas" pitchFamily="34" charset="0"/>
                <a:ea typeface="Consolas" pitchFamily="34" charset="-122"/>
                <a:cs typeface="Consolas" pitchFamily="34" charset="-120"/>
              </a:rPr>
              <a:t>.key});</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angka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 </a:t>
            </a:r>
            <a:r>
              <a:rPr lang="en-US" sz="1400" i="1" dirty="0">
                <a:solidFill>
                  <a:srgbClr val="8FA3BC"/>
                </a:solidFill>
                <a:latin typeface="Consolas" pitchFamily="34" charset="0"/>
                <a:ea typeface="Consolas" pitchFamily="34" charset="-122"/>
                <a:cs typeface="Consolas" pitchFamily="34" charset="-120"/>
              </a:rPr>
              <a:t>// tidak final!</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89DDFF"/>
                </a:solidFill>
                <a:latin typeface="Consolas" pitchFamily="34" charset="0"/>
                <a:ea typeface="Consolas" pitchFamily="34" charset="-122"/>
                <a:cs typeface="Consolas" pitchFamily="34" charset="-120"/>
              </a:rPr>
              <a:t>@override</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Widget</a:t>
            </a:r>
            <a:r>
              <a:rPr lang="en-US" sz="1400" dirty="0">
                <a:solidFill>
                  <a:srgbClr val="E6EDF3"/>
                </a:solidFill>
                <a:latin typeface="Consolas" pitchFamily="34" charset="0"/>
                <a:ea typeface="Consolas" pitchFamily="34" charset="-122"/>
                <a:cs typeface="Consolas" pitchFamily="34" charset="-120"/>
              </a:rPr>
              <a:t> build(</a:t>
            </a:r>
            <a:r>
              <a:rPr lang="en-US" sz="1400" dirty="0">
                <a:solidFill>
                  <a:srgbClr val="FFCB6B"/>
                </a:solidFill>
                <a:latin typeface="Consolas" pitchFamily="34" charset="0"/>
                <a:ea typeface="Consolas" pitchFamily="34" charset="-122"/>
                <a:cs typeface="Consolas" pitchFamily="34" charset="-120"/>
              </a:rPr>
              <a:t>BuildContext</a:t>
            </a:r>
            <a:r>
              <a:rPr lang="en-US" sz="1400" dirty="0">
                <a:solidFill>
                  <a:srgbClr val="E6EDF3"/>
                </a:solidFill>
                <a:latin typeface="Consolas" pitchFamily="34" charset="0"/>
                <a:ea typeface="Consolas" pitchFamily="34" charset="-122"/>
                <a:cs typeface="Consolas" pitchFamily="34" charset="-120"/>
              </a:rPr>
              <a:t> context)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return</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TextButton</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onPressed: () =&gt; angka++,</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r>
              <a:rPr lang="en-US" sz="1400" dirty="0">
                <a:solidFill>
                  <a:srgbClr val="FFCB6B"/>
                </a:solidFill>
                <a:latin typeface="Consolas" pitchFamily="34" charset="0"/>
                <a:ea typeface="Consolas" pitchFamily="34" charset="-122"/>
                <a:cs typeface="Consolas" pitchFamily="34" charset="-120"/>
              </a:rPr>
              <a:t>Text</a:t>
            </a:r>
            <a:r>
              <a:rPr lang="en-US" sz="1400" dirty="0">
                <a:solidFill>
                  <a:srgbClr val="E6EDF3"/>
                </a:solidFill>
                <a:latin typeface="Consolas" pitchFamily="34" charset="0"/>
                <a:ea typeface="Consolas" pitchFamily="34" charset="-122"/>
                <a:cs typeface="Consolas" pitchFamily="34" charset="-120"/>
              </a:rPr>
              <a:t>(</a:t>
            </a:r>
            <a:r>
              <a:rPr lang="en-US" sz="1400" dirty="0">
                <a:solidFill>
                  <a:srgbClr val="C3E88D"/>
                </a:solidFill>
                <a:latin typeface="Consolas" pitchFamily="34" charset="0"/>
                <a:ea typeface="Consolas" pitchFamily="34" charset="-122"/>
                <a:cs typeface="Consolas" pitchFamily="34" charset="-120"/>
              </a:rPr>
              <a:t>'$angka'</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Peringatan </a:t>
            </a:r>
            <a:r>
              <a:rPr lang="en-US" sz="1700" dirty="0">
                <a:solidFill>
                  <a:schemeClr val="tx1"/>
                </a:solidFill>
                <a:latin typeface="Consolas" pitchFamily="34" charset="0"/>
                <a:ea typeface="Consolas" pitchFamily="34" charset="-122"/>
                <a:cs typeface="Consolas" pitchFamily="34" charset="-120"/>
              </a:rPr>
              <a:t>must_be_immutable</a:t>
            </a:r>
            <a:r>
              <a:rPr lang="en-US" sz="1700" dirty="0">
                <a:solidFill>
                  <a:schemeClr val="tx1"/>
                </a:solidFill>
              </a:rPr>
              <a:t>: properti StatelessWidget wajib final.</a:t>
            </a:r>
            <a:endParaRPr lang="en-US" sz="1700" dirty="0"/>
          </a:p>
          <a:p>
            <a:pPr marL="228600" indent="-228600">
              <a:spcAft>
                <a:spcPts val="800"/>
              </a:spcAft>
              <a:buSzPct val="100000"/>
              <a:buChar char="•"/>
            </a:pPr>
            <a:r>
              <a:rPr lang="en-US" sz="1700" dirty="0">
                <a:solidFill>
                  <a:schemeClr val="tx1"/>
                </a:solidFill>
              </a:rPr>
              <a:t>angka++ mengubah memori, tetapi tidak ada yang memberi tahu Flutter untuk menggambar ulang.</a:t>
            </a:r>
            <a:endParaRPr lang="en-US" sz="1700" dirty="0"/>
          </a:p>
          <a:p>
            <a:pPr marL="228600" indent="-228600">
              <a:spcAft>
                <a:spcPts val="800"/>
              </a:spcAft>
              <a:buSzPct val="100000"/>
              <a:buChar char="•"/>
            </a:pPr>
            <a:r>
              <a:rPr lang="en-US" sz="1700" dirty="0">
                <a:solidFill>
                  <a:schemeClr val="tx1"/>
                </a:solidFill>
              </a:rPr>
              <a:t>Saat induknya digambar ulang, objek Penghitung dibuat baru dan angka kembali ke 0.</a:t>
            </a:r>
            <a:endParaRPr lang="en-US" sz="1700" dirty="0"/>
          </a:p>
          <a:p>
            <a:pPr marL="228600" indent="-228600">
              <a:spcAft>
                <a:spcPts val="800"/>
              </a:spcAft>
              <a:buSzPct val="100000"/>
              <a:buChar char="•"/>
            </a:pPr>
            <a:r>
              <a:rPr lang="en-US" sz="1700" dirty="0">
                <a:solidFill>
                  <a:schemeClr val="tx1"/>
                </a:solidFill>
              </a:rPr>
              <a:t>Solusi: StatefulWidget. Datanya disimpan di objek State yang tetap hidup, dan setState() menjadi "bel pemberi tahu".</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State Lokal dan State Aplikasi</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widget"/>
          <p:cNvSpPr/>
          <p:nvPr/>
        </p:nvSpPr>
        <p:spPr>
          <a:xfrm>
            <a:off x="777240" y="1600200"/>
            <a:ext cx="685800" cy="685800"/>
          </a:xfrm>
          <a:prstGeom prst="ellipse">
            <a:avLst/>
          </a:prstGeom>
          <a:solidFill>
            <a:schemeClr val="accent1"/>
          </a:solidFill>
          <a:ln/>
        </p:spPr>
      </p:sp>
      <p:pic>
        <p:nvPicPr>
          <p:cNvPr id="6" name="Image 0" descr="widge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State lokal (ephemeral)</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1"/>
                </a:solidFill>
              </a:rPr>
              <a:t>Hari ini: StatefulWidget + setState</a:t>
            </a:r>
            <a:endParaRPr lang="en-US" sz="1400" dirty="0"/>
          </a:p>
        </p:txBody>
      </p:sp>
      <p:sp>
        <p:nvSpPr>
          <p:cNvPr id="9" name="daftar poin"/>
          <p:cNvSpPr txBox="1"/>
          <p:nvPr/>
        </p:nvSpPr>
        <p:spPr>
          <a:xfrm>
            <a:off x="777240"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Dipakai oleh satu widget atau satu halaman</a:t>
            </a:r>
            <a:endParaRPr lang="en-US" sz="1600" dirty="0"/>
          </a:p>
          <a:p>
            <a:pPr marL="228600" indent="-228600">
              <a:spcAft>
                <a:spcPts val="800"/>
              </a:spcAft>
              <a:buSzPct val="100000"/>
              <a:buChar char="•"/>
            </a:pPr>
            <a:r>
              <a:rPr lang="en-US" sz="1600" dirty="0">
                <a:solidFill>
                  <a:schemeClr val="tx1"/>
                </a:solidFill>
              </a:rPr>
              <a:t>Tab yang dipilih, isi kolom teks, status centang</a:t>
            </a:r>
            <a:endParaRPr lang="en-US" sz="1600" dirty="0"/>
          </a:p>
          <a:p>
            <a:pPr marL="228600" indent="-228600">
              <a:spcAft>
                <a:spcPts val="800"/>
              </a:spcAft>
              <a:buSzPct val="100000"/>
              <a:buChar char="•"/>
            </a:pPr>
            <a:r>
              <a:rPr lang="en-US" sz="1600" dirty="0">
                <a:solidFill>
                  <a:schemeClr val="tx1"/>
                </a:solidFill>
              </a:rPr>
              <a:t>Kartu yang sedang dibuka atau ditutup</a:t>
            </a:r>
            <a:endParaRPr lang="en-US" sz="1600" dirty="0"/>
          </a:p>
        </p:txBody>
      </p:sp>
      <p:sp>
        <p:nvSpPr>
          <p:cNvPr id="10" name="kolom 2"/>
          <p:cNvSpPr/>
          <p:nvPr/>
        </p:nvSpPr>
        <p:spPr>
          <a:xfrm>
            <a:off x="6255868" y="1371600"/>
            <a:ext cx="5387188" cy="3931920"/>
          </a:xfrm>
          <a:prstGeom prst="roundRect">
            <a:avLst>
              <a:gd name="adj" fmla="val 2791"/>
            </a:avLst>
          </a:prstGeom>
          <a:solidFill>
            <a:schemeClr val="bg2"/>
          </a:solidFill>
          <a:ln/>
        </p:spPr>
      </p:sp>
      <p:sp>
        <p:nvSpPr>
          <p:cNvPr id="11" name="lingkaran grup"/>
          <p:cNvSpPr/>
          <p:nvPr/>
        </p:nvSpPr>
        <p:spPr>
          <a:xfrm>
            <a:off x="6484468" y="1600200"/>
            <a:ext cx="685800" cy="685800"/>
          </a:xfrm>
          <a:prstGeom prst="ellipse">
            <a:avLst/>
          </a:prstGeom>
          <a:solidFill>
            <a:schemeClr val="accent6"/>
          </a:solidFill>
          <a:ln/>
        </p:spPr>
      </p:sp>
      <p:pic>
        <p:nvPicPr>
          <p:cNvPr id="12" name="Image 1" descr="grup">    </p:cNvPr>
          <p:cNvPicPr>
            <a:picLocks noChangeAspect="1"/>
          </p:cNvPicPr>
          <p:nvPr/>
        </p:nvPicPr>
        <p:blipFill>
          <a:blip r:embed="rId2"/>
          <a:stretch>
            <a:fillRect/>
          </a:stretch>
        </p:blipFill>
        <p:spPr>
          <a:xfrm>
            <a:off x="6635344" y="1751076"/>
            <a:ext cx="384048" cy="384048"/>
          </a:xfrm>
          <a:prstGeom prst="rect">
            <a:avLst/>
          </a:prstGeom>
        </p:spPr>
      </p:pic>
      <p:sp>
        <p:nvSpPr>
          <p:cNvPr id="13" name="Text 8"/>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State aplikasi (app state)</a:t>
            </a:r>
            <a:endParaRPr lang="en-US" sz="1900" dirty="0"/>
          </a:p>
        </p:txBody>
      </p:sp>
      <p:sp>
        <p:nvSpPr>
          <p:cNvPr id="14" name="Text 9"/>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6"/>
                </a:solidFill>
              </a:rPr>
              <a:t>Pertemuan 9: ChangeNotifier + provider</a:t>
            </a:r>
            <a:endParaRPr lang="en-US" sz="1400" dirty="0"/>
          </a:p>
        </p:txBody>
      </p:sp>
      <p:sp>
        <p:nvSpPr>
          <p:cNvPr id="15" name="daftar poin"/>
          <p:cNvSpPr txBox="1"/>
          <p:nvPr/>
        </p:nvSpPr>
        <p:spPr>
          <a:xfrm>
            <a:off x="6484468" y="2926080"/>
            <a:ext cx="4929988" cy="224028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Dipakai bersama oleh banyak halaman</a:t>
            </a:r>
            <a:endParaRPr lang="en-US" sz="1600" dirty="0"/>
          </a:p>
          <a:p>
            <a:pPr marL="228600" indent="-228600">
              <a:spcAft>
                <a:spcPts val="800"/>
              </a:spcAft>
              <a:buSzPct val="100000"/>
              <a:buChar char="•"/>
            </a:pPr>
            <a:r>
              <a:rPr lang="en-US" sz="1600" dirty="0">
                <a:solidFill>
                  <a:schemeClr val="tx1"/>
                </a:solidFill>
              </a:rPr>
              <a:t>Isi keranjang belanja, data pengguna yang masuk</a:t>
            </a:r>
            <a:endParaRPr lang="en-US" sz="1600" dirty="0"/>
          </a:p>
          <a:p>
            <a:pPr marL="228600" indent="-228600">
              <a:spcAft>
                <a:spcPts val="800"/>
              </a:spcAft>
              <a:buSzPct val="100000"/>
              <a:buChar char="•"/>
            </a:pPr>
            <a:r>
              <a:rPr lang="en-US" sz="1600" dirty="0">
                <a:solidFill>
                  <a:schemeClr val="tx1"/>
                </a:solidFill>
              </a:rPr>
              <a:t>Daftar favorit yang dibuka dari mana saja</a:t>
            </a:r>
            <a:endParaRPr lang="en-US" sz="1600" dirty="0"/>
          </a:p>
        </p:txBody>
      </p:sp>
      <p:sp>
        <p:nvSpPr>
          <p:cNvPr id="16" name="lingkaran lampu"/>
          <p:cNvSpPr/>
          <p:nvPr/>
        </p:nvSpPr>
        <p:spPr>
          <a:xfrm>
            <a:off x="548640" y="5532120"/>
            <a:ext cx="548640" cy="548640"/>
          </a:xfrm>
          <a:prstGeom prst="ellipse">
            <a:avLst/>
          </a:prstGeom>
          <a:solidFill>
            <a:schemeClr val="accent3"/>
          </a:solidFill>
          <a:ln/>
        </p:spPr>
      </p:sp>
      <p:pic>
        <p:nvPicPr>
          <p:cNvPr id="17"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18" name="Text 12"/>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Mulai dari state lokal. Jika ternyata dibutuhkan oleh beberapa widget, "naikkan" state-nya. Langkah pertamanya dipelajari di Bagian 7 hari ini.</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2</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Anatomi StatefulWidget</a:t>
            </a:r>
            <a:endParaRPr lang="en-US" sz="4000" dirty="0"/>
          </a:p>
        </p:txBody>
      </p:sp>
      <p:sp>
        <p:nvSpPr>
          <p:cNvPr id="5" name="lingkaran kelas"/>
          <p:cNvSpPr/>
          <p:nvPr/>
        </p:nvSpPr>
        <p:spPr>
          <a:xfrm>
            <a:off x="1097280" y="2148840"/>
            <a:ext cx="2011680" cy="2011680"/>
          </a:xfrm>
          <a:prstGeom prst="ellipse">
            <a:avLst/>
          </a:prstGeom>
          <a:solidFill>
            <a:schemeClr val="accent1"/>
          </a:solidFill>
          <a:ln/>
        </p:spPr>
      </p:sp>
      <p:pic>
        <p:nvPicPr>
          <p:cNvPr id="6" name="Image 0" descr="kela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Dua Class yang Berpasangan</a:t>
            </a:r>
            <a:endParaRPr lang="en-US" sz="3200" dirty="0"/>
          </a:p>
        </p:txBody>
      </p:sp>
      <p:sp>
        <p:nvSpPr>
          <p:cNvPr id="4" name="bingkai layar 1"/>
          <p:cNvSpPr/>
          <p:nvPr/>
        </p:nvSpPr>
        <p:spPr>
          <a:xfrm>
            <a:off x="5736031" y="1316736"/>
            <a:ext cx="1877568" cy="2869362"/>
          </a:xfrm>
          <a:prstGeom prst="roundRect">
            <a:avLst>
              <a:gd name="adj" fmla="val 4870"/>
            </a:avLst>
          </a:prstGeom>
          <a:solidFill>
            <a:srgbClr val="FFFFFF"/>
          </a:solidFill>
          <a:ln w="12700">
            <a:solidFill>
              <a:srgbClr val="C9D3E0"/>
            </a:solidFill>
            <a:prstDash val="solid"/>
          </a:ln>
        </p:spPr>
      </p:sp>
      <p:pic>
        <p:nvPicPr>
          <p:cNvPr id="5" name="layar 1" descr="Tangkapan layar aplikasi (hasil_contoh_01a.jpg)">    </p:cNvPr>
          <p:cNvPicPr>
            <a:picLocks noChangeAspect="1"/>
          </p:cNvPicPr>
          <p:nvPr/>
        </p:nvPicPr>
        <p:blipFill>
          <a:blip r:embed="rId1"/>
          <a:stretch>
            <a:fillRect/>
          </a:stretch>
        </p:blipFill>
        <p:spPr>
          <a:xfrm>
            <a:off x="5790895" y="1371600"/>
            <a:ext cx="1767840" cy="2759634"/>
          </a:xfrm>
          <a:prstGeom prst="rect">
            <a:avLst/>
          </a:prstGeom>
        </p:spPr>
      </p:pic>
      <p:sp>
        <p:nvSpPr>
          <p:cNvPr id="6" name="bingkai layar 2"/>
          <p:cNvSpPr/>
          <p:nvPr/>
        </p:nvSpPr>
        <p:spPr>
          <a:xfrm>
            <a:off x="7778191" y="1316736"/>
            <a:ext cx="1877568" cy="2869362"/>
          </a:xfrm>
          <a:prstGeom prst="roundRect">
            <a:avLst>
              <a:gd name="adj" fmla="val 4870"/>
            </a:avLst>
          </a:prstGeom>
          <a:solidFill>
            <a:srgbClr val="FFFFFF"/>
          </a:solidFill>
          <a:ln w="12700">
            <a:solidFill>
              <a:srgbClr val="C9D3E0"/>
            </a:solidFill>
            <a:prstDash val="solid"/>
          </a:ln>
        </p:spPr>
      </p:sp>
      <p:pic>
        <p:nvPicPr>
          <p:cNvPr id="7" name="layar 2" descr="Tangkapan layar aplikasi (hasil_contoh_01b.jpg)">    </p:cNvPr>
          <p:cNvPicPr>
            <a:picLocks noChangeAspect="1"/>
          </p:cNvPicPr>
          <p:nvPr/>
        </p:nvPicPr>
        <p:blipFill>
          <a:blip r:embed="rId2"/>
          <a:stretch>
            <a:fillRect/>
          </a:stretch>
        </p:blipFill>
        <p:spPr>
          <a:xfrm>
            <a:off x="7833055" y="1371600"/>
            <a:ext cx="1767840" cy="2759634"/>
          </a:xfrm>
          <a:prstGeom prst="rect">
            <a:avLst/>
          </a:prstGeom>
        </p:spPr>
      </p:pic>
      <p:sp>
        <p:nvSpPr>
          <p:cNvPr id="8" name="bingkai layar 3"/>
          <p:cNvSpPr/>
          <p:nvPr/>
        </p:nvSpPr>
        <p:spPr>
          <a:xfrm>
            <a:off x="9820351" y="1316736"/>
            <a:ext cx="1877568" cy="2869362"/>
          </a:xfrm>
          <a:prstGeom prst="roundRect">
            <a:avLst>
              <a:gd name="adj" fmla="val 4870"/>
            </a:avLst>
          </a:prstGeom>
          <a:solidFill>
            <a:srgbClr val="FFFFFF"/>
          </a:solidFill>
          <a:ln w="12700">
            <a:solidFill>
              <a:srgbClr val="C9D3E0"/>
            </a:solidFill>
            <a:prstDash val="solid"/>
          </a:ln>
        </p:spPr>
      </p:sp>
      <p:pic>
        <p:nvPicPr>
          <p:cNvPr id="9" name="layar 3" descr="Tangkapan layar aplikasi (hasil_contoh_01c.jpg)">    </p:cNvPr>
          <p:cNvPicPr>
            <a:picLocks noChangeAspect="1"/>
          </p:cNvPicPr>
          <p:nvPr/>
        </p:nvPicPr>
        <p:blipFill>
          <a:blip r:embed="rId3"/>
          <a:stretch>
            <a:fillRect/>
          </a:stretch>
        </p:blipFill>
        <p:spPr>
          <a:xfrm>
            <a:off x="9875215" y="1371600"/>
            <a:ext cx="1767840" cy="2759634"/>
          </a:xfrm>
          <a:prstGeom prst="rect">
            <a:avLst/>
          </a:prstGeom>
        </p:spPr>
      </p:pic>
      <p:sp>
        <p:nvSpPr>
          <p:cNvPr id="10" name="kotak kode"/>
          <p:cNvSpPr txBox="1"/>
          <p:nvPr/>
        </p:nvSpPr>
        <p:spPr>
          <a:xfrm>
            <a:off x="548640" y="1371600"/>
            <a:ext cx="4785055"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1) Class widget: pengaturan, final</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HalamanMinumAir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extends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StatefulWidget</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target;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89DDFF"/>
                </a:solidFill>
                <a:latin typeface="Consolas" pitchFamily="34" charset="0"/>
                <a:ea typeface="Consolas" pitchFamily="34" charset="-122"/>
                <a:cs typeface="Consolas" pitchFamily="34" charset="-120"/>
              </a:rPr>
              <a:t>@override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HalamanMinumAir</a:t>
            </a:r>
            <a:r>
              <a:rPr lang="en-US" sz="1200" dirty="0">
                <a:solidFill>
                  <a:srgbClr val="E6EDF3"/>
                </a:solidFill>
                <a:latin typeface="Consolas" pitchFamily="34" charset="0"/>
                <a:ea typeface="Consolas" pitchFamily="34" charset="-122"/>
                <a:cs typeface="Consolas" pitchFamily="34" charset="-120"/>
              </a:rPr>
              <a:t>&gt; createState()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_HalamanMinumAirState();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2) Class State: data yang berubah</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class</a:t>
            </a:r>
            <a:r>
              <a:rPr lang="en-US" sz="1200" dirty="0">
                <a:solidFill>
                  <a:srgbClr val="E6EDF3"/>
                </a:solidFill>
                <a:latin typeface="Consolas" pitchFamily="34" charset="0"/>
                <a:ea typeface="Consolas" pitchFamily="34" charset="-122"/>
                <a:cs typeface="Consolas" pitchFamily="34" charset="-120"/>
              </a:rPr>
              <a:t> _HalamanMinumAirState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extends</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State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HalamanMinumAir</a:t>
            </a:r>
            <a:r>
              <a:rPr lang="en-US" sz="1200" dirty="0">
                <a:solidFill>
                  <a:srgbClr val="E6EDF3"/>
                </a:solidFill>
                <a:latin typeface="Consolas" pitchFamily="34" charset="0"/>
                <a:ea typeface="Consolas" pitchFamily="34" charset="-122"/>
                <a:cs typeface="Consolas" pitchFamily="34" charset="-120"/>
              </a:rPr>
              <a:t>&gt;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int</a:t>
            </a:r>
            <a:r>
              <a:rPr lang="en-US" sz="1200" dirty="0">
                <a:solidFill>
                  <a:srgbClr val="E6EDF3"/>
                </a:solidFill>
                <a:latin typeface="Consolas" pitchFamily="34" charset="0"/>
                <a:ea typeface="Consolas" pitchFamily="34" charset="-122"/>
                <a:cs typeface="Consolas" pitchFamily="34" charset="-120"/>
              </a:rPr>
              <a:t> _gelas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STATE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build() ada di sini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11" name="tombol tautan">
            <a:hlinkClick r:id="rId4" tooltip="https://github.com/antonprafanto/mobile2026/blob/main/pertemuan_05_interaksi_dan_state/kode/contoh_01_stateful_dasar.dart"/>
          </p:cNvPr>
          <p:cNvSpPr txBox="1"/>
          <p:nvPr/>
        </p:nvSpPr>
        <p:spPr>
          <a:xfrm>
            <a:off x="548640" y="4654296"/>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contoh_01_stateful_dasar.dart</a:t>
            </a:r>
            <a:endParaRPr lang="en-US" sz="1300" dirty="0"/>
          </a:p>
        </p:txBody>
      </p:sp>
      <p:pic>
        <p:nvPicPr>
          <p:cNvPr id="12" name="Image 3" descr="ikon tautan">
            <a:hlinkClick r:id="rId6" tooltip="https://github.com/antonprafanto/mobile2026/blob/main/pertemuan_05_interaksi_dan_state/kode/contoh_01_stateful_dasar.dart"/>
          </p:cNvPr>
          <p:cNvPicPr>
            <a:picLocks noChangeAspect="1"/>
          </p:cNvPicPr>
          <p:nvPr/>
        </p:nvPicPr>
        <p:blipFill>
          <a:blip r:embed="rId5"/>
          <a:stretch>
            <a:fillRect/>
          </a:stretch>
        </p:blipFill>
        <p:spPr>
          <a:xfrm>
            <a:off x="694944" y="4745736"/>
            <a:ext cx="274320" cy="274320"/>
          </a:xfrm>
          <a:prstGeom prst="rect">
            <a:avLst/>
          </a:prstGeom>
        </p:spPr>
      </p:pic>
      <p:sp>
        <p:nvSpPr>
          <p:cNvPr id="13" name="daftar poin"/>
          <p:cNvSpPr txBox="1"/>
          <p:nvPr/>
        </p:nvSpPr>
        <p:spPr>
          <a:xfrm>
            <a:off x="548640" y="5385816"/>
            <a:ext cx="4785055" cy="832104"/>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Class widget = kartu identitas; class State = buku catatan yang tetap hidup.</a:t>
            </a:r>
            <a:endParaRPr lang="en-US" sz="1500" dirty="0"/>
          </a:p>
          <a:p>
            <a:pPr marL="228600" indent="-228600">
              <a:spcAft>
                <a:spcPts val="800"/>
              </a:spcAft>
              <a:buSzPct val="100000"/>
              <a:buChar char="•"/>
            </a:pPr>
            <a:r>
              <a:rPr lang="en-US" sz="1500" dirty="0">
                <a:solidFill>
                  <a:schemeClr val="tx1"/>
                </a:solidFill>
              </a:rPr>
              <a:t>State membaca pengaturan lewat widget.target.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Apa yang Terjadi Saat setState() Dipanggil?</a:t>
            </a:r>
            <a:endParaRPr lang="en-US" sz="3200" dirty="0"/>
          </a:p>
        </p:txBody>
      </p:sp>
      <p:sp>
        <p:nvSpPr>
          <p:cNvPr id="4" name="langkah 1"/>
          <p:cNvSpPr/>
          <p:nvPr/>
        </p:nvSpPr>
        <p:spPr>
          <a:xfrm>
            <a:off x="548640" y="1828800"/>
            <a:ext cx="2533574" cy="3017520"/>
          </a:xfrm>
          <a:prstGeom prst="roundRect">
            <a:avLst>
              <a:gd name="adj" fmla="val 5414"/>
            </a:avLst>
          </a:prstGeom>
          <a:solidFill>
            <a:schemeClr val="bg2"/>
          </a:solidFill>
          <a:ln/>
        </p:spPr>
      </p:sp>
      <p:sp>
        <p:nvSpPr>
          <p:cNvPr id="5" name="lingkaran ubah"/>
          <p:cNvSpPr/>
          <p:nvPr/>
        </p:nvSpPr>
        <p:spPr>
          <a:xfrm>
            <a:off x="1381087" y="2103120"/>
            <a:ext cx="868680" cy="868680"/>
          </a:xfrm>
          <a:prstGeom prst="ellipse">
            <a:avLst/>
          </a:prstGeom>
          <a:solidFill>
            <a:schemeClr val="accent1"/>
          </a:solidFill>
          <a:ln/>
        </p:spPr>
      </p:sp>
      <p:pic>
        <p:nvPicPr>
          <p:cNvPr id="6" name="Image 0" descr="ubah">    </p:cNvPr>
          <p:cNvPicPr>
            <a:picLocks noChangeAspect="1"/>
          </p:cNvPicPr>
          <p:nvPr/>
        </p:nvPicPr>
        <p:blipFill>
          <a:blip r:embed="rId1"/>
          <a:stretch>
            <a:fillRect/>
          </a:stretch>
        </p:blipFill>
        <p:spPr>
          <a:xfrm>
            <a:off x="1572197" y="2294230"/>
            <a:ext cx="486461" cy="486461"/>
          </a:xfrm>
          <a:prstGeom prst="rect">
            <a:avLst/>
          </a:prstGeom>
        </p:spPr>
      </p:pic>
      <p:sp>
        <p:nvSpPr>
          <p:cNvPr id="7" name="Text 3"/>
          <p:cNvSpPr txBox="1"/>
          <p:nvPr/>
        </p:nvSpPr>
        <p:spPr>
          <a:xfrm>
            <a:off x="658368"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1</a:t>
            </a:r>
            <a:endParaRPr lang="en-US" sz="1400" dirty="0"/>
          </a:p>
        </p:txBody>
      </p:sp>
      <p:sp>
        <p:nvSpPr>
          <p:cNvPr id="8" name="Text 4"/>
          <p:cNvSpPr txBox="1"/>
          <p:nvPr/>
        </p:nvSpPr>
        <p:spPr>
          <a:xfrm>
            <a:off x="685800"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1. Data diubah</a:t>
            </a:r>
            <a:endParaRPr lang="en-US" sz="1700" dirty="0"/>
          </a:p>
        </p:txBody>
      </p:sp>
      <p:sp>
        <p:nvSpPr>
          <p:cNvPr id="9" name="Text 5"/>
          <p:cNvSpPr txBox="1"/>
          <p:nvPr/>
        </p:nvSpPr>
        <p:spPr>
          <a:xfrm>
            <a:off x="685800" y="3931920"/>
            <a:ext cx="2259254" cy="822960"/>
          </a:xfrm>
          <a:prstGeom prst="rect">
            <a:avLst/>
          </a:prstGeom>
          <a:noFill/>
          <a:ln/>
        </p:spPr>
        <p:txBody>
          <a:bodyPr wrap="square" lIns="0" tIns="0" rIns="0" bIns="0" rtlCol="0" anchor="t"/>
          <a:lstStyle/>
          <a:p>
            <a:pPr algn="ctr" indent="0" marL="0">
              <a:buNone/>
            </a:pPr>
            <a:r>
              <a:rPr lang="en-US" sz="1400" dirty="0">
                <a:solidFill>
                  <a:schemeClr val="tx1"/>
                </a:solidFill>
              </a:rPr>
              <a:t>Fungsi di dalam setState dijalankan: _gelas++.</a:t>
            </a:r>
            <a:endParaRPr lang="en-US" sz="1400" dirty="0"/>
          </a:p>
        </p:txBody>
      </p:sp>
      <p:sp>
        <p:nvSpPr>
          <p:cNvPr id="10" name="Shape 6"/>
          <p:cNvSpPr/>
          <p:nvPr/>
        </p:nvSpPr>
        <p:spPr>
          <a:xfrm>
            <a:off x="3118790" y="2395728"/>
            <a:ext cx="246888" cy="274320"/>
          </a:xfrm>
          <a:prstGeom prst="rightArrow">
            <a:avLst/>
          </a:prstGeom>
          <a:solidFill>
            <a:schemeClr val="accent2"/>
          </a:solidFill>
          <a:ln/>
        </p:spPr>
      </p:sp>
      <p:sp>
        <p:nvSpPr>
          <p:cNvPr id="11" name="langkah 2"/>
          <p:cNvSpPr/>
          <p:nvPr/>
        </p:nvSpPr>
        <p:spPr>
          <a:xfrm>
            <a:off x="3402254" y="1828800"/>
            <a:ext cx="2533574" cy="3017520"/>
          </a:xfrm>
          <a:prstGeom prst="roundRect">
            <a:avLst>
              <a:gd name="adj" fmla="val 5414"/>
            </a:avLst>
          </a:prstGeom>
          <a:solidFill>
            <a:schemeClr val="bg2"/>
          </a:solidFill>
          <a:ln/>
        </p:spPr>
      </p:sp>
      <p:sp>
        <p:nvSpPr>
          <p:cNvPr id="12" name="lingkaran label"/>
          <p:cNvSpPr/>
          <p:nvPr/>
        </p:nvSpPr>
        <p:spPr>
          <a:xfrm>
            <a:off x="4234701" y="2103120"/>
            <a:ext cx="868680" cy="868680"/>
          </a:xfrm>
          <a:prstGeom prst="ellipse">
            <a:avLst/>
          </a:prstGeom>
          <a:solidFill>
            <a:schemeClr val="accent1"/>
          </a:solidFill>
          <a:ln/>
        </p:spPr>
      </p:sp>
      <p:pic>
        <p:nvPicPr>
          <p:cNvPr id="13" name="Image 1" descr="label">    </p:cNvPr>
          <p:cNvPicPr>
            <a:picLocks noChangeAspect="1"/>
          </p:cNvPicPr>
          <p:nvPr/>
        </p:nvPicPr>
        <p:blipFill>
          <a:blip r:embed="rId2"/>
          <a:stretch>
            <a:fillRect/>
          </a:stretch>
        </p:blipFill>
        <p:spPr>
          <a:xfrm>
            <a:off x="4425810" y="2294230"/>
            <a:ext cx="486461" cy="486461"/>
          </a:xfrm>
          <a:prstGeom prst="rect">
            <a:avLst/>
          </a:prstGeom>
        </p:spPr>
      </p:pic>
      <p:sp>
        <p:nvSpPr>
          <p:cNvPr id="14" name="Text 9"/>
          <p:cNvSpPr txBox="1"/>
          <p:nvPr/>
        </p:nvSpPr>
        <p:spPr>
          <a:xfrm>
            <a:off x="3511982"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2</a:t>
            </a:r>
            <a:endParaRPr lang="en-US" sz="1400" dirty="0"/>
          </a:p>
        </p:txBody>
      </p:sp>
      <p:sp>
        <p:nvSpPr>
          <p:cNvPr id="15" name="Text 10"/>
          <p:cNvSpPr txBox="1"/>
          <p:nvPr/>
        </p:nvSpPr>
        <p:spPr>
          <a:xfrm>
            <a:off x="3539414"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2. Ditandai</a:t>
            </a:r>
            <a:endParaRPr lang="en-US" sz="1700" dirty="0"/>
          </a:p>
        </p:txBody>
      </p:sp>
      <p:sp>
        <p:nvSpPr>
          <p:cNvPr id="16" name="Text 11"/>
          <p:cNvSpPr txBox="1"/>
          <p:nvPr/>
        </p:nvSpPr>
        <p:spPr>
          <a:xfrm>
            <a:off x="3539414" y="3931920"/>
            <a:ext cx="2259254" cy="822960"/>
          </a:xfrm>
          <a:prstGeom prst="rect">
            <a:avLst/>
          </a:prstGeom>
          <a:noFill/>
          <a:ln/>
        </p:spPr>
        <p:txBody>
          <a:bodyPr wrap="square" lIns="0" tIns="0" rIns="0" bIns="0" rtlCol="0" anchor="t"/>
          <a:lstStyle/>
          <a:p>
            <a:pPr algn="ctr" indent="0" marL="0">
              <a:buNone/>
            </a:pPr>
            <a:r>
              <a:rPr lang="en-US" sz="1400" dirty="0">
                <a:solidFill>
                  <a:schemeClr val="tx1"/>
                </a:solidFill>
              </a:rPr>
              <a:t>Flutter menandai widget ini "perlu digambar ulang".</a:t>
            </a:r>
            <a:endParaRPr lang="en-US" sz="1400" dirty="0"/>
          </a:p>
        </p:txBody>
      </p:sp>
      <p:sp>
        <p:nvSpPr>
          <p:cNvPr id="17" name="Shape 12"/>
          <p:cNvSpPr/>
          <p:nvPr/>
        </p:nvSpPr>
        <p:spPr>
          <a:xfrm>
            <a:off x="5972404" y="2395728"/>
            <a:ext cx="246888" cy="274320"/>
          </a:xfrm>
          <a:prstGeom prst="rightArrow">
            <a:avLst/>
          </a:prstGeom>
          <a:solidFill>
            <a:schemeClr val="accent2"/>
          </a:solidFill>
          <a:ln/>
        </p:spPr>
      </p:sp>
      <p:sp>
        <p:nvSpPr>
          <p:cNvPr id="18" name="langkah 3"/>
          <p:cNvSpPr/>
          <p:nvPr/>
        </p:nvSpPr>
        <p:spPr>
          <a:xfrm>
            <a:off x="6255868" y="1828800"/>
            <a:ext cx="2533574" cy="3017520"/>
          </a:xfrm>
          <a:prstGeom prst="roundRect">
            <a:avLst>
              <a:gd name="adj" fmla="val 5414"/>
            </a:avLst>
          </a:prstGeom>
          <a:solidFill>
            <a:schemeClr val="bg2"/>
          </a:solidFill>
          <a:ln/>
        </p:spPr>
      </p:sp>
      <p:sp>
        <p:nvSpPr>
          <p:cNvPr id="19" name="lingkaran putar"/>
          <p:cNvSpPr/>
          <p:nvPr/>
        </p:nvSpPr>
        <p:spPr>
          <a:xfrm>
            <a:off x="7088315" y="2103120"/>
            <a:ext cx="868680" cy="868680"/>
          </a:xfrm>
          <a:prstGeom prst="ellipse">
            <a:avLst/>
          </a:prstGeom>
          <a:solidFill>
            <a:schemeClr val="accent1"/>
          </a:solidFill>
          <a:ln/>
        </p:spPr>
      </p:sp>
      <p:pic>
        <p:nvPicPr>
          <p:cNvPr id="20" name="Image 2" descr="putar">    </p:cNvPr>
          <p:cNvPicPr>
            <a:picLocks noChangeAspect="1"/>
          </p:cNvPicPr>
          <p:nvPr/>
        </p:nvPicPr>
        <p:blipFill>
          <a:blip r:embed="rId3"/>
          <a:stretch>
            <a:fillRect/>
          </a:stretch>
        </p:blipFill>
        <p:spPr>
          <a:xfrm>
            <a:off x="7279424" y="2294230"/>
            <a:ext cx="486461" cy="486461"/>
          </a:xfrm>
          <a:prstGeom prst="rect">
            <a:avLst/>
          </a:prstGeom>
        </p:spPr>
      </p:pic>
      <p:sp>
        <p:nvSpPr>
          <p:cNvPr id="21" name="Text 15"/>
          <p:cNvSpPr txBox="1"/>
          <p:nvPr/>
        </p:nvSpPr>
        <p:spPr>
          <a:xfrm>
            <a:off x="6365596"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3</a:t>
            </a:r>
            <a:endParaRPr lang="en-US" sz="1400" dirty="0"/>
          </a:p>
        </p:txBody>
      </p:sp>
      <p:sp>
        <p:nvSpPr>
          <p:cNvPr id="22" name="Text 16"/>
          <p:cNvSpPr txBox="1"/>
          <p:nvPr/>
        </p:nvSpPr>
        <p:spPr>
          <a:xfrm>
            <a:off x="6393028"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3. build() lagi</a:t>
            </a:r>
            <a:endParaRPr lang="en-US" sz="1700" dirty="0"/>
          </a:p>
        </p:txBody>
      </p:sp>
      <p:sp>
        <p:nvSpPr>
          <p:cNvPr id="23" name="Text 17"/>
          <p:cNvSpPr txBox="1"/>
          <p:nvPr/>
        </p:nvSpPr>
        <p:spPr>
          <a:xfrm>
            <a:off x="6393028" y="3931920"/>
            <a:ext cx="2259254" cy="822960"/>
          </a:xfrm>
          <a:prstGeom prst="rect">
            <a:avLst/>
          </a:prstGeom>
          <a:noFill/>
          <a:ln/>
        </p:spPr>
        <p:txBody>
          <a:bodyPr wrap="square" lIns="0" tIns="0" rIns="0" bIns="0" rtlCol="0" anchor="t"/>
          <a:lstStyle/>
          <a:p>
            <a:pPr algn="ctr" indent="0" marL="0">
              <a:buNone/>
            </a:pPr>
            <a:r>
              <a:rPr lang="en-US" sz="1400" dirty="0">
                <a:solidFill>
                  <a:schemeClr val="tx1"/>
                </a:solidFill>
              </a:rPr>
              <a:t>Pada frame berikutnya, build() berjalan dengan nilai baru.</a:t>
            </a:r>
            <a:endParaRPr lang="en-US" sz="1400" dirty="0"/>
          </a:p>
        </p:txBody>
      </p:sp>
      <p:sp>
        <p:nvSpPr>
          <p:cNvPr id="24" name="Shape 18"/>
          <p:cNvSpPr/>
          <p:nvPr/>
        </p:nvSpPr>
        <p:spPr>
          <a:xfrm>
            <a:off x="8826017" y="2395728"/>
            <a:ext cx="246888" cy="274320"/>
          </a:xfrm>
          <a:prstGeom prst="rightArrow">
            <a:avLst/>
          </a:prstGeom>
          <a:solidFill>
            <a:schemeClr val="accent2"/>
          </a:solidFill>
          <a:ln/>
        </p:spPr>
      </p:sp>
      <p:sp>
        <p:nvSpPr>
          <p:cNvPr id="25" name="langkah 4"/>
          <p:cNvSpPr/>
          <p:nvPr/>
        </p:nvSpPr>
        <p:spPr>
          <a:xfrm>
            <a:off x="9109481" y="1828800"/>
            <a:ext cx="2533574" cy="3017520"/>
          </a:xfrm>
          <a:prstGeom prst="roundRect">
            <a:avLst>
              <a:gd name="adj" fmla="val 5414"/>
            </a:avLst>
          </a:prstGeom>
          <a:solidFill>
            <a:schemeClr val="bg2"/>
          </a:solidFill>
          <a:ln/>
        </p:spPr>
      </p:sp>
      <p:sp>
        <p:nvSpPr>
          <p:cNvPr id="26" name="lingkaran centang"/>
          <p:cNvSpPr/>
          <p:nvPr/>
        </p:nvSpPr>
        <p:spPr>
          <a:xfrm>
            <a:off x="9941928" y="2103120"/>
            <a:ext cx="868680" cy="868680"/>
          </a:xfrm>
          <a:prstGeom prst="ellipse">
            <a:avLst/>
          </a:prstGeom>
          <a:solidFill>
            <a:schemeClr val="accent4"/>
          </a:solidFill>
          <a:ln/>
        </p:spPr>
      </p:sp>
      <p:pic>
        <p:nvPicPr>
          <p:cNvPr id="27" name="Image 3" descr="centang">    </p:cNvPr>
          <p:cNvPicPr>
            <a:picLocks noChangeAspect="1"/>
          </p:cNvPicPr>
          <p:nvPr/>
        </p:nvPicPr>
        <p:blipFill>
          <a:blip r:embed="rId4"/>
          <a:stretch>
            <a:fillRect/>
          </a:stretch>
        </p:blipFill>
        <p:spPr>
          <a:xfrm>
            <a:off x="10133038" y="2294230"/>
            <a:ext cx="486461" cy="486461"/>
          </a:xfrm>
          <a:prstGeom prst="rect">
            <a:avLst/>
          </a:prstGeom>
        </p:spPr>
      </p:pic>
      <p:sp>
        <p:nvSpPr>
          <p:cNvPr id="28" name="Text 21"/>
          <p:cNvSpPr txBox="1"/>
          <p:nvPr/>
        </p:nvSpPr>
        <p:spPr>
          <a:xfrm>
            <a:off x="9219209" y="1920240"/>
            <a:ext cx="457200" cy="365760"/>
          </a:xfrm>
          <a:prstGeom prst="rect">
            <a:avLst/>
          </a:prstGeom>
          <a:noFill/>
          <a:ln/>
        </p:spPr>
        <p:txBody>
          <a:bodyPr wrap="square" lIns="0" tIns="0" rIns="0" bIns="0" rtlCol="0" anchor="ctr"/>
          <a:lstStyle/>
          <a:p>
            <a:pPr indent="0" marL="0">
              <a:buNone/>
            </a:pPr>
            <a:r>
              <a:rPr lang="en-US" sz="1400" b="1" dirty="0">
                <a:solidFill>
                  <a:srgbClr val="6B7A90"/>
                </a:solidFill>
              </a:rPr>
              <a:t>4</a:t>
            </a:r>
            <a:endParaRPr lang="en-US" sz="1400" dirty="0"/>
          </a:p>
        </p:txBody>
      </p:sp>
      <p:sp>
        <p:nvSpPr>
          <p:cNvPr id="29" name="Text 22"/>
          <p:cNvSpPr txBox="1"/>
          <p:nvPr/>
        </p:nvSpPr>
        <p:spPr>
          <a:xfrm>
            <a:off x="9246641" y="3108960"/>
            <a:ext cx="2259254" cy="777240"/>
          </a:xfrm>
          <a:prstGeom prst="rect">
            <a:avLst/>
          </a:prstGeom>
          <a:noFill/>
          <a:ln/>
        </p:spPr>
        <p:txBody>
          <a:bodyPr wrap="square" lIns="0" tIns="0" rIns="0" bIns="0" rtlCol="0" anchor="t"/>
          <a:lstStyle/>
          <a:p>
            <a:pPr algn="ctr" indent="0" marL="0">
              <a:buNone/>
            </a:pPr>
            <a:r>
              <a:rPr lang="en-US" sz="1700" b="1" dirty="0">
                <a:solidFill>
                  <a:schemeClr val="tx2"/>
                </a:solidFill>
              </a:rPr>
              <a:t>4. Layar diperbarui</a:t>
            </a:r>
            <a:endParaRPr lang="en-US" sz="1700" dirty="0"/>
          </a:p>
        </p:txBody>
      </p:sp>
      <p:sp>
        <p:nvSpPr>
          <p:cNvPr id="30" name="Text 23"/>
          <p:cNvSpPr txBox="1"/>
          <p:nvPr/>
        </p:nvSpPr>
        <p:spPr>
          <a:xfrm>
            <a:off x="9246641" y="3931920"/>
            <a:ext cx="2259254" cy="822960"/>
          </a:xfrm>
          <a:prstGeom prst="rect">
            <a:avLst/>
          </a:prstGeom>
          <a:noFill/>
          <a:ln/>
        </p:spPr>
        <p:txBody>
          <a:bodyPr wrap="square" lIns="0" tIns="0" rIns="0" bIns="0" rtlCol="0" anchor="t"/>
          <a:lstStyle/>
          <a:p>
            <a:pPr algn="ctr" indent="0" marL="0">
              <a:buNone/>
            </a:pPr>
            <a:r>
              <a:rPr lang="en-US" sz="1400" dirty="0">
                <a:solidFill>
                  <a:schemeClr val="tx1"/>
                </a:solidFill>
              </a:rPr>
              <a:t>Hanya bagian yang berubah yang digambar ulang.</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Menulis Aksi Tombol dengan Benar</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4741203"/>
                <a:gridCol w="4551555"/>
                <a:gridCol w="1801657"/>
              </a:tblGrid>
              <a:tr h="73152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Penulisan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Artinya</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Hasil</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7315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onPressed: _tambahGelas</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Ini fungsinya, jalankan nanti saat ditekan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32"/>
                          </a:solidFill>
                          <a:latin typeface="Calibri" pitchFamily="34" charset="0"/>
                          <a:ea typeface="Calibri" pitchFamily="34" charset="-122"/>
                          <a:cs typeface="Calibri" pitchFamily="34" charset="-120"/>
                        </a:rPr>
                        <a:t>✅ Benar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onPressed: () =&gt; _catat('A')</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Fungsi tanpa nama, berguna jika perlu argumen</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b="1" dirty="0">
                          <a:solidFill>
                            <a:srgbClr val="2E7D32"/>
                          </a:solidFill>
                          <a:latin typeface="Calibri" pitchFamily="34" charset="0"/>
                          <a:ea typeface="Calibri" pitchFamily="34" charset="-122"/>
                          <a:cs typeface="Calibri" pitchFamily="34" charset="-120"/>
                        </a:rPr>
                        <a:t>✅ Benar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7315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onPressed: _tambahGelas()</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Dijalankan sekarang, saat build()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500" b="1" dirty="0">
                          <a:solidFill>
                            <a:srgbClr val="C62828"/>
                          </a:solidFill>
                          <a:latin typeface="Calibri" pitchFamily="34" charset="0"/>
                          <a:ea typeface="Calibri" pitchFamily="34" charset="-122"/>
                          <a:cs typeface="Calibri" pitchFamily="34" charset="-120"/>
                        </a:rPr>
                        <a:t>❌ Error void</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731520">
                <a:tc>
                  <a:txBody>
                    <a:bodyPr/>
                    <a:lstStyle/>
                    <a:p>
                      <a:pPr indent="0" marL="0">
                        <a:buNone/>
                      </a:pPr>
                      <a:r>
                        <a:rPr lang="en-US" sz="1500" dirty="0">
                          <a:solidFill>
                            <a:srgbClr val="1B2333"/>
                          </a:solidFill>
                          <a:latin typeface="Consolas" pitchFamily="34" charset="0"/>
                          <a:ea typeface="Consolas" pitchFamily="34" charset="-122"/>
                          <a:cs typeface="Consolas" pitchFamily="34" charset="-120"/>
                        </a:rPr>
                        <a:t>onPressed: _gelas &gt; 0 ? _kurangi : null</a:t>
                      </a:r>
                      <a:endParaRPr lang="en-US" sz="1500" dirty="0">
                        <a:latin typeface="Consolas" charset="0"/>
                        <a:ea typeface="Consolas" charset="0"/>
                        <a:cs typeface="Consolas"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dirty="0">
                          <a:solidFill>
                            <a:srgbClr val="1B2333"/>
                          </a:solidFill>
                          <a:latin typeface="Calibri" pitchFamily="34" charset="0"/>
                          <a:ea typeface="Calibri" pitchFamily="34" charset="-122"/>
                          <a:cs typeface="Calibri" pitchFamily="34" charset="-120"/>
                        </a:rPr>
                        <a:t>null = tombol nonaktif (abu-abu)</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500" b="1" dirty="0">
                          <a:solidFill>
                            <a:srgbClr val="2E7D32"/>
                          </a:solidFill>
                          <a:latin typeface="Calibri" pitchFamily="34" charset="0"/>
                          <a:ea typeface="Calibri" pitchFamily="34" charset="-122"/>
                          <a:cs typeface="Calibri" pitchFamily="34" charset="-120"/>
                        </a:rPr>
                        <a:t>✅ Benar</a:t>
                      </a:r>
                      <a:endParaRPr lang="en-US" sz="15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Hot reload mempertahankan state. Mengubah nilai awal (int _gelas = 5) baru terlihat setelah hot restart: tekan R di terminal.</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3</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Tombol dan Sentuhan</a:t>
            </a:r>
            <a:endParaRPr lang="en-US" sz="4000" dirty="0"/>
          </a:p>
        </p:txBody>
      </p:sp>
      <p:sp>
        <p:nvSpPr>
          <p:cNvPr id="5" name="lingkaran tombol"/>
          <p:cNvSpPr/>
          <p:nvPr/>
        </p:nvSpPr>
        <p:spPr>
          <a:xfrm>
            <a:off x="1097280" y="2148840"/>
            <a:ext cx="2011680" cy="2011680"/>
          </a:xfrm>
          <a:prstGeom prst="ellipse">
            <a:avLst/>
          </a:prstGeom>
          <a:solidFill>
            <a:schemeClr val="accent1"/>
          </a:solidFill>
          <a:ln/>
        </p:spPr>
      </p:sp>
      <p:pic>
        <p:nvPicPr>
          <p:cNvPr id="6" name="Image 0" descr="tombol">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Lima Tombol Material 3</a:t>
            </a:r>
            <a:endParaRPr lang="en-US" sz="3200" dirty="0"/>
          </a:p>
        </p:txBody>
      </p:sp>
      <p:sp>
        <p:nvSpPr>
          <p:cNvPr id="4" name="bingkai layar 1"/>
          <p:cNvSpPr/>
          <p:nvPr/>
        </p:nvSpPr>
        <p:spPr>
          <a:xfrm>
            <a:off x="5736031" y="1316736"/>
            <a:ext cx="2898648" cy="4463288"/>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2a.jpg)">    </p:cNvPr>
          <p:cNvPicPr>
            <a:picLocks noChangeAspect="1"/>
          </p:cNvPicPr>
          <p:nvPr/>
        </p:nvPicPr>
        <p:blipFill>
          <a:blip r:embed="rId1"/>
          <a:stretch>
            <a:fillRect/>
          </a:stretch>
        </p:blipFill>
        <p:spPr>
          <a:xfrm>
            <a:off x="5790895" y="1371600"/>
            <a:ext cx="2788920" cy="4353560"/>
          </a:xfrm>
          <a:prstGeom prst="rect">
            <a:avLst/>
          </a:prstGeom>
        </p:spPr>
      </p:pic>
      <p:sp>
        <p:nvSpPr>
          <p:cNvPr id="6" name="bingkai layar 2"/>
          <p:cNvSpPr/>
          <p:nvPr/>
        </p:nvSpPr>
        <p:spPr>
          <a:xfrm>
            <a:off x="8799271" y="1316736"/>
            <a:ext cx="2898648" cy="4463288"/>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2b.jpg)">    </p:cNvPr>
          <p:cNvPicPr>
            <a:picLocks noChangeAspect="1"/>
          </p:cNvPicPr>
          <p:nvPr/>
        </p:nvPicPr>
        <p:blipFill>
          <a:blip r:embed="rId2"/>
          <a:stretch>
            <a:fillRect/>
          </a:stretch>
        </p:blipFill>
        <p:spPr>
          <a:xfrm>
            <a:off x="8854135" y="1371600"/>
            <a:ext cx="2788920" cy="4353560"/>
          </a:xfrm>
          <a:prstGeom prst="rect">
            <a:avLst/>
          </a:prstGeom>
        </p:spPr>
      </p:pic>
      <p:sp>
        <p:nvSpPr>
          <p:cNvPr id="8" name="tombol tautan">
            <a:hlinkClick r:id="rId3" tooltip="https://github.com/antonprafanto/mobile2026/blob/main/pertemuan_05_interaksi_dan_state/kode/contoh_02_jenis_tombol.dart"/>
          </p:cNvPr>
          <p:cNvSpPr txBox="1"/>
          <p:nvPr/>
        </p:nvSpPr>
        <p:spPr>
          <a:xfrm>
            <a:off x="548640" y="1371600"/>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contoh_02_jenis_tombol.dart</a:t>
            </a:r>
            <a:endParaRPr lang="en-US" sz="1300" dirty="0"/>
          </a:p>
        </p:txBody>
      </p:sp>
      <p:pic>
        <p:nvPicPr>
          <p:cNvPr id="9" name="Image 2" descr="ikon tautan">
            <a:hlinkClick r:id="rId5" tooltip="https://github.com/antonprafanto/mobile2026/blob/main/pertemuan_05_interaksi_dan_state/kode/contoh_02_jenis_tombol.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785055" cy="411480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chemeClr val="tx1"/>
                </a:solidFill>
              </a:rPr>
              <a:t>FilledButton</a:t>
            </a:r>
            <a:r>
              <a:rPr lang="en-US" sz="1500" dirty="0">
                <a:solidFill>
                  <a:schemeClr val="tx1"/>
                </a:solidFill>
              </a:rPr>
              <a:t>: aksi utama, cukup satu per layar.</a:t>
            </a:r>
            <a:endParaRPr lang="en-US" sz="1500" dirty="0"/>
          </a:p>
          <a:p>
            <a:pPr marL="228600" indent="-228600">
              <a:spcAft>
                <a:spcPts val="800"/>
              </a:spcAft>
              <a:buSzPct val="100000"/>
              <a:buChar char="•"/>
            </a:pPr>
            <a:r>
              <a:rPr lang="en-US" sz="1500" b="1" dirty="0">
                <a:solidFill>
                  <a:schemeClr val="tx1"/>
                </a:solidFill>
              </a:rPr>
              <a:t>FilledButton.tonal</a:t>
            </a:r>
            <a:r>
              <a:rPr lang="en-US" sz="1500" dirty="0">
                <a:solidFill>
                  <a:schemeClr val="tx1"/>
                </a:solidFill>
              </a:rPr>
              <a:t>: aksi penting kedua.</a:t>
            </a:r>
            <a:endParaRPr lang="en-US" sz="1500" dirty="0"/>
          </a:p>
          <a:p>
            <a:pPr marL="228600" indent="-228600">
              <a:spcAft>
                <a:spcPts val="800"/>
              </a:spcAft>
              <a:buSzPct val="100000"/>
              <a:buChar char="•"/>
            </a:pPr>
            <a:r>
              <a:rPr lang="en-US" sz="1500" b="1" dirty="0">
                <a:solidFill>
                  <a:schemeClr val="tx1"/>
                </a:solidFill>
              </a:rPr>
              <a:t>ElevatedButton</a:t>
            </a:r>
            <a:r>
              <a:rPr lang="en-US" sz="1500" dirty="0">
                <a:solidFill>
                  <a:schemeClr val="tx1"/>
                </a:solidFill>
              </a:rPr>
              <a:t>: di atas latar bergambar.</a:t>
            </a:r>
            <a:endParaRPr lang="en-US" sz="1500" dirty="0"/>
          </a:p>
          <a:p>
            <a:pPr marL="228600" indent="-228600">
              <a:spcAft>
                <a:spcPts val="800"/>
              </a:spcAft>
              <a:buSzPct val="100000"/>
              <a:buChar char="•"/>
            </a:pPr>
            <a:r>
              <a:rPr lang="en-US" sz="1500" b="1" dirty="0">
                <a:solidFill>
                  <a:schemeClr val="tx1"/>
                </a:solidFill>
              </a:rPr>
              <a:t>OutlinedButton</a:t>
            </a:r>
            <a:r>
              <a:rPr lang="en-US" sz="1500" dirty="0">
                <a:solidFill>
                  <a:schemeClr val="tx1"/>
                </a:solidFill>
              </a:rPr>
              <a:t>: aksi pendamping (Batal).</a:t>
            </a:r>
            <a:endParaRPr lang="en-US" sz="1500" dirty="0"/>
          </a:p>
          <a:p>
            <a:pPr marL="228600" indent="-228600">
              <a:spcAft>
                <a:spcPts val="800"/>
              </a:spcAft>
              <a:buSzPct val="100000"/>
              <a:buChar char="•"/>
            </a:pPr>
            <a:r>
              <a:rPr lang="en-US" sz="1500" b="1" dirty="0">
                <a:solidFill>
                  <a:schemeClr val="tx1"/>
                </a:solidFill>
              </a:rPr>
              <a:t>TextButton</a:t>
            </a:r>
            <a:r>
              <a:rPr lang="en-US" sz="1500" dirty="0">
                <a:solidFill>
                  <a:schemeClr val="tx1"/>
                </a:solidFill>
              </a:rPr>
              <a:t>: paling ringan, juga di dialog.</a:t>
            </a:r>
            <a:endParaRPr lang="en-US" sz="1500" dirty="0"/>
          </a:p>
          <a:p>
            <a:pPr marL="228600" indent="-228600">
              <a:spcAft>
                <a:spcPts val="800"/>
              </a:spcAft>
              <a:buSzPct val="100000"/>
              <a:buChar char="•"/>
            </a:pPr>
            <a:r>
              <a:rPr lang="en-US" sz="1500" dirty="0">
                <a:solidFill>
                  <a:schemeClr val="tx1"/>
                </a:solidFill>
              </a:rPr>
              <a:t>Versi berikon: .icon(icon: ..., label: ...).</a:t>
            </a:r>
            <a:endParaRPr lang="en-US" sz="1500" dirty="0"/>
          </a:p>
          <a:p>
            <a:pPr marL="228600" indent="-228600">
              <a:spcAft>
                <a:spcPts val="800"/>
              </a:spcAft>
              <a:buSzPct val="100000"/>
              <a:buChar char="•"/>
            </a:pPr>
            <a:r>
              <a:rPr lang="en-US" sz="1500" dirty="0">
                <a:solidFill>
                  <a:schemeClr val="tx1"/>
                </a:solidFill>
              </a:rPr>
              <a:t>IconButton (+ filled, filledTonal, outlined): selalu isi tooltip.</a:t>
            </a:r>
            <a:endParaRPr lang="en-US" sz="1500" dirty="0"/>
          </a:p>
          <a:p>
            <a:pPr marL="228600" indent="-228600">
              <a:spcAft>
                <a:spcPts val="800"/>
              </a:spcAft>
              <a:buSzPct val="100000"/>
              <a:buChar char="•"/>
            </a:pPr>
            <a:r>
              <a:rPr lang="en-US" sz="1500" dirty="0">
                <a:solidFill>
                  <a:schemeClr val="tx1"/>
                </a:solidFill>
              </a:rPr>
              <a:t>Toggle: isSelected + icon + selectedIcon.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InkWell, GestureDetector, dan SnackBar</a:t>
            </a:r>
            <a:endParaRPr lang="en-US" sz="3200" dirty="0"/>
          </a:p>
        </p:txBody>
      </p:sp>
      <p:sp>
        <p:nvSpPr>
          <p:cNvPr id="4" name="bingkai layar 1"/>
          <p:cNvSpPr/>
          <p:nvPr/>
        </p:nvSpPr>
        <p:spPr>
          <a:xfrm>
            <a:off x="5736031" y="1316736"/>
            <a:ext cx="2898648" cy="4463288"/>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3a.jpg)">    </p:cNvPr>
          <p:cNvPicPr>
            <a:picLocks noChangeAspect="1"/>
          </p:cNvPicPr>
          <p:nvPr/>
        </p:nvPicPr>
        <p:blipFill>
          <a:blip r:embed="rId1"/>
          <a:stretch>
            <a:fillRect/>
          </a:stretch>
        </p:blipFill>
        <p:spPr>
          <a:xfrm>
            <a:off x="5790895" y="1371600"/>
            <a:ext cx="2788920" cy="4353560"/>
          </a:xfrm>
          <a:prstGeom prst="rect">
            <a:avLst/>
          </a:prstGeom>
        </p:spPr>
      </p:pic>
      <p:sp>
        <p:nvSpPr>
          <p:cNvPr id="6" name="bingkai layar 2"/>
          <p:cNvSpPr/>
          <p:nvPr/>
        </p:nvSpPr>
        <p:spPr>
          <a:xfrm>
            <a:off x="8799271" y="1316736"/>
            <a:ext cx="2898648" cy="4463288"/>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3b.jpg)">    </p:cNvPr>
          <p:cNvPicPr>
            <a:picLocks noChangeAspect="1"/>
          </p:cNvPicPr>
          <p:nvPr/>
        </p:nvPicPr>
        <p:blipFill>
          <a:blip r:embed="rId2"/>
          <a:stretch>
            <a:fillRect/>
          </a:stretch>
        </p:blipFill>
        <p:spPr>
          <a:xfrm>
            <a:off x="8854135" y="1371600"/>
            <a:ext cx="2788920" cy="4353560"/>
          </a:xfrm>
          <a:prstGeom prst="rect">
            <a:avLst/>
          </a:prstGeom>
        </p:spPr>
      </p:pic>
      <p:sp>
        <p:nvSpPr>
          <p:cNvPr id="8" name="kotak kode"/>
          <p:cNvSpPr txBox="1"/>
          <p:nvPr/>
        </p:nvSpPr>
        <p:spPr>
          <a:xfrm>
            <a:off x="548640" y="1371600"/>
            <a:ext cx="4785055" cy="1947672"/>
          </a:xfrm>
          <a:prstGeom prst="roundRect">
            <a:avLst>
              <a:gd name="adj" fmla="val 469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pesan.showSnackBar(</a:t>
            </a:r>
            <a:r>
              <a:rPr lang="en-US" sz="1200" dirty="0">
                <a:solidFill>
                  <a:srgbClr val="FFCB6B"/>
                </a:solidFill>
                <a:latin typeface="Consolas" pitchFamily="34" charset="0"/>
                <a:ea typeface="Consolas" pitchFamily="34" charset="-122"/>
                <a:cs typeface="Consolas" pitchFamily="34" charset="-120"/>
              </a:rPr>
              <a:t>SnackBar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content: </a:t>
            </a:r>
            <a:r>
              <a:rPr lang="en-US" sz="1200" dirty="0">
                <a:solidFill>
                  <a:srgbClr val="C792EA"/>
                </a:solidFill>
                <a:latin typeface="Consolas" pitchFamily="34" charset="0"/>
                <a:ea typeface="Consolas" pitchFamily="34" charset="-122"/>
                <a:cs typeface="Consolas" pitchFamily="34" charset="-120"/>
              </a:rPr>
              <a:t>const</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Text</a:t>
            </a:r>
            <a:r>
              <a:rPr lang="en-US" sz="1200" dirty="0">
                <a:solidFill>
                  <a:srgbClr val="E6EDF3"/>
                </a:solidFill>
                <a:latin typeface="Consolas" pitchFamily="34" charset="0"/>
                <a:ea typeface="Consolas" pitchFamily="34" charset="-122"/>
                <a:cs typeface="Consolas" pitchFamily="34" charset="-120"/>
              </a:rPr>
              <a:t>(</a:t>
            </a:r>
            <a:r>
              <a:rPr lang="en-US" sz="1200" dirty="0">
                <a:solidFill>
                  <a:srgbClr val="C3E88D"/>
                </a:solidFill>
                <a:latin typeface="Consolas" pitchFamily="34" charset="0"/>
                <a:ea typeface="Consolas" pitchFamily="34" charset="-122"/>
                <a:cs typeface="Consolas" pitchFamily="34" charset="-120"/>
              </a:rPr>
              <a:t>'Pengumuman dihapus.'</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action: </a:t>
            </a:r>
            <a:r>
              <a:rPr lang="en-US" sz="1200" dirty="0">
                <a:solidFill>
                  <a:srgbClr val="FFCB6B"/>
                </a:solidFill>
                <a:latin typeface="Consolas" pitchFamily="34" charset="0"/>
                <a:ea typeface="Consolas" pitchFamily="34" charset="-122"/>
                <a:cs typeface="Consolas" pitchFamily="34" charset="-120"/>
              </a:rPr>
              <a:t>SnackBarAction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label: </a:t>
            </a:r>
            <a:r>
              <a:rPr lang="en-US" sz="1200" dirty="0">
                <a:solidFill>
                  <a:srgbClr val="C3E88D"/>
                </a:solidFill>
                <a:latin typeface="Consolas" pitchFamily="34" charset="0"/>
                <a:ea typeface="Consolas" pitchFamily="34" charset="-122"/>
                <a:cs typeface="Consolas" pitchFamily="34" charset="-120"/>
              </a:rPr>
              <a:t>'Batalkan'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onPressed: () { </a:t>
            </a:r>
            <a:r>
              <a:rPr lang="en-US" sz="1200" i="1" dirty="0">
                <a:solidFill>
                  <a:srgbClr val="8FA3BC"/>
                </a:solidFill>
                <a:latin typeface="Consolas" pitchFamily="34" charset="0"/>
                <a:ea typeface="Consolas" pitchFamily="34" charset="-122"/>
                <a:cs typeface="Consolas" pitchFamily="34" charset="-120"/>
              </a:rPr>
              <a:t>/* kembalikan */</a:t>
            </a: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persist: </a:t>
            </a:r>
            <a:r>
              <a:rPr lang="en-US" sz="1200" dirty="0">
                <a:solidFill>
                  <a:srgbClr val="C792EA"/>
                </a:solidFill>
                <a:latin typeface="Consolas" pitchFamily="34" charset="0"/>
                <a:ea typeface="Consolas" pitchFamily="34" charset="-122"/>
                <a:cs typeface="Consolas" pitchFamily="34" charset="-120"/>
              </a:rPr>
              <a:t>false</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tetap hilang sendiri</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5_interaksi_dan_state/kode/contoh_03_sentuhan_dan_snackbar.dart"/>
          </p:cNvPr>
          <p:cNvSpPr txBox="1"/>
          <p:nvPr/>
        </p:nvSpPr>
        <p:spPr>
          <a:xfrm>
            <a:off x="548640" y="3502152"/>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contoh_03_sentuhan_dan_snackbar.dart</a:t>
            </a:r>
            <a:endParaRPr lang="en-US" sz="1300" dirty="0"/>
          </a:p>
        </p:txBody>
      </p:sp>
      <p:pic>
        <p:nvPicPr>
          <p:cNvPr id="10" name="Image 2" descr="ikon tautan">
            <a:hlinkClick r:id="rId5" tooltip="https://github.com/antonprafanto/mobile2026/blob/main/pertemuan_05_interaksi_dan_state/kode/contoh_03_sentuhan_dan_snackbar.dart"/>
          </p:cNvPr>
          <p:cNvPicPr>
            <a:picLocks noChangeAspect="1"/>
          </p:cNvPicPr>
          <p:nvPr/>
        </p:nvPicPr>
        <p:blipFill>
          <a:blip r:embed="rId4"/>
          <a:stretch>
            <a:fillRect/>
          </a:stretch>
        </p:blipFill>
        <p:spPr>
          <a:xfrm>
            <a:off x="694944" y="3593592"/>
            <a:ext cx="274320" cy="274320"/>
          </a:xfrm>
          <a:prstGeom prst="rect">
            <a:avLst/>
          </a:prstGeom>
        </p:spPr>
      </p:pic>
      <p:sp>
        <p:nvSpPr>
          <p:cNvPr id="11" name="daftar poin"/>
          <p:cNvSpPr txBox="1"/>
          <p:nvPr/>
        </p:nvSpPr>
        <p:spPr>
          <a:xfrm>
            <a:off x="548640" y="4233672"/>
            <a:ext cx="4785055" cy="198424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InkWell: bisa diketuk + efek riak; butuh Material di atasnya.</a:t>
            </a:r>
            <a:endParaRPr lang="en-US" sz="1500" dirty="0"/>
          </a:p>
          <a:p>
            <a:pPr marL="228600" indent="-228600">
              <a:spcAft>
                <a:spcPts val="800"/>
              </a:spcAft>
              <a:buSzPct val="100000"/>
              <a:buChar char="•"/>
            </a:pPr>
            <a:r>
              <a:rPr lang="en-US" sz="1500" dirty="0">
                <a:solidFill>
                  <a:schemeClr val="tx1"/>
                </a:solidFill>
              </a:rPr>
              <a:t>GestureDetector: ketuk dua kali, geser, cubit; tanpa efek.</a:t>
            </a:r>
            <a:endParaRPr lang="en-US" sz="1500" dirty="0"/>
          </a:p>
          <a:p>
            <a:pPr marL="228600" indent="-228600">
              <a:spcAft>
                <a:spcPts val="800"/>
              </a:spcAft>
              <a:buSzPct val="100000"/>
              <a:buChar char="•"/>
            </a:pPr>
            <a:r>
              <a:rPr lang="en-US" sz="1500" dirty="0">
                <a:solidFill>
                  <a:schemeClr val="tx1"/>
                </a:solidFill>
              </a:rPr>
              <a:t>hideCurrentSnackBar() dulu agar pesan tidak antre.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4</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Memilih Nilai</a:t>
            </a:r>
            <a:endParaRPr lang="en-US" sz="4000" dirty="0"/>
          </a:p>
        </p:txBody>
      </p:sp>
      <p:sp>
        <p:nvSpPr>
          <p:cNvPr id="5" name="lingkaran sakelar"/>
          <p:cNvSpPr/>
          <p:nvPr/>
        </p:nvSpPr>
        <p:spPr>
          <a:xfrm>
            <a:off x="1097280" y="2148840"/>
            <a:ext cx="2011680" cy="2011680"/>
          </a:xfrm>
          <a:prstGeom prst="ellipse">
            <a:avLst/>
          </a:prstGeom>
          <a:solidFill>
            <a:schemeClr val="accent1"/>
          </a:solidFill>
          <a:ln/>
        </p:spPr>
      </p:sp>
      <p:pic>
        <p:nvPicPr>
          <p:cNvPr id="6" name="Image 0" descr="sakela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Pola yang Sama: value + onChanged</a:t>
            </a:r>
            <a:endParaRPr lang="en-US" sz="3200" dirty="0"/>
          </a:p>
        </p:txBody>
      </p:sp>
      <p:sp>
        <p:nvSpPr>
          <p:cNvPr id="4" name="kotak kode"/>
          <p:cNvSpPr txBox="1"/>
          <p:nvPr/>
        </p:nvSpPr>
        <p:spPr>
          <a:xfrm>
            <a:off x="548640" y="1371600"/>
            <a:ext cx="6766560" cy="3051810"/>
          </a:xfrm>
          <a:prstGeom prst="roundRect">
            <a:avLst>
              <a:gd name="adj" fmla="val 2996"/>
            </a:avLst>
          </a:prstGeom>
          <a:solidFill>
            <a:srgbClr val="0E1A2B"/>
          </a:solidFill>
          <a:ln/>
        </p:spPr>
        <p:txBody>
          <a:bodyPr wrap="square" lIns="177800" tIns="152400" rIns="152400" bIns="177800" rtlCol="0" anchor="t"/>
          <a:lstStyle/>
          <a:p>
            <a:pPr indent="0" marL="0">
              <a:lnSpc>
                <a:spcPct val="105000"/>
              </a:lnSpc>
              <a:buNone/>
            </a:pPr>
            <a:r>
              <a:rPr lang="en-US" sz="1500" dirty="0">
                <a:solidFill>
                  <a:srgbClr val="FFCB6B"/>
                </a:solidFill>
                <a:latin typeface="Consolas" pitchFamily="34" charset="0"/>
                <a:ea typeface="Consolas" pitchFamily="34" charset="-122"/>
                <a:cs typeface="Consolas" pitchFamily="34" charset="-120"/>
              </a:rPr>
              <a:t>SwitchListTile</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title: </a:t>
            </a:r>
            <a:r>
              <a:rPr lang="en-US" sz="1500" dirty="0">
                <a:solidFill>
                  <a:srgbClr val="C792EA"/>
                </a:solidFill>
                <a:latin typeface="Consolas" pitchFamily="34" charset="0"/>
                <a:ea typeface="Consolas" pitchFamily="34" charset="-122"/>
                <a:cs typeface="Consolas" pitchFamily="34" charset="-120"/>
              </a:rPr>
              <a:t>const</a:t>
            </a:r>
            <a:r>
              <a:rPr lang="en-US" sz="1500" dirty="0">
                <a:solidFill>
                  <a:srgbClr val="E6EDF3"/>
                </a:solidFill>
                <a:latin typeface="Consolas" pitchFamily="34" charset="0"/>
                <a:ea typeface="Consolas" pitchFamily="34" charset="-122"/>
                <a:cs typeface="Consolas" pitchFamily="34" charset="-120"/>
              </a:rPr>
              <a:t> </a:t>
            </a:r>
            <a:r>
              <a:rPr lang="en-US" sz="1500" dirty="0">
                <a:solidFill>
                  <a:srgbClr val="FFCB6B"/>
                </a:solidFill>
                <a:latin typeface="Consolas" pitchFamily="34" charset="0"/>
                <a:ea typeface="Consolas" pitchFamily="34" charset="-122"/>
                <a:cs typeface="Consolas" pitchFamily="34" charset="-120"/>
              </a:rPr>
              <a:t>Text</a:t>
            </a:r>
            <a:r>
              <a:rPr lang="en-US" sz="1500" dirty="0">
                <a:solidFill>
                  <a:srgbClr val="E6EDF3"/>
                </a:solidFill>
                <a:latin typeface="Consolas" pitchFamily="34" charset="0"/>
                <a:ea typeface="Consolas" pitchFamily="34" charset="-122"/>
                <a:cs typeface="Consolas" pitchFamily="34" charset="-120"/>
              </a:rPr>
              <a:t>(</a:t>
            </a:r>
            <a:r>
              <a:rPr lang="en-US" sz="1500" dirty="0">
                <a:solidFill>
                  <a:srgbClr val="C3E88D"/>
                </a:solidFill>
                <a:latin typeface="Consolas" pitchFamily="34" charset="0"/>
                <a:ea typeface="Consolas" pitchFamily="34" charset="-122"/>
                <a:cs typeface="Consolas" pitchFamily="34" charset="-120"/>
              </a:rPr>
              <a:t>'Notifikasi'</a:t>
            </a:r>
            <a:r>
              <a:rPr lang="en-US" sz="1500" dirty="0">
                <a:solidFill>
                  <a:srgbClr val="E6EDF3"/>
                </a:solidFill>
                <a:latin typeface="Consolas" pitchFamily="34" charset="0"/>
                <a:ea typeface="Consolas" pitchFamily="34" charset="-122"/>
                <a:cs typeface="Consolas" pitchFamily="34" charset="-120"/>
              </a:rPr>
              <a:t>),</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value: _notifikasi, </a:t>
            </a:r>
            <a:r>
              <a:rPr lang="en-US" sz="1500" i="1" dirty="0">
                <a:solidFill>
                  <a:srgbClr val="8FA3BC"/>
                </a:solidFill>
                <a:latin typeface="Consolas" pitchFamily="34" charset="0"/>
                <a:ea typeface="Consolas" pitchFamily="34" charset="-122"/>
                <a:cs typeface="Consolas" pitchFamily="34" charset="-120"/>
              </a:rPr>
              <a:t>// yang SEDANG tampil</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onChanged: (</a:t>
            </a:r>
            <a:r>
              <a:rPr lang="en-US" sz="1500" dirty="0">
                <a:solidFill>
                  <a:srgbClr val="FFCB6B"/>
                </a:solidFill>
                <a:latin typeface="Consolas" pitchFamily="34" charset="0"/>
                <a:ea typeface="Consolas" pitchFamily="34" charset="-122"/>
                <a:cs typeface="Consolas" pitchFamily="34" charset="-120"/>
              </a:rPr>
              <a:t>bool</a:t>
            </a:r>
            <a:r>
              <a:rPr lang="en-US" sz="1500" dirty="0">
                <a:solidFill>
                  <a:srgbClr val="E6EDF3"/>
                </a:solidFill>
                <a:latin typeface="Consolas" pitchFamily="34" charset="0"/>
                <a:ea typeface="Consolas" pitchFamily="34" charset="-122"/>
                <a:cs typeface="Consolas" pitchFamily="34" charset="-120"/>
              </a:rPr>
              <a:t> nilaiBaru)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i="1" dirty="0">
                <a:solidFill>
                  <a:srgbClr val="8FA3BC"/>
                </a:solidFill>
                <a:latin typeface="Consolas" pitchFamily="34" charset="0"/>
                <a:ea typeface="Consolas" pitchFamily="34" charset="-122"/>
                <a:cs typeface="Consolas" pitchFamily="34" charset="-120"/>
              </a:rPr>
              <a:t>// Flutter memberi tahu nilai baru;</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r>
              <a:rPr lang="en-US" sz="1500" i="1" dirty="0">
                <a:solidFill>
                  <a:srgbClr val="8FA3BC"/>
                </a:solidFill>
                <a:latin typeface="Consolas" pitchFamily="34" charset="0"/>
                <a:ea typeface="Consolas" pitchFamily="34" charset="-122"/>
                <a:cs typeface="Consolas" pitchFamily="34" charset="-120"/>
              </a:rPr>
              <a:t>// kita yang menyimpannya.</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setState(()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_notifikasi = nilaiBaru;</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  },</a:t>
            </a:r>
            <a:endParaRPr lang="en-US" sz="1500" dirty="0"/>
          </a:p>
          <a:p>
            <a:pPr indent="0" marL="0">
              <a:lnSpc>
                <a:spcPct val="105000"/>
              </a:lnSpc>
              <a:buNone/>
            </a:pPr>
            <a:r>
              <a:rPr lang="en-US" sz="1500" dirty="0">
                <a:solidFill>
                  <a:srgbClr val="E6EDF3"/>
                </a:solidFill>
                <a:latin typeface="Consolas" pitchFamily="34" charset="0"/>
                <a:ea typeface="Consolas" pitchFamily="34" charset="-122"/>
                <a:cs typeface="Consolas" pitchFamily="34" charset="-120"/>
              </a:rPr>
              <a:t>)</a:t>
            </a:r>
            <a:endParaRPr lang="en-US" sz="15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Widget pemilih nilai tidak menyimpan pilihannya sendiri; ia selalu menampilkan isi value.</a:t>
            </a:r>
            <a:endParaRPr lang="en-US" sz="1700" dirty="0"/>
          </a:p>
          <a:p>
            <a:pPr marL="228600" indent="-228600">
              <a:spcAft>
                <a:spcPts val="800"/>
              </a:spcAft>
              <a:buSzPct val="100000"/>
              <a:buChar char="•"/>
            </a:pPr>
            <a:r>
              <a:rPr lang="en-US" sz="1700" dirty="0">
                <a:solidFill>
                  <a:schemeClr val="tx1"/>
                </a:solidFill>
              </a:rPr>
              <a:t>Lupa setState di onChanged → sakelar tidak mau bergeser.</a:t>
            </a:r>
            <a:endParaRPr lang="en-US" sz="1700" dirty="0"/>
          </a:p>
          <a:p>
            <a:pPr marL="228600" indent="-228600">
              <a:spcAft>
                <a:spcPts val="800"/>
              </a:spcAft>
              <a:buSzPct val="100000"/>
              <a:buChar char="•"/>
            </a:pPr>
            <a:r>
              <a:rPr lang="en-US" sz="1700" dirty="0">
                <a:solidFill>
                  <a:schemeClr val="tx1"/>
                </a:solidFill>
              </a:rPr>
              <a:t>onChanged: null → pemilih nilai nonaktif (abu-abu).</a:t>
            </a:r>
            <a:endParaRPr lang="en-US" sz="1700" dirty="0"/>
          </a:p>
          <a:p>
            <a:pPr marL="228600" indent="-228600">
              <a:spcAft>
                <a:spcPts val="800"/>
              </a:spcAft>
              <a:buSzPct val="100000"/>
              <a:buChar char="•"/>
            </a:pPr>
            <a:r>
              <a:rPr lang="en-US" sz="1700" dirty="0">
                <a:solidFill>
                  <a:schemeClr val="tx1"/>
                </a:solidFill>
              </a:rPr>
              <a:t>Checkbox mengirim </a:t>
            </a:r>
            <a:r>
              <a:rPr lang="en-US" sz="1700" dirty="0">
                <a:solidFill>
                  <a:schemeClr val="tx1"/>
                </a:solidFill>
                <a:latin typeface="Consolas" pitchFamily="34" charset="0"/>
                <a:ea typeface="Consolas" pitchFamily="34" charset="-122"/>
                <a:cs typeface="Consolas" pitchFamily="34" charset="-120"/>
              </a:rPr>
              <a:t>bool?</a:t>
            </a:r>
            <a:r>
              <a:rPr lang="en-US" sz="1700" dirty="0">
                <a:solidFill>
                  <a:schemeClr val="tx1"/>
                </a:solidFill>
              </a:rPr>
              <a:t> → simpan dengan </a:t>
            </a:r>
            <a:r>
              <a:rPr lang="en-US" sz="1700" dirty="0">
                <a:solidFill>
                  <a:schemeClr val="tx1"/>
                </a:solidFill>
                <a:latin typeface="Consolas" pitchFamily="34" charset="0"/>
                <a:ea typeface="Consolas" pitchFamily="34" charset="-122"/>
                <a:cs typeface="Consolas" pitchFamily="34" charset="-120"/>
              </a:rPr>
              <a:t>nilaiBaru ?? false</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Switch, Checkbox, dan RadioGroup</a:t>
            </a:r>
            <a:endParaRPr lang="en-US" sz="3200" dirty="0"/>
          </a:p>
        </p:txBody>
      </p:sp>
      <p:sp>
        <p:nvSpPr>
          <p:cNvPr id="4" name="bingkai layar 1"/>
          <p:cNvSpPr/>
          <p:nvPr/>
        </p:nvSpPr>
        <p:spPr>
          <a:xfrm>
            <a:off x="5736031" y="1316736"/>
            <a:ext cx="1877568" cy="2869362"/>
          </a:xfrm>
          <a:prstGeom prst="roundRect">
            <a:avLst>
              <a:gd name="adj" fmla="val 4870"/>
            </a:avLst>
          </a:prstGeom>
          <a:solidFill>
            <a:srgbClr val="FFFFFF"/>
          </a:solidFill>
          <a:ln w="12700">
            <a:solidFill>
              <a:srgbClr val="C9D3E0"/>
            </a:solidFill>
            <a:prstDash val="solid"/>
          </a:ln>
        </p:spPr>
      </p:sp>
      <p:pic>
        <p:nvPicPr>
          <p:cNvPr id="5" name="layar 1" descr="Tangkapan layar aplikasi (hasil_contoh_04a.jpg)">    </p:cNvPr>
          <p:cNvPicPr>
            <a:picLocks noChangeAspect="1"/>
          </p:cNvPicPr>
          <p:nvPr/>
        </p:nvPicPr>
        <p:blipFill>
          <a:blip r:embed="rId1"/>
          <a:stretch>
            <a:fillRect/>
          </a:stretch>
        </p:blipFill>
        <p:spPr>
          <a:xfrm>
            <a:off x="5790895" y="1371600"/>
            <a:ext cx="1767840" cy="2759634"/>
          </a:xfrm>
          <a:prstGeom prst="rect">
            <a:avLst/>
          </a:prstGeom>
        </p:spPr>
      </p:pic>
      <p:sp>
        <p:nvSpPr>
          <p:cNvPr id="6" name="bingkai layar 2"/>
          <p:cNvSpPr/>
          <p:nvPr/>
        </p:nvSpPr>
        <p:spPr>
          <a:xfrm>
            <a:off x="7778191" y="1316736"/>
            <a:ext cx="1877568" cy="2869362"/>
          </a:xfrm>
          <a:prstGeom prst="roundRect">
            <a:avLst>
              <a:gd name="adj" fmla="val 4870"/>
            </a:avLst>
          </a:prstGeom>
          <a:solidFill>
            <a:srgbClr val="FFFFFF"/>
          </a:solidFill>
          <a:ln w="12700">
            <a:solidFill>
              <a:srgbClr val="C9D3E0"/>
            </a:solidFill>
            <a:prstDash val="solid"/>
          </a:ln>
        </p:spPr>
      </p:sp>
      <p:pic>
        <p:nvPicPr>
          <p:cNvPr id="7" name="layar 2" descr="Tangkapan layar aplikasi (hasil_contoh_04b.jpg)">    </p:cNvPr>
          <p:cNvPicPr>
            <a:picLocks noChangeAspect="1"/>
          </p:cNvPicPr>
          <p:nvPr/>
        </p:nvPicPr>
        <p:blipFill>
          <a:blip r:embed="rId2"/>
          <a:stretch>
            <a:fillRect/>
          </a:stretch>
        </p:blipFill>
        <p:spPr>
          <a:xfrm>
            <a:off x="7833055" y="1371600"/>
            <a:ext cx="1767840" cy="2759634"/>
          </a:xfrm>
          <a:prstGeom prst="rect">
            <a:avLst/>
          </a:prstGeom>
        </p:spPr>
      </p:pic>
      <p:sp>
        <p:nvSpPr>
          <p:cNvPr id="8" name="bingkai layar 3"/>
          <p:cNvSpPr/>
          <p:nvPr/>
        </p:nvSpPr>
        <p:spPr>
          <a:xfrm>
            <a:off x="9820351" y="1316736"/>
            <a:ext cx="1877568" cy="2869362"/>
          </a:xfrm>
          <a:prstGeom prst="roundRect">
            <a:avLst>
              <a:gd name="adj" fmla="val 4870"/>
            </a:avLst>
          </a:prstGeom>
          <a:solidFill>
            <a:srgbClr val="FFFFFF"/>
          </a:solidFill>
          <a:ln w="12700">
            <a:solidFill>
              <a:srgbClr val="C9D3E0"/>
            </a:solidFill>
            <a:prstDash val="solid"/>
          </a:ln>
        </p:spPr>
      </p:sp>
      <p:pic>
        <p:nvPicPr>
          <p:cNvPr id="9" name="layar 3" descr="Tangkapan layar aplikasi (hasil_contoh_04c.jpg)">    </p:cNvPr>
          <p:cNvPicPr>
            <a:picLocks noChangeAspect="1"/>
          </p:cNvPicPr>
          <p:nvPr/>
        </p:nvPicPr>
        <p:blipFill>
          <a:blip r:embed="rId3"/>
          <a:stretch>
            <a:fillRect/>
          </a:stretch>
        </p:blipFill>
        <p:spPr>
          <a:xfrm>
            <a:off x="9875215" y="1371600"/>
            <a:ext cx="1767840" cy="2759634"/>
          </a:xfrm>
          <a:prstGeom prst="rect">
            <a:avLst/>
          </a:prstGeom>
        </p:spPr>
      </p:pic>
      <p:sp>
        <p:nvSpPr>
          <p:cNvPr id="10" name="kotak kode"/>
          <p:cNvSpPr txBox="1"/>
          <p:nvPr/>
        </p:nvSpPr>
        <p:spPr>
          <a:xfrm>
            <a:off x="548640" y="1371600"/>
            <a:ext cx="478505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RadioGroup</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UkuranTeks</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groupValue: _ukuran,</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onChanged: (</a:t>
            </a:r>
            <a:r>
              <a:rPr lang="en-US" sz="1200" dirty="0">
                <a:solidFill>
                  <a:srgbClr val="FFCB6B"/>
                </a:solidFill>
                <a:latin typeface="Consolas" pitchFamily="34" charset="0"/>
                <a:ea typeface="Consolas" pitchFamily="34" charset="-122"/>
                <a:cs typeface="Consolas" pitchFamily="34" charset="-120"/>
              </a:rPr>
              <a:t>UkuranTeks</a:t>
            </a:r>
            <a:r>
              <a:rPr lang="en-US" sz="1200" dirty="0">
                <a:solidFill>
                  <a:srgbClr val="E6EDF3"/>
                </a:solidFill>
                <a:latin typeface="Consolas" pitchFamily="34" charset="0"/>
                <a:ea typeface="Consolas" pitchFamily="34" charset="-122"/>
                <a:cs typeface="Consolas" pitchFamily="34" charset="-120"/>
              </a:rPr>
              <a:t>? pilihan)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(pilihan ==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setState(() { _ukuran = pilihan;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child: </a:t>
            </a:r>
            <a:r>
              <a:rPr lang="en-US" sz="1200" dirty="0">
                <a:solidFill>
                  <a:srgbClr val="FFCB6B"/>
                </a:solidFill>
                <a:latin typeface="Consolas" pitchFamily="34" charset="0"/>
                <a:ea typeface="Consolas" pitchFamily="34" charset="-122"/>
                <a:cs typeface="Consolas" pitchFamily="34" charset="-120"/>
              </a:rPr>
              <a:t>Column</a:t>
            </a:r>
            <a:r>
              <a:rPr lang="en-US" sz="1200" dirty="0">
                <a:solidFill>
                  <a:srgbClr val="E6EDF3"/>
                </a:solidFill>
                <a:latin typeface="Consolas" pitchFamily="34" charset="0"/>
                <a:ea typeface="Consolas" pitchFamily="34" charset="-122"/>
                <a:cs typeface="Consolas" pitchFamily="34" charset="-120"/>
              </a:rPr>
              <a:t>(children: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for</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UkuranTeks</a:t>
            </a:r>
            <a:r>
              <a:rPr lang="en-US" sz="1200" dirty="0">
                <a:solidFill>
                  <a:srgbClr val="E6EDF3"/>
                </a:solidFill>
                <a:latin typeface="Consolas" pitchFamily="34" charset="0"/>
                <a:ea typeface="Consolas" pitchFamily="34" charset="-122"/>
                <a:cs typeface="Consolas" pitchFamily="34" charset="-120"/>
              </a:rPr>
              <a:t> u </a:t>
            </a:r>
            <a:r>
              <a:rPr lang="en-US" sz="1200" dirty="0">
                <a:solidFill>
                  <a:srgbClr val="C792EA"/>
                </a:solidFill>
                <a:latin typeface="Consolas" pitchFamily="34" charset="0"/>
                <a:ea typeface="Consolas" pitchFamily="34" charset="-122"/>
                <a:cs typeface="Consolas" pitchFamily="34" charset="-120"/>
              </a:rPr>
              <a:t>in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UkuranTeks</a:t>
            </a:r>
            <a:r>
              <a:rPr lang="en-US" sz="1200" dirty="0">
                <a:solidFill>
                  <a:srgbClr val="E6EDF3"/>
                </a:solidFill>
                <a:latin typeface="Consolas" pitchFamily="34" charset="0"/>
                <a:ea typeface="Consolas" pitchFamily="34" charset="-122"/>
                <a:cs typeface="Consolas" pitchFamily="34" charset="-120"/>
              </a:rPr>
              <a:t>.values)</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RadioListTile</a:t>
            </a:r>
            <a:r>
              <a:rPr lang="en-US" sz="1200" dirty="0">
                <a:solidFill>
                  <a:srgbClr val="E6EDF3"/>
                </a:solidFill>
                <a:latin typeface="Consolas" pitchFamily="34" charset="0"/>
                <a:ea typeface="Consolas" pitchFamily="34" charset="-122"/>
                <a:cs typeface="Consolas" pitchFamily="34" charset="-120"/>
              </a:rPr>
              <a:t>&lt;</a:t>
            </a:r>
            <a:r>
              <a:rPr lang="en-US" sz="1200" dirty="0">
                <a:solidFill>
                  <a:srgbClr val="FFCB6B"/>
                </a:solidFill>
                <a:latin typeface="Consolas" pitchFamily="34" charset="0"/>
                <a:ea typeface="Consolas" pitchFamily="34" charset="-122"/>
                <a:cs typeface="Consolas" pitchFamily="34" charset="-120"/>
              </a:rPr>
              <a:t>UkuranTeks</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value: u, title: </a:t>
            </a:r>
            <a:r>
              <a:rPr lang="en-US" sz="1200" dirty="0">
                <a:solidFill>
                  <a:srgbClr val="FFCB6B"/>
                </a:solidFill>
                <a:latin typeface="Consolas" pitchFamily="34" charset="0"/>
                <a:ea typeface="Consolas" pitchFamily="34" charset="-122"/>
                <a:cs typeface="Consolas" pitchFamily="34" charset="-120"/>
              </a:rPr>
              <a:t>Text</a:t>
            </a:r>
            <a:r>
              <a:rPr lang="en-US" sz="1200" dirty="0">
                <a:solidFill>
                  <a:srgbClr val="E6EDF3"/>
                </a:solidFill>
                <a:latin typeface="Consolas" pitchFamily="34" charset="0"/>
                <a:ea typeface="Consolas" pitchFamily="34" charset="-122"/>
                <a:cs typeface="Consolas" pitchFamily="34" charset="-120"/>
              </a:rPr>
              <a:t>(u.label)),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11" name="tombol tautan">
            <a:hlinkClick r:id="rId4" tooltip="https://github.com/antonprafanto/mobile2026/blob/main/pertemuan_05_interaksi_dan_state/kode/contoh_04_switch_checkbox_radio.dart"/>
          </p:cNvPr>
          <p:cNvSpPr txBox="1"/>
          <p:nvPr/>
        </p:nvSpPr>
        <p:spPr>
          <a:xfrm>
            <a:off x="548640" y="4270248"/>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contoh_04_switch_checkbox_radio.dart</a:t>
            </a:r>
            <a:endParaRPr lang="en-US" sz="1300" dirty="0"/>
          </a:p>
        </p:txBody>
      </p:sp>
      <p:pic>
        <p:nvPicPr>
          <p:cNvPr id="12" name="Image 3" descr="ikon tautan">
            <a:hlinkClick r:id="rId6" tooltip="https://github.com/antonprafanto/mobile2026/blob/main/pertemuan_05_interaksi_dan_state/kode/contoh_04_switch_checkbox_radio.dart"/>
          </p:cNvPr>
          <p:cNvPicPr>
            <a:picLocks noChangeAspect="1"/>
          </p:cNvPicPr>
          <p:nvPr/>
        </p:nvPicPr>
        <p:blipFill>
          <a:blip r:embed="rId5"/>
          <a:stretch>
            <a:fillRect/>
          </a:stretch>
        </p:blipFill>
        <p:spPr>
          <a:xfrm>
            <a:off x="694944" y="4361688"/>
            <a:ext cx="274320" cy="274320"/>
          </a:xfrm>
          <a:prstGeom prst="rect">
            <a:avLst/>
          </a:prstGeom>
        </p:spPr>
      </p:pic>
      <p:sp>
        <p:nvSpPr>
          <p:cNvPr id="13" name="daftar poin"/>
          <p:cNvSpPr txBox="1"/>
          <p:nvPr/>
        </p:nvSpPr>
        <p:spPr>
          <a:xfrm>
            <a:off x="548640" y="5001768"/>
            <a:ext cx="4785055"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Radio cara lama (groupValue di setiap Radio) sudah usang.</a:t>
            </a:r>
            <a:endParaRPr lang="en-US" sz="1500" dirty="0"/>
          </a:p>
          <a:p>
            <a:pPr marL="228600" indent="-228600">
              <a:spcAft>
                <a:spcPts val="800"/>
              </a:spcAft>
              <a:buSzPct val="100000"/>
              <a:buChar char="•"/>
            </a:pPr>
            <a:r>
              <a:rPr lang="en-US" sz="1500" dirty="0">
                <a:solidFill>
                  <a:schemeClr val="tx1"/>
                </a:solidFill>
              </a:rPr>
              <a:t>Ringkasan dihitung dari state: nilai turunan.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SegmentedButton, Slider, dan Chip</a:t>
            </a:r>
            <a:endParaRPr lang="en-US" sz="3200" dirty="0"/>
          </a:p>
        </p:txBody>
      </p:sp>
      <p:sp>
        <p:nvSpPr>
          <p:cNvPr id="4" name="bingkai layar 1"/>
          <p:cNvSpPr/>
          <p:nvPr/>
        </p:nvSpPr>
        <p:spPr>
          <a:xfrm>
            <a:off x="5736031" y="1316736"/>
            <a:ext cx="2898648" cy="4463288"/>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5a.jpg)">    </p:cNvPr>
          <p:cNvPicPr>
            <a:picLocks noChangeAspect="1"/>
          </p:cNvPicPr>
          <p:nvPr/>
        </p:nvPicPr>
        <p:blipFill>
          <a:blip r:embed="rId1"/>
          <a:stretch>
            <a:fillRect/>
          </a:stretch>
        </p:blipFill>
        <p:spPr>
          <a:xfrm>
            <a:off x="5790895" y="1371600"/>
            <a:ext cx="2788920" cy="4353560"/>
          </a:xfrm>
          <a:prstGeom prst="rect">
            <a:avLst/>
          </a:prstGeom>
        </p:spPr>
      </p:pic>
      <p:sp>
        <p:nvSpPr>
          <p:cNvPr id="6" name="bingkai layar 2"/>
          <p:cNvSpPr/>
          <p:nvPr/>
        </p:nvSpPr>
        <p:spPr>
          <a:xfrm>
            <a:off x="8799271" y="1316736"/>
            <a:ext cx="2898648" cy="4463288"/>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5b.jpg)">    </p:cNvPr>
          <p:cNvPicPr>
            <a:picLocks noChangeAspect="1"/>
          </p:cNvPicPr>
          <p:nvPr/>
        </p:nvPicPr>
        <p:blipFill>
          <a:blip r:embed="rId2"/>
          <a:stretch>
            <a:fillRect/>
          </a:stretch>
        </p:blipFill>
        <p:spPr>
          <a:xfrm>
            <a:off x="8854135" y="1371600"/>
            <a:ext cx="2788920" cy="4353560"/>
          </a:xfrm>
          <a:prstGeom prst="rect">
            <a:avLst/>
          </a:prstGeom>
        </p:spPr>
      </p:pic>
      <p:sp>
        <p:nvSpPr>
          <p:cNvPr id="8" name="tombol tautan">
            <a:hlinkClick r:id="rId3" tooltip="https://github.com/antonprafanto/mobile2026/blob/main/pertemuan_05_interaksi_dan_state/kode/contoh_05_slider_segmented_chip.dart"/>
          </p:cNvPr>
          <p:cNvSpPr txBox="1"/>
          <p:nvPr/>
        </p:nvSpPr>
        <p:spPr>
          <a:xfrm>
            <a:off x="548640" y="1371600"/>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contoh_05_slider_segmented_chip.dart</a:t>
            </a:r>
            <a:endParaRPr lang="en-US" sz="1300" dirty="0"/>
          </a:p>
        </p:txBody>
      </p:sp>
      <p:pic>
        <p:nvPicPr>
          <p:cNvPr id="9" name="Image 2" descr="ikon tautan">
            <a:hlinkClick r:id="rId5" tooltip="https://github.com/antonprafanto/mobile2026/blob/main/pertemuan_05_interaksi_dan_state/kode/contoh_05_slider_segmented_chip.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4785055" cy="4114800"/>
          </a:xfrm>
          <a:prstGeom prst="rect">
            <a:avLst/>
          </a:prstGeom>
          <a:noFill/>
          <a:ln/>
        </p:spPr>
        <p:txBody>
          <a:bodyPr wrap="square" lIns="0" tIns="0" rIns="0" bIns="0" rtlCol="0" anchor="t"/>
          <a:lstStyle/>
          <a:p>
            <a:pPr marL="228600" indent="-228600">
              <a:spcAft>
                <a:spcPts val="800"/>
              </a:spcAft>
              <a:buSzPct val="100000"/>
              <a:buChar char="•"/>
            </a:pPr>
            <a:r>
              <a:rPr lang="en-US" sz="1600" b="1" dirty="0">
                <a:solidFill>
                  <a:schemeClr val="tx1"/>
                </a:solidFill>
              </a:rPr>
              <a:t>SegmentedButton</a:t>
            </a:r>
            <a:r>
              <a:rPr lang="en-US" sz="1600" dirty="0">
                <a:solidFill>
                  <a:schemeClr val="tx1"/>
                </a:solidFill>
              </a:rPr>
              <a:t>: selected berupa Set → {_ukuran}, ambil dengan pilihan.first.</a:t>
            </a:r>
            <a:endParaRPr lang="en-US" sz="1600" dirty="0"/>
          </a:p>
          <a:p>
            <a:pPr marL="228600" indent="-228600">
              <a:spcAft>
                <a:spcPts val="800"/>
              </a:spcAft>
              <a:buSzPct val="100000"/>
              <a:buChar char="•"/>
            </a:pPr>
            <a:r>
              <a:rPr lang="en-US" sz="1600" b="1" dirty="0">
                <a:solidFill>
                  <a:schemeClr val="tx1"/>
                </a:solidFill>
              </a:rPr>
              <a:t>Slider</a:t>
            </a:r>
            <a:r>
              <a:rPr lang="en-US" sz="1600" dirty="0">
                <a:solidFill>
                  <a:schemeClr val="tx1"/>
                </a:solidFill>
              </a:rPr>
              <a:t>: nilai double; divisions membuatnya berhenti di titik tertentu; tampilkan dengan .round().</a:t>
            </a:r>
            <a:endParaRPr lang="en-US" sz="1600" dirty="0"/>
          </a:p>
          <a:p>
            <a:pPr marL="228600" indent="-228600">
              <a:spcAft>
                <a:spcPts val="800"/>
              </a:spcAft>
              <a:buSzPct val="100000"/>
              <a:buChar char="•"/>
            </a:pPr>
            <a:r>
              <a:rPr lang="en-US" sz="1600" b="1" dirty="0">
                <a:solidFill>
                  <a:schemeClr val="tx1"/>
                </a:solidFill>
              </a:rPr>
              <a:t>ChoiceChip</a:t>
            </a:r>
            <a:r>
              <a:rPr lang="en-US" sz="1600" dirty="0">
                <a:solidFill>
                  <a:schemeClr val="tx1"/>
                </a:solidFill>
              </a:rPr>
              <a:t> pilih satu; </a:t>
            </a:r>
            <a:r>
              <a:rPr lang="en-US" sz="1600" b="1" dirty="0">
                <a:solidFill>
                  <a:schemeClr val="tx1"/>
                </a:solidFill>
              </a:rPr>
              <a:t>FilterChip</a:t>
            </a:r>
            <a:r>
              <a:rPr lang="en-US" sz="1600" dirty="0">
                <a:solidFill>
                  <a:schemeClr val="tx1"/>
                </a:solidFill>
              </a:rPr>
              <a:t> pilih banyak (Set + add/remove).</a:t>
            </a:r>
            <a:endParaRPr lang="en-US" sz="1600" dirty="0"/>
          </a:p>
          <a:p>
            <a:pPr marL="228600" indent="-228600">
              <a:spcAft>
                <a:spcPts val="800"/>
              </a:spcAft>
              <a:buSzPct val="100000"/>
              <a:buChar char="•"/>
            </a:pPr>
            <a:r>
              <a:rPr lang="en-US" sz="1600" dirty="0">
                <a:solidFill>
                  <a:schemeClr val="tx1"/>
                </a:solidFill>
              </a:rPr>
              <a:t>Uji layar 320: ikon centang membuat "Sedang" terpotong, jadi dipakai showSelectedIcon: false.</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Memilih Widget Pemilih yang Tepat</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255249"/>
                <a:gridCol w="5839166"/>
              </a:tblGrid>
              <a:tr h="68580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Kebutuhan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Widget yang cocok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Nyala/mati, langsung berlaku</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Switch / SwitchListTile</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Boleh memilih banyak dari daftar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Checkbox / CheckboxListTile, atau FilterChip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Pilih satu dari 2–5 pilihan, berdampingan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SegmentedButton atau ChoiceChip</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Pilih satu dari daftar yang tersusun ke bawah</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RadioGroup + RadioListTile</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Pilih satu dari banyak pilihan (lebih dari 5)</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DropdownButtonFormField</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85800">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Angka dalam suatu rentang</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Slider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5</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Siklus Hidup State</a:t>
            </a:r>
            <a:endParaRPr lang="en-US" sz="4000" dirty="0"/>
          </a:p>
        </p:txBody>
      </p:sp>
      <p:sp>
        <p:nvSpPr>
          <p:cNvPr id="5" name="lingkaran siklus"/>
          <p:cNvSpPr/>
          <p:nvPr/>
        </p:nvSpPr>
        <p:spPr>
          <a:xfrm>
            <a:off x="1097280" y="2148840"/>
            <a:ext cx="2011680" cy="2011680"/>
          </a:xfrm>
          <a:prstGeom prst="ellipse">
            <a:avLst/>
          </a:prstGeom>
          <a:solidFill>
            <a:schemeClr val="accent1"/>
          </a:solidFill>
          <a:ln/>
        </p:spPr>
      </p:sp>
      <p:pic>
        <p:nvPicPr>
          <p:cNvPr id="6" name="Image 0" descr="siklus">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Perjalanan Hidup Sebuah State</a:t>
            </a:r>
            <a:endParaRPr lang="en-US" sz="3200" dirty="0"/>
          </a:p>
        </p:txBody>
      </p:sp>
      <p:sp>
        <p:nvSpPr>
          <p:cNvPr id="4" name="lapisan 1"/>
          <p:cNvSpPr/>
          <p:nvPr/>
        </p:nvSpPr>
        <p:spPr>
          <a:xfrm>
            <a:off x="548640" y="1371600"/>
            <a:ext cx="6583680" cy="868680"/>
          </a:xfrm>
          <a:prstGeom prst="roundRect">
            <a:avLst>
              <a:gd name="adj" fmla="val 12632"/>
            </a:avLst>
          </a:prstGeom>
          <a:solidFill>
            <a:schemeClr val="bg2"/>
          </a:solidFill>
          <a:ln/>
        </p:spPr>
      </p:sp>
      <p:sp>
        <p:nvSpPr>
          <p:cNvPr id="5" name="lingkaran masuk"/>
          <p:cNvSpPr/>
          <p:nvPr/>
        </p:nvSpPr>
        <p:spPr>
          <a:xfrm>
            <a:off x="731520" y="1485900"/>
            <a:ext cx="640080" cy="640080"/>
          </a:xfrm>
          <a:prstGeom prst="ellipse">
            <a:avLst/>
          </a:prstGeom>
          <a:solidFill>
            <a:schemeClr val="accent1"/>
          </a:solidFill>
          <a:ln/>
        </p:spPr>
      </p:sp>
      <p:pic>
        <p:nvPicPr>
          <p:cNvPr id="6" name="Image 0" descr="masuk">    </p:cNvPr>
          <p:cNvPicPr>
            <a:picLocks noChangeAspect="1"/>
          </p:cNvPicPr>
          <p:nvPr/>
        </p:nvPicPr>
        <p:blipFill>
          <a:blip r:embed="rId1"/>
          <a:stretch>
            <a:fillRect/>
          </a:stretch>
        </p:blipFill>
        <p:spPr>
          <a:xfrm>
            <a:off x="872338" y="1626718"/>
            <a:ext cx="358445" cy="358445"/>
          </a:xfrm>
          <a:prstGeom prst="rect">
            <a:avLst/>
          </a:prstGeom>
        </p:spPr>
      </p:pic>
      <p:sp>
        <p:nvSpPr>
          <p:cNvPr id="7" name="Text 3"/>
          <p:cNvSpPr txBox="1"/>
          <p:nvPr/>
        </p:nvSpPr>
        <p:spPr>
          <a:xfrm>
            <a:off x="1554480" y="137160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createState() → initState()</a:t>
            </a:r>
            <a:endParaRPr lang="en-US" sz="1800" dirty="0"/>
          </a:p>
          <a:p>
            <a:pPr indent="0" marL="0">
              <a:buNone/>
            </a:pPr>
            <a:r>
              <a:rPr lang="en-US" sz="1500" dirty="0">
                <a:solidFill>
                  <a:schemeClr val="tx1"/>
                </a:solidFill>
              </a:rPr>
              <a:t>Dibuat, lalu persiapan SEKALI: nilai awal, controller.</a:t>
            </a:r>
            <a:endParaRPr lang="en-US" sz="1800" dirty="0"/>
          </a:p>
        </p:txBody>
      </p:sp>
      <p:sp>
        <p:nvSpPr>
          <p:cNvPr id="8" name="Shape 4"/>
          <p:cNvSpPr/>
          <p:nvPr/>
        </p:nvSpPr>
        <p:spPr>
          <a:xfrm>
            <a:off x="3703320" y="2221992"/>
            <a:ext cx="274320" cy="219456"/>
          </a:xfrm>
          <a:prstGeom prst="downArrow">
            <a:avLst/>
          </a:prstGeom>
          <a:solidFill>
            <a:schemeClr val="accent2"/>
          </a:solidFill>
          <a:ln/>
        </p:spPr>
      </p:sp>
      <p:sp>
        <p:nvSpPr>
          <p:cNvPr id="9" name="lapisan 2"/>
          <p:cNvSpPr/>
          <p:nvPr/>
        </p:nvSpPr>
        <p:spPr>
          <a:xfrm>
            <a:off x="548640" y="2423160"/>
            <a:ext cx="6583680" cy="868680"/>
          </a:xfrm>
          <a:prstGeom prst="roundRect">
            <a:avLst>
              <a:gd name="adj" fmla="val 12632"/>
            </a:avLst>
          </a:prstGeom>
          <a:solidFill>
            <a:schemeClr val="bg2"/>
          </a:solidFill>
          <a:ln/>
        </p:spPr>
      </p:sp>
      <p:sp>
        <p:nvSpPr>
          <p:cNvPr id="10" name="lingkaran putar"/>
          <p:cNvSpPr/>
          <p:nvPr/>
        </p:nvSpPr>
        <p:spPr>
          <a:xfrm>
            <a:off x="731520" y="2537460"/>
            <a:ext cx="640080" cy="640080"/>
          </a:xfrm>
          <a:prstGeom prst="ellipse">
            <a:avLst/>
          </a:prstGeom>
          <a:solidFill>
            <a:schemeClr val="accent1"/>
          </a:solidFill>
          <a:ln/>
        </p:spPr>
      </p:sp>
      <p:pic>
        <p:nvPicPr>
          <p:cNvPr id="11" name="Image 1" descr="putar">    </p:cNvPr>
          <p:cNvPicPr>
            <a:picLocks noChangeAspect="1"/>
          </p:cNvPicPr>
          <p:nvPr/>
        </p:nvPicPr>
        <p:blipFill>
          <a:blip r:embed="rId2"/>
          <a:stretch>
            <a:fillRect/>
          </a:stretch>
        </p:blipFill>
        <p:spPr>
          <a:xfrm>
            <a:off x="872338" y="2678278"/>
            <a:ext cx="358445" cy="358445"/>
          </a:xfrm>
          <a:prstGeom prst="rect">
            <a:avLst/>
          </a:prstGeom>
        </p:spPr>
      </p:pic>
      <p:sp>
        <p:nvSpPr>
          <p:cNvPr id="12" name="Text 7"/>
          <p:cNvSpPr txBox="1"/>
          <p:nvPr/>
        </p:nvSpPr>
        <p:spPr>
          <a:xfrm>
            <a:off x="1554480" y="242316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build()</a:t>
            </a:r>
            <a:endParaRPr lang="en-US" sz="1800" dirty="0"/>
          </a:p>
          <a:p>
            <a:pPr indent="0" marL="0">
              <a:buNone/>
            </a:pPr>
            <a:r>
              <a:rPr lang="en-US" sz="1500" dirty="0">
                <a:solidFill>
                  <a:schemeClr val="tx1"/>
                </a:solidFill>
              </a:rPr>
              <a:t>Berkali-kali: setiap setState dan setiap ada perubahan.</a:t>
            </a:r>
            <a:endParaRPr lang="en-US" sz="1800" dirty="0"/>
          </a:p>
        </p:txBody>
      </p:sp>
      <p:sp>
        <p:nvSpPr>
          <p:cNvPr id="13" name="Shape 8"/>
          <p:cNvSpPr/>
          <p:nvPr/>
        </p:nvSpPr>
        <p:spPr>
          <a:xfrm>
            <a:off x="3703320" y="3273552"/>
            <a:ext cx="274320" cy="219456"/>
          </a:xfrm>
          <a:prstGeom prst="downArrow">
            <a:avLst/>
          </a:prstGeom>
          <a:solidFill>
            <a:schemeClr val="accent2"/>
          </a:solidFill>
          <a:ln/>
        </p:spPr>
      </p:sp>
      <p:sp>
        <p:nvSpPr>
          <p:cNvPr id="14" name="lapisan 3"/>
          <p:cNvSpPr/>
          <p:nvPr/>
        </p:nvSpPr>
        <p:spPr>
          <a:xfrm>
            <a:off x="548640" y="3474720"/>
            <a:ext cx="6583680" cy="868680"/>
          </a:xfrm>
          <a:prstGeom prst="roundRect">
            <a:avLst>
              <a:gd name="adj" fmla="val 12632"/>
            </a:avLst>
          </a:prstGeom>
          <a:solidFill>
            <a:schemeClr val="bg2"/>
          </a:solidFill>
          <a:ln/>
        </p:spPr>
      </p:sp>
      <p:sp>
        <p:nvSpPr>
          <p:cNvPr id="15" name="lingkaran ubah"/>
          <p:cNvSpPr/>
          <p:nvPr/>
        </p:nvSpPr>
        <p:spPr>
          <a:xfrm>
            <a:off x="731520" y="3589020"/>
            <a:ext cx="640080" cy="640080"/>
          </a:xfrm>
          <a:prstGeom prst="ellipse">
            <a:avLst/>
          </a:prstGeom>
          <a:solidFill>
            <a:schemeClr val="accent1"/>
          </a:solidFill>
          <a:ln/>
        </p:spPr>
      </p:sp>
      <p:pic>
        <p:nvPicPr>
          <p:cNvPr id="16" name="Image 2" descr="ubah">    </p:cNvPr>
          <p:cNvPicPr>
            <a:picLocks noChangeAspect="1"/>
          </p:cNvPicPr>
          <p:nvPr/>
        </p:nvPicPr>
        <p:blipFill>
          <a:blip r:embed="rId3"/>
          <a:stretch>
            <a:fillRect/>
          </a:stretch>
        </p:blipFill>
        <p:spPr>
          <a:xfrm>
            <a:off x="872338" y="3729838"/>
            <a:ext cx="358445" cy="358445"/>
          </a:xfrm>
          <a:prstGeom prst="rect">
            <a:avLst/>
          </a:prstGeom>
        </p:spPr>
      </p:pic>
      <p:sp>
        <p:nvSpPr>
          <p:cNvPr id="17" name="Text 11"/>
          <p:cNvSpPr txBox="1"/>
          <p:nvPr/>
        </p:nvSpPr>
        <p:spPr>
          <a:xfrm>
            <a:off x="1554480" y="347472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didUpdateWidget()</a:t>
            </a:r>
            <a:endParaRPr lang="en-US" sz="1800" dirty="0"/>
          </a:p>
          <a:p>
            <a:pPr indent="0" marL="0">
              <a:buNone/>
            </a:pPr>
            <a:r>
              <a:rPr lang="en-US" sz="1500" dirty="0">
                <a:solidFill>
                  <a:schemeClr val="tx1"/>
                </a:solidFill>
              </a:rPr>
              <a:t>Induk memberi widget baru (parameter baru); State yang sama tetap dipakai.</a:t>
            </a:r>
            <a:endParaRPr lang="en-US" sz="1800" dirty="0"/>
          </a:p>
        </p:txBody>
      </p:sp>
      <p:sp>
        <p:nvSpPr>
          <p:cNvPr id="18" name="Shape 12"/>
          <p:cNvSpPr/>
          <p:nvPr/>
        </p:nvSpPr>
        <p:spPr>
          <a:xfrm>
            <a:off x="3703320" y="4325112"/>
            <a:ext cx="274320" cy="219456"/>
          </a:xfrm>
          <a:prstGeom prst="downArrow">
            <a:avLst/>
          </a:prstGeom>
          <a:solidFill>
            <a:schemeClr val="accent2"/>
          </a:solidFill>
          <a:ln/>
        </p:spPr>
      </p:sp>
      <p:sp>
        <p:nvSpPr>
          <p:cNvPr id="19" name="lapisan 4"/>
          <p:cNvSpPr/>
          <p:nvPr/>
        </p:nvSpPr>
        <p:spPr>
          <a:xfrm>
            <a:off x="548640" y="4526280"/>
            <a:ext cx="6583680" cy="868680"/>
          </a:xfrm>
          <a:prstGeom prst="roundRect">
            <a:avLst>
              <a:gd name="adj" fmla="val 12632"/>
            </a:avLst>
          </a:prstGeom>
          <a:solidFill>
            <a:schemeClr val="bg2"/>
          </a:solidFill>
          <a:ln/>
        </p:spPr>
      </p:sp>
      <p:sp>
        <p:nvSpPr>
          <p:cNvPr id="20" name="lingkaran keluar"/>
          <p:cNvSpPr/>
          <p:nvPr/>
        </p:nvSpPr>
        <p:spPr>
          <a:xfrm>
            <a:off x="731520" y="4640580"/>
            <a:ext cx="640080" cy="640080"/>
          </a:xfrm>
          <a:prstGeom prst="ellipse">
            <a:avLst/>
          </a:prstGeom>
          <a:solidFill>
            <a:schemeClr val="accent5"/>
          </a:solidFill>
          <a:ln/>
        </p:spPr>
      </p:sp>
      <p:pic>
        <p:nvPicPr>
          <p:cNvPr id="21" name="Image 3" descr="keluar">    </p:cNvPr>
          <p:cNvPicPr>
            <a:picLocks noChangeAspect="1"/>
          </p:cNvPicPr>
          <p:nvPr/>
        </p:nvPicPr>
        <p:blipFill>
          <a:blip r:embed="rId4"/>
          <a:stretch>
            <a:fillRect/>
          </a:stretch>
        </p:blipFill>
        <p:spPr>
          <a:xfrm>
            <a:off x="872338" y="4781398"/>
            <a:ext cx="358445" cy="358445"/>
          </a:xfrm>
          <a:prstGeom prst="rect">
            <a:avLst/>
          </a:prstGeom>
        </p:spPr>
      </p:pic>
      <p:sp>
        <p:nvSpPr>
          <p:cNvPr id="22" name="Text 15"/>
          <p:cNvSpPr txBox="1"/>
          <p:nvPr/>
        </p:nvSpPr>
        <p:spPr>
          <a:xfrm>
            <a:off x="1554480" y="4526280"/>
            <a:ext cx="5394960" cy="868680"/>
          </a:xfrm>
          <a:prstGeom prst="rect">
            <a:avLst/>
          </a:prstGeom>
          <a:noFill/>
          <a:ln/>
        </p:spPr>
        <p:txBody>
          <a:bodyPr wrap="square" lIns="0" tIns="0" rIns="0" bIns="0" rtlCol="0" anchor="ctr"/>
          <a:lstStyle/>
          <a:p>
            <a:pPr indent="0" marL="0">
              <a:buNone/>
            </a:pPr>
            <a:r>
              <a:rPr lang="en-US" sz="1800" b="1" dirty="0">
                <a:solidFill>
                  <a:schemeClr val="tx2"/>
                </a:solidFill>
              </a:rPr>
              <a:t>deactivate() → dispose()</a:t>
            </a:r>
            <a:endParaRPr lang="en-US" sz="1800" dirty="0"/>
          </a:p>
          <a:p>
            <a:pPr indent="0" marL="0">
              <a:buNone/>
            </a:pPr>
            <a:r>
              <a:rPr lang="en-US" sz="1500" dirty="0">
                <a:solidFill>
                  <a:schemeClr val="tx1"/>
                </a:solidFill>
              </a:rPr>
              <a:t>Widget dilepas dari layar; bersih-bersih, lalu dibuang.</a:t>
            </a:r>
            <a:endParaRPr lang="en-US" sz="1800" dirty="0"/>
          </a:p>
        </p:txBody>
      </p:sp>
      <p:sp>
        <p:nvSpPr>
          <p:cNvPr id="23" name="daftar poin"/>
          <p:cNvSpPr txBox="1"/>
          <p:nvPr/>
        </p:nvSpPr>
        <p:spPr>
          <a:xfrm>
            <a:off x="7589520" y="1417320"/>
            <a:ext cx="4053535" cy="457200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Analogi mahasiswa magang: datang, orientasi sekali, bekerja setiap hari, menerima arahan baru, pamit, mengembalikan kartu akses.</a:t>
            </a:r>
            <a:endParaRPr lang="en-US" sz="1800" dirty="0"/>
          </a:p>
          <a:p>
            <a:pPr marL="228600" indent="-228600">
              <a:spcAft>
                <a:spcPts val="800"/>
              </a:spcAft>
              <a:buSzPct val="100000"/>
              <a:buChar char="•"/>
            </a:pPr>
            <a:r>
              <a:rPr lang="en-US" sz="1800" dirty="0">
                <a:solidFill>
                  <a:schemeClr val="tx1"/>
                </a:solidFill>
              </a:rPr>
              <a:t>super.initState() di baris PERTAMA, super.dispose() di baris TERAKHIR.</a:t>
            </a:r>
            <a:endParaRPr lang="en-US" sz="1800" dirty="0"/>
          </a:p>
          <a:p>
            <a:pPr marL="228600" indent="-228600">
              <a:spcAft>
                <a:spcPts val="800"/>
              </a:spcAft>
              <a:buSzPct val="100000"/>
              <a:buChar char="•"/>
            </a:pPr>
            <a:r>
              <a:rPr lang="en-US" sz="1800" dirty="0">
                <a:solidFill>
                  <a:schemeClr val="tx1"/>
                </a:solidFill>
              </a:rPr>
              <a:t>Jangan memakai Theme.of(context) di initState(); bacalah di build().</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Melihat Siklus Hidup di Konsol</a:t>
            </a:r>
            <a:endParaRPr lang="en-US" sz="3200" dirty="0"/>
          </a:p>
        </p:txBody>
      </p:sp>
      <p:sp>
        <p:nvSpPr>
          <p:cNvPr id="4" name="bingkai layar 1"/>
          <p:cNvSpPr/>
          <p:nvPr/>
        </p:nvSpPr>
        <p:spPr>
          <a:xfrm>
            <a:off x="7381951" y="1316736"/>
            <a:ext cx="4315968" cy="3940548"/>
          </a:xfrm>
          <a:prstGeom prst="roundRect">
            <a:avLst>
              <a:gd name="adj" fmla="val 2320"/>
            </a:avLst>
          </a:prstGeom>
          <a:solidFill>
            <a:srgbClr val="FFFFFF"/>
          </a:solidFill>
          <a:ln w="12700">
            <a:solidFill>
              <a:srgbClr val="C9D3E0"/>
            </a:solidFill>
            <a:prstDash val="solid"/>
          </a:ln>
        </p:spPr>
      </p:sp>
      <p:pic>
        <p:nvPicPr>
          <p:cNvPr id="5" name="layar 1" descr="Tangkapan layar aplikasi (hasil_contoh_06.jpg)">    </p:cNvPr>
          <p:cNvPicPr>
            <a:picLocks noChangeAspect="1"/>
          </p:cNvPicPr>
          <p:nvPr/>
        </p:nvPicPr>
        <p:blipFill>
          <a:blip r:embed="rId1"/>
          <a:stretch>
            <a:fillRect/>
          </a:stretch>
        </p:blipFill>
        <p:spPr>
          <a:xfrm>
            <a:off x="7436815" y="1371600"/>
            <a:ext cx="4206240" cy="3830820"/>
          </a:xfrm>
          <a:prstGeom prst="rect">
            <a:avLst/>
          </a:prstGeom>
        </p:spPr>
      </p:pic>
      <p:sp>
        <p:nvSpPr>
          <p:cNvPr id="6" name="kotak kode"/>
          <p:cNvSpPr txBox="1"/>
          <p:nvPr/>
        </p:nvSpPr>
        <p:spPr>
          <a:xfrm>
            <a:off x="548640" y="1371600"/>
            <a:ext cx="6430975" cy="2715768"/>
          </a:xfrm>
          <a:prstGeom prst="roundRect">
            <a:avLst>
              <a:gd name="adj" fmla="val 3367"/>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 createState(): objek </a:t>
            </a:r>
            <a:r>
              <a:rPr lang="en-US" sz="1200" dirty="0">
                <a:solidFill>
                  <a:srgbClr val="FFCB6B"/>
                </a:solidFill>
                <a:latin typeface="Consolas" pitchFamily="34" charset="0"/>
                <a:ea typeface="Consolas" pitchFamily="34" charset="-122"/>
                <a:cs typeface="Consolas" pitchFamily="34" charset="-120"/>
              </a:rPr>
              <a:t>State</a:t>
            </a:r>
            <a:r>
              <a:rPr lang="en-US" sz="1200" dirty="0">
                <a:solidFill>
                  <a:srgbClr val="E6EDF3"/>
                </a:solidFill>
                <a:latin typeface="Consolas" pitchFamily="34" charset="0"/>
                <a:ea typeface="Consolas" pitchFamily="34" charset="-122"/>
                <a:cs typeface="Consolas" pitchFamily="34" charset="-120"/>
              </a:rPr>
              <a:t> dibuat</a:t>
            </a:r>
            <a:endParaRPr lang="en-US" sz="1200" dirty="0"/>
          </a:p>
          <a:p>
            <a:pPr indent="0" marL="0">
              <a:lnSpc>
                <a:spcPct val="105000"/>
              </a:lnSpc>
              <a:buNone/>
            </a:pPr>
            <a:r>
              <a:rPr lang="en-US" sz="1200" dirty="0">
                <a:solidFill>
                  <a:srgbClr val="F78C6C"/>
                </a:solidFill>
                <a:latin typeface="Consolas" pitchFamily="34" charset="0"/>
                <a:ea typeface="Consolas" pitchFamily="34" charset="-122"/>
                <a:cs typeface="Consolas" pitchFamily="34" charset="-120"/>
              </a:rPr>
              <a:t>2.</a:t>
            </a:r>
            <a:r>
              <a:rPr lang="en-US" sz="1200" dirty="0">
                <a:solidFill>
                  <a:srgbClr val="E6EDF3"/>
                </a:solidFill>
                <a:latin typeface="Consolas" pitchFamily="34" charset="0"/>
                <a:ea typeface="Consolas" pitchFamily="34" charset="-122"/>
                <a:cs typeface="Consolas" pitchFamily="34" charset="-120"/>
              </a:rPr>
              <a:t> initState(): persiapan </a:t>
            </a:r>
            <a:r>
              <a:rPr lang="en-US" sz="1200" dirty="0">
                <a:solidFill>
                  <a:srgbClr val="FFCB6B"/>
                </a:solidFill>
                <a:latin typeface="Consolas" pitchFamily="34" charset="0"/>
                <a:ea typeface="Consolas" pitchFamily="34" charset="-122"/>
                <a:cs typeface="Consolas" pitchFamily="34" charset="-120"/>
              </a:rPr>
              <a:t>SEKALI</a:t>
            </a:r>
            <a:endParaRPr lang="en-US" sz="1200" dirty="0"/>
          </a:p>
          <a:p>
            <a:pPr indent="0" marL="0">
              <a:lnSpc>
                <a:spcPct val="105000"/>
              </a:lnSpc>
              <a:buNone/>
            </a:pP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didChangeDependencies():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build(): menggambar kartu (_jumlah = </a:t>
            </a:r>
            <a:r>
              <a:rPr lang="en-US" sz="1200" dirty="0">
                <a:solidFill>
                  <a:srgbClr val="F78C6C"/>
                </a:solidFill>
                <a:latin typeface="Consolas" pitchFamily="34" charset="0"/>
                <a:ea typeface="Consolas" pitchFamily="34" charset="-122"/>
                <a:cs typeface="Consolas" pitchFamily="34" charset="-120"/>
              </a:rPr>
              <a:t>0</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tombol + ditekan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build(): menggambar kartu (_jumlah =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judul baru dikirim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didUpdateWidget(): </a:t>
            </a:r>
            <a:r>
              <a:rPr lang="en-US" sz="1200" dirty="0">
                <a:solidFill>
                  <a:srgbClr val="C3E88D"/>
                </a:solidFill>
                <a:latin typeface="Consolas" pitchFamily="34" charset="0"/>
                <a:ea typeface="Consolas" pitchFamily="34" charset="-122"/>
                <a:cs typeface="Consolas" pitchFamily="34" charset="-120"/>
              </a:rPr>
              <a:t>"Kartu versi 1"</a:t>
            </a:r>
            <a:r>
              <a:rPr lang="en-US" sz="1200" dirty="0">
                <a:solidFill>
                  <a:srgbClr val="E6EDF3"/>
                </a:solidFill>
                <a:latin typeface="Consolas" pitchFamily="34" charset="0"/>
                <a:ea typeface="Consolas" pitchFamily="34" charset="-122"/>
                <a:cs typeface="Consolas" pitchFamily="34" charset="-120"/>
              </a:rPr>
              <a:t> -&gt; </a:t>
            </a:r>
            <a:r>
              <a:rPr lang="en-US" sz="1200" dirty="0">
                <a:solidFill>
                  <a:srgbClr val="C3E88D"/>
                </a:solidFill>
                <a:latin typeface="Consolas" pitchFamily="34" charset="0"/>
                <a:ea typeface="Consolas" pitchFamily="34" charset="-122"/>
                <a:cs typeface="Consolas" pitchFamily="34" charset="-120"/>
              </a:rPr>
              <a:t>"Kartu versi 2"</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build(): menggambar kartu (_jumlah = </a:t>
            </a:r>
            <a:r>
              <a:rPr lang="en-US" sz="1200" dirty="0">
                <a:solidFill>
                  <a:srgbClr val="F78C6C"/>
                </a:solidFill>
                <a:latin typeface="Consolas" pitchFamily="34" charset="0"/>
                <a:ea typeface="Consolas" pitchFamily="34" charset="-122"/>
                <a:cs typeface="Consolas" pitchFamily="34" charset="-120"/>
              </a:rPr>
              <a:t>1</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kartu disembunyikan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deactivate(): kartu dilepas dari pohon widget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dispose(): </a:t>
            </a:r>
            <a:r>
              <a:rPr lang="en-US" sz="1200" dirty="0">
                <a:solidFill>
                  <a:srgbClr val="FFCB6B"/>
                </a:solidFill>
                <a:latin typeface="Consolas" pitchFamily="34" charset="0"/>
                <a:ea typeface="Consolas" pitchFamily="34" charset="-122"/>
                <a:cs typeface="Consolas" pitchFamily="34" charset="-120"/>
              </a:rPr>
              <a:t>State</a:t>
            </a:r>
            <a:r>
              <a:rPr lang="en-US" sz="1200" dirty="0">
                <a:solidFill>
                  <a:srgbClr val="E6EDF3"/>
                </a:solidFill>
                <a:latin typeface="Consolas" pitchFamily="34" charset="0"/>
                <a:ea typeface="Consolas" pitchFamily="34" charset="-122"/>
                <a:cs typeface="Consolas" pitchFamily="34" charset="-120"/>
              </a:rPr>
              <a:t> dibuang selamanya</a:t>
            </a:r>
            <a:endParaRPr lang="en-US" sz="1200" dirty="0"/>
          </a:p>
        </p:txBody>
      </p:sp>
      <p:sp>
        <p:nvSpPr>
          <p:cNvPr id="7" name="tombol tautan">
            <a:hlinkClick r:id="rId2" tooltip="https://github.com/antonprafanto/mobile2026/blob/main/pertemuan_05_interaksi_dan_state/kode/contoh_06_siklus_hidup_state.dart"/>
          </p:cNvPr>
          <p:cNvSpPr txBox="1"/>
          <p:nvPr/>
        </p:nvSpPr>
        <p:spPr>
          <a:xfrm>
            <a:off x="548640" y="4270248"/>
            <a:ext cx="643097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contoh_06_siklus_hidup_state.dart</a:t>
            </a:r>
            <a:endParaRPr lang="en-US" sz="1300" dirty="0"/>
          </a:p>
        </p:txBody>
      </p:sp>
      <p:pic>
        <p:nvPicPr>
          <p:cNvPr id="8" name="Image 1" descr="ikon tautan">
            <a:hlinkClick r:id="rId4" tooltip="https://github.com/antonprafanto/mobile2026/blob/main/pertemuan_05_interaksi_dan_state/kode/contoh_06_siklus_hidup_state.dart"/>
          </p:cNvPr>
          <p:cNvPicPr>
            <a:picLocks noChangeAspect="1"/>
          </p:cNvPicPr>
          <p:nvPr/>
        </p:nvPicPr>
        <p:blipFill>
          <a:blip r:embed="rId3"/>
          <a:stretch>
            <a:fillRect/>
          </a:stretch>
        </p:blipFill>
        <p:spPr>
          <a:xfrm>
            <a:off x="694944" y="4361688"/>
            <a:ext cx="274320" cy="274320"/>
          </a:xfrm>
          <a:prstGeom prst="rect">
            <a:avLst/>
          </a:prstGeom>
        </p:spPr>
      </p:pic>
      <p:sp>
        <p:nvSpPr>
          <p:cNvPr id="9" name="daftar poin"/>
          <p:cNvSpPr txBox="1"/>
          <p:nvPr/>
        </p:nvSpPr>
        <p:spPr>
          <a:xfrm>
            <a:off x="548640" y="5001768"/>
            <a:ext cx="6430975" cy="1216152"/>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setState hanya menjalankan build(), bukan initState().</a:t>
            </a:r>
            <a:endParaRPr lang="en-US" sz="1500" dirty="0"/>
          </a:p>
          <a:p>
            <a:pPr marL="228600" indent="-228600">
              <a:spcAft>
                <a:spcPts val="800"/>
              </a:spcAft>
              <a:buSzPct val="100000"/>
              <a:buChar char="•"/>
            </a:pPr>
            <a:r>
              <a:rPr lang="en-US" sz="1500" dirty="0">
                <a:solidFill>
                  <a:schemeClr val="tx1"/>
                </a:solidFill>
              </a:rPr>
              <a:t>Parameter baru → State yang sama; _jumlah tetap 1.</a:t>
            </a:r>
            <a:endParaRPr lang="en-US" sz="1500" dirty="0"/>
          </a:p>
          <a:p>
            <a:pPr marL="228600" indent="-228600">
              <a:spcAft>
                <a:spcPts val="800"/>
              </a:spcAft>
              <a:buSzPct val="100000"/>
              <a:buChar char="•"/>
            </a:pPr>
            <a:r>
              <a:rPr lang="en-US" sz="1500" dirty="0">
                <a:solidFill>
                  <a:schemeClr val="tx1"/>
                </a:solidFill>
              </a:rPr>
              <a:t>Ditampilkan lagi → State baru; _jumlah kembali 0.</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6</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Teks, Formulir, dan Dialog</a:t>
            </a:r>
            <a:endParaRPr lang="en-US" sz="4000" dirty="0"/>
          </a:p>
        </p:txBody>
      </p:sp>
      <p:sp>
        <p:nvSpPr>
          <p:cNvPr id="5" name="lingkaran formulir"/>
          <p:cNvSpPr/>
          <p:nvPr/>
        </p:nvSpPr>
        <p:spPr>
          <a:xfrm>
            <a:off x="1097280" y="2148840"/>
            <a:ext cx="2011680" cy="2011680"/>
          </a:xfrm>
          <a:prstGeom prst="ellipse">
            <a:avLst/>
          </a:prstGeom>
          <a:solidFill>
            <a:schemeClr val="accent1"/>
          </a:solidFill>
          <a:ln/>
        </p:spPr>
      </p:sp>
      <p:pic>
        <p:nvPicPr>
          <p:cNvPr id="6" name="Image 0" descr="formulir">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TextField dan Controller</a:t>
            </a:r>
            <a:endParaRPr lang="en-US" sz="3200" dirty="0"/>
          </a:p>
        </p:txBody>
      </p:sp>
      <p:sp>
        <p:nvSpPr>
          <p:cNvPr id="4" name="bingkai layar 1"/>
          <p:cNvSpPr/>
          <p:nvPr/>
        </p:nvSpPr>
        <p:spPr>
          <a:xfrm>
            <a:off x="5736031" y="1316736"/>
            <a:ext cx="2898648" cy="4463288"/>
          </a:xfrm>
          <a:prstGeom prst="roundRect">
            <a:avLst>
              <a:gd name="adj" fmla="val 3155"/>
            </a:avLst>
          </a:prstGeom>
          <a:solidFill>
            <a:srgbClr val="FFFFFF"/>
          </a:solidFill>
          <a:ln w="12700">
            <a:solidFill>
              <a:srgbClr val="C9D3E0"/>
            </a:solidFill>
            <a:prstDash val="solid"/>
          </a:ln>
        </p:spPr>
      </p:sp>
      <p:pic>
        <p:nvPicPr>
          <p:cNvPr id="5" name="layar 1" descr="Tangkapan layar aplikasi (hasil_contoh_07a.jpg)">    </p:cNvPr>
          <p:cNvPicPr>
            <a:picLocks noChangeAspect="1"/>
          </p:cNvPicPr>
          <p:nvPr/>
        </p:nvPicPr>
        <p:blipFill>
          <a:blip r:embed="rId1"/>
          <a:stretch>
            <a:fillRect/>
          </a:stretch>
        </p:blipFill>
        <p:spPr>
          <a:xfrm>
            <a:off x="5790895" y="1371600"/>
            <a:ext cx="2788920" cy="4353560"/>
          </a:xfrm>
          <a:prstGeom prst="rect">
            <a:avLst/>
          </a:prstGeom>
        </p:spPr>
      </p:pic>
      <p:sp>
        <p:nvSpPr>
          <p:cNvPr id="6" name="bingkai layar 2"/>
          <p:cNvSpPr/>
          <p:nvPr/>
        </p:nvSpPr>
        <p:spPr>
          <a:xfrm>
            <a:off x="8799271" y="1316736"/>
            <a:ext cx="2898648" cy="4463288"/>
          </a:xfrm>
          <a:prstGeom prst="roundRect">
            <a:avLst>
              <a:gd name="adj" fmla="val 3155"/>
            </a:avLst>
          </a:prstGeom>
          <a:solidFill>
            <a:srgbClr val="FFFFFF"/>
          </a:solidFill>
          <a:ln w="12700">
            <a:solidFill>
              <a:srgbClr val="C9D3E0"/>
            </a:solidFill>
            <a:prstDash val="solid"/>
          </a:ln>
        </p:spPr>
      </p:sp>
      <p:pic>
        <p:nvPicPr>
          <p:cNvPr id="7" name="layar 2" descr="Tangkapan layar aplikasi (hasil_contoh_07b.jpg)">    </p:cNvPr>
          <p:cNvPicPr>
            <a:picLocks noChangeAspect="1"/>
          </p:cNvPicPr>
          <p:nvPr/>
        </p:nvPicPr>
        <p:blipFill>
          <a:blip r:embed="rId2"/>
          <a:stretch>
            <a:fillRect/>
          </a:stretch>
        </p:blipFill>
        <p:spPr>
          <a:xfrm>
            <a:off x="8854135" y="1371600"/>
            <a:ext cx="2788920" cy="4353560"/>
          </a:xfrm>
          <a:prstGeom prst="rect">
            <a:avLst/>
          </a:prstGeom>
        </p:spPr>
      </p:pic>
      <p:sp>
        <p:nvSpPr>
          <p:cNvPr id="8" name="kotak kode"/>
          <p:cNvSpPr txBox="1"/>
          <p:nvPr/>
        </p:nvSpPr>
        <p:spPr>
          <a:xfrm>
            <a:off x="548640" y="1371600"/>
            <a:ext cx="4785055" cy="3099816"/>
          </a:xfrm>
          <a:prstGeom prst="roundRect">
            <a:avLst>
              <a:gd name="adj" fmla="val 2950"/>
            </a:avLst>
          </a:prstGeom>
          <a:solidFill>
            <a:srgbClr val="0E1A2B"/>
          </a:solidFill>
          <a:ln/>
        </p:spPr>
        <p:txBody>
          <a:bodyPr wrap="square" lIns="177800" tIns="152400" rIns="152400" bIns="177800" rtlCol="0" anchor="t"/>
          <a:lstStyle/>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1) BUAT sekali, sebagai properti State</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TextEditingController</a:t>
            </a:r>
            <a:r>
              <a:rPr lang="en-US" sz="1200" dirty="0">
                <a:solidFill>
                  <a:srgbClr val="E6EDF3"/>
                </a:solidFill>
                <a:latin typeface="Consolas" pitchFamily="34" charset="0"/>
                <a:ea typeface="Consolas" pitchFamily="34" charset="-122"/>
                <a:cs typeface="Consolas" pitchFamily="34" charset="-120"/>
              </a:rPr>
              <a:t> _kontrolNama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TextEditingController</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2) PAKAI</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nama = _kontrolNama.text.trim();</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_kontrolNama.clear();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i="1" dirty="0">
                <a:solidFill>
                  <a:srgbClr val="8FA3BC"/>
                </a:solidFill>
                <a:latin typeface="Consolas" pitchFamily="34" charset="0"/>
                <a:ea typeface="Consolas" pitchFamily="34" charset="-122"/>
                <a:cs typeface="Consolas" pitchFamily="34" charset="-120"/>
              </a:rPr>
              <a:t>// 3) BUANG</a:t>
            </a:r>
            <a:endParaRPr lang="en-US" sz="1200" dirty="0"/>
          </a:p>
          <a:p>
            <a:pPr indent="0" marL="0">
              <a:lnSpc>
                <a:spcPct val="105000"/>
              </a:lnSpc>
              <a:buNone/>
            </a:pPr>
            <a:r>
              <a:rPr lang="en-US" sz="1200" dirty="0">
                <a:solidFill>
                  <a:srgbClr val="89DDFF"/>
                </a:solidFill>
                <a:latin typeface="Consolas" pitchFamily="34" charset="0"/>
                <a:ea typeface="Consolas" pitchFamily="34" charset="-122"/>
                <a:cs typeface="Consolas" pitchFamily="34" charset="-120"/>
              </a:rPr>
              <a:t>@override</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dispose()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_kontrolNama.dispose();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super</a:t>
            </a:r>
            <a:r>
              <a:rPr lang="en-US" sz="1200" dirty="0">
                <a:solidFill>
                  <a:srgbClr val="E6EDF3"/>
                </a:solidFill>
                <a:latin typeface="Consolas" pitchFamily="34" charset="0"/>
                <a:ea typeface="Consolas" pitchFamily="34" charset="-122"/>
                <a:cs typeface="Consolas" pitchFamily="34" charset="-120"/>
              </a:rPr>
              <a:t>.dispose();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9" name="tombol tautan">
            <a:hlinkClick r:id="rId3" tooltip="https://github.com/antonprafanto/mobile2026/blob/main/pertemuan_05_interaksi_dan_state/kode/contoh_07_textfield_controller.dart"/>
          </p:cNvPr>
          <p:cNvSpPr txBox="1"/>
          <p:nvPr/>
        </p:nvSpPr>
        <p:spPr>
          <a:xfrm>
            <a:off x="548640" y="4654296"/>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contoh_07_textfield_controller.dart</a:t>
            </a:r>
            <a:endParaRPr lang="en-US" sz="1300" dirty="0"/>
          </a:p>
        </p:txBody>
      </p:sp>
      <p:pic>
        <p:nvPicPr>
          <p:cNvPr id="10" name="Image 2" descr="ikon tautan">
            <a:hlinkClick r:id="rId5" tooltip="https://github.com/antonprafanto/mobile2026/blob/main/pertemuan_05_interaksi_dan_state/kode/contoh_07_textfield_controller.dart"/>
          </p:cNvPr>
          <p:cNvPicPr>
            <a:picLocks noChangeAspect="1"/>
          </p:cNvPicPr>
          <p:nvPr/>
        </p:nvPicPr>
        <p:blipFill>
          <a:blip r:embed="rId4"/>
          <a:stretch>
            <a:fillRect/>
          </a:stretch>
        </p:blipFill>
        <p:spPr>
          <a:xfrm>
            <a:off x="694944" y="4745736"/>
            <a:ext cx="274320" cy="274320"/>
          </a:xfrm>
          <a:prstGeom prst="rect">
            <a:avLst/>
          </a:prstGeom>
        </p:spPr>
      </p:pic>
      <p:sp>
        <p:nvSpPr>
          <p:cNvPr id="11" name="daftar poin"/>
          <p:cNvSpPr txBox="1"/>
          <p:nvPr/>
        </p:nvSpPr>
        <p:spPr>
          <a:xfrm>
            <a:off x="548640" y="5385816"/>
            <a:ext cx="4785055" cy="832104"/>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onChanged: bereaksi setiap huruf (pratinjau).</a:t>
            </a:r>
            <a:endParaRPr lang="en-US" sz="1500" dirty="0"/>
          </a:p>
          <a:p>
            <a:pPr marL="228600" indent="-228600">
              <a:spcAft>
                <a:spcPts val="800"/>
              </a:spcAft>
              <a:buSzPct val="100000"/>
              <a:buChar char="•"/>
            </a:pPr>
            <a:r>
              <a:rPr lang="en-US" sz="1500" dirty="0">
                <a:solidFill>
                  <a:schemeClr val="tx1"/>
                </a:solidFill>
              </a:rPr>
              <a:t>clear() tidak memanggil onChanged.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Menutup Keyboard: Pelajaran dari Pengujian</a:t>
            </a:r>
            <a:endParaRPr lang="en-US" sz="3200" dirty="0"/>
          </a:p>
        </p:txBody>
      </p:sp>
      <p:sp>
        <p:nvSpPr>
          <p:cNvPr id="4" name="kolom 1"/>
          <p:cNvSpPr/>
          <p:nvPr/>
        </p:nvSpPr>
        <p:spPr>
          <a:xfrm>
            <a:off x="548640" y="1371600"/>
            <a:ext cx="5387188" cy="3931920"/>
          </a:xfrm>
          <a:prstGeom prst="roundRect">
            <a:avLst>
              <a:gd name="adj" fmla="val 2791"/>
            </a:avLst>
          </a:prstGeom>
          <a:solidFill>
            <a:schemeClr val="bg2"/>
          </a:solidFill>
          <a:ln/>
        </p:spPr>
      </p:sp>
      <p:sp>
        <p:nvSpPr>
          <p:cNvPr id="5" name="lingkaran galat"/>
          <p:cNvSpPr/>
          <p:nvPr/>
        </p:nvSpPr>
        <p:spPr>
          <a:xfrm>
            <a:off x="777240" y="1600200"/>
            <a:ext cx="685800" cy="685800"/>
          </a:xfrm>
          <a:prstGeom prst="ellipse">
            <a:avLst/>
          </a:prstGeom>
          <a:solidFill>
            <a:schemeClr val="accent5"/>
          </a:solidFill>
          <a:ln/>
        </p:spPr>
      </p:sp>
      <p:pic>
        <p:nvPicPr>
          <p:cNvPr id="6" name="Image 0" descr="galat">    </p:cNvPr>
          <p:cNvPicPr>
            <a:picLocks noChangeAspect="1"/>
          </p:cNvPicPr>
          <p:nvPr/>
        </p:nvPicPr>
        <p:blipFill>
          <a:blip r:embed="rId1"/>
          <a:stretch>
            <a:fillRect/>
          </a:stretch>
        </p:blipFill>
        <p:spPr>
          <a:xfrm>
            <a:off x="928116" y="1751076"/>
            <a:ext cx="384048" cy="384048"/>
          </a:xfrm>
          <a:prstGeom prst="rect">
            <a:avLst/>
          </a:prstGeom>
        </p:spPr>
      </p:pic>
      <p:sp>
        <p:nvSpPr>
          <p:cNvPr id="7" name="Text 3"/>
          <p:cNvSpPr txBox="1"/>
          <p:nvPr/>
        </p:nvSpPr>
        <p:spPr>
          <a:xfrm>
            <a:off x="1600200"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Sering ditemukan di tutorial</a:t>
            </a:r>
            <a:endParaRPr lang="en-US" sz="1900" dirty="0"/>
          </a:p>
        </p:txBody>
      </p:sp>
      <p:sp>
        <p:nvSpPr>
          <p:cNvPr id="8" name="Text 4"/>
          <p:cNvSpPr txBox="1"/>
          <p:nvPr/>
        </p:nvSpPr>
        <p:spPr>
          <a:xfrm>
            <a:off x="777240" y="2423160"/>
            <a:ext cx="4929988" cy="365760"/>
          </a:xfrm>
          <a:prstGeom prst="rect">
            <a:avLst/>
          </a:prstGeom>
          <a:noFill/>
          <a:ln/>
        </p:spPr>
        <p:txBody>
          <a:bodyPr wrap="square" lIns="0" tIns="0" rIns="0" bIns="0" rtlCol="0" anchor="ctr"/>
          <a:lstStyle/>
          <a:p>
            <a:pPr indent="0" marL="0">
              <a:buNone/>
            </a:pPr>
            <a:r>
              <a:rPr lang="en-US" sz="1400" b="1" dirty="0">
                <a:solidFill>
                  <a:schemeClr val="accent5"/>
                </a:solidFill>
              </a:rPr>
              <a:t>Keyboard muncul lagi setelah dialog ditutup</a:t>
            </a:r>
            <a:endParaRPr lang="en-US" sz="1400" dirty="0"/>
          </a:p>
        </p:txBody>
      </p:sp>
      <p:sp>
        <p:nvSpPr>
          <p:cNvPr id="9" name="daftar poin"/>
          <p:cNvSpPr txBox="1"/>
          <p:nvPr/>
        </p:nvSpPr>
        <p:spPr>
          <a:xfrm>
            <a:off x="777240" y="2926080"/>
            <a:ext cx="4929988" cy="15087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FocusScope masih "mengingat" kolom terakhir</a:t>
            </a:r>
            <a:endParaRPr lang="en-US" sz="1600" dirty="0"/>
          </a:p>
          <a:p>
            <a:pPr marL="228600" indent="-228600">
              <a:spcAft>
                <a:spcPts val="800"/>
              </a:spcAft>
              <a:buSzPct val="100000"/>
              <a:buChar char="•"/>
            </a:pPr>
            <a:r>
              <a:rPr lang="en-US" sz="1600" dirty="0">
                <a:solidFill>
                  <a:schemeClr val="tx1"/>
                </a:solidFill>
              </a:rPr>
              <a:t>Setelah dialog konfirmasi ditutup, kolom aktif lagi</a:t>
            </a:r>
            <a:endParaRPr lang="en-US" sz="1600" dirty="0"/>
          </a:p>
          <a:p>
            <a:pPr marL="228600" indent="-228600">
              <a:spcAft>
                <a:spcPts val="800"/>
              </a:spcAft>
              <a:buSzPct val="100000"/>
              <a:buChar char="•"/>
            </a:pPr>
            <a:r>
              <a:rPr lang="en-US" sz="1600" dirty="0">
                <a:solidFill>
                  <a:schemeClr val="tx1"/>
                </a:solidFill>
              </a:rPr>
              <a:t>Di ponsel, keyboard tiba-tiba muncul kembali</a:t>
            </a:r>
            <a:endParaRPr lang="en-US" sz="1600" dirty="0"/>
          </a:p>
        </p:txBody>
      </p:sp>
      <p:sp>
        <p:nvSpPr>
          <p:cNvPr id="10" name="kotak kode"/>
          <p:cNvSpPr txBox="1"/>
          <p:nvPr/>
        </p:nvSpPr>
        <p:spPr>
          <a:xfrm>
            <a:off x="731520" y="4389120"/>
            <a:ext cx="5021428" cy="731520"/>
          </a:xfrm>
          <a:prstGeom prst="roundRect">
            <a:avLst>
              <a:gd name="adj" fmla="val 1250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onTapOutside: (_)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FocusScope</a:t>
            </a:r>
            <a:r>
              <a:rPr lang="en-US" sz="1200" dirty="0">
                <a:solidFill>
                  <a:srgbClr val="E6EDF3"/>
                </a:solidFill>
                <a:latin typeface="Consolas" pitchFamily="34" charset="0"/>
                <a:ea typeface="Consolas" pitchFamily="34" charset="-122"/>
                <a:cs typeface="Consolas" pitchFamily="34" charset="-120"/>
              </a:rPr>
              <a:t>.of(context).unfocus(),</a:t>
            </a:r>
            <a:endParaRPr lang="en-US" sz="1200" dirty="0"/>
          </a:p>
        </p:txBody>
      </p:sp>
      <p:sp>
        <p:nvSpPr>
          <p:cNvPr id="11" name="kolom 2"/>
          <p:cNvSpPr/>
          <p:nvPr/>
        </p:nvSpPr>
        <p:spPr>
          <a:xfrm>
            <a:off x="6255868" y="1371600"/>
            <a:ext cx="5387188" cy="3931920"/>
          </a:xfrm>
          <a:prstGeom prst="roundRect">
            <a:avLst>
              <a:gd name="adj" fmla="val 2791"/>
            </a:avLst>
          </a:prstGeom>
          <a:solidFill>
            <a:schemeClr val="bg2"/>
          </a:solidFill>
          <a:ln/>
        </p:spPr>
      </p:sp>
      <p:sp>
        <p:nvSpPr>
          <p:cNvPr id="12" name="lingkaran centang"/>
          <p:cNvSpPr/>
          <p:nvPr/>
        </p:nvSpPr>
        <p:spPr>
          <a:xfrm>
            <a:off x="6484468" y="1600200"/>
            <a:ext cx="685800" cy="685800"/>
          </a:xfrm>
          <a:prstGeom prst="ellipse">
            <a:avLst/>
          </a:prstGeom>
          <a:solidFill>
            <a:schemeClr val="accent4"/>
          </a:solidFill>
          <a:ln/>
        </p:spPr>
      </p:sp>
      <p:pic>
        <p:nvPicPr>
          <p:cNvPr id="13" name="Image 1" descr="centang">    </p:cNvPr>
          <p:cNvPicPr>
            <a:picLocks noChangeAspect="1"/>
          </p:cNvPicPr>
          <p:nvPr/>
        </p:nvPicPr>
        <p:blipFill>
          <a:blip r:embed="rId2"/>
          <a:stretch>
            <a:fillRect/>
          </a:stretch>
        </p:blipFill>
        <p:spPr>
          <a:xfrm>
            <a:off x="6635344" y="1751076"/>
            <a:ext cx="384048" cy="384048"/>
          </a:xfrm>
          <a:prstGeom prst="rect">
            <a:avLst/>
          </a:prstGeom>
        </p:spPr>
      </p:pic>
      <p:sp>
        <p:nvSpPr>
          <p:cNvPr id="14" name="Text 9"/>
          <p:cNvSpPr txBox="1"/>
          <p:nvPr/>
        </p:nvSpPr>
        <p:spPr>
          <a:xfrm>
            <a:off x="7307428" y="1554480"/>
            <a:ext cx="4198468" cy="777240"/>
          </a:xfrm>
          <a:prstGeom prst="rect">
            <a:avLst/>
          </a:prstGeom>
          <a:noFill/>
          <a:ln/>
        </p:spPr>
        <p:txBody>
          <a:bodyPr wrap="square" lIns="0" tIns="0" rIns="0" bIns="0" rtlCol="0" anchor="ctr"/>
          <a:lstStyle/>
          <a:p>
            <a:pPr indent="0" marL="0">
              <a:buNone/>
            </a:pPr>
            <a:r>
              <a:rPr lang="en-US" sz="1900" b="1" dirty="0">
                <a:solidFill>
                  <a:schemeClr val="tx2"/>
                </a:solidFill>
              </a:rPr>
              <a:t>Dipakai di modul ini</a:t>
            </a:r>
            <a:endParaRPr lang="en-US" sz="1900" dirty="0"/>
          </a:p>
        </p:txBody>
      </p:sp>
      <p:sp>
        <p:nvSpPr>
          <p:cNvPr id="15" name="Text 10"/>
          <p:cNvSpPr txBox="1"/>
          <p:nvPr/>
        </p:nvSpPr>
        <p:spPr>
          <a:xfrm>
            <a:off x="6484468" y="2423160"/>
            <a:ext cx="4929988" cy="365760"/>
          </a:xfrm>
          <a:prstGeom prst="rect">
            <a:avLst/>
          </a:prstGeom>
          <a:noFill/>
          <a:ln/>
        </p:spPr>
        <p:txBody>
          <a:bodyPr wrap="square" lIns="0" tIns="0" rIns="0" bIns="0" rtlCol="0" anchor="ctr"/>
          <a:lstStyle/>
          <a:p>
            <a:pPr indent="0" marL="0">
              <a:buNone/>
            </a:pPr>
            <a:r>
              <a:rPr lang="en-US" sz="1400" b="1" dirty="0">
                <a:solidFill>
                  <a:schemeClr val="accent4"/>
                </a:solidFill>
              </a:rPr>
              <a:t>Lepas fokus dari kolom itu sendiri</a:t>
            </a:r>
            <a:endParaRPr lang="en-US" sz="1400" dirty="0"/>
          </a:p>
        </p:txBody>
      </p:sp>
      <p:sp>
        <p:nvSpPr>
          <p:cNvPr id="16" name="daftar poin"/>
          <p:cNvSpPr txBox="1"/>
          <p:nvPr/>
        </p:nvSpPr>
        <p:spPr>
          <a:xfrm>
            <a:off x="6484468" y="2926080"/>
            <a:ext cx="4929988" cy="15087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primaryFocus = kolom yang sedang diketik</a:t>
            </a:r>
            <a:endParaRPr lang="en-US" sz="1600" dirty="0"/>
          </a:p>
          <a:p>
            <a:pPr marL="228600" indent="-228600">
              <a:spcAft>
                <a:spcPts val="800"/>
              </a:spcAft>
              <a:buSzPct val="100000"/>
              <a:buChar char="•"/>
            </a:pPr>
            <a:r>
              <a:rPr lang="en-US" sz="1600" dirty="0">
                <a:solidFill>
                  <a:schemeClr val="tx1"/>
                </a:solidFill>
              </a:rPr>
              <a:t>Kolom tidak aktif lagi setelah dialog ditutup</a:t>
            </a:r>
            <a:endParaRPr lang="en-US" sz="1600" dirty="0"/>
          </a:p>
          <a:p>
            <a:pPr marL="228600" indent="-228600">
              <a:spcAft>
                <a:spcPts val="800"/>
              </a:spcAft>
              <a:buSzPct val="100000"/>
              <a:buChar char="•"/>
            </a:pPr>
            <a:r>
              <a:rPr lang="en-US" sz="1600" dirty="0">
                <a:solidFill>
                  <a:schemeClr val="tx1"/>
                </a:solidFill>
              </a:rPr>
              <a:t>Tombol di dalam kolom dibungkus ExcludeFocus</a:t>
            </a:r>
            <a:endParaRPr lang="en-US" sz="1600" dirty="0"/>
          </a:p>
        </p:txBody>
      </p:sp>
      <p:sp>
        <p:nvSpPr>
          <p:cNvPr id="17" name="kotak kode"/>
          <p:cNvSpPr txBox="1"/>
          <p:nvPr/>
        </p:nvSpPr>
        <p:spPr>
          <a:xfrm>
            <a:off x="6438748" y="4389120"/>
            <a:ext cx="5021428" cy="731520"/>
          </a:xfrm>
          <a:prstGeom prst="roundRect">
            <a:avLst>
              <a:gd name="adj" fmla="val 12500"/>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onTapOutside: (_) =&gt;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FocusManager</a:t>
            </a:r>
            <a:r>
              <a:rPr lang="en-US" sz="1200" dirty="0">
                <a:solidFill>
                  <a:srgbClr val="E6EDF3"/>
                </a:solidFill>
                <a:latin typeface="Consolas" pitchFamily="34" charset="0"/>
                <a:ea typeface="Consolas" pitchFamily="34" charset="-122"/>
                <a:cs typeface="Consolas" pitchFamily="34" charset="-120"/>
              </a:rPr>
              <a:t>.instance.primaryFocus?.unfocus(),</a:t>
            </a:r>
            <a:endParaRPr lang="en-US" sz="1200" dirty="0"/>
          </a:p>
        </p:txBody>
      </p:sp>
      <p:sp>
        <p:nvSpPr>
          <p:cNvPr id="18" name="lingkaran lampu"/>
          <p:cNvSpPr/>
          <p:nvPr/>
        </p:nvSpPr>
        <p:spPr>
          <a:xfrm>
            <a:off x="548640" y="5532120"/>
            <a:ext cx="548640" cy="548640"/>
          </a:xfrm>
          <a:prstGeom prst="ellipse">
            <a:avLst/>
          </a:prstGeom>
          <a:solidFill>
            <a:schemeClr val="accent3"/>
          </a:solidFill>
          <a:ln/>
        </p:spPr>
      </p:sp>
      <p:pic>
        <p:nvPicPr>
          <p:cNvPr id="19" name="Image 2" descr="lampu">    </p:cNvPr>
          <p:cNvPicPr>
            <a:picLocks noChangeAspect="1"/>
          </p:cNvPicPr>
          <p:nvPr/>
        </p:nvPicPr>
        <p:blipFill>
          <a:blip r:embed="rId3"/>
          <a:stretch>
            <a:fillRect/>
          </a:stretch>
        </p:blipFill>
        <p:spPr>
          <a:xfrm>
            <a:off x="669341" y="5652821"/>
            <a:ext cx="307238" cy="307238"/>
          </a:xfrm>
          <a:prstGeom prst="rect">
            <a:avLst/>
          </a:prstGeom>
        </p:spPr>
      </p:pic>
      <p:sp>
        <p:nvSpPr>
          <p:cNvPr id="20" name="Text 14"/>
          <p:cNvSpPr txBox="1"/>
          <p:nvPr/>
        </p:nvSpPr>
        <p:spPr>
          <a:xfrm>
            <a:off x="1280160" y="5440680"/>
            <a:ext cx="10362895" cy="731520"/>
          </a:xfrm>
          <a:prstGeom prst="rect">
            <a:avLst/>
          </a:prstGeom>
          <a:noFill/>
          <a:ln/>
        </p:spPr>
        <p:txBody>
          <a:bodyPr wrap="square" lIns="0" tIns="0" rIns="0" bIns="0" rtlCol="0" anchor="ctr"/>
          <a:lstStyle/>
          <a:p>
            <a:pPr indent="0" marL="0">
              <a:buNone/>
            </a:pPr>
            <a:r>
              <a:rPr lang="en-US" sz="1700" dirty="0">
                <a:solidFill>
                  <a:schemeClr val="tx1"/>
                </a:solidFill>
              </a:rPr>
              <a:t>Masalah ini ditemukan saat mencoba studi kasus sampai ke dialog konfirmasi, bukan saat membaca kode. Selalu uji alur lengkapnya.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Formulir dan Validator</a:t>
            </a:r>
            <a:endParaRPr lang="en-US" sz="3200" dirty="0"/>
          </a:p>
        </p:txBody>
      </p:sp>
      <p:sp>
        <p:nvSpPr>
          <p:cNvPr id="4" name="bingkai layar 1"/>
          <p:cNvSpPr/>
          <p:nvPr/>
        </p:nvSpPr>
        <p:spPr>
          <a:xfrm>
            <a:off x="5736031" y="1316736"/>
            <a:ext cx="1877568" cy="2869362"/>
          </a:xfrm>
          <a:prstGeom prst="roundRect">
            <a:avLst>
              <a:gd name="adj" fmla="val 4870"/>
            </a:avLst>
          </a:prstGeom>
          <a:solidFill>
            <a:srgbClr val="FFFFFF"/>
          </a:solidFill>
          <a:ln w="12700">
            <a:solidFill>
              <a:srgbClr val="C9D3E0"/>
            </a:solidFill>
            <a:prstDash val="solid"/>
          </a:ln>
        </p:spPr>
      </p:sp>
      <p:pic>
        <p:nvPicPr>
          <p:cNvPr id="5" name="layar 1" descr="Tangkapan layar aplikasi (hasil_contoh_08a.jpg)">    </p:cNvPr>
          <p:cNvPicPr>
            <a:picLocks noChangeAspect="1"/>
          </p:cNvPicPr>
          <p:nvPr/>
        </p:nvPicPr>
        <p:blipFill>
          <a:blip r:embed="rId1"/>
          <a:stretch>
            <a:fillRect/>
          </a:stretch>
        </p:blipFill>
        <p:spPr>
          <a:xfrm>
            <a:off x="5790895" y="1371600"/>
            <a:ext cx="1767840" cy="2759634"/>
          </a:xfrm>
          <a:prstGeom prst="rect">
            <a:avLst/>
          </a:prstGeom>
        </p:spPr>
      </p:pic>
      <p:sp>
        <p:nvSpPr>
          <p:cNvPr id="6" name="bingkai layar 2"/>
          <p:cNvSpPr/>
          <p:nvPr/>
        </p:nvSpPr>
        <p:spPr>
          <a:xfrm>
            <a:off x="7778191" y="1316736"/>
            <a:ext cx="1877568" cy="2869362"/>
          </a:xfrm>
          <a:prstGeom prst="roundRect">
            <a:avLst>
              <a:gd name="adj" fmla="val 4870"/>
            </a:avLst>
          </a:prstGeom>
          <a:solidFill>
            <a:srgbClr val="FFFFFF"/>
          </a:solidFill>
          <a:ln w="12700">
            <a:solidFill>
              <a:srgbClr val="C9D3E0"/>
            </a:solidFill>
            <a:prstDash val="solid"/>
          </a:ln>
        </p:spPr>
      </p:sp>
      <p:pic>
        <p:nvPicPr>
          <p:cNvPr id="7" name="layar 2" descr="Tangkapan layar aplikasi (hasil_contoh_08b.jpg)">    </p:cNvPr>
          <p:cNvPicPr>
            <a:picLocks noChangeAspect="1"/>
          </p:cNvPicPr>
          <p:nvPr/>
        </p:nvPicPr>
        <p:blipFill>
          <a:blip r:embed="rId2"/>
          <a:stretch>
            <a:fillRect/>
          </a:stretch>
        </p:blipFill>
        <p:spPr>
          <a:xfrm>
            <a:off x="7833055" y="1371600"/>
            <a:ext cx="1767840" cy="2759634"/>
          </a:xfrm>
          <a:prstGeom prst="rect">
            <a:avLst/>
          </a:prstGeom>
        </p:spPr>
      </p:pic>
      <p:sp>
        <p:nvSpPr>
          <p:cNvPr id="8" name="bingkai layar 3"/>
          <p:cNvSpPr/>
          <p:nvPr/>
        </p:nvSpPr>
        <p:spPr>
          <a:xfrm>
            <a:off x="9820351" y="1316736"/>
            <a:ext cx="1877568" cy="2869362"/>
          </a:xfrm>
          <a:prstGeom prst="roundRect">
            <a:avLst>
              <a:gd name="adj" fmla="val 4870"/>
            </a:avLst>
          </a:prstGeom>
          <a:solidFill>
            <a:srgbClr val="FFFFFF"/>
          </a:solidFill>
          <a:ln w="12700">
            <a:solidFill>
              <a:srgbClr val="C9D3E0"/>
            </a:solidFill>
            <a:prstDash val="solid"/>
          </a:ln>
        </p:spPr>
      </p:sp>
      <p:pic>
        <p:nvPicPr>
          <p:cNvPr id="9" name="layar 3" descr="Tangkapan layar aplikasi (hasil_contoh_08c.jpg)">    </p:cNvPr>
          <p:cNvPicPr>
            <a:picLocks noChangeAspect="1"/>
          </p:cNvPicPr>
          <p:nvPr/>
        </p:nvPicPr>
        <p:blipFill>
          <a:blip r:embed="rId3"/>
          <a:stretch>
            <a:fillRect/>
          </a:stretch>
        </p:blipFill>
        <p:spPr>
          <a:xfrm>
            <a:off x="9875215" y="1371600"/>
            <a:ext cx="1767840" cy="2759634"/>
          </a:xfrm>
          <a:prstGeom prst="rect">
            <a:avLst/>
          </a:prstGeom>
        </p:spPr>
      </p:pic>
      <p:sp>
        <p:nvSpPr>
          <p:cNvPr id="10" name="kotak kode"/>
          <p:cNvSpPr txBox="1"/>
          <p:nvPr/>
        </p:nvSpPr>
        <p:spPr>
          <a:xfrm>
            <a:off x="548640" y="1371600"/>
            <a:ext cx="4785055" cy="2907792"/>
          </a:xfrm>
          <a:prstGeom prst="roundRect">
            <a:avLst>
              <a:gd name="adj" fmla="val 3145"/>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_cekNama(</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isian)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String</a:t>
            </a:r>
            <a:r>
              <a:rPr lang="en-US" sz="1200" dirty="0">
                <a:solidFill>
                  <a:srgbClr val="E6EDF3"/>
                </a:solidFill>
                <a:latin typeface="Consolas" pitchFamily="34" charset="0"/>
                <a:ea typeface="Consolas" pitchFamily="34" charset="-122"/>
                <a:cs typeface="Consolas" pitchFamily="34" charset="-120"/>
              </a:rPr>
              <a:t> teks = isian?.trim() ?? </a:t>
            </a:r>
            <a:r>
              <a:rPr lang="en-US" sz="1200" dirty="0">
                <a:solidFill>
                  <a:srgbClr val="C3E88D"/>
                </a:solidFill>
                <a:latin typeface="Consolas" pitchFamily="34" charset="0"/>
                <a:ea typeface="Consolas" pitchFamily="34" charset="-122"/>
                <a:cs typeface="Consolas" pitchFamily="34" charset="-120"/>
              </a:rPr>
              <a:t>''</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(teks.isEmpty)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'Nama wajib diisi'</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(teks.length &lt; </a:t>
            </a:r>
            <a:r>
              <a:rPr lang="en-US" sz="1200" dirty="0">
                <a:solidFill>
                  <a:srgbClr val="F78C6C"/>
                </a:solidFill>
                <a:latin typeface="Consolas" pitchFamily="34" charset="0"/>
                <a:ea typeface="Consolas" pitchFamily="34" charset="-122"/>
                <a:cs typeface="Consolas" pitchFamily="34" charset="-120"/>
              </a:rPr>
              <a:t>3</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3E88D"/>
                </a:solidFill>
                <a:latin typeface="Consolas" pitchFamily="34" charset="0"/>
                <a:ea typeface="Consolas" pitchFamily="34" charset="-122"/>
                <a:cs typeface="Consolas" pitchFamily="34" charset="-120"/>
              </a:rPr>
              <a:t>'Minimal 3 huruf'</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null</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null = BENAR</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void</a:t>
            </a:r>
            <a:r>
              <a:rPr lang="en-US" sz="1200" dirty="0">
                <a:solidFill>
                  <a:srgbClr val="E6EDF3"/>
                </a:solidFill>
                <a:latin typeface="Consolas" pitchFamily="34" charset="0"/>
                <a:ea typeface="Consolas" pitchFamily="34" charset="-122"/>
                <a:cs typeface="Consolas" pitchFamily="34" charset="-120"/>
              </a:rPr>
              <a:t> _daftar()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(!_kunciForm.currentState!.validate())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simpan, SnackBar, lalu reset()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p:txBody>
      </p:sp>
      <p:sp>
        <p:nvSpPr>
          <p:cNvPr id="11" name="tombol tautan">
            <a:hlinkClick r:id="rId4" tooltip="https://github.com/antonprafanto/mobile2026/blob/main/pertemuan_05_interaksi_dan_state/kode/contoh_08_form_validasi.dart"/>
          </p:cNvPr>
          <p:cNvSpPr txBox="1"/>
          <p:nvPr/>
        </p:nvSpPr>
        <p:spPr>
          <a:xfrm>
            <a:off x="548640" y="4462272"/>
            <a:ext cx="478505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contoh_08_form_validasi.dart</a:t>
            </a:r>
            <a:endParaRPr lang="en-US" sz="1300" dirty="0"/>
          </a:p>
        </p:txBody>
      </p:sp>
      <p:pic>
        <p:nvPicPr>
          <p:cNvPr id="12" name="Image 3" descr="ikon tautan">
            <a:hlinkClick r:id="rId6" tooltip="https://github.com/antonprafanto/mobile2026/blob/main/pertemuan_05_interaksi_dan_state/kode/contoh_08_form_validasi.dart"/>
          </p:cNvPr>
          <p:cNvPicPr>
            <a:picLocks noChangeAspect="1"/>
          </p:cNvPicPr>
          <p:nvPr/>
        </p:nvPicPr>
        <p:blipFill>
          <a:blip r:embed="rId5"/>
          <a:stretch>
            <a:fillRect/>
          </a:stretch>
        </p:blipFill>
        <p:spPr>
          <a:xfrm>
            <a:off x="694944" y="4553712"/>
            <a:ext cx="274320" cy="274320"/>
          </a:xfrm>
          <a:prstGeom prst="rect">
            <a:avLst/>
          </a:prstGeom>
        </p:spPr>
      </p:pic>
      <p:sp>
        <p:nvSpPr>
          <p:cNvPr id="13" name="daftar poin"/>
          <p:cNvSpPr txBox="1"/>
          <p:nvPr/>
        </p:nvSpPr>
        <p:spPr>
          <a:xfrm>
            <a:off x="548640" y="5193792"/>
            <a:ext cx="4785055" cy="1024128"/>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Form + GlobalKey&lt;FormState&gt; + TextFormField.</a:t>
            </a:r>
            <a:endParaRPr lang="en-US" sz="1500" dirty="0"/>
          </a:p>
          <a:p>
            <a:pPr marL="228600" indent="-228600">
              <a:spcAft>
                <a:spcPts val="800"/>
              </a:spcAft>
              <a:buSzPct val="100000"/>
              <a:buChar char="•"/>
            </a:pPr>
            <a:r>
              <a:rPr lang="en-US" sz="1500" dirty="0">
                <a:solidFill>
                  <a:schemeClr val="tx1"/>
                </a:solidFill>
              </a:rPr>
              <a:t>validate() memeriksa semua; reset() mengosongkan.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Kapan Pesan Error Muncul?</a:t>
            </a:r>
            <a:endParaRPr lang="en-US" sz="3200" dirty="0"/>
          </a:p>
        </p:txBody>
      </p:sp>
      <p:sp>
        <p:nvSpPr>
          <p:cNvPr id="4" name="bingkai layar 1"/>
          <p:cNvSpPr/>
          <p:nvPr/>
        </p:nvSpPr>
        <p:spPr>
          <a:xfrm>
            <a:off x="8571471" y="1316736"/>
            <a:ext cx="3126448" cy="4818888"/>
          </a:xfrm>
          <a:prstGeom prst="roundRect">
            <a:avLst>
              <a:gd name="adj" fmla="val 2925"/>
            </a:avLst>
          </a:prstGeom>
          <a:solidFill>
            <a:srgbClr val="FFFFFF"/>
          </a:solidFill>
          <a:ln w="12700">
            <a:solidFill>
              <a:srgbClr val="C9D3E0"/>
            </a:solidFill>
            <a:prstDash val="solid"/>
          </a:ln>
        </p:spPr>
      </p:sp>
      <p:pic>
        <p:nvPicPr>
          <p:cNvPr id="5" name="layar 1" descr="Tangkapan layar aplikasi (hasil_contoh_08_masalah.jpg)">    </p:cNvPr>
          <p:cNvPicPr>
            <a:picLocks noChangeAspect="1"/>
          </p:cNvPicPr>
          <p:nvPr/>
        </p:nvPicPr>
        <p:blipFill>
          <a:blip r:embed="rId1"/>
          <a:stretch>
            <a:fillRect/>
          </a:stretch>
        </p:blipFill>
        <p:spPr>
          <a:xfrm>
            <a:off x="8626335" y="1371600"/>
            <a:ext cx="3016720" cy="4709160"/>
          </a:xfrm>
          <a:prstGeom prst="rect">
            <a:avLst/>
          </a:prstGeom>
        </p:spPr>
      </p:pic>
      <p:sp>
        <p:nvSpPr>
          <p:cNvPr id="6" name="kotak kode"/>
          <p:cNvSpPr txBox="1"/>
          <p:nvPr/>
        </p:nvSpPr>
        <p:spPr>
          <a:xfrm>
            <a:off x="548640" y="1371600"/>
            <a:ext cx="7620495" cy="1755648"/>
          </a:xfrm>
          <a:prstGeom prst="roundRect">
            <a:avLst>
              <a:gd name="adj" fmla="val 5208"/>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Form</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key: _kunciForm,</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autovalidateMode:</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AutovalidateMode</a:t>
            </a:r>
            <a:r>
              <a:rPr lang="en-US" sz="1400" dirty="0">
                <a:solidFill>
                  <a:srgbClr val="E6EDF3"/>
                </a:solidFill>
                <a:latin typeface="Consolas" pitchFamily="34" charset="0"/>
                <a:ea typeface="Consolas" pitchFamily="34" charset="-122"/>
                <a:cs typeface="Consolas" pitchFamily="34" charset="-120"/>
              </a:rPr>
              <a:t>.onUserInteractionIfError,</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child: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7" name="daftar poin"/>
          <p:cNvSpPr txBox="1"/>
          <p:nvPr/>
        </p:nvSpPr>
        <p:spPr>
          <a:xfrm>
            <a:off x="548640" y="3355848"/>
            <a:ext cx="7620495" cy="2862072"/>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latin typeface="Consolas" pitchFamily="34" charset="0"/>
                <a:ea typeface="Consolas" pitchFamily="34" charset="-122"/>
                <a:cs typeface="Consolas" pitchFamily="34" charset="-120"/>
              </a:rPr>
              <a:t>disabled</a:t>
            </a:r>
            <a:r>
              <a:rPr lang="en-US" sz="1600" dirty="0">
                <a:solidFill>
                  <a:schemeClr val="tx1"/>
                </a:solidFill>
              </a:rPr>
              <a:t> (bawaan): hanya saat validate().</a:t>
            </a:r>
            <a:endParaRPr lang="en-US" sz="1600" dirty="0"/>
          </a:p>
          <a:p>
            <a:pPr marL="228600" indent="-228600">
              <a:spcAft>
                <a:spcPts val="800"/>
              </a:spcAft>
              <a:buSzPct val="100000"/>
              <a:buChar char="•"/>
            </a:pPr>
            <a:r>
              <a:rPr lang="en-US" sz="1600" dirty="0">
                <a:solidFill>
                  <a:schemeClr val="tx1"/>
                </a:solidFill>
                <a:latin typeface="Consolas" pitchFamily="34" charset="0"/>
                <a:ea typeface="Consolas" pitchFamily="34" charset="-122"/>
                <a:cs typeface="Consolas" pitchFamily="34" charset="-120"/>
              </a:rPr>
              <a:t>onUserInteraction</a:t>
            </a:r>
            <a:r>
              <a:rPr lang="en-US" sz="1600" dirty="0">
                <a:solidFill>
                  <a:schemeClr val="tx1"/>
                </a:solidFill>
              </a:rPr>
              <a:t> pada Form: satu huruf diketik, SEMUA kolom langsung merah (gambar).</a:t>
            </a:r>
            <a:endParaRPr lang="en-US" sz="1600" dirty="0"/>
          </a:p>
          <a:p>
            <a:pPr marL="228600" indent="-228600">
              <a:spcAft>
                <a:spcPts val="800"/>
              </a:spcAft>
              <a:buSzPct val="100000"/>
              <a:buChar char="•"/>
            </a:pPr>
            <a:r>
              <a:rPr lang="en-US" sz="1600" dirty="0">
                <a:solidFill>
                  <a:schemeClr val="tx1"/>
                </a:solidFill>
                <a:latin typeface="Consolas" pitchFamily="34" charset="0"/>
                <a:ea typeface="Consolas" pitchFamily="34" charset="-122"/>
                <a:cs typeface="Consolas" pitchFamily="34" charset="-120"/>
              </a:rPr>
              <a:t>onUserInteractionIfError</a:t>
            </a:r>
            <a:r>
              <a:rPr lang="en-US" sz="1600" dirty="0">
                <a:solidFill>
                  <a:schemeClr val="tx1"/>
                </a:solidFill>
              </a:rPr>
              <a:t>: error baru muncul setelah tombol Daftar ditekan, lalu hilang begitu kolomnya diperbaiki.</a:t>
            </a:r>
            <a:endParaRPr lang="en-US" sz="1600" dirty="0"/>
          </a:p>
          <a:p>
            <a:pPr marL="228600" indent="-228600">
              <a:spcAft>
                <a:spcPts val="800"/>
              </a:spcAft>
              <a:buSzPct val="100000"/>
              <a:buChar char="•"/>
            </a:pPr>
            <a:r>
              <a:rPr lang="en-US" sz="1600" dirty="0">
                <a:solidFill>
                  <a:schemeClr val="tx1"/>
                </a:solidFill>
              </a:rPr>
              <a:t>Validasi di aplikasi membantu pengguna; server tetap harus memeriksa ulang.</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Dialog dan Bottom Sheet</a:t>
            </a:r>
            <a:endParaRPr lang="en-US" sz="3200" dirty="0"/>
          </a:p>
        </p:txBody>
      </p:sp>
      <p:sp>
        <p:nvSpPr>
          <p:cNvPr id="4" name="bingkai layar 1"/>
          <p:cNvSpPr/>
          <p:nvPr/>
        </p:nvSpPr>
        <p:spPr>
          <a:xfrm>
            <a:off x="6101791" y="1316736"/>
            <a:ext cx="2715768" cy="4177809"/>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09c.jpg)">    </p:cNvPr>
          <p:cNvPicPr>
            <a:picLocks noChangeAspect="1"/>
          </p:cNvPicPr>
          <p:nvPr/>
        </p:nvPicPr>
        <p:blipFill>
          <a:blip r:embed="rId1"/>
          <a:stretch>
            <a:fillRect/>
          </a:stretch>
        </p:blipFill>
        <p:spPr>
          <a:xfrm>
            <a:off x="6156655" y="1371600"/>
            <a:ext cx="2606040" cy="4068081"/>
          </a:xfrm>
          <a:prstGeom prst="rect">
            <a:avLst/>
          </a:prstGeom>
        </p:spPr>
      </p:pic>
      <p:sp>
        <p:nvSpPr>
          <p:cNvPr id="6" name="bingkai layar 2"/>
          <p:cNvSpPr/>
          <p:nvPr/>
        </p:nvSpPr>
        <p:spPr>
          <a:xfrm>
            <a:off x="8982151" y="1316736"/>
            <a:ext cx="2715768" cy="4177809"/>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09b.jpg)">    </p:cNvPr>
          <p:cNvPicPr>
            <a:picLocks noChangeAspect="1"/>
          </p:cNvPicPr>
          <p:nvPr/>
        </p:nvPicPr>
        <p:blipFill>
          <a:blip r:embed="rId2"/>
          <a:stretch>
            <a:fillRect/>
          </a:stretch>
        </p:blipFill>
        <p:spPr>
          <a:xfrm>
            <a:off x="9037015" y="1371600"/>
            <a:ext cx="2606040" cy="4068081"/>
          </a:xfrm>
          <a:prstGeom prst="rect">
            <a:avLst/>
          </a:prstGeom>
        </p:spPr>
      </p:pic>
      <p:sp>
        <p:nvSpPr>
          <p:cNvPr id="8" name="kotak kode"/>
          <p:cNvSpPr txBox="1"/>
          <p:nvPr/>
        </p:nvSpPr>
        <p:spPr>
          <a:xfrm>
            <a:off x="548640" y="1371600"/>
            <a:ext cx="5150815" cy="2523744"/>
          </a:xfrm>
          <a:prstGeom prst="roundRect">
            <a:avLst>
              <a:gd name="adj" fmla="val 3623"/>
            </a:avLst>
          </a:prstGeom>
          <a:solidFill>
            <a:srgbClr val="0E1A2B"/>
          </a:solidFill>
          <a:ln/>
        </p:spPr>
        <p:txBody>
          <a:bodyPr wrap="square" lIns="177800" tIns="152400" rIns="152400" bIns="177800" rtlCol="0" anchor="t"/>
          <a:lstStyle/>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final</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 yakin = </a:t>
            </a:r>
            <a:r>
              <a:rPr lang="en-US" sz="1200" dirty="0">
                <a:solidFill>
                  <a:srgbClr val="C792EA"/>
                </a:solidFill>
                <a:latin typeface="Consolas" pitchFamily="34" charset="0"/>
                <a:ea typeface="Consolas" pitchFamily="34" charset="-122"/>
                <a:cs typeface="Consolas" pitchFamily="34" charset="-120"/>
              </a:rPr>
              <a:t>await</a:t>
            </a:r>
            <a:r>
              <a:rPr lang="en-US" sz="1200" dirty="0">
                <a:solidFill>
                  <a:srgbClr val="E6EDF3"/>
                </a:solidFill>
                <a:latin typeface="Consolas" pitchFamily="34" charset="0"/>
                <a:ea typeface="Consolas" pitchFamily="34" charset="-122"/>
                <a:cs typeface="Consolas" pitchFamily="34" charset="-120"/>
              </a:rPr>
              <a:t> showDialog&lt;</a:t>
            </a:r>
            <a:r>
              <a:rPr lang="en-US" sz="1200" dirty="0">
                <a:solidFill>
                  <a:srgbClr val="FFCB6B"/>
                </a:solidFill>
                <a:latin typeface="Consolas" pitchFamily="34" charset="0"/>
                <a:ea typeface="Consolas" pitchFamily="34" charset="-122"/>
                <a:cs typeface="Consolas" pitchFamily="34" charset="-120"/>
              </a:rPr>
              <a:t>bool</a:t>
            </a:r>
            <a:r>
              <a:rPr lang="en-US" sz="1200" dirty="0">
                <a:solidFill>
                  <a:srgbClr val="E6EDF3"/>
                </a:solidFill>
                <a:latin typeface="Consolas" pitchFamily="34" charset="0"/>
                <a:ea typeface="Consolas" pitchFamily="34" charset="-122"/>
                <a:cs typeface="Consolas" pitchFamily="34" charset="-120"/>
              </a:rPr>
              <a:t>&gt;(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context: context,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builder: (</a:t>
            </a:r>
            <a:r>
              <a:rPr lang="en-US" sz="1200" dirty="0">
                <a:solidFill>
                  <a:srgbClr val="FFCB6B"/>
                </a:solidFill>
                <a:latin typeface="Consolas" pitchFamily="34" charset="0"/>
                <a:ea typeface="Consolas" pitchFamily="34" charset="-122"/>
                <a:cs typeface="Consolas" pitchFamily="34" charset="-120"/>
              </a:rPr>
              <a:t>BuildContext</a:t>
            </a:r>
            <a:r>
              <a:rPr lang="en-US" sz="1200" dirty="0">
                <a:solidFill>
                  <a:srgbClr val="E6EDF3"/>
                </a:solidFill>
                <a:latin typeface="Consolas" pitchFamily="34" charset="0"/>
                <a:ea typeface="Consolas" pitchFamily="34" charset="-122"/>
                <a:cs typeface="Consolas" pitchFamily="34" charset="-120"/>
              </a:rPr>
              <a:t> context)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Batal → Navigator.pop(context, false)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Hapus → Navigator.pop(context, true)</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FFCB6B"/>
                </a:solidFill>
                <a:latin typeface="Consolas" pitchFamily="34" charset="0"/>
                <a:ea typeface="Consolas" pitchFamily="34" charset="-122"/>
                <a:cs typeface="Consolas" pitchFamily="34" charset="-120"/>
              </a:rPr>
              <a:t>AlertDialog</a:t>
            </a: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  },</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(!mounted)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halaman masih ada?</a:t>
            </a:r>
            <a:endParaRPr lang="en-US" sz="1200" dirty="0"/>
          </a:p>
          <a:p>
            <a:pPr indent="0" marL="0">
              <a:lnSpc>
                <a:spcPct val="105000"/>
              </a:lnSpc>
              <a:buNone/>
            </a:pPr>
            <a:r>
              <a:rPr lang="en-US" sz="1200" dirty="0">
                <a:solidFill>
                  <a:srgbClr val="C792EA"/>
                </a:solidFill>
                <a:latin typeface="Consolas" pitchFamily="34" charset="0"/>
                <a:ea typeface="Consolas" pitchFamily="34" charset="-122"/>
                <a:cs typeface="Consolas" pitchFamily="34" charset="-120"/>
              </a:rPr>
              <a:t>if</a:t>
            </a:r>
            <a:r>
              <a:rPr lang="en-US" sz="1200" dirty="0">
                <a:solidFill>
                  <a:srgbClr val="E6EDF3"/>
                </a:solidFill>
                <a:latin typeface="Consolas" pitchFamily="34" charset="0"/>
                <a:ea typeface="Consolas" pitchFamily="34" charset="-122"/>
                <a:cs typeface="Consolas" pitchFamily="34" charset="-120"/>
              </a:rPr>
              <a:t> (yakin != </a:t>
            </a:r>
            <a:r>
              <a:rPr lang="en-US" sz="1200" dirty="0">
                <a:solidFill>
                  <a:srgbClr val="C792EA"/>
                </a:solidFill>
                <a:latin typeface="Consolas" pitchFamily="34" charset="0"/>
                <a:ea typeface="Consolas" pitchFamily="34" charset="-122"/>
                <a:cs typeface="Consolas" pitchFamily="34" charset="-120"/>
              </a:rPr>
              <a:t>true</a:t>
            </a:r>
            <a:r>
              <a:rPr lang="en-US" sz="1200" dirty="0">
                <a:solidFill>
                  <a:srgbClr val="E6EDF3"/>
                </a:solidFill>
                <a:latin typeface="Consolas" pitchFamily="34" charset="0"/>
                <a:ea typeface="Consolas" pitchFamily="34" charset="-122"/>
                <a:cs typeface="Consolas" pitchFamily="34" charset="-120"/>
              </a:rPr>
              <a:t>) </a:t>
            </a:r>
            <a:r>
              <a:rPr lang="en-US" sz="1200" dirty="0">
                <a:solidFill>
                  <a:srgbClr val="C792EA"/>
                </a:solidFill>
                <a:latin typeface="Consolas" pitchFamily="34" charset="0"/>
                <a:ea typeface="Consolas" pitchFamily="34" charset="-122"/>
                <a:cs typeface="Consolas" pitchFamily="34" charset="-120"/>
              </a:rPr>
              <a:t>return</a:t>
            </a:r>
            <a:r>
              <a:rPr lang="en-US" sz="1200" dirty="0">
                <a:solidFill>
                  <a:srgbClr val="E6EDF3"/>
                </a:solidFill>
                <a:latin typeface="Consolas" pitchFamily="34" charset="0"/>
                <a:ea typeface="Consolas" pitchFamily="34" charset="-122"/>
                <a:cs typeface="Consolas" pitchFamily="34" charset="-120"/>
              </a:rPr>
              <a:t>; </a:t>
            </a:r>
            <a:r>
              <a:rPr lang="en-US" sz="1200" i="1" dirty="0">
                <a:solidFill>
                  <a:srgbClr val="8FA3BC"/>
                </a:solidFill>
                <a:latin typeface="Consolas" pitchFamily="34" charset="0"/>
                <a:ea typeface="Consolas" pitchFamily="34" charset="-122"/>
                <a:cs typeface="Consolas" pitchFamily="34" charset="-120"/>
              </a:rPr>
              <a:t>// false atau null</a:t>
            </a:r>
            <a:endParaRPr lang="en-US" sz="1200" dirty="0"/>
          </a:p>
          <a:p>
            <a:pPr indent="0" marL="0">
              <a:lnSpc>
                <a:spcPct val="105000"/>
              </a:lnSpc>
              <a:buNone/>
            </a:pPr>
            <a:r>
              <a:rPr lang="en-US" sz="1200" dirty="0">
                <a:solidFill>
                  <a:srgbClr val="E6EDF3"/>
                </a:solidFill>
                <a:latin typeface="Consolas" pitchFamily="34" charset="0"/>
                <a:ea typeface="Consolas" pitchFamily="34" charset="-122"/>
                <a:cs typeface="Consolas" pitchFamily="34" charset="-120"/>
              </a:rPr>
              <a:t>setState(() { _daftar.remove(tugas); });</a:t>
            </a:r>
            <a:endParaRPr lang="en-US" sz="1200" dirty="0"/>
          </a:p>
        </p:txBody>
      </p:sp>
      <p:sp>
        <p:nvSpPr>
          <p:cNvPr id="9" name="tombol tautan">
            <a:hlinkClick r:id="rId3" tooltip="https://github.com/antonprafanto/mobile2026/blob/main/pertemuan_05_interaksi_dan_state/kode/contoh_09_dialog_dan_bottom_sheet.dart"/>
          </p:cNvPr>
          <p:cNvSpPr txBox="1"/>
          <p:nvPr/>
        </p:nvSpPr>
        <p:spPr>
          <a:xfrm>
            <a:off x="548640" y="4078224"/>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contoh_09_dialog_dan_bottom_sheet.dart</a:t>
            </a:r>
            <a:endParaRPr lang="en-US" sz="1300" dirty="0"/>
          </a:p>
        </p:txBody>
      </p:sp>
      <p:pic>
        <p:nvPicPr>
          <p:cNvPr id="10" name="Image 2" descr="ikon tautan">
            <a:hlinkClick r:id="rId5" tooltip="https://github.com/antonprafanto/mobile2026/blob/main/pertemuan_05_interaksi_dan_state/kode/contoh_09_dialog_dan_bottom_sheet.dart"/>
          </p:cNvPr>
          <p:cNvPicPr>
            <a:picLocks noChangeAspect="1"/>
          </p:cNvPicPr>
          <p:nvPr/>
        </p:nvPicPr>
        <p:blipFill>
          <a:blip r:embed="rId4"/>
          <a:stretch>
            <a:fillRect/>
          </a:stretch>
        </p:blipFill>
        <p:spPr>
          <a:xfrm>
            <a:off x="694944" y="4169664"/>
            <a:ext cx="274320" cy="274320"/>
          </a:xfrm>
          <a:prstGeom prst="rect">
            <a:avLst/>
          </a:prstGeom>
        </p:spPr>
      </p:pic>
      <p:sp>
        <p:nvSpPr>
          <p:cNvPr id="11" name="daftar poin"/>
          <p:cNvSpPr txBox="1"/>
          <p:nvPr/>
        </p:nvSpPr>
        <p:spPr>
          <a:xfrm>
            <a:off x="548640" y="4809744"/>
            <a:ext cx="5150815" cy="1408176"/>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Hasil bool?: null jika area gelap diketuk.</a:t>
            </a:r>
            <a:endParaRPr lang="en-US" sz="1500" dirty="0"/>
          </a:p>
          <a:p>
            <a:pPr marL="228600" indent="-228600">
              <a:spcAft>
                <a:spcPts val="800"/>
              </a:spcAft>
              <a:buSzPct val="100000"/>
              <a:buChar char="•"/>
            </a:pPr>
            <a:r>
              <a:rPr lang="en-US" sz="1500" dirty="0">
                <a:solidFill>
                  <a:schemeClr val="tx1"/>
                </a:solidFill>
              </a:rPr>
              <a:t>await membuka celah waktu (async gap).</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Dialog, Bottom Sheet, atau SnackBar?</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486679"/>
                <a:gridCol w="3825660"/>
                <a:gridCol w="4782076"/>
              </a:tblGrid>
              <a:tr h="868680">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Komponen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Sifatnya</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700" b="1" dirty="0">
                          <a:solidFill>
                            <a:srgbClr val="FFFFFF"/>
                          </a:solidFill>
                          <a:latin typeface="Calibri" pitchFamily="34" charset="0"/>
                          <a:ea typeface="Calibri" pitchFamily="34" charset="-122"/>
                          <a:cs typeface="Calibri" pitchFamily="34" charset="-120"/>
                        </a:rPr>
                        <a:t>Cocok untuk</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86868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Dialog</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Menghentikan pengguna sampai ia menjawab</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Keputusan penting yang tidak bisa dibatalkan: hapus permanen, konfirmasi bayar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86868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Bottom sheet</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Muncul dari bawah, dekat jempol</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Pilihan tambahan: pilih prioritas, bagikan, urutkan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868680">
                <a:tc>
                  <a:txBody>
                    <a:bodyPr/>
                    <a:lstStyle/>
                    <a:p>
                      <a:pPr indent="0" marL="0">
                        <a:buNone/>
                      </a:pPr>
                      <a:r>
                        <a:rPr lang="en-US" sz="1700" b="1" dirty="0">
                          <a:solidFill>
                            <a:srgbClr val="1B2333"/>
                          </a:solidFill>
                          <a:latin typeface="Calibri" pitchFamily="34" charset="0"/>
                          <a:ea typeface="Calibri" pitchFamily="34" charset="-122"/>
                          <a:cs typeface="Calibri" pitchFamily="34" charset="-120"/>
                        </a:rPr>
                        <a:t>SnackBar</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Muncul sebentar, tidak menghentikan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700" dirty="0">
                          <a:solidFill>
                            <a:srgbClr val="1B2333"/>
                          </a:solidFill>
                          <a:latin typeface="Calibri" pitchFamily="34" charset="0"/>
                          <a:ea typeface="Calibri" pitchFamily="34" charset="-122"/>
                          <a:cs typeface="Calibri" pitchFamily="34" charset="-120"/>
                        </a:rPr>
                        <a:t>Kabar bahwa aksi sudah berhasil, termasuk tombol Batalkan</a:t>
                      </a:r>
                      <a:endParaRPr lang="en-US" sz="17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5" name="lingkaran lampu"/>
          <p:cNvSpPr/>
          <p:nvPr/>
        </p:nvSpPr>
        <p:spPr>
          <a:xfrm>
            <a:off x="548640" y="5486400"/>
            <a:ext cx="502920" cy="502920"/>
          </a:xfrm>
          <a:prstGeom prst="ellipse">
            <a:avLst/>
          </a:prstGeom>
          <a:solidFill>
            <a:schemeClr val="accent3"/>
          </a:solidFill>
          <a:ln/>
        </p:spPr>
      </p:sp>
      <p:pic>
        <p:nvPicPr>
          <p:cNvPr id="6" name="Image 0" descr="lampu">    </p:cNvPr>
          <p:cNvPicPr>
            <a:picLocks noChangeAspect="1"/>
          </p:cNvPicPr>
          <p:nvPr/>
        </p:nvPicPr>
        <p:blipFill>
          <a:blip r:embed="rId1"/>
          <a:stretch>
            <a:fillRect/>
          </a:stretch>
        </p:blipFill>
        <p:spPr>
          <a:xfrm>
            <a:off x="659282" y="5597042"/>
            <a:ext cx="281635" cy="281635"/>
          </a:xfrm>
          <a:prstGeom prst="rect">
            <a:avLst/>
          </a:prstGeom>
        </p:spPr>
      </p:pic>
      <p:sp>
        <p:nvSpPr>
          <p:cNvPr id="7" name="Text 2"/>
          <p:cNvSpPr txBox="1"/>
          <p:nvPr/>
        </p:nvSpPr>
        <p:spPr>
          <a:xfrm>
            <a:off x="1234440" y="5394960"/>
            <a:ext cx="10408615" cy="685800"/>
          </a:xfrm>
          <a:prstGeom prst="rect">
            <a:avLst/>
          </a:prstGeom>
          <a:noFill/>
          <a:ln/>
        </p:spPr>
        <p:txBody>
          <a:bodyPr wrap="square" lIns="0" tIns="0" rIns="0" bIns="0" rtlCol="0" anchor="ctr"/>
          <a:lstStyle/>
          <a:p>
            <a:pPr indent="0" marL="0">
              <a:buNone/>
            </a:pPr>
            <a:r>
              <a:rPr lang="en-US" sz="1600" dirty="0">
                <a:solidFill>
                  <a:schemeClr val="tx1"/>
                </a:solidFill>
              </a:rPr>
              <a:t>Jangan terlalu sering memakai dialog: pengguna jadi terbiasa menekan OK tanpa membaca.</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Text 1"/>
          <p:cNvSpPr/>
          <p:nvPr>
            <p:ph idx="101" type="body" hasCustomPrompt="1"/>
          </p:nvPr>
        </p:nvSpPr>
        <p:spPr>
          <a:xfrm>
            <a:off x="3840480" y="2103120"/>
            <a:ext cx="7680960" cy="457200"/>
          </a:xfrm>
          <a:prstGeom prst="rect">
            <a:avLst/>
          </a:prstGeom>
          <a:noFill/>
          <a:ln/>
        </p:spPr>
        <p:txBody>
          <a:bodyPr wrap="square" lIns="0" tIns="0" rIns="0" bIns="0" rtlCol="0"/>
          <a:lstStyle/>
          <a:p>
            <a:pPr indent="0" marL="0">
              <a:buNone/>
            </a:pPr>
            <a:r>
              <a:rPr lang="en-US" sz="1800" b="1" spc="200" kern="0" dirty="0">
                <a:solidFill>
                  <a:schemeClr val="accent2"/>
                </a:solidFill>
              </a:rPr>
              <a:t>BAGIAN 7</a:t>
            </a:r>
            <a:endParaRPr lang="en-US" sz="1800" dirty="0"/>
          </a:p>
        </p:txBody>
      </p:sp>
      <p:sp>
        <p:nvSpPr>
          <p:cNvPr id="4" name="Text 1"/>
          <p:cNvSpPr/>
          <p:nvPr>
            <p:ph idx="102" type="title" hasCustomPrompt="1"/>
          </p:nvPr>
        </p:nvSpPr>
        <p:spPr>
          <a:xfrm>
            <a:off x="3840480" y="2606040"/>
            <a:ext cx="7680960" cy="1737360"/>
          </a:xfrm>
          <a:prstGeom prst="rect">
            <a:avLst/>
          </a:prstGeom>
          <a:noFill/>
          <a:ln/>
        </p:spPr>
        <p:txBody>
          <a:bodyPr wrap="square" lIns="0" tIns="0" rIns="0" bIns="0" rtlCol="0" anchor="t"/>
          <a:lstStyle/>
          <a:p>
            <a:pPr algn="l" indent="0" marL="0">
              <a:buNone/>
            </a:pPr>
            <a:r>
              <a:rPr lang="en-US" sz="4000" b="1" dirty="0">
                <a:solidFill>
                  <a:schemeClr val="bg1"/>
                </a:solidFill>
              </a:rPr>
              <a:t>Mengangkat State dan Studi Kasus</a:t>
            </a:r>
            <a:endParaRPr lang="en-US" sz="4000" dirty="0"/>
          </a:p>
        </p:txBody>
      </p:sp>
      <p:sp>
        <p:nvSpPr>
          <p:cNvPr id="5" name="lingkaran angkat"/>
          <p:cNvSpPr/>
          <p:nvPr/>
        </p:nvSpPr>
        <p:spPr>
          <a:xfrm>
            <a:off x="1097280" y="2148840"/>
            <a:ext cx="2011680" cy="2011680"/>
          </a:xfrm>
          <a:prstGeom prst="ellipse">
            <a:avLst/>
          </a:prstGeom>
          <a:solidFill>
            <a:schemeClr val="accent1"/>
          </a:solidFill>
          <a:ln/>
        </p:spPr>
      </p:sp>
      <p:pic>
        <p:nvPicPr>
          <p:cNvPr id="6" name="Image 0" descr="angkat">    </p:cNvPr>
          <p:cNvPicPr>
            <a:picLocks noChangeAspect="1"/>
          </p:cNvPicPr>
          <p:nvPr/>
        </p:nvPicPr>
        <p:blipFill>
          <a:blip r:embed="rId1"/>
          <a:stretch>
            <a:fillRect/>
          </a:stretch>
        </p:blipFill>
        <p:spPr>
          <a:xfrm>
            <a:off x="1539850" y="2591410"/>
            <a:ext cx="1126541" cy="1126541"/>
          </a:xfrm>
          <a:prstGeom prst="rect">
            <a:avLst/>
          </a:prstGeom>
        </p:spPr>
      </p:pic>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D6E2F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Data Turun, Laporan Naik</a:t>
            </a:r>
            <a:endParaRPr lang="en-US" sz="3200" dirty="0"/>
          </a:p>
        </p:txBody>
      </p:sp>
      <p:sp>
        <p:nvSpPr>
          <p:cNvPr id="4" name="bingkai layar 1"/>
          <p:cNvSpPr/>
          <p:nvPr/>
        </p:nvSpPr>
        <p:spPr>
          <a:xfrm>
            <a:off x="8571471" y="1316736"/>
            <a:ext cx="3126448" cy="4818888"/>
          </a:xfrm>
          <a:prstGeom prst="roundRect">
            <a:avLst>
              <a:gd name="adj" fmla="val 2925"/>
            </a:avLst>
          </a:prstGeom>
          <a:solidFill>
            <a:srgbClr val="FFFFFF"/>
          </a:solidFill>
          <a:ln w="12700">
            <a:solidFill>
              <a:srgbClr val="C9D3E0"/>
            </a:solidFill>
            <a:prstDash val="solid"/>
          </a:ln>
        </p:spPr>
      </p:sp>
      <p:pic>
        <p:nvPicPr>
          <p:cNvPr id="5" name="layar 1" descr="Tangkapan layar aplikasi (hasil_contoh_10.jpg)">    </p:cNvPr>
          <p:cNvPicPr>
            <a:picLocks noChangeAspect="1"/>
          </p:cNvPicPr>
          <p:nvPr/>
        </p:nvPicPr>
        <p:blipFill>
          <a:blip r:embed="rId1"/>
          <a:stretch>
            <a:fillRect/>
          </a:stretch>
        </p:blipFill>
        <p:spPr>
          <a:xfrm>
            <a:off x="8626335" y="1371600"/>
            <a:ext cx="3016720" cy="4709160"/>
          </a:xfrm>
          <a:prstGeom prst="rect">
            <a:avLst/>
          </a:prstGeom>
        </p:spPr>
      </p:pic>
      <p:sp>
        <p:nvSpPr>
          <p:cNvPr id="6" name="kotak kode"/>
          <p:cNvSpPr txBox="1"/>
          <p:nvPr/>
        </p:nvSpPr>
        <p:spPr>
          <a:xfrm>
            <a:off x="548640" y="1371600"/>
            <a:ext cx="7620495" cy="3474720"/>
          </a:xfrm>
          <a:prstGeom prst="roundRect">
            <a:avLst>
              <a:gd name="adj" fmla="val 2632"/>
            </a:avLst>
          </a:prstGeom>
          <a:solidFill>
            <a:srgbClr val="0E1A2B"/>
          </a:solidFill>
          <a:ln/>
        </p:spPr>
        <p:txBody>
          <a:bodyPr wrap="square" lIns="177800" tIns="152400" rIns="152400" bIns="17780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class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KartuMenu</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extends</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StatelessWidget</a:t>
            </a: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i="1" dirty="0">
                <a:solidFill>
                  <a:srgbClr val="8FA3BC"/>
                </a:solidFill>
                <a:latin typeface="Consolas" pitchFamily="34" charset="0"/>
                <a:ea typeface="Consolas" pitchFamily="34" charset="-122"/>
                <a:cs typeface="Consolas" pitchFamily="34" charset="-120"/>
              </a:rPr>
              <a:t>// ... constructor</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Menu</a:t>
            </a:r>
            <a:r>
              <a:rPr lang="en-US" sz="1300" dirty="0">
                <a:solidFill>
                  <a:srgbClr val="E6EDF3"/>
                </a:solidFill>
                <a:latin typeface="Consolas" pitchFamily="34" charset="0"/>
                <a:ea typeface="Consolas" pitchFamily="34" charset="-122"/>
                <a:cs typeface="Consolas" pitchFamily="34" charset="-120"/>
              </a:rPr>
              <a:t> menu;</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int</a:t>
            </a:r>
            <a:r>
              <a:rPr lang="en-US" sz="1300" dirty="0">
                <a:solidFill>
                  <a:srgbClr val="E6EDF3"/>
                </a:solidFill>
                <a:latin typeface="Consolas" pitchFamily="34" charset="0"/>
                <a:ea typeface="Consolas" pitchFamily="34" charset="-122"/>
                <a:cs typeface="Consolas" pitchFamily="34" charset="-120"/>
              </a:rPr>
              <a:t> jumlah; </a:t>
            </a:r>
            <a:r>
              <a:rPr lang="en-US" sz="1300" i="1" dirty="0">
                <a:solidFill>
                  <a:srgbClr val="8FA3BC"/>
                </a:solidFill>
                <a:latin typeface="Consolas" pitchFamily="34" charset="0"/>
                <a:ea typeface="Consolas" pitchFamily="34" charset="-122"/>
                <a:cs typeface="Consolas" pitchFamily="34" charset="-120"/>
              </a:rPr>
              <a:t>// data TURUN</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VoidCallback</a:t>
            </a:r>
            <a:r>
              <a:rPr lang="en-US" sz="1300" dirty="0">
                <a:solidFill>
                  <a:srgbClr val="E6EDF3"/>
                </a:solidFill>
                <a:latin typeface="Consolas" pitchFamily="34" charset="0"/>
                <a:ea typeface="Consolas" pitchFamily="34" charset="-122"/>
                <a:cs typeface="Consolas" pitchFamily="34" charset="-120"/>
              </a:rPr>
              <a:t> onTambah; </a:t>
            </a:r>
            <a:r>
              <a:rPr lang="en-US" sz="1300" i="1" dirty="0">
                <a:solidFill>
                  <a:srgbClr val="8FA3BC"/>
                </a:solidFill>
                <a:latin typeface="Consolas" pitchFamily="34" charset="0"/>
                <a:ea typeface="Consolas" pitchFamily="34" charset="-122"/>
                <a:cs typeface="Consolas" pitchFamily="34" charset="-120"/>
              </a:rPr>
              <a:t>// laporan NAIK</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C792EA"/>
                </a:solidFill>
                <a:latin typeface="Consolas" pitchFamily="34" charset="0"/>
                <a:ea typeface="Consolas" pitchFamily="34" charset="-122"/>
                <a:cs typeface="Consolas" pitchFamily="34" charset="-120"/>
              </a:rPr>
              <a:t>final</a:t>
            </a:r>
            <a:r>
              <a:rPr lang="en-US" sz="1300" dirty="0">
                <a:solidFill>
                  <a:srgbClr val="E6EDF3"/>
                </a:solidFill>
                <a:latin typeface="Consolas" pitchFamily="34" charset="0"/>
                <a:ea typeface="Consolas" pitchFamily="34" charset="-122"/>
                <a:cs typeface="Consolas" pitchFamily="34" charset="-120"/>
              </a:rPr>
              <a:t> </a:t>
            </a:r>
            <a:r>
              <a:rPr lang="en-US" sz="1300" dirty="0">
                <a:solidFill>
                  <a:srgbClr val="FFCB6B"/>
                </a:solidFill>
                <a:latin typeface="Consolas" pitchFamily="34" charset="0"/>
                <a:ea typeface="Consolas" pitchFamily="34" charset="-122"/>
                <a:cs typeface="Consolas" pitchFamily="34" charset="-120"/>
              </a:rPr>
              <a:t>VoidCallback</a:t>
            </a:r>
            <a:r>
              <a:rPr lang="en-US" sz="1300" dirty="0">
                <a:solidFill>
                  <a:srgbClr val="E6EDF3"/>
                </a:solidFill>
                <a:latin typeface="Consolas" pitchFamily="34" charset="0"/>
                <a:ea typeface="Consolas" pitchFamily="34" charset="-122"/>
                <a:cs typeface="Consolas" pitchFamily="34" charset="-120"/>
              </a:rPr>
              <a:t> onKurang;</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i="1" dirty="0">
                <a:solidFill>
                  <a:srgbClr val="8FA3BC"/>
                </a:solidFill>
                <a:latin typeface="Consolas" pitchFamily="34" charset="0"/>
                <a:ea typeface="Consolas" pitchFamily="34" charset="-122"/>
                <a:cs typeface="Consolas" pitchFamily="34" charset="-120"/>
              </a:rPr>
              <a:t>// di halaman induk (pemilik state):</a:t>
            </a:r>
            <a:endParaRPr lang="en-US" sz="1300" dirty="0"/>
          </a:p>
          <a:p>
            <a:pPr indent="0" marL="0">
              <a:lnSpc>
                <a:spcPct val="105000"/>
              </a:lnSpc>
              <a:buNone/>
            </a:pPr>
            <a:r>
              <a:rPr lang="en-US" sz="1300" dirty="0">
                <a:solidFill>
                  <a:srgbClr val="FFCB6B"/>
                </a:solidFill>
                <a:latin typeface="Consolas" pitchFamily="34" charset="0"/>
                <a:ea typeface="Consolas" pitchFamily="34" charset="-122"/>
                <a:cs typeface="Consolas" pitchFamily="34" charset="-120"/>
              </a:rPr>
              <a:t>KartuMenu</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menu: daftarMenu[i],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jumlah: _jumlah[i],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onTambah: () =&gt; _ubahJumlah(i,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onKurang: () =&gt; _ubahJumlah(i, -</a:t>
            </a:r>
            <a:r>
              <a:rPr lang="en-US" sz="1300" dirty="0">
                <a:solidFill>
                  <a:srgbClr val="F78C6C"/>
                </a:solidFill>
                <a:latin typeface="Consolas" pitchFamily="34" charset="0"/>
                <a:ea typeface="Consolas" pitchFamily="34" charset="-122"/>
                <a:cs typeface="Consolas" pitchFamily="34" charset="-120"/>
              </a:rPr>
              <a:t>1</a:t>
            </a: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p:txBody>
      </p:sp>
      <p:sp>
        <p:nvSpPr>
          <p:cNvPr id="7" name="tombol tautan">
            <a:hlinkClick r:id="rId2" tooltip="https://github.com/antonprafanto/mobile2026/blob/main/pertemuan_05_interaksi_dan_state/kode/contoh_10_mengangkat_state.dart"/>
          </p:cNvPr>
          <p:cNvSpPr txBox="1"/>
          <p:nvPr/>
        </p:nvSpPr>
        <p:spPr>
          <a:xfrm>
            <a:off x="548640" y="5029200"/>
            <a:ext cx="762049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Buka kode lengkap di GitHub  ·  contoh_10_mengangkat_state.dart</a:t>
            </a:r>
            <a:endParaRPr lang="en-US" sz="1300" dirty="0"/>
          </a:p>
        </p:txBody>
      </p:sp>
      <p:pic>
        <p:nvPicPr>
          <p:cNvPr id="8" name="Image 1" descr="ikon tautan">
            <a:hlinkClick r:id="rId4" tooltip="https://github.com/antonprafanto/mobile2026/blob/main/pertemuan_05_interaksi_dan_state/kode/contoh_10_mengangkat_state.dart"/>
          </p:cNvPr>
          <p:cNvPicPr>
            <a:picLocks noChangeAspect="1"/>
          </p:cNvPicPr>
          <p:nvPr/>
        </p:nvPicPr>
        <p:blipFill>
          <a:blip r:embed="rId3"/>
          <a:stretch>
            <a:fillRect/>
          </a:stretch>
        </p:blipFill>
        <p:spPr>
          <a:xfrm>
            <a:off x="694944" y="5120640"/>
            <a:ext cx="274320" cy="274320"/>
          </a:xfrm>
          <a:prstGeom prst="rect">
            <a:avLst/>
          </a:prstGeom>
        </p:spPr>
      </p:pic>
      <p:sp>
        <p:nvSpPr>
          <p:cNvPr id="9" name="daftar poin"/>
          <p:cNvSpPr txBox="1"/>
          <p:nvPr/>
        </p:nvSpPr>
        <p:spPr>
          <a:xfrm>
            <a:off x="548640" y="5760720"/>
            <a:ext cx="7620495" cy="4572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Jika setiap kartu menyimpan jumlahnya sendiri, halaman tidak bisa menghitung total.</a:t>
            </a:r>
            <a:endParaRPr lang="en-US" sz="1500" dirty="0"/>
          </a:p>
          <a:p>
            <a:pPr marL="228600" indent="-228600">
              <a:spcAft>
                <a:spcPts val="800"/>
              </a:spcAft>
              <a:buSzPct val="100000"/>
              <a:buChar char="•"/>
            </a:pPr>
            <a:r>
              <a:rPr lang="en-US" sz="1500" dirty="0">
                <a:solidFill>
                  <a:schemeClr val="tx1"/>
                </a:solidFill>
              </a:rPr>
              <a:t>VoidCallback = void Function(), sama seperti onPressed.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Total sebagai Nilai Turunan</a:t>
            </a:r>
            <a:endParaRPr lang="en-US" sz="3200" dirty="0"/>
          </a:p>
        </p:txBody>
      </p:sp>
      <p:sp>
        <p:nvSpPr>
          <p:cNvPr id="4" name="kotak kode"/>
          <p:cNvSpPr txBox="1"/>
          <p:nvPr/>
        </p:nvSpPr>
        <p:spPr>
          <a:xfrm>
            <a:off x="548640" y="1371600"/>
            <a:ext cx="6766560" cy="3323844"/>
          </a:xfrm>
          <a:prstGeom prst="roundRect">
            <a:avLst>
              <a:gd name="adj" fmla="val 2751"/>
            </a:avLst>
          </a:prstGeom>
          <a:solidFill>
            <a:srgbClr val="0E1A2B"/>
          </a:solidFill>
          <a:ln/>
        </p:spPr>
        <p:txBody>
          <a:bodyPr wrap="square" lIns="177800" tIns="152400" rIns="152400" bIns="177800" rtlCol="0" anchor="t"/>
          <a:lstStyle/>
          <a:p>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final</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List</a:t>
            </a:r>
            <a:r>
              <a:rPr lang="en-US" sz="1400" dirty="0">
                <a:solidFill>
                  <a:srgbClr val="E6EDF3"/>
                </a:solidFill>
                <a:latin typeface="Consolas" pitchFamily="34" charset="0"/>
                <a:ea typeface="Consolas" pitchFamily="34" charset="-122"/>
                <a:cs typeface="Consolas" pitchFamily="34" charset="-120"/>
              </a:rPr>
              <a:t>&lt;</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&gt; _jumlah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List</a:t>
            </a:r>
            <a:r>
              <a:rPr lang="en-US" sz="1400" dirty="0">
                <a:solidFill>
                  <a:srgbClr val="E6EDF3"/>
                </a:solidFill>
                <a:latin typeface="Consolas" pitchFamily="34" charset="0"/>
                <a:ea typeface="Consolas" pitchFamily="34" charset="-122"/>
                <a:cs typeface="Consolas" pitchFamily="34" charset="-120"/>
              </a:rPr>
              <a:t>&lt;</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&gt;.filled(daftarMenu.length,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get</a:t>
            </a:r>
            <a:r>
              <a:rPr lang="en-US" sz="1400" dirty="0">
                <a:solidFill>
                  <a:srgbClr val="E6EDF3"/>
                </a:solidFill>
                <a:latin typeface="Consolas" pitchFamily="34" charset="0"/>
                <a:ea typeface="Consolas" pitchFamily="34" charset="-122"/>
                <a:cs typeface="Consolas" pitchFamily="34" charset="-120"/>
              </a:rPr>
              <a:t> _totalHarga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hasil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for</a:t>
            </a: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FFCB6B"/>
                </a:solidFill>
                <a:latin typeface="Consolas" pitchFamily="34" charset="0"/>
                <a:ea typeface="Consolas" pitchFamily="34" charset="-122"/>
                <a:cs typeface="Consolas" pitchFamily="34" charset="-120"/>
              </a:rPr>
              <a:t>int</a:t>
            </a:r>
            <a:r>
              <a:rPr lang="en-US" sz="1400" dirty="0">
                <a:solidFill>
                  <a:srgbClr val="E6EDF3"/>
                </a:solidFill>
                <a:latin typeface="Consolas" pitchFamily="34" charset="0"/>
                <a:ea typeface="Consolas" pitchFamily="34" charset="-122"/>
                <a:cs typeface="Consolas" pitchFamily="34" charset="-120"/>
              </a:rPr>
              <a:t> i =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 i &lt; daftarMenu.length; i++)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hasil += daftarMenu[i].harga * _jumlah[i];</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r>
              <a:rPr lang="en-US" sz="1400" dirty="0">
                <a:solidFill>
                  <a:srgbClr val="C792EA"/>
                </a:solidFill>
                <a:latin typeface="Consolas" pitchFamily="34" charset="0"/>
                <a:ea typeface="Consolas" pitchFamily="34" charset="-122"/>
                <a:cs typeface="Consolas" pitchFamily="34" charset="-120"/>
              </a:rPr>
              <a:t>return</a:t>
            </a:r>
            <a:r>
              <a:rPr lang="en-US" sz="1400" dirty="0">
                <a:solidFill>
                  <a:srgbClr val="E6EDF3"/>
                </a:solidFill>
                <a:latin typeface="Consolas" pitchFamily="34" charset="0"/>
                <a:ea typeface="Consolas" pitchFamily="34" charset="-122"/>
                <a:cs typeface="Consolas" pitchFamily="34" charset="-120"/>
              </a:rPr>
              <a:t> hasil;</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i="1" dirty="0">
                <a:solidFill>
                  <a:srgbClr val="8FA3BC"/>
                </a:solidFill>
                <a:latin typeface="Consolas" pitchFamily="34" charset="0"/>
                <a:ea typeface="Consolas" pitchFamily="34" charset="-122"/>
                <a:cs typeface="Consolas" pitchFamily="34" charset="-120"/>
              </a:rPr>
              <a:t>// Tombol Bayar ikut memakai nilai turunan:</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onPressed: _totalPorsi &gt; </a:t>
            </a:r>
            <a:r>
              <a:rPr lang="en-US" sz="1400" dirty="0">
                <a:solidFill>
                  <a:srgbClr val="F78C6C"/>
                </a:solidFill>
                <a:latin typeface="Consolas" pitchFamily="34" charset="0"/>
                <a:ea typeface="Consolas" pitchFamily="34" charset="-122"/>
                <a:cs typeface="Consolas" pitchFamily="34" charset="-120"/>
              </a:rPr>
              <a:t>0</a:t>
            </a:r>
            <a:r>
              <a:rPr lang="en-US" sz="1400" dirty="0">
                <a:solidFill>
                  <a:srgbClr val="E6EDF3"/>
                </a:solidFill>
                <a:latin typeface="Consolas" pitchFamily="34" charset="0"/>
                <a:ea typeface="Consolas" pitchFamily="34" charset="-122"/>
                <a:cs typeface="Consolas" pitchFamily="34" charset="-120"/>
              </a:rPr>
              <a:t> ? _bayar : </a:t>
            </a:r>
            <a:r>
              <a:rPr lang="en-US" sz="1400" dirty="0">
                <a:solidFill>
                  <a:srgbClr val="C792EA"/>
                </a:solidFill>
                <a:latin typeface="Consolas" pitchFamily="34" charset="0"/>
                <a:ea typeface="Consolas" pitchFamily="34" charset="-122"/>
                <a:cs typeface="Consolas" pitchFamily="34" charset="-120"/>
              </a:rPr>
              <a:t>null</a:t>
            </a: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5" name="daftar poin"/>
          <p:cNvSpPr txBox="1"/>
          <p:nvPr/>
        </p:nvSpPr>
        <p:spPr>
          <a:xfrm>
            <a:off x="7726680" y="1417320"/>
            <a:ext cx="3916375" cy="4663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chemeClr val="tx1"/>
                </a:solidFill>
              </a:rPr>
              <a:t>Total tidak disimpan di variabel sendiri, tetapi dihitung dari _jumlah lewat getter.</a:t>
            </a:r>
            <a:endParaRPr lang="en-US" sz="1700" dirty="0"/>
          </a:p>
          <a:p>
            <a:pPr marL="228600" indent="-228600">
              <a:spcAft>
                <a:spcPts val="800"/>
              </a:spcAft>
              <a:buSzPct val="100000"/>
              <a:buChar char="•"/>
            </a:pPr>
            <a:r>
              <a:rPr lang="en-US" sz="1700" dirty="0">
                <a:solidFill>
                  <a:schemeClr val="tx1"/>
                </a:solidFill>
              </a:rPr>
              <a:t>Satu kali lupa memperbarui variabel _total sudah cukup membuat angkanya salah. Getter tidak mungkin ketinggalan.</a:t>
            </a:r>
            <a:endParaRPr lang="en-US" sz="1700" dirty="0"/>
          </a:p>
          <a:p>
            <a:pPr marL="228600" indent="-228600">
              <a:spcAft>
                <a:spcPts val="800"/>
              </a:spcAft>
              <a:buSzPct val="100000"/>
              <a:buChar char="•"/>
            </a:pPr>
            <a:r>
              <a:rPr lang="en-US" sz="1700" dirty="0">
                <a:solidFill>
                  <a:schemeClr val="tx1"/>
                </a:solidFill>
              </a:rPr>
              <a:t>Prinsip: simpan state sesedikit mungkin; hitung sisanya.</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Studi Kasus: Memesan Menu Kantin</a:t>
            </a:r>
            <a:endParaRPr lang="en-US" sz="3200" dirty="0"/>
          </a:p>
        </p:txBody>
      </p:sp>
      <p:sp>
        <p:nvSpPr>
          <p:cNvPr id="4" name="bingkai layar 1"/>
          <p:cNvSpPr/>
          <p:nvPr/>
        </p:nvSpPr>
        <p:spPr>
          <a:xfrm>
            <a:off x="6101791" y="1316736"/>
            <a:ext cx="2715768" cy="4177809"/>
          </a:xfrm>
          <a:prstGeom prst="roundRect">
            <a:avLst>
              <a:gd name="adj" fmla="val 3367"/>
            </a:avLst>
          </a:prstGeom>
          <a:solidFill>
            <a:srgbClr val="FFFFFF"/>
          </a:solidFill>
          <a:ln w="12700">
            <a:solidFill>
              <a:srgbClr val="C9D3E0"/>
            </a:solidFill>
            <a:prstDash val="solid"/>
          </a:ln>
        </p:spPr>
      </p:sp>
      <p:pic>
        <p:nvPicPr>
          <p:cNvPr id="5" name="layar 1" descr="Tangkapan layar aplikasi (hasil_contoh_11b.jpg)">    </p:cNvPr>
          <p:cNvPicPr>
            <a:picLocks noChangeAspect="1"/>
          </p:cNvPicPr>
          <p:nvPr/>
        </p:nvPicPr>
        <p:blipFill>
          <a:blip r:embed="rId1"/>
          <a:stretch>
            <a:fillRect/>
          </a:stretch>
        </p:blipFill>
        <p:spPr>
          <a:xfrm>
            <a:off x="6156655" y="1371600"/>
            <a:ext cx="2606040" cy="4068081"/>
          </a:xfrm>
          <a:prstGeom prst="rect">
            <a:avLst/>
          </a:prstGeom>
        </p:spPr>
      </p:pic>
      <p:sp>
        <p:nvSpPr>
          <p:cNvPr id="6" name="bingkai layar 2"/>
          <p:cNvSpPr/>
          <p:nvPr/>
        </p:nvSpPr>
        <p:spPr>
          <a:xfrm>
            <a:off x="8982151" y="1316736"/>
            <a:ext cx="2715768" cy="4177809"/>
          </a:xfrm>
          <a:prstGeom prst="roundRect">
            <a:avLst>
              <a:gd name="adj" fmla="val 3367"/>
            </a:avLst>
          </a:prstGeom>
          <a:solidFill>
            <a:srgbClr val="FFFFFF"/>
          </a:solidFill>
          <a:ln w="12700">
            <a:solidFill>
              <a:srgbClr val="C9D3E0"/>
            </a:solidFill>
            <a:prstDash val="solid"/>
          </a:ln>
        </p:spPr>
      </p:sp>
      <p:pic>
        <p:nvPicPr>
          <p:cNvPr id="7" name="layar 2" descr="Tangkapan layar aplikasi (hasil_contoh_11c.jpg)">    </p:cNvPr>
          <p:cNvPicPr>
            <a:picLocks noChangeAspect="1"/>
          </p:cNvPicPr>
          <p:nvPr/>
        </p:nvPicPr>
        <p:blipFill>
          <a:blip r:embed="rId2"/>
          <a:stretch>
            <a:fillRect/>
          </a:stretch>
        </p:blipFill>
        <p:spPr>
          <a:xfrm>
            <a:off x="9037015" y="1371600"/>
            <a:ext cx="2606040" cy="4068081"/>
          </a:xfrm>
          <a:prstGeom prst="rect">
            <a:avLst/>
          </a:prstGeom>
        </p:spPr>
      </p:pic>
      <p:sp>
        <p:nvSpPr>
          <p:cNvPr id="8" name="tombol tautan">
            <a:hlinkClick r:id="rId3" tooltip="https://github.com/antonprafanto/mobile2026/blob/main/pertemuan_05_interaksi_dan_state/kode/contoh_11_studi_kasus_pesan_menu.dart"/>
          </p:cNvPr>
          <p:cNvSpPr txBox="1"/>
          <p:nvPr/>
        </p:nvSpPr>
        <p:spPr>
          <a:xfrm>
            <a:off x="548640" y="1371600"/>
            <a:ext cx="5150815" cy="457200"/>
          </a:xfrm>
          <a:prstGeom prst="roundRect">
            <a:avLst>
              <a:gd name="adj" fmla="val 24000"/>
            </a:avLst>
          </a:prstGeom>
          <a:solidFill>
            <a:schemeClr val="accent1"/>
          </a:solidFill>
          <a:ln/>
        </p:spPr>
        <p:txBody>
          <a:bodyPr wrap="square" lIns="571500" tIns="0" rIns="76200" bIns="0" rtlCol="0" anchor="ctr"/>
          <a:lstStyle/>
          <a:p>
            <a:pPr algn="l" indent="0" marL="0">
              <a:buNone/>
            </a:pPr>
            <a:r>
              <a:rPr lang="en-US" sz="1300" b="1" dirty="0">
                <a:solidFill>
                  <a:schemeClr val="bg1"/>
                </a:solidFill>
              </a:rPr>
              <a:t>Kode di GitHub  ·  contoh_11_studi_kasus_pesan_menu.dart</a:t>
            </a:r>
            <a:endParaRPr lang="en-US" sz="1300" dirty="0"/>
          </a:p>
        </p:txBody>
      </p:sp>
      <p:pic>
        <p:nvPicPr>
          <p:cNvPr id="9" name="Image 2" descr="ikon tautan">
            <a:hlinkClick r:id="rId5" tooltip="https://github.com/antonprafanto/mobile2026/blob/main/pertemuan_05_interaksi_dan_state/kode/contoh_11_studi_kasus_pesan_menu.dart"/>
          </p:cNvPr>
          <p:cNvPicPr>
            <a:picLocks noChangeAspect="1"/>
          </p:cNvPicPr>
          <p:nvPr/>
        </p:nvPicPr>
        <p:blipFill>
          <a:blip r:embed="rId4"/>
          <a:stretch>
            <a:fillRect/>
          </a:stretch>
        </p:blipFill>
        <p:spPr>
          <a:xfrm>
            <a:off x="694944" y="1463040"/>
            <a:ext cx="274320" cy="274320"/>
          </a:xfrm>
          <a:prstGeom prst="rect">
            <a:avLst/>
          </a:prstGeom>
        </p:spPr>
      </p:pic>
      <p:sp>
        <p:nvSpPr>
          <p:cNvPr id="10" name="daftar poin"/>
          <p:cNvSpPr txBox="1"/>
          <p:nvPr/>
        </p:nvSpPr>
        <p:spPr>
          <a:xfrm>
            <a:off x="548640" y="2103120"/>
            <a:ext cx="5150815" cy="41148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chemeClr val="tx1"/>
                </a:solidFill>
              </a:rPr>
              <a:t>State: porsi, level pedas, tambahan, catatan, jumlah, favorit.</a:t>
            </a:r>
            <a:endParaRPr lang="en-US" sz="1500" dirty="0"/>
          </a:p>
          <a:p>
            <a:pPr marL="228600" indent="-228600">
              <a:spcAft>
                <a:spcPts val="800"/>
              </a:spcAft>
              <a:buSzPct val="100000"/>
              <a:buChar char="•"/>
            </a:pPr>
            <a:r>
              <a:rPr lang="en-US" sz="1500" dirty="0">
                <a:solidFill>
                  <a:schemeClr val="tx1"/>
                </a:solidFill>
              </a:rPr>
              <a:t>Nilai turunan: harga satuan, total, keterangan pedas.</a:t>
            </a:r>
            <a:endParaRPr lang="en-US" sz="1500" dirty="0"/>
          </a:p>
          <a:p>
            <a:pPr marL="228600" indent="-228600">
              <a:spcAft>
                <a:spcPts val="800"/>
              </a:spcAft>
              <a:buSzPct val="100000"/>
              <a:buChar char="•"/>
            </a:pPr>
            <a:r>
              <a:rPr lang="en-US" sz="1500" dirty="0">
                <a:solidFill>
                  <a:schemeClr val="tx1"/>
                </a:solidFill>
              </a:rPr>
              <a:t>SegmentedButton, Slider, FilterChip, TextField, TombolJumlah.</a:t>
            </a:r>
            <a:endParaRPr lang="en-US" sz="1500" dirty="0"/>
          </a:p>
          <a:p>
            <a:pPr marL="228600" indent="-228600">
              <a:spcAft>
                <a:spcPts val="800"/>
              </a:spcAft>
              <a:buSzPct val="100000"/>
              <a:buChar char="•"/>
            </a:pPr>
            <a:r>
              <a:rPr lang="en-US" sz="1500" dirty="0">
                <a:solidFill>
                  <a:schemeClr val="tx1"/>
                </a:solidFill>
              </a:rPr>
              <a:t>Label tombol Pesan ikut menampilkan total.</a:t>
            </a:r>
            <a:endParaRPr lang="en-US" sz="1500" dirty="0"/>
          </a:p>
          <a:p>
            <a:pPr marL="228600" indent="-228600">
              <a:spcAft>
                <a:spcPts val="800"/>
              </a:spcAft>
              <a:buSzPct val="100000"/>
              <a:buChar char="•"/>
            </a:pPr>
            <a:r>
              <a:rPr lang="en-US" sz="1500" dirty="0">
                <a:solidFill>
                  <a:schemeClr val="tx1"/>
                </a:solidFill>
              </a:rPr>
              <a:t>Pesan → dialog → mounted → SnackBar → kembali ke awal.</a:t>
            </a:r>
            <a:endParaRPr lang="en-US" sz="1500" dirty="0"/>
          </a:p>
          <a:p>
            <a:pPr marL="228600" indent="-228600">
              <a:spcAft>
                <a:spcPts val="800"/>
              </a:spcAft>
              <a:buSzPct val="100000"/>
              <a:buChar char="•"/>
            </a:pPr>
            <a:r>
              <a:rPr lang="en-US" sz="1500" dirty="0">
                <a:solidFill>
                  <a:schemeClr val="tx1"/>
                </a:solidFill>
              </a:rPr>
              <a:t>Cek manual: (18.000 + 5.000 + 3.000 + 2.000) × 2 = 56.000.</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Pelajaran dari Pengujian</a:t>
            </a:r>
            <a:endParaRPr lang="en-US" sz="3200" dirty="0"/>
          </a:p>
        </p:txBody>
      </p:sp>
      <p:sp>
        <p:nvSpPr>
          <p:cNvPr id="4" name="Text 1"/>
          <p:cNvSpPr txBox="1"/>
          <p:nvPr/>
        </p:nvSpPr>
        <p:spPr>
          <a:xfrm>
            <a:off x="548640" y="1325880"/>
            <a:ext cx="11094415" cy="502920"/>
          </a:xfrm>
          <a:prstGeom prst="rect">
            <a:avLst/>
          </a:prstGeom>
          <a:noFill/>
          <a:ln/>
        </p:spPr>
        <p:txBody>
          <a:bodyPr wrap="square" lIns="0" tIns="0" rIns="0" bIns="0" rtlCol="0" anchor="ctr"/>
          <a:lstStyle/>
          <a:p>
            <a:pPr indent="0" marL="0">
              <a:buNone/>
            </a:pPr>
            <a:r>
              <a:rPr lang="en-US" sz="1800" dirty="0">
                <a:solidFill>
                  <a:srgbClr val="4A5870"/>
                </a:solidFill>
              </a:rPr>
              <a:t>Tiga masalah di contoh hari ini ditemukan dengan mencoba aplikasinya, bukan dengan membaca kode:</a:t>
            </a:r>
            <a:endParaRPr lang="en-US" sz="1800" dirty="0"/>
          </a:p>
        </p:txBody>
      </p:sp>
      <p:sp>
        <p:nvSpPr>
          <p:cNvPr id="5" name="kartu 1"/>
          <p:cNvSpPr/>
          <p:nvPr/>
        </p:nvSpPr>
        <p:spPr>
          <a:xfrm>
            <a:off x="548640" y="2011680"/>
            <a:ext cx="3484778" cy="2377440"/>
          </a:xfrm>
          <a:prstGeom prst="roundRect">
            <a:avLst>
              <a:gd name="adj" fmla="val 4615"/>
            </a:avLst>
          </a:prstGeom>
          <a:solidFill>
            <a:schemeClr val="bg2"/>
          </a:solidFill>
          <a:ln/>
        </p:spPr>
      </p:sp>
      <p:sp>
        <p:nvSpPr>
          <p:cNvPr id="6" name="lingkaran formulir"/>
          <p:cNvSpPr/>
          <p:nvPr/>
        </p:nvSpPr>
        <p:spPr>
          <a:xfrm>
            <a:off x="777240" y="2240280"/>
            <a:ext cx="685800" cy="685800"/>
          </a:xfrm>
          <a:prstGeom prst="ellipse">
            <a:avLst/>
          </a:prstGeom>
          <a:solidFill>
            <a:schemeClr val="accent1"/>
          </a:solidFill>
          <a:ln/>
        </p:spPr>
      </p:sp>
      <p:pic>
        <p:nvPicPr>
          <p:cNvPr id="7" name="Image 0" descr="formulir">    </p:cNvPr>
          <p:cNvPicPr>
            <a:picLocks noChangeAspect="1"/>
          </p:cNvPicPr>
          <p:nvPr/>
        </p:nvPicPr>
        <p:blipFill>
          <a:blip r:embed="rId1"/>
          <a:stretch>
            <a:fillRect/>
          </a:stretch>
        </p:blipFill>
        <p:spPr>
          <a:xfrm>
            <a:off x="928116" y="2391156"/>
            <a:ext cx="384048" cy="384048"/>
          </a:xfrm>
          <a:prstGeom prst="rect">
            <a:avLst/>
          </a:prstGeom>
        </p:spPr>
      </p:pic>
      <p:sp>
        <p:nvSpPr>
          <p:cNvPr id="8" name="Text 4"/>
          <p:cNvSpPr txBox="1"/>
          <p:nvPr/>
        </p:nvSpPr>
        <p:spPr>
          <a:xfrm>
            <a:off x="1600200"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Keyboard muncul lagi</a:t>
            </a:r>
            <a:endParaRPr lang="en-US" sz="1800" dirty="0"/>
          </a:p>
        </p:txBody>
      </p:sp>
      <p:sp>
        <p:nvSpPr>
          <p:cNvPr id="9" name="Text 5"/>
          <p:cNvSpPr txBox="1"/>
          <p:nvPr/>
        </p:nvSpPr>
        <p:spPr>
          <a:xfrm>
            <a:off x="777240" y="3063240"/>
            <a:ext cx="3027578" cy="1188720"/>
          </a:xfrm>
          <a:prstGeom prst="rect">
            <a:avLst/>
          </a:prstGeom>
          <a:noFill/>
          <a:ln/>
        </p:spPr>
        <p:txBody>
          <a:bodyPr wrap="square" lIns="0" tIns="0" rIns="0" bIns="0" rtlCol="0" anchor="t"/>
          <a:lstStyle/>
          <a:p>
            <a:pPr indent="0" marL="0">
              <a:buNone/>
            </a:pPr>
            <a:r>
              <a:rPr lang="en-US" sz="1500" dirty="0">
                <a:solidFill>
                  <a:schemeClr val="tx1"/>
                </a:solidFill>
              </a:rPr>
              <a:t>Setelah dialog ditutup, kolom catatan aktif lagi. Diperbaiki dengan primaryFocus?.unfocus().</a:t>
            </a:r>
            <a:endParaRPr lang="en-US" sz="1500" dirty="0"/>
          </a:p>
        </p:txBody>
      </p:sp>
      <p:sp>
        <p:nvSpPr>
          <p:cNvPr id="10" name="kartu 2"/>
          <p:cNvSpPr/>
          <p:nvPr/>
        </p:nvSpPr>
        <p:spPr>
          <a:xfrm>
            <a:off x="4353458" y="2011680"/>
            <a:ext cx="3484778" cy="2377440"/>
          </a:xfrm>
          <a:prstGeom prst="roundRect">
            <a:avLst>
              <a:gd name="adj" fmla="val 4615"/>
            </a:avLst>
          </a:prstGeom>
          <a:solidFill>
            <a:schemeClr val="bg2"/>
          </a:solidFill>
          <a:ln/>
        </p:spPr>
      </p:sp>
      <p:sp>
        <p:nvSpPr>
          <p:cNvPr id="11" name="lingkaran ukur"/>
          <p:cNvSpPr/>
          <p:nvPr/>
        </p:nvSpPr>
        <p:spPr>
          <a:xfrm>
            <a:off x="4582058" y="2240280"/>
            <a:ext cx="685800" cy="685800"/>
          </a:xfrm>
          <a:prstGeom prst="ellipse">
            <a:avLst/>
          </a:prstGeom>
          <a:solidFill>
            <a:schemeClr val="accent1"/>
          </a:solidFill>
          <a:ln/>
        </p:spPr>
      </p:sp>
      <p:pic>
        <p:nvPicPr>
          <p:cNvPr id="12" name="Image 1" descr="ukur">    </p:cNvPr>
          <p:cNvPicPr>
            <a:picLocks noChangeAspect="1"/>
          </p:cNvPicPr>
          <p:nvPr/>
        </p:nvPicPr>
        <p:blipFill>
          <a:blip r:embed="rId2"/>
          <a:stretch>
            <a:fillRect/>
          </a:stretch>
        </p:blipFill>
        <p:spPr>
          <a:xfrm>
            <a:off x="4732934" y="2391156"/>
            <a:ext cx="384048" cy="384048"/>
          </a:xfrm>
          <a:prstGeom prst="rect">
            <a:avLst/>
          </a:prstGeom>
        </p:spPr>
      </p:pic>
      <p:sp>
        <p:nvSpPr>
          <p:cNvPr id="13" name="Text 8"/>
          <p:cNvSpPr txBox="1"/>
          <p:nvPr/>
        </p:nvSpPr>
        <p:spPr>
          <a:xfrm>
            <a:off x="5405018"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Label terpotong di 320</a:t>
            </a:r>
            <a:endParaRPr lang="en-US" sz="1800" dirty="0"/>
          </a:p>
        </p:txBody>
      </p:sp>
      <p:sp>
        <p:nvSpPr>
          <p:cNvPr id="14" name="Text 9"/>
          <p:cNvSpPr txBox="1"/>
          <p:nvPr/>
        </p:nvSpPr>
        <p:spPr>
          <a:xfrm>
            <a:off x="4582058" y="3063240"/>
            <a:ext cx="3027578" cy="1188720"/>
          </a:xfrm>
          <a:prstGeom prst="rect">
            <a:avLst/>
          </a:prstGeom>
          <a:noFill/>
          <a:ln/>
        </p:spPr>
        <p:txBody>
          <a:bodyPr wrap="square" lIns="0" tIns="0" rIns="0" bIns="0" rtlCol="0" anchor="t"/>
          <a:lstStyle/>
          <a:p>
            <a:pPr indent="0" marL="0">
              <a:buNone/>
            </a:pPr>
            <a:r>
              <a:rPr lang="en-US" sz="1500" dirty="0">
                <a:solidFill>
                  <a:schemeClr val="tx1"/>
                </a:solidFill>
              </a:rPr>
              <a:t>"Sedang" pecah menjadi dua baris. Diperbaiki dengan showSelectedIcon: false.</a:t>
            </a:r>
            <a:endParaRPr lang="en-US" sz="1500" dirty="0"/>
          </a:p>
        </p:txBody>
      </p:sp>
      <p:sp>
        <p:nvSpPr>
          <p:cNvPr id="15" name="kartu 3"/>
          <p:cNvSpPr/>
          <p:nvPr/>
        </p:nvSpPr>
        <p:spPr>
          <a:xfrm>
            <a:off x="8158277" y="2011680"/>
            <a:ext cx="3484778" cy="2377440"/>
          </a:xfrm>
          <a:prstGeom prst="roundRect">
            <a:avLst>
              <a:gd name="adj" fmla="val 4615"/>
            </a:avLst>
          </a:prstGeom>
          <a:solidFill>
            <a:schemeClr val="bg2"/>
          </a:solidFill>
          <a:ln/>
        </p:spPr>
      </p:sp>
      <p:sp>
        <p:nvSpPr>
          <p:cNvPr id="16" name="lingkaran peringatan"/>
          <p:cNvSpPr/>
          <p:nvPr/>
        </p:nvSpPr>
        <p:spPr>
          <a:xfrm>
            <a:off x="8386877" y="2240280"/>
            <a:ext cx="685800" cy="685800"/>
          </a:xfrm>
          <a:prstGeom prst="ellipse">
            <a:avLst/>
          </a:prstGeom>
          <a:solidFill>
            <a:schemeClr val="accent1"/>
          </a:solidFill>
          <a:ln/>
        </p:spPr>
      </p:sp>
      <p:pic>
        <p:nvPicPr>
          <p:cNvPr id="17" name="Image 2" descr="peringatan">    </p:cNvPr>
          <p:cNvPicPr>
            <a:picLocks noChangeAspect="1"/>
          </p:cNvPicPr>
          <p:nvPr/>
        </p:nvPicPr>
        <p:blipFill>
          <a:blip r:embed="rId3"/>
          <a:stretch>
            <a:fillRect/>
          </a:stretch>
        </p:blipFill>
        <p:spPr>
          <a:xfrm>
            <a:off x="8537753" y="2391156"/>
            <a:ext cx="384048" cy="384048"/>
          </a:xfrm>
          <a:prstGeom prst="rect">
            <a:avLst/>
          </a:prstGeom>
        </p:spPr>
      </p:pic>
      <p:sp>
        <p:nvSpPr>
          <p:cNvPr id="18" name="Text 12"/>
          <p:cNvSpPr txBox="1"/>
          <p:nvPr/>
        </p:nvSpPr>
        <p:spPr>
          <a:xfrm>
            <a:off x="9209837" y="2212848"/>
            <a:ext cx="2250338" cy="731520"/>
          </a:xfrm>
          <a:prstGeom prst="rect">
            <a:avLst/>
          </a:prstGeom>
          <a:noFill/>
          <a:ln/>
        </p:spPr>
        <p:txBody>
          <a:bodyPr wrap="square" lIns="0" tIns="0" rIns="0" bIns="0" rtlCol="0" anchor="ctr"/>
          <a:lstStyle/>
          <a:p>
            <a:pPr indent="0" marL="0">
              <a:buNone/>
            </a:pPr>
            <a:r>
              <a:rPr lang="en-US" sz="1800" b="1" dirty="0">
                <a:solidFill>
                  <a:schemeClr val="tx2"/>
                </a:solidFill>
              </a:rPr>
              <a:t>Formulir terlalu galak</a:t>
            </a:r>
            <a:endParaRPr lang="en-US" sz="1800" dirty="0"/>
          </a:p>
        </p:txBody>
      </p:sp>
      <p:sp>
        <p:nvSpPr>
          <p:cNvPr id="19" name="Text 13"/>
          <p:cNvSpPr txBox="1"/>
          <p:nvPr/>
        </p:nvSpPr>
        <p:spPr>
          <a:xfrm>
            <a:off x="8386877" y="3063240"/>
            <a:ext cx="3027578" cy="1188720"/>
          </a:xfrm>
          <a:prstGeom prst="rect">
            <a:avLst/>
          </a:prstGeom>
          <a:noFill/>
          <a:ln/>
        </p:spPr>
        <p:txBody>
          <a:bodyPr wrap="square" lIns="0" tIns="0" rIns="0" bIns="0" rtlCol="0" anchor="t"/>
          <a:lstStyle/>
          <a:p>
            <a:pPr indent="0" marL="0">
              <a:buNone/>
            </a:pPr>
            <a:r>
              <a:rPr lang="en-US" sz="1500" dirty="0">
                <a:solidFill>
                  <a:schemeClr val="tx1"/>
                </a:solidFill>
              </a:rPr>
              <a:t>Satu huruf diketik, semua kolom merah. Diperbaiki dengan onUserInteractionIfError.</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Kesalahan Umum Pemula</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5943437"/>
                <a:gridCol w="5150978"/>
              </a:tblGrid>
              <a:tr h="60579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Pesan error / gejala</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Penyebab dan solusi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0B2545"/>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The method 'setState' isn't defined for the type '...'.</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setState di StatelessWidget: ubah menjadi StatefulWidget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Variabel berubah, layar tidak</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Lupa setState: bungkus perubahannya dengan setState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This expression has a type of 'void' so its value can't be used.</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onPressed: _fungsi() → onPressed: _fungsi</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setState() called after dispose()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Setelah await: tambahkan if (!mounted) return;</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Switch tidak bergeser, Checkbox tidak tercentang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onChanged tidak menyimpan nilai baru dengan setState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Ketikan hilang, kursor melompat</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Controller dibuat di build(): buat sekali sebagai properti State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EEF3FA"/>
                    </a:solidFill>
                  </a:tcPr>
                </a:tc>
              </a:tr>
              <a:tr h="605790">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SnackBar dengan Batalkan tidak pernah hilang</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c>
                  <a:txBody>
                    <a:bodyPr/>
                    <a:lstStyle/>
                    <a:p>
                      <a:pPr indent="0" marL="0">
                        <a:buNone/>
                      </a:pPr>
                      <a:r>
                        <a:rPr lang="en-US" sz="1400" dirty="0">
                          <a:solidFill>
                            <a:srgbClr val="1B2333"/>
                          </a:solidFill>
                          <a:latin typeface="Calibri" pitchFamily="34" charset="0"/>
                          <a:ea typeface="Calibri" pitchFamily="34" charset="-122"/>
                          <a:cs typeface="Calibri" pitchFamily="34" charset="-120"/>
                        </a:rPr>
                        <a:t>Tambahkan persist: false</a:t>
                      </a:r>
                      <a:endParaRPr lang="en-US" sz="1400" dirty="0">
                        <a:latin typeface="Calibri" charset="0"/>
                        <a:ea typeface="Calibri" charset="0"/>
                        <a:cs typeface="Calibri" charset="0"/>
                      </a:endParaRPr>
                    </a:p>
                  </a:txBody>
                  <a:tcPr marL="101600" marR="101600" marT="50800" marB="50800" anchor="ctr">
                    <a:lnL w="9525" cap="flat" cmpd="sng" algn="ctr">
                      <a:solidFill>
                        <a:srgbClr val="D5DEEA"/>
                      </a:solidFill>
                      <a:prstDash val="solid"/>
                      <a:round/>
                      <a:headEnd type="none" w="med" len="med"/>
                      <a:tailEnd type="none" w="med" len="med"/>
                    </a:lnL>
                    <a:lnR w="9525" cap="flat" cmpd="sng" algn="ctr">
                      <a:solidFill>
                        <a:srgbClr val="D5DEEA"/>
                      </a:solidFill>
                      <a:prstDash val="solid"/>
                      <a:round/>
                      <a:headEnd type="none" w="med" len="med"/>
                      <a:tailEnd type="none" w="med" len="med"/>
                    </a:lnR>
                    <a:lnT w="9525" cap="flat" cmpd="sng" algn="ctr">
                      <a:solidFill>
                        <a:srgbClr val="D5DEEA"/>
                      </a:solidFill>
                      <a:prstDash val="solid"/>
                      <a:round/>
                      <a:headEnd type="none" w="med" len="med"/>
                      <a:tailEnd type="none" w="med" len="med"/>
                    </a:lnT>
                    <a:lnB w="9525" cap="flat" cmpd="sng" algn="ctr">
                      <a:solidFill>
                        <a:srgbClr val="D5DEE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Ringkasan</a:t>
            </a:r>
            <a:endParaRPr lang="en-US" sz="3200" dirty="0"/>
          </a:p>
        </p:txBody>
      </p:sp>
      <p:sp>
        <p:nvSpPr>
          <p:cNvPr id="4" name="Text 1"/>
          <p:cNvSpPr txBox="1"/>
          <p:nvPr/>
        </p:nvSpPr>
        <p:spPr>
          <a:xfrm>
            <a:off x="548640"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 2"/>
          <p:cNvSpPr txBox="1"/>
          <p:nvPr/>
        </p:nvSpPr>
        <p:spPr>
          <a:xfrm>
            <a:off x="1234440"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State = data yang berubah dan terlihat di layar; tampilan = f(state).</a:t>
            </a:r>
            <a:endParaRPr lang="en-US" sz="1700" dirty="0"/>
          </a:p>
        </p:txBody>
      </p:sp>
      <p:sp>
        <p:nvSpPr>
          <p:cNvPr id="6" name="Text 3"/>
          <p:cNvSpPr txBox="1"/>
          <p:nvPr/>
        </p:nvSpPr>
        <p:spPr>
          <a:xfrm>
            <a:off x="548640"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7" name="Text 4"/>
          <p:cNvSpPr txBox="1"/>
          <p:nvPr/>
        </p:nvSpPr>
        <p:spPr>
          <a:xfrm>
            <a:off x="1234440"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StatefulWidget: class widget (final) + class State (data + build).</a:t>
            </a:r>
            <a:endParaRPr lang="en-US" sz="1700" dirty="0"/>
          </a:p>
        </p:txBody>
      </p:sp>
      <p:sp>
        <p:nvSpPr>
          <p:cNvPr id="8" name="Text 5"/>
          <p:cNvSpPr txBox="1"/>
          <p:nvPr/>
        </p:nvSpPr>
        <p:spPr>
          <a:xfrm>
            <a:off x="548640"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9" name="Text 6"/>
          <p:cNvSpPr txBox="1"/>
          <p:nvPr/>
        </p:nvSpPr>
        <p:spPr>
          <a:xfrm>
            <a:off x="1234440"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setState() mengubah data lalu build() berjalan lagi; onPressed: null = nonaktif.</a:t>
            </a:r>
            <a:endParaRPr lang="en-US" sz="1700" dirty="0"/>
          </a:p>
        </p:txBody>
      </p:sp>
      <p:sp>
        <p:nvSpPr>
          <p:cNvPr id="10" name="Text 7"/>
          <p:cNvSpPr txBox="1"/>
          <p:nvPr/>
        </p:nvSpPr>
        <p:spPr>
          <a:xfrm>
            <a:off x="548640"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1" name="Text 8"/>
          <p:cNvSpPr txBox="1"/>
          <p:nvPr/>
        </p:nvSpPr>
        <p:spPr>
          <a:xfrm>
            <a:off x="1234440"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Tombol Material 3, InkWell, GestureDetector, SnackBar + Batalkan.</a:t>
            </a:r>
            <a:endParaRPr lang="en-US" sz="1700" dirty="0"/>
          </a:p>
        </p:txBody>
      </p:sp>
      <p:sp>
        <p:nvSpPr>
          <p:cNvPr id="12" name="Text 9"/>
          <p:cNvSpPr txBox="1"/>
          <p:nvPr/>
        </p:nvSpPr>
        <p:spPr>
          <a:xfrm>
            <a:off x="6324448" y="1417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3" name="Text 10"/>
          <p:cNvSpPr txBox="1"/>
          <p:nvPr/>
        </p:nvSpPr>
        <p:spPr>
          <a:xfrm>
            <a:off x="7010248" y="1371600"/>
            <a:ext cx="4632808" cy="1051560"/>
          </a:xfrm>
          <a:prstGeom prst="rect">
            <a:avLst/>
          </a:prstGeom>
          <a:noFill/>
          <a:ln/>
        </p:spPr>
        <p:txBody>
          <a:bodyPr wrap="square" lIns="0" tIns="0" rIns="0" bIns="0" rtlCol="0" anchor="t"/>
          <a:lstStyle/>
          <a:p>
            <a:pPr indent="0" marL="0">
              <a:buNone/>
            </a:pPr>
            <a:r>
              <a:rPr lang="en-US" sz="1700" dirty="0">
                <a:solidFill>
                  <a:schemeClr val="tx1"/>
                </a:solidFill>
              </a:rPr>
              <a:t>Pemilih nilai: value + onChanged; RadioGroup, SegmentedButton, Slider, Chip.</a:t>
            </a:r>
            <a:endParaRPr lang="en-US" sz="1700" dirty="0"/>
          </a:p>
        </p:txBody>
      </p:sp>
      <p:sp>
        <p:nvSpPr>
          <p:cNvPr id="14" name="Text 11"/>
          <p:cNvSpPr txBox="1"/>
          <p:nvPr/>
        </p:nvSpPr>
        <p:spPr>
          <a:xfrm>
            <a:off x="6324448" y="2560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15" name="Text 12"/>
          <p:cNvSpPr txBox="1"/>
          <p:nvPr/>
        </p:nvSpPr>
        <p:spPr>
          <a:xfrm>
            <a:off x="7010248" y="2514600"/>
            <a:ext cx="4632808" cy="1051560"/>
          </a:xfrm>
          <a:prstGeom prst="rect">
            <a:avLst/>
          </a:prstGeom>
          <a:noFill/>
          <a:ln/>
        </p:spPr>
        <p:txBody>
          <a:bodyPr wrap="square" lIns="0" tIns="0" rIns="0" bIns="0" rtlCol="0" anchor="t"/>
          <a:lstStyle/>
          <a:p>
            <a:pPr indent="0" marL="0">
              <a:buNone/>
            </a:pPr>
            <a:r>
              <a:rPr lang="en-US" sz="1700" dirty="0">
                <a:solidFill>
                  <a:schemeClr val="tx1"/>
                </a:solidFill>
              </a:rPr>
              <a:t>Siklus hidup: initState sekali, build berkali-kali, dispose untuk bersih-bersih.</a:t>
            </a:r>
            <a:endParaRPr lang="en-US" sz="1700" dirty="0"/>
          </a:p>
        </p:txBody>
      </p:sp>
      <p:sp>
        <p:nvSpPr>
          <p:cNvPr id="16" name="Text 13"/>
          <p:cNvSpPr txBox="1"/>
          <p:nvPr/>
        </p:nvSpPr>
        <p:spPr>
          <a:xfrm>
            <a:off x="6324448" y="3703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17" name="Text 14"/>
          <p:cNvSpPr txBox="1"/>
          <p:nvPr/>
        </p:nvSpPr>
        <p:spPr>
          <a:xfrm>
            <a:off x="7010248" y="3657600"/>
            <a:ext cx="4632808" cy="1051560"/>
          </a:xfrm>
          <a:prstGeom prst="rect">
            <a:avLst/>
          </a:prstGeom>
          <a:noFill/>
          <a:ln/>
        </p:spPr>
        <p:txBody>
          <a:bodyPr wrap="square" lIns="0" tIns="0" rIns="0" bIns="0" rtlCol="0" anchor="t"/>
          <a:lstStyle/>
          <a:p>
            <a:pPr indent="0" marL="0">
              <a:buNone/>
            </a:pPr>
            <a:r>
              <a:rPr lang="en-US" sz="1700" dirty="0">
                <a:solidFill>
                  <a:schemeClr val="tx1"/>
                </a:solidFill>
              </a:rPr>
              <a:t>Controller dibuang di dispose; validator null = benar; periksa mounted setelah await.</a:t>
            </a:r>
            <a:endParaRPr lang="en-US" sz="1700" dirty="0"/>
          </a:p>
        </p:txBody>
      </p:sp>
      <p:sp>
        <p:nvSpPr>
          <p:cNvPr id="18" name="Text 15"/>
          <p:cNvSpPr txBox="1"/>
          <p:nvPr/>
        </p:nvSpPr>
        <p:spPr>
          <a:xfrm>
            <a:off x="6324448" y="4846320"/>
            <a:ext cx="502920" cy="502920"/>
          </a:xfrm>
          <a:prstGeom prst="ellipse">
            <a:avLst/>
          </a:prstGeom>
          <a:solidFill>
            <a:schemeClr val="accent1"/>
          </a:solidFill>
          <a:ln/>
        </p:spPr>
        <p:txBody>
          <a:bodyPr wrap="square" lIns="0" tIns="0" rIns="0" bIns="0" rtlCol="0" anchor="ctr"/>
          <a:lstStyle/>
          <a:p>
            <a:pPr algn="ctr" indent="0" marL="0">
              <a:buNone/>
            </a:pPr>
            <a:r>
              <a:rPr lang="en-US" sz="1600" b="1" dirty="0">
                <a:solidFill>
                  <a:schemeClr val="bg1"/>
                </a:solidFill>
              </a:rPr>
              <a:t>8</a:t>
            </a:r>
            <a:endParaRPr lang="en-US" sz="1600" dirty="0"/>
          </a:p>
        </p:txBody>
      </p:sp>
      <p:sp>
        <p:nvSpPr>
          <p:cNvPr id="19" name="Text 16"/>
          <p:cNvSpPr txBox="1"/>
          <p:nvPr/>
        </p:nvSpPr>
        <p:spPr>
          <a:xfrm>
            <a:off x="7010248" y="4800600"/>
            <a:ext cx="4632808" cy="1051560"/>
          </a:xfrm>
          <a:prstGeom prst="rect">
            <a:avLst/>
          </a:prstGeom>
          <a:noFill/>
          <a:ln/>
        </p:spPr>
        <p:txBody>
          <a:bodyPr wrap="square" lIns="0" tIns="0" rIns="0" bIns="0" rtlCol="0" anchor="t"/>
          <a:lstStyle/>
          <a:p>
            <a:pPr indent="0" marL="0">
              <a:buNone/>
            </a:pPr>
            <a:r>
              <a:rPr lang="en-US" sz="1700" dirty="0">
                <a:solidFill>
                  <a:schemeClr val="tx1"/>
                </a:solidFill>
              </a:rPr>
              <a:t>Angkat state ke induk: data turun, laporan naik; hitung nilai turunan.</a:t>
            </a:r>
            <a:endParaRPr lang="en-US" sz="17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A9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3" name="Text 4"/>
          <p:cNvSpPr/>
          <p:nvPr>
            <p:ph idx="104" type="title" hasCustomPrompt="1"/>
          </p:nvPr>
        </p:nvSpPr>
        <p:spPr>
          <a:xfrm>
            <a:off x="731520" y="1554480"/>
            <a:ext cx="8778240" cy="2103120"/>
          </a:xfrm>
          <a:prstGeom prst="rect">
            <a:avLst/>
          </a:prstGeom>
          <a:noFill/>
          <a:ln/>
        </p:spPr>
        <p:txBody>
          <a:bodyPr wrap="square" lIns="0" tIns="0" rIns="0" bIns="0" rtlCol="0" anchor="b"/>
          <a:lstStyle/>
          <a:p>
            <a:pPr algn="l" indent="0" marL="0">
              <a:buNone/>
            </a:pPr>
            <a:r>
              <a:rPr lang="en-US" sz="4400" b="1" dirty="0">
                <a:solidFill>
                  <a:schemeClr val="bg1"/>
                </a:solidFill>
              </a:rPr>
              <a:t>Saatnya Praktik!</a:t>
            </a:r>
            <a:endParaRPr lang="en-US" sz="4400" dirty="0"/>
          </a:p>
        </p:txBody>
      </p:sp>
      <p:sp>
        <p:nvSpPr>
          <p:cNvPr id="4" name="Text 4"/>
          <p:cNvSpPr/>
          <p:nvPr>
            <p:ph idx="105" type="body" hasCustomPrompt="1"/>
          </p:nvPr>
        </p:nvSpPr>
        <p:spPr>
          <a:xfrm>
            <a:off x="731520" y="3840480"/>
            <a:ext cx="8412480" cy="1280160"/>
          </a:xfrm>
          <a:prstGeom prst="rect">
            <a:avLst/>
          </a:prstGeom>
          <a:noFill/>
          <a:ln/>
        </p:spPr>
        <p:txBody>
          <a:bodyPr wrap="square" lIns="0" tIns="0" rIns="0" bIns="0" rtlCol="0" anchor="t"/>
          <a:lstStyle/>
          <a:p>
            <a:pPr algn="l" indent="0" marL="0">
              <a:buNone/>
            </a:pPr>
            <a:r>
              <a:rPr lang="en-US" sz="2000" dirty="0">
                <a:solidFill>
                  <a:schemeClr val="bg2"/>
                </a:solidFill>
              </a:rPr>
              <a:t>Kerjakan Jobsheet Pertemuan 5 (lima praktikum + tugas Peminjaman Alat Lab), lalu uji diri di Latihan. Pertemuan berikutnya: daftar data dan navigasi antarhalaman.</a:t>
            </a:r>
            <a:endParaRPr lang="en-US" sz="2000" dirty="0"/>
          </a:p>
        </p:txBody>
      </p:sp>
      <p:sp>
        <p:nvSpPr>
          <p:cNvPr id="5" name="tombol tautan">
            <a:hlinkClick r:id="rId1" tooltip="https://github.com/antonprafanto/mobile2026/blob/main/pertemuan_05_interaksi_dan_state/JOBSHEET.md"/>
          </p:cNvPr>
          <p:cNvSpPr txBox="1"/>
          <p:nvPr/>
        </p:nvSpPr>
        <p:spPr>
          <a:xfrm>
            <a:off x="731520" y="5166360"/>
            <a:ext cx="2697480" cy="548640"/>
          </a:xfrm>
          <a:prstGeom prst="roundRect">
            <a:avLst>
              <a:gd name="adj" fmla="val 20000"/>
            </a:avLst>
          </a:prstGeom>
          <a:solidFill>
            <a:schemeClr val="accent1"/>
          </a:solidFill>
          <a:ln/>
        </p:spPr>
        <p:txBody>
          <a:bodyPr wrap="square" lIns="622300" tIns="0" rIns="76200" bIns="0" rtlCol="0" anchor="ctr"/>
          <a:lstStyle/>
          <a:p>
            <a:pPr algn="l" indent="0" marL="0">
              <a:buNone/>
            </a:pPr>
            <a:r>
              <a:rPr lang="en-US" sz="1600" b="1" dirty="0">
                <a:solidFill>
                  <a:schemeClr val="bg1"/>
                </a:solidFill>
              </a:rPr>
              <a:t>Jobsheet P5</a:t>
            </a:r>
            <a:endParaRPr lang="en-US" sz="1600" dirty="0"/>
          </a:p>
        </p:txBody>
      </p:sp>
      <p:pic>
        <p:nvPicPr>
          <p:cNvPr id="6" name="Image 0" descr="ikon tautan">
            <a:hlinkClick r:id="rId3" tooltip="https://github.com/antonprafanto/mobile2026/blob/main/pertemuan_05_interaksi_dan_state/JOBSHEET.md"/>
          </p:cNvPr>
          <p:cNvPicPr>
            <a:picLocks noChangeAspect="1"/>
          </p:cNvPicPr>
          <p:nvPr/>
        </p:nvPicPr>
        <p:blipFill>
          <a:blip r:embed="rId2"/>
          <a:stretch>
            <a:fillRect/>
          </a:stretch>
        </p:blipFill>
        <p:spPr>
          <a:xfrm>
            <a:off x="877824" y="5276088"/>
            <a:ext cx="329184" cy="329184"/>
          </a:xfrm>
          <a:prstGeom prst="rect">
            <a:avLst/>
          </a:prstGeom>
        </p:spPr>
      </p:pic>
      <p:sp>
        <p:nvSpPr>
          <p:cNvPr id="7" name="tombol tautan">
            <a:hlinkClick r:id="rId4" tooltip="https://github.com/antonprafanto/mobile2026/blob/main/pertemuan_05_interaksi_dan_state/LATIHAN.md"/>
          </p:cNvPr>
          <p:cNvSpPr txBox="1"/>
          <p:nvPr/>
        </p:nvSpPr>
        <p:spPr>
          <a:xfrm>
            <a:off x="361188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Latihan P5</a:t>
            </a:r>
            <a:endParaRPr lang="en-US" sz="1600" dirty="0"/>
          </a:p>
        </p:txBody>
      </p:sp>
      <p:pic>
        <p:nvPicPr>
          <p:cNvPr id="8" name="Image 1" descr="ikon tautan">
            <a:hlinkClick r:id="rId6" tooltip="https://github.com/antonprafanto/mobile2026/blob/main/pertemuan_05_interaksi_dan_state/LATIHAN.md"/>
          </p:cNvPr>
          <p:cNvPicPr>
            <a:picLocks noChangeAspect="1"/>
          </p:cNvPicPr>
          <p:nvPr/>
        </p:nvPicPr>
        <p:blipFill>
          <a:blip r:embed="rId5"/>
          <a:stretch>
            <a:fillRect/>
          </a:stretch>
        </p:blipFill>
        <p:spPr>
          <a:xfrm>
            <a:off x="3758184" y="5276088"/>
            <a:ext cx="329184" cy="329184"/>
          </a:xfrm>
          <a:prstGeom prst="rect">
            <a:avLst/>
          </a:prstGeom>
        </p:spPr>
      </p:pic>
      <p:sp>
        <p:nvSpPr>
          <p:cNvPr id="9" name="tombol tautan">
            <a:hlinkClick r:id="rId7" tooltip="https://github.com/antonprafanto/mobile2026/blob/main/pertemuan_05_interaksi_dan_state/README.md"/>
          </p:cNvPr>
          <p:cNvSpPr txBox="1"/>
          <p:nvPr/>
        </p:nvSpPr>
        <p:spPr>
          <a:xfrm>
            <a:off x="6492240" y="5166360"/>
            <a:ext cx="2697480" cy="548640"/>
          </a:xfrm>
          <a:prstGeom prst="roundRect">
            <a:avLst>
              <a:gd name="adj" fmla="val 20000"/>
            </a:avLst>
          </a:prstGeom>
          <a:solidFill>
            <a:schemeClr val="accent6"/>
          </a:solidFill>
          <a:ln/>
        </p:spPr>
        <p:txBody>
          <a:bodyPr wrap="square" lIns="622300" tIns="0" rIns="76200" bIns="0" rtlCol="0" anchor="ctr"/>
          <a:lstStyle/>
          <a:p>
            <a:pPr algn="l" indent="0" marL="0">
              <a:buNone/>
            </a:pPr>
            <a:r>
              <a:rPr lang="en-US" sz="1600" b="1" dirty="0">
                <a:solidFill>
                  <a:schemeClr val="bg1"/>
                </a:solidFill>
              </a:rPr>
              <a:t>Modul P5</a:t>
            </a:r>
            <a:endParaRPr lang="en-US" sz="1600" dirty="0"/>
          </a:p>
        </p:txBody>
      </p:sp>
      <p:pic>
        <p:nvPicPr>
          <p:cNvPr id="10" name="Image 2" descr="ikon tautan">
            <a:hlinkClick r:id="rId9" tooltip="https://github.com/antonprafanto/mobile2026/blob/main/pertemuan_05_interaksi_dan_state/README.md"/>
          </p:cNvPr>
          <p:cNvPicPr>
            <a:picLocks noChangeAspect="1"/>
          </p:cNvPicPr>
          <p:nvPr/>
        </p:nvPicPr>
        <p:blipFill>
          <a:blip r:embed="rId8"/>
          <a:stretch>
            <a:fillRect/>
          </a:stretch>
        </p:blipFill>
        <p:spPr>
          <a:xfrm>
            <a:off x="6638544" y="5276088"/>
            <a:ext cx="329184" cy="329184"/>
          </a:xfrm>
          <a:prstGeom prst="rect">
            <a:avLst/>
          </a:prstGeom>
        </p:spPr>
      </p:pic>
      <p:sp>
        <p:nvSpPr>
          <p:cNvPr id="11" name="lingkaran roket"/>
          <p:cNvSpPr/>
          <p:nvPr/>
        </p:nvSpPr>
        <p:spPr>
          <a:xfrm>
            <a:off x="9646920" y="1828800"/>
            <a:ext cx="1737360" cy="1737360"/>
          </a:xfrm>
          <a:prstGeom prst="ellipse">
            <a:avLst/>
          </a:prstGeom>
          <a:solidFill>
            <a:schemeClr val="accent1"/>
          </a:solidFill>
          <a:ln/>
        </p:spPr>
      </p:sp>
      <p:pic>
        <p:nvPicPr>
          <p:cNvPr id="12" name="Image 3" descr="roket">    </p:cNvPr>
          <p:cNvPicPr>
            <a:picLocks noChangeAspect="1"/>
          </p:cNvPicPr>
          <p:nvPr/>
        </p:nvPicPr>
        <p:blipFill>
          <a:blip r:embed="rId10"/>
          <a:stretch>
            <a:fillRect/>
          </a:stretch>
        </p:blipFill>
        <p:spPr>
          <a:xfrm>
            <a:off x="10029139" y="2211019"/>
            <a:ext cx="972922" cy="972922"/>
          </a:xfrm>
          <a:prstGeom prst="rect">
            <a:avLst/>
          </a:prstGeom>
        </p:spPr>
      </p:pic>
    </p:spTree>
  </p:cSld>
  <p:clrMapOvr>
    <a:masterClrMapping/>
  </p:clrMapOvr>
</p:sld>
</file>

<file path=ppt/theme/theme1.xml><?xml version="1.0" encoding="utf-8"?>
<a:theme xmlns:a="http://schemas.openxmlformats.org/drawingml/2006/main" name="PPB Flutter 2026">
  <a:themeElements>
    <a:clrScheme name="PPB Flutter 2026">
      <a:dk1>
        <a:srgbClr val="1B2333"/>
      </a:dk1>
      <a:lt1>
        <a:srgbClr val="FFFFFF"/>
      </a:lt1>
      <a:dk2>
        <a:srgbClr val="0B2545"/>
      </a:dk2>
      <a:lt2>
        <a:srgbClr val="EEF3FA"/>
      </a:lt2>
      <a:accent1>
        <a:srgbClr val="0175C2"/>
      </a:accent1>
      <a:accent2>
        <a:srgbClr val="13B9FD"/>
      </a:accent2>
      <a:accent3>
        <a:srgbClr val="F2A900"/>
      </a:accent3>
      <a:accent4>
        <a:srgbClr val="2E7D32"/>
      </a:accent4>
      <a:accent5>
        <a:srgbClr val="C62828"/>
      </a:accent5>
      <a:accent6>
        <a:srgbClr val="6750A4"/>
      </a:accent6>
      <a:hlink>
        <a:srgbClr val="0175C2"/>
      </a:hlink>
      <a:folHlink>
        <a:srgbClr val="6750A4"/>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Pertemuan 05 - Interaksi Pengguna &amp; State Lokal</dc:title>
  <dc:subject>Materi kuliah Pemrograman Piranti Bergerak (Flutter 2026)</dc:subject>
  <dc:creator>Pemrograman Piranti Bergerak - Informatika S1</dc:creator>
  <cp:lastModifiedBy>Pemrograman Piranti Bergerak - Informatika S1</cp:lastModifiedBy>
  <cp:revision>1</cp:revision>
  <dcterms:created xsi:type="dcterms:W3CDTF">2026-10-13T22:22:50Z</dcterms:created>
  <dcterms:modified xsi:type="dcterms:W3CDTF">2026-10-13T22:22:50Z</dcterms:modified>
</cp:coreProperties>
</file>