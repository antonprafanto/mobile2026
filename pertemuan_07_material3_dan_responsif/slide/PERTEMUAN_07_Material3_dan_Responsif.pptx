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1763c0d8-5210-b483-09f9-a825b607d3b8}">
          <p14:sldIdLst>
            <p14:sldId id="256"/>
            <p14:sldId id="257"/>
            <p14:sldId id="258"/>
            <p14:sldId id="259"/>
          </p14:sldIdLst>
        </p14:section>
        <p14:section name="Material Design 3 dan Tema Aplikasi" id="{aad656f9-eec3-05c8-46ef-ee69f8bea024}">
          <p14:sldIdLst>
            <p14:sldId id="260"/>
            <p14:sldId id="261"/>
            <p14:sldId id="262"/>
            <p14:sldId id="263"/>
            <p14:sldId id="264"/>
          </p14:sldIdLst>
        </p14:section>
        <p14:section name="Skema Warna: Satu Benih, Banyak Peran" id="{c4d33e40-57ad-eb70-6a86-7b73f6adb678}">
          <p14:sldIdLst>
            <p14:sldId id="265"/>
            <p14:sldId id="266"/>
            <p14:sldId id="267"/>
          </p14:sldIdLst>
        </p14:section>
        <p14:section name="Tipografi dan Tema Komponen" id="{ae2c6b09-3612-3af7-08b8-89cece19a0c8}">
          <p14:sldIdLst>
            <p14:sldId id="268"/>
            <p14:sldId id="269"/>
            <p14:sldId id="270"/>
            <p14:sldId id="271"/>
            <p14:sldId id="272"/>
          </p14:sldIdLst>
        </p14:section>
        <p14:section name="Mode Gelap dan Warna Khusus" id="{8ebe4c26-97e3-873b-4525-933fd97b9557}">
          <p14:sldIdLst>
            <p14:sldId id="273"/>
            <p14:sldId id="274"/>
            <p14:sldId id="275"/>
            <p14:sldId id="276"/>
          </p14:sldIdLst>
        </p14:section>
        <p14:section name="Tampilan yang Menyesuaikan Layar" id="{02dc63bb-0ef3-46cb-f31e-69045c919b11}">
          <p14:sldIdLst>
            <p14:sldId id="277"/>
            <p14:sldId id="278"/>
            <p14:sldId id="279"/>
            <p14:sldId id="280"/>
            <p14:sldId id="281"/>
            <p14:sldId id="282"/>
            <p14:sldId id="283"/>
            <p14:sldId id="284"/>
            <p14:sldId id="285"/>
            <p14:sldId id="286"/>
          </p14:sldIdLst>
        </p14:section>
        <p14:section name="Studi Kasus: Pustaka Kampus" id="{9a304f7c-92c7-0c79-b551-d848e7dcfafb}">
          <p14:sldIdLst>
            <p14:sldId id="287"/>
            <p14:sldId id="288"/>
            <p14:sldId id="289"/>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Hari ini ada dua tantangan tampilan: membuat semua halaman seragam (warna, huruf, bentuk) dari satu sumber, dan membuat tata letak menyesuaikan ukuran layar dari ponsel sampai laptop. Bekal: Row/Column/Expanded dan constraints (P4), setState dan SegmentedButton (P5), ListView/GridView dan Navigator (P6).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akhir hari ini: aplikasi Pustaka Kampus yang warnanya bisa diganti, punya mode gelap, memakai NavigationBar di ponsel dan NavigationRail di layar lebar, serta menampilkan daftar dan detail buku berdampingan mulai lebar 840.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A dan B membuat semua halaman mengambil warna dan huruf dari satu sumber, sehingga mudah diganti, termasuk ke mode gelap. Bagian C dan D membuat tata letak menyesuaikan ukuran layar. Bagian E merangkai semuanya.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Minta mahasiswa membuka Gmail atau Google Drive di ponsel dan di laptop, lalu bandingkan: warna dan huruf tetap seragam, tetapi susunannya berubah (menu bawah vs menu samping, satu panel vs dua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Sistem desain di balik Flutter, lalu cara memasang dan membaca 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Panduan lengkap: m3.material.io. Mulai Flutter 3.47 tersedia juga paket material_ui (Material dipisah dari inti Flutter). Kuliah ini tetap memakai package:flutter/material.dart; nama class-nya sama persis, yang berbeda hanya baris import.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Nilai di tabel ini dibuktikan dari kode sumber Flutter 3.47 (kelas _...DefaultsM3). Mahasiswa tidak perlu menghafal; yang penting paham bahwa komponen tidak memakai warna 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Jalankan contoh 01, lalu ganti warnaBenih dan jalankan ulang. Theme.of(context) mencari tema terdekat di atas widget. titleLarge bertipe TextStyle?, maka dipakai ?.copyWith(color: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Aturan hari ini: di dalam halaman jangan menulis Colors.xxx, Color(0xFF...), maupun fontSize. Pengecualian hanya di ThemeData.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ColorScheme.fromSeed, peran warna, dan aturan pasangan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Analogi: peran dalam pentas seni. Kostum boleh berganti setiap tahun (biru, hijau, mode gelap), perannya tetap. Pasangan "on" dijamin kontras di mode terang maupun gelap.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Coba: ganti benih Biru ke Oranye, nyalakan Mode gelap, pilih varian monochrome lalu vibrant. Gulir ke bawah untuk melihat tangga surfaceContainer (Lowest sampai Highest).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gaya huruf siap pakai, lalu mengatur semua komponen sejenis sekaligus.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"Tebal" = FontWeight.w500. Komponen sudah memilih gayanya sendiri: judul AppBar titleLarge, tulisan tombol labelLarge, judul ListTile bodyLarge, subjudul bodyMedium.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Mengganti jenis huruf (pengayaan): daftarkan berkas huruf di pubspec.yaml lalu ThemeData(fontFamily: ...), atau pakai paket google_fonts.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Urutan prioritas: properti di widget &gt; tema terdekat (tema lokal) &gt; tema aplikasi &gt; nilai bawaan M3. Hati-hati: Size.fromHeight(52) berarti lebar sebesar-besarnya; di dalam Row memicu error "BoxConstraints forces an infinite width" — bungkus dengan Expanded.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Tombol merah ini tetap selebar layar dan setinggi 52, karena filledButtonTheme ikut tersalin oleh copyWith. Yang diganti hanya colorScheme.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theme, darkTheme, themeMode, state di akar aplikasi, dan ThemeExtension.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Jika darkTheme tidak diisi, theme (terang) dipakai untuk semua pilihan. Jika brightness: Brightness.dark terlupa, "tema gelap" ternyata terang. Mode gelap M3 bukan hitam pekat: surface gelapnya sedikit bernuansa warna benih.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Pilihan ini hilang saat aplikasi ditutup karena hanya disimpan di memori. Menyimpannya ke perangkat dipelajari di Pertemuan 11 (penyimpanan lokal).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lerp = linear interpolation: mencampur dua warna saat tema berganti agar perubahannya halus. Label status juga menulis teks ("Aman", "Segera", "Terlambat"), bukan hanya warna, agar terbaca oleh pengguna yang sulit membedakan warna.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Mengukur ruang, breakpoint Material 3, navigasi adaptif, daftar–detail, dan ukuran huruf.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Ponsel 1080 piksel fisik dengan rasio kerapatan 3 = 360 piksel logis. Prinsip dari dokumentasi Flutter: putuskan berdasarkan lebar jendela (bukan "apakah ini tablet"), jangan mengunci orientasi, jangan memilih tata letak dari orientasi, batasi lebar isi di layar lebar, dan pertahankan state saat ukuran berubah.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Kartu di panel kanan selebar 400 pada jendela 1200: jika memakai MediaQuery ia mengira punya ruang 1200. Untuk keputusan seperti itu, pakai LayoutBuilder.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Kartu yang sama persis (class KartuAdaptif) menyesuaikan diri dengan ruangnya sendiri. SafeArea: bungkus isi yang menempel di tepi agar tidak tertutup poni kamera; perbedaannya baru terlihat di ponsel sungguhan.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Sumber: halaman Breakpoints di m3.material.io. Istilah lama: window size class. Batas bawah setiap kelas ikut masuk ke kelas itu: 840 sudah "lebar".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Metode static dari(...) dipanggil sebagai KelasUkuran.dari(lebar). Kiri: lebar 360 (1 kolom); kanan: lebar 700 (2 kolom). Di jendela 1000 (gambar di modul) halaman memakai 3 kolom.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Badge.count(count: 3, child: Icon(...)) memberi lencana angka. Peringatan: extended: true wajib labelType null atau none; jika .all → assertion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DaftarPesan tidak perlu tahu tata letaknya; ia hanya memanggil onPilih yang diberikan. Jika jendela diperlebar saat halaman detail terbuka, halaman itu tetap di atas sampai pengguna kembali — wajar untuk aplikasi latihan.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Kebiasaan aksesibilitas lain: pasangan onX untuk kontras, jangan hanya mengandalkan warna, target sentuh minimal 48 × 48 di ponsel, tooltip pada IconButton, jangan mengunci orientasi.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Trik SizedBox(width: 320) dari Pertemuan 6 hanya memengaruhi LayoutBuilder/batasan induk. Untuk menguji breakpoint yang memakai MediaQuery.widthOf, ubah ukuran jendelanya.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Merangkai tema, mode gelap, navigasi adaptif, daftar–detail, dan LayoutBuilder.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Kiri: katalog dengan NavigationBar dan lencana Pinjaman. Tengah: halaman detail (sampul di atas karena ruangnya sempit). Kanan: Pengaturan dalam mode gelap dengan warna Hijau.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Coba: pinjam satu buku (lencana bertambah), pilih Gelap lalu Hijau di Pengaturan, perlebar jendela perlahan dan amati tiga perubahan di 600, 840, dan 1200.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Tutorial lama: AppBarTheme(color: ...) → AppBarThemeData(backgroundColor: ...); background/onBackground/surfaceVariant → surface/onSurface/surfaceContainerHighest.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Minta mahasiswa menjelaskan: apa yang terjadi pada Pustaka Kampus saat jendela diperlebar dari 360 ke 1280, dan widget mana yang membuat keputusan dengan MediaQuery serta mana yang dengan LayoutBuilder.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Ingatkan: tugas mandiri wajib diuji di lebar 320, 360, 700, 1000, dan 1280, dalam mode terang dan gelap. UTS menguji Pertemuan 1–7, terutama 4–7 (tata letak, state, daftar, navigasi, dan tema). Panduan, simulasi, dan latihan persiapannya ada di folder pertemuan_08_uts.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8412480" y="2926080"/>
            <a:ext cx="5669280" cy="5669280"/>
          </a:xfrm>
          <a:prstGeom prst="ellipse">
            <a:avLst/>
          </a:prstGeom>
          <a:solidFill>
            <a:schemeClr val="accent1">
              <a:alpha val="30000"/>
            </a:schemeClr>
          </a:solidFill>
          <a:ln/>
        </p:spPr>
        <p:txBody>
          <a:bodyPr wrap="square" rtlCol="0" anchor="ctr"/>
          <a:lstStyle/>
          <a:p>
            <a:pPr indent="0" marL="0">
              <a:buNone/>
            </a:pPr>
            <a:endParaRPr lang="en-US" dirty="0"/>
          </a:p>
        </p:txBody>
      </p:sp>
      <p:sp>
        <p:nvSpPr>
          <p:cNvPr id="3" name="Text 1"/>
          <p:cNvSpPr/>
          <p:nvPr/>
        </p:nvSpPr>
        <p:spPr>
          <a:xfrm>
            <a:off x="9692640" y="-1280160"/>
            <a:ext cx="3291840" cy="3291840"/>
          </a:xfrm>
          <a:prstGeom prst="ellipse">
            <a:avLst/>
          </a:prstGeom>
          <a:solidFill>
            <a:schemeClr val="accent2">
              <a:alpha val="20000"/>
            </a:schemeClr>
          </a:solidFill>
          <a:ln/>
        </p:spPr>
        <p:txBody>
          <a:bodyPr wrap="square" rtlCol="0" anchor="ctr"/>
          <a:lstStyle/>
          <a:p>
            <a:pPr indent="0" marL="0">
              <a:buNone/>
            </a:pPr>
            <a:endParaRPr lang="en-US" dirty="0"/>
          </a:p>
        </p:txBody>
      </p:sp>
      <p:sp>
        <p:nvSpPr>
          <p:cNvPr id="4" name="Text 2"/>
          <p:cNvSpPr/>
          <p:nvPr/>
        </p:nvSpPr>
        <p:spPr>
          <a:xfrm>
            <a:off x="731520" y="1005840"/>
            <a:ext cx="822960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PEMROGRAMAN PIRANTI BERGERAK  ·  INFORMATIKA S1</a:t>
            </a:r>
            <a:endParaRPr lang="en-US" sz="1400" dirty="0"/>
          </a:p>
        </p:txBody>
      </p:sp>
      <p:sp>
        <p:nvSpPr>
          <p:cNvPr id="5" name="Text 3"/>
          <p:cNvSpPr/>
          <p:nvPr/>
        </p:nvSpPr>
        <p:spPr>
          <a:xfrm>
            <a:off x="731520" y="5989320"/>
            <a:ext cx="7315200" cy="320040"/>
          </a:xfrm>
          <a:prstGeom prst="rect">
            <a:avLst/>
          </a:prstGeom>
          <a:noFill/>
          <a:ln/>
        </p:spPr>
        <p:txBody>
          <a:bodyPr wrap="square" lIns="0" tIns="0" rIns="0" bIns="0" rtlCol="0" anchor="ctr"/>
          <a:lstStyle/>
          <a:p>
            <a:pPr indent="0" marL="0">
              <a:buNone/>
            </a:pPr>
            <a:r>
              <a:rPr lang="en-US" sz="1300" dirty="0">
                <a:solidFill>
                  <a:schemeClr val="bg2"/>
                </a:solidFill>
              </a:rPr>
              <a:t>github.com/antonprafanto/mobile2026</a:t>
            </a:r>
            <a:endParaRPr lang="en-US" sz="1300" dirty="0"/>
          </a:p>
        </p:txBody>
      </p:sp>
      <p:sp>
        <p:nvSpPr>
          <p:cNvPr id="6" name="Text 4"/>
          <p:cNvSpPr/>
          <p:nvPr>
            <p:ph idx="104" type="title" hasCustomPrompt="1"/>
          </p:nvPr>
        </p:nvSpPr>
        <p:spPr>
          <a:xfrm>
            <a:off x="731520" y="1554480"/>
            <a:ext cx="877824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7" name="Text 4"/>
          <p:cNvSpPr/>
          <p:nvPr>
            <p:ph idx="105" type="body" hasCustomPrompt="1"/>
          </p:nvPr>
        </p:nvSpPr>
        <p:spPr>
          <a:xfrm>
            <a:off x="731520" y="3840480"/>
            <a:ext cx="8412480" cy="12801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1645920" y="4023360"/>
            <a:ext cx="4572000" cy="4572000"/>
          </a:xfrm>
          <a:prstGeom prst="ellipse">
            <a:avLst/>
          </a:prstGeom>
          <a:solidFill>
            <a:schemeClr val="accent1">
              <a:alpha val="25000"/>
            </a:schemeClr>
          </a:solidFill>
          <a:ln/>
        </p:spPr>
        <p:txBody>
          <a:bodyPr wrap="square" rtlCol="0" anchor="ctr"/>
          <a:lstStyle/>
          <a:p>
            <a:pPr indent="0" marL="0">
              <a:buNone/>
            </a:pPr>
            <a:endParaRPr lang="en-US" dirty="0"/>
          </a:p>
        </p:txBody>
      </p:sp>
      <p:sp>
        <p:nvSpPr>
          <p:cNvPr id="3" name="Text 1"/>
          <p:cNvSpPr/>
          <p:nvPr>
            <p:ph idx="101" type="body" hasCustomPrompt="1"/>
          </p:nvPr>
        </p:nvSpPr>
        <p:spPr>
          <a:xfrm>
            <a:off x="3840480" y="2103120"/>
            <a:ext cx="7680960" cy="457200"/>
          </a:xfrm>
          <a:prstGeom prst="rect">
            <a:avLst/>
          </a:prstGeom>
          <a:noFill/>
          <a:ln/>
        </p:spPr>
        <p:txBody>
          <a:bodyPr wrap="square" rtlCol="0"/>
          <a:lstStyle>
            <a:lvl1pPr indent="0" marL="0">
              <a:buNone/>
              <a:defRPr lang="en-US" sz="1800" b="1" spc="200" kern="0" dirty="0">
                <a:solidFill>
                  <a:schemeClr val="accent2"/>
                </a:solidFill>
              </a:defRPr>
            </a:lvl1pPr>
          </a:lstStyle>
          <a:p>
            <a:pPr indent="0" marL="0">
              <a:buNone/>
            </a:pP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5" name="Text 1"/>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chemeClr val="bg2"/>
                </a:solidFill>
              </a:rPr>
              <a:t>Pemrograman Piranti Bergerak  ·  Pertemuan 07  ·  Material 3 &amp; UI Responsif</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ONTEN">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6B7A90"/>
                </a:solidFill>
              </a:rPr>
              <a:t>Pemrograman Piranti Bergerak  ·  Pertemuan 07  ·  Material 3 &amp; UI Responsif</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image" Target="../media/image-2-1.png"/><Relationship Id="rId6" Type="http://schemas.openxmlformats.org/officeDocument/2006/relationships/image" Target="../media/image-2-1.png"/><Relationship Id="rId7" Type="http://schemas.openxmlformats.org/officeDocument/2006/relationships/slideLayout" Target="../slideLayouts/slideLayout4.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antonprafanto/mobile2026/blob/main/pertemuan_07_material3_dan_responsif/kode/contoh_01_tema_dan_theme_of.dart" TargetMode="External"/><Relationship Id="rId5" Type="http://schemas.openxmlformats.org/officeDocument/2006/relationships/hyperlink" Target="https://github.com/antonprafanto/mobile2026/blob/main/pertemuan_07_material3_dan_responsif/kode/contoh_01_tema_dan_theme_of.dart" TargetMode="External"/><Relationship Id="rId1" Type="http://schemas.openxmlformats.org/officeDocument/2006/relationships/image" Target="../media/image-8-1.jpg"/><Relationship Id="rId2" Type="http://schemas.openxmlformats.org/officeDocument/2006/relationships/image" Target="../media/image-8-2.jpg"/><Relationship Id="rId4" Type="http://schemas.openxmlformats.org/officeDocument/2006/relationships/image" Target="../media/image-8-3.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antonprafanto/mobile2026/blob/main/pertemuan_07_material3_dan_responsif/kode/contoh_02_peran_warna.dart" TargetMode="External"/><Relationship Id="rId5" Type="http://schemas.openxmlformats.org/officeDocument/2006/relationships/hyperlink" Target="https://github.com/antonprafanto/mobile2026/blob/main/pertemuan_07_material3_dan_responsif/kode/contoh_02_peran_warna.dart" TargetMode="External"/><Relationship Id="rId1" Type="http://schemas.openxmlformats.org/officeDocument/2006/relationships/image" Target="../media/image-12-1.jpg"/><Relationship Id="rId2" Type="http://schemas.openxmlformats.org/officeDocument/2006/relationships/image" Target="../media/image-12-2.jpg"/><Relationship Id="rId4" Type="http://schemas.openxmlformats.org/officeDocument/2006/relationships/image" Target="../media/image-12-3.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antonprafanto/mobile2026/blob/main/pertemuan_07_material3_dan_responsif/kode/contoh_03_tipografi.dart" TargetMode="External"/><Relationship Id="rId5" Type="http://schemas.openxmlformats.org/officeDocument/2006/relationships/hyperlink" Target="https://github.com/antonprafanto/mobile2026/blob/main/pertemuan_07_material3_dan_responsif/kode/contoh_03_tipografi.dart" TargetMode="External"/><Relationship Id="rId1" Type="http://schemas.openxmlformats.org/officeDocument/2006/relationships/image" Target="../media/image-15-1.jpg"/><Relationship Id="rId2" Type="http://schemas.openxmlformats.org/officeDocument/2006/relationships/image" Target="../media/image-15-2.jpg"/><Relationship Id="rId4" Type="http://schemas.openxmlformats.org/officeDocument/2006/relationships/image" Target="../media/image-15-3.png"/><Relationship Id="rId6" Type="http://schemas.openxmlformats.org/officeDocument/2006/relationships/slideLayout" Target="../slideLayouts/slideLayout4.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antonprafanto/mobile2026/blob/main/pertemuan_07_material3_dan_responsif/kode/contoh_04_tema_komponen.dart" TargetMode="External"/><Relationship Id="rId4" Type="http://schemas.openxmlformats.org/officeDocument/2006/relationships/hyperlink" Target="https://github.com/antonprafanto/mobile2026/blob/main/pertemuan_07_material3_dan_responsif/kode/contoh_04_tema_komponen.dart" TargetMode="External"/><Relationship Id="rId1" Type="http://schemas.openxmlformats.org/officeDocument/2006/relationships/image" Target="../media/image-16-1.jpg"/><Relationship Id="rId3" Type="http://schemas.openxmlformats.org/officeDocument/2006/relationships/image" Target="../media/image-16-2.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github.com/antonprafanto/mobile2026/blob/main/pertemuan_07_material3_dan_responsif/kode/contoh_04_tema_komponen.dart" TargetMode="External"/><Relationship Id="rId3" Type="http://schemas.openxmlformats.org/officeDocument/2006/relationships/hyperlink" Target="https://github.com/antonprafanto/mobile2026/blob/main/pertemuan_07_material3_dan_responsif/kode/contoh_04_tema_komponen.dart" TargetMode="External"/><Relationship Id="rId2" Type="http://schemas.openxmlformats.org/officeDocument/2006/relationships/image" Target="../media/image-17-1.png"/><Relationship Id="rId4" Type="http://schemas.openxmlformats.org/officeDocument/2006/relationships/slideLayout" Target="../slideLayouts/slideLayout4.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antonprafanto/mobile2026/blob/main/pertemuan_07_material3_dan_responsif/kode/contoh_05_mode_gelap.dart" TargetMode="External"/><Relationship Id="rId5" Type="http://schemas.openxmlformats.org/officeDocument/2006/relationships/hyperlink" Target="https://github.com/antonprafanto/mobile2026/blob/main/pertemuan_07_material3_dan_responsif/kode/contoh_05_mode_gelap.dart" TargetMode="External"/><Relationship Id="rId1" Type="http://schemas.openxmlformats.org/officeDocument/2006/relationships/image" Target="../media/image-19-1.jpg"/><Relationship Id="rId2" Type="http://schemas.openxmlformats.org/officeDocument/2006/relationships/image" Target="../media/image-19-2.jpg"/><Relationship Id="rId4" Type="http://schemas.openxmlformats.org/officeDocument/2006/relationships/image" Target="../media/image-19-3.png"/><Relationship Id="rId6" Type="http://schemas.openxmlformats.org/officeDocument/2006/relationships/slideLayout" Target="../slideLayouts/slideLayout4.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4.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hyperlink" Target="https://github.com/antonprafanto/mobile2026/blob/main/pertemuan_07_material3_dan_responsif/kode/contoh_06_warna_khusus_theme_extension.dart" TargetMode="External"/><Relationship Id="rId5" Type="http://schemas.openxmlformats.org/officeDocument/2006/relationships/hyperlink" Target="https://github.com/antonprafanto/mobile2026/blob/main/pertemuan_07_material3_dan_responsif/kode/contoh_06_warna_khusus_theme_extension.dart" TargetMode="External"/><Relationship Id="rId1" Type="http://schemas.openxmlformats.org/officeDocument/2006/relationships/image" Target="../media/image-21-1.jpg"/><Relationship Id="rId2" Type="http://schemas.openxmlformats.org/officeDocument/2006/relationships/image" Target="../media/image-21-2.jpg"/><Relationship Id="rId4" Type="http://schemas.openxmlformats.org/officeDocument/2006/relationships/image" Target="../media/image-21-3.png"/><Relationship Id="rId6" Type="http://schemas.openxmlformats.org/officeDocument/2006/relationships/slideLayout" Target="../slideLayouts/slideLayout4.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antonprafanto/mobile2026/blob/main/pertemuan_07_material3_dan_responsif/kode/contoh_07_mediaquery_dan_layoutbuilder.dart" TargetMode="External"/><Relationship Id="rId5" Type="http://schemas.openxmlformats.org/officeDocument/2006/relationships/hyperlink" Target="https://github.com/antonprafanto/mobile2026/blob/main/pertemuan_07_material3_dan_responsif/kode/contoh_07_mediaquery_dan_layoutbuilder.dart" TargetMode="External"/><Relationship Id="rId1" Type="http://schemas.openxmlformats.org/officeDocument/2006/relationships/image" Target="../media/image-25-1.jpg"/><Relationship Id="rId2" Type="http://schemas.openxmlformats.org/officeDocument/2006/relationships/image" Target="../media/image-25-2.jpg"/><Relationship Id="rId4" Type="http://schemas.openxmlformats.org/officeDocument/2006/relationships/image" Target="../media/image-25-3.png"/><Relationship Id="rId6" Type="http://schemas.openxmlformats.org/officeDocument/2006/relationships/slideLayout" Target="../slideLayouts/slideLayout4.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hyperlink" Target="https://github.com/antonprafanto/mobile2026/blob/main/pertemuan_07_material3_dan_responsif/kode/contoh_08_breakpoint_material3.dart" TargetMode="External"/><Relationship Id="rId5" Type="http://schemas.openxmlformats.org/officeDocument/2006/relationships/hyperlink" Target="https://github.com/antonprafanto/mobile2026/blob/main/pertemuan_07_material3_dan_responsif/kode/contoh_08_breakpoint_material3.dart" TargetMode="External"/><Relationship Id="rId1" Type="http://schemas.openxmlformats.org/officeDocument/2006/relationships/image" Target="../media/image-27-1.jpg"/><Relationship Id="rId2" Type="http://schemas.openxmlformats.org/officeDocument/2006/relationships/image" Target="../media/image-27-2.jpg"/><Relationship Id="rId4" Type="http://schemas.openxmlformats.org/officeDocument/2006/relationships/image" Target="../media/image-27-3.png"/><Relationship Id="rId6" Type="http://schemas.openxmlformats.org/officeDocument/2006/relationships/slideLayout" Target="../slideLayouts/slideLayout4.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antonprafanto/mobile2026/blob/main/pertemuan_07_material3_dan_responsif/kode/contoh_09_navigasi_adaptif.dart" TargetMode="External"/><Relationship Id="rId5" Type="http://schemas.openxmlformats.org/officeDocument/2006/relationships/hyperlink" Target="https://github.com/antonprafanto/mobile2026/blob/main/pertemuan_07_material3_dan_responsif/kode/contoh_09_navigasi_adaptif.dart" TargetMode="External"/><Relationship Id="rId1" Type="http://schemas.openxmlformats.org/officeDocument/2006/relationships/image" Target="../media/image-28-1.jpg"/><Relationship Id="rId2" Type="http://schemas.openxmlformats.org/officeDocument/2006/relationships/image" Target="../media/image-28-2.jpg"/><Relationship Id="rId4" Type="http://schemas.openxmlformats.org/officeDocument/2006/relationships/image" Target="../media/image-28-3.png"/><Relationship Id="rId6" Type="http://schemas.openxmlformats.org/officeDocument/2006/relationships/slideLayout" Target="../slideLayouts/slideLayout4.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hyperlink" Target="https://github.com/antonprafanto/mobile2026/blob/main/pertemuan_07_material3_dan_responsif/kode/contoh_10_daftar_detail.dart" TargetMode="External"/><Relationship Id="rId5" Type="http://schemas.openxmlformats.org/officeDocument/2006/relationships/hyperlink" Target="https://github.com/antonprafanto/mobile2026/blob/main/pertemuan_07_material3_dan_responsif/kode/contoh_10_daftar_detail.dart" TargetMode="External"/><Relationship Id="rId1" Type="http://schemas.openxmlformats.org/officeDocument/2006/relationships/image" Target="../media/image-29-1.jpg"/><Relationship Id="rId2" Type="http://schemas.openxmlformats.org/officeDocument/2006/relationships/image" Target="../media/image-29-2.jpg"/><Relationship Id="rId4" Type="http://schemas.openxmlformats.org/officeDocument/2006/relationships/image" Target="../media/image-29-3.png"/><Relationship Id="rId6" Type="http://schemas.openxmlformats.org/officeDocument/2006/relationships/slideLayout" Target="../slideLayouts/slideLayout4.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antonprafanto/mobile2026/blob/main/pertemuan_07_material3_dan_responsif/kode/contoh_11_ukuran_huruf_pengguna.dart" TargetMode="External"/><Relationship Id="rId5" Type="http://schemas.openxmlformats.org/officeDocument/2006/relationships/hyperlink" Target="https://github.com/antonprafanto/mobile2026/blob/main/pertemuan_07_material3_dan_responsif/kode/contoh_11_ukuran_huruf_pengguna.dart" TargetMode="External"/><Relationship Id="rId1" Type="http://schemas.openxmlformats.org/officeDocument/2006/relationships/image" Target="../media/image-30-1.jpg"/><Relationship Id="rId2" Type="http://schemas.openxmlformats.org/officeDocument/2006/relationships/image" Target="../media/image-30-2.jpg"/><Relationship Id="rId4" Type="http://schemas.openxmlformats.org/officeDocument/2006/relationships/image" Target="../media/image-30-3.png"/><Relationship Id="rId6" Type="http://schemas.openxmlformats.org/officeDocument/2006/relationships/slideLayout" Target="../slideLayouts/slideLayout4.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4" Type="http://schemas.openxmlformats.org/officeDocument/2006/relationships/hyperlink" Target="https://github.com/antonprafanto/mobile2026/blob/main/pertemuan_07_material3_dan_responsif/kode/contoh_12_studi_kasus_pustaka_kampus.dart" TargetMode="External"/><Relationship Id="rId6" Type="http://schemas.openxmlformats.org/officeDocument/2006/relationships/hyperlink" Target="https://github.com/antonprafanto/mobile2026/blob/main/pertemuan_07_material3_dan_responsif/kode/contoh_12_studi_kasus_pustaka_kampus.dart" TargetMode="External"/><Relationship Id="rId1" Type="http://schemas.openxmlformats.org/officeDocument/2006/relationships/image" Target="../media/image-33-1.jpg"/><Relationship Id="rId2" Type="http://schemas.openxmlformats.org/officeDocument/2006/relationships/image" Target="../media/image-33-2.jpg"/><Relationship Id="rId3" Type="http://schemas.openxmlformats.org/officeDocument/2006/relationships/image" Target="../media/image-33-3.jpg"/><Relationship Id="rId5" Type="http://schemas.openxmlformats.org/officeDocument/2006/relationships/image" Target="../media/image-33-4.png"/><Relationship Id="rId7" Type="http://schemas.openxmlformats.org/officeDocument/2006/relationships/slideLayout" Target="../slideLayouts/slideLayout4.xml"/><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hyperlink" Target="https://github.com/antonprafanto/mobile2026/blob/main/pertemuan_07_material3_dan_responsif/JOBSHEET.md" TargetMode="External"/><Relationship Id="rId3" Type="http://schemas.openxmlformats.org/officeDocument/2006/relationships/hyperlink" Target="https://github.com/antonprafanto/mobile2026/blob/main/pertemuan_07_material3_dan_responsif/JOBSHEET.md" TargetMode="External"/><Relationship Id="rId4" Type="http://schemas.openxmlformats.org/officeDocument/2006/relationships/hyperlink" Target="https://github.com/antonprafanto/mobile2026/blob/main/pertemuan_07_material3_dan_responsif/LATIHAN.md" TargetMode="External"/><Relationship Id="rId6" Type="http://schemas.openxmlformats.org/officeDocument/2006/relationships/hyperlink" Target="https://github.com/antonprafanto/mobile2026/blob/main/pertemuan_07_material3_dan_responsif/LATIHAN.md" TargetMode="External"/><Relationship Id="rId7" Type="http://schemas.openxmlformats.org/officeDocument/2006/relationships/hyperlink" Target="https://github.com/antonprafanto/mobile2026/blob/main/pertemuan_07_material3_dan_responsif/README.md" TargetMode="External"/><Relationship Id="rId9" Type="http://schemas.openxmlformats.org/officeDocument/2006/relationships/hyperlink" Target="https://github.com/antonprafanto/mobile2026/blob/main/pertemuan_07_material3_dan_responsif/README.md" TargetMode="External"/><Relationship Id="rId2" Type="http://schemas.openxmlformats.org/officeDocument/2006/relationships/image" Target="../media/image-37-1.png"/><Relationship Id="rId5" Type="http://schemas.openxmlformats.org/officeDocument/2006/relationships/image" Target="../media/image-37-2.png"/><Relationship Id="rId8" Type="http://schemas.openxmlformats.org/officeDocument/2006/relationships/image" Target="../media/image-37-3.png"/><Relationship Id="rId10" Type="http://schemas.openxmlformats.org/officeDocument/2006/relationships/image" Target="../media/image-37-4.png"/><Relationship Id="rId11" Type="http://schemas.openxmlformats.org/officeDocument/2006/relationships/slideLayout" Target="../slideLayouts/slideLayout2.xml"/><Relationship Id="rId1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4"/>
          <p:cNvSpPr/>
          <p:nvPr>
            <p:ph idx="104" type="title" hasCustomPrompt="1"/>
          </p:nvPr>
        </p:nvSpPr>
        <p:spPr>
          <a:xfrm>
            <a:off x="731520" y="1554480"/>
            <a:ext cx="8778240" cy="2103120"/>
          </a:xfrm>
          <a:prstGeom prst="rect">
            <a:avLst/>
          </a:prstGeom>
          <a:noFill/>
          <a:ln/>
        </p:spPr>
        <p:txBody>
          <a:bodyPr wrap="square" lIns="0" tIns="0" rIns="0" bIns="0" rtlCol="0" anchor="b"/>
          <a:lstStyle/>
          <a:p>
            <a:pPr algn="l" indent="0" marL="0">
              <a:buNone/>
            </a:pPr>
            <a:r>
              <a:rPr lang="en-US" sz="4400" b="1" dirty="0">
                <a:solidFill>
                  <a:schemeClr val="bg1"/>
                </a:solidFill>
              </a:rPr>
              <a:t>Material Design 3 &amp; UI Responsif</a:t>
            </a:r>
            <a:endParaRPr lang="en-US" sz="4400" dirty="0"/>
          </a:p>
        </p:txBody>
      </p:sp>
      <p:sp>
        <p:nvSpPr>
          <p:cNvPr id="4" name="Text 4"/>
          <p:cNvSpPr/>
          <p:nvPr>
            <p:ph idx="105" type="body" hasCustomPrompt="1"/>
          </p:nvPr>
        </p:nvSpPr>
        <p:spPr>
          <a:xfrm>
            <a:off x="731520" y="3840480"/>
            <a:ext cx="8412480" cy="1280160"/>
          </a:xfrm>
          <a:prstGeom prst="rect">
            <a:avLst/>
          </a:prstGeom>
          <a:noFill/>
          <a:ln/>
        </p:spPr>
        <p:txBody>
          <a:bodyPr wrap="square" lIns="0" tIns="0" rIns="0" bIns="0" rtlCol="0" anchor="t"/>
          <a:lstStyle/>
          <a:p>
            <a:pPr algn="l" indent="0" marL="0">
              <a:buNone/>
            </a:pPr>
            <a:r>
              <a:rPr lang="en-US" sz="2000" dirty="0">
                <a:solidFill>
                  <a:schemeClr val="bg2"/>
                </a:solidFill>
              </a:rPr>
              <a:t>Pertemuan 7  ·  tema, skema warna, tipografi, tema komponen, mode gelap, MediaQuery, LayoutBuilder, breakpoint, navigasi adaptif, dan pola daftar–detail</a:t>
            </a:r>
            <a:endParaRPr lang="en-US" sz="2000" dirty="0"/>
          </a:p>
        </p:txBody>
      </p:sp>
      <p:sp>
        <p:nvSpPr>
          <p:cNvPr id="5" name="lingkaran hp"/>
          <p:cNvSpPr/>
          <p:nvPr/>
        </p:nvSpPr>
        <p:spPr>
          <a:xfrm>
            <a:off x="9646920" y="1828800"/>
            <a:ext cx="1737360" cy="1737360"/>
          </a:xfrm>
          <a:prstGeom prst="ellipse">
            <a:avLst/>
          </a:prstGeom>
          <a:solidFill>
            <a:schemeClr val="accent1"/>
          </a:solidFill>
          <a:ln/>
        </p:spPr>
      </p:sp>
      <p:pic>
        <p:nvPicPr>
          <p:cNvPr id="6" name="Image 0" descr="hp">    </p:cNvPr>
          <p:cNvPicPr>
            <a:picLocks noChangeAspect="1"/>
          </p:cNvPicPr>
          <p:nvPr/>
        </p:nvPicPr>
        <p:blipFill>
          <a:blip r:embed="rId1"/>
          <a:stretch>
            <a:fillRect/>
          </a:stretch>
        </p:blipFill>
        <p:spPr>
          <a:xfrm>
            <a:off x="10029139" y="2211019"/>
            <a:ext cx="972922" cy="9729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Tujuan Pembelajaran</a:t>
            </a:r>
            <a:endParaRPr lang="en-US" sz="3200" dirty="0"/>
          </a:p>
        </p:txBody>
      </p:sp>
      <p:sp>
        <p:nvSpPr>
          <p:cNvPr id="4" name="Text 1"/>
          <p:cNvSpPr txBox="1"/>
          <p:nvPr/>
        </p:nvSpPr>
        <p:spPr>
          <a:xfrm>
            <a:off x="548640" y="1325880"/>
            <a:ext cx="11094415" cy="411480"/>
          </a:xfrm>
          <a:prstGeom prst="rect">
            <a:avLst/>
          </a:prstGeom>
          <a:noFill/>
          <a:ln/>
        </p:spPr>
        <p:txBody>
          <a:bodyPr wrap="square" lIns="0" tIns="0" rIns="0" bIns="0" rtlCol="0" anchor="ctr"/>
          <a:lstStyle/>
          <a:p>
            <a:pPr indent="0" marL="0">
              <a:buNone/>
            </a:pPr>
            <a:r>
              <a:rPr lang="en-US" sz="1800" i="1" dirty="0">
                <a:solidFill>
                  <a:srgbClr val="4A5870"/>
                </a:solidFill>
              </a:rPr>
              <a:t>Setelah pertemuan ini, Anda mampu:</a:t>
            </a:r>
            <a:endParaRPr lang="en-US" sz="1800" dirty="0"/>
          </a:p>
        </p:txBody>
      </p:sp>
      <p:sp>
        <p:nvSpPr>
          <p:cNvPr id="5" name="lingkaran centang"/>
          <p:cNvSpPr/>
          <p:nvPr/>
        </p:nvSpPr>
        <p:spPr>
          <a:xfrm>
            <a:off x="548640" y="2011680"/>
            <a:ext cx="594360" cy="594360"/>
          </a:xfrm>
          <a:prstGeom prst="ellipse">
            <a:avLst/>
          </a:prstGeom>
          <a:solidFill>
            <a:schemeClr val="accent4"/>
          </a:solidFill>
          <a:ln/>
        </p:spPr>
      </p:sp>
      <p:pic>
        <p:nvPicPr>
          <p:cNvPr id="6" name="Image 0" descr="centang">    </p:cNvPr>
          <p:cNvPicPr>
            <a:picLocks noChangeAspect="1"/>
          </p:cNvPicPr>
          <p:nvPr/>
        </p:nvPicPr>
        <p:blipFill>
          <a:blip r:embed="rId1"/>
          <a:stretch>
            <a:fillRect/>
          </a:stretch>
        </p:blipFill>
        <p:spPr>
          <a:xfrm>
            <a:off x="679399" y="2142439"/>
            <a:ext cx="332842" cy="332842"/>
          </a:xfrm>
          <a:prstGeom prst="rect">
            <a:avLst/>
          </a:prstGeom>
        </p:spPr>
      </p:pic>
      <p:sp>
        <p:nvSpPr>
          <p:cNvPr id="7" name="Text 3"/>
          <p:cNvSpPr txBox="1"/>
          <p:nvPr/>
        </p:nvSpPr>
        <p:spPr>
          <a:xfrm>
            <a:off x="1325880" y="192024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Mengatur tema dengan ThemeData dan membacanya lewat Theme.of(context)</a:t>
            </a:r>
            <a:endParaRPr lang="en-US" sz="1900" dirty="0"/>
          </a:p>
        </p:txBody>
      </p:sp>
      <p:sp>
        <p:nvSpPr>
          <p:cNvPr id="8" name="lingkaran centang"/>
          <p:cNvSpPr/>
          <p:nvPr/>
        </p:nvSpPr>
        <p:spPr>
          <a:xfrm>
            <a:off x="548640" y="3200400"/>
            <a:ext cx="594360" cy="594360"/>
          </a:xfrm>
          <a:prstGeom prst="ellipse">
            <a:avLst/>
          </a:prstGeom>
          <a:solidFill>
            <a:schemeClr val="accent4"/>
          </a:solidFill>
          <a:ln/>
        </p:spPr>
      </p:sp>
      <p:pic>
        <p:nvPicPr>
          <p:cNvPr id="9" name="Image 1" descr="centang">    </p:cNvPr>
          <p:cNvPicPr>
            <a:picLocks noChangeAspect="1"/>
          </p:cNvPicPr>
          <p:nvPr/>
        </p:nvPicPr>
        <p:blipFill>
          <a:blip r:embed="rId2"/>
          <a:stretch>
            <a:fillRect/>
          </a:stretch>
        </p:blipFill>
        <p:spPr>
          <a:xfrm>
            <a:off x="679399" y="3331159"/>
            <a:ext cx="332842" cy="332842"/>
          </a:xfrm>
          <a:prstGeom prst="rect">
            <a:avLst/>
          </a:prstGeom>
        </p:spPr>
      </p:pic>
      <p:sp>
        <p:nvSpPr>
          <p:cNvPr id="10" name="Text 5"/>
          <p:cNvSpPr txBox="1"/>
          <p:nvPr/>
        </p:nvSpPr>
        <p:spPr>
          <a:xfrm>
            <a:off x="1325880" y="310896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Membuat skema warna dari satu benih dan memakai peran warna beserta pasangan "on"</a:t>
            </a:r>
            <a:endParaRPr lang="en-US" sz="1900" dirty="0"/>
          </a:p>
        </p:txBody>
      </p:sp>
      <p:sp>
        <p:nvSpPr>
          <p:cNvPr id="11" name="lingkaran centang"/>
          <p:cNvSpPr/>
          <p:nvPr/>
        </p:nvSpPr>
        <p:spPr>
          <a:xfrm>
            <a:off x="548640" y="4389120"/>
            <a:ext cx="594360" cy="594360"/>
          </a:xfrm>
          <a:prstGeom prst="ellipse">
            <a:avLst/>
          </a:prstGeom>
          <a:solidFill>
            <a:schemeClr val="accent4"/>
          </a:solidFill>
          <a:ln/>
        </p:spPr>
      </p:sp>
      <p:pic>
        <p:nvPicPr>
          <p:cNvPr id="12" name="Image 2" descr="centang">    </p:cNvPr>
          <p:cNvPicPr>
            <a:picLocks noChangeAspect="1"/>
          </p:cNvPicPr>
          <p:nvPr/>
        </p:nvPicPr>
        <p:blipFill>
          <a:blip r:embed="rId3"/>
          <a:stretch>
            <a:fillRect/>
          </a:stretch>
        </p:blipFill>
        <p:spPr>
          <a:xfrm>
            <a:off x="679399" y="4519879"/>
            <a:ext cx="332842" cy="332842"/>
          </a:xfrm>
          <a:prstGeom prst="rect">
            <a:avLst/>
          </a:prstGeom>
        </p:spPr>
      </p:pic>
      <p:sp>
        <p:nvSpPr>
          <p:cNvPr id="13" name="Text 7"/>
          <p:cNvSpPr txBox="1"/>
          <p:nvPr/>
        </p:nvSpPr>
        <p:spPr>
          <a:xfrm>
            <a:off x="1325880" y="429768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Memakai 15 gaya huruf TextTheme, tema komponen, dan tema lokal</a:t>
            </a:r>
            <a:endParaRPr lang="en-US" sz="1900" dirty="0"/>
          </a:p>
        </p:txBody>
      </p:sp>
      <p:sp>
        <p:nvSpPr>
          <p:cNvPr id="14" name="lingkaran centang"/>
          <p:cNvSpPr/>
          <p:nvPr/>
        </p:nvSpPr>
        <p:spPr>
          <a:xfrm>
            <a:off x="6278728" y="2011680"/>
            <a:ext cx="594360" cy="594360"/>
          </a:xfrm>
          <a:prstGeom prst="ellipse">
            <a:avLst/>
          </a:prstGeom>
          <a:solidFill>
            <a:schemeClr val="accent4"/>
          </a:solidFill>
          <a:ln/>
        </p:spPr>
      </p:sp>
      <p:pic>
        <p:nvPicPr>
          <p:cNvPr id="15" name="Image 3" descr="centang">    </p:cNvPr>
          <p:cNvPicPr>
            <a:picLocks noChangeAspect="1"/>
          </p:cNvPicPr>
          <p:nvPr/>
        </p:nvPicPr>
        <p:blipFill>
          <a:blip r:embed="rId4"/>
          <a:stretch>
            <a:fillRect/>
          </a:stretch>
        </p:blipFill>
        <p:spPr>
          <a:xfrm>
            <a:off x="6409487" y="2142439"/>
            <a:ext cx="332842" cy="332842"/>
          </a:xfrm>
          <a:prstGeom prst="rect">
            <a:avLst/>
          </a:prstGeom>
        </p:spPr>
      </p:pic>
      <p:sp>
        <p:nvSpPr>
          <p:cNvPr id="16" name="Text 9"/>
          <p:cNvSpPr txBox="1"/>
          <p:nvPr/>
        </p:nvSpPr>
        <p:spPr>
          <a:xfrm>
            <a:off x="7055968" y="192024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Menyediakan mode gelap dan warna khusus (ThemeExtension)</a:t>
            </a:r>
            <a:endParaRPr lang="en-US" sz="1900" dirty="0"/>
          </a:p>
        </p:txBody>
      </p:sp>
      <p:sp>
        <p:nvSpPr>
          <p:cNvPr id="17" name="lingkaran centang"/>
          <p:cNvSpPr/>
          <p:nvPr/>
        </p:nvSpPr>
        <p:spPr>
          <a:xfrm>
            <a:off x="6278728" y="3200400"/>
            <a:ext cx="594360" cy="594360"/>
          </a:xfrm>
          <a:prstGeom prst="ellipse">
            <a:avLst/>
          </a:prstGeom>
          <a:solidFill>
            <a:schemeClr val="accent4"/>
          </a:solidFill>
          <a:ln/>
        </p:spPr>
      </p:sp>
      <p:pic>
        <p:nvPicPr>
          <p:cNvPr id="18" name="Image 4" descr="centang">    </p:cNvPr>
          <p:cNvPicPr>
            <a:picLocks noChangeAspect="1"/>
          </p:cNvPicPr>
          <p:nvPr/>
        </p:nvPicPr>
        <p:blipFill>
          <a:blip r:embed="rId5"/>
          <a:stretch>
            <a:fillRect/>
          </a:stretch>
        </p:blipFill>
        <p:spPr>
          <a:xfrm>
            <a:off x="6409487" y="3331159"/>
            <a:ext cx="332842" cy="332842"/>
          </a:xfrm>
          <a:prstGeom prst="rect">
            <a:avLst/>
          </a:prstGeom>
        </p:spPr>
      </p:pic>
      <p:sp>
        <p:nvSpPr>
          <p:cNvPr id="19" name="Text 11"/>
          <p:cNvSpPr txBox="1"/>
          <p:nvPr/>
        </p:nvSpPr>
        <p:spPr>
          <a:xfrm>
            <a:off x="7055968" y="310896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Membedakan MediaQuery dan LayoutBuilder, lalu memakai breakpoint Material 3</a:t>
            </a:r>
            <a:endParaRPr lang="en-US" sz="1900" dirty="0"/>
          </a:p>
        </p:txBody>
      </p:sp>
      <p:sp>
        <p:nvSpPr>
          <p:cNvPr id="20" name="lingkaran centang"/>
          <p:cNvSpPr/>
          <p:nvPr/>
        </p:nvSpPr>
        <p:spPr>
          <a:xfrm>
            <a:off x="6278728" y="4389120"/>
            <a:ext cx="594360" cy="594360"/>
          </a:xfrm>
          <a:prstGeom prst="ellipse">
            <a:avLst/>
          </a:prstGeom>
          <a:solidFill>
            <a:schemeClr val="accent4"/>
          </a:solidFill>
          <a:ln/>
        </p:spPr>
      </p:sp>
      <p:pic>
        <p:nvPicPr>
          <p:cNvPr id="21" name="Image 5" descr="centang">    </p:cNvPr>
          <p:cNvPicPr>
            <a:picLocks noChangeAspect="1"/>
          </p:cNvPicPr>
          <p:nvPr/>
        </p:nvPicPr>
        <p:blipFill>
          <a:blip r:embed="rId6"/>
          <a:stretch>
            <a:fillRect/>
          </a:stretch>
        </p:blipFill>
        <p:spPr>
          <a:xfrm>
            <a:off x="6409487" y="4519879"/>
            <a:ext cx="332842" cy="332842"/>
          </a:xfrm>
          <a:prstGeom prst="rect">
            <a:avLst/>
          </a:prstGeom>
        </p:spPr>
      </p:pic>
      <p:sp>
        <p:nvSpPr>
          <p:cNvPr id="22" name="Text 13"/>
          <p:cNvSpPr txBox="1"/>
          <p:nvPr/>
        </p:nvSpPr>
        <p:spPr>
          <a:xfrm>
            <a:off x="7055968" y="429768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Membuat navigasi adaptif dan pola daftar–detail, serta mengujinya di berbagai lebar</a:t>
            </a:r>
            <a:endParaRPr lang="en-US" sz="19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Peta Materi Hari Ini</a:t>
            </a:r>
            <a:endParaRPr lang="en-US" sz="3200" dirty="0"/>
          </a:p>
        </p:txBody>
      </p:sp>
      <p:sp>
        <p:nvSpPr>
          <p:cNvPr id="4" name="langkah 1"/>
          <p:cNvSpPr/>
          <p:nvPr/>
        </p:nvSpPr>
        <p:spPr>
          <a:xfrm>
            <a:off x="548640" y="1828800"/>
            <a:ext cx="1962851" cy="3566160"/>
          </a:xfrm>
          <a:prstGeom prst="roundRect">
            <a:avLst>
              <a:gd name="adj" fmla="val 6988"/>
            </a:avLst>
          </a:prstGeom>
          <a:solidFill>
            <a:schemeClr val="bg2"/>
          </a:solidFill>
          <a:ln/>
        </p:spPr>
      </p:sp>
      <p:sp>
        <p:nvSpPr>
          <p:cNvPr id="5" name="lingkaran palet"/>
          <p:cNvSpPr/>
          <p:nvPr/>
        </p:nvSpPr>
        <p:spPr>
          <a:xfrm>
            <a:off x="1095726" y="2103120"/>
            <a:ext cx="868680" cy="868680"/>
          </a:xfrm>
          <a:prstGeom prst="ellipse">
            <a:avLst/>
          </a:prstGeom>
          <a:solidFill>
            <a:schemeClr val="accent1"/>
          </a:solidFill>
          <a:ln/>
        </p:spPr>
      </p:sp>
      <p:pic>
        <p:nvPicPr>
          <p:cNvPr id="6" name="Image 0" descr="palet">    </p:cNvPr>
          <p:cNvPicPr>
            <a:picLocks noChangeAspect="1"/>
          </p:cNvPicPr>
          <p:nvPr/>
        </p:nvPicPr>
        <p:blipFill>
          <a:blip r:embed="rId1"/>
          <a:stretch>
            <a:fillRect/>
          </a:stretch>
        </p:blipFill>
        <p:spPr>
          <a:xfrm>
            <a:off x="1286835" y="2294230"/>
            <a:ext cx="486461" cy="486461"/>
          </a:xfrm>
          <a:prstGeom prst="rect">
            <a:avLst/>
          </a:prstGeom>
        </p:spPr>
      </p:pic>
      <p:sp>
        <p:nvSpPr>
          <p:cNvPr id="7" name="Text 3"/>
          <p:cNvSpPr txBox="1"/>
          <p:nvPr/>
        </p:nvSpPr>
        <p:spPr>
          <a:xfrm>
            <a:off x="658368"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8" name="Text 4"/>
          <p:cNvSpPr txBox="1"/>
          <p:nvPr/>
        </p:nvSpPr>
        <p:spPr>
          <a:xfrm>
            <a:off x="685800"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A. Tampilan seragam</a:t>
            </a:r>
            <a:endParaRPr lang="en-US" sz="1700" dirty="0"/>
          </a:p>
        </p:txBody>
      </p:sp>
      <p:sp>
        <p:nvSpPr>
          <p:cNvPr id="9" name="Text 5"/>
          <p:cNvSpPr txBox="1"/>
          <p:nvPr/>
        </p:nvSpPr>
        <p:spPr>
          <a:xfrm>
            <a:off x="685800"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Material 3, tema, skema warna, tipografi, tema komponen</a:t>
            </a:r>
            <a:endParaRPr lang="en-US" sz="1400" dirty="0"/>
          </a:p>
        </p:txBody>
      </p:sp>
      <p:sp>
        <p:nvSpPr>
          <p:cNvPr id="10" name="Shape 6"/>
          <p:cNvSpPr/>
          <p:nvPr/>
        </p:nvSpPr>
        <p:spPr>
          <a:xfrm>
            <a:off x="2548067" y="2395728"/>
            <a:ext cx="246888" cy="274320"/>
          </a:xfrm>
          <a:prstGeom prst="rightArrow">
            <a:avLst/>
          </a:prstGeom>
          <a:solidFill>
            <a:schemeClr val="accent2"/>
          </a:solidFill>
          <a:ln/>
        </p:spPr>
      </p:sp>
      <p:sp>
        <p:nvSpPr>
          <p:cNvPr id="11" name="langkah 2"/>
          <p:cNvSpPr/>
          <p:nvPr/>
        </p:nvSpPr>
        <p:spPr>
          <a:xfrm>
            <a:off x="2831531" y="1828800"/>
            <a:ext cx="1962851" cy="3566160"/>
          </a:xfrm>
          <a:prstGeom prst="roundRect">
            <a:avLst>
              <a:gd name="adj" fmla="val 6988"/>
            </a:avLst>
          </a:prstGeom>
          <a:solidFill>
            <a:schemeClr val="bg2"/>
          </a:solidFill>
          <a:ln/>
        </p:spPr>
      </p:sp>
      <p:sp>
        <p:nvSpPr>
          <p:cNvPr id="12" name="lingkaran gelap"/>
          <p:cNvSpPr/>
          <p:nvPr/>
        </p:nvSpPr>
        <p:spPr>
          <a:xfrm>
            <a:off x="3378617" y="2103120"/>
            <a:ext cx="868680" cy="868680"/>
          </a:xfrm>
          <a:prstGeom prst="ellipse">
            <a:avLst/>
          </a:prstGeom>
          <a:solidFill>
            <a:schemeClr val="accent1"/>
          </a:solidFill>
          <a:ln/>
        </p:spPr>
      </p:sp>
      <p:pic>
        <p:nvPicPr>
          <p:cNvPr id="13" name="Image 1" descr="gelap">    </p:cNvPr>
          <p:cNvPicPr>
            <a:picLocks noChangeAspect="1"/>
          </p:cNvPicPr>
          <p:nvPr/>
        </p:nvPicPr>
        <p:blipFill>
          <a:blip r:embed="rId2"/>
          <a:stretch>
            <a:fillRect/>
          </a:stretch>
        </p:blipFill>
        <p:spPr>
          <a:xfrm>
            <a:off x="3569726" y="2294230"/>
            <a:ext cx="486461" cy="486461"/>
          </a:xfrm>
          <a:prstGeom prst="rect">
            <a:avLst/>
          </a:prstGeom>
        </p:spPr>
      </p:pic>
      <p:sp>
        <p:nvSpPr>
          <p:cNvPr id="14" name="Text 9"/>
          <p:cNvSpPr txBox="1"/>
          <p:nvPr/>
        </p:nvSpPr>
        <p:spPr>
          <a:xfrm>
            <a:off x="2941259"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5" name="Text 10"/>
          <p:cNvSpPr txBox="1"/>
          <p:nvPr/>
        </p:nvSpPr>
        <p:spPr>
          <a:xfrm>
            <a:off x="2968691"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B. Tema yang berganti</a:t>
            </a:r>
            <a:endParaRPr lang="en-US" sz="1700" dirty="0"/>
          </a:p>
        </p:txBody>
      </p:sp>
      <p:sp>
        <p:nvSpPr>
          <p:cNvPr id="16" name="Text 11"/>
          <p:cNvSpPr txBox="1"/>
          <p:nvPr/>
        </p:nvSpPr>
        <p:spPr>
          <a:xfrm>
            <a:off x="2968691"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Mode gelap dan warna khusus</a:t>
            </a:r>
            <a:endParaRPr lang="en-US" sz="1400" dirty="0"/>
          </a:p>
        </p:txBody>
      </p:sp>
      <p:sp>
        <p:nvSpPr>
          <p:cNvPr id="17" name="Shape 12"/>
          <p:cNvSpPr/>
          <p:nvPr/>
        </p:nvSpPr>
        <p:spPr>
          <a:xfrm>
            <a:off x="4830958" y="2395728"/>
            <a:ext cx="246888" cy="274320"/>
          </a:xfrm>
          <a:prstGeom prst="rightArrow">
            <a:avLst/>
          </a:prstGeom>
          <a:solidFill>
            <a:schemeClr val="accent2"/>
          </a:solidFill>
          <a:ln/>
        </p:spPr>
      </p:sp>
      <p:sp>
        <p:nvSpPr>
          <p:cNvPr id="18" name="langkah 3"/>
          <p:cNvSpPr/>
          <p:nvPr/>
        </p:nvSpPr>
        <p:spPr>
          <a:xfrm>
            <a:off x="5114422" y="1828800"/>
            <a:ext cx="1962851" cy="3566160"/>
          </a:xfrm>
          <a:prstGeom prst="roundRect">
            <a:avLst>
              <a:gd name="adj" fmla="val 6988"/>
            </a:avLst>
          </a:prstGeom>
          <a:solidFill>
            <a:schemeClr val="bg2"/>
          </a:solidFill>
          <a:ln/>
        </p:spPr>
      </p:sp>
      <p:sp>
        <p:nvSpPr>
          <p:cNvPr id="19" name="lingkaran ukur"/>
          <p:cNvSpPr/>
          <p:nvPr/>
        </p:nvSpPr>
        <p:spPr>
          <a:xfrm>
            <a:off x="5661508" y="2103120"/>
            <a:ext cx="868680" cy="868680"/>
          </a:xfrm>
          <a:prstGeom prst="ellipse">
            <a:avLst/>
          </a:prstGeom>
          <a:solidFill>
            <a:schemeClr val="accent1"/>
          </a:solidFill>
          <a:ln/>
        </p:spPr>
      </p:sp>
      <p:pic>
        <p:nvPicPr>
          <p:cNvPr id="20" name="Image 2" descr="ukur">    </p:cNvPr>
          <p:cNvPicPr>
            <a:picLocks noChangeAspect="1"/>
          </p:cNvPicPr>
          <p:nvPr/>
        </p:nvPicPr>
        <p:blipFill>
          <a:blip r:embed="rId3"/>
          <a:stretch>
            <a:fillRect/>
          </a:stretch>
        </p:blipFill>
        <p:spPr>
          <a:xfrm>
            <a:off x="5852617" y="2294230"/>
            <a:ext cx="486461" cy="486461"/>
          </a:xfrm>
          <a:prstGeom prst="rect">
            <a:avLst/>
          </a:prstGeom>
        </p:spPr>
      </p:pic>
      <p:sp>
        <p:nvSpPr>
          <p:cNvPr id="21" name="Text 15"/>
          <p:cNvSpPr txBox="1"/>
          <p:nvPr/>
        </p:nvSpPr>
        <p:spPr>
          <a:xfrm>
            <a:off x="5224150"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2" name="Text 16"/>
          <p:cNvSpPr txBox="1"/>
          <p:nvPr/>
        </p:nvSpPr>
        <p:spPr>
          <a:xfrm>
            <a:off x="5251582"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C. Mengukur ruang</a:t>
            </a:r>
            <a:endParaRPr lang="en-US" sz="1700" dirty="0"/>
          </a:p>
        </p:txBody>
      </p:sp>
      <p:sp>
        <p:nvSpPr>
          <p:cNvPr id="23" name="Text 17"/>
          <p:cNvSpPr txBox="1"/>
          <p:nvPr/>
        </p:nvSpPr>
        <p:spPr>
          <a:xfrm>
            <a:off x="5251582"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MediaQuery, LayoutBuilder, breakpoint</a:t>
            </a:r>
            <a:endParaRPr lang="en-US" sz="1400" dirty="0"/>
          </a:p>
        </p:txBody>
      </p:sp>
      <p:sp>
        <p:nvSpPr>
          <p:cNvPr id="24" name="Shape 18"/>
          <p:cNvSpPr/>
          <p:nvPr/>
        </p:nvSpPr>
        <p:spPr>
          <a:xfrm>
            <a:off x="7113849" y="2395728"/>
            <a:ext cx="246888" cy="274320"/>
          </a:xfrm>
          <a:prstGeom prst="rightArrow">
            <a:avLst/>
          </a:prstGeom>
          <a:solidFill>
            <a:schemeClr val="accent2"/>
          </a:solidFill>
          <a:ln/>
        </p:spPr>
      </p:sp>
      <p:sp>
        <p:nvSpPr>
          <p:cNvPr id="25" name="langkah 4"/>
          <p:cNvSpPr/>
          <p:nvPr/>
        </p:nvSpPr>
        <p:spPr>
          <a:xfrm>
            <a:off x="7397313" y="1828800"/>
            <a:ext cx="1962851" cy="3566160"/>
          </a:xfrm>
          <a:prstGeom prst="roundRect">
            <a:avLst>
              <a:gd name="adj" fmla="val 6988"/>
            </a:avLst>
          </a:prstGeom>
          <a:solidFill>
            <a:schemeClr val="bg2"/>
          </a:solidFill>
          <a:ln/>
        </p:spPr>
      </p:sp>
      <p:sp>
        <p:nvSpPr>
          <p:cNvPr id="26" name="lingkaran responsif"/>
          <p:cNvSpPr/>
          <p:nvPr/>
        </p:nvSpPr>
        <p:spPr>
          <a:xfrm>
            <a:off x="7944399" y="2103120"/>
            <a:ext cx="868680" cy="868680"/>
          </a:xfrm>
          <a:prstGeom prst="ellipse">
            <a:avLst/>
          </a:prstGeom>
          <a:solidFill>
            <a:schemeClr val="accent1"/>
          </a:solidFill>
          <a:ln/>
        </p:spPr>
      </p:sp>
      <p:pic>
        <p:nvPicPr>
          <p:cNvPr id="27" name="Image 3" descr="responsif">    </p:cNvPr>
          <p:cNvPicPr>
            <a:picLocks noChangeAspect="1"/>
          </p:cNvPicPr>
          <p:nvPr/>
        </p:nvPicPr>
        <p:blipFill>
          <a:blip r:embed="rId4"/>
          <a:stretch>
            <a:fillRect/>
          </a:stretch>
        </p:blipFill>
        <p:spPr>
          <a:xfrm>
            <a:off x="8135508" y="2294230"/>
            <a:ext cx="486461" cy="486461"/>
          </a:xfrm>
          <a:prstGeom prst="rect">
            <a:avLst/>
          </a:prstGeom>
        </p:spPr>
      </p:pic>
      <p:sp>
        <p:nvSpPr>
          <p:cNvPr id="28" name="Text 21"/>
          <p:cNvSpPr txBox="1"/>
          <p:nvPr/>
        </p:nvSpPr>
        <p:spPr>
          <a:xfrm>
            <a:off x="7507041"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4</a:t>
            </a:r>
            <a:endParaRPr lang="en-US" sz="1400" dirty="0"/>
          </a:p>
        </p:txBody>
      </p:sp>
      <p:sp>
        <p:nvSpPr>
          <p:cNvPr id="29" name="Text 22"/>
          <p:cNvSpPr txBox="1"/>
          <p:nvPr/>
        </p:nvSpPr>
        <p:spPr>
          <a:xfrm>
            <a:off x="7534473"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D. Tata letak adaptif</a:t>
            </a:r>
            <a:endParaRPr lang="en-US" sz="1700" dirty="0"/>
          </a:p>
        </p:txBody>
      </p:sp>
      <p:sp>
        <p:nvSpPr>
          <p:cNvPr id="30" name="Text 23"/>
          <p:cNvSpPr txBox="1"/>
          <p:nvPr/>
        </p:nvSpPr>
        <p:spPr>
          <a:xfrm>
            <a:off x="7534473"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NavigationBar ↔ NavigationRail, daftar–detail, ukuran huruf</a:t>
            </a:r>
            <a:endParaRPr lang="en-US" sz="1400" dirty="0"/>
          </a:p>
        </p:txBody>
      </p:sp>
      <p:sp>
        <p:nvSpPr>
          <p:cNvPr id="31" name="Shape 24"/>
          <p:cNvSpPr/>
          <p:nvPr/>
        </p:nvSpPr>
        <p:spPr>
          <a:xfrm>
            <a:off x="9396740" y="2395728"/>
            <a:ext cx="246888" cy="274320"/>
          </a:xfrm>
          <a:prstGeom prst="rightArrow">
            <a:avLst/>
          </a:prstGeom>
          <a:solidFill>
            <a:schemeClr val="accent2"/>
          </a:solidFill>
          <a:ln/>
        </p:spPr>
      </p:sp>
      <p:sp>
        <p:nvSpPr>
          <p:cNvPr id="32" name="langkah 5"/>
          <p:cNvSpPr/>
          <p:nvPr/>
        </p:nvSpPr>
        <p:spPr>
          <a:xfrm>
            <a:off x="9680204" y="1828800"/>
            <a:ext cx="1962851" cy="3566160"/>
          </a:xfrm>
          <a:prstGeom prst="roundRect">
            <a:avLst>
              <a:gd name="adj" fmla="val 6988"/>
            </a:avLst>
          </a:prstGeom>
          <a:solidFill>
            <a:schemeClr val="bg2"/>
          </a:solidFill>
          <a:ln/>
        </p:spPr>
      </p:sp>
      <p:sp>
        <p:nvSpPr>
          <p:cNvPr id="33" name="lingkaran buku"/>
          <p:cNvSpPr/>
          <p:nvPr/>
        </p:nvSpPr>
        <p:spPr>
          <a:xfrm>
            <a:off x="10227290" y="2103120"/>
            <a:ext cx="868680" cy="868680"/>
          </a:xfrm>
          <a:prstGeom prst="ellipse">
            <a:avLst/>
          </a:prstGeom>
          <a:solidFill>
            <a:schemeClr val="accent4"/>
          </a:solidFill>
          <a:ln/>
        </p:spPr>
      </p:sp>
      <p:pic>
        <p:nvPicPr>
          <p:cNvPr id="34" name="Image 4" descr="buku">    </p:cNvPr>
          <p:cNvPicPr>
            <a:picLocks noChangeAspect="1"/>
          </p:cNvPicPr>
          <p:nvPr/>
        </p:nvPicPr>
        <p:blipFill>
          <a:blip r:embed="rId5"/>
          <a:stretch>
            <a:fillRect/>
          </a:stretch>
        </p:blipFill>
        <p:spPr>
          <a:xfrm>
            <a:off x="10418399" y="2294230"/>
            <a:ext cx="486461" cy="486461"/>
          </a:xfrm>
          <a:prstGeom prst="rect">
            <a:avLst/>
          </a:prstGeom>
        </p:spPr>
      </p:pic>
      <p:sp>
        <p:nvSpPr>
          <p:cNvPr id="35" name="Text 27"/>
          <p:cNvSpPr txBox="1"/>
          <p:nvPr/>
        </p:nvSpPr>
        <p:spPr>
          <a:xfrm>
            <a:off x="9789932"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5</a:t>
            </a:r>
            <a:endParaRPr lang="en-US" sz="1400" dirty="0"/>
          </a:p>
        </p:txBody>
      </p:sp>
      <p:sp>
        <p:nvSpPr>
          <p:cNvPr id="36" name="Text 28"/>
          <p:cNvSpPr txBox="1"/>
          <p:nvPr/>
        </p:nvSpPr>
        <p:spPr>
          <a:xfrm>
            <a:off x="9817364"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E. Merangkai</a:t>
            </a:r>
            <a:endParaRPr lang="en-US" sz="1700" dirty="0"/>
          </a:p>
        </p:txBody>
      </p:sp>
      <p:sp>
        <p:nvSpPr>
          <p:cNvPr id="37" name="Text 29"/>
          <p:cNvSpPr txBox="1"/>
          <p:nvPr/>
        </p:nvSpPr>
        <p:spPr>
          <a:xfrm>
            <a:off x="9817364"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Studi kasus Pustaka Kampus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Dua Tantangan Tampilan dan Alatnya</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738491"/>
                <a:gridCol w="5355925"/>
              </a:tblGrid>
              <a:tr h="566928">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Kebutuhan</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Alat di Flutter</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66928">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Warna dan huruf seragam di semua halaman</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onsolas" pitchFamily="34" charset="0"/>
                          <a:ea typeface="Consolas" pitchFamily="34" charset="-122"/>
                          <a:cs typeface="Consolas" pitchFamily="34" charset="-120"/>
                        </a:rPr>
                        <a:t>ThemeData + Theme.of(context)</a:t>
                      </a:r>
                      <a:endParaRPr lang="en-US" sz="17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Satu warna merek menjadi palet lengkap</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onsolas" pitchFamily="34" charset="0"/>
                          <a:ea typeface="Consolas" pitchFamily="34" charset="-122"/>
                          <a:cs typeface="Consolas" pitchFamily="34" charset="-120"/>
                        </a:rPr>
                        <a:t>ColorScheme.fromSeed</a:t>
                      </a:r>
                      <a:endParaRPr lang="en-US" sz="17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Semua tombol/kartu bergaya sama</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Tema komponen (…ThemeData)</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Mode gelap</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onsolas" pitchFamily="34" charset="0"/>
                          <a:ea typeface="Consolas" pitchFamily="34" charset="-122"/>
                          <a:cs typeface="Consolas" pitchFamily="34" charset="-120"/>
                        </a:rPr>
                        <a:t>darkTheme + themeMode</a:t>
                      </a:r>
                      <a:endParaRPr lang="en-US" sz="17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Mengetahui lebar jendela atau ruang widget</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onsolas" pitchFamily="34" charset="0"/>
                          <a:ea typeface="Consolas" pitchFamily="34" charset="-122"/>
                          <a:cs typeface="Consolas" pitchFamily="34" charset="-120"/>
                        </a:rPr>
                        <a:t>MediaQuery, LayoutBuilder</a:t>
                      </a:r>
                      <a:endParaRPr lang="en-US" sz="17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Menu di bawah ↔ menu di samping</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onsolas" pitchFamily="34" charset="0"/>
                          <a:ea typeface="Consolas" pitchFamily="34" charset="-122"/>
                          <a:cs typeface="Consolas" pitchFamily="34" charset="-120"/>
                        </a:rPr>
                        <a:t>NavigationBar ↔ NavigationRail</a:t>
                      </a:r>
                      <a:endParaRPr lang="en-US" sz="17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Analogi: tema = buku panduan identitas visual kampus. Ganti panduannya sekali, semua spanduk ikut berubah.</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Material Design 3 dan Tema Aplikasi</a:t>
            </a:r>
            <a:endParaRPr lang="en-US" sz="4000" dirty="0"/>
          </a:p>
        </p:txBody>
      </p:sp>
      <p:sp>
        <p:nvSpPr>
          <p:cNvPr id="5" name="lingkaran palet"/>
          <p:cNvSpPr/>
          <p:nvPr/>
        </p:nvSpPr>
        <p:spPr>
          <a:xfrm>
            <a:off x="1097280" y="2148840"/>
            <a:ext cx="2011680" cy="2011680"/>
          </a:xfrm>
          <a:prstGeom prst="ellipse">
            <a:avLst/>
          </a:prstGeom>
          <a:solidFill>
            <a:schemeClr val="accent1"/>
          </a:solidFill>
          <a:ln/>
        </p:spPr>
      </p:sp>
      <p:pic>
        <p:nvPicPr>
          <p:cNvPr id="6" name="Image 0" descr="palet">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Material Design 3: Sistem Desain Bawaan Flutter</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Sistem desain = aturan + komponen siap pakai agar tampilan konsisten. M3 menjadi bawaan sejak Flutter 3.16.</a:t>
            </a:r>
            <a:endParaRPr lang="en-US" sz="1800" dirty="0"/>
          </a:p>
        </p:txBody>
      </p:sp>
      <p:sp>
        <p:nvSpPr>
          <p:cNvPr id="5" name="kartu 1"/>
          <p:cNvSpPr/>
          <p:nvPr/>
        </p:nvSpPr>
        <p:spPr>
          <a:xfrm>
            <a:off x="548640" y="2011680"/>
            <a:ext cx="3484778" cy="1965960"/>
          </a:xfrm>
          <a:prstGeom prst="roundRect">
            <a:avLst>
              <a:gd name="adj" fmla="val 5581"/>
            </a:avLst>
          </a:prstGeom>
          <a:solidFill>
            <a:schemeClr val="bg2"/>
          </a:solidFill>
          <a:ln/>
        </p:spPr>
      </p:sp>
      <p:sp>
        <p:nvSpPr>
          <p:cNvPr id="6" name="lingkaran widget"/>
          <p:cNvSpPr/>
          <p:nvPr/>
        </p:nvSpPr>
        <p:spPr>
          <a:xfrm>
            <a:off x="777240" y="2240280"/>
            <a:ext cx="685800" cy="685800"/>
          </a:xfrm>
          <a:prstGeom prst="ellipse">
            <a:avLst/>
          </a:prstGeom>
          <a:solidFill>
            <a:schemeClr val="accent1"/>
          </a:solidFill>
          <a:ln/>
        </p:spPr>
      </p:sp>
      <p:pic>
        <p:nvPicPr>
          <p:cNvPr id="7" name="Image 0" descr="widget">    </p:cNvPr>
          <p:cNvPicPr>
            <a:picLocks noChangeAspect="1"/>
          </p:cNvPicPr>
          <p:nvPr/>
        </p:nvPicPr>
        <p:blipFill>
          <a:blip r:embed="rId1"/>
          <a:stretch>
            <a:fillRect/>
          </a:stretch>
        </p:blipFill>
        <p:spPr>
          <a:xfrm>
            <a:off x="928116" y="2391156"/>
            <a:ext cx="384048" cy="384048"/>
          </a:xfrm>
          <a:prstGeom prst="rect">
            <a:avLst/>
          </a:prstGeom>
        </p:spPr>
      </p:pic>
      <p:sp>
        <p:nvSpPr>
          <p:cNvPr id="8" name="Text 4"/>
          <p:cNvSpPr txBox="1"/>
          <p:nvPr/>
        </p:nvSpPr>
        <p:spPr>
          <a:xfrm>
            <a:off x="1600200"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Komponen</a:t>
            </a:r>
            <a:endParaRPr lang="en-US" sz="1800" dirty="0"/>
          </a:p>
        </p:txBody>
      </p:sp>
      <p:sp>
        <p:nvSpPr>
          <p:cNvPr id="9" name="Text 5"/>
          <p:cNvSpPr txBox="1"/>
          <p:nvPr/>
        </p:nvSpPr>
        <p:spPr>
          <a:xfrm>
            <a:off x="777240" y="3063240"/>
            <a:ext cx="3027578" cy="777240"/>
          </a:xfrm>
          <a:prstGeom prst="rect">
            <a:avLst/>
          </a:prstGeom>
          <a:noFill/>
          <a:ln/>
        </p:spPr>
        <p:txBody>
          <a:bodyPr wrap="square" lIns="0" tIns="0" rIns="0" bIns="0" rtlCol="0" anchor="t"/>
          <a:lstStyle/>
          <a:p>
            <a:pPr indent="0" marL="0">
              <a:buNone/>
            </a:pPr>
            <a:r>
              <a:rPr lang="en-US" sz="1500" dirty="0">
                <a:solidFill>
                  <a:schemeClr val="tx1"/>
                </a:solidFill>
              </a:rPr>
              <a:t>Tombol, kartu, kolom teks, navigasi, dialog: bentuk dan perilakunya sudah diatur.</a:t>
            </a:r>
            <a:endParaRPr lang="en-US" sz="1500" dirty="0"/>
          </a:p>
        </p:txBody>
      </p:sp>
      <p:sp>
        <p:nvSpPr>
          <p:cNvPr id="10" name="kartu 2"/>
          <p:cNvSpPr/>
          <p:nvPr/>
        </p:nvSpPr>
        <p:spPr>
          <a:xfrm>
            <a:off x="4353458" y="2011680"/>
            <a:ext cx="3484778" cy="1965960"/>
          </a:xfrm>
          <a:prstGeom prst="roundRect">
            <a:avLst>
              <a:gd name="adj" fmla="val 5581"/>
            </a:avLst>
          </a:prstGeom>
          <a:solidFill>
            <a:schemeClr val="bg2"/>
          </a:solidFill>
          <a:ln/>
        </p:spPr>
      </p:sp>
      <p:sp>
        <p:nvSpPr>
          <p:cNvPr id="11" name="lingkaran palet"/>
          <p:cNvSpPr/>
          <p:nvPr/>
        </p:nvSpPr>
        <p:spPr>
          <a:xfrm>
            <a:off x="4582058" y="2240280"/>
            <a:ext cx="685800" cy="685800"/>
          </a:xfrm>
          <a:prstGeom prst="ellipse">
            <a:avLst/>
          </a:prstGeom>
          <a:solidFill>
            <a:schemeClr val="accent1"/>
          </a:solidFill>
          <a:ln/>
        </p:spPr>
      </p:sp>
      <p:pic>
        <p:nvPicPr>
          <p:cNvPr id="12" name="Image 1" descr="palet">    </p:cNvPr>
          <p:cNvPicPr>
            <a:picLocks noChangeAspect="1"/>
          </p:cNvPicPr>
          <p:nvPr/>
        </p:nvPicPr>
        <p:blipFill>
          <a:blip r:embed="rId2"/>
          <a:stretch>
            <a:fillRect/>
          </a:stretch>
        </p:blipFill>
        <p:spPr>
          <a:xfrm>
            <a:off x="4732934" y="2391156"/>
            <a:ext cx="384048" cy="384048"/>
          </a:xfrm>
          <a:prstGeom prst="rect">
            <a:avLst/>
          </a:prstGeom>
        </p:spPr>
      </p:pic>
      <p:sp>
        <p:nvSpPr>
          <p:cNvPr id="13" name="Text 8"/>
          <p:cNvSpPr txBox="1"/>
          <p:nvPr/>
        </p:nvSpPr>
        <p:spPr>
          <a:xfrm>
            <a:off x="5405018"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Warna</a:t>
            </a:r>
            <a:endParaRPr lang="en-US" sz="1800" dirty="0"/>
          </a:p>
        </p:txBody>
      </p:sp>
      <p:sp>
        <p:nvSpPr>
          <p:cNvPr id="14" name="Text 9"/>
          <p:cNvSpPr txBox="1"/>
          <p:nvPr/>
        </p:nvSpPr>
        <p:spPr>
          <a:xfrm>
            <a:off x="4582058" y="3063240"/>
            <a:ext cx="3027578" cy="777240"/>
          </a:xfrm>
          <a:prstGeom prst="rect">
            <a:avLst/>
          </a:prstGeom>
          <a:noFill/>
          <a:ln/>
        </p:spPr>
        <p:txBody>
          <a:bodyPr wrap="square" lIns="0" tIns="0" rIns="0" bIns="0" rtlCol="0" anchor="t"/>
          <a:lstStyle/>
          <a:p>
            <a:pPr indent="0" marL="0">
              <a:buNone/>
            </a:pPr>
            <a:r>
              <a:rPr lang="en-US" sz="1500" dirty="0">
                <a:solidFill>
                  <a:schemeClr val="tx1"/>
                </a:solidFill>
              </a:rPr>
              <a:t>Setiap warna punya peran: primary, surface, error, dan pasangan "on"-nya.</a:t>
            </a:r>
            <a:endParaRPr lang="en-US" sz="1500" dirty="0"/>
          </a:p>
        </p:txBody>
      </p:sp>
      <p:sp>
        <p:nvSpPr>
          <p:cNvPr id="15" name="kartu 3"/>
          <p:cNvSpPr/>
          <p:nvPr/>
        </p:nvSpPr>
        <p:spPr>
          <a:xfrm>
            <a:off x="8158277" y="2011680"/>
            <a:ext cx="3484778" cy="1965960"/>
          </a:xfrm>
          <a:prstGeom prst="roundRect">
            <a:avLst>
              <a:gd name="adj" fmla="val 5581"/>
            </a:avLst>
          </a:prstGeom>
          <a:solidFill>
            <a:schemeClr val="bg2"/>
          </a:solidFill>
          <a:ln/>
        </p:spPr>
      </p:sp>
      <p:sp>
        <p:nvSpPr>
          <p:cNvPr id="16" name="lingkaran huruf"/>
          <p:cNvSpPr/>
          <p:nvPr/>
        </p:nvSpPr>
        <p:spPr>
          <a:xfrm>
            <a:off x="8386877" y="2240280"/>
            <a:ext cx="685800" cy="685800"/>
          </a:xfrm>
          <a:prstGeom prst="ellipse">
            <a:avLst/>
          </a:prstGeom>
          <a:solidFill>
            <a:schemeClr val="accent1"/>
          </a:solidFill>
          <a:ln/>
        </p:spPr>
      </p:sp>
      <p:pic>
        <p:nvPicPr>
          <p:cNvPr id="17" name="Image 2" descr="huruf">    </p:cNvPr>
          <p:cNvPicPr>
            <a:picLocks noChangeAspect="1"/>
          </p:cNvPicPr>
          <p:nvPr/>
        </p:nvPicPr>
        <p:blipFill>
          <a:blip r:embed="rId3"/>
          <a:stretch>
            <a:fillRect/>
          </a:stretch>
        </p:blipFill>
        <p:spPr>
          <a:xfrm>
            <a:off x="8537753" y="2391156"/>
            <a:ext cx="384048" cy="384048"/>
          </a:xfrm>
          <a:prstGeom prst="rect">
            <a:avLst/>
          </a:prstGeom>
        </p:spPr>
      </p:pic>
      <p:sp>
        <p:nvSpPr>
          <p:cNvPr id="18" name="Text 12"/>
          <p:cNvSpPr txBox="1"/>
          <p:nvPr/>
        </p:nvSpPr>
        <p:spPr>
          <a:xfrm>
            <a:off x="9209837"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Tipografi</a:t>
            </a:r>
            <a:endParaRPr lang="en-US" sz="1800" dirty="0"/>
          </a:p>
        </p:txBody>
      </p:sp>
      <p:sp>
        <p:nvSpPr>
          <p:cNvPr id="19" name="Text 13"/>
          <p:cNvSpPr txBox="1"/>
          <p:nvPr/>
        </p:nvSpPr>
        <p:spPr>
          <a:xfrm>
            <a:off x="8386877" y="3063240"/>
            <a:ext cx="3027578" cy="777240"/>
          </a:xfrm>
          <a:prstGeom prst="rect">
            <a:avLst/>
          </a:prstGeom>
          <a:noFill/>
          <a:ln/>
        </p:spPr>
        <p:txBody>
          <a:bodyPr wrap="square" lIns="0" tIns="0" rIns="0" bIns="0" rtlCol="0" anchor="t"/>
          <a:lstStyle/>
          <a:p>
            <a:pPr indent="0" marL="0">
              <a:buNone/>
            </a:pPr>
            <a:r>
              <a:rPr lang="en-US" sz="1500" dirty="0">
                <a:solidFill>
                  <a:schemeClr val="tx1"/>
                </a:solidFill>
              </a:rPr>
              <a:t>Skala 15 gaya huruf untuk judul, isi bacaan, dan tulisan tombol.</a:t>
            </a:r>
            <a:endParaRPr lang="en-US" sz="1500" dirty="0"/>
          </a:p>
        </p:txBody>
      </p:sp>
      <p:sp>
        <p:nvSpPr>
          <p:cNvPr id="20" name="kartu 4"/>
          <p:cNvSpPr/>
          <p:nvPr/>
        </p:nvSpPr>
        <p:spPr>
          <a:xfrm>
            <a:off x="548640" y="4251960"/>
            <a:ext cx="3484778" cy="1965960"/>
          </a:xfrm>
          <a:prstGeom prst="roundRect">
            <a:avLst>
              <a:gd name="adj" fmla="val 5581"/>
            </a:avLst>
          </a:prstGeom>
          <a:solidFill>
            <a:schemeClr val="bg2"/>
          </a:solidFill>
          <a:ln/>
        </p:spPr>
      </p:sp>
      <p:sp>
        <p:nvSpPr>
          <p:cNvPr id="21" name="lingkaran bingkai"/>
          <p:cNvSpPr/>
          <p:nvPr/>
        </p:nvSpPr>
        <p:spPr>
          <a:xfrm>
            <a:off x="777240" y="4480560"/>
            <a:ext cx="685800" cy="685800"/>
          </a:xfrm>
          <a:prstGeom prst="ellipse">
            <a:avLst/>
          </a:prstGeom>
          <a:solidFill>
            <a:schemeClr val="accent1"/>
          </a:solidFill>
          <a:ln/>
        </p:spPr>
      </p:sp>
      <p:pic>
        <p:nvPicPr>
          <p:cNvPr id="22" name="Image 3" descr="bingkai">    </p:cNvPr>
          <p:cNvPicPr>
            <a:picLocks noChangeAspect="1"/>
          </p:cNvPicPr>
          <p:nvPr/>
        </p:nvPicPr>
        <p:blipFill>
          <a:blip r:embed="rId4"/>
          <a:stretch>
            <a:fillRect/>
          </a:stretch>
        </p:blipFill>
        <p:spPr>
          <a:xfrm>
            <a:off x="928116" y="4631436"/>
            <a:ext cx="384048" cy="384048"/>
          </a:xfrm>
          <a:prstGeom prst="rect">
            <a:avLst/>
          </a:prstGeom>
        </p:spPr>
      </p:pic>
      <p:sp>
        <p:nvSpPr>
          <p:cNvPr id="23" name="Text 16"/>
          <p:cNvSpPr txBox="1"/>
          <p:nvPr/>
        </p:nvSpPr>
        <p:spPr>
          <a:xfrm>
            <a:off x="1600200" y="445312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Bentuk</a:t>
            </a:r>
            <a:endParaRPr lang="en-US" sz="1800" dirty="0"/>
          </a:p>
        </p:txBody>
      </p:sp>
      <p:sp>
        <p:nvSpPr>
          <p:cNvPr id="24" name="Text 17"/>
          <p:cNvSpPr txBox="1"/>
          <p:nvPr/>
        </p:nvSpPr>
        <p:spPr>
          <a:xfrm>
            <a:off x="777240" y="5303520"/>
            <a:ext cx="3027578" cy="777240"/>
          </a:xfrm>
          <a:prstGeom prst="rect">
            <a:avLst/>
          </a:prstGeom>
          <a:noFill/>
          <a:ln/>
        </p:spPr>
        <p:txBody>
          <a:bodyPr wrap="square" lIns="0" tIns="0" rIns="0" bIns="0" rtlCol="0" anchor="t"/>
          <a:lstStyle/>
          <a:p>
            <a:pPr indent="0" marL="0">
              <a:buNone/>
            </a:pPr>
            <a:r>
              <a:rPr lang="en-US" sz="1500" dirty="0">
                <a:solidFill>
                  <a:schemeClr val="tx1"/>
                </a:solidFill>
              </a:rPr>
              <a:t>Sudut membulat dengan ukuran tertentu, misalnya kartu bersudut 12.</a:t>
            </a:r>
            <a:endParaRPr lang="en-US" sz="1500" dirty="0"/>
          </a:p>
        </p:txBody>
      </p:sp>
      <p:sp>
        <p:nvSpPr>
          <p:cNvPr id="25" name="kartu 5"/>
          <p:cNvSpPr/>
          <p:nvPr/>
        </p:nvSpPr>
        <p:spPr>
          <a:xfrm>
            <a:off x="4353458" y="4251960"/>
            <a:ext cx="3484778" cy="1965960"/>
          </a:xfrm>
          <a:prstGeom prst="roundRect">
            <a:avLst>
              <a:gd name="adj" fmla="val 5581"/>
            </a:avLst>
          </a:prstGeom>
          <a:solidFill>
            <a:schemeClr val="bg2"/>
          </a:solidFill>
          <a:ln/>
        </p:spPr>
      </p:sp>
      <p:sp>
        <p:nvSpPr>
          <p:cNvPr id="26" name="lingkaran responsif"/>
          <p:cNvSpPr/>
          <p:nvPr/>
        </p:nvSpPr>
        <p:spPr>
          <a:xfrm>
            <a:off x="4582058" y="4480560"/>
            <a:ext cx="685800" cy="685800"/>
          </a:xfrm>
          <a:prstGeom prst="ellipse">
            <a:avLst/>
          </a:prstGeom>
          <a:solidFill>
            <a:schemeClr val="accent1"/>
          </a:solidFill>
          <a:ln/>
        </p:spPr>
      </p:sp>
      <p:pic>
        <p:nvPicPr>
          <p:cNvPr id="27" name="Image 4" descr="responsif">    </p:cNvPr>
          <p:cNvPicPr>
            <a:picLocks noChangeAspect="1"/>
          </p:cNvPicPr>
          <p:nvPr/>
        </p:nvPicPr>
        <p:blipFill>
          <a:blip r:embed="rId5"/>
          <a:stretch>
            <a:fillRect/>
          </a:stretch>
        </p:blipFill>
        <p:spPr>
          <a:xfrm>
            <a:off x="4732934" y="4631436"/>
            <a:ext cx="384048" cy="384048"/>
          </a:xfrm>
          <a:prstGeom prst="rect">
            <a:avLst/>
          </a:prstGeom>
        </p:spPr>
      </p:pic>
      <p:sp>
        <p:nvSpPr>
          <p:cNvPr id="28" name="Text 20"/>
          <p:cNvSpPr txBox="1"/>
          <p:nvPr/>
        </p:nvSpPr>
        <p:spPr>
          <a:xfrm>
            <a:off x="5405018" y="445312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Tata letak</a:t>
            </a:r>
            <a:endParaRPr lang="en-US" sz="1800" dirty="0"/>
          </a:p>
        </p:txBody>
      </p:sp>
      <p:sp>
        <p:nvSpPr>
          <p:cNvPr id="29" name="Text 21"/>
          <p:cNvSpPr txBox="1"/>
          <p:nvPr/>
        </p:nvSpPr>
        <p:spPr>
          <a:xfrm>
            <a:off x="4582058" y="5303520"/>
            <a:ext cx="3027578" cy="777240"/>
          </a:xfrm>
          <a:prstGeom prst="rect">
            <a:avLst/>
          </a:prstGeom>
          <a:noFill/>
          <a:ln/>
        </p:spPr>
        <p:txBody>
          <a:bodyPr wrap="square" lIns="0" tIns="0" rIns="0" bIns="0" rtlCol="0" anchor="t"/>
          <a:lstStyle/>
          <a:p>
            <a:pPr indent="0" marL="0">
              <a:buNone/>
            </a:pPr>
            <a:r>
              <a:rPr lang="en-US" sz="1500" dirty="0">
                <a:solidFill>
                  <a:schemeClr val="tx1"/>
                </a:solidFill>
              </a:rPr>
              <a:t>Breakpoint untuk ponsel, tablet, dan layar lebar.</a:t>
            </a:r>
            <a:endParaRPr lang="en-US" sz="1500" dirty="0"/>
          </a:p>
        </p:txBody>
      </p:sp>
      <p:sp>
        <p:nvSpPr>
          <p:cNvPr id="30" name="kartu 6"/>
          <p:cNvSpPr/>
          <p:nvPr/>
        </p:nvSpPr>
        <p:spPr>
          <a:xfrm>
            <a:off x="8158277" y="4251960"/>
            <a:ext cx="3484778" cy="1965960"/>
          </a:xfrm>
          <a:prstGeom prst="roundRect">
            <a:avLst>
              <a:gd name="adj" fmla="val 5581"/>
            </a:avLst>
          </a:prstGeom>
          <a:solidFill>
            <a:schemeClr val="bg2"/>
          </a:solidFill>
          <a:ln/>
        </p:spPr>
      </p:sp>
      <p:sp>
        <p:nvSpPr>
          <p:cNvPr id="31" name="lingkaran kode"/>
          <p:cNvSpPr/>
          <p:nvPr/>
        </p:nvSpPr>
        <p:spPr>
          <a:xfrm>
            <a:off x="8386877" y="4480560"/>
            <a:ext cx="685800" cy="685800"/>
          </a:xfrm>
          <a:prstGeom prst="ellipse">
            <a:avLst/>
          </a:prstGeom>
          <a:solidFill>
            <a:schemeClr val="accent1"/>
          </a:solidFill>
          <a:ln/>
        </p:spPr>
      </p:sp>
      <p:pic>
        <p:nvPicPr>
          <p:cNvPr id="32" name="Image 5" descr="kode">    </p:cNvPr>
          <p:cNvPicPr>
            <a:picLocks noChangeAspect="1"/>
          </p:cNvPicPr>
          <p:nvPr/>
        </p:nvPicPr>
        <p:blipFill>
          <a:blip r:embed="rId6"/>
          <a:stretch>
            <a:fillRect/>
          </a:stretch>
        </p:blipFill>
        <p:spPr>
          <a:xfrm>
            <a:off x="8537753" y="4631436"/>
            <a:ext cx="384048" cy="384048"/>
          </a:xfrm>
          <a:prstGeom prst="rect">
            <a:avLst/>
          </a:prstGeom>
        </p:spPr>
      </p:pic>
      <p:sp>
        <p:nvSpPr>
          <p:cNvPr id="33" name="Text 24"/>
          <p:cNvSpPr txBox="1"/>
          <p:nvPr/>
        </p:nvSpPr>
        <p:spPr>
          <a:xfrm>
            <a:off x="9209837" y="445312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Token desain</a:t>
            </a:r>
            <a:endParaRPr lang="en-US" sz="1800" dirty="0"/>
          </a:p>
        </p:txBody>
      </p:sp>
      <p:sp>
        <p:nvSpPr>
          <p:cNvPr id="34" name="Text 25"/>
          <p:cNvSpPr txBox="1"/>
          <p:nvPr/>
        </p:nvSpPr>
        <p:spPr>
          <a:xfrm>
            <a:off x="8386877" y="5303520"/>
            <a:ext cx="3027578" cy="777240"/>
          </a:xfrm>
          <a:prstGeom prst="rect">
            <a:avLst/>
          </a:prstGeom>
          <a:noFill/>
          <a:ln/>
        </p:spPr>
        <p:txBody>
          <a:bodyPr wrap="square" lIns="0" tIns="0" rIns="0" bIns="0" rtlCol="0" anchor="t"/>
          <a:lstStyle/>
          <a:p>
            <a:pPr indent="0" marL="0">
              <a:buNone/>
            </a:pPr>
            <a:r>
              <a:rPr lang="en-US" sz="1500" dirty="0">
                <a:solidFill>
                  <a:schemeClr val="tx1"/>
                </a:solidFill>
              </a:rPr>
              <a:t>Komponen membaca nilai bernama dari tema, bukan angka sembarangan.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Komponen Membaca Token dari Tema</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251811"/>
                <a:gridCol w="4399509"/>
                <a:gridCol w="3443094"/>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Komponen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Warna latar bawaan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Gaya huruf bawaan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0292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AppBar</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surface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judul: titleLarge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FilledButton</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primary</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labelLarge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0292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FilledButton.tonal</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secondaryContainer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labelLarge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FloatingActionButton</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primaryContainer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0292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Card</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surfaceContainerLow</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NavigationBar</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surfaceContainer (indikator: secondaryContainer)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labelMedium</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0292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SnackBar</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inverseSurface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Karena semua komponen membaca tema, mengganti tema = mengganti tampilan seluruh aplikasi.</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Tema Dipasang Sekali, Dibaca di Mana Saja</a:t>
            </a:r>
            <a:endParaRPr lang="en-US" sz="3200" dirty="0"/>
          </a:p>
        </p:txBody>
      </p:sp>
      <p:sp>
        <p:nvSpPr>
          <p:cNvPr id="4" name="bingkai layar 1"/>
          <p:cNvSpPr/>
          <p:nvPr/>
        </p:nvSpPr>
        <p:spPr>
          <a:xfrm>
            <a:off x="6467551" y="1316736"/>
            <a:ext cx="2532888" cy="3877123"/>
          </a:xfrm>
          <a:prstGeom prst="roundRect">
            <a:avLst>
              <a:gd name="adj" fmla="val 3610"/>
            </a:avLst>
          </a:prstGeom>
          <a:solidFill>
            <a:srgbClr val="FFFFFF"/>
          </a:solidFill>
          <a:ln w="12700">
            <a:solidFill>
              <a:srgbClr val="C9D3E0"/>
            </a:solidFill>
            <a:prstDash val="solid"/>
          </a:ln>
        </p:spPr>
      </p:sp>
      <p:pic>
        <p:nvPicPr>
          <p:cNvPr id="5" name="layar 1" descr="Tangkapan layar aplikasi (hasil_contoh_01a.jpg)">    </p:cNvPr>
          <p:cNvPicPr>
            <a:picLocks noChangeAspect="1"/>
          </p:cNvPicPr>
          <p:nvPr/>
        </p:nvPicPr>
        <p:blipFill>
          <a:blip r:embed="rId1"/>
          <a:stretch>
            <a:fillRect/>
          </a:stretch>
        </p:blipFill>
        <p:spPr>
          <a:xfrm>
            <a:off x="6522415" y="1371600"/>
            <a:ext cx="2423160" cy="3767395"/>
          </a:xfrm>
          <a:prstGeom prst="rect">
            <a:avLst/>
          </a:prstGeom>
        </p:spPr>
      </p:pic>
      <p:sp>
        <p:nvSpPr>
          <p:cNvPr id="6" name="bingkai layar 2"/>
          <p:cNvSpPr/>
          <p:nvPr/>
        </p:nvSpPr>
        <p:spPr>
          <a:xfrm>
            <a:off x="9165031" y="1316736"/>
            <a:ext cx="2532888" cy="3877123"/>
          </a:xfrm>
          <a:prstGeom prst="roundRect">
            <a:avLst>
              <a:gd name="adj" fmla="val 3610"/>
            </a:avLst>
          </a:prstGeom>
          <a:solidFill>
            <a:srgbClr val="FFFFFF"/>
          </a:solidFill>
          <a:ln w="12700">
            <a:solidFill>
              <a:srgbClr val="C9D3E0"/>
            </a:solidFill>
            <a:prstDash val="solid"/>
          </a:ln>
        </p:spPr>
      </p:sp>
      <p:pic>
        <p:nvPicPr>
          <p:cNvPr id="7" name="layar 2" descr="Tangkapan layar aplikasi (hasil_contoh_01b.jpg)">    </p:cNvPr>
          <p:cNvPicPr>
            <a:picLocks noChangeAspect="1"/>
          </p:cNvPicPr>
          <p:nvPr/>
        </p:nvPicPr>
        <p:blipFill>
          <a:blip r:embed="rId2"/>
          <a:stretch>
            <a:fillRect/>
          </a:stretch>
        </p:blipFill>
        <p:spPr>
          <a:xfrm>
            <a:off x="9219895" y="1371600"/>
            <a:ext cx="2423160" cy="3767395"/>
          </a:xfrm>
          <a:prstGeom prst="rect">
            <a:avLst/>
          </a:prstGeom>
        </p:spPr>
      </p:pic>
      <p:sp>
        <p:nvSpPr>
          <p:cNvPr id="8" name="kotak kode"/>
          <p:cNvSpPr txBox="1"/>
          <p:nvPr/>
        </p:nvSpPr>
        <p:spPr>
          <a:xfrm>
            <a:off x="548640" y="1371600"/>
            <a:ext cx="5516575" cy="3115818"/>
          </a:xfrm>
          <a:prstGeom prst="roundRect">
            <a:avLst>
              <a:gd name="adj" fmla="val 2935"/>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MaterialApp</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theme: </a:t>
            </a:r>
            <a:r>
              <a:rPr lang="en-US" sz="1300" dirty="0">
                <a:solidFill>
                  <a:srgbClr val="FFCB6B"/>
                </a:solidFill>
                <a:latin typeface="Consolas" pitchFamily="34" charset="0"/>
                <a:ea typeface="Consolas" pitchFamily="34" charset="-122"/>
                <a:cs typeface="Consolas" pitchFamily="34" charset="-120"/>
              </a:rPr>
              <a:t>ThemeData</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colorScheme: </a:t>
            </a:r>
            <a:r>
              <a:rPr lang="en-US" sz="1300" dirty="0">
                <a:solidFill>
                  <a:srgbClr val="FFCB6B"/>
                </a:solidFill>
                <a:latin typeface="Consolas" pitchFamily="34" charset="0"/>
                <a:ea typeface="Consolas" pitchFamily="34" charset="-122"/>
                <a:cs typeface="Consolas" pitchFamily="34" charset="-120"/>
              </a:rPr>
              <a:t>ColorScheme</a:t>
            </a:r>
            <a:r>
              <a:rPr lang="en-US" sz="1300" dirty="0">
                <a:solidFill>
                  <a:srgbClr val="E6EDF3"/>
                </a:solidFill>
                <a:latin typeface="Consolas" pitchFamily="34" charset="0"/>
                <a:ea typeface="Consolas" pitchFamily="34" charset="-122"/>
                <a:cs typeface="Consolas" pitchFamily="34" charset="-120"/>
              </a:rPr>
              <a:t>.fromSeed(</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seedColor: warnaBenih, </a:t>
            </a:r>
            <a:r>
              <a:rPr lang="en-US" sz="1300" i="1" dirty="0">
                <a:solidFill>
                  <a:srgbClr val="8FA3BC"/>
                </a:solidFill>
                <a:latin typeface="Consolas" pitchFamily="34" charset="0"/>
                <a:ea typeface="Consolas" pitchFamily="34" charset="-122"/>
                <a:cs typeface="Consolas" pitchFamily="34" charset="-120"/>
              </a:rPr>
              <a:t>// teal / deepOrange</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di dalam build() sebuah widget:</a:t>
            </a:r>
            <a:endParaRPr lang="en-US" sz="1300" dirty="0"/>
          </a:p>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final</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ColorScheme</a:t>
            </a:r>
            <a:r>
              <a:rPr lang="en-US" sz="1300" dirty="0">
                <a:solidFill>
                  <a:srgbClr val="E6EDF3"/>
                </a:solidFill>
                <a:latin typeface="Consolas" pitchFamily="34" charset="0"/>
                <a:ea typeface="Consolas" pitchFamily="34" charset="-122"/>
                <a:cs typeface="Consolas" pitchFamily="34" charset="-120"/>
              </a:rPr>
              <a:t> warna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Theme</a:t>
            </a:r>
            <a:r>
              <a:rPr lang="en-US" sz="1300" dirty="0">
                <a:solidFill>
                  <a:srgbClr val="E6EDF3"/>
                </a:solidFill>
                <a:latin typeface="Consolas" pitchFamily="34" charset="0"/>
                <a:ea typeface="Consolas" pitchFamily="34" charset="-122"/>
                <a:cs typeface="Consolas" pitchFamily="34" charset="-120"/>
              </a:rPr>
              <a:t>.of(context).colorScheme;</a:t>
            </a:r>
            <a:endParaRPr lang="en-US" sz="1300" dirty="0"/>
          </a:p>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final</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TextTheme</a:t>
            </a:r>
            <a:r>
              <a:rPr lang="en-US" sz="1300" dirty="0">
                <a:solidFill>
                  <a:srgbClr val="E6EDF3"/>
                </a:solidFill>
                <a:latin typeface="Consolas" pitchFamily="34" charset="0"/>
                <a:ea typeface="Consolas" pitchFamily="34" charset="-122"/>
                <a:cs typeface="Consolas" pitchFamily="34" charset="-120"/>
              </a:rPr>
              <a:t> gayaTeks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Theme</a:t>
            </a:r>
            <a:r>
              <a:rPr lang="en-US" sz="1300" dirty="0">
                <a:solidFill>
                  <a:srgbClr val="E6EDF3"/>
                </a:solidFill>
                <a:latin typeface="Consolas" pitchFamily="34" charset="0"/>
                <a:ea typeface="Consolas" pitchFamily="34" charset="-122"/>
                <a:cs typeface="Consolas" pitchFamily="34" charset="-120"/>
              </a:rPr>
              <a:t>.of(context).textTheme;</a:t>
            </a:r>
            <a:endParaRPr lang="en-US" sz="1300" dirty="0"/>
          </a:p>
        </p:txBody>
      </p:sp>
      <p:sp>
        <p:nvSpPr>
          <p:cNvPr id="9" name="tombol tautan">
            <a:hlinkClick r:id="rId3" tooltip="https://github.com/antonprafanto/mobile2026/blob/main/pertemuan_07_material3_dan_responsif/kode/contoh_01_tema_dan_theme_of.dart"/>
          </p:cNvPr>
          <p:cNvSpPr txBox="1"/>
          <p:nvPr/>
        </p:nvSpPr>
        <p:spPr>
          <a:xfrm>
            <a:off x="548640" y="4670298"/>
            <a:ext cx="551657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contoh_01_tema_dan_theme_of.dart</a:t>
            </a:r>
            <a:endParaRPr lang="en-US" sz="1300" dirty="0"/>
          </a:p>
        </p:txBody>
      </p:sp>
      <p:pic>
        <p:nvPicPr>
          <p:cNvPr id="10" name="Image 2" descr="ikon tautan">
            <a:hlinkClick r:id="rId5" tooltip="https://github.com/antonprafanto/mobile2026/blob/main/pertemuan_07_material3_dan_responsif/kode/contoh_01_tema_dan_theme_of.dart"/>
          </p:cNvPr>
          <p:cNvPicPr>
            <a:picLocks noChangeAspect="1"/>
          </p:cNvPicPr>
          <p:nvPr/>
        </p:nvPicPr>
        <p:blipFill>
          <a:blip r:embed="rId4"/>
          <a:stretch>
            <a:fillRect/>
          </a:stretch>
        </p:blipFill>
        <p:spPr>
          <a:xfrm>
            <a:off x="694944" y="4761738"/>
            <a:ext cx="274320" cy="274320"/>
          </a:xfrm>
          <a:prstGeom prst="rect">
            <a:avLst/>
          </a:prstGeom>
        </p:spPr>
      </p:pic>
      <p:sp>
        <p:nvSpPr>
          <p:cNvPr id="11" name="daftar poin"/>
          <p:cNvSpPr txBox="1"/>
          <p:nvPr/>
        </p:nvSpPr>
        <p:spPr>
          <a:xfrm>
            <a:off x="548640" y="5401818"/>
            <a:ext cx="5516575" cy="816102"/>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Kiri: benih teal. Kanan: benih deepOrange.</a:t>
            </a:r>
            <a:endParaRPr lang="en-US" sz="1500" dirty="0"/>
          </a:p>
          <a:p>
            <a:pPr marL="228600" indent="-228600">
              <a:spcAft>
                <a:spcPts val="800"/>
              </a:spcAft>
              <a:buSzPct val="100000"/>
              <a:buChar char="•"/>
            </a:pPr>
            <a:r>
              <a:rPr lang="en-US" sz="1500" dirty="0">
                <a:solidFill>
                  <a:schemeClr val="tx1"/>
                </a:solidFill>
              </a:rPr>
              <a:t>Kartu A (dari tema) ikut berubah; Kartu B (warna ditulis langsung) tetap biru.</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Warna Ditulis Langsung vs Diambil dari Tema</a:t>
            </a:r>
            <a:endParaRPr lang="en-US" sz="3200" dirty="0"/>
          </a:p>
        </p:txBody>
      </p:sp>
      <p:sp>
        <p:nvSpPr>
          <p:cNvPr id="4" name="kolom 1"/>
          <p:cNvSpPr/>
          <p:nvPr/>
        </p:nvSpPr>
        <p:spPr>
          <a:xfrm>
            <a:off x="548640" y="1371600"/>
            <a:ext cx="5387188" cy="4754880"/>
          </a:xfrm>
          <a:prstGeom prst="roundRect">
            <a:avLst>
              <a:gd name="adj" fmla="val 2308"/>
            </a:avLst>
          </a:prstGeom>
          <a:solidFill>
            <a:schemeClr val="bg2"/>
          </a:solidFill>
          <a:ln/>
        </p:spPr>
      </p:sp>
      <p:sp>
        <p:nvSpPr>
          <p:cNvPr id="5" name="lingkaran galat"/>
          <p:cNvSpPr/>
          <p:nvPr/>
        </p:nvSpPr>
        <p:spPr>
          <a:xfrm>
            <a:off x="777240" y="1600200"/>
            <a:ext cx="685800" cy="685800"/>
          </a:xfrm>
          <a:prstGeom prst="ellipse">
            <a:avLst/>
          </a:prstGeom>
          <a:solidFill>
            <a:schemeClr val="accent5"/>
          </a:solidFill>
          <a:ln/>
        </p:spPr>
      </p:sp>
      <p:pic>
        <p:nvPicPr>
          <p:cNvPr id="6" name="Image 0" descr="galat">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Ditulis langsung</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5"/>
                </a:solidFill>
              </a:rPr>
              <a:t>Tidak seragam dan sulit diganti</a:t>
            </a:r>
            <a:endParaRPr lang="en-US" sz="1400" dirty="0"/>
          </a:p>
        </p:txBody>
      </p:sp>
      <p:sp>
        <p:nvSpPr>
          <p:cNvPr id="9" name="daftar poin"/>
          <p:cNvSpPr txBox="1"/>
          <p:nvPr/>
        </p:nvSpPr>
        <p:spPr>
          <a:xfrm>
            <a:off x="777240" y="2926080"/>
            <a:ext cx="4929988" cy="167335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Halaman lain bisa memakai biru yang sedikit berbeda</a:t>
            </a:r>
            <a:endParaRPr lang="en-US" sz="1600" dirty="0"/>
          </a:p>
          <a:p>
            <a:pPr marL="228600" indent="-228600">
              <a:spcAft>
                <a:spcPts val="800"/>
              </a:spcAft>
              <a:buSzPct val="100000"/>
              <a:buChar char="•"/>
            </a:pPr>
            <a:r>
              <a:rPr lang="en-US" sz="1600" dirty="0">
                <a:solidFill>
                  <a:schemeClr val="tx1"/>
                </a:solidFill>
              </a:rPr>
              <a:t>Mengganti warna = mencari setiap Color(...)</a:t>
            </a:r>
            <a:endParaRPr lang="en-US" sz="1600" dirty="0"/>
          </a:p>
          <a:p>
            <a:pPr marL="228600" indent="-228600">
              <a:spcAft>
                <a:spcPts val="800"/>
              </a:spcAft>
              <a:buSzPct val="100000"/>
              <a:buChar char="•"/>
            </a:pPr>
            <a:r>
              <a:rPr lang="en-US" sz="1600" dirty="0">
                <a:solidFill>
                  <a:schemeClr val="tx1"/>
                </a:solidFill>
              </a:rPr>
              <a:t>Rusak di mode gelap</a:t>
            </a:r>
            <a:endParaRPr lang="en-US" sz="1600" dirty="0"/>
          </a:p>
        </p:txBody>
      </p:sp>
      <p:sp>
        <p:nvSpPr>
          <p:cNvPr id="10" name="kotak kode"/>
          <p:cNvSpPr txBox="1"/>
          <p:nvPr/>
        </p:nvSpPr>
        <p:spPr>
          <a:xfrm>
            <a:off x="731520" y="4553712"/>
            <a:ext cx="5021428" cy="1389888"/>
          </a:xfrm>
          <a:prstGeom prst="roundRect">
            <a:avLst>
              <a:gd name="adj" fmla="val 6579"/>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color: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Color</a:t>
            </a:r>
            <a:r>
              <a:rPr lang="en-US" sz="1200" dirty="0">
                <a:solidFill>
                  <a:srgbClr val="E6EDF3"/>
                </a:solidFill>
                <a:latin typeface="Consolas" pitchFamily="34" charset="0"/>
                <a:ea typeface="Consolas" pitchFamily="34" charset="-122"/>
                <a:cs typeface="Consolas" pitchFamily="34" charset="-120"/>
              </a:rPr>
              <a:t>(</a:t>
            </a:r>
            <a:r>
              <a:rPr lang="en-US" sz="1200" dirty="0">
                <a:solidFill>
                  <a:srgbClr val="F78C6C"/>
                </a:solidFill>
                <a:latin typeface="Consolas" pitchFamily="34" charset="0"/>
                <a:ea typeface="Consolas" pitchFamily="34" charset="-122"/>
                <a:cs typeface="Consolas" pitchFamily="34" charset="-120"/>
              </a:rPr>
              <a:t>0</a:t>
            </a:r>
            <a:r>
              <a:rPr lang="en-US" sz="1200" dirty="0">
                <a:solidFill>
                  <a:srgbClr val="E6EDF3"/>
                </a:solidFill>
                <a:latin typeface="Consolas" pitchFamily="34" charset="0"/>
                <a:ea typeface="Consolas" pitchFamily="34" charset="-122"/>
                <a:cs typeface="Consolas" pitchFamily="34" charset="-120"/>
              </a:rPr>
              <a:t>xFFE3F2FD),</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style: </a:t>
            </a:r>
            <a:r>
              <a:rPr lang="en-US" sz="1200" dirty="0">
                <a:solidFill>
                  <a:srgbClr val="FFCB6B"/>
                </a:solidFill>
                <a:latin typeface="Consolas" pitchFamily="34" charset="0"/>
                <a:ea typeface="Consolas" pitchFamily="34" charset="-122"/>
                <a:cs typeface="Consolas" pitchFamily="34" charset="-120"/>
              </a:rPr>
              <a:t>TextStyle</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fontSize: </a:t>
            </a:r>
            <a:r>
              <a:rPr lang="en-US" sz="1200" dirty="0">
                <a:solidFill>
                  <a:srgbClr val="F78C6C"/>
                </a:solidFill>
                <a:latin typeface="Consolas" pitchFamily="34" charset="0"/>
                <a:ea typeface="Consolas" pitchFamily="34" charset="-122"/>
                <a:cs typeface="Consolas" pitchFamily="34" charset="-120"/>
              </a:rPr>
              <a:t>22</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color: </a:t>
            </a:r>
            <a:r>
              <a:rPr lang="en-US" sz="1200" dirty="0">
                <a:solidFill>
                  <a:srgbClr val="FFCB6B"/>
                </a:solidFill>
                <a:latin typeface="Consolas" pitchFamily="34" charset="0"/>
                <a:ea typeface="Consolas" pitchFamily="34" charset="-122"/>
                <a:cs typeface="Consolas" pitchFamily="34" charset="-120"/>
              </a:rPr>
              <a:t>Color</a:t>
            </a:r>
            <a:r>
              <a:rPr lang="en-US" sz="1200" dirty="0">
                <a:solidFill>
                  <a:srgbClr val="E6EDF3"/>
                </a:solidFill>
                <a:latin typeface="Consolas" pitchFamily="34" charset="0"/>
                <a:ea typeface="Consolas" pitchFamily="34" charset="-122"/>
                <a:cs typeface="Consolas" pitchFamily="34" charset="-120"/>
              </a:rPr>
              <a:t>(</a:t>
            </a:r>
            <a:r>
              <a:rPr lang="en-US" sz="1200" dirty="0">
                <a:solidFill>
                  <a:srgbClr val="F78C6C"/>
                </a:solidFill>
                <a:latin typeface="Consolas" pitchFamily="34" charset="0"/>
                <a:ea typeface="Consolas" pitchFamily="34" charset="-122"/>
                <a:cs typeface="Consolas" pitchFamily="34" charset="-120"/>
              </a:rPr>
              <a:t>0</a:t>
            </a:r>
            <a:r>
              <a:rPr lang="en-US" sz="1200" dirty="0">
                <a:solidFill>
                  <a:srgbClr val="E6EDF3"/>
                </a:solidFill>
                <a:latin typeface="Consolas" pitchFamily="34" charset="0"/>
                <a:ea typeface="Consolas" pitchFamily="34" charset="-122"/>
                <a:cs typeface="Consolas" pitchFamily="34" charset="-120"/>
              </a:rPr>
              <a:t>xFF0D47A1),</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11" name="kolom 2"/>
          <p:cNvSpPr/>
          <p:nvPr/>
        </p:nvSpPr>
        <p:spPr>
          <a:xfrm>
            <a:off x="6255868" y="1371600"/>
            <a:ext cx="5387188" cy="4754880"/>
          </a:xfrm>
          <a:prstGeom prst="roundRect">
            <a:avLst>
              <a:gd name="adj" fmla="val 2308"/>
            </a:avLst>
          </a:prstGeom>
          <a:solidFill>
            <a:srgbClr val="E3F2FD"/>
          </a:solidFill>
          <a:ln w="25400">
            <a:solidFill>
              <a:schemeClr val="accent1"/>
            </a:solidFill>
            <a:prstDash val="solid"/>
          </a:ln>
        </p:spPr>
      </p:sp>
      <p:sp>
        <p:nvSpPr>
          <p:cNvPr id="12" name="lingkaran centang"/>
          <p:cNvSpPr/>
          <p:nvPr/>
        </p:nvSpPr>
        <p:spPr>
          <a:xfrm>
            <a:off x="6484468" y="1600200"/>
            <a:ext cx="685800" cy="685800"/>
          </a:xfrm>
          <a:prstGeom prst="ellipse">
            <a:avLst/>
          </a:prstGeom>
          <a:solidFill>
            <a:schemeClr val="accent4"/>
          </a:solidFill>
          <a:ln/>
        </p:spPr>
      </p:sp>
      <p:pic>
        <p:nvPicPr>
          <p:cNvPr id="13" name="Image 1" descr="centang">    </p:cNvPr>
          <p:cNvPicPr>
            <a:picLocks noChangeAspect="1"/>
          </p:cNvPicPr>
          <p:nvPr/>
        </p:nvPicPr>
        <p:blipFill>
          <a:blip r:embed="rId2"/>
          <a:stretch>
            <a:fillRect/>
          </a:stretch>
        </p:blipFill>
        <p:spPr>
          <a:xfrm>
            <a:off x="6635344" y="1751076"/>
            <a:ext cx="384048" cy="384048"/>
          </a:xfrm>
          <a:prstGeom prst="rect">
            <a:avLst/>
          </a:prstGeom>
        </p:spPr>
      </p:pic>
      <p:sp>
        <p:nvSpPr>
          <p:cNvPr id="14" name="Text 9"/>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Dari tema</a:t>
            </a:r>
            <a:endParaRPr lang="en-US" sz="1900" dirty="0"/>
          </a:p>
        </p:txBody>
      </p:sp>
      <p:sp>
        <p:nvSpPr>
          <p:cNvPr id="15" name="Text 10"/>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4"/>
                </a:solidFill>
              </a:rPr>
              <a:t>Satu sumber, ikut berganti</a:t>
            </a:r>
            <a:endParaRPr lang="en-US" sz="1400" dirty="0"/>
          </a:p>
        </p:txBody>
      </p:sp>
      <p:sp>
        <p:nvSpPr>
          <p:cNvPr id="16" name="daftar poin"/>
          <p:cNvSpPr txBox="1"/>
          <p:nvPr/>
        </p:nvSpPr>
        <p:spPr>
          <a:xfrm>
            <a:off x="6484468" y="2926080"/>
            <a:ext cx="4929988" cy="1892808"/>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Warna dari peran ColorScheme</a:t>
            </a:r>
            <a:endParaRPr lang="en-US" sz="1600" dirty="0"/>
          </a:p>
          <a:p>
            <a:pPr marL="228600" indent="-228600">
              <a:spcAft>
                <a:spcPts val="800"/>
              </a:spcAft>
              <a:buSzPct val="100000"/>
              <a:buChar char="•"/>
            </a:pPr>
            <a:r>
              <a:rPr lang="en-US" sz="1600" dirty="0">
                <a:solidFill>
                  <a:schemeClr val="tx1"/>
                </a:solidFill>
              </a:rPr>
              <a:t>Ukuran dari gaya TextTheme</a:t>
            </a:r>
            <a:endParaRPr lang="en-US" sz="1600" dirty="0"/>
          </a:p>
          <a:p>
            <a:pPr marL="228600" indent="-228600">
              <a:spcAft>
                <a:spcPts val="800"/>
              </a:spcAft>
              <a:buSzPct val="100000"/>
              <a:buChar char="•"/>
            </a:pPr>
            <a:r>
              <a:rPr lang="en-US" sz="1600" dirty="0">
                <a:solidFill>
                  <a:schemeClr val="tx1"/>
                </a:solidFill>
              </a:rPr>
              <a:t>Otomatis cocok di mode gelap</a:t>
            </a:r>
            <a:endParaRPr lang="en-US" sz="1600" dirty="0"/>
          </a:p>
        </p:txBody>
      </p:sp>
      <p:sp>
        <p:nvSpPr>
          <p:cNvPr id="17" name="kotak kode"/>
          <p:cNvSpPr txBox="1"/>
          <p:nvPr/>
        </p:nvSpPr>
        <p:spPr>
          <a:xfrm>
            <a:off x="6438748" y="4773168"/>
            <a:ext cx="5021428" cy="1170432"/>
          </a:xfrm>
          <a:prstGeom prst="roundRect">
            <a:avLst>
              <a:gd name="adj" fmla="val 7813"/>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color: warna.primaryContainer,</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style: gayaTeks.titleLarge?.copyWith(</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color: warna.onPrimaryContainer,</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2</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Skema Warna: Satu Benih, Banyak Peran</a:t>
            </a:r>
            <a:endParaRPr lang="en-US" sz="4000" dirty="0"/>
          </a:p>
        </p:txBody>
      </p:sp>
      <p:sp>
        <p:nvSpPr>
          <p:cNvPr id="5" name="lingkaran kontras"/>
          <p:cNvSpPr/>
          <p:nvPr/>
        </p:nvSpPr>
        <p:spPr>
          <a:xfrm>
            <a:off x="1097280" y="2148840"/>
            <a:ext cx="2011680" cy="2011680"/>
          </a:xfrm>
          <a:prstGeom prst="ellipse">
            <a:avLst/>
          </a:prstGeom>
          <a:solidFill>
            <a:schemeClr val="accent1"/>
          </a:solidFill>
          <a:ln/>
        </p:spPr>
      </p:sp>
      <p:pic>
        <p:nvPicPr>
          <p:cNvPr id="6" name="Image 0" descr="kontras">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Warna Punya Peran, Bukan Sekadar Nama</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443094"/>
                <a:gridCol w="3730019"/>
                <a:gridCol w="3921302"/>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Peran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Kegunaan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Contoh pemakaian bawaan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0292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primary</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Aksi paling penting</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FilledButton, bilah kemajuan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primaryContainer</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Wadah yang ditonjolkan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FloatingActionButton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0292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secondary(Container)</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Unsur pendukung</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FilledButton.tonal, chip terpilih</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tertiary(Container)</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Aksen pembeda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Penanda khusus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0292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error(Container)</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Kesalahan, aksi berbahaya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Pesan error TextField, Badge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surface…Container…</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Latar halaman dan latar bertingkat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Scaffold, Card, NavigationBar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0292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outline(Variant)</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Garis tepi dan pemisah</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TextField, Divider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Teks atau ikon DI ATAS warna X memakai warna onX: onPrimary, onPrimaryContainer, onSurface, ...</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ColorScheme.fromSeed: Palet Lengkap dari Satu Warna</a:t>
            </a:r>
            <a:endParaRPr lang="en-US" sz="3200" dirty="0"/>
          </a:p>
        </p:txBody>
      </p:sp>
      <p:sp>
        <p:nvSpPr>
          <p:cNvPr id="4" name="bingkai layar 1"/>
          <p:cNvSpPr/>
          <p:nvPr/>
        </p:nvSpPr>
        <p:spPr>
          <a:xfrm>
            <a:off x="6467551" y="1316736"/>
            <a:ext cx="2532888" cy="3877123"/>
          </a:xfrm>
          <a:prstGeom prst="roundRect">
            <a:avLst>
              <a:gd name="adj" fmla="val 3610"/>
            </a:avLst>
          </a:prstGeom>
          <a:solidFill>
            <a:srgbClr val="FFFFFF"/>
          </a:solidFill>
          <a:ln w="12700">
            <a:solidFill>
              <a:srgbClr val="C9D3E0"/>
            </a:solidFill>
            <a:prstDash val="solid"/>
          </a:ln>
        </p:spPr>
      </p:sp>
      <p:pic>
        <p:nvPicPr>
          <p:cNvPr id="5" name="layar 1" descr="Tangkapan layar aplikasi (hasil_contoh_02a.jpg)">    </p:cNvPr>
          <p:cNvPicPr>
            <a:picLocks noChangeAspect="1"/>
          </p:cNvPicPr>
          <p:nvPr/>
        </p:nvPicPr>
        <p:blipFill>
          <a:blip r:embed="rId1"/>
          <a:stretch>
            <a:fillRect/>
          </a:stretch>
        </p:blipFill>
        <p:spPr>
          <a:xfrm>
            <a:off x="6522415" y="1371600"/>
            <a:ext cx="2423160" cy="3767395"/>
          </a:xfrm>
          <a:prstGeom prst="rect">
            <a:avLst/>
          </a:prstGeom>
        </p:spPr>
      </p:pic>
      <p:sp>
        <p:nvSpPr>
          <p:cNvPr id="6" name="bingkai layar 2"/>
          <p:cNvSpPr/>
          <p:nvPr/>
        </p:nvSpPr>
        <p:spPr>
          <a:xfrm>
            <a:off x="9165031" y="1316736"/>
            <a:ext cx="2532888" cy="3877123"/>
          </a:xfrm>
          <a:prstGeom prst="roundRect">
            <a:avLst>
              <a:gd name="adj" fmla="val 3610"/>
            </a:avLst>
          </a:prstGeom>
          <a:solidFill>
            <a:srgbClr val="FFFFFF"/>
          </a:solidFill>
          <a:ln w="12700">
            <a:solidFill>
              <a:srgbClr val="C9D3E0"/>
            </a:solidFill>
            <a:prstDash val="solid"/>
          </a:ln>
        </p:spPr>
      </p:sp>
      <p:pic>
        <p:nvPicPr>
          <p:cNvPr id="7" name="layar 2" descr="Tangkapan layar aplikasi (hasil_contoh_02b.jpg)">    </p:cNvPr>
          <p:cNvPicPr>
            <a:picLocks noChangeAspect="1"/>
          </p:cNvPicPr>
          <p:nvPr/>
        </p:nvPicPr>
        <p:blipFill>
          <a:blip r:embed="rId2"/>
          <a:stretch>
            <a:fillRect/>
          </a:stretch>
        </p:blipFill>
        <p:spPr>
          <a:xfrm>
            <a:off x="9219895" y="1371600"/>
            <a:ext cx="2423160" cy="3767395"/>
          </a:xfrm>
          <a:prstGeom prst="rect">
            <a:avLst/>
          </a:prstGeom>
        </p:spPr>
      </p:pic>
      <p:sp>
        <p:nvSpPr>
          <p:cNvPr id="8" name="kotak kode"/>
          <p:cNvSpPr txBox="1"/>
          <p:nvPr/>
        </p:nvSpPr>
        <p:spPr>
          <a:xfrm>
            <a:off x="548640" y="1371600"/>
            <a:ext cx="5516575" cy="2075688"/>
          </a:xfrm>
          <a:prstGeom prst="roundRect">
            <a:avLst>
              <a:gd name="adj" fmla="val 4405"/>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final</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ColorScheme</a:t>
            </a:r>
            <a:r>
              <a:rPr lang="en-US" sz="1300" dirty="0">
                <a:solidFill>
                  <a:srgbClr val="E6EDF3"/>
                </a:solidFill>
                <a:latin typeface="Consolas" pitchFamily="34" charset="0"/>
                <a:ea typeface="Consolas" pitchFamily="34" charset="-122"/>
                <a:cs typeface="Consolas" pitchFamily="34" charset="-120"/>
              </a:rPr>
              <a:t> skema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ColorScheme</a:t>
            </a:r>
            <a:r>
              <a:rPr lang="en-US" sz="1300" dirty="0">
                <a:solidFill>
                  <a:srgbClr val="E6EDF3"/>
                </a:solidFill>
                <a:latin typeface="Consolas" pitchFamily="34" charset="0"/>
                <a:ea typeface="Consolas" pitchFamily="34" charset="-122"/>
                <a:cs typeface="Consolas" pitchFamily="34" charset="-120"/>
              </a:rPr>
              <a:t>.fromSeed(</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seedColor: _benih.warna,</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brightness: _gelap</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a:t>
            </a:r>
            <a:r>
              <a:rPr lang="en-US" sz="1300" dirty="0">
                <a:solidFill>
                  <a:srgbClr val="FFCB6B"/>
                </a:solidFill>
                <a:latin typeface="Consolas" pitchFamily="34" charset="0"/>
                <a:ea typeface="Consolas" pitchFamily="34" charset="-122"/>
                <a:cs typeface="Consolas" pitchFamily="34" charset="-120"/>
              </a:rPr>
              <a:t>Brightness</a:t>
            </a:r>
            <a:r>
              <a:rPr lang="en-US" sz="1300" dirty="0">
                <a:solidFill>
                  <a:srgbClr val="E6EDF3"/>
                </a:solidFill>
                <a:latin typeface="Consolas" pitchFamily="34" charset="0"/>
                <a:ea typeface="Consolas" pitchFamily="34" charset="-122"/>
                <a:cs typeface="Consolas" pitchFamily="34" charset="-120"/>
              </a:rPr>
              <a:t>.dark</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a:t>
            </a:r>
            <a:r>
              <a:rPr lang="en-US" sz="1300" dirty="0">
                <a:solidFill>
                  <a:srgbClr val="FFCB6B"/>
                </a:solidFill>
                <a:latin typeface="Consolas" pitchFamily="34" charset="0"/>
                <a:ea typeface="Consolas" pitchFamily="34" charset="-122"/>
                <a:cs typeface="Consolas" pitchFamily="34" charset="-120"/>
              </a:rPr>
              <a:t>Brightness</a:t>
            </a:r>
            <a:r>
              <a:rPr lang="en-US" sz="1300" dirty="0">
                <a:solidFill>
                  <a:srgbClr val="E6EDF3"/>
                </a:solidFill>
                <a:latin typeface="Consolas" pitchFamily="34" charset="0"/>
                <a:ea typeface="Consolas" pitchFamily="34" charset="-122"/>
                <a:cs typeface="Consolas" pitchFamily="34" charset="-120"/>
              </a:rPr>
              <a:t>.light,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dynamicSchemeVariant: _varian,</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9" name="tombol tautan">
            <a:hlinkClick r:id="rId3" tooltip="https://github.com/antonprafanto/mobile2026/blob/main/pertemuan_07_material3_dan_responsif/kode/contoh_02_peran_warna.dart"/>
          </p:cNvPr>
          <p:cNvSpPr txBox="1"/>
          <p:nvPr/>
        </p:nvSpPr>
        <p:spPr>
          <a:xfrm>
            <a:off x="548640" y="3630168"/>
            <a:ext cx="551657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contoh_02_peran_warna.dart</a:t>
            </a:r>
            <a:endParaRPr lang="en-US" sz="1300" dirty="0"/>
          </a:p>
        </p:txBody>
      </p:sp>
      <p:pic>
        <p:nvPicPr>
          <p:cNvPr id="10" name="Image 2" descr="ikon tautan">
            <a:hlinkClick r:id="rId5" tooltip="https://github.com/antonprafanto/mobile2026/blob/main/pertemuan_07_material3_dan_responsif/kode/contoh_02_peran_warna.dart"/>
          </p:cNvPr>
          <p:cNvPicPr>
            <a:picLocks noChangeAspect="1"/>
          </p:cNvPicPr>
          <p:nvPr/>
        </p:nvPicPr>
        <p:blipFill>
          <a:blip r:embed="rId4"/>
          <a:stretch>
            <a:fillRect/>
          </a:stretch>
        </p:blipFill>
        <p:spPr>
          <a:xfrm>
            <a:off x="694944" y="3721608"/>
            <a:ext cx="274320" cy="274320"/>
          </a:xfrm>
          <a:prstGeom prst="rect">
            <a:avLst/>
          </a:prstGeom>
        </p:spPr>
      </p:pic>
      <p:sp>
        <p:nvSpPr>
          <p:cNvPr id="11" name="daftar poin"/>
          <p:cNvSpPr txBox="1"/>
          <p:nvPr/>
        </p:nvSpPr>
        <p:spPr>
          <a:xfrm>
            <a:off x="548640" y="4361688"/>
            <a:ext cx="5516575" cy="1856232"/>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tonalSpot (bawaan) menjinakkan benih: primary tidak sama persis dengan benih.</a:t>
            </a:r>
            <a:endParaRPr lang="en-US" sz="1500" dirty="0"/>
          </a:p>
          <a:p>
            <a:pPr marL="228600" indent="-228600">
              <a:spcAft>
                <a:spcPts val="800"/>
              </a:spcAft>
              <a:buSzPct val="100000"/>
              <a:buChar char="•"/>
            </a:pPr>
            <a:r>
              <a:rPr lang="en-US" sz="1500" dirty="0">
                <a:solidFill>
                  <a:schemeClr val="tx1"/>
                </a:solidFill>
              </a:rPr>
              <a:t>fidelity = setia pada benih; monochrome = abu-abu saja.</a:t>
            </a:r>
            <a:endParaRPr lang="en-US" sz="1500" dirty="0"/>
          </a:p>
          <a:p>
            <a:pPr marL="228600" indent="-228600">
              <a:spcAft>
                <a:spcPts val="800"/>
              </a:spcAft>
              <a:buSzPct val="100000"/>
              <a:buChar char="•"/>
            </a:pPr>
            <a:r>
              <a:rPr lang="en-US" sz="1500" dirty="0">
                <a:solidFill>
                  <a:schemeClr val="tx1"/>
                </a:solidFill>
              </a:rPr>
              <a:t>contrastLevel -1.0 sampai 1.0 untuk kontras lebih tinggi.</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3</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Tipografi dan Tema Komponen</a:t>
            </a:r>
            <a:endParaRPr lang="en-US" sz="4000" dirty="0"/>
          </a:p>
        </p:txBody>
      </p:sp>
      <p:sp>
        <p:nvSpPr>
          <p:cNvPr id="5" name="lingkaran huruf"/>
          <p:cNvSpPr/>
          <p:nvPr/>
        </p:nvSpPr>
        <p:spPr>
          <a:xfrm>
            <a:off x="1097280" y="2148840"/>
            <a:ext cx="2011680" cy="2011680"/>
          </a:xfrm>
          <a:prstGeom prst="ellipse">
            <a:avLst/>
          </a:prstGeom>
          <a:solidFill>
            <a:schemeClr val="accent1"/>
          </a:solidFill>
          <a:ln/>
        </p:spPr>
      </p:sp>
      <p:pic>
        <p:nvPicPr>
          <p:cNvPr id="6" name="Image 0" descr="huruf">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Skala Huruf Material 3</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008472"/>
                <a:gridCol w="1243340"/>
                <a:gridCol w="1434623"/>
                <a:gridCol w="1338981"/>
                <a:gridCol w="5069000"/>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Kelompok</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Large</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Medium</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Small</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Dipakai untuk</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66928">
                <a:tc>
                  <a:txBody>
                    <a:bodyPr/>
                    <a:lstStyle/>
                    <a:p>
                      <a:pPr indent="0" marL="0">
                        <a:buNone/>
                      </a:pPr>
                      <a:r>
                        <a:rPr lang="en-US" sz="1600" b="1" dirty="0">
                          <a:solidFill>
                            <a:srgbClr val="1B2333"/>
                          </a:solidFill>
                          <a:latin typeface="Calibri" pitchFamily="34" charset="0"/>
                          <a:ea typeface="Calibri" pitchFamily="34" charset="-122"/>
                          <a:cs typeface="Calibri" pitchFamily="34" charset="-120"/>
                        </a:rPr>
                        <a:t>display</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57</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45</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36</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Angka/teks pendek yang sangat besar</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B2333"/>
                          </a:solidFill>
                          <a:latin typeface="Calibri" pitchFamily="34" charset="0"/>
                          <a:ea typeface="Calibri" pitchFamily="34" charset="-122"/>
                          <a:cs typeface="Calibri" pitchFamily="34" charset="-120"/>
                        </a:rPr>
                        <a:t>headline</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32</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28</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24</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Judul halaman atau bagian penting</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600" b="1" dirty="0">
                          <a:solidFill>
                            <a:srgbClr val="1B2333"/>
                          </a:solidFill>
                          <a:latin typeface="Calibri" pitchFamily="34" charset="0"/>
                          <a:ea typeface="Calibri" pitchFamily="34" charset="-122"/>
                          <a:cs typeface="Calibri" pitchFamily="34" charset="-120"/>
                        </a:rPr>
                        <a:t>title</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22</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16 · tebal</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14 · tebal</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Judul AppBar, kartu, bagian kecil</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B2333"/>
                          </a:solidFill>
                          <a:latin typeface="Calibri" pitchFamily="34" charset="0"/>
                          <a:ea typeface="Calibri" pitchFamily="34" charset="-122"/>
                          <a:cs typeface="Calibri" pitchFamily="34" charset="-120"/>
                        </a:rPr>
                        <a:t>body</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16</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14</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12</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Isi bacaan: paragraf, keterangan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600" b="1" dirty="0">
                          <a:solidFill>
                            <a:srgbClr val="1B2333"/>
                          </a:solidFill>
                          <a:latin typeface="Calibri" pitchFamily="34" charset="0"/>
                          <a:ea typeface="Calibri" pitchFamily="34" charset="-122"/>
                          <a:cs typeface="Calibri" pitchFamily="34" charset="-120"/>
                        </a:rPr>
                        <a:t>label</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14 · tebal</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12 · tebal</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11 · tebal</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Tulisan tombol, chip, keterangan kecil</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Pilih gaya berdasarkan PERAN teks, bukan ukuran yang "kelihatannya pas". Contoh: Theme.of(context).textTheme.headlineSmall</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Membuktikan Skala Huruf</a:t>
            </a:r>
            <a:endParaRPr lang="en-US" sz="3200" dirty="0"/>
          </a:p>
        </p:txBody>
      </p:sp>
      <p:sp>
        <p:nvSpPr>
          <p:cNvPr id="4" name="bingkai layar 1"/>
          <p:cNvSpPr/>
          <p:nvPr/>
        </p:nvSpPr>
        <p:spPr>
          <a:xfrm>
            <a:off x="6467551" y="1316736"/>
            <a:ext cx="2532888" cy="3877123"/>
          </a:xfrm>
          <a:prstGeom prst="roundRect">
            <a:avLst>
              <a:gd name="adj" fmla="val 3610"/>
            </a:avLst>
          </a:prstGeom>
          <a:solidFill>
            <a:srgbClr val="FFFFFF"/>
          </a:solidFill>
          <a:ln w="12700">
            <a:solidFill>
              <a:srgbClr val="C9D3E0"/>
            </a:solidFill>
            <a:prstDash val="solid"/>
          </a:ln>
        </p:spPr>
      </p:sp>
      <p:pic>
        <p:nvPicPr>
          <p:cNvPr id="5" name="layar 1" descr="Tangkapan layar aplikasi (hasil_contoh_03a.jpg)">    </p:cNvPr>
          <p:cNvPicPr>
            <a:picLocks noChangeAspect="1"/>
          </p:cNvPicPr>
          <p:nvPr/>
        </p:nvPicPr>
        <p:blipFill>
          <a:blip r:embed="rId1"/>
          <a:stretch>
            <a:fillRect/>
          </a:stretch>
        </p:blipFill>
        <p:spPr>
          <a:xfrm>
            <a:off x="6522415" y="1371600"/>
            <a:ext cx="2423160" cy="3767395"/>
          </a:xfrm>
          <a:prstGeom prst="rect">
            <a:avLst/>
          </a:prstGeom>
        </p:spPr>
      </p:pic>
      <p:sp>
        <p:nvSpPr>
          <p:cNvPr id="6" name="bingkai layar 2"/>
          <p:cNvSpPr/>
          <p:nvPr/>
        </p:nvSpPr>
        <p:spPr>
          <a:xfrm>
            <a:off x="9165031" y="1316736"/>
            <a:ext cx="2532888" cy="3877123"/>
          </a:xfrm>
          <a:prstGeom prst="roundRect">
            <a:avLst>
              <a:gd name="adj" fmla="val 3610"/>
            </a:avLst>
          </a:prstGeom>
          <a:solidFill>
            <a:srgbClr val="FFFFFF"/>
          </a:solidFill>
          <a:ln w="12700">
            <a:solidFill>
              <a:srgbClr val="C9D3E0"/>
            </a:solidFill>
            <a:prstDash val="solid"/>
          </a:ln>
        </p:spPr>
      </p:sp>
      <p:pic>
        <p:nvPicPr>
          <p:cNvPr id="7" name="layar 2" descr="Tangkapan layar aplikasi (hasil_contoh_03b.jpg)">    </p:cNvPr>
          <p:cNvPicPr>
            <a:picLocks noChangeAspect="1"/>
          </p:cNvPicPr>
          <p:nvPr/>
        </p:nvPicPr>
        <p:blipFill>
          <a:blip r:embed="rId2"/>
          <a:stretch>
            <a:fillRect/>
          </a:stretch>
        </p:blipFill>
        <p:spPr>
          <a:xfrm>
            <a:off x="9219895" y="1371600"/>
            <a:ext cx="2423160" cy="3767395"/>
          </a:xfrm>
          <a:prstGeom prst="rect">
            <a:avLst/>
          </a:prstGeom>
        </p:spPr>
      </p:pic>
      <p:sp>
        <p:nvSpPr>
          <p:cNvPr id="8" name="kotak kode"/>
          <p:cNvSpPr txBox="1"/>
          <p:nvPr/>
        </p:nvSpPr>
        <p:spPr>
          <a:xfrm>
            <a:off x="548640" y="1371600"/>
            <a:ext cx="5516575" cy="2491740"/>
          </a:xfrm>
          <a:prstGeom prst="roundRect">
            <a:avLst>
              <a:gd name="adj" fmla="val 3670"/>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Text</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C3E88D"/>
                </a:solidFill>
                <a:latin typeface="Consolas" pitchFamily="34" charset="0"/>
                <a:ea typeface="Consolas" pitchFamily="34" charset="-122"/>
                <a:cs typeface="Consolas" pitchFamily="34" charset="-120"/>
              </a:rPr>
              <a:t>'BERITA PRODI'</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style: t.labelLarge?.copyWith(</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color: warna.primary,</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Text</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C3E88D"/>
                </a:solidFill>
                <a:latin typeface="Consolas" pitchFamily="34" charset="0"/>
                <a:ea typeface="Consolas" pitchFamily="34" charset="-122"/>
                <a:cs typeface="Consolas" pitchFamily="34" charset="-120"/>
              </a:rPr>
              <a:t>'Mahasiswa Informatika ...'</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style: t.headlineSmall,</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ukuran dibaca dari gayanya:</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(gaya?.fontSize ?? </a:t>
            </a:r>
            <a:r>
              <a:rPr lang="en-US" sz="1300" dirty="0">
                <a:solidFill>
                  <a:srgbClr val="F78C6C"/>
                </a:solidFill>
                <a:latin typeface="Consolas" pitchFamily="34" charset="0"/>
                <a:ea typeface="Consolas" pitchFamily="34" charset="-122"/>
                <a:cs typeface="Consolas" pitchFamily="34" charset="-120"/>
              </a:rPr>
              <a:t>0</a:t>
            </a:r>
            <a:r>
              <a:rPr lang="en-US" sz="1300" dirty="0">
                <a:solidFill>
                  <a:srgbClr val="E6EDF3"/>
                </a:solidFill>
                <a:latin typeface="Consolas" pitchFamily="34" charset="0"/>
                <a:ea typeface="Consolas" pitchFamily="34" charset="-122"/>
                <a:cs typeface="Consolas" pitchFamily="34" charset="-120"/>
              </a:rPr>
              <a:t>).toStringAsFixed(</a:t>
            </a:r>
            <a:r>
              <a:rPr lang="en-US" sz="1300" dirty="0">
                <a:solidFill>
                  <a:srgbClr val="F78C6C"/>
                </a:solidFill>
                <a:latin typeface="Consolas" pitchFamily="34" charset="0"/>
                <a:ea typeface="Consolas" pitchFamily="34" charset="-122"/>
                <a:cs typeface="Consolas" pitchFamily="34" charset="-120"/>
              </a:rPr>
              <a:t>0</a:t>
            </a: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9" name="tombol tautan">
            <a:hlinkClick r:id="rId3" tooltip="https://github.com/antonprafanto/mobile2026/blob/main/pertemuan_07_material3_dan_responsif/kode/contoh_03_tipografi.dart"/>
          </p:cNvPr>
          <p:cNvSpPr txBox="1"/>
          <p:nvPr/>
        </p:nvSpPr>
        <p:spPr>
          <a:xfrm>
            <a:off x="548640" y="4046220"/>
            <a:ext cx="551657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contoh_03_tipografi.dart</a:t>
            </a:r>
            <a:endParaRPr lang="en-US" sz="1300" dirty="0"/>
          </a:p>
        </p:txBody>
      </p:sp>
      <p:pic>
        <p:nvPicPr>
          <p:cNvPr id="10" name="Image 2" descr="ikon tautan">
            <a:hlinkClick r:id="rId5" tooltip="https://github.com/antonprafanto/mobile2026/blob/main/pertemuan_07_material3_dan_responsif/kode/contoh_03_tipografi.dart"/>
          </p:cNvPr>
          <p:cNvPicPr>
            <a:picLocks noChangeAspect="1"/>
          </p:cNvPicPr>
          <p:nvPr/>
        </p:nvPicPr>
        <p:blipFill>
          <a:blip r:embed="rId4"/>
          <a:stretch>
            <a:fillRect/>
          </a:stretch>
        </p:blipFill>
        <p:spPr>
          <a:xfrm>
            <a:off x="694944" y="4137660"/>
            <a:ext cx="274320" cy="274320"/>
          </a:xfrm>
          <a:prstGeom prst="rect">
            <a:avLst/>
          </a:prstGeom>
        </p:spPr>
      </p:pic>
      <p:sp>
        <p:nvSpPr>
          <p:cNvPr id="11" name="daftar poin"/>
          <p:cNvSpPr txBox="1"/>
          <p:nvPr/>
        </p:nvSpPr>
        <p:spPr>
          <a:xfrm>
            <a:off x="548640" y="4777740"/>
            <a:ext cx="5516575" cy="144018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Atas: artikel yang memakai gaya sesuai perannya.</a:t>
            </a:r>
            <a:endParaRPr lang="en-US" sz="1500" dirty="0"/>
          </a:p>
          <a:p>
            <a:pPr marL="228600" indent="-228600">
              <a:spcAft>
                <a:spcPts val="800"/>
              </a:spcAft>
              <a:buSzPct val="100000"/>
              <a:buChar char="•"/>
            </a:pPr>
            <a:r>
              <a:rPr lang="en-US" sz="1500" dirty="0">
                <a:solidFill>
                  <a:schemeClr val="tx1"/>
                </a:solidFill>
              </a:rPr>
              <a:t>Bawah: ke-15 gaya beserta ukuran aslinya.</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Tema Komponen: Atur Sekali untuk Semua</a:t>
            </a:r>
            <a:endParaRPr lang="en-US" sz="3200" dirty="0"/>
          </a:p>
        </p:txBody>
      </p:sp>
      <p:sp>
        <p:nvSpPr>
          <p:cNvPr id="4" name="bingkai layar 1"/>
          <p:cNvSpPr/>
          <p:nvPr/>
        </p:nvSpPr>
        <p:spPr>
          <a:xfrm>
            <a:off x="8936431" y="1316736"/>
            <a:ext cx="2761488" cy="4232537"/>
          </a:xfrm>
          <a:prstGeom prst="roundRect">
            <a:avLst>
              <a:gd name="adj" fmla="val 3311"/>
            </a:avLst>
          </a:prstGeom>
          <a:solidFill>
            <a:srgbClr val="FFFFFF"/>
          </a:solidFill>
          <a:ln w="12700">
            <a:solidFill>
              <a:srgbClr val="C9D3E0"/>
            </a:solidFill>
            <a:prstDash val="solid"/>
          </a:ln>
        </p:spPr>
      </p:sp>
      <p:pic>
        <p:nvPicPr>
          <p:cNvPr id="5" name="layar 1" descr="Tangkapan layar aplikasi (hasil_contoh_04.jpg)">    </p:cNvPr>
          <p:cNvPicPr>
            <a:picLocks noChangeAspect="1"/>
          </p:cNvPicPr>
          <p:nvPr/>
        </p:nvPicPr>
        <p:blipFill>
          <a:blip r:embed="rId1"/>
          <a:stretch>
            <a:fillRect/>
          </a:stretch>
        </p:blipFill>
        <p:spPr>
          <a:xfrm>
            <a:off x="8991295" y="1371600"/>
            <a:ext cx="2651760" cy="4122809"/>
          </a:xfrm>
          <a:prstGeom prst="rect">
            <a:avLst/>
          </a:prstGeom>
        </p:spPr>
      </p:pic>
      <p:sp>
        <p:nvSpPr>
          <p:cNvPr id="6" name="kotak kode"/>
          <p:cNvSpPr txBox="1"/>
          <p:nvPr/>
        </p:nvSpPr>
        <p:spPr>
          <a:xfrm>
            <a:off x="548640" y="1371600"/>
            <a:ext cx="7985455" cy="3474720"/>
          </a:xfrm>
          <a:prstGeom prst="roundRect">
            <a:avLst>
              <a:gd name="adj" fmla="val 2632"/>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ThemeData</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colorScheme: skema,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appBarTheme: </a:t>
            </a:r>
            <a:r>
              <a:rPr lang="en-US" sz="1200" dirty="0">
                <a:solidFill>
                  <a:srgbClr val="FFCB6B"/>
                </a:solidFill>
                <a:latin typeface="Consolas" pitchFamily="34" charset="0"/>
                <a:ea typeface="Consolas" pitchFamily="34" charset="-122"/>
                <a:cs typeface="Consolas" pitchFamily="34" charset="-120"/>
              </a:rPr>
              <a:t>AppBarThemeData</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backgroundColor: skema.primaryContainer,</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foregroundColor: skema.onPrimaryContainer,</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cardTheme: </a:t>
            </a:r>
            <a:r>
              <a:rPr lang="en-US" sz="1200" dirty="0">
                <a:solidFill>
                  <a:srgbClr val="FFCB6B"/>
                </a:solidFill>
                <a:latin typeface="Consolas" pitchFamily="34" charset="0"/>
                <a:ea typeface="Consolas" pitchFamily="34" charset="-122"/>
                <a:cs typeface="Consolas" pitchFamily="34" charset="-120"/>
              </a:rPr>
              <a:t>CardThemeData</a:t>
            </a:r>
            <a:r>
              <a:rPr lang="en-US" sz="1200" dirty="0">
                <a:solidFill>
                  <a:srgbClr val="E6EDF3"/>
                </a:solidFill>
                <a:latin typeface="Consolas" pitchFamily="34" charset="0"/>
                <a:ea typeface="Consolas" pitchFamily="34" charset="-122"/>
                <a:cs typeface="Consolas" pitchFamily="34" charset="-120"/>
              </a:rPr>
              <a:t>(elevation: </a:t>
            </a:r>
            <a:r>
              <a:rPr lang="en-US" sz="1200" dirty="0">
                <a:solidFill>
                  <a:srgbClr val="F78C6C"/>
                </a:solidFill>
                <a:latin typeface="Consolas" pitchFamily="34" charset="0"/>
                <a:ea typeface="Consolas" pitchFamily="34" charset="-122"/>
                <a:cs typeface="Consolas" pitchFamily="34" charset="-120"/>
              </a:rPr>
              <a:t>0</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inputDecorationTheme: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InputDecorationThemeData</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filled: </a:t>
            </a:r>
            <a:r>
              <a:rPr lang="en-US" sz="1200" dirty="0">
                <a:solidFill>
                  <a:srgbClr val="C792EA"/>
                </a:solidFill>
                <a:latin typeface="Consolas" pitchFamily="34" charset="0"/>
                <a:ea typeface="Consolas" pitchFamily="34" charset="-122"/>
                <a:cs typeface="Consolas" pitchFamily="34" charset="-120"/>
              </a:rPr>
              <a:t>true</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border: </a:t>
            </a:r>
            <a:r>
              <a:rPr lang="en-US" sz="1200" dirty="0">
                <a:solidFill>
                  <a:srgbClr val="FFCB6B"/>
                </a:solidFill>
                <a:latin typeface="Consolas" pitchFamily="34" charset="0"/>
                <a:ea typeface="Consolas" pitchFamily="34" charset="-122"/>
                <a:cs typeface="Consolas" pitchFamily="34" charset="-120"/>
              </a:rPr>
              <a:t>OutlineInputBorder</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filledButtonTheme: </a:t>
            </a:r>
            <a:r>
              <a:rPr lang="en-US" sz="1200" dirty="0">
                <a:solidFill>
                  <a:srgbClr val="FFCB6B"/>
                </a:solidFill>
                <a:latin typeface="Consolas" pitchFamily="34" charset="0"/>
                <a:ea typeface="Consolas" pitchFamily="34" charset="-122"/>
                <a:cs typeface="Consolas" pitchFamily="34" charset="-120"/>
              </a:rPr>
              <a:t>FilledButtonThemeData</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style: </a:t>
            </a:r>
            <a:r>
              <a:rPr lang="en-US" sz="1200" dirty="0">
                <a:solidFill>
                  <a:srgbClr val="FFCB6B"/>
                </a:solidFill>
                <a:latin typeface="Consolas" pitchFamily="34" charset="0"/>
                <a:ea typeface="Consolas" pitchFamily="34" charset="-122"/>
                <a:cs typeface="Consolas" pitchFamily="34" charset="-120"/>
              </a:rPr>
              <a:t>FilledButton</a:t>
            </a:r>
            <a:r>
              <a:rPr lang="en-US" sz="1200" dirty="0">
                <a:solidFill>
                  <a:srgbClr val="E6EDF3"/>
                </a:solidFill>
                <a:latin typeface="Consolas" pitchFamily="34" charset="0"/>
                <a:ea typeface="Consolas" pitchFamily="34" charset="-122"/>
                <a:cs typeface="Consolas" pitchFamily="34" charset="-120"/>
              </a:rPr>
              <a:t>.styleFrom(</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minimumSize: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Size</a:t>
            </a:r>
            <a:r>
              <a:rPr lang="en-US" sz="1200" dirty="0">
                <a:solidFill>
                  <a:srgbClr val="E6EDF3"/>
                </a:solidFill>
                <a:latin typeface="Consolas" pitchFamily="34" charset="0"/>
                <a:ea typeface="Consolas" pitchFamily="34" charset="-122"/>
                <a:cs typeface="Consolas" pitchFamily="34" charset="-120"/>
              </a:rPr>
              <a:t>.fromHeight(</a:t>
            </a:r>
            <a:r>
              <a:rPr lang="en-US" sz="1200" dirty="0">
                <a:solidFill>
                  <a:srgbClr val="F78C6C"/>
                </a:solidFill>
                <a:latin typeface="Consolas" pitchFamily="34" charset="0"/>
                <a:ea typeface="Consolas" pitchFamily="34" charset="-122"/>
                <a:cs typeface="Consolas" pitchFamily="34" charset="-120"/>
              </a:rPr>
              <a:t>52</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7" name="tombol tautan">
            <a:hlinkClick r:id="rId2" tooltip="https://github.com/antonprafanto/mobile2026/blob/main/pertemuan_07_material3_dan_responsif/kode/contoh_04_tema_komponen.dart"/>
          </p:cNvPr>
          <p:cNvSpPr txBox="1"/>
          <p:nvPr/>
        </p:nvSpPr>
        <p:spPr>
          <a:xfrm>
            <a:off x="548640" y="5029200"/>
            <a:ext cx="798545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contoh_04_tema_komponen.dart</a:t>
            </a:r>
            <a:endParaRPr lang="en-US" sz="1300" dirty="0"/>
          </a:p>
        </p:txBody>
      </p:sp>
      <p:pic>
        <p:nvPicPr>
          <p:cNvPr id="8" name="Image 1" descr="ikon tautan">
            <a:hlinkClick r:id="rId4" tooltip="https://github.com/antonprafanto/mobile2026/blob/main/pertemuan_07_material3_dan_responsif/kode/contoh_04_tema_komponen.dart"/>
          </p:cNvPr>
          <p:cNvPicPr>
            <a:picLocks noChangeAspect="1"/>
          </p:cNvPicPr>
          <p:nvPr/>
        </p:nvPicPr>
        <p:blipFill>
          <a:blip r:embed="rId3"/>
          <a:stretch>
            <a:fillRect/>
          </a:stretch>
        </p:blipFill>
        <p:spPr>
          <a:xfrm>
            <a:off x="694944" y="5120640"/>
            <a:ext cx="274320" cy="274320"/>
          </a:xfrm>
          <a:prstGeom prst="rect">
            <a:avLst/>
          </a:prstGeom>
        </p:spPr>
      </p:pic>
      <p:sp>
        <p:nvSpPr>
          <p:cNvPr id="9" name="daftar poin"/>
          <p:cNvSpPr txBox="1"/>
          <p:nvPr/>
        </p:nvSpPr>
        <p:spPr>
          <a:xfrm>
            <a:off x="548640" y="5760720"/>
            <a:ext cx="7985455" cy="4572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Halaman formulir tidak berisi warna, garis, atau tinggi tombol sama sekali.</a:t>
            </a:r>
            <a:endParaRPr lang="en-US" sz="1500" dirty="0"/>
          </a:p>
          <a:p>
            <a:pPr marL="228600" indent="-228600">
              <a:spcAft>
                <a:spcPts val="800"/>
              </a:spcAft>
              <a:buSzPct val="100000"/>
              <a:buChar char="•"/>
            </a:pPr>
            <a:r>
              <a:rPr lang="en-US" sz="1500" dirty="0">
                <a:solidFill>
                  <a:schemeClr val="tx1"/>
                </a:solidFill>
              </a:rPr>
              <a:t>Sejak Flutter 3.35 namanya berakhiran Data: AppBarThemeData, InputDecorationThemeData.</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Tema Lokal: Hanya untuk Sebagian Layar</a:t>
            </a:r>
            <a:endParaRPr lang="en-US" sz="3200" dirty="0"/>
          </a:p>
        </p:txBody>
      </p:sp>
      <p:sp>
        <p:nvSpPr>
          <p:cNvPr id="4" name="kotak kode"/>
          <p:cNvSpPr txBox="1"/>
          <p:nvPr/>
        </p:nvSpPr>
        <p:spPr>
          <a:xfrm>
            <a:off x="548640" y="1371600"/>
            <a:ext cx="6400800" cy="3531870"/>
          </a:xfrm>
          <a:prstGeom prst="roundRect">
            <a:avLst>
              <a:gd name="adj" fmla="val 2589"/>
            </a:avLst>
          </a:prstGeom>
          <a:solidFill>
            <a:srgbClr val="0E1A2B"/>
          </a:solidFill>
          <a:ln/>
        </p:spPr>
        <p:txBody>
          <a:bodyPr wrap="square" lIns="177800" tIns="152400" rIns="152400" bIns="177800" rtlCol="0" anchor="t"/>
          <a:lstStyle/>
          <a:p>
            <a:pPr indent="0" marL="0">
              <a:lnSpc>
                <a:spcPct val="105000"/>
              </a:lnSpc>
              <a:buNone/>
            </a:pPr>
            <a:r>
              <a:rPr lang="en-US" sz="1500" dirty="0">
                <a:solidFill>
                  <a:srgbClr val="FFCB6B"/>
                </a:solidFill>
                <a:latin typeface="Consolas" pitchFamily="34" charset="0"/>
                <a:ea typeface="Consolas" pitchFamily="34" charset="-122"/>
                <a:cs typeface="Consolas" pitchFamily="34" charset="-120"/>
              </a:rPr>
              <a:t>Theme</a:t>
            </a:r>
            <a:r>
              <a:rPr lang="en-US" sz="1500" dirty="0">
                <a:solidFill>
                  <a:srgbClr val="E6EDF3"/>
                </a:solidFill>
                <a:latin typeface="Consolas" pitchFamily="34" charset="0"/>
                <a:ea typeface="Consolas" pitchFamily="34" charset="-122"/>
                <a:cs typeface="Consolas" pitchFamily="34" charset="-120"/>
              </a:rPr>
              <a:t>(</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data: </a:t>
            </a:r>
            <a:r>
              <a:rPr lang="en-US" sz="1500" dirty="0">
                <a:solidFill>
                  <a:srgbClr val="FFCB6B"/>
                </a:solidFill>
                <a:latin typeface="Consolas" pitchFamily="34" charset="0"/>
                <a:ea typeface="Consolas" pitchFamily="34" charset="-122"/>
                <a:cs typeface="Consolas" pitchFamily="34" charset="-120"/>
              </a:rPr>
              <a:t>Theme</a:t>
            </a:r>
            <a:r>
              <a:rPr lang="en-US" sz="1500" dirty="0">
                <a:solidFill>
                  <a:srgbClr val="E6EDF3"/>
                </a:solidFill>
                <a:latin typeface="Consolas" pitchFamily="34" charset="0"/>
                <a:ea typeface="Consolas" pitchFamily="34" charset="-122"/>
                <a:cs typeface="Consolas" pitchFamily="34" charset="-120"/>
              </a:rPr>
              <a:t>.of(context).copyWith(</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colorScheme: warna.copyWith(</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primary: warna.error,</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onPrimary: warna.onError,</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child: </a:t>
            </a:r>
            <a:r>
              <a:rPr lang="en-US" sz="1500" dirty="0">
                <a:solidFill>
                  <a:srgbClr val="FFCB6B"/>
                </a:solidFill>
                <a:latin typeface="Consolas" pitchFamily="34" charset="0"/>
                <a:ea typeface="Consolas" pitchFamily="34" charset="-122"/>
                <a:cs typeface="Consolas" pitchFamily="34" charset="-120"/>
              </a:rPr>
              <a:t>FilledButton</a:t>
            </a:r>
            <a:r>
              <a:rPr lang="en-US" sz="1500" dirty="0">
                <a:solidFill>
                  <a:srgbClr val="E6EDF3"/>
                </a:solidFill>
                <a:latin typeface="Consolas" pitchFamily="34" charset="0"/>
                <a:ea typeface="Consolas" pitchFamily="34" charset="-122"/>
                <a:cs typeface="Consolas" pitchFamily="34" charset="-120"/>
              </a:rPr>
              <a:t>.icon(</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onPressed: () {},</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icon: </a:t>
            </a:r>
            <a:r>
              <a:rPr lang="en-US" sz="1500" dirty="0">
                <a:solidFill>
                  <a:srgbClr val="C792EA"/>
                </a:solidFill>
                <a:latin typeface="Consolas" pitchFamily="34" charset="0"/>
                <a:ea typeface="Consolas" pitchFamily="34" charset="-122"/>
                <a:cs typeface="Consolas" pitchFamily="34" charset="-120"/>
              </a:rPr>
              <a:t>const</a:t>
            </a: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FFCB6B"/>
                </a:solidFill>
                <a:latin typeface="Consolas" pitchFamily="34" charset="0"/>
                <a:ea typeface="Consolas" pitchFamily="34" charset="-122"/>
                <a:cs typeface="Consolas" pitchFamily="34" charset="-120"/>
              </a:rPr>
              <a:t>Icon</a:t>
            </a:r>
            <a:r>
              <a:rPr lang="en-US" sz="1500" dirty="0">
                <a:solidFill>
                  <a:srgbClr val="E6EDF3"/>
                </a:solidFill>
                <a:latin typeface="Consolas" pitchFamily="34" charset="0"/>
                <a:ea typeface="Consolas" pitchFamily="34" charset="-122"/>
                <a:cs typeface="Consolas" pitchFamily="34" charset="-120"/>
              </a:rPr>
              <a:t>(</a:t>
            </a:r>
            <a:r>
              <a:rPr lang="en-US" sz="1500" dirty="0">
                <a:solidFill>
                  <a:srgbClr val="FFCB6B"/>
                </a:solidFill>
                <a:latin typeface="Consolas" pitchFamily="34" charset="0"/>
                <a:ea typeface="Consolas" pitchFamily="34" charset="-122"/>
                <a:cs typeface="Consolas" pitchFamily="34" charset="-120"/>
              </a:rPr>
              <a:t>Icons</a:t>
            </a:r>
            <a:r>
              <a:rPr lang="en-US" sz="1500" dirty="0">
                <a:solidFill>
                  <a:srgbClr val="E6EDF3"/>
                </a:solidFill>
                <a:latin typeface="Consolas" pitchFamily="34" charset="0"/>
                <a:ea typeface="Consolas" pitchFamily="34" charset="-122"/>
                <a:cs typeface="Consolas" pitchFamily="34" charset="-120"/>
              </a:rPr>
              <a:t>.delete_outline),</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label: </a:t>
            </a:r>
            <a:r>
              <a:rPr lang="en-US" sz="1500" dirty="0">
                <a:solidFill>
                  <a:srgbClr val="C792EA"/>
                </a:solidFill>
                <a:latin typeface="Consolas" pitchFamily="34" charset="0"/>
                <a:ea typeface="Consolas" pitchFamily="34" charset="-122"/>
                <a:cs typeface="Consolas" pitchFamily="34" charset="-120"/>
              </a:rPr>
              <a:t>const</a:t>
            </a: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FFCB6B"/>
                </a:solidFill>
                <a:latin typeface="Consolas" pitchFamily="34" charset="0"/>
                <a:ea typeface="Consolas" pitchFamily="34" charset="-122"/>
                <a:cs typeface="Consolas" pitchFamily="34" charset="-120"/>
              </a:rPr>
              <a:t>Text</a:t>
            </a:r>
            <a:r>
              <a:rPr lang="en-US" sz="1500" dirty="0">
                <a:solidFill>
                  <a:srgbClr val="E6EDF3"/>
                </a:solidFill>
                <a:latin typeface="Consolas" pitchFamily="34" charset="0"/>
                <a:ea typeface="Consolas" pitchFamily="34" charset="-122"/>
                <a:cs typeface="Consolas" pitchFamily="34" charset="-120"/>
              </a:rPr>
              <a:t>(</a:t>
            </a:r>
            <a:r>
              <a:rPr lang="en-US" sz="1500" dirty="0">
                <a:solidFill>
                  <a:srgbClr val="C3E88D"/>
                </a:solidFill>
                <a:latin typeface="Consolas" pitchFamily="34" charset="0"/>
                <a:ea typeface="Consolas" pitchFamily="34" charset="-122"/>
                <a:cs typeface="Consolas" pitchFamily="34" charset="-120"/>
              </a:rPr>
              <a:t>'Batalkan semua pendaftaran'</a:t>
            </a:r>
            <a:r>
              <a:rPr lang="en-US" sz="1500" dirty="0">
                <a:solidFill>
                  <a:srgbClr val="E6EDF3"/>
                </a:solidFill>
                <a:latin typeface="Consolas" pitchFamily="34" charset="0"/>
                <a:ea typeface="Consolas" pitchFamily="34" charset="-122"/>
                <a:cs typeface="Consolas" pitchFamily="34" charset="-120"/>
              </a:rPr>
              <a:t>),</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a:t>
            </a:r>
            <a:endParaRPr lang="en-US" sz="1500" dirty="0"/>
          </a:p>
        </p:txBody>
      </p:sp>
      <p:sp>
        <p:nvSpPr>
          <p:cNvPr id="5" name="tombol tautan">
            <a:hlinkClick r:id="rId1" tooltip="https://github.com/antonprafanto/mobile2026/blob/main/pertemuan_07_material3_dan_responsif/kode/contoh_04_tema_komponen.dart"/>
          </p:cNvPr>
          <p:cNvSpPr txBox="1"/>
          <p:nvPr/>
        </p:nvSpPr>
        <p:spPr>
          <a:xfrm>
            <a:off x="548640" y="5132070"/>
            <a:ext cx="640080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contoh_04_tema_komponen.dart</a:t>
            </a:r>
            <a:endParaRPr lang="en-US" sz="1300" dirty="0"/>
          </a:p>
        </p:txBody>
      </p:sp>
      <p:pic>
        <p:nvPicPr>
          <p:cNvPr id="6" name="Image 0" descr="ikon tautan">
            <a:hlinkClick r:id="rId3" tooltip="https://github.com/antonprafanto/mobile2026/blob/main/pertemuan_07_material3_dan_responsif/kode/contoh_04_tema_komponen.dart"/>
          </p:cNvPr>
          <p:cNvPicPr>
            <a:picLocks noChangeAspect="1"/>
          </p:cNvPicPr>
          <p:nvPr/>
        </p:nvPicPr>
        <p:blipFill>
          <a:blip r:embed="rId2"/>
          <a:stretch>
            <a:fillRect/>
          </a:stretch>
        </p:blipFill>
        <p:spPr>
          <a:xfrm>
            <a:off x="694944" y="5223510"/>
            <a:ext cx="274320" cy="274320"/>
          </a:xfrm>
          <a:prstGeom prst="rect">
            <a:avLst/>
          </a:prstGeom>
        </p:spPr>
      </p:pic>
      <p:sp>
        <p:nvSpPr>
          <p:cNvPr id="7" name="daftar poin"/>
          <p:cNvSpPr txBox="1"/>
          <p:nvPr/>
        </p:nvSpPr>
        <p:spPr>
          <a:xfrm>
            <a:off x="7360920" y="1417320"/>
            <a:ext cx="428213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copyWith = ambil tema yang berlaku, ganti sebagian isinya.</a:t>
            </a:r>
            <a:endParaRPr lang="en-US" sz="1700" dirty="0"/>
          </a:p>
          <a:p>
            <a:pPr marL="228600" indent="-228600">
              <a:spcAft>
                <a:spcPts val="800"/>
              </a:spcAft>
              <a:buSzPct val="100000"/>
              <a:buChar char="•"/>
            </a:pPr>
            <a:r>
              <a:rPr lang="en-US" sz="1700" dirty="0">
                <a:solidFill>
                  <a:schemeClr val="tx1"/>
                </a:solidFill>
              </a:rPr>
              <a:t>Widget di dalam Theme membaca tema terdekat: tema lokal ini.</a:t>
            </a:r>
            <a:endParaRPr lang="en-US" sz="1700" dirty="0"/>
          </a:p>
          <a:p>
            <a:pPr marL="228600" indent="-228600">
              <a:spcAft>
                <a:spcPts val="800"/>
              </a:spcAft>
              <a:buSzPct val="100000"/>
              <a:buChar char="•"/>
            </a:pPr>
            <a:r>
              <a:rPr lang="en-US" sz="1700" dirty="0">
                <a:solidFill>
                  <a:schemeClr val="tx1"/>
                </a:solidFill>
              </a:rPr>
              <a:t>Jebakan: Theme.of(context) di build yang SAMA dengan widget Theme baru masih membaca tema lama. Pindahkan bagian itu ke class tersendiri.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4</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Mode Gelap dan Warna Khusus</a:t>
            </a:r>
            <a:endParaRPr lang="en-US" sz="4000" dirty="0"/>
          </a:p>
        </p:txBody>
      </p:sp>
      <p:sp>
        <p:nvSpPr>
          <p:cNvPr id="5" name="lingkaran gelap"/>
          <p:cNvSpPr/>
          <p:nvPr/>
        </p:nvSpPr>
        <p:spPr>
          <a:xfrm>
            <a:off x="1097280" y="2148840"/>
            <a:ext cx="2011680" cy="2011680"/>
          </a:xfrm>
          <a:prstGeom prst="ellipse">
            <a:avLst/>
          </a:prstGeom>
          <a:solidFill>
            <a:schemeClr val="accent1"/>
          </a:solidFill>
          <a:ln/>
        </p:spPr>
      </p:sp>
      <p:pic>
        <p:nvPicPr>
          <p:cNvPr id="6" name="Image 0" descr="gelap">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Mode Gelap: Dua Tema, Satu Pilihan</a:t>
            </a:r>
            <a:endParaRPr lang="en-US" sz="3200" dirty="0"/>
          </a:p>
        </p:txBody>
      </p:sp>
      <p:sp>
        <p:nvSpPr>
          <p:cNvPr id="4" name="bingkai layar 1"/>
          <p:cNvSpPr/>
          <p:nvPr/>
        </p:nvSpPr>
        <p:spPr>
          <a:xfrm>
            <a:off x="6467551" y="1316736"/>
            <a:ext cx="2532888" cy="3877123"/>
          </a:xfrm>
          <a:prstGeom prst="roundRect">
            <a:avLst>
              <a:gd name="adj" fmla="val 3610"/>
            </a:avLst>
          </a:prstGeom>
          <a:solidFill>
            <a:srgbClr val="FFFFFF"/>
          </a:solidFill>
          <a:ln w="12700">
            <a:solidFill>
              <a:srgbClr val="C9D3E0"/>
            </a:solidFill>
            <a:prstDash val="solid"/>
          </a:ln>
        </p:spPr>
      </p:sp>
      <p:pic>
        <p:nvPicPr>
          <p:cNvPr id="5" name="layar 1" descr="Tangkapan layar aplikasi (hasil_contoh_05a.jpg)">    </p:cNvPr>
          <p:cNvPicPr>
            <a:picLocks noChangeAspect="1"/>
          </p:cNvPicPr>
          <p:nvPr/>
        </p:nvPicPr>
        <p:blipFill>
          <a:blip r:embed="rId1"/>
          <a:stretch>
            <a:fillRect/>
          </a:stretch>
        </p:blipFill>
        <p:spPr>
          <a:xfrm>
            <a:off x="6522415" y="1371600"/>
            <a:ext cx="2423160" cy="3767395"/>
          </a:xfrm>
          <a:prstGeom prst="rect">
            <a:avLst/>
          </a:prstGeom>
        </p:spPr>
      </p:pic>
      <p:sp>
        <p:nvSpPr>
          <p:cNvPr id="6" name="bingkai layar 2"/>
          <p:cNvSpPr/>
          <p:nvPr/>
        </p:nvSpPr>
        <p:spPr>
          <a:xfrm>
            <a:off x="9165031" y="1316736"/>
            <a:ext cx="2532888" cy="3877123"/>
          </a:xfrm>
          <a:prstGeom prst="roundRect">
            <a:avLst>
              <a:gd name="adj" fmla="val 3610"/>
            </a:avLst>
          </a:prstGeom>
          <a:solidFill>
            <a:srgbClr val="FFFFFF"/>
          </a:solidFill>
          <a:ln w="12700">
            <a:solidFill>
              <a:srgbClr val="C9D3E0"/>
            </a:solidFill>
            <a:prstDash val="solid"/>
          </a:ln>
        </p:spPr>
      </p:sp>
      <p:pic>
        <p:nvPicPr>
          <p:cNvPr id="7" name="layar 2" descr="Tangkapan layar aplikasi (hasil_contoh_05b.jpg)">    </p:cNvPr>
          <p:cNvPicPr>
            <a:picLocks noChangeAspect="1"/>
          </p:cNvPicPr>
          <p:nvPr/>
        </p:nvPicPr>
        <p:blipFill>
          <a:blip r:embed="rId2"/>
          <a:stretch>
            <a:fillRect/>
          </a:stretch>
        </p:blipFill>
        <p:spPr>
          <a:xfrm>
            <a:off x="9219895" y="1371600"/>
            <a:ext cx="2423160" cy="3767395"/>
          </a:xfrm>
          <a:prstGeom prst="rect">
            <a:avLst/>
          </a:prstGeom>
        </p:spPr>
      </p:pic>
      <p:sp>
        <p:nvSpPr>
          <p:cNvPr id="8" name="kotak kode"/>
          <p:cNvSpPr txBox="1"/>
          <p:nvPr/>
        </p:nvSpPr>
        <p:spPr>
          <a:xfrm>
            <a:off x="548640" y="1371600"/>
            <a:ext cx="5516575" cy="2075688"/>
          </a:xfrm>
          <a:prstGeom prst="roundRect">
            <a:avLst>
              <a:gd name="adj" fmla="val 4405"/>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theme: </a:t>
            </a:r>
            <a:r>
              <a:rPr lang="en-US" sz="1300" dirty="0">
                <a:solidFill>
                  <a:srgbClr val="FFCB6B"/>
                </a:solidFill>
                <a:latin typeface="Consolas" pitchFamily="34" charset="0"/>
                <a:ea typeface="Consolas" pitchFamily="34" charset="-122"/>
                <a:cs typeface="Consolas" pitchFamily="34" charset="-120"/>
              </a:rPr>
              <a:t>ThemeData</a:t>
            </a:r>
            <a:r>
              <a:rPr lang="en-US" sz="1300" dirty="0">
                <a:solidFill>
                  <a:srgbClr val="E6EDF3"/>
                </a:solidFill>
                <a:latin typeface="Consolas" pitchFamily="34" charset="0"/>
                <a:ea typeface="Consolas" pitchFamily="34" charset="-122"/>
                <a:cs typeface="Consolas" pitchFamily="34" charset="-120"/>
              </a:rPr>
              <a:t>(colorScheme:</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ColorScheme</a:t>
            </a:r>
            <a:r>
              <a:rPr lang="en-US" sz="1300" dirty="0">
                <a:solidFill>
                  <a:srgbClr val="E6EDF3"/>
                </a:solidFill>
                <a:latin typeface="Consolas" pitchFamily="34" charset="0"/>
                <a:ea typeface="Consolas" pitchFamily="34" charset="-122"/>
                <a:cs typeface="Consolas" pitchFamily="34" charset="-120"/>
              </a:rPr>
              <a:t>.fromSeed(seedColor: benih)),</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darkTheme: </a:t>
            </a:r>
            <a:r>
              <a:rPr lang="en-US" sz="1300" dirty="0">
                <a:solidFill>
                  <a:srgbClr val="FFCB6B"/>
                </a:solidFill>
                <a:latin typeface="Consolas" pitchFamily="34" charset="0"/>
                <a:ea typeface="Consolas" pitchFamily="34" charset="-122"/>
                <a:cs typeface="Consolas" pitchFamily="34" charset="-120"/>
              </a:rPr>
              <a:t>ThemeData</a:t>
            </a:r>
            <a:r>
              <a:rPr lang="en-US" sz="1300" dirty="0">
                <a:solidFill>
                  <a:srgbClr val="E6EDF3"/>
                </a:solidFill>
                <a:latin typeface="Consolas" pitchFamily="34" charset="0"/>
                <a:ea typeface="Consolas" pitchFamily="34" charset="-122"/>
                <a:cs typeface="Consolas" pitchFamily="34" charset="-120"/>
              </a:rPr>
              <a:t>(colorScheme:</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ColorScheme</a:t>
            </a:r>
            <a:r>
              <a:rPr lang="en-US" sz="1300" dirty="0">
                <a:solidFill>
                  <a:srgbClr val="E6EDF3"/>
                </a:solidFill>
                <a:latin typeface="Consolas" pitchFamily="34" charset="0"/>
                <a:ea typeface="Consolas" pitchFamily="34" charset="-122"/>
                <a:cs typeface="Consolas" pitchFamily="34" charset="-120"/>
              </a:rPr>
              <a:t>.fromSeed(</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seedColor: benih,</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brightness: </a:t>
            </a:r>
            <a:r>
              <a:rPr lang="en-US" sz="1300" dirty="0">
                <a:solidFill>
                  <a:srgbClr val="FFCB6B"/>
                </a:solidFill>
                <a:latin typeface="Consolas" pitchFamily="34" charset="0"/>
                <a:ea typeface="Consolas" pitchFamily="34" charset="-122"/>
                <a:cs typeface="Consolas" pitchFamily="34" charset="-120"/>
              </a:rPr>
              <a:t>Brightness</a:t>
            </a:r>
            <a:r>
              <a:rPr lang="en-US" sz="1300" dirty="0">
                <a:solidFill>
                  <a:srgbClr val="E6EDF3"/>
                </a:solidFill>
                <a:latin typeface="Consolas" pitchFamily="34" charset="0"/>
                <a:ea typeface="Consolas" pitchFamily="34" charset="-122"/>
                <a:cs typeface="Consolas" pitchFamily="34" charset="-120"/>
              </a:rPr>
              <a:t>.dark,</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themeMode: _mode, </a:t>
            </a:r>
            <a:r>
              <a:rPr lang="en-US" sz="1300" i="1" dirty="0">
                <a:solidFill>
                  <a:srgbClr val="8FA3BC"/>
                </a:solidFill>
                <a:latin typeface="Consolas" pitchFamily="34" charset="0"/>
                <a:ea typeface="Consolas" pitchFamily="34" charset="-122"/>
                <a:cs typeface="Consolas" pitchFamily="34" charset="-120"/>
              </a:rPr>
              <a:t>// system/light/dark</a:t>
            </a:r>
            <a:endParaRPr lang="en-US" sz="1300" dirty="0"/>
          </a:p>
        </p:txBody>
      </p:sp>
      <p:sp>
        <p:nvSpPr>
          <p:cNvPr id="9" name="tombol tautan">
            <a:hlinkClick r:id="rId3" tooltip="https://github.com/antonprafanto/mobile2026/blob/main/pertemuan_07_material3_dan_responsif/kode/contoh_05_mode_gelap.dart"/>
          </p:cNvPr>
          <p:cNvSpPr txBox="1"/>
          <p:nvPr/>
        </p:nvSpPr>
        <p:spPr>
          <a:xfrm>
            <a:off x="548640" y="3630168"/>
            <a:ext cx="551657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contoh_05_mode_gelap.dart</a:t>
            </a:r>
            <a:endParaRPr lang="en-US" sz="1300" dirty="0"/>
          </a:p>
        </p:txBody>
      </p:sp>
      <p:pic>
        <p:nvPicPr>
          <p:cNvPr id="10" name="Image 2" descr="ikon tautan">
            <a:hlinkClick r:id="rId5" tooltip="https://github.com/antonprafanto/mobile2026/blob/main/pertemuan_07_material3_dan_responsif/kode/contoh_05_mode_gelap.dart"/>
          </p:cNvPr>
          <p:cNvPicPr>
            <a:picLocks noChangeAspect="1"/>
          </p:cNvPicPr>
          <p:nvPr/>
        </p:nvPicPr>
        <p:blipFill>
          <a:blip r:embed="rId4"/>
          <a:stretch>
            <a:fillRect/>
          </a:stretch>
        </p:blipFill>
        <p:spPr>
          <a:xfrm>
            <a:off x="694944" y="3721608"/>
            <a:ext cx="274320" cy="274320"/>
          </a:xfrm>
          <a:prstGeom prst="rect">
            <a:avLst/>
          </a:prstGeom>
        </p:spPr>
      </p:pic>
      <p:sp>
        <p:nvSpPr>
          <p:cNvPr id="11" name="daftar poin"/>
          <p:cNvSpPr txBox="1"/>
          <p:nvPr/>
        </p:nvSpPr>
        <p:spPr>
          <a:xfrm>
            <a:off x="548640" y="4361688"/>
            <a:ext cx="5516575" cy="1856232"/>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Benih SAMA, brightness berbeda.</a:t>
            </a:r>
            <a:endParaRPr lang="en-US" sz="1500" dirty="0"/>
          </a:p>
          <a:p>
            <a:pPr marL="228600" indent="-228600">
              <a:spcAft>
                <a:spcPts val="800"/>
              </a:spcAft>
              <a:buSzPct val="100000"/>
              <a:buChar char="•"/>
            </a:pPr>
            <a:r>
              <a:rPr lang="en-US" sz="1500" dirty="0">
                <a:solidFill>
                  <a:schemeClr val="tx1"/>
                </a:solidFill>
              </a:rPr>
              <a:t>Teks hitam dan kotak putih yang ditulis langsung rusak di mode gelap.</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Pilihan Mode Disimpan di Akar Aplikasi</a:t>
            </a:r>
            <a:endParaRPr lang="en-US" sz="3200" dirty="0"/>
          </a:p>
        </p:txBody>
      </p:sp>
      <p:sp>
        <p:nvSpPr>
          <p:cNvPr id="4" name="Text 1"/>
          <p:cNvSpPr txBox="1"/>
          <p:nvPr/>
        </p:nvSpPr>
        <p:spPr>
          <a:xfrm>
            <a:off x="548640" y="1325880"/>
            <a:ext cx="11094415" cy="548640"/>
          </a:xfrm>
          <a:prstGeom prst="rect">
            <a:avLst/>
          </a:prstGeom>
          <a:noFill/>
          <a:ln/>
        </p:spPr>
        <p:txBody>
          <a:bodyPr wrap="square" lIns="0" tIns="0" rIns="0" bIns="0" rtlCol="0" anchor="ctr"/>
          <a:lstStyle/>
          <a:p>
            <a:pPr indent="0" marL="0">
              <a:buNone/>
            </a:pPr>
            <a:r>
              <a:rPr lang="en-US" sz="1800" dirty="0">
                <a:solidFill>
                  <a:srgbClr val="4A5870"/>
                </a:solidFill>
              </a:rPr>
              <a:t>Nilai dipakai MaterialApp, tombolnya ada di halaman pengaturan → angkat state ke widget teratas yang membutuhkannya (Pertemuan 5).</a:t>
            </a:r>
            <a:endParaRPr lang="en-US" sz="1800" dirty="0"/>
          </a:p>
        </p:txBody>
      </p:sp>
      <p:sp>
        <p:nvSpPr>
          <p:cNvPr id="5" name="langkah 1"/>
          <p:cNvSpPr/>
          <p:nvPr/>
        </p:nvSpPr>
        <p:spPr>
          <a:xfrm>
            <a:off x="548640" y="2103120"/>
            <a:ext cx="1962851" cy="3566160"/>
          </a:xfrm>
          <a:prstGeom prst="roundRect">
            <a:avLst>
              <a:gd name="adj" fmla="val 6988"/>
            </a:avLst>
          </a:prstGeom>
          <a:solidFill>
            <a:schemeClr val="bg2"/>
          </a:solidFill>
          <a:ln/>
        </p:spPr>
      </p:sp>
      <p:sp>
        <p:nvSpPr>
          <p:cNvPr id="6" name="lingkaran pohon"/>
          <p:cNvSpPr/>
          <p:nvPr/>
        </p:nvSpPr>
        <p:spPr>
          <a:xfrm>
            <a:off x="1095726" y="2377440"/>
            <a:ext cx="868680" cy="868680"/>
          </a:xfrm>
          <a:prstGeom prst="ellipse">
            <a:avLst/>
          </a:prstGeom>
          <a:solidFill>
            <a:schemeClr val="accent1"/>
          </a:solidFill>
          <a:ln/>
        </p:spPr>
      </p:sp>
      <p:pic>
        <p:nvPicPr>
          <p:cNvPr id="7" name="Image 0" descr="pohon">    </p:cNvPr>
          <p:cNvPicPr>
            <a:picLocks noChangeAspect="1"/>
          </p:cNvPicPr>
          <p:nvPr/>
        </p:nvPicPr>
        <p:blipFill>
          <a:blip r:embed="rId1"/>
          <a:stretch>
            <a:fillRect/>
          </a:stretch>
        </p:blipFill>
        <p:spPr>
          <a:xfrm>
            <a:off x="1286835" y="2568550"/>
            <a:ext cx="486461" cy="486461"/>
          </a:xfrm>
          <a:prstGeom prst="rect">
            <a:avLst/>
          </a:prstGeom>
        </p:spPr>
      </p:pic>
      <p:sp>
        <p:nvSpPr>
          <p:cNvPr id="8" name="Text 4"/>
          <p:cNvSpPr txBox="1"/>
          <p:nvPr/>
        </p:nvSpPr>
        <p:spPr>
          <a:xfrm>
            <a:off x="658368"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9" name="Text 5"/>
          <p:cNvSpPr txBox="1"/>
          <p:nvPr/>
        </p:nvSpPr>
        <p:spPr>
          <a:xfrm>
            <a:off x="685800" y="3383280"/>
            <a:ext cx="1688531" cy="777240"/>
          </a:xfrm>
          <a:prstGeom prst="rect">
            <a:avLst/>
          </a:prstGeom>
          <a:noFill/>
          <a:ln/>
        </p:spPr>
        <p:txBody>
          <a:bodyPr wrap="square" lIns="0" tIns="0" rIns="0" bIns="0" rtlCol="0" anchor="t"/>
          <a:lstStyle/>
          <a:p>
            <a:pPr algn="ctr" indent="0" marL="0">
              <a:buNone/>
            </a:pPr>
            <a:r>
              <a:rPr lang="en-US" sz="1400" b="1" dirty="0">
                <a:solidFill>
                  <a:schemeClr val="tx2"/>
                </a:solidFill>
              </a:rPr>
              <a:t>Akar (StatefulWidget)</a:t>
            </a:r>
            <a:endParaRPr lang="en-US" sz="1400" dirty="0"/>
          </a:p>
        </p:txBody>
      </p:sp>
      <p:sp>
        <p:nvSpPr>
          <p:cNvPr id="10" name="Text 6"/>
          <p:cNvSpPr txBox="1"/>
          <p:nvPr/>
        </p:nvSpPr>
        <p:spPr>
          <a:xfrm>
            <a:off x="685800" y="420624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Menyimpan ThemeMode _mode</a:t>
            </a:r>
            <a:endParaRPr lang="en-US" sz="1400" dirty="0"/>
          </a:p>
        </p:txBody>
      </p:sp>
      <p:sp>
        <p:nvSpPr>
          <p:cNvPr id="11" name="Shape 7"/>
          <p:cNvSpPr/>
          <p:nvPr/>
        </p:nvSpPr>
        <p:spPr>
          <a:xfrm>
            <a:off x="2548067" y="2670048"/>
            <a:ext cx="246888" cy="274320"/>
          </a:xfrm>
          <a:prstGeom prst="rightArrow">
            <a:avLst/>
          </a:prstGeom>
          <a:solidFill>
            <a:schemeClr val="accent2"/>
          </a:solidFill>
          <a:ln/>
        </p:spPr>
      </p:sp>
      <p:sp>
        <p:nvSpPr>
          <p:cNvPr id="12" name="langkah 2"/>
          <p:cNvSpPr/>
          <p:nvPr/>
        </p:nvSpPr>
        <p:spPr>
          <a:xfrm>
            <a:off x="2831531" y="2103120"/>
            <a:ext cx="1962851" cy="3566160"/>
          </a:xfrm>
          <a:prstGeom prst="roundRect">
            <a:avLst>
              <a:gd name="adj" fmla="val 6988"/>
            </a:avLst>
          </a:prstGeom>
          <a:solidFill>
            <a:schemeClr val="bg2"/>
          </a:solidFill>
          <a:ln/>
        </p:spPr>
      </p:sp>
      <p:sp>
        <p:nvSpPr>
          <p:cNvPr id="13" name="lingkaran widget"/>
          <p:cNvSpPr/>
          <p:nvPr/>
        </p:nvSpPr>
        <p:spPr>
          <a:xfrm>
            <a:off x="3378617" y="2377440"/>
            <a:ext cx="868680" cy="868680"/>
          </a:xfrm>
          <a:prstGeom prst="ellipse">
            <a:avLst/>
          </a:prstGeom>
          <a:solidFill>
            <a:schemeClr val="accent1"/>
          </a:solidFill>
          <a:ln/>
        </p:spPr>
      </p:sp>
      <p:pic>
        <p:nvPicPr>
          <p:cNvPr id="14" name="Image 1" descr="widget">    </p:cNvPr>
          <p:cNvPicPr>
            <a:picLocks noChangeAspect="1"/>
          </p:cNvPicPr>
          <p:nvPr/>
        </p:nvPicPr>
        <p:blipFill>
          <a:blip r:embed="rId2"/>
          <a:stretch>
            <a:fillRect/>
          </a:stretch>
        </p:blipFill>
        <p:spPr>
          <a:xfrm>
            <a:off x="3569726" y="2568550"/>
            <a:ext cx="486461" cy="486461"/>
          </a:xfrm>
          <a:prstGeom prst="rect">
            <a:avLst/>
          </a:prstGeom>
        </p:spPr>
      </p:pic>
      <p:sp>
        <p:nvSpPr>
          <p:cNvPr id="15" name="Text 10"/>
          <p:cNvSpPr txBox="1"/>
          <p:nvPr/>
        </p:nvSpPr>
        <p:spPr>
          <a:xfrm>
            <a:off x="2941259"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6" name="Text 11"/>
          <p:cNvSpPr txBox="1"/>
          <p:nvPr/>
        </p:nvSpPr>
        <p:spPr>
          <a:xfrm>
            <a:off x="2968691" y="338328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MaterialApp</a:t>
            </a:r>
            <a:endParaRPr lang="en-US" sz="1700" dirty="0"/>
          </a:p>
        </p:txBody>
      </p:sp>
      <p:sp>
        <p:nvSpPr>
          <p:cNvPr id="17" name="Text 12"/>
          <p:cNvSpPr txBox="1"/>
          <p:nvPr/>
        </p:nvSpPr>
        <p:spPr>
          <a:xfrm>
            <a:off x="2968691" y="420624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themeMode: _mode</a:t>
            </a:r>
            <a:endParaRPr lang="en-US" sz="1400" dirty="0"/>
          </a:p>
        </p:txBody>
      </p:sp>
      <p:sp>
        <p:nvSpPr>
          <p:cNvPr id="18" name="Shape 13"/>
          <p:cNvSpPr/>
          <p:nvPr/>
        </p:nvSpPr>
        <p:spPr>
          <a:xfrm>
            <a:off x="4830958" y="2670048"/>
            <a:ext cx="246888" cy="274320"/>
          </a:xfrm>
          <a:prstGeom prst="rightArrow">
            <a:avLst/>
          </a:prstGeom>
          <a:solidFill>
            <a:schemeClr val="accent2"/>
          </a:solidFill>
          <a:ln/>
        </p:spPr>
      </p:sp>
      <p:sp>
        <p:nvSpPr>
          <p:cNvPr id="19" name="langkah 3"/>
          <p:cNvSpPr/>
          <p:nvPr/>
        </p:nvSpPr>
        <p:spPr>
          <a:xfrm>
            <a:off x="5114422" y="2103120"/>
            <a:ext cx="1962851" cy="3566160"/>
          </a:xfrm>
          <a:prstGeom prst="roundRect">
            <a:avLst>
              <a:gd name="adj" fmla="val 6988"/>
            </a:avLst>
          </a:prstGeom>
          <a:solidFill>
            <a:schemeClr val="bg2"/>
          </a:solidFill>
          <a:ln/>
        </p:spPr>
      </p:sp>
      <p:sp>
        <p:nvSpPr>
          <p:cNvPr id="20" name="lingkaran setel"/>
          <p:cNvSpPr/>
          <p:nvPr/>
        </p:nvSpPr>
        <p:spPr>
          <a:xfrm>
            <a:off x="5661508" y="2377440"/>
            <a:ext cx="868680" cy="868680"/>
          </a:xfrm>
          <a:prstGeom prst="ellipse">
            <a:avLst/>
          </a:prstGeom>
          <a:solidFill>
            <a:schemeClr val="accent1"/>
          </a:solidFill>
          <a:ln/>
        </p:spPr>
      </p:sp>
      <p:pic>
        <p:nvPicPr>
          <p:cNvPr id="21" name="Image 2" descr="setel">    </p:cNvPr>
          <p:cNvPicPr>
            <a:picLocks noChangeAspect="1"/>
          </p:cNvPicPr>
          <p:nvPr/>
        </p:nvPicPr>
        <p:blipFill>
          <a:blip r:embed="rId3"/>
          <a:stretch>
            <a:fillRect/>
          </a:stretch>
        </p:blipFill>
        <p:spPr>
          <a:xfrm>
            <a:off x="5852617" y="2568550"/>
            <a:ext cx="486461" cy="486461"/>
          </a:xfrm>
          <a:prstGeom prst="rect">
            <a:avLst/>
          </a:prstGeom>
        </p:spPr>
      </p:pic>
      <p:sp>
        <p:nvSpPr>
          <p:cNvPr id="22" name="Text 16"/>
          <p:cNvSpPr txBox="1"/>
          <p:nvPr/>
        </p:nvSpPr>
        <p:spPr>
          <a:xfrm>
            <a:off x="5224150"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3" name="Text 17"/>
          <p:cNvSpPr txBox="1"/>
          <p:nvPr/>
        </p:nvSpPr>
        <p:spPr>
          <a:xfrm>
            <a:off x="5251582" y="338328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Halaman pengaturan</a:t>
            </a:r>
            <a:endParaRPr lang="en-US" sz="1700" dirty="0"/>
          </a:p>
        </p:txBody>
      </p:sp>
      <p:sp>
        <p:nvSpPr>
          <p:cNvPr id="24" name="Text 18"/>
          <p:cNvSpPr txBox="1"/>
          <p:nvPr/>
        </p:nvSpPr>
        <p:spPr>
          <a:xfrm>
            <a:off x="5251582" y="420624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Menerima mode + onModeBerubah</a:t>
            </a:r>
            <a:endParaRPr lang="en-US" sz="1400" dirty="0"/>
          </a:p>
        </p:txBody>
      </p:sp>
      <p:sp>
        <p:nvSpPr>
          <p:cNvPr id="25" name="Shape 19"/>
          <p:cNvSpPr/>
          <p:nvPr/>
        </p:nvSpPr>
        <p:spPr>
          <a:xfrm>
            <a:off x="7113849" y="2670048"/>
            <a:ext cx="246888" cy="274320"/>
          </a:xfrm>
          <a:prstGeom prst="rightArrow">
            <a:avLst/>
          </a:prstGeom>
          <a:solidFill>
            <a:schemeClr val="accent2"/>
          </a:solidFill>
          <a:ln/>
        </p:spPr>
      </p:sp>
      <p:sp>
        <p:nvSpPr>
          <p:cNvPr id="26" name="langkah 4"/>
          <p:cNvSpPr/>
          <p:nvPr/>
        </p:nvSpPr>
        <p:spPr>
          <a:xfrm>
            <a:off x="7397313" y="2103120"/>
            <a:ext cx="1962851" cy="3566160"/>
          </a:xfrm>
          <a:prstGeom prst="roundRect">
            <a:avLst>
              <a:gd name="adj" fmla="val 6988"/>
            </a:avLst>
          </a:prstGeom>
          <a:solidFill>
            <a:schemeClr val="bg2"/>
          </a:solidFill>
          <a:ln/>
        </p:spPr>
      </p:sp>
      <p:sp>
        <p:nvSpPr>
          <p:cNvPr id="27" name="lingkaran tombol"/>
          <p:cNvSpPr/>
          <p:nvPr/>
        </p:nvSpPr>
        <p:spPr>
          <a:xfrm>
            <a:off x="7944399" y="2377440"/>
            <a:ext cx="868680" cy="868680"/>
          </a:xfrm>
          <a:prstGeom prst="ellipse">
            <a:avLst/>
          </a:prstGeom>
          <a:solidFill>
            <a:schemeClr val="accent1"/>
          </a:solidFill>
          <a:ln/>
        </p:spPr>
      </p:sp>
      <p:pic>
        <p:nvPicPr>
          <p:cNvPr id="28" name="Image 3" descr="tombol">    </p:cNvPr>
          <p:cNvPicPr>
            <a:picLocks noChangeAspect="1"/>
          </p:cNvPicPr>
          <p:nvPr/>
        </p:nvPicPr>
        <p:blipFill>
          <a:blip r:embed="rId4"/>
          <a:stretch>
            <a:fillRect/>
          </a:stretch>
        </p:blipFill>
        <p:spPr>
          <a:xfrm>
            <a:off x="8135508" y="2568550"/>
            <a:ext cx="486461" cy="486461"/>
          </a:xfrm>
          <a:prstGeom prst="rect">
            <a:avLst/>
          </a:prstGeom>
        </p:spPr>
      </p:pic>
      <p:sp>
        <p:nvSpPr>
          <p:cNvPr id="29" name="Text 22"/>
          <p:cNvSpPr txBox="1"/>
          <p:nvPr/>
        </p:nvSpPr>
        <p:spPr>
          <a:xfrm>
            <a:off x="7507041"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4</a:t>
            </a:r>
            <a:endParaRPr lang="en-US" sz="1400" dirty="0"/>
          </a:p>
        </p:txBody>
      </p:sp>
      <p:sp>
        <p:nvSpPr>
          <p:cNvPr id="30" name="Text 23"/>
          <p:cNvSpPr txBox="1"/>
          <p:nvPr/>
        </p:nvSpPr>
        <p:spPr>
          <a:xfrm>
            <a:off x="7534473" y="3383280"/>
            <a:ext cx="1688531" cy="777240"/>
          </a:xfrm>
          <a:prstGeom prst="rect">
            <a:avLst/>
          </a:prstGeom>
          <a:noFill/>
          <a:ln/>
        </p:spPr>
        <p:txBody>
          <a:bodyPr wrap="square" lIns="0" tIns="0" rIns="0" bIns="0" rtlCol="0" anchor="t"/>
          <a:lstStyle/>
          <a:p>
            <a:pPr algn="ctr" indent="0" marL="0">
              <a:buNone/>
            </a:pPr>
            <a:r>
              <a:rPr lang="en-US" sz="1500" b="1" dirty="0">
                <a:solidFill>
                  <a:schemeClr val="tx2"/>
                </a:solidFill>
              </a:rPr>
              <a:t>SegmentedButton</a:t>
            </a:r>
            <a:endParaRPr lang="en-US" sz="1500" dirty="0"/>
          </a:p>
        </p:txBody>
      </p:sp>
      <p:sp>
        <p:nvSpPr>
          <p:cNvPr id="31" name="Text 24"/>
          <p:cNvSpPr txBox="1"/>
          <p:nvPr/>
        </p:nvSpPr>
        <p:spPr>
          <a:xfrm>
            <a:off x="7534473" y="420624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Ketukan memanggil onModeBerubah</a:t>
            </a:r>
            <a:endParaRPr lang="en-US" sz="1400" dirty="0"/>
          </a:p>
        </p:txBody>
      </p:sp>
      <p:sp>
        <p:nvSpPr>
          <p:cNvPr id="32" name="Shape 25"/>
          <p:cNvSpPr/>
          <p:nvPr/>
        </p:nvSpPr>
        <p:spPr>
          <a:xfrm>
            <a:off x="9396740" y="2670048"/>
            <a:ext cx="246888" cy="274320"/>
          </a:xfrm>
          <a:prstGeom prst="rightArrow">
            <a:avLst/>
          </a:prstGeom>
          <a:solidFill>
            <a:schemeClr val="accent2"/>
          </a:solidFill>
          <a:ln/>
        </p:spPr>
      </p:sp>
      <p:sp>
        <p:nvSpPr>
          <p:cNvPr id="33" name="langkah 5"/>
          <p:cNvSpPr/>
          <p:nvPr/>
        </p:nvSpPr>
        <p:spPr>
          <a:xfrm>
            <a:off x="9680204" y="2103120"/>
            <a:ext cx="1962851" cy="3566160"/>
          </a:xfrm>
          <a:prstGeom prst="roundRect">
            <a:avLst>
              <a:gd name="adj" fmla="val 6988"/>
            </a:avLst>
          </a:prstGeom>
          <a:solidFill>
            <a:schemeClr val="bg2"/>
          </a:solidFill>
          <a:ln/>
        </p:spPr>
      </p:sp>
      <p:sp>
        <p:nvSpPr>
          <p:cNvPr id="34" name="lingkaran sinkron"/>
          <p:cNvSpPr/>
          <p:nvPr/>
        </p:nvSpPr>
        <p:spPr>
          <a:xfrm>
            <a:off x="10227290" y="2377440"/>
            <a:ext cx="868680" cy="868680"/>
          </a:xfrm>
          <a:prstGeom prst="ellipse">
            <a:avLst/>
          </a:prstGeom>
          <a:solidFill>
            <a:schemeClr val="accent4"/>
          </a:solidFill>
          <a:ln/>
        </p:spPr>
      </p:sp>
      <p:pic>
        <p:nvPicPr>
          <p:cNvPr id="35" name="Image 4" descr="sinkron">    </p:cNvPr>
          <p:cNvPicPr>
            <a:picLocks noChangeAspect="1"/>
          </p:cNvPicPr>
          <p:nvPr/>
        </p:nvPicPr>
        <p:blipFill>
          <a:blip r:embed="rId5"/>
          <a:stretch>
            <a:fillRect/>
          </a:stretch>
        </p:blipFill>
        <p:spPr>
          <a:xfrm>
            <a:off x="10418399" y="2568550"/>
            <a:ext cx="486461" cy="486461"/>
          </a:xfrm>
          <a:prstGeom prst="rect">
            <a:avLst/>
          </a:prstGeom>
        </p:spPr>
      </p:pic>
      <p:sp>
        <p:nvSpPr>
          <p:cNvPr id="36" name="Text 28"/>
          <p:cNvSpPr txBox="1"/>
          <p:nvPr/>
        </p:nvSpPr>
        <p:spPr>
          <a:xfrm>
            <a:off x="9789932"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5</a:t>
            </a:r>
            <a:endParaRPr lang="en-US" sz="1400" dirty="0"/>
          </a:p>
        </p:txBody>
      </p:sp>
      <p:sp>
        <p:nvSpPr>
          <p:cNvPr id="37" name="Text 29"/>
          <p:cNvSpPr txBox="1"/>
          <p:nvPr/>
        </p:nvSpPr>
        <p:spPr>
          <a:xfrm>
            <a:off x="9817364" y="338328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setState di akar</a:t>
            </a:r>
            <a:endParaRPr lang="en-US" sz="1700" dirty="0"/>
          </a:p>
        </p:txBody>
      </p:sp>
      <p:sp>
        <p:nvSpPr>
          <p:cNvPr id="38" name="Text 30"/>
          <p:cNvSpPr txBox="1"/>
          <p:nvPr/>
        </p:nvSpPr>
        <p:spPr>
          <a:xfrm>
            <a:off x="9817364" y="420624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Seluruh aplikasi berganti tema</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Warna Khusus dengan ThemeExtension</a:t>
            </a:r>
            <a:endParaRPr lang="en-US" sz="3200" dirty="0"/>
          </a:p>
        </p:txBody>
      </p:sp>
      <p:sp>
        <p:nvSpPr>
          <p:cNvPr id="4" name="bingkai layar 1"/>
          <p:cNvSpPr/>
          <p:nvPr/>
        </p:nvSpPr>
        <p:spPr>
          <a:xfrm>
            <a:off x="6467551" y="1316736"/>
            <a:ext cx="2532888" cy="3877123"/>
          </a:xfrm>
          <a:prstGeom prst="roundRect">
            <a:avLst>
              <a:gd name="adj" fmla="val 3610"/>
            </a:avLst>
          </a:prstGeom>
          <a:solidFill>
            <a:srgbClr val="FFFFFF"/>
          </a:solidFill>
          <a:ln w="12700">
            <a:solidFill>
              <a:srgbClr val="C9D3E0"/>
            </a:solidFill>
            <a:prstDash val="solid"/>
          </a:ln>
        </p:spPr>
      </p:sp>
      <p:pic>
        <p:nvPicPr>
          <p:cNvPr id="5" name="layar 1" descr="Tangkapan layar aplikasi (hasil_contoh_06a.jpg)">    </p:cNvPr>
          <p:cNvPicPr>
            <a:picLocks noChangeAspect="1"/>
          </p:cNvPicPr>
          <p:nvPr/>
        </p:nvPicPr>
        <p:blipFill>
          <a:blip r:embed="rId1"/>
          <a:stretch>
            <a:fillRect/>
          </a:stretch>
        </p:blipFill>
        <p:spPr>
          <a:xfrm>
            <a:off x="6522415" y="1371600"/>
            <a:ext cx="2423160" cy="3767395"/>
          </a:xfrm>
          <a:prstGeom prst="rect">
            <a:avLst/>
          </a:prstGeom>
        </p:spPr>
      </p:pic>
      <p:sp>
        <p:nvSpPr>
          <p:cNvPr id="6" name="bingkai layar 2"/>
          <p:cNvSpPr/>
          <p:nvPr/>
        </p:nvSpPr>
        <p:spPr>
          <a:xfrm>
            <a:off x="9165031" y="1316736"/>
            <a:ext cx="2532888" cy="3877123"/>
          </a:xfrm>
          <a:prstGeom prst="roundRect">
            <a:avLst>
              <a:gd name="adj" fmla="val 3610"/>
            </a:avLst>
          </a:prstGeom>
          <a:solidFill>
            <a:srgbClr val="FFFFFF"/>
          </a:solidFill>
          <a:ln w="12700">
            <a:solidFill>
              <a:srgbClr val="C9D3E0"/>
            </a:solidFill>
            <a:prstDash val="solid"/>
          </a:ln>
        </p:spPr>
      </p:sp>
      <p:pic>
        <p:nvPicPr>
          <p:cNvPr id="7" name="layar 2" descr="Tangkapan layar aplikasi (hasil_contoh_06b.jpg)">    </p:cNvPr>
          <p:cNvPicPr>
            <a:picLocks noChangeAspect="1"/>
          </p:cNvPicPr>
          <p:nvPr/>
        </p:nvPicPr>
        <p:blipFill>
          <a:blip r:embed="rId2"/>
          <a:stretch>
            <a:fillRect/>
          </a:stretch>
        </p:blipFill>
        <p:spPr>
          <a:xfrm>
            <a:off x="9219895" y="1371600"/>
            <a:ext cx="2423160" cy="3767395"/>
          </a:xfrm>
          <a:prstGeom prst="rect">
            <a:avLst/>
          </a:prstGeom>
        </p:spPr>
      </p:pic>
      <p:sp>
        <p:nvSpPr>
          <p:cNvPr id="8" name="kotak kode"/>
          <p:cNvSpPr txBox="1"/>
          <p:nvPr/>
        </p:nvSpPr>
        <p:spPr>
          <a:xfrm>
            <a:off x="548640" y="1371600"/>
            <a:ext cx="5516575" cy="2523744"/>
          </a:xfrm>
          <a:prstGeom prst="roundRect">
            <a:avLst>
              <a:gd name="adj" fmla="val 3623"/>
            </a:avLst>
          </a:prstGeom>
          <a:solidFill>
            <a:srgbClr val="0E1A2B"/>
          </a:solidFill>
          <a:ln/>
        </p:spPr>
        <p:txBody>
          <a:bodyPr wrap="square" lIns="177800" tIns="152400" rIns="152400" bIns="177800" rtlCol="0" anchor="t"/>
          <a:lstStyle/>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1. class ... extends ThemeExtension&lt;WarnaStatus&gt;</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 copyWith() + lerp()</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2. daftarkan di tema terang &amp; gelap:</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extensions: &lt;</a:t>
            </a:r>
            <a:r>
              <a:rPr lang="en-US" sz="1200" dirty="0">
                <a:solidFill>
                  <a:srgbClr val="FFCB6B"/>
                </a:solidFill>
                <a:latin typeface="Consolas" pitchFamily="34" charset="0"/>
                <a:ea typeface="Consolas" pitchFamily="34" charset="-122"/>
                <a:cs typeface="Consolas" pitchFamily="34" charset="-120"/>
              </a:rPr>
              <a:t>ThemeExtension</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C792EA"/>
                </a:solidFill>
                <a:latin typeface="Consolas" pitchFamily="34" charset="0"/>
                <a:ea typeface="Consolas" pitchFamily="34" charset="-122"/>
                <a:cs typeface="Consolas" pitchFamily="34" charset="-120"/>
              </a:rPr>
              <a:t>dynamic</a:t>
            </a:r>
            <a:r>
              <a:rPr lang="en-US" sz="1200" dirty="0">
                <a:solidFill>
                  <a:srgbClr val="E6EDF3"/>
                </a:solidFill>
                <a:latin typeface="Consolas" pitchFamily="34" charset="0"/>
                <a:ea typeface="Consolas" pitchFamily="34" charset="-122"/>
                <a:cs typeface="Consolas" pitchFamily="34" charset="-120"/>
              </a:rPr>
              <a:t>&gt;&gt;[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WarnaStatus</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sukses: hijau.primaryContainer,</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onSukses: hijau.onPrimaryContainer,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3. baca di widget: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tema.extension&lt;</a:t>
            </a:r>
            <a:r>
              <a:rPr lang="en-US" sz="1200" dirty="0">
                <a:solidFill>
                  <a:srgbClr val="FFCB6B"/>
                </a:solidFill>
                <a:latin typeface="Consolas" pitchFamily="34" charset="0"/>
                <a:ea typeface="Consolas" pitchFamily="34" charset="-122"/>
                <a:cs typeface="Consolas" pitchFamily="34" charset="-120"/>
              </a:rPr>
              <a:t>WarnaStatus</a:t>
            </a:r>
            <a:r>
              <a:rPr lang="en-US" sz="1200" dirty="0">
                <a:solidFill>
                  <a:srgbClr val="E6EDF3"/>
                </a:solidFill>
                <a:latin typeface="Consolas" pitchFamily="34" charset="0"/>
                <a:ea typeface="Consolas" pitchFamily="34" charset="-122"/>
                <a:cs typeface="Consolas" pitchFamily="34" charset="-120"/>
              </a:rPr>
              <a:t>&gt;()!</a:t>
            </a:r>
            <a:endParaRPr lang="en-US" sz="1200" dirty="0"/>
          </a:p>
        </p:txBody>
      </p:sp>
      <p:sp>
        <p:nvSpPr>
          <p:cNvPr id="9" name="tombol tautan">
            <a:hlinkClick r:id="rId3" tooltip="https://github.com/antonprafanto/mobile2026/blob/main/pertemuan_07_material3_dan_responsif/kode/contoh_06_warna_khusus_theme_extension.dart"/>
          </p:cNvPr>
          <p:cNvSpPr txBox="1"/>
          <p:nvPr/>
        </p:nvSpPr>
        <p:spPr>
          <a:xfrm>
            <a:off x="548640" y="4078224"/>
            <a:ext cx="551657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contoh_06_warna_khusus_theme_extension.dart</a:t>
            </a:r>
            <a:endParaRPr lang="en-US" sz="1300" dirty="0"/>
          </a:p>
        </p:txBody>
      </p:sp>
      <p:pic>
        <p:nvPicPr>
          <p:cNvPr id="10" name="Image 2" descr="ikon tautan">
            <a:hlinkClick r:id="rId5" tooltip="https://github.com/antonprafanto/mobile2026/blob/main/pertemuan_07_material3_dan_responsif/kode/contoh_06_warna_khusus_theme_extension.dart"/>
          </p:cNvPr>
          <p:cNvPicPr>
            <a:picLocks noChangeAspect="1"/>
          </p:cNvPicPr>
          <p:nvPr/>
        </p:nvPicPr>
        <p:blipFill>
          <a:blip r:embed="rId4"/>
          <a:stretch>
            <a:fillRect/>
          </a:stretch>
        </p:blipFill>
        <p:spPr>
          <a:xfrm>
            <a:off x="694944" y="4169664"/>
            <a:ext cx="274320" cy="274320"/>
          </a:xfrm>
          <a:prstGeom prst="rect">
            <a:avLst/>
          </a:prstGeom>
        </p:spPr>
      </p:pic>
      <p:sp>
        <p:nvSpPr>
          <p:cNvPr id="11" name="daftar poin"/>
          <p:cNvSpPr txBox="1"/>
          <p:nvPr/>
        </p:nvSpPr>
        <p:spPr>
          <a:xfrm>
            <a:off x="548640" y="4809744"/>
            <a:ext cx="5516575" cy="1408176"/>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ColorScheme tidak punya "sukses" atau "peringatan".</a:t>
            </a:r>
            <a:endParaRPr lang="en-US" sz="1500" dirty="0"/>
          </a:p>
          <a:p>
            <a:pPr marL="228600" indent="-228600">
              <a:spcAft>
                <a:spcPts val="800"/>
              </a:spcAft>
              <a:buSzPct val="100000"/>
              <a:buChar char="•"/>
            </a:pPr>
            <a:r>
              <a:rPr lang="en-US" sz="1500" dirty="0">
                <a:solidFill>
                  <a:schemeClr val="tx1"/>
                </a:solidFill>
              </a:rPr>
              <a:t>Pasangan warnanya dipinjam dari ColorScheme.fromSeed(seedColor: Colors.green) agar kontras terjamin.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5</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Tampilan yang Menyesuaikan Layar</a:t>
            </a:r>
            <a:endParaRPr lang="en-US" sz="4000" dirty="0"/>
          </a:p>
        </p:txBody>
      </p:sp>
      <p:sp>
        <p:nvSpPr>
          <p:cNvPr id="5" name="lingkaran responsif"/>
          <p:cNvSpPr/>
          <p:nvPr/>
        </p:nvSpPr>
        <p:spPr>
          <a:xfrm>
            <a:off x="1097280" y="2148840"/>
            <a:ext cx="2011680" cy="2011680"/>
          </a:xfrm>
          <a:prstGeom prst="ellipse">
            <a:avLst/>
          </a:prstGeom>
          <a:solidFill>
            <a:schemeClr val="accent1"/>
          </a:solidFill>
          <a:ln/>
        </p:spPr>
      </p:sp>
      <p:pic>
        <p:nvPicPr>
          <p:cNvPr id="6" name="Image 0" descr="responsif">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Ragam Ukuran Layar (dalam Piksel Logis)</a:t>
            </a:r>
            <a:endParaRPr lang="en-US" sz="3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6312340"/>
                <a:gridCol w="4782076"/>
              </a:tblGrid>
              <a:tr h="54864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Perangkat</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Lebar umum</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48640">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Ponsel kecil / umum</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320–360 / 360–430</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Ponsel lanskap</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 700–930</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Ponsel lipat yang dibuka</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 600–850</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Tablet</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 600–1400</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Laptop dan monitor</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1000 ke atas</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Responsif = tampilan MUAT di ruang yang ada. Adaptif = komponen dan tata letak yang paling NYAMAN DIPAKAI di ruang itu.</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Mengukur: MediaQuery vs LayoutBuilder</a:t>
            </a:r>
            <a:endParaRPr lang="en-US" sz="3200" dirty="0"/>
          </a:p>
        </p:txBody>
      </p:sp>
      <p:sp>
        <p:nvSpPr>
          <p:cNvPr id="4" name="kolom 1"/>
          <p:cNvSpPr/>
          <p:nvPr/>
        </p:nvSpPr>
        <p:spPr>
          <a:xfrm>
            <a:off x="548640" y="1371600"/>
            <a:ext cx="5387188" cy="4754880"/>
          </a:xfrm>
          <a:prstGeom prst="roundRect">
            <a:avLst>
              <a:gd name="adj" fmla="val 2308"/>
            </a:avLst>
          </a:prstGeom>
          <a:solidFill>
            <a:schemeClr val="bg2"/>
          </a:solidFill>
          <a:ln/>
        </p:spPr>
      </p:sp>
      <p:sp>
        <p:nvSpPr>
          <p:cNvPr id="5" name="lingkaran layarpas"/>
          <p:cNvSpPr/>
          <p:nvPr/>
        </p:nvSpPr>
        <p:spPr>
          <a:xfrm>
            <a:off x="777240" y="1600200"/>
            <a:ext cx="685800" cy="685800"/>
          </a:xfrm>
          <a:prstGeom prst="ellipse">
            <a:avLst/>
          </a:prstGeom>
          <a:solidFill>
            <a:schemeClr val="accent1"/>
          </a:solidFill>
          <a:ln/>
        </p:spPr>
      </p:sp>
      <p:pic>
        <p:nvPicPr>
          <p:cNvPr id="6" name="Image 0" descr="layarpas">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MediaQuery</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1"/>
                </a:solidFill>
              </a:rPr>
              <a:t>Seberapa besar JENDELA aplikasi?</a:t>
            </a:r>
            <a:endParaRPr lang="en-US" sz="1400" dirty="0"/>
          </a:p>
        </p:txBody>
      </p:sp>
      <p:sp>
        <p:nvSpPr>
          <p:cNvPr id="9" name="daftar poin"/>
          <p:cNvSpPr txBox="1"/>
          <p:nvPr/>
        </p:nvSpPr>
        <p:spPr>
          <a:xfrm>
            <a:off x="777240" y="2926080"/>
            <a:ext cx="4929988" cy="233172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Keputusan tingkat halaman: navigasi, satu/dua panel</a:t>
            </a:r>
            <a:endParaRPr lang="en-US" sz="1600" dirty="0"/>
          </a:p>
          <a:p>
            <a:pPr marL="228600" indent="-228600">
              <a:spcAft>
                <a:spcPts val="800"/>
              </a:spcAft>
              <a:buSzPct val="100000"/>
              <a:buChar char="•"/>
            </a:pPr>
            <a:r>
              <a:rPr lang="en-US" sz="1600" dirty="0">
                <a:solidFill>
                  <a:schemeClr val="tx1"/>
                </a:solidFill>
              </a:rPr>
              <a:t>sizeOf / widthOf: bangun ulang hanya saat ukuran/lebar berubah</a:t>
            </a:r>
            <a:endParaRPr lang="en-US" sz="1600" dirty="0"/>
          </a:p>
          <a:p>
            <a:pPr marL="228600" indent="-228600">
              <a:spcAft>
                <a:spcPts val="800"/>
              </a:spcAft>
              <a:buSzPct val="100000"/>
              <a:buChar char="•"/>
            </a:pPr>
            <a:r>
              <a:rPr lang="en-US" sz="1600" dirty="0">
                <a:solidFill>
                  <a:schemeClr val="tx1"/>
                </a:solidFill>
              </a:rPr>
              <a:t>Hindari MediaQuery.of(context).size</a:t>
            </a:r>
            <a:endParaRPr lang="en-US" sz="1600" dirty="0"/>
          </a:p>
        </p:txBody>
      </p:sp>
      <p:sp>
        <p:nvSpPr>
          <p:cNvPr id="10" name="kotak kode"/>
          <p:cNvSpPr txBox="1"/>
          <p:nvPr/>
        </p:nvSpPr>
        <p:spPr>
          <a:xfrm>
            <a:off x="731520" y="5212080"/>
            <a:ext cx="5021428" cy="731520"/>
          </a:xfrm>
          <a:prstGeom prst="roundRect">
            <a:avLst>
              <a:gd name="adj" fmla="val 12500"/>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double</a:t>
            </a:r>
            <a:r>
              <a:rPr lang="en-US" sz="1200" dirty="0">
                <a:solidFill>
                  <a:srgbClr val="E6EDF3"/>
                </a:solidFill>
                <a:latin typeface="Consolas" pitchFamily="34" charset="0"/>
                <a:ea typeface="Consolas" pitchFamily="34" charset="-122"/>
                <a:cs typeface="Consolas" pitchFamily="34" charset="-120"/>
              </a:rPr>
              <a:t> lebar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MediaQuery</a:t>
            </a:r>
            <a:r>
              <a:rPr lang="en-US" sz="1200" dirty="0">
                <a:solidFill>
                  <a:srgbClr val="E6EDF3"/>
                </a:solidFill>
                <a:latin typeface="Consolas" pitchFamily="34" charset="0"/>
                <a:ea typeface="Consolas" pitchFamily="34" charset="-122"/>
                <a:cs typeface="Consolas" pitchFamily="34" charset="-120"/>
              </a:rPr>
              <a:t>.widthOf(context);</a:t>
            </a:r>
            <a:endParaRPr lang="en-US" sz="1200" dirty="0"/>
          </a:p>
        </p:txBody>
      </p:sp>
      <p:sp>
        <p:nvSpPr>
          <p:cNvPr id="11" name="kolom 2"/>
          <p:cNvSpPr/>
          <p:nvPr/>
        </p:nvSpPr>
        <p:spPr>
          <a:xfrm>
            <a:off x="6255868" y="1371600"/>
            <a:ext cx="5387188" cy="4754880"/>
          </a:xfrm>
          <a:prstGeom prst="roundRect">
            <a:avLst>
              <a:gd name="adj" fmla="val 2308"/>
            </a:avLst>
          </a:prstGeom>
          <a:solidFill>
            <a:schemeClr val="bg2"/>
          </a:solidFill>
          <a:ln/>
        </p:spPr>
      </p:sp>
      <p:sp>
        <p:nvSpPr>
          <p:cNvPr id="12" name="lingkaran ukur"/>
          <p:cNvSpPr/>
          <p:nvPr/>
        </p:nvSpPr>
        <p:spPr>
          <a:xfrm>
            <a:off x="6484468" y="1600200"/>
            <a:ext cx="685800" cy="685800"/>
          </a:xfrm>
          <a:prstGeom prst="ellipse">
            <a:avLst/>
          </a:prstGeom>
          <a:solidFill>
            <a:schemeClr val="accent6"/>
          </a:solidFill>
          <a:ln/>
        </p:spPr>
      </p:sp>
      <p:pic>
        <p:nvPicPr>
          <p:cNvPr id="13" name="Image 1" descr="ukur">    </p:cNvPr>
          <p:cNvPicPr>
            <a:picLocks noChangeAspect="1"/>
          </p:cNvPicPr>
          <p:nvPr/>
        </p:nvPicPr>
        <p:blipFill>
          <a:blip r:embed="rId2"/>
          <a:stretch>
            <a:fillRect/>
          </a:stretch>
        </p:blipFill>
        <p:spPr>
          <a:xfrm>
            <a:off x="6635344" y="1751076"/>
            <a:ext cx="384048" cy="384048"/>
          </a:xfrm>
          <a:prstGeom prst="rect">
            <a:avLst/>
          </a:prstGeom>
        </p:spPr>
      </p:pic>
      <p:sp>
        <p:nvSpPr>
          <p:cNvPr id="14" name="Text 9"/>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LayoutBuilder</a:t>
            </a:r>
            <a:endParaRPr lang="en-US" sz="1900" dirty="0"/>
          </a:p>
        </p:txBody>
      </p:sp>
      <p:sp>
        <p:nvSpPr>
          <p:cNvPr id="15" name="Text 10"/>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6"/>
                </a:solidFill>
              </a:rPr>
              <a:t>Seberapa besar RUANG untuk widget ini?</a:t>
            </a:r>
            <a:endParaRPr lang="en-US" sz="1400" dirty="0"/>
          </a:p>
        </p:txBody>
      </p:sp>
      <p:sp>
        <p:nvSpPr>
          <p:cNvPr id="16" name="daftar poin"/>
          <p:cNvSpPr txBox="1"/>
          <p:nvPr/>
        </p:nvSpPr>
        <p:spPr>
          <a:xfrm>
            <a:off x="6484468" y="2926080"/>
            <a:ext cx="4929988" cy="1892808"/>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Widget yang dipakai di banyak tempat</a:t>
            </a:r>
            <a:endParaRPr lang="en-US" sz="1600" dirty="0"/>
          </a:p>
          <a:p>
            <a:pPr marL="228600" indent="-228600">
              <a:spcAft>
                <a:spcPts val="800"/>
              </a:spcAft>
              <a:buSzPct val="100000"/>
              <a:buChar char="•"/>
            </a:pPr>
            <a:r>
              <a:rPr lang="en-US" sz="1600" dirty="0">
                <a:solidFill>
                  <a:schemeClr val="tx1"/>
                </a:solidFill>
              </a:rPr>
              <a:t>Membaca batasan (constraints) dari induk</a:t>
            </a:r>
            <a:endParaRPr lang="en-US" sz="1600" dirty="0"/>
          </a:p>
          <a:p>
            <a:pPr marL="228600" indent="-228600">
              <a:spcAft>
                <a:spcPts val="800"/>
              </a:spcAft>
              <a:buSzPct val="100000"/>
              <a:buChar char="•"/>
            </a:pPr>
            <a:r>
              <a:rPr lang="en-US" sz="1600" dirty="0">
                <a:solidFill>
                  <a:schemeClr val="tx1"/>
                </a:solidFill>
              </a:rPr>
              <a:t>Ingat analogi panitia bazar (Pertemuan 4)</a:t>
            </a:r>
            <a:endParaRPr lang="en-US" sz="1600" dirty="0"/>
          </a:p>
        </p:txBody>
      </p:sp>
      <p:sp>
        <p:nvSpPr>
          <p:cNvPr id="17" name="kotak kode"/>
          <p:cNvSpPr txBox="1"/>
          <p:nvPr/>
        </p:nvSpPr>
        <p:spPr>
          <a:xfrm>
            <a:off x="6438748" y="4773168"/>
            <a:ext cx="5021428" cy="1170432"/>
          </a:xfrm>
          <a:prstGeom prst="roundRect">
            <a:avLst>
              <a:gd name="adj" fmla="val 7813"/>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LayoutBuilder</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builder: (context, batasan)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bool</a:t>
            </a:r>
            <a:r>
              <a:rPr lang="en-US" sz="1200" dirty="0">
                <a:solidFill>
                  <a:srgbClr val="E6EDF3"/>
                </a:solidFill>
                <a:latin typeface="Consolas" pitchFamily="34" charset="0"/>
                <a:ea typeface="Consolas" pitchFamily="34" charset="-122"/>
                <a:cs typeface="Consolas" pitchFamily="34" charset="-120"/>
              </a:rPr>
              <a:t> sempit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batasan.maxWidth &lt; </a:t>
            </a:r>
            <a:r>
              <a:rPr lang="en-US" sz="1200" dirty="0">
                <a:solidFill>
                  <a:srgbClr val="F78C6C"/>
                </a:solidFill>
                <a:latin typeface="Consolas" pitchFamily="34" charset="0"/>
                <a:ea typeface="Consolas" pitchFamily="34" charset="-122"/>
                <a:cs typeface="Consolas" pitchFamily="34" charset="-120"/>
              </a:rPr>
              <a:t>240</a:t>
            </a: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Membuktikan: Jendela Sama, Ruang Berbeda</a:t>
            </a:r>
            <a:endParaRPr lang="en-US" sz="3200" dirty="0"/>
          </a:p>
        </p:txBody>
      </p:sp>
      <p:sp>
        <p:nvSpPr>
          <p:cNvPr id="4" name="bingkai layar 1"/>
          <p:cNvSpPr/>
          <p:nvPr/>
        </p:nvSpPr>
        <p:spPr>
          <a:xfrm>
            <a:off x="5004511" y="1316736"/>
            <a:ext cx="2253268" cy="3442384"/>
          </a:xfrm>
          <a:prstGeom prst="roundRect">
            <a:avLst>
              <a:gd name="adj" fmla="val 4058"/>
            </a:avLst>
          </a:prstGeom>
          <a:solidFill>
            <a:srgbClr val="FFFFFF"/>
          </a:solidFill>
          <a:ln w="12700">
            <a:solidFill>
              <a:srgbClr val="C9D3E0"/>
            </a:solidFill>
            <a:prstDash val="solid"/>
          </a:ln>
        </p:spPr>
      </p:sp>
      <p:pic>
        <p:nvPicPr>
          <p:cNvPr id="5" name="layar 1" descr="Tangkapan layar aplikasi (hasil_contoh_07a.jpg)">    </p:cNvPr>
          <p:cNvPicPr>
            <a:picLocks noChangeAspect="1"/>
          </p:cNvPicPr>
          <p:nvPr/>
        </p:nvPicPr>
        <p:blipFill>
          <a:blip r:embed="rId1"/>
          <a:stretch>
            <a:fillRect/>
          </a:stretch>
        </p:blipFill>
        <p:spPr>
          <a:xfrm>
            <a:off x="5059375" y="1371600"/>
            <a:ext cx="2143540" cy="3332656"/>
          </a:xfrm>
          <a:prstGeom prst="rect">
            <a:avLst/>
          </a:prstGeom>
        </p:spPr>
      </p:pic>
      <p:sp>
        <p:nvSpPr>
          <p:cNvPr id="6" name="bingkai layar 2"/>
          <p:cNvSpPr/>
          <p:nvPr/>
        </p:nvSpPr>
        <p:spPr>
          <a:xfrm>
            <a:off x="7422371" y="1316736"/>
            <a:ext cx="4275548" cy="3442384"/>
          </a:xfrm>
          <a:prstGeom prst="roundRect">
            <a:avLst>
              <a:gd name="adj" fmla="val 2656"/>
            </a:avLst>
          </a:prstGeom>
          <a:solidFill>
            <a:srgbClr val="FFFFFF"/>
          </a:solidFill>
          <a:ln w="12700">
            <a:solidFill>
              <a:srgbClr val="C9D3E0"/>
            </a:solidFill>
            <a:prstDash val="solid"/>
          </a:ln>
        </p:spPr>
      </p:sp>
      <p:pic>
        <p:nvPicPr>
          <p:cNvPr id="7" name="layar 2" descr="Tangkapan layar aplikasi (hasil_contoh_07b.jpg)">    </p:cNvPr>
          <p:cNvPicPr>
            <a:picLocks noChangeAspect="1"/>
          </p:cNvPicPr>
          <p:nvPr/>
        </p:nvPicPr>
        <p:blipFill>
          <a:blip r:embed="rId2"/>
          <a:stretch>
            <a:fillRect/>
          </a:stretch>
        </p:blipFill>
        <p:spPr>
          <a:xfrm>
            <a:off x="7477235" y="1371600"/>
            <a:ext cx="4165820" cy="3332656"/>
          </a:xfrm>
          <a:prstGeom prst="rect">
            <a:avLst/>
          </a:prstGeom>
        </p:spPr>
      </p:pic>
      <p:sp>
        <p:nvSpPr>
          <p:cNvPr id="8" name="tombol tautan">
            <a:hlinkClick r:id="rId3" tooltip="https://github.com/antonprafanto/mobile2026/blob/main/pertemuan_07_material3_dan_responsif/kode/contoh_07_mediaquery_dan_layoutbuilder.dart"/>
          </p:cNvPr>
          <p:cNvSpPr txBox="1"/>
          <p:nvPr/>
        </p:nvSpPr>
        <p:spPr>
          <a:xfrm>
            <a:off x="548640" y="1371600"/>
            <a:ext cx="405353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250" b="1" dirty="0">
                <a:solidFill>
                  <a:schemeClr val="bg1"/>
                </a:solidFill>
              </a:rPr>
              <a:t>Kode di GitHub  ·  contoh_07_mediaquery_dan_layoutbuilder.dart</a:t>
            </a:r>
            <a:endParaRPr lang="en-US" sz="1250" dirty="0"/>
          </a:p>
        </p:txBody>
      </p:sp>
      <p:pic>
        <p:nvPicPr>
          <p:cNvPr id="9" name="Image 2" descr="ikon tautan">
            <a:hlinkClick r:id="rId5" tooltip="https://github.com/antonprafanto/mobile2026/blob/main/pertemuan_07_material3_dan_responsif/kode/contoh_07_mediaquery_dan_layoutbuilder.dart"/>
          </p:cNvPr>
          <p:cNvPicPr>
            <a:picLocks noChangeAspect="1"/>
          </p:cNvPicPr>
          <p:nvPr/>
        </p:nvPicPr>
        <p:blipFill>
          <a:blip r:embed="rId4"/>
          <a:stretch>
            <a:fillRect/>
          </a:stretch>
        </p:blipFill>
        <p:spPr>
          <a:xfrm>
            <a:off x="694944" y="1463040"/>
            <a:ext cx="274320" cy="274320"/>
          </a:xfrm>
          <a:prstGeom prst="rect">
            <a:avLst/>
          </a:prstGeom>
        </p:spPr>
      </p:pic>
      <p:sp>
        <p:nvSpPr>
          <p:cNvPr id="10" name="daftar poin"/>
          <p:cNvSpPr txBox="1"/>
          <p:nvPr/>
        </p:nvSpPr>
        <p:spPr>
          <a:xfrm>
            <a:off x="548640" y="2103120"/>
            <a:ext cx="4053535" cy="41148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Di lebar 360: "Kartu lebar" (ruang 296) mendatar, kartu Kiri/Kanan (ruang 128) tegak.</a:t>
            </a:r>
            <a:endParaRPr lang="en-US" sz="1500" dirty="0"/>
          </a:p>
          <a:p>
            <a:pPr marL="228600" indent="-228600">
              <a:spcAft>
                <a:spcPts val="800"/>
              </a:spcAft>
              <a:buSzPct val="100000"/>
              <a:buChar char="•"/>
            </a:pPr>
            <a:r>
              <a:rPr lang="en-US" sz="1500" dirty="0">
                <a:solidFill>
                  <a:schemeClr val="tx1"/>
                </a:solidFill>
              </a:rPr>
              <a:t>296 = 360 − 32 (padding) − 8 (margin Card) − 24 (padding kartu).</a:t>
            </a:r>
            <a:endParaRPr lang="en-US" sz="1500" dirty="0"/>
          </a:p>
          <a:p>
            <a:pPr marL="228600" indent="-228600">
              <a:spcAft>
                <a:spcPts val="800"/>
              </a:spcAft>
              <a:buSzPct val="100000"/>
              <a:buChar char="•"/>
            </a:pPr>
            <a:r>
              <a:rPr lang="en-US" sz="1500" dirty="0">
                <a:solidFill>
                  <a:schemeClr val="tx1"/>
                </a:solidFill>
              </a:rPr>
              <a:t>Di lebar 700 semua kartu cukup lega untuk mendatar.</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Breakpoint Material 3</a:t>
            </a:r>
            <a:endParaRPr lang="en-US" sz="3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295396"/>
                <a:gridCol w="1912830"/>
                <a:gridCol w="3156170"/>
                <a:gridCol w="1434623"/>
                <a:gridCol w="2295396"/>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Breakpoint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Lebar jendela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Perangkat umum</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Panel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Navigasi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48640">
                <a:tc>
                  <a:txBody>
                    <a:bodyPr/>
                    <a:lstStyle/>
                    <a:p>
                      <a:pPr indent="0" marL="0">
                        <a:buNone/>
                      </a:pPr>
                      <a:r>
                        <a:rPr lang="en-US" sz="1500" b="1" dirty="0">
                          <a:solidFill>
                            <a:srgbClr val="1B2333"/>
                          </a:solidFill>
                          <a:latin typeface="Calibri" pitchFamily="34" charset="0"/>
                          <a:ea typeface="Calibri" pitchFamily="34" charset="-122"/>
                          <a:cs typeface="Calibri" pitchFamily="34" charset="-120"/>
                        </a:rPr>
                        <a:t>Ringkas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&lt; 600</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Ponsel tegak</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Navigation bar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500" b="1" dirty="0">
                          <a:solidFill>
                            <a:srgbClr val="1B2333"/>
                          </a:solidFill>
                          <a:latin typeface="Calibri" pitchFamily="34" charset="0"/>
                          <a:ea typeface="Calibri" pitchFamily="34" charset="-122"/>
                          <a:cs typeface="Calibri" pitchFamily="34" charset="-120"/>
                        </a:rPr>
                        <a:t>Sedang</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600–839</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Tablet tegak, lipat terbuka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1 (atau 2)</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Bar atau rail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500" b="1" dirty="0">
                          <a:solidFill>
                            <a:srgbClr val="1B2333"/>
                          </a:solidFill>
                          <a:latin typeface="Calibri" pitchFamily="34" charset="0"/>
                          <a:ea typeface="Calibri" pitchFamily="34" charset="-122"/>
                          <a:cs typeface="Calibri" pitchFamily="34" charset="-120"/>
                        </a:rPr>
                        <a:t>Lebar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840–1199</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Ponsel/tablet lanskap, laptop</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Navigation rail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500" b="1" dirty="0">
                          <a:solidFill>
                            <a:srgbClr val="1B2333"/>
                          </a:solidFill>
                          <a:latin typeface="Calibri" pitchFamily="34" charset="0"/>
                          <a:ea typeface="Calibri" pitchFamily="34" charset="-122"/>
                          <a:cs typeface="Calibri" pitchFamily="34" charset="-120"/>
                        </a:rPr>
                        <a:t>Besar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1200–1599</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Laptop, monitor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Rail diperlebar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500" b="1" dirty="0">
                          <a:solidFill>
                            <a:srgbClr val="1B2333"/>
                          </a:solidFill>
                          <a:latin typeface="Calibri" pitchFamily="34" charset="0"/>
                          <a:ea typeface="Calibri" pitchFamily="34" charset="-122"/>
                          <a:cs typeface="Calibri" pitchFamily="34" charset="-120"/>
                        </a:rPr>
                        <a:t>Ekstra besar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 1600</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Monitor lebar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1–3</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Rail diperlebar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Satu baris tulisan sebaiknya 40–60 karakter di semua breakpoint → batasi lebar isi di layar besar.</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Breakpoint sebagai enum</a:t>
            </a:r>
            <a:endParaRPr lang="en-US" sz="3200" dirty="0"/>
          </a:p>
        </p:txBody>
      </p:sp>
      <p:sp>
        <p:nvSpPr>
          <p:cNvPr id="4" name="bingkai layar 1"/>
          <p:cNvSpPr/>
          <p:nvPr/>
        </p:nvSpPr>
        <p:spPr>
          <a:xfrm>
            <a:off x="5736031" y="1316736"/>
            <a:ext cx="2003567" cy="3054164"/>
          </a:xfrm>
          <a:prstGeom prst="roundRect">
            <a:avLst>
              <a:gd name="adj" fmla="val 4564"/>
            </a:avLst>
          </a:prstGeom>
          <a:solidFill>
            <a:srgbClr val="FFFFFF"/>
          </a:solidFill>
          <a:ln w="12700">
            <a:solidFill>
              <a:srgbClr val="C9D3E0"/>
            </a:solidFill>
            <a:prstDash val="solid"/>
          </a:ln>
        </p:spPr>
      </p:sp>
      <p:pic>
        <p:nvPicPr>
          <p:cNvPr id="5" name="layar 1" descr="Tangkapan layar aplikasi (hasil_contoh_08a.jpg)">    </p:cNvPr>
          <p:cNvPicPr>
            <a:picLocks noChangeAspect="1"/>
          </p:cNvPicPr>
          <p:nvPr/>
        </p:nvPicPr>
        <p:blipFill>
          <a:blip r:embed="rId1"/>
          <a:stretch>
            <a:fillRect/>
          </a:stretch>
        </p:blipFill>
        <p:spPr>
          <a:xfrm>
            <a:off x="5790895" y="1371600"/>
            <a:ext cx="1893839" cy="2944436"/>
          </a:xfrm>
          <a:prstGeom prst="rect">
            <a:avLst/>
          </a:prstGeom>
        </p:spPr>
      </p:pic>
      <p:sp>
        <p:nvSpPr>
          <p:cNvPr id="6" name="bingkai layar 2"/>
          <p:cNvSpPr/>
          <p:nvPr/>
        </p:nvSpPr>
        <p:spPr>
          <a:xfrm>
            <a:off x="7904190" y="1316736"/>
            <a:ext cx="3793729" cy="3054164"/>
          </a:xfrm>
          <a:prstGeom prst="roundRect">
            <a:avLst>
              <a:gd name="adj" fmla="val 2994"/>
            </a:avLst>
          </a:prstGeom>
          <a:solidFill>
            <a:srgbClr val="FFFFFF"/>
          </a:solidFill>
          <a:ln w="12700">
            <a:solidFill>
              <a:srgbClr val="C9D3E0"/>
            </a:solidFill>
            <a:prstDash val="solid"/>
          </a:ln>
        </p:spPr>
      </p:sp>
      <p:pic>
        <p:nvPicPr>
          <p:cNvPr id="7" name="layar 2" descr="Tangkapan layar aplikasi (hasil_contoh_08b.jpg)">    </p:cNvPr>
          <p:cNvPicPr>
            <a:picLocks noChangeAspect="1"/>
          </p:cNvPicPr>
          <p:nvPr/>
        </p:nvPicPr>
        <p:blipFill>
          <a:blip r:embed="rId2"/>
          <a:stretch>
            <a:fillRect/>
          </a:stretch>
        </p:blipFill>
        <p:spPr>
          <a:xfrm>
            <a:off x="7959054" y="1371600"/>
            <a:ext cx="3684001" cy="2944436"/>
          </a:xfrm>
          <a:prstGeom prst="rect">
            <a:avLst/>
          </a:prstGeom>
        </p:spPr>
      </p:pic>
      <p:sp>
        <p:nvSpPr>
          <p:cNvPr id="8" name="kotak kode"/>
          <p:cNvSpPr txBox="1"/>
          <p:nvPr/>
        </p:nvSpPr>
        <p:spPr>
          <a:xfrm>
            <a:off x="548640" y="1371600"/>
            <a:ext cx="4785055" cy="2523744"/>
          </a:xfrm>
          <a:prstGeom prst="roundRect">
            <a:avLst>
              <a:gd name="adj" fmla="val 3623"/>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enum</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KelasUkuran</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ringkas(</a:t>
            </a:r>
            <a:r>
              <a:rPr lang="en-US" sz="1200" dirty="0">
                <a:solidFill>
                  <a:srgbClr val="C3E88D"/>
                </a:solidFill>
                <a:latin typeface="Consolas" pitchFamily="34" charset="0"/>
                <a:ea typeface="Consolas" pitchFamily="34" charset="-122"/>
                <a:cs typeface="Consolas" pitchFamily="34" charset="-120"/>
              </a:rPr>
              <a:t>'Ringkas'</a:t>
            </a:r>
            <a:r>
              <a:rPr lang="en-US" sz="1200" dirty="0">
                <a:solidFill>
                  <a:srgbClr val="E6EDF3"/>
                </a:solidFill>
                <a:latin typeface="Consolas" pitchFamily="34" charset="0"/>
                <a:ea typeface="Consolas" pitchFamily="34" charset="-122"/>
                <a:cs typeface="Consolas" pitchFamily="34" charset="-120"/>
              </a:rPr>
              <a:t>, kolom: </a:t>
            </a:r>
            <a:r>
              <a:rPr lang="en-US" sz="1200" dirty="0">
                <a:solidFill>
                  <a:srgbClr val="F78C6C"/>
                </a:solidFill>
                <a:latin typeface="Consolas" pitchFamily="34" charset="0"/>
                <a:ea typeface="Consolas" pitchFamily="34" charset="-122"/>
                <a:cs typeface="Consolas" pitchFamily="34" charset="-120"/>
              </a:rPr>
              <a:t>1</a:t>
            </a:r>
            <a:r>
              <a:rPr lang="en-US" sz="1200" dirty="0">
                <a:solidFill>
                  <a:srgbClr val="E6EDF3"/>
                </a:solidFill>
                <a:latin typeface="Consolas" pitchFamily="34" charset="0"/>
                <a:ea typeface="Consolas" pitchFamily="34" charset="-122"/>
                <a:cs typeface="Consolas" pitchFamily="34" charset="-120"/>
              </a:rPr>
              <a:t>, margin: </a:t>
            </a:r>
            <a:r>
              <a:rPr lang="en-US" sz="1200" dirty="0">
                <a:solidFill>
                  <a:srgbClr val="F78C6C"/>
                </a:solidFill>
                <a:latin typeface="Consolas" pitchFamily="34" charset="0"/>
                <a:ea typeface="Consolas" pitchFamily="34" charset="-122"/>
                <a:cs typeface="Consolas" pitchFamily="34" charset="-120"/>
              </a:rPr>
              <a:t>16</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sedang(</a:t>
            </a:r>
            <a:r>
              <a:rPr lang="en-US" sz="1200" dirty="0">
                <a:solidFill>
                  <a:srgbClr val="C3E88D"/>
                </a:solidFill>
                <a:latin typeface="Consolas" pitchFamily="34" charset="0"/>
                <a:ea typeface="Consolas" pitchFamily="34" charset="-122"/>
                <a:cs typeface="Consolas" pitchFamily="34" charset="-120"/>
              </a:rPr>
              <a:t>'Sedang'</a:t>
            </a:r>
            <a:r>
              <a:rPr lang="en-US" sz="1200" dirty="0">
                <a:solidFill>
                  <a:srgbClr val="E6EDF3"/>
                </a:solidFill>
                <a:latin typeface="Consolas" pitchFamily="34" charset="0"/>
                <a:ea typeface="Consolas" pitchFamily="34" charset="-122"/>
                <a:cs typeface="Consolas" pitchFamily="34" charset="-120"/>
              </a:rPr>
              <a:t>, kolom: </a:t>
            </a:r>
            <a:r>
              <a:rPr lang="en-US" sz="1200" dirty="0">
                <a:solidFill>
                  <a:srgbClr val="F78C6C"/>
                </a:solidFill>
                <a:latin typeface="Consolas" pitchFamily="34" charset="0"/>
                <a:ea typeface="Consolas" pitchFamily="34" charset="-122"/>
                <a:cs typeface="Consolas" pitchFamily="34" charset="-120"/>
              </a:rPr>
              <a:t>2</a:t>
            </a:r>
            <a:r>
              <a:rPr lang="en-US" sz="1200" dirty="0">
                <a:solidFill>
                  <a:srgbClr val="E6EDF3"/>
                </a:solidFill>
                <a:latin typeface="Consolas" pitchFamily="34" charset="0"/>
                <a:ea typeface="Consolas" pitchFamily="34" charset="-122"/>
                <a:cs typeface="Consolas" pitchFamily="34" charset="-120"/>
              </a:rPr>
              <a:t>, margin: </a:t>
            </a:r>
            <a:r>
              <a:rPr lang="en-US" sz="1200" dirty="0">
                <a:solidFill>
                  <a:srgbClr val="F78C6C"/>
                </a:solidFill>
                <a:latin typeface="Consolas" pitchFamily="34" charset="0"/>
                <a:ea typeface="Consolas" pitchFamily="34" charset="-122"/>
                <a:cs typeface="Consolas" pitchFamily="34" charset="-120"/>
              </a:rPr>
              <a:t>24</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 lebar, besar, ekstraBesar</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static </a:t>
            </a:r>
            <a:r>
              <a:rPr lang="en-US" sz="1200" dirty="0">
                <a:solidFill>
                  <a:srgbClr val="FFCB6B"/>
                </a:solidFill>
                <a:latin typeface="Consolas" pitchFamily="34" charset="0"/>
                <a:ea typeface="Consolas" pitchFamily="34" charset="-122"/>
                <a:cs typeface="Consolas" pitchFamily="34" charset="-120"/>
              </a:rPr>
              <a:t>KelasUkuran</a:t>
            </a:r>
            <a:r>
              <a:rPr lang="en-US" sz="1200" dirty="0">
                <a:solidFill>
                  <a:srgbClr val="E6EDF3"/>
                </a:solidFill>
                <a:latin typeface="Consolas" pitchFamily="34" charset="0"/>
                <a:ea typeface="Consolas" pitchFamily="34" charset="-122"/>
                <a:cs typeface="Consolas" pitchFamily="34" charset="-120"/>
              </a:rPr>
              <a:t> dari(</a:t>
            </a:r>
            <a:r>
              <a:rPr lang="en-US" sz="1200" dirty="0">
                <a:solidFill>
                  <a:srgbClr val="FFCB6B"/>
                </a:solidFill>
                <a:latin typeface="Consolas" pitchFamily="34" charset="0"/>
                <a:ea typeface="Consolas" pitchFamily="34" charset="-122"/>
                <a:cs typeface="Consolas" pitchFamily="34" charset="-120"/>
              </a:rPr>
              <a:t>double</a:t>
            </a:r>
            <a:r>
              <a:rPr lang="en-US" sz="1200" dirty="0">
                <a:solidFill>
                  <a:srgbClr val="E6EDF3"/>
                </a:solidFill>
                <a:latin typeface="Consolas" pitchFamily="34" charset="0"/>
                <a:ea typeface="Consolas" pitchFamily="34" charset="-122"/>
                <a:cs typeface="Consolas" pitchFamily="34" charset="-120"/>
              </a:rPr>
              <a:t> lebar)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(lebar &lt; </a:t>
            </a:r>
            <a:r>
              <a:rPr lang="en-US" sz="1200" dirty="0">
                <a:solidFill>
                  <a:srgbClr val="F78C6C"/>
                </a:solidFill>
                <a:latin typeface="Consolas" pitchFamily="34" charset="0"/>
                <a:ea typeface="Consolas" pitchFamily="34" charset="-122"/>
                <a:cs typeface="Consolas" pitchFamily="34" charset="-120"/>
              </a:rPr>
              <a:t>600</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KelasUkuran</a:t>
            </a:r>
            <a:r>
              <a:rPr lang="en-US" sz="1200" dirty="0">
                <a:solidFill>
                  <a:srgbClr val="E6EDF3"/>
                </a:solidFill>
                <a:latin typeface="Consolas" pitchFamily="34" charset="0"/>
                <a:ea typeface="Consolas" pitchFamily="34" charset="-122"/>
                <a:cs typeface="Consolas" pitchFamily="34" charset="-120"/>
              </a:rPr>
              <a:t>.ringkas;</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 840, 1200, 1600</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9" name="tombol tautan">
            <a:hlinkClick r:id="rId3" tooltip="https://github.com/antonprafanto/mobile2026/blob/main/pertemuan_07_material3_dan_responsif/kode/contoh_08_breakpoint_material3.dart"/>
          </p:cNvPr>
          <p:cNvSpPr txBox="1"/>
          <p:nvPr/>
        </p:nvSpPr>
        <p:spPr>
          <a:xfrm>
            <a:off x="548640" y="4078224"/>
            <a:ext cx="478505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contoh_08_breakpoint_material3.dart</a:t>
            </a:r>
            <a:endParaRPr lang="en-US" sz="1300" dirty="0"/>
          </a:p>
        </p:txBody>
      </p:sp>
      <p:pic>
        <p:nvPicPr>
          <p:cNvPr id="10" name="Image 2" descr="ikon tautan">
            <a:hlinkClick r:id="rId5" tooltip="https://github.com/antonprafanto/mobile2026/blob/main/pertemuan_07_material3_dan_responsif/kode/contoh_08_breakpoint_material3.dart"/>
          </p:cNvPr>
          <p:cNvPicPr>
            <a:picLocks noChangeAspect="1"/>
          </p:cNvPicPr>
          <p:nvPr/>
        </p:nvPicPr>
        <p:blipFill>
          <a:blip r:embed="rId4"/>
          <a:stretch>
            <a:fillRect/>
          </a:stretch>
        </p:blipFill>
        <p:spPr>
          <a:xfrm>
            <a:off x="694944" y="4169664"/>
            <a:ext cx="274320" cy="274320"/>
          </a:xfrm>
          <a:prstGeom prst="rect">
            <a:avLst/>
          </a:prstGeom>
        </p:spPr>
      </p:pic>
      <p:sp>
        <p:nvSpPr>
          <p:cNvPr id="11" name="daftar poin"/>
          <p:cNvSpPr txBox="1"/>
          <p:nvPr/>
        </p:nvSpPr>
        <p:spPr>
          <a:xfrm>
            <a:off x="548640" y="4809744"/>
            <a:ext cx="4785055" cy="1408176"/>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Kolom grid, margin, dan lebar isi maksimum mengikuti kelas.</a:t>
            </a:r>
            <a:endParaRPr lang="en-US" sz="1400" dirty="0"/>
          </a:p>
          <a:p>
            <a:pPr marL="228600" indent="-228600">
              <a:spcAft>
                <a:spcPts val="800"/>
              </a:spcAft>
              <a:buSzPct val="100000"/>
              <a:buChar char="•"/>
            </a:pPr>
            <a:r>
              <a:rPr lang="en-US" sz="1400" dirty="0">
                <a:solidFill>
                  <a:schemeClr val="tx1"/>
                </a:solidFill>
              </a:rPr>
              <a:t>Center + ConstrainedBox(maxWidth: 1200) agar isi tidak membentang.</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Navigasi Adaptif: Abstraksi → Ukur → Cabangkan</a:t>
            </a:r>
            <a:endParaRPr lang="en-US" sz="3200" dirty="0"/>
          </a:p>
        </p:txBody>
      </p:sp>
      <p:sp>
        <p:nvSpPr>
          <p:cNvPr id="4" name="bingkai layar 1"/>
          <p:cNvSpPr/>
          <p:nvPr/>
        </p:nvSpPr>
        <p:spPr>
          <a:xfrm>
            <a:off x="5736031" y="1316736"/>
            <a:ext cx="2003567" cy="3054164"/>
          </a:xfrm>
          <a:prstGeom prst="roundRect">
            <a:avLst>
              <a:gd name="adj" fmla="val 4564"/>
            </a:avLst>
          </a:prstGeom>
          <a:solidFill>
            <a:srgbClr val="FFFFFF"/>
          </a:solidFill>
          <a:ln w="12700">
            <a:solidFill>
              <a:srgbClr val="C9D3E0"/>
            </a:solidFill>
            <a:prstDash val="solid"/>
          </a:ln>
        </p:spPr>
      </p:sp>
      <p:pic>
        <p:nvPicPr>
          <p:cNvPr id="5" name="layar 1" descr="Tangkapan layar aplikasi (hasil_contoh_09a.jpg)">    </p:cNvPr>
          <p:cNvPicPr>
            <a:picLocks noChangeAspect="1"/>
          </p:cNvPicPr>
          <p:nvPr/>
        </p:nvPicPr>
        <p:blipFill>
          <a:blip r:embed="rId1"/>
          <a:stretch>
            <a:fillRect/>
          </a:stretch>
        </p:blipFill>
        <p:spPr>
          <a:xfrm>
            <a:off x="5790895" y="1371600"/>
            <a:ext cx="1893839" cy="2944436"/>
          </a:xfrm>
          <a:prstGeom prst="rect">
            <a:avLst/>
          </a:prstGeom>
        </p:spPr>
      </p:pic>
      <p:sp>
        <p:nvSpPr>
          <p:cNvPr id="6" name="bingkai layar 2"/>
          <p:cNvSpPr/>
          <p:nvPr/>
        </p:nvSpPr>
        <p:spPr>
          <a:xfrm>
            <a:off x="7904190" y="1316736"/>
            <a:ext cx="3793729" cy="3054164"/>
          </a:xfrm>
          <a:prstGeom prst="roundRect">
            <a:avLst>
              <a:gd name="adj" fmla="val 2994"/>
            </a:avLst>
          </a:prstGeom>
          <a:solidFill>
            <a:srgbClr val="FFFFFF"/>
          </a:solidFill>
          <a:ln w="12700">
            <a:solidFill>
              <a:srgbClr val="C9D3E0"/>
            </a:solidFill>
            <a:prstDash val="solid"/>
          </a:ln>
        </p:spPr>
      </p:sp>
      <p:pic>
        <p:nvPicPr>
          <p:cNvPr id="7" name="layar 2" descr="Tangkapan layar aplikasi (hasil_contoh_09b.jpg)">    </p:cNvPr>
          <p:cNvPicPr>
            <a:picLocks noChangeAspect="1"/>
          </p:cNvPicPr>
          <p:nvPr/>
        </p:nvPicPr>
        <p:blipFill>
          <a:blip r:embed="rId2"/>
          <a:stretch>
            <a:fillRect/>
          </a:stretch>
        </p:blipFill>
        <p:spPr>
          <a:xfrm>
            <a:off x="7959054" y="1371600"/>
            <a:ext cx="3684001" cy="2944436"/>
          </a:xfrm>
          <a:prstGeom prst="rect">
            <a:avLst/>
          </a:prstGeom>
        </p:spPr>
      </p:pic>
      <p:sp>
        <p:nvSpPr>
          <p:cNvPr id="8" name="kotak kode"/>
          <p:cNvSpPr txBox="1"/>
          <p:nvPr/>
        </p:nvSpPr>
        <p:spPr>
          <a:xfrm>
            <a:off x="548640" y="1371600"/>
            <a:ext cx="4785055" cy="2907792"/>
          </a:xfrm>
          <a:prstGeom prst="roundRect">
            <a:avLst>
              <a:gd name="adj" fmla="val 3145"/>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double</a:t>
            </a:r>
            <a:r>
              <a:rPr lang="en-US" sz="1200" dirty="0">
                <a:solidFill>
                  <a:srgbClr val="E6EDF3"/>
                </a:solidFill>
                <a:latin typeface="Consolas" pitchFamily="34" charset="0"/>
                <a:ea typeface="Consolas" pitchFamily="34" charset="-122"/>
                <a:cs typeface="Consolas" pitchFamily="34" charset="-120"/>
              </a:rPr>
              <a:t> lebar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MediaQuery</a:t>
            </a:r>
            <a:r>
              <a:rPr lang="en-US" sz="1200" dirty="0">
                <a:solidFill>
                  <a:srgbClr val="E6EDF3"/>
                </a:solidFill>
                <a:latin typeface="Consolas" pitchFamily="34" charset="0"/>
                <a:ea typeface="Consolas" pitchFamily="34" charset="-122"/>
                <a:cs typeface="Consolas" pitchFamily="34" charset="-120"/>
              </a:rPr>
              <a:t>.widthOf(context);</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(lebar &lt; </a:t>
            </a:r>
            <a:r>
              <a:rPr lang="en-US" sz="1200" dirty="0">
                <a:solidFill>
                  <a:srgbClr val="F78C6C"/>
                </a:solidFill>
                <a:latin typeface="Consolas" pitchFamily="34" charset="0"/>
                <a:ea typeface="Consolas" pitchFamily="34" charset="-122"/>
                <a:cs typeface="Consolas" pitchFamily="34" charset="-120"/>
              </a:rPr>
              <a:t>600</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Scaffold</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bottomNavigationBar: </a:t>
            </a:r>
            <a:r>
              <a:rPr lang="en-US" sz="1200" dirty="0">
                <a:solidFill>
                  <a:srgbClr val="FFCB6B"/>
                </a:solidFill>
                <a:latin typeface="Consolas" pitchFamily="34" charset="0"/>
                <a:ea typeface="Consolas" pitchFamily="34" charset="-122"/>
                <a:cs typeface="Consolas" pitchFamily="34" charset="-120"/>
              </a:rPr>
              <a:t>NavigationBar</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bool</a:t>
            </a:r>
            <a:r>
              <a:rPr lang="en-US" sz="1200" dirty="0">
                <a:solidFill>
                  <a:srgbClr val="E6EDF3"/>
                </a:solidFill>
                <a:latin typeface="Consolas" pitchFamily="34" charset="0"/>
                <a:ea typeface="Consolas" pitchFamily="34" charset="-122"/>
                <a:cs typeface="Consolas" pitchFamily="34" charset="-120"/>
              </a:rPr>
              <a:t> railLebar = lebar &gt;= </a:t>
            </a:r>
            <a:r>
              <a:rPr lang="en-US" sz="1200" dirty="0">
                <a:solidFill>
                  <a:srgbClr val="F78C6C"/>
                </a:solidFill>
                <a:latin typeface="Consolas" pitchFamily="34" charset="0"/>
                <a:ea typeface="Consolas" pitchFamily="34" charset="-122"/>
                <a:cs typeface="Consolas" pitchFamily="34" charset="-120"/>
              </a:rPr>
              <a:t>1200</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Scaffold</a:t>
            </a:r>
            <a:r>
              <a:rPr lang="en-US" sz="1200" dirty="0">
                <a:solidFill>
                  <a:srgbClr val="E6EDF3"/>
                </a:solidFill>
                <a:latin typeface="Consolas" pitchFamily="34" charset="0"/>
                <a:ea typeface="Consolas" pitchFamily="34" charset="-122"/>
                <a:cs typeface="Consolas" pitchFamily="34" charset="-120"/>
              </a:rPr>
              <a:t>(body: </a:t>
            </a:r>
            <a:r>
              <a:rPr lang="en-US" sz="1200" dirty="0">
                <a:solidFill>
                  <a:srgbClr val="FFCB6B"/>
                </a:solidFill>
                <a:latin typeface="Consolas" pitchFamily="34" charset="0"/>
                <a:ea typeface="Consolas" pitchFamily="34" charset="-122"/>
                <a:cs typeface="Consolas" pitchFamily="34" charset="-120"/>
              </a:rPr>
              <a:t>Row</a:t>
            </a:r>
            <a:r>
              <a:rPr lang="en-US" sz="1200" dirty="0">
                <a:solidFill>
                  <a:srgbClr val="E6EDF3"/>
                </a:solidFill>
                <a:latin typeface="Consolas" pitchFamily="34" charset="0"/>
                <a:ea typeface="Consolas" pitchFamily="34" charset="-122"/>
                <a:cs typeface="Consolas" pitchFamily="34" charset="-120"/>
              </a:rPr>
              <a:t>(children: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NavigationRail</a:t>
            </a:r>
            <a:r>
              <a:rPr lang="en-US" sz="1200" dirty="0">
                <a:solidFill>
                  <a:srgbClr val="E6EDF3"/>
                </a:solidFill>
                <a:latin typeface="Consolas" pitchFamily="34" charset="0"/>
                <a:ea typeface="Consolas" pitchFamily="34" charset="-122"/>
                <a:cs typeface="Consolas" pitchFamily="34" charset="-120"/>
              </a:rPr>
              <a:t>(extended: railLebar,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VerticalDivider</a:t>
            </a:r>
            <a:r>
              <a:rPr lang="en-US" sz="1200" dirty="0">
                <a:solidFill>
                  <a:srgbClr val="E6EDF3"/>
                </a:solidFill>
                <a:latin typeface="Consolas" pitchFamily="34" charset="0"/>
                <a:ea typeface="Consolas" pitchFamily="34" charset="-122"/>
                <a:cs typeface="Consolas" pitchFamily="34" charset="-120"/>
              </a:rPr>
              <a:t>(width: </a:t>
            </a:r>
            <a:r>
              <a:rPr lang="en-US" sz="1200" dirty="0">
                <a:solidFill>
                  <a:srgbClr val="F78C6C"/>
                </a:solidFill>
                <a:latin typeface="Consolas" pitchFamily="34" charset="0"/>
                <a:ea typeface="Consolas" pitchFamily="34" charset="-122"/>
                <a:cs typeface="Consolas" pitchFamily="34" charset="-120"/>
              </a:rPr>
              <a:t>1</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Expanded</a:t>
            </a:r>
            <a:r>
              <a:rPr lang="en-US" sz="1200" dirty="0">
                <a:solidFill>
                  <a:srgbClr val="E6EDF3"/>
                </a:solidFill>
                <a:latin typeface="Consolas" pitchFamily="34" charset="0"/>
                <a:ea typeface="Consolas" pitchFamily="34" charset="-122"/>
                <a:cs typeface="Consolas" pitchFamily="34" charset="-120"/>
              </a:rPr>
              <a:t>(child: isi),</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9" name="tombol tautan">
            <a:hlinkClick r:id="rId3" tooltip="https://github.com/antonprafanto/mobile2026/blob/main/pertemuan_07_material3_dan_responsif/kode/contoh_09_navigasi_adaptif.dart"/>
          </p:cNvPr>
          <p:cNvSpPr txBox="1"/>
          <p:nvPr/>
        </p:nvSpPr>
        <p:spPr>
          <a:xfrm>
            <a:off x="548640" y="4462272"/>
            <a:ext cx="478505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contoh_09_navigasi_adaptif.dart</a:t>
            </a:r>
            <a:endParaRPr lang="en-US" sz="1300" dirty="0"/>
          </a:p>
        </p:txBody>
      </p:sp>
      <p:pic>
        <p:nvPicPr>
          <p:cNvPr id="10" name="Image 2" descr="ikon tautan">
            <a:hlinkClick r:id="rId5" tooltip="https://github.com/antonprafanto/mobile2026/blob/main/pertemuan_07_material3_dan_responsif/kode/contoh_09_navigasi_adaptif.dart"/>
          </p:cNvPr>
          <p:cNvPicPr>
            <a:picLocks noChangeAspect="1"/>
          </p:cNvPicPr>
          <p:nvPr/>
        </p:nvPicPr>
        <p:blipFill>
          <a:blip r:embed="rId4"/>
          <a:stretch>
            <a:fillRect/>
          </a:stretch>
        </p:blipFill>
        <p:spPr>
          <a:xfrm>
            <a:off x="694944" y="4553712"/>
            <a:ext cx="274320" cy="274320"/>
          </a:xfrm>
          <a:prstGeom prst="rect">
            <a:avLst/>
          </a:prstGeom>
        </p:spPr>
      </p:pic>
      <p:sp>
        <p:nvSpPr>
          <p:cNvPr id="11" name="daftar poin"/>
          <p:cNvSpPr txBox="1"/>
          <p:nvPr/>
        </p:nvSpPr>
        <p:spPr>
          <a:xfrm>
            <a:off x="548640" y="5193792"/>
            <a:ext cx="4785055" cy="1024128"/>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Data tujuan ditulis SEKALI (class Tujuan), dipakai kedua navigasi.</a:t>
            </a:r>
            <a:endParaRPr lang="en-US" sz="1400" dirty="0"/>
          </a:p>
          <a:p>
            <a:pPr marL="228600" indent="-228600">
              <a:spcAft>
                <a:spcPts val="800"/>
              </a:spcAft>
              <a:buSzPct val="100000"/>
              <a:buChar char="•"/>
            </a:pPr>
            <a:r>
              <a:rPr lang="en-US" sz="1400" dirty="0">
                <a:solidFill>
                  <a:schemeClr val="tx1"/>
                </a:solidFill>
              </a:rPr>
              <a:t>_terpilih disimpan di atas percabangan: pilihan tetap saat ukuran berubah.</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Pola Daftar–Detail</a:t>
            </a:r>
            <a:endParaRPr lang="en-US" sz="3200" dirty="0"/>
          </a:p>
        </p:txBody>
      </p:sp>
      <p:sp>
        <p:nvSpPr>
          <p:cNvPr id="4" name="bingkai layar 1"/>
          <p:cNvSpPr/>
          <p:nvPr/>
        </p:nvSpPr>
        <p:spPr>
          <a:xfrm>
            <a:off x="5736031" y="1316736"/>
            <a:ext cx="1586374" cy="2405535"/>
          </a:xfrm>
          <a:prstGeom prst="roundRect">
            <a:avLst>
              <a:gd name="adj" fmla="val 5764"/>
            </a:avLst>
          </a:prstGeom>
          <a:solidFill>
            <a:srgbClr val="FFFFFF"/>
          </a:solidFill>
          <a:ln w="12700">
            <a:solidFill>
              <a:srgbClr val="C9D3E0"/>
            </a:solidFill>
            <a:prstDash val="solid"/>
          </a:ln>
        </p:spPr>
      </p:sp>
      <p:pic>
        <p:nvPicPr>
          <p:cNvPr id="5" name="layar 1" descr="Tangkapan layar aplikasi (hasil_contoh_10a.jpg)">    </p:cNvPr>
          <p:cNvPicPr>
            <a:picLocks noChangeAspect="1"/>
          </p:cNvPicPr>
          <p:nvPr/>
        </p:nvPicPr>
        <p:blipFill>
          <a:blip r:embed="rId1"/>
          <a:stretch>
            <a:fillRect/>
          </a:stretch>
        </p:blipFill>
        <p:spPr>
          <a:xfrm>
            <a:off x="5790895" y="1371600"/>
            <a:ext cx="1476646" cy="2295807"/>
          </a:xfrm>
          <a:prstGeom prst="rect">
            <a:avLst/>
          </a:prstGeom>
        </p:spPr>
      </p:pic>
      <p:sp>
        <p:nvSpPr>
          <p:cNvPr id="6" name="bingkai layar 2"/>
          <p:cNvSpPr/>
          <p:nvPr/>
        </p:nvSpPr>
        <p:spPr>
          <a:xfrm>
            <a:off x="7486997" y="1316736"/>
            <a:ext cx="4210922" cy="2405535"/>
          </a:xfrm>
          <a:prstGeom prst="roundRect">
            <a:avLst>
              <a:gd name="adj" fmla="val 3801"/>
            </a:avLst>
          </a:prstGeom>
          <a:solidFill>
            <a:srgbClr val="FFFFFF"/>
          </a:solidFill>
          <a:ln w="12700">
            <a:solidFill>
              <a:srgbClr val="C9D3E0"/>
            </a:solidFill>
            <a:prstDash val="solid"/>
          </a:ln>
        </p:spPr>
      </p:sp>
      <p:pic>
        <p:nvPicPr>
          <p:cNvPr id="7" name="layar 2" descr="Tangkapan layar aplikasi (hasil_contoh_10c.jpg)">    </p:cNvPr>
          <p:cNvPicPr>
            <a:picLocks noChangeAspect="1"/>
          </p:cNvPicPr>
          <p:nvPr/>
        </p:nvPicPr>
        <p:blipFill>
          <a:blip r:embed="rId2"/>
          <a:stretch>
            <a:fillRect/>
          </a:stretch>
        </p:blipFill>
        <p:spPr>
          <a:xfrm>
            <a:off x="7541861" y="1371600"/>
            <a:ext cx="4101194" cy="2295807"/>
          </a:xfrm>
          <a:prstGeom prst="rect">
            <a:avLst/>
          </a:prstGeom>
        </p:spPr>
      </p:pic>
      <p:sp>
        <p:nvSpPr>
          <p:cNvPr id="8" name="kotak kode"/>
          <p:cNvSpPr txBox="1"/>
          <p:nvPr/>
        </p:nvSpPr>
        <p:spPr>
          <a:xfrm>
            <a:off x="548640" y="1371600"/>
            <a:ext cx="4785055" cy="2139696"/>
          </a:xfrm>
          <a:prstGeom prst="roundRect">
            <a:avLst>
              <a:gd name="adj" fmla="val 4274"/>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bool</a:t>
            </a:r>
            <a:r>
              <a:rPr lang="en-US" sz="1200" dirty="0">
                <a:solidFill>
                  <a:srgbClr val="E6EDF3"/>
                </a:solidFill>
                <a:latin typeface="Consolas" pitchFamily="34" charset="0"/>
                <a:ea typeface="Consolas" pitchFamily="34" charset="-122"/>
                <a:cs typeface="Consolas" pitchFamily="34" charset="-120"/>
              </a:rPr>
              <a:t> duaPanel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MediaQuery</a:t>
            </a:r>
            <a:r>
              <a:rPr lang="en-US" sz="1200" dirty="0">
                <a:solidFill>
                  <a:srgbClr val="E6EDF3"/>
                </a:solidFill>
                <a:latin typeface="Consolas" pitchFamily="34" charset="0"/>
                <a:ea typeface="Consolas" pitchFamily="34" charset="-122"/>
                <a:cs typeface="Consolas" pitchFamily="34" charset="-120"/>
              </a:rPr>
              <a:t>.widthOf(context) &gt;= </a:t>
            </a:r>
            <a:r>
              <a:rPr lang="en-US" sz="1200" dirty="0">
                <a:solidFill>
                  <a:srgbClr val="F78C6C"/>
                </a:solidFill>
                <a:latin typeface="Consolas" pitchFamily="34" charset="0"/>
                <a:ea typeface="Consolas" pitchFamily="34" charset="-122"/>
                <a:cs typeface="Consolas" pitchFamily="34" charset="-120"/>
              </a:rPr>
              <a:t>840</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&lt; 840: ketuk -&gt; Navigator.push</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&gt;= 840: ketuk -&gt; setState(_idTerpilih)</a:t>
            </a:r>
            <a:endParaRPr lang="en-US" sz="1200" dirty="0"/>
          </a:p>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Row</a:t>
            </a:r>
            <a:r>
              <a:rPr lang="en-US" sz="1200" dirty="0">
                <a:solidFill>
                  <a:srgbClr val="E6EDF3"/>
                </a:solidFill>
                <a:latin typeface="Consolas" pitchFamily="34" charset="0"/>
                <a:ea typeface="Consolas" pitchFamily="34" charset="-122"/>
                <a:cs typeface="Consolas" pitchFamily="34" charset="-120"/>
              </a:rPr>
              <a:t>(children: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SizedBox</a:t>
            </a:r>
            <a:r>
              <a:rPr lang="en-US" sz="1200" dirty="0">
                <a:solidFill>
                  <a:srgbClr val="E6EDF3"/>
                </a:solidFill>
                <a:latin typeface="Consolas" pitchFamily="34" charset="0"/>
                <a:ea typeface="Consolas" pitchFamily="34" charset="-122"/>
                <a:cs typeface="Consolas" pitchFamily="34" charset="-120"/>
              </a:rPr>
              <a:t>(width: </a:t>
            </a:r>
            <a:r>
              <a:rPr lang="en-US" sz="1200" dirty="0">
                <a:solidFill>
                  <a:srgbClr val="F78C6C"/>
                </a:solidFill>
                <a:latin typeface="Consolas" pitchFamily="34" charset="0"/>
                <a:ea typeface="Consolas" pitchFamily="34" charset="-122"/>
                <a:cs typeface="Consolas" pitchFamily="34" charset="-120"/>
              </a:rPr>
              <a:t>360</a:t>
            </a:r>
            <a:r>
              <a:rPr lang="en-US" sz="1200" dirty="0">
                <a:solidFill>
                  <a:srgbClr val="E6EDF3"/>
                </a:solidFill>
                <a:latin typeface="Consolas" pitchFamily="34" charset="0"/>
                <a:ea typeface="Consolas" pitchFamily="34" charset="-122"/>
                <a:cs typeface="Consolas" pitchFamily="34" charset="-120"/>
              </a:rPr>
              <a:t>, child: </a:t>
            </a:r>
            <a:r>
              <a:rPr lang="en-US" sz="1200" dirty="0">
                <a:solidFill>
                  <a:srgbClr val="FFCB6B"/>
                </a:solidFill>
                <a:latin typeface="Consolas" pitchFamily="34" charset="0"/>
                <a:ea typeface="Consolas" pitchFamily="34" charset="-122"/>
                <a:cs typeface="Consolas" pitchFamily="34" charset="-120"/>
              </a:rPr>
              <a:t>DaftarPesan</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VerticalDivider</a:t>
            </a:r>
            <a:r>
              <a:rPr lang="en-US" sz="1200" dirty="0">
                <a:solidFill>
                  <a:srgbClr val="E6EDF3"/>
                </a:solidFill>
                <a:latin typeface="Consolas" pitchFamily="34" charset="0"/>
                <a:ea typeface="Consolas" pitchFamily="34" charset="-122"/>
                <a:cs typeface="Consolas" pitchFamily="34" charset="-120"/>
              </a:rPr>
              <a:t>(width: </a:t>
            </a:r>
            <a:r>
              <a:rPr lang="en-US" sz="1200" dirty="0">
                <a:solidFill>
                  <a:srgbClr val="F78C6C"/>
                </a:solidFill>
                <a:latin typeface="Consolas" pitchFamily="34" charset="0"/>
                <a:ea typeface="Consolas" pitchFamily="34" charset="-122"/>
                <a:cs typeface="Consolas" pitchFamily="34" charset="-120"/>
              </a:rPr>
              <a:t>1</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Expanded</a:t>
            </a:r>
            <a:r>
              <a:rPr lang="en-US" sz="1200" dirty="0">
                <a:solidFill>
                  <a:srgbClr val="E6EDF3"/>
                </a:solidFill>
                <a:latin typeface="Consolas" pitchFamily="34" charset="0"/>
                <a:ea typeface="Consolas" pitchFamily="34" charset="-122"/>
                <a:cs typeface="Consolas" pitchFamily="34" charset="-120"/>
              </a:rPr>
              <a:t>(child: </a:t>
            </a:r>
            <a:r>
              <a:rPr lang="en-US" sz="1200" dirty="0">
                <a:solidFill>
                  <a:srgbClr val="FFCB6B"/>
                </a:solidFill>
                <a:latin typeface="Consolas" pitchFamily="34" charset="0"/>
                <a:ea typeface="Consolas" pitchFamily="34" charset="-122"/>
                <a:cs typeface="Consolas" pitchFamily="34" charset="-120"/>
              </a:rPr>
              <a:t>DetailPesan</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9" name="tombol tautan">
            <a:hlinkClick r:id="rId3" tooltip="https://github.com/antonprafanto/mobile2026/blob/main/pertemuan_07_material3_dan_responsif/kode/contoh_10_daftar_detail.dart"/>
          </p:cNvPr>
          <p:cNvSpPr txBox="1"/>
          <p:nvPr/>
        </p:nvSpPr>
        <p:spPr>
          <a:xfrm>
            <a:off x="548640" y="3694176"/>
            <a:ext cx="478505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contoh_10_daftar_detail.dart</a:t>
            </a:r>
            <a:endParaRPr lang="en-US" sz="1300" dirty="0"/>
          </a:p>
        </p:txBody>
      </p:sp>
      <p:pic>
        <p:nvPicPr>
          <p:cNvPr id="10" name="Image 2" descr="ikon tautan">
            <a:hlinkClick r:id="rId5" tooltip="https://github.com/antonprafanto/mobile2026/blob/main/pertemuan_07_material3_dan_responsif/kode/contoh_10_daftar_detail.dart"/>
          </p:cNvPr>
          <p:cNvPicPr>
            <a:picLocks noChangeAspect="1"/>
          </p:cNvPicPr>
          <p:nvPr/>
        </p:nvPicPr>
        <p:blipFill>
          <a:blip r:embed="rId4"/>
          <a:stretch>
            <a:fillRect/>
          </a:stretch>
        </p:blipFill>
        <p:spPr>
          <a:xfrm>
            <a:off x="694944" y="3785616"/>
            <a:ext cx="274320" cy="274320"/>
          </a:xfrm>
          <a:prstGeom prst="rect">
            <a:avLst/>
          </a:prstGeom>
        </p:spPr>
      </p:pic>
      <p:sp>
        <p:nvSpPr>
          <p:cNvPr id="11" name="daftar poin"/>
          <p:cNvSpPr txBox="1"/>
          <p:nvPr/>
        </p:nvSpPr>
        <p:spPr>
          <a:xfrm>
            <a:off x="548640" y="4425696"/>
            <a:ext cx="4785055" cy="1792224"/>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DetailPesan dipakai di halaman detail DAN panel kanan.</a:t>
            </a:r>
            <a:endParaRPr lang="en-US" sz="1400" dirty="0"/>
          </a:p>
          <a:p>
            <a:pPr marL="228600" indent="-228600">
              <a:spcAft>
                <a:spcPts val="800"/>
              </a:spcAft>
              <a:buSzPct val="100000"/>
              <a:buChar char="•"/>
            </a:pPr>
            <a:r>
              <a:rPr lang="en-US" sz="1400" dirty="0">
                <a:solidFill>
                  <a:schemeClr val="tx1"/>
                </a:solidFill>
              </a:rPr>
              <a:t>Baris terpilih ditandai: ListTile(selected: ..., selectedTileColor: ...).</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Ukuran Huruf Pilihan Pengguna</a:t>
            </a:r>
            <a:endParaRPr lang="en-US" sz="3200" dirty="0"/>
          </a:p>
        </p:txBody>
      </p:sp>
      <p:sp>
        <p:nvSpPr>
          <p:cNvPr id="4" name="bingkai layar 1"/>
          <p:cNvSpPr/>
          <p:nvPr/>
        </p:nvSpPr>
        <p:spPr>
          <a:xfrm>
            <a:off x="6467551" y="1316736"/>
            <a:ext cx="2532888" cy="3877123"/>
          </a:xfrm>
          <a:prstGeom prst="roundRect">
            <a:avLst>
              <a:gd name="adj" fmla="val 3610"/>
            </a:avLst>
          </a:prstGeom>
          <a:solidFill>
            <a:srgbClr val="FFFFFF"/>
          </a:solidFill>
          <a:ln w="12700">
            <a:solidFill>
              <a:srgbClr val="C9D3E0"/>
            </a:solidFill>
            <a:prstDash val="solid"/>
          </a:ln>
        </p:spPr>
      </p:sp>
      <p:pic>
        <p:nvPicPr>
          <p:cNvPr id="5" name="layar 1" descr="Tangkapan layar aplikasi (hasil_contoh_11a.jpg)">    </p:cNvPr>
          <p:cNvPicPr>
            <a:picLocks noChangeAspect="1"/>
          </p:cNvPicPr>
          <p:nvPr/>
        </p:nvPicPr>
        <p:blipFill>
          <a:blip r:embed="rId1"/>
          <a:stretch>
            <a:fillRect/>
          </a:stretch>
        </p:blipFill>
        <p:spPr>
          <a:xfrm>
            <a:off x="6522415" y="1371600"/>
            <a:ext cx="2423160" cy="3767395"/>
          </a:xfrm>
          <a:prstGeom prst="rect">
            <a:avLst/>
          </a:prstGeom>
        </p:spPr>
      </p:pic>
      <p:sp>
        <p:nvSpPr>
          <p:cNvPr id="6" name="bingkai layar 2"/>
          <p:cNvSpPr/>
          <p:nvPr/>
        </p:nvSpPr>
        <p:spPr>
          <a:xfrm>
            <a:off x="9165031" y="1316736"/>
            <a:ext cx="2532888" cy="3877123"/>
          </a:xfrm>
          <a:prstGeom prst="roundRect">
            <a:avLst>
              <a:gd name="adj" fmla="val 3610"/>
            </a:avLst>
          </a:prstGeom>
          <a:solidFill>
            <a:srgbClr val="FFFFFF"/>
          </a:solidFill>
          <a:ln w="12700">
            <a:solidFill>
              <a:srgbClr val="C9D3E0"/>
            </a:solidFill>
            <a:prstDash val="solid"/>
          </a:ln>
        </p:spPr>
      </p:sp>
      <p:pic>
        <p:nvPicPr>
          <p:cNvPr id="7" name="layar 2" descr="Tangkapan layar aplikasi (hasil_contoh_11b.jpg)">    </p:cNvPr>
          <p:cNvPicPr>
            <a:picLocks noChangeAspect="1"/>
          </p:cNvPicPr>
          <p:nvPr/>
        </p:nvPicPr>
        <p:blipFill>
          <a:blip r:embed="rId2"/>
          <a:stretch>
            <a:fillRect/>
          </a:stretch>
        </p:blipFill>
        <p:spPr>
          <a:xfrm>
            <a:off x="9219895" y="1371600"/>
            <a:ext cx="2423160" cy="3767395"/>
          </a:xfrm>
          <a:prstGeom prst="rect">
            <a:avLst/>
          </a:prstGeom>
        </p:spPr>
      </p:pic>
      <p:sp>
        <p:nvSpPr>
          <p:cNvPr id="8" name="tombol tautan">
            <a:hlinkClick r:id="rId3" tooltip="https://github.com/antonprafanto/mobile2026/blob/main/pertemuan_07_material3_dan_responsif/kode/contoh_11_ukuran_huruf_pengguna.dart"/>
          </p:cNvPr>
          <p:cNvSpPr txBox="1"/>
          <p:nvPr/>
        </p:nvSpPr>
        <p:spPr>
          <a:xfrm>
            <a:off x="548640" y="1371600"/>
            <a:ext cx="551657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contoh_11_ukuran_huruf_pengguna.dart</a:t>
            </a:r>
            <a:endParaRPr lang="en-US" sz="1300" dirty="0"/>
          </a:p>
        </p:txBody>
      </p:sp>
      <p:pic>
        <p:nvPicPr>
          <p:cNvPr id="9" name="Image 2" descr="ikon tautan">
            <a:hlinkClick r:id="rId5" tooltip="https://github.com/antonprafanto/mobile2026/blob/main/pertemuan_07_material3_dan_responsif/kode/contoh_11_ukuran_huruf_pengguna.dart"/>
          </p:cNvPr>
          <p:cNvPicPr>
            <a:picLocks noChangeAspect="1"/>
          </p:cNvPicPr>
          <p:nvPr/>
        </p:nvPicPr>
        <p:blipFill>
          <a:blip r:embed="rId4"/>
          <a:stretch>
            <a:fillRect/>
          </a:stretch>
        </p:blipFill>
        <p:spPr>
          <a:xfrm>
            <a:off x="694944" y="1463040"/>
            <a:ext cx="274320" cy="274320"/>
          </a:xfrm>
          <a:prstGeom prst="rect">
            <a:avLst/>
          </a:prstGeom>
        </p:spPr>
      </p:pic>
      <p:sp>
        <p:nvSpPr>
          <p:cNvPr id="10" name="daftar poin"/>
          <p:cNvSpPr txBox="1"/>
          <p:nvPr/>
        </p:nvSpPr>
        <p:spPr>
          <a:xfrm>
            <a:off x="548640" y="2103120"/>
            <a:ext cx="5516575" cy="41148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Pengguna bisa memperbesar huruf di pengaturan ponsel; Flutter menerapkannya otomatis.</a:t>
            </a:r>
            <a:endParaRPr lang="en-US" sz="1600" dirty="0"/>
          </a:p>
          <a:p>
            <a:pPr marL="228600" indent="-228600">
              <a:spcAft>
                <a:spcPts val="800"/>
              </a:spcAft>
              <a:buSzPct val="100000"/>
              <a:buChar char="•"/>
            </a:pPr>
            <a:r>
              <a:rPr lang="en-US" sz="1600" dirty="0">
                <a:solidFill>
                  <a:schemeClr val="tx1"/>
                </a:solidFill>
              </a:rPr>
              <a:t>Jangan mematok tinggi wadah teks; teks panjang di Row dibungkus Expanded.</a:t>
            </a:r>
            <a:endParaRPr lang="en-US" sz="1600" dirty="0"/>
          </a:p>
          <a:p>
            <a:pPr marL="228600" indent="-228600">
              <a:spcAft>
                <a:spcPts val="800"/>
              </a:spcAft>
              <a:buSzPct val="100000"/>
              <a:buChar char="•"/>
            </a:pPr>
            <a:r>
              <a:rPr lang="en-US" sz="1600" dirty="0">
                <a:solidFill>
                  <a:schemeClr val="tx1"/>
                </a:solidFill>
              </a:rPr>
              <a:t>Uji di 1,5× dan 2×. Garis kuning-hitam di contoh ini disengaja.</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Cara Menguji dan Daftar Periksa</a:t>
            </a:r>
            <a:endParaRPr lang="en-US" sz="3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634377"/>
                <a:gridCol w="7460038"/>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Uji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Yang diperiksa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Lebar 320 dan 360</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Tanpa garis kuning-hitam; teks terpotong rapi atau turun baris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Lebar 600, 840, 1200</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Tata letak berganti tepat di breakpoint; isi tidak membentang</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Mode terang dan gelap</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Semua teks terbaca; tidak ada kotak putih/teks hitam tertulis langsung</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Huruf 1,5× dan 2×</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Tidak terpotong di tengah kata, tanpa overflow</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Ubah ukuran saat berjalan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Tab aktif, item terpilih, isian tidak hilang</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Chrome: seret tepi jendela atau F12 → Ctrl+Shift+M. SizedBox di MaterialApp.builder TIDAK mengubah MediaQuery.</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6</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Studi Kasus: Pustaka Kampus</a:t>
            </a:r>
            <a:endParaRPr lang="en-US" sz="4000" dirty="0"/>
          </a:p>
        </p:txBody>
      </p:sp>
      <p:sp>
        <p:nvSpPr>
          <p:cNvPr id="5" name="lingkaran buku"/>
          <p:cNvSpPr/>
          <p:nvPr/>
        </p:nvSpPr>
        <p:spPr>
          <a:xfrm>
            <a:off x="1097280" y="2148840"/>
            <a:ext cx="2011680" cy="2011680"/>
          </a:xfrm>
          <a:prstGeom prst="ellipse">
            <a:avLst/>
          </a:prstGeom>
          <a:solidFill>
            <a:schemeClr val="accent1"/>
          </a:solidFill>
          <a:ln/>
        </p:spPr>
      </p:sp>
      <p:pic>
        <p:nvPicPr>
          <p:cNvPr id="6" name="Image 0" descr="buku">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Pustaka Kampus di Ponsel</a:t>
            </a:r>
            <a:endParaRPr lang="en-US" sz="3200" dirty="0"/>
          </a:p>
        </p:txBody>
      </p:sp>
      <p:sp>
        <p:nvSpPr>
          <p:cNvPr id="4" name="bingkai layar 1"/>
          <p:cNvSpPr/>
          <p:nvPr/>
        </p:nvSpPr>
        <p:spPr>
          <a:xfrm>
            <a:off x="4638751" y="1316736"/>
            <a:ext cx="2243328" cy="3426931"/>
          </a:xfrm>
          <a:prstGeom prst="roundRect">
            <a:avLst>
              <a:gd name="adj" fmla="val 4076"/>
            </a:avLst>
          </a:prstGeom>
          <a:solidFill>
            <a:srgbClr val="FFFFFF"/>
          </a:solidFill>
          <a:ln w="12700">
            <a:solidFill>
              <a:srgbClr val="C9D3E0"/>
            </a:solidFill>
            <a:prstDash val="solid"/>
          </a:ln>
        </p:spPr>
      </p:sp>
      <p:pic>
        <p:nvPicPr>
          <p:cNvPr id="5" name="layar 1" descr="Tangkapan layar aplikasi (hasil_contoh_12a.jpg)">    </p:cNvPr>
          <p:cNvPicPr>
            <a:picLocks noChangeAspect="1"/>
          </p:cNvPicPr>
          <p:nvPr/>
        </p:nvPicPr>
        <p:blipFill>
          <a:blip r:embed="rId1"/>
          <a:stretch>
            <a:fillRect/>
          </a:stretch>
        </p:blipFill>
        <p:spPr>
          <a:xfrm>
            <a:off x="4693615" y="1371600"/>
            <a:ext cx="2133600" cy="3317203"/>
          </a:xfrm>
          <a:prstGeom prst="rect">
            <a:avLst/>
          </a:prstGeom>
        </p:spPr>
      </p:pic>
      <p:sp>
        <p:nvSpPr>
          <p:cNvPr id="6" name="bingkai layar 2"/>
          <p:cNvSpPr/>
          <p:nvPr/>
        </p:nvSpPr>
        <p:spPr>
          <a:xfrm>
            <a:off x="7046671" y="1316736"/>
            <a:ext cx="2243328" cy="3426931"/>
          </a:xfrm>
          <a:prstGeom prst="roundRect">
            <a:avLst>
              <a:gd name="adj" fmla="val 4076"/>
            </a:avLst>
          </a:prstGeom>
          <a:solidFill>
            <a:srgbClr val="FFFFFF"/>
          </a:solidFill>
          <a:ln w="12700">
            <a:solidFill>
              <a:srgbClr val="C9D3E0"/>
            </a:solidFill>
            <a:prstDash val="solid"/>
          </a:ln>
        </p:spPr>
      </p:sp>
      <p:pic>
        <p:nvPicPr>
          <p:cNvPr id="7" name="layar 2" descr="Tangkapan layar aplikasi (hasil_contoh_12b.jpg)">    </p:cNvPr>
          <p:cNvPicPr>
            <a:picLocks noChangeAspect="1"/>
          </p:cNvPicPr>
          <p:nvPr/>
        </p:nvPicPr>
        <p:blipFill>
          <a:blip r:embed="rId2"/>
          <a:stretch>
            <a:fillRect/>
          </a:stretch>
        </p:blipFill>
        <p:spPr>
          <a:xfrm>
            <a:off x="7101535" y="1371600"/>
            <a:ext cx="2133600" cy="3317203"/>
          </a:xfrm>
          <a:prstGeom prst="rect">
            <a:avLst/>
          </a:prstGeom>
        </p:spPr>
      </p:pic>
      <p:sp>
        <p:nvSpPr>
          <p:cNvPr id="8" name="bingkai layar 3"/>
          <p:cNvSpPr/>
          <p:nvPr/>
        </p:nvSpPr>
        <p:spPr>
          <a:xfrm>
            <a:off x="9454591" y="1316736"/>
            <a:ext cx="2243328" cy="3426931"/>
          </a:xfrm>
          <a:prstGeom prst="roundRect">
            <a:avLst>
              <a:gd name="adj" fmla="val 4076"/>
            </a:avLst>
          </a:prstGeom>
          <a:solidFill>
            <a:srgbClr val="FFFFFF"/>
          </a:solidFill>
          <a:ln w="12700">
            <a:solidFill>
              <a:srgbClr val="C9D3E0"/>
            </a:solidFill>
            <a:prstDash val="solid"/>
          </a:ln>
        </p:spPr>
      </p:sp>
      <p:pic>
        <p:nvPicPr>
          <p:cNvPr id="9" name="layar 3" descr="Tangkapan layar aplikasi (hasil_contoh_12c.jpg)">    </p:cNvPr>
          <p:cNvPicPr>
            <a:picLocks noChangeAspect="1"/>
          </p:cNvPicPr>
          <p:nvPr/>
        </p:nvPicPr>
        <p:blipFill>
          <a:blip r:embed="rId3"/>
          <a:stretch>
            <a:fillRect/>
          </a:stretch>
        </p:blipFill>
        <p:spPr>
          <a:xfrm>
            <a:off x="9509455" y="1371600"/>
            <a:ext cx="2133600" cy="3317203"/>
          </a:xfrm>
          <a:prstGeom prst="rect">
            <a:avLst/>
          </a:prstGeom>
        </p:spPr>
      </p:pic>
      <p:sp>
        <p:nvSpPr>
          <p:cNvPr id="10" name="tombol tautan">
            <a:hlinkClick r:id="rId4" tooltip="https://github.com/antonprafanto/mobile2026/blob/main/pertemuan_07_material3_dan_responsif/kode/contoh_12_studi_kasus_pustaka_kampus.dart"/>
          </p:cNvPr>
          <p:cNvSpPr txBox="1"/>
          <p:nvPr/>
        </p:nvSpPr>
        <p:spPr>
          <a:xfrm>
            <a:off x="548640" y="1371600"/>
            <a:ext cx="368777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200" b="1" dirty="0">
                <a:solidFill>
                  <a:schemeClr val="bg1"/>
                </a:solidFill>
              </a:rPr>
              <a:t>Kode di GitHub  ·  contoh_12_studi_kasus_pustaka_kampus.dart</a:t>
            </a:r>
            <a:endParaRPr lang="en-US" sz="1200" dirty="0"/>
          </a:p>
        </p:txBody>
      </p:sp>
      <p:pic>
        <p:nvPicPr>
          <p:cNvPr id="11" name="Image 3" descr="ikon tautan">
            <a:hlinkClick r:id="rId6" tooltip="https://github.com/antonprafanto/mobile2026/blob/main/pertemuan_07_material3_dan_responsif/kode/contoh_12_studi_kasus_pustaka_kampus.dart"/>
          </p:cNvPr>
          <p:cNvPicPr>
            <a:picLocks noChangeAspect="1"/>
          </p:cNvPicPr>
          <p:nvPr/>
        </p:nvPicPr>
        <p:blipFill>
          <a:blip r:embed="rId5"/>
          <a:stretch>
            <a:fillRect/>
          </a:stretch>
        </p:blipFill>
        <p:spPr>
          <a:xfrm>
            <a:off x="694944" y="1463040"/>
            <a:ext cx="274320" cy="274320"/>
          </a:xfrm>
          <a:prstGeom prst="rect">
            <a:avLst/>
          </a:prstGeom>
        </p:spPr>
      </p:pic>
      <p:sp>
        <p:nvSpPr>
          <p:cNvPr id="12" name="daftar poin"/>
          <p:cNvSpPr txBox="1"/>
          <p:nvPr/>
        </p:nvSpPr>
        <p:spPr>
          <a:xfrm>
            <a:off x="548640" y="2103120"/>
            <a:ext cx="3687775" cy="411480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Akar aplikasi: _mode dan _benih → theme/darkTheme dari buatTema(benih, kecerahan).</a:t>
            </a:r>
            <a:endParaRPr lang="en-US" sz="1400" dirty="0"/>
          </a:p>
          <a:p>
            <a:pPr marL="228600" indent="-228600">
              <a:spcAft>
                <a:spcPts val="800"/>
              </a:spcAft>
              <a:buSzPct val="100000"/>
              <a:buChar char="•"/>
            </a:pPr>
            <a:r>
              <a:rPr lang="en-US" sz="1400" dirty="0">
                <a:solidFill>
                  <a:schemeClr val="tx1"/>
                </a:solidFill>
              </a:rPr>
              <a:t>HalamanUtama: _tujuan, _idTerpilih, _dipinjam (lencana = nilai turunan).</a:t>
            </a:r>
            <a:endParaRPr lang="en-US" sz="1400" dirty="0"/>
          </a:p>
          <a:p>
            <a:pPr marL="228600" indent="-228600">
              <a:spcAft>
                <a:spcPts val="800"/>
              </a:spcAft>
              <a:buSzPct val="100000"/>
              <a:buChar char="•"/>
            </a:pPr>
            <a:r>
              <a:rPr lang="en-US" sz="1400" dirty="0">
                <a:solidFill>
                  <a:schemeClr val="tx1"/>
                </a:solidFill>
              </a:rPr>
              <a:t>Satu panel: detail lewat Navigator.push&lt;bool&gt; + mounted.</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Pustaka Kampus di Layar Lebar</a:t>
            </a:r>
            <a:endParaRPr lang="en-US" sz="3200" dirty="0"/>
          </a:p>
        </p:txBody>
      </p:sp>
      <p:sp>
        <p:nvSpPr>
          <p:cNvPr id="4" name="bingkai layar 1"/>
          <p:cNvSpPr/>
          <p:nvPr/>
        </p:nvSpPr>
        <p:spPr>
          <a:xfrm>
            <a:off x="4821631" y="1316736"/>
            <a:ext cx="6876288" cy="3897579"/>
          </a:xfrm>
          <a:prstGeom prst="roundRect">
            <a:avLst>
              <a:gd name="adj" fmla="val 2346"/>
            </a:avLst>
          </a:prstGeom>
          <a:solidFill>
            <a:srgbClr val="FFFFFF"/>
          </a:solidFill>
          <a:ln w="12700">
            <a:solidFill>
              <a:srgbClr val="C9D3E0"/>
            </a:solidFill>
            <a:prstDash val="solid"/>
          </a:ln>
        </p:spPr>
      </p:sp>
      <p:pic>
        <p:nvPicPr>
          <p:cNvPr id="5" name="layar 1" descr="Tangkapan layar aplikasi (hasil_contoh_12d.jpg)">    </p:cNvPr>
          <p:cNvPicPr>
            <a:picLocks noChangeAspect="1"/>
          </p:cNvPicPr>
          <p:nvPr/>
        </p:nvPicPr>
        <p:blipFill>
          <a:blip r:embed="rId1"/>
          <a:stretch>
            <a:fillRect/>
          </a:stretch>
        </p:blipFill>
        <p:spPr>
          <a:xfrm>
            <a:off x="4876495" y="1371600"/>
            <a:ext cx="6766560" cy="3787851"/>
          </a:xfrm>
          <a:prstGeom prst="rect">
            <a:avLst/>
          </a:prstGeom>
        </p:spPr>
      </p:pic>
      <p:sp>
        <p:nvSpPr>
          <p:cNvPr id="6" name="kotak kode"/>
          <p:cNvSpPr txBox="1"/>
          <p:nvPr/>
        </p:nvSpPr>
        <p:spPr>
          <a:xfrm>
            <a:off x="548640" y="1371600"/>
            <a:ext cx="3870655" cy="1947672"/>
          </a:xfrm>
          <a:prstGeom prst="roundRect">
            <a:avLst>
              <a:gd name="adj" fmla="val 4695"/>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bool</a:t>
            </a:r>
            <a:r>
              <a:rPr lang="en-US" sz="1200" dirty="0">
                <a:solidFill>
                  <a:srgbClr val="E6EDF3"/>
                </a:solidFill>
                <a:latin typeface="Consolas" pitchFamily="34" charset="0"/>
                <a:ea typeface="Consolas" pitchFamily="34" charset="-122"/>
                <a:cs typeface="Consolas" pitchFamily="34" charset="-120"/>
              </a:rPr>
              <a:t> lega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batasan.maxWidth &gt;= </a:t>
            </a:r>
            <a:r>
              <a:rPr lang="en-US" sz="1200" dirty="0">
                <a:solidFill>
                  <a:srgbClr val="F78C6C"/>
                </a:solidFill>
                <a:latin typeface="Consolas" pitchFamily="34" charset="0"/>
                <a:ea typeface="Consolas" pitchFamily="34" charset="-122"/>
                <a:cs typeface="Consolas" pitchFamily="34" charset="-120"/>
              </a:rPr>
              <a:t>520</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(lega)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Row</a:t>
            </a:r>
            <a:r>
              <a:rPr lang="en-US" sz="1200" dirty="0">
                <a:solidFill>
                  <a:srgbClr val="E6EDF3"/>
                </a:solidFill>
                <a:latin typeface="Consolas" pitchFamily="34" charset="0"/>
                <a:ea typeface="Consolas" pitchFamily="34" charset="-122"/>
                <a:cs typeface="Consolas" pitchFamily="34" charset="-120"/>
              </a:rPr>
              <a:t>(children: [sampul, ...])</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else</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Center</a:t>
            </a:r>
            <a:r>
              <a:rPr lang="en-US" sz="1200" dirty="0">
                <a:solidFill>
                  <a:srgbClr val="E6EDF3"/>
                </a:solidFill>
                <a:latin typeface="Consolas" pitchFamily="34" charset="0"/>
                <a:ea typeface="Consolas" pitchFamily="34" charset="-122"/>
                <a:cs typeface="Consolas" pitchFamily="34" charset="-120"/>
              </a:rPr>
              <a:t>(child: sampul),</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keterangan,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7" name="daftar poin"/>
          <p:cNvSpPr txBox="1"/>
          <p:nvPr/>
        </p:nvSpPr>
        <p:spPr>
          <a:xfrm>
            <a:off x="548640" y="3547872"/>
            <a:ext cx="3870655" cy="2670048"/>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NavigationRail di samping; katalog dua panel mulai 840.</a:t>
            </a:r>
            <a:endParaRPr lang="en-US" sz="1400" dirty="0"/>
          </a:p>
          <a:p>
            <a:pPr marL="228600" indent="-228600">
              <a:spcAft>
                <a:spcPts val="800"/>
              </a:spcAft>
              <a:buSzPct val="100000"/>
              <a:buChar char="•"/>
            </a:pPr>
            <a:r>
              <a:rPr lang="en-US" sz="1400" dirty="0">
                <a:solidFill>
                  <a:schemeClr val="tx1"/>
                </a:solidFill>
              </a:rPr>
              <a:t>DetailBuku memakai LayoutBuilder: 840 → panel ± 398 (sampul di atas), 1000 → ± 558 (sampul di kiri).</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Kesalahan Umum Pemula</a:t>
            </a:r>
            <a:endParaRPr lang="en-US" sz="3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929774"/>
                <a:gridCol w="5164642"/>
              </a:tblGrid>
              <a:tr h="50292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Gejala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Solusi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0292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Sebagian kartu/teks tidak ikut berganti warna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Ambil warna dari Theme.of(context).colorScheme</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Teks hilang/kotak putih di mode gelap</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Pakai surface/onSurface dan peran warna lain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0292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Memilih Gelap tetapi tetap terang</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Isi darkTheme dengan brightness: Brightness.dark</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BoxConstraints forces an infinite width</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Tombol Size.fromHeight di Row → bungkus Expanded</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0292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Assertion error di NavigationRail</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extended: true → labelType none/null</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Tab kembali ke awal saat ukuran berubah</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Simpan state di atas percabangan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0292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Overflow saat huruf diperbesar</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Jangan patok tinggi; teks di Row → Expanded</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Ringkasan</a:t>
            </a:r>
            <a:endParaRPr lang="en-US" sz="3200" dirty="0"/>
          </a:p>
        </p:txBody>
      </p:sp>
      <p:sp>
        <p:nvSpPr>
          <p:cNvPr id="4" name="Text 1"/>
          <p:cNvSpPr txBox="1"/>
          <p:nvPr/>
        </p:nvSpPr>
        <p:spPr>
          <a:xfrm>
            <a:off x="548640" y="1417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2"/>
          <p:cNvSpPr txBox="1"/>
          <p:nvPr/>
        </p:nvSpPr>
        <p:spPr>
          <a:xfrm>
            <a:off x="1234440" y="1371600"/>
            <a:ext cx="4632808" cy="1051560"/>
          </a:xfrm>
          <a:prstGeom prst="rect">
            <a:avLst/>
          </a:prstGeom>
          <a:noFill/>
          <a:ln/>
        </p:spPr>
        <p:txBody>
          <a:bodyPr wrap="square" lIns="0" tIns="0" rIns="0" bIns="0" rtlCol="0" anchor="t"/>
          <a:lstStyle/>
          <a:p>
            <a:pPr indent="0" marL="0">
              <a:buNone/>
            </a:pPr>
            <a:r>
              <a:rPr lang="en-US" sz="1700" dirty="0">
                <a:solidFill>
                  <a:schemeClr val="tx1"/>
                </a:solidFill>
              </a:rPr>
              <a:t>M3 = sistem desain bawaan; komponen membaca token dari tema.</a:t>
            </a:r>
            <a:endParaRPr lang="en-US" sz="1700" dirty="0"/>
          </a:p>
        </p:txBody>
      </p:sp>
      <p:sp>
        <p:nvSpPr>
          <p:cNvPr id="6" name="Text 3"/>
          <p:cNvSpPr txBox="1"/>
          <p:nvPr/>
        </p:nvSpPr>
        <p:spPr>
          <a:xfrm>
            <a:off x="548640" y="2560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Text 4"/>
          <p:cNvSpPr txBox="1"/>
          <p:nvPr/>
        </p:nvSpPr>
        <p:spPr>
          <a:xfrm>
            <a:off x="1234440" y="2514600"/>
            <a:ext cx="4632808" cy="1051560"/>
          </a:xfrm>
          <a:prstGeom prst="rect">
            <a:avLst/>
          </a:prstGeom>
          <a:noFill/>
          <a:ln/>
        </p:spPr>
        <p:txBody>
          <a:bodyPr wrap="square" lIns="0" tIns="0" rIns="0" bIns="0" rtlCol="0" anchor="t"/>
          <a:lstStyle/>
          <a:p>
            <a:pPr indent="0" marL="0">
              <a:buNone/>
            </a:pPr>
            <a:r>
              <a:rPr lang="en-US" sz="1700" dirty="0">
                <a:solidFill>
                  <a:schemeClr val="tx1"/>
                </a:solidFill>
              </a:rPr>
              <a:t>Tema dipasang sekali di MaterialApp, dibaca dengan Theme.of(context).</a:t>
            </a:r>
            <a:endParaRPr lang="en-US" sz="1700" dirty="0"/>
          </a:p>
        </p:txBody>
      </p:sp>
      <p:sp>
        <p:nvSpPr>
          <p:cNvPr id="8" name="Text 5"/>
          <p:cNvSpPr txBox="1"/>
          <p:nvPr/>
        </p:nvSpPr>
        <p:spPr>
          <a:xfrm>
            <a:off x="548640" y="3703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9" name="Text 6"/>
          <p:cNvSpPr txBox="1"/>
          <p:nvPr/>
        </p:nvSpPr>
        <p:spPr>
          <a:xfrm>
            <a:off x="1234440" y="3657600"/>
            <a:ext cx="4632808" cy="1051560"/>
          </a:xfrm>
          <a:prstGeom prst="rect">
            <a:avLst/>
          </a:prstGeom>
          <a:noFill/>
          <a:ln/>
        </p:spPr>
        <p:txBody>
          <a:bodyPr wrap="square" lIns="0" tIns="0" rIns="0" bIns="0" rtlCol="0" anchor="t"/>
          <a:lstStyle/>
          <a:p>
            <a:pPr indent="0" marL="0">
              <a:buNone/>
            </a:pPr>
            <a:r>
              <a:rPr lang="en-US" sz="1700" dirty="0">
                <a:solidFill>
                  <a:schemeClr val="tx1"/>
                </a:solidFill>
              </a:rPr>
              <a:t>fromSeed: satu benih → semua peran warna; teks di atas X memakai onX.</a:t>
            </a:r>
            <a:endParaRPr lang="en-US" sz="1700" dirty="0"/>
          </a:p>
        </p:txBody>
      </p:sp>
      <p:sp>
        <p:nvSpPr>
          <p:cNvPr id="10" name="Text 7"/>
          <p:cNvSpPr txBox="1"/>
          <p:nvPr/>
        </p:nvSpPr>
        <p:spPr>
          <a:xfrm>
            <a:off x="548640" y="4846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1" name="Text 8"/>
          <p:cNvSpPr txBox="1"/>
          <p:nvPr/>
        </p:nvSpPr>
        <p:spPr>
          <a:xfrm>
            <a:off x="1234440" y="4800600"/>
            <a:ext cx="4632808" cy="1051560"/>
          </a:xfrm>
          <a:prstGeom prst="rect">
            <a:avLst/>
          </a:prstGeom>
          <a:noFill/>
          <a:ln/>
        </p:spPr>
        <p:txBody>
          <a:bodyPr wrap="square" lIns="0" tIns="0" rIns="0" bIns="0" rtlCol="0" anchor="t"/>
          <a:lstStyle/>
          <a:p>
            <a:pPr indent="0" marL="0">
              <a:buNone/>
            </a:pPr>
            <a:r>
              <a:rPr lang="en-US" sz="1700" dirty="0">
                <a:solidFill>
                  <a:schemeClr val="tx1"/>
                </a:solidFill>
              </a:rPr>
              <a:t>15 gaya TextTheme; tema komponen (…ThemeData); tema lokal dengan Theme.</a:t>
            </a:r>
            <a:endParaRPr lang="en-US" sz="1700" dirty="0"/>
          </a:p>
        </p:txBody>
      </p:sp>
      <p:sp>
        <p:nvSpPr>
          <p:cNvPr id="12" name="Text 9"/>
          <p:cNvSpPr txBox="1"/>
          <p:nvPr/>
        </p:nvSpPr>
        <p:spPr>
          <a:xfrm>
            <a:off x="6324448" y="1417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3" name="Text 10"/>
          <p:cNvSpPr txBox="1"/>
          <p:nvPr/>
        </p:nvSpPr>
        <p:spPr>
          <a:xfrm>
            <a:off x="7010248" y="1371600"/>
            <a:ext cx="4632808" cy="1051560"/>
          </a:xfrm>
          <a:prstGeom prst="rect">
            <a:avLst/>
          </a:prstGeom>
          <a:noFill/>
          <a:ln/>
        </p:spPr>
        <p:txBody>
          <a:bodyPr wrap="square" lIns="0" tIns="0" rIns="0" bIns="0" rtlCol="0" anchor="t"/>
          <a:lstStyle/>
          <a:p>
            <a:pPr indent="0" marL="0">
              <a:buNone/>
            </a:pPr>
            <a:r>
              <a:rPr lang="en-US" sz="1700" dirty="0">
                <a:solidFill>
                  <a:schemeClr val="tx1"/>
                </a:solidFill>
              </a:rPr>
              <a:t>Mode gelap = theme + darkTheme + themeMode; state di akar aplikasi.</a:t>
            </a:r>
            <a:endParaRPr lang="en-US" sz="1700" dirty="0"/>
          </a:p>
        </p:txBody>
      </p:sp>
      <p:sp>
        <p:nvSpPr>
          <p:cNvPr id="14" name="Text 11"/>
          <p:cNvSpPr txBox="1"/>
          <p:nvPr/>
        </p:nvSpPr>
        <p:spPr>
          <a:xfrm>
            <a:off x="6324448" y="2560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15" name="Text 12"/>
          <p:cNvSpPr txBox="1"/>
          <p:nvPr/>
        </p:nvSpPr>
        <p:spPr>
          <a:xfrm>
            <a:off x="7010248" y="2514600"/>
            <a:ext cx="4632808" cy="1051560"/>
          </a:xfrm>
          <a:prstGeom prst="rect">
            <a:avLst/>
          </a:prstGeom>
          <a:noFill/>
          <a:ln/>
        </p:spPr>
        <p:txBody>
          <a:bodyPr wrap="square" lIns="0" tIns="0" rIns="0" bIns="0" rtlCol="0" anchor="t"/>
          <a:lstStyle/>
          <a:p>
            <a:pPr indent="0" marL="0">
              <a:buNone/>
            </a:pPr>
            <a:r>
              <a:rPr lang="en-US" sz="1700" dirty="0">
                <a:solidFill>
                  <a:schemeClr val="tx1"/>
                </a:solidFill>
              </a:rPr>
              <a:t>MediaQuery = jendela; LayoutBuilder = ruang widget.</a:t>
            </a:r>
            <a:endParaRPr lang="en-US" sz="1700" dirty="0"/>
          </a:p>
        </p:txBody>
      </p:sp>
      <p:sp>
        <p:nvSpPr>
          <p:cNvPr id="16" name="Text 13"/>
          <p:cNvSpPr txBox="1"/>
          <p:nvPr/>
        </p:nvSpPr>
        <p:spPr>
          <a:xfrm>
            <a:off x="6324448" y="3703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17" name="Text 14"/>
          <p:cNvSpPr txBox="1"/>
          <p:nvPr/>
        </p:nvSpPr>
        <p:spPr>
          <a:xfrm>
            <a:off x="7010248" y="3657600"/>
            <a:ext cx="4632808" cy="1051560"/>
          </a:xfrm>
          <a:prstGeom prst="rect">
            <a:avLst/>
          </a:prstGeom>
          <a:noFill/>
          <a:ln/>
        </p:spPr>
        <p:txBody>
          <a:bodyPr wrap="square" lIns="0" tIns="0" rIns="0" bIns="0" rtlCol="0" anchor="t"/>
          <a:lstStyle/>
          <a:p>
            <a:pPr indent="0" marL="0">
              <a:buNone/>
            </a:pPr>
            <a:r>
              <a:rPr lang="en-US" sz="1700" dirty="0">
                <a:solidFill>
                  <a:schemeClr val="tx1"/>
                </a:solidFill>
              </a:rPr>
              <a:t>Breakpoint: &lt; 600, 600–839, 840–1199, 1200–1599, ≥ 1600.</a:t>
            </a:r>
            <a:endParaRPr lang="en-US" sz="1700" dirty="0"/>
          </a:p>
        </p:txBody>
      </p:sp>
      <p:sp>
        <p:nvSpPr>
          <p:cNvPr id="18" name="Text 15"/>
          <p:cNvSpPr txBox="1"/>
          <p:nvPr/>
        </p:nvSpPr>
        <p:spPr>
          <a:xfrm>
            <a:off x="6324448" y="4846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19" name="Text 16"/>
          <p:cNvSpPr txBox="1"/>
          <p:nvPr/>
        </p:nvSpPr>
        <p:spPr>
          <a:xfrm>
            <a:off x="7010248" y="4800600"/>
            <a:ext cx="4632808" cy="1051560"/>
          </a:xfrm>
          <a:prstGeom prst="rect">
            <a:avLst/>
          </a:prstGeom>
          <a:noFill/>
          <a:ln/>
        </p:spPr>
        <p:txBody>
          <a:bodyPr wrap="square" lIns="0" tIns="0" rIns="0" bIns="0" rtlCol="0" anchor="t"/>
          <a:lstStyle/>
          <a:p>
            <a:pPr indent="0" marL="0">
              <a:buNone/>
            </a:pPr>
            <a:r>
              <a:rPr lang="en-US" sz="1700" dirty="0">
                <a:solidFill>
                  <a:schemeClr val="tx1"/>
                </a:solidFill>
              </a:rPr>
              <a:t>NavigationBar ↔ NavigationRail; daftar–detail; uji lebar, mode, huruf.</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3" name="Text 4"/>
          <p:cNvSpPr/>
          <p:nvPr>
            <p:ph idx="104" type="title" hasCustomPrompt="1"/>
          </p:nvPr>
        </p:nvSpPr>
        <p:spPr>
          <a:xfrm>
            <a:off x="731520" y="1554480"/>
            <a:ext cx="8778240" cy="2103120"/>
          </a:xfrm>
          <a:prstGeom prst="rect">
            <a:avLst/>
          </a:prstGeom>
          <a:noFill/>
          <a:ln/>
        </p:spPr>
        <p:txBody>
          <a:bodyPr wrap="square" lIns="0" tIns="0" rIns="0" bIns="0" rtlCol="0" anchor="b"/>
          <a:lstStyle/>
          <a:p>
            <a:pPr algn="l" indent="0" marL="0">
              <a:buNone/>
            </a:pPr>
            <a:r>
              <a:rPr lang="en-US" sz="4400" b="1" dirty="0">
                <a:solidFill>
                  <a:schemeClr val="bg1"/>
                </a:solidFill>
              </a:rPr>
              <a:t>Saatnya Praktik!</a:t>
            </a:r>
            <a:endParaRPr lang="en-US" sz="4400" dirty="0"/>
          </a:p>
        </p:txBody>
      </p:sp>
      <p:sp>
        <p:nvSpPr>
          <p:cNvPr id="4" name="Text 4"/>
          <p:cNvSpPr/>
          <p:nvPr>
            <p:ph idx="105" type="body" hasCustomPrompt="1"/>
          </p:nvPr>
        </p:nvSpPr>
        <p:spPr>
          <a:xfrm>
            <a:off x="731520" y="3840480"/>
            <a:ext cx="8412480" cy="1280160"/>
          </a:xfrm>
          <a:prstGeom prst="rect">
            <a:avLst/>
          </a:prstGeom>
          <a:noFill/>
          <a:ln/>
        </p:spPr>
        <p:txBody>
          <a:bodyPr wrap="square" lIns="0" tIns="0" rIns="0" bIns="0" rtlCol="0" anchor="t"/>
          <a:lstStyle/>
          <a:p>
            <a:pPr algn="l" indent="0" marL="0">
              <a:buNone/>
            </a:pPr>
            <a:r>
              <a:rPr lang="en-US" sz="2000" dirty="0">
                <a:solidFill>
                  <a:schemeClr val="bg2"/>
                </a:solidFill>
              </a:rPr>
              <a:t>Kerjakan Jobsheet Pertemuan 7 (lima praktikum + tugas Direktori UKM Kampus), lalu uji diri di Latihan. Pertemuan berikutnya: Ujian Tengah Semester (ujian praktik).</a:t>
            </a:r>
            <a:endParaRPr lang="en-US" sz="2000" dirty="0"/>
          </a:p>
        </p:txBody>
      </p:sp>
      <p:sp>
        <p:nvSpPr>
          <p:cNvPr id="5" name="tombol tautan">
            <a:hlinkClick r:id="rId1" tooltip="https://github.com/antonprafanto/mobile2026/blob/main/pertemuan_07_material3_dan_responsif/JOBSHEET.md"/>
          </p:cNvPr>
          <p:cNvSpPr txBox="1"/>
          <p:nvPr/>
        </p:nvSpPr>
        <p:spPr>
          <a:xfrm>
            <a:off x="731520" y="5166360"/>
            <a:ext cx="2697480" cy="548640"/>
          </a:xfrm>
          <a:prstGeom prst="roundRect">
            <a:avLst>
              <a:gd name="adj" fmla="val 20000"/>
            </a:avLst>
          </a:prstGeom>
          <a:solidFill>
            <a:schemeClr val="accent1"/>
          </a:solidFill>
          <a:ln/>
        </p:spPr>
        <p:txBody>
          <a:bodyPr wrap="square" lIns="622300" tIns="0" rIns="76200" bIns="0" rtlCol="0" anchor="ctr"/>
          <a:lstStyle/>
          <a:p>
            <a:pPr algn="l" indent="0" marL="0">
              <a:buNone/>
            </a:pPr>
            <a:r>
              <a:rPr lang="en-US" sz="1600" b="1" dirty="0">
                <a:solidFill>
                  <a:schemeClr val="bg1"/>
                </a:solidFill>
              </a:rPr>
              <a:t>Jobsheet P7</a:t>
            </a:r>
            <a:endParaRPr lang="en-US" sz="1600" dirty="0"/>
          </a:p>
        </p:txBody>
      </p:sp>
      <p:pic>
        <p:nvPicPr>
          <p:cNvPr id="6" name="Image 0" descr="ikon tautan">
            <a:hlinkClick r:id="rId3" tooltip="https://github.com/antonprafanto/mobile2026/blob/main/pertemuan_07_material3_dan_responsif/JOBSHEET.md"/>
          </p:cNvPr>
          <p:cNvPicPr>
            <a:picLocks noChangeAspect="1"/>
          </p:cNvPicPr>
          <p:nvPr/>
        </p:nvPicPr>
        <p:blipFill>
          <a:blip r:embed="rId2"/>
          <a:stretch>
            <a:fillRect/>
          </a:stretch>
        </p:blipFill>
        <p:spPr>
          <a:xfrm>
            <a:off x="877824" y="5276088"/>
            <a:ext cx="329184" cy="329184"/>
          </a:xfrm>
          <a:prstGeom prst="rect">
            <a:avLst/>
          </a:prstGeom>
        </p:spPr>
      </p:pic>
      <p:sp>
        <p:nvSpPr>
          <p:cNvPr id="7" name="tombol tautan">
            <a:hlinkClick r:id="rId4" tooltip="https://github.com/antonprafanto/mobile2026/blob/main/pertemuan_07_material3_dan_responsif/LATIHAN.md"/>
          </p:cNvPr>
          <p:cNvSpPr txBox="1"/>
          <p:nvPr/>
        </p:nvSpPr>
        <p:spPr>
          <a:xfrm>
            <a:off x="3611880" y="5166360"/>
            <a:ext cx="2697480" cy="548640"/>
          </a:xfrm>
          <a:prstGeom prst="roundRect">
            <a:avLst>
              <a:gd name="adj" fmla="val 20000"/>
            </a:avLst>
          </a:prstGeom>
          <a:solidFill>
            <a:schemeClr val="accent6"/>
          </a:solidFill>
          <a:ln/>
        </p:spPr>
        <p:txBody>
          <a:bodyPr wrap="square" lIns="622300" tIns="0" rIns="76200" bIns="0" rtlCol="0" anchor="ctr"/>
          <a:lstStyle/>
          <a:p>
            <a:pPr algn="l" indent="0" marL="0">
              <a:buNone/>
            </a:pPr>
            <a:r>
              <a:rPr lang="en-US" sz="1600" b="1" dirty="0">
                <a:solidFill>
                  <a:schemeClr val="bg1"/>
                </a:solidFill>
              </a:rPr>
              <a:t>Latihan P7</a:t>
            </a:r>
            <a:endParaRPr lang="en-US" sz="1600" dirty="0"/>
          </a:p>
        </p:txBody>
      </p:sp>
      <p:pic>
        <p:nvPicPr>
          <p:cNvPr id="8" name="Image 1" descr="ikon tautan">
            <a:hlinkClick r:id="rId6" tooltip="https://github.com/antonprafanto/mobile2026/blob/main/pertemuan_07_material3_dan_responsif/LATIHAN.md"/>
          </p:cNvPr>
          <p:cNvPicPr>
            <a:picLocks noChangeAspect="1"/>
          </p:cNvPicPr>
          <p:nvPr/>
        </p:nvPicPr>
        <p:blipFill>
          <a:blip r:embed="rId5"/>
          <a:stretch>
            <a:fillRect/>
          </a:stretch>
        </p:blipFill>
        <p:spPr>
          <a:xfrm>
            <a:off x="3758184" y="5276088"/>
            <a:ext cx="329184" cy="329184"/>
          </a:xfrm>
          <a:prstGeom prst="rect">
            <a:avLst/>
          </a:prstGeom>
        </p:spPr>
      </p:pic>
      <p:sp>
        <p:nvSpPr>
          <p:cNvPr id="9" name="tombol tautan">
            <a:hlinkClick r:id="rId7" tooltip="https://github.com/antonprafanto/mobile2026/blob/main/pertemuan_07_material3_dan_responsif/README.md"/>
          </p:cNvPr>
          <p:cNvSpPr txBox="1"/>
          <p:nvPr/>
        </p:nvSpPr>
        <p:spPr>
          <a:xfrm>
            <a:off x="6492240" y="5166360"/>
            <a:ext cx="2697480" cy="548640"/>
          </a:xfrm>
          <a:prstGeom prst="roundRect">
            <a:avLst>
              <a:gd name="adj" fmla="val 20000"/>
            </a:avLst>
          </a:prstGeom>
          <a:solidFill>
            <a:schemeClr val="accent6"/>
          </a:solidFill>
          <a:ln/>
        </p:spPr>
        <p:txBody>
          <a:bodyPr wrap="square" lIns="622300" tIns="0" rIns="76200" bIns="0" rtlCol="0" anchor="ctr"/>
          <a:lstStyle/>
          <a:p>
            <a:pPr algn="l" indent="0" marL="0">
              <a:buNone/>
            </a:pPr>
            <a:r>
              <a:rPr lang="en-US" sz="1600" b="1" dirty="0">
                <a:solidFill>
                  <a:schemeClr val="bg1"/>
                </a:solidFill>
              </a:rPr>
              <a:t>Modul P7</a:t>
            </a:r>
            <a:endParaRPr lang="en-US" sz="1600" dirty="0"/>
          </a:p>
        </p:txBody>
      </p:sp>
      <p:pic>
        <p:nvPicPr>
          <p:cNvPr id="10" name="Image 2" descr="ikon tautan">
            <a:hlinkClick r:id="rId9" tooltip="https://github.com/antonprafanto/mobile2026/blob/main/pertemuan_07_material3_dan_responsif/README.md"/>
          </p:cNvPr>
          <p:cNvPicPr>
            <a:picLocks noChangeAspect="1"/>
          </p:cNvPicPr>
          <p:nvPr/>
        </p:nvPicPr>
        <p:blipFill>
          <a:blip r:embed="rId8"/>
          <a:stretch>
            <a:fillRect/>
          </a:stretch>
        </p:blipFill>
        <p:spPr>
          <a:xfrm>
            <a:off x="6638544" y="5276088"/>
            <a:ext cx="329184" cy="329184"/>
          </a:xfrm>
          <a:prstGeom prst="rect">
            <a:avLst/>
          </a:prstGeom>
        </p:spPr>
      </p:pic>
      <p:sp>
        <p:nvSpPr>
          <p:cNvPr id="11" name="lingkaran roket"/>
          <p:cNvSpPr/>
          <p:nvPr/>
        </p:nvSpPr>
        <p:spPr>
          <a:xfrm>
            <a:off x="9646920" y="1828800"/>
            <a:ext cx="1737360" cy="1737360"/>
          </a:xfrm>
          <a:prstGeom prst="ellipse">
            <a:avLst/>
          </a:prstGeom>
          <a:solidFill>
            <a:schemeClr val="accent1"/>
          </a:solidFill>
          <a:ln/>
        </p:spPr>
      </p:sp>
      <p:pic>
        <p:nvPicPr>
          <p:cNvPr id="12" name="Image 3" descr="roket">    </p:cNvPr>
          <p:cNvPicPr>
            <a:picLocks noChangeAspect="1"/>
          </p:cNvPicPr>
          <p:nvPr/>
        </p:nvPicPr>
        <p:blipFill>
          <a:blip r:embed="rId10"/>
          <a:stretch>
            <a:fillRect/>
          </a:stretch>
        </p:blipFill>
        <p:spPr>
          <a:xfrm>
            <a:off x="10029139" y="2211019"/>
            <a:ext cx="972922" cy="972922"/>
          </a:xfrm>
          <a:prstGeom prst="rect">
            <a:avLst/>
          </a:prstGeom>
        </p:spPr>
      </p:pic>
    </p:spTree>
  </p:cSld>
  <p:clrMapOvr>
    <a:masterClrMapping/>
  </p:clrMapOvr>
</p:sld>
</file>

<file path=ppt/theme/theme1.xml><?xml version="1.0" encoding="utf-8"?>
<a:theme xmlns:a="http://schemas.openxmlformats.org/drawingml/2006/main" name="PPB Flutter 2026">
  <a:themeElements>
    <a:clrScheme name="PPB Flutter 2026">
      <a:dk1>
        <a:srgbClr val="1B2333"/>
      </a:dk1>
      <a:lt1>
        <a:srgbClr val="FFFFFF"/>
      </a:lt1>
      <a:dk2>
        <a:srgbClr val="0B2545"/>
      </a:dk2>
      <a:lt2>
        <a:srgbClr val="EEF3FA"/>
      </a:lt2>
      <a:accent1>
        <a:srgbClr val="0175C2"/>
      </a:accent1>
      <a:accent2>
        <a:srgbClr val="13B9FD"/>
      </a:accent2>
      <a:accent3>
        <a:srgbClr val="F2A900"/>
      </a:accent3>
      <a:accent4>
        <a:srgbClr val="2E7D32"/>
      </a:accent4>
      <a:accent5>
        <a:srgbClr val="C62828"/>
      </a:accent5>
      <a:accent6>
        <a:srgbClr val="6750A4"/>
      </a:accent6>
      <a:hlink>
        <a:srgbClr val="0175C2"/>
      </a:hlink>
      <a:folHlink>
        <a:srgbClr val="6750A4"/>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Pertemuan 07 - Material 3 &amp; UI Responsif</dc:title>
  <dc:subject>Materi kuliah Pemrograman Piranti Bergerak (Flutter 2026)</dc:subject>
  <dc:creator>Pemrograman Piranti Bergerak - Informatika S1</dc:creator>
  <cp:lastModifiedBy>Pemrograman Piranti Bergerak - Informatika S1</cp:lastModifiedBy>
  <cp:revision>1</cp:revision>
  <dcterms:created xsi:type="dcterms:W3CDTF">2026-10-15T18:45:23Z</dcterms:created>
  <dcterms:modified xsi:type="dcterms:W3CDTF">2026-10-15T18:45:23Z</dcterms:modified>
</cp:coreProperties>
</file>