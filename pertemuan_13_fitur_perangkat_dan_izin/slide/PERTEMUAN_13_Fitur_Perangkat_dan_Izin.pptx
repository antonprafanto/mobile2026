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Lst>
  <p:notesMasterIdLst>
    <p:notesMasterId r:id="rId8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1e48fb8c-86af-f6b8-a239-a927d021d246}">
          <p14:sldIdLst>
            <p14:sldId id="256"/>
            <p14:sldId id="257"/>
            <p14:sldId id="258"/>
            <p14:sldId id="259"/>
          </p14:sldIdLst>
        </p14:section>
        <p14:section name="Aplikasi yang Menyentuh Dunia Nyata" id="{c745e9fa-f1ab-971b-18df-17e0f44d0ecc}">
          <p14:sldIdLst>
            <p14:sldId id="260"/>
            <p14:sldId id="261"/>
            <p14:sldId id="262"/>
            <p14:sldId id="263"/>
          </p14:sldIdLst>
        </p14:section>
        <p14:section name="Izin Akses: Percakapan Tiga Pihak" id="{37dbe1e7-0cf3-d7e9-aaa2-8e6de907e81d}">
          <p14:sldIdLst>
            <p14:sldId id="264"/>
            <p14:sldId id="265"/>
            <p14:sldId id="266"/>
            <p14:sldId id="267"/>
            <p14:sldId id="268"/>
            <p14:sldId id="269"/>
            <p14:sldId id="270"/>
          </p14:sldIdLst>
        </p14:section>
        <p14:section name="Menyiapkan Proyek: Paket dan Pengaturan Platform" id="{277d48c1-50f7-0222-c826-16d5206ae69b}">
          <p14:sldIdLst>
            <p14:sldId id="271"/>
            <p14:sldId id="272"/>
            <p14:sldId id="273"/>
            <p14:sldId id="274"/>
            <p14:sldId id="275"/>
            <p14:sldId id="276"/>
            <p14:sldId id="277"/>
          </p14:sldIdLst>
        </p14:section>
        <p14:section name="Foto dari Galeri dan Kamera" id="{a5f4c28f-8ea4-6670-5a67-0bba761d99b3}">
          <p14:sldIdLst>
            <p14:sldId id="278"/>
            <p14:sldId id="279"/>
            <p14:sldId id="280"/>
            <p14:sldId id="281"/>
            <p14:sldId id="282"/>
            <p14:sldId id="283"/>
            <p14:sldId id="284"/>
          </p14:sldIdLst>
        </p14:section>
        <p14:section name="Lokasi Perangkat" id="{ec67cc42-d7aa-41d9-1c45-679148fca5bb}">
          <p14:sldIdLst>
            <p14:sldId id="285"/>
            <p14:sldId id="286"/>
            <p14:sldId id="287"/>
            <p14:sldId id="288"/>
            <p14:sldId id="289"/>
            <p14:sldId id="290"/>
            <p14:sldId id="291"/>
          </p14:sldIdLst>
        </p14:section>
        <p14:section name="Jarak, Arah, dan Zona" id="{8111c9d3-42b4-a8fe-9dd3-cb2e617923d6}">
          <p14:sldIdLst>
            <p14:sldId id="292"/>
            <p14:sldId id="293"/>
            <p14:sldId id="294"/>
            <p14:sldId id="295"/>
            <p14:sldId id="296"/>
          </p14:sldIdLst>
        </p14:section>
        <p14:section name="Alur Izin yang Sopan" id="{47646ea2-6847-83b0-1d6b-f479c8b5f8d2}">
          <p14:sldIdLst>
            <p14:sldId id="297"/>
            <p14:sldId id="298"/>
            <p14:sldId id="299"/>
            <p14:sldId id="300"/>
            <p14:sldId id="301"/>
            <p14:sldId id="302"/>
          </p14:sldIdLst>
        </p14:section>
        <p14:section name="Mengikuti Lokasi Terus-Menerus" id="{56d12dea-ffee-7d84-b2cf-883d2b5347da}">
          <p14:sldIdLst>
            <p14:sldId id="303"/>
            <p14:sldId id="304"/>
            <p14:sldId id="305"/>
            <p14:sldId id="306"/>
            <p14:sldId id="307"/>
            <p14:sldId id="308"/>
            <p14:sldId id="309"/>
          </p14:sldIdLst>
        </p14:section>
        <p14:section name="Fitur Perangkat di Balik Kontrak" id="{1a3da23f-7738-3b0c-e703-e96a8ae381c9}">
          <p14:sldIdLst>
            <p14:sldId id="310"/>
            <p14:sldId id="311"/>
            <p14:sldId id="312"/>
            <p14:sldId id="313"/>
            <p14:sldId id="314"/>
            <p14:sldId id="315"/>
            <p14:sldId id="316"/>
            <p14:sldId id="317"/>
            <p14:sldId id="318"/>
            <p14:sldId id="319"/>
          </p14:sldIdLst>
        </p14:section>
        <p14:section name="Studi Kasus: Presensi Praktikum" id="{7c93242b-96dd-9709-4884-92c8d5590933}">
          <p14:sldIdLst>
            <p14:sldId id="320"/>
            <p14:sldId id="321"/>
            <p14:sldId id="322"/>
            <p14:sldId id="323"/>
            <p14:sldId id="324"/>
            <p14:sldId id="325"/>
            <p14:sldId id="326"/>
            <p14:sldId id="327"/>
            <p14:sldId id="328"/>
          </p14:sldIdLst>
        </p14:section>
        <p14:section name="Menguji, Privasi, Paket Lain, dan Proyek Akhir" id="{3f51dcab-064f-23b9-410f-9ea939770afe}">
          <p14:sldIdLst>
            <p14:sldId id="329"/>
            <p14:sldId id="330"/>
            <p14:sldId id="331"/>
            <p14:sldId id="332"/>
            <p14:sldId id="333"/>
            <p14:sldId id="334"/>
            <p14:sldId id="335"/>
            <p14:sldId id="336"/>
            <p14:sldId id="337"/>
            <p14:sldId id="338"/>
            <p14:sldId id="339"/>
            <p14:sldId id="34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notesMaster" Target="notesMasters/notesMaster1.xml"/><Relationship Id="rId88" Type="http://schemas.openxmlformats.org/officeDocument/2006/relationships/presProps" Target="presProps.xml"/><Relationship Id="rId89" Type="http://schemas.openxmlformats.org/officeDocument/2006/relationships/viewProps" Target="viewProps.xml"/><Relationship Id="rId90" Type="http://schemas.openxmlformats.org/officeDocument/2006/relationships/theme" Target="theme/theme1.xml"/><Relationship Id="rId9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 Pertemuan 12, aplikasi kita mengolah data yang diketik, diambil dari internet, atau disimpan di perangkat. Hari ini aplikasi mulai memakai bagian FISIK HP: kamera, galeri, dan lokasi. Bekal: Future/async/Stream (P3), StatefulWidget, initState, dispose (P5), MVVM dan provider (P9), kontrak, Hasil, Kegagalan, data palsu, Perintah (P12). Tidak punya HP Android? Tetap bisa mengikuti: Contoh 01, 04, 05, dan 07 berjalan di DartPad; sisanya di Chrome dengan flutter run -d chrome.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akhir hari ini: aplikasi "Presensi Praktikum" yang mengambil foto selfie dan lokasi, meminta izin dengan sopan, tetap bisa dipakai saat izin ditolak, dan bisa dikembangkan serta diuji di laptop tanpa GPS dan kamera (18 pemeriksaan sebelum runApp).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A: mengapa aplikasi harus minta izin, siapa yang memutuskan, dan apa yang perlu disiapkan di proyek. Bagian B dan C: mengambil foto dan lokasi, lalu mengolah koordinat menjadi jarak, arah, dan keputusan "di dalam area". Bagian D: meminta izin tanpa membuat pengguna kesal, dan mengikuti lokasi tanpa menguras baterai. Bagian E: bagaimana fitur perangkat masuk ke arsitektur Pertemuan 12 sehingga bisa diuji tanpa HP, lalu privasi dan kesalahan umum.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image_picker dan geolocator tidak tersedia di DartPad, jadi Contoh 02, 03, 06, dan 08 dijalankan di proyek Flutter (flutter run -d chrome --web-port=8080). Contoh 05 dan 07 sengaja dibuat tanpa kedua paket itu (memakai simulasi dan data palsu), sehingga alurnya bisa dicoba langsung di DartPad.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Banyak aplikasi sehari-hari memakai bagian fisik HP. Polanya selalu sama: periksa izin, ambil data, tangani kegagalan.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Tanyakan kepada mahasiswa: aplikasi apa di HP mereka yang memakai lokasi atau kamera, dan kapan aplikasi itu meminta izin?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 penerjemah di konferensi internasional. Kita cukup berbicara satu bahasa (Dart); penerjemah meneruskannya ke bahasa setiap negara. image_picker dibuat tim Flutter; geolocator dibuat Baseflow. Versi di slide adalah versi terbaru per 16 Oktober 2026; flutter pub add selalu memasang versi terbaru yang cocok.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 mengatur lokasi di Chrome dan emulator dibahas di Bagian 11. HP Android tetap memberi pengalaman paling lengkap: dialog izin asli, GPS asli, dan kamera asli.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Foto di galeri dan lokasi adalah data pribadi. Dari riwayat lokasi seseorang, orang lain bisa menebak alamat rumahnya dan jam berangkatnya.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hal penting. (1) Catatan izin disimpan oleh SISTEM OPERASI, bukan oleh aplikasi; aplikasi tidak bisa mengubahnya sendiri. (2) Memeriksa izin tidak pernah memunculkan dialog; meminta izin memunculkan dialog, tetapi hanya jika masih boleh diminta. (3) Pengguna bisa mencabut izin kapan saja lewat Pengaturan, jadi aplikasi harus memeriksa SETIAP KALI akan memakai fiturnya.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iOS, alasan pemakaian di Info.plist ikut tampil di dialog izin. Di web, dialog ditampilkan browser, dan izinnya diatur lewat ikon di sebelah kiri alamat situs.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01 meniru enum ini dengan nama Indonesia: ditolak, ditolakPermanen, saatDipakai, selalu, tidakDiketahui. Uji pemahaman: checkPermission() mendapat denied. Apakah pasti pengguna pernah menolak? Tidak, bisa juga belum pernah diminta.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Uji pemahaman: mengapa aplikasi tidak boleh hanya memeriksa izin sekali saat pertama dibuka? Karena izin bisa dicabut lewat Pengaturan, berakhir karena "Hanya kali ini", atau dicabut otomatis jika aplikasi lama tidak dibuka.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slide, parameter fungsi ditulis per baris agar muat; di berkas aslinya dalam satu baris. Tanyakan: jika izin sudah saatDipakai tetapi sakelar Lokasi mati, apa yang terjadi saat mengambil posisi? Gagal. Karena itu layanan diperiksa lebih dulu.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Jalankan Contoh 01 di DartPad bersama mahasiswa. Baris [6] menunjukkan bahwa izin dan layanan adalah dua hal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persiapan: paketnya dipasang, lalu pengaturan platform ditulis agar sistem operasi tahu aplikasi kita memakai lokasi atau kamera.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Kesalahan paling sering di lab: plugin baru dipasang, lalu hanya menekan r (hot reload). Kode asli Android/iOS belum ikut di-build, sehingga muncul MissingPluginException(No implementation found for method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Berkas: android/app/src/main/AndroidManifest.xml. Di slide, setiap &lt;uses-permission&gt; dipecah dua baris agar muat. Dialog Android menampilkan pilihan "Tepat" dan "Perkiraan" jika kedua baris ada. Izin CAMERA hanya untuk tampilan kamera buatan sendiri (paket camera). ACCESS_BACKGROUND_LOCATION hanya untuk aplikasi yang benar-benar harus melacak lokasi saat tidak dibuka, dan diperiksa ketat oleh Google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Galat dari geolocator itu adalah PermissionDefinitionsNotFoundException. Aplikasi iOS hanya bisa di-build di komputer Mac, tetapi baris-baris ini sebaiknya tetap ditulis sejak awal agar proyek siap untuk iOS. Galat PermissionDefinitionsNotFoundException juga muncul di Android jika izin lokasi lupa ditulis di AndroidManifest.xml.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menulis kalimat alasan untuk fitur proyek akhirnya sendiri, lalu saling menilai dengan pedoman di bawah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ini menjelaskan banyak perilaku yang akan terlihat di lab: tombol Pengaturan diganti petunjuk ikon situs, dan foto ditampilkan dengan Image.memory, bukan Image.file.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memotret tabel ini: hampir semua masalah "fitur tidak jalan" di lab berasal dari langkah persiapan yang terlewat.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image_picker tidak membuat tampilan kamera sendiri. Ia meminjam pemilih foto dan aplikasi kamera bawaan sistem, lalu mengembalikan hasilnya. Seperti meminta teman memotretkan.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slide, empat baris komentar di dalam pickImage dilewati (lihat modul Bagian 4.2). Di Android 13+, galeri dibuka lewat Photo Picker: pengguna hanya menyerahkan foto yang dipilihnya, sehingga aplikasi tidak perlu izin galeri. Di iOS, requestFullMetadata: false juga menghindari permintaan izin galeri tambahan.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Kesalahan klasik: setState(() =&gt; _jalur = berkas!.path). Saat pengguna menutup pemilih, berkas bernilai null dan aplikasi galat (soal C1 Latihan). Batal adalah salah satu HASIL yang harus diputuskan dengan sengaja.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 disusun di SATU fungsi, sehingga mudah diperiksa dan diubah. Di Bagian 9, gagasan ini diperluas menjadi tanggapanUntuk(Kegagalan) yang juga menentukan tombol perbaikan.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web, XFile.path berisi alamat sementara blob:... Kode yang memakai File(berkas.path) menghasilkan galat Unsupported operation di Chrome (soal C1 Latihan). cacheWidth mencegah memori terbuang: foto besar tidak perlu diuraikan dengan ukuran aslinya hanya untuk ditampilkan di lingkaran kecil.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Saat aplikasi kamera terbuka, aplikasi kita berpindah ke latar belakang. Jika memori HP menipis, Android boleh mematikannya. Ketika pengguna selesai memotret, aplikasi dibuka ulang dari awal, dan foto seolah hilang. image_picker menyimpannya, dan foto itu diminta sekali lewat retrieveLostData(). Dua baris komentar pemisah ditambahkan di slide. image_picker juga punya pickVideo dan pickMedia.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Kartu di gambar kanan menampilkan nama berkas, ukuran gambar 1080 x 1440 piksel, dan ukuran berkas 48 KB image/jpeg. Tombol Hapus foto mengosongkan kembali lingkarannya.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titik di permukaan bumi bisa ditulis dengan dua angka: lintang dan bujur. GPS juga selalu memberi tahu seberapa yakin ia dengan posisinya.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Koordinat di modul hanyalah contoh; ganti dengan koordinat kampus 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Angka di atas hanya gambaran; hasil nyata bergantung pada HP, cuaca, dan bangunan. Uji pemahaman: akurasi 45 m lebih baik atau lebih buruk daripada 30 m? Lebih buruk: angka yang lebih kecil berarti lebih yakin.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3 ada di slide berikutnya. KeadaanLokasi adalah sealed class, persis seperti Hasil di Pertemuan 12; di build, switch atas keadaan ini menentukan apa yang tampil.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 lain: PermissionRequestInProgressException (requestPermission dipanggil lagi sebelum dialog dijawab) dan PermissionDefinitionsNotFoundException (izin lupa ditulis di manifest/Info.plist). Keduanya menandakan kesalahan kode kita, jadi sengaja tidak ditangkap. LocationAccuracy lain: lowest/low (hemat, ratusan meter sampai kilometer), medium, reduced (iOS 14+, dikaburkan). getLastKnownPosition() cepat tetapi bisa sudah lama atau null: tidak cocok untuk presensi.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AppLifecycleListener sudah dikenal di Pertemuan 1 Bagian 6. Jangan lupa dispose(), seperti TextEditingController di Pertemuan 5. Komentar di dalam kode dilewati di slide (lihat modul Bagian 5.6). Dialog izin TIDAK muncul lagi untuk izin yang diblokir, jadi pemeriksaan ulang ini tidak mengganggu pengguna. Di browser, untuk izin yang diblokir, Contoh 03 menampilkan petunjuk "Klik ikon di sebelah kiri alamat situs" sebagai ganti tombol (memeriksa kIsWeb).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Jalankan: flutter create di_mana_saya, flutter pub add geolocator, tambahkan izin lokasi di AndroidManifest.xml (dan Info.plist), salin Contoh 03, lalu jalankan. Coba ketiga jawaban dialog izin. Untuk mengulang dari awal, cabut izinnya (Bagian 11.4). Jarak dihitung dengan Geolocator.distanceBetween, arah dengan Geolocator.bearingBetween; jika posisi.isMocked, kartu menambahkan peringatan lokasi palsu.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mendapat koordinat: seberapa jauh dari kampus, ke arah mana, dan apakah sudah berada di dalam area presensi? Contoh 04 menjawabnya dengan Dart murni di DartPad.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Keluaran bagian 1 Contoh 04. Inilah alasan jarak dua koordinat tidak bisa dihitung dengan Pythagoras langsung pada angka derajatnya (soal A10 dan B2 Latihan).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aplikasi biasa, cukup panggil Geolocator.distanceBetween. Contoh 04 dan studi kasus menulis rumusnya sendiri agar domain tidak mengimpor paket perangkat, sehingga aturan bisa diuji di mana saja, termasuk DartPad. Untuk rute jalan, dibutuhkan layanan peta.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slide, daftar nama arah dirapatkan empat per baris; di berkas aslinya satu per baris. Uji pemahaman: namaArah(22.5)? Tepat di batas, masuk ke sektor berikutnya: timur laut (soal 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Keluaran bagian 3: di depan pintu (25 m, ± 8 m) boleh presensi; di kantin (176 m) di luar area; di dalam lab dengan akurasi 120 m kurang akurat; pemalsu GPS terdeteksi; hampir 100 m boleh; sedikit lewat 100 m (101 m) di luar area. Deteksi isMocked tidak sempurna, jadi untuk keperluan resmi server ikut memeriksa (waktu, Wi-Fi kampus, foto). Uji pemahaman: 30 m dengan akurasi ± 80 m? kurangAkurat, karena akurasi diperiksa sebelum jarak.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Dialog izin hanya punya satu kesempatan yang baik. Jika pengguna kaget atau tidak mengerti gunanya, ia akan menolak; setelah dua kali, dialognya tidak muncul lagi.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Tanyakan: aplikasi apa di HP mereka yang berperilaku seperti Aplikasi A? Ini juga pertanyaan Refleksi 1 di Jobsheet.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05 "Ruang Belajar" berjalan di DartPad; dialog izin dan halaman Pengaturan adalah simulasi yang meniru Android, sehingga alurnya bisa dipelajari tanpa HP. Kartu memakai pola switch dengan syarat tambahan (case StatusIzin.ditolak when !pernahMinta &amp;&amp; !nantiSaja), sehingga status ditolak bisa punya tampilan berbeda sebelum dan sesudah izin pernah diminta. Pedoman Apple: layar pra-izin tanpa tombol batal; pengguna tetap bisa menolak di dialog sistem. Pedoman Android membolehkan pilihan untuk tidak melanjutkan.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Pesannya tidak menyalahkan pengguna, karena menolak izin adalah hak pengguna. Kode urutan: final bool urutJarak = status == StatusIzin.saatDipakai; lalu daftar.sort menurut jarak atau menurut nama.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Urutan percobaan di kelas: (1) Gunakan lokasi saya → dialog; (2) Jangan izinkan → urut abjad + Coba lagi; (3) Coba lagi → Jangan izinkan sekali lagi → diblokir; (4) Buka Pengaturan → izinkan → kembali → terurut menurut jarak.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Daftar ini juga dipakai sebagai rubrik "izin yang sopan" di tugas mandiri dan proyek 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getCurrentPosition seperti memotret: satu posisi. Aplikasi peta, olahraga, dan pesan-antar butuh posisi baru setiap kali perangkat berpindah, seperti merekam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 sudah dikenal di Pertemuan 3. Langganan (StreamSubscription) dibuat dengan listen dan dihentikan dengan cancel.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06 "Jalan Pagi" mencatat jarak jalan kaki. Pewaktu (Timer) menghitung lama berjalan. Penjaga _menyiapkan mencegah dua ketukan cepat pada Mulai mencatat membuat dua langganan sekaligus (gagasan yang sama dengan Perintah di Pertemuan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Kesalahan umum "baterai cepat habis setelah memakai aplikasi" hampir selalu berasal dari langganan getPositionStream yang tidak dibatalkan.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Jarak antartitik dihitung dengan Geolocator.distanceBetween, lalu dijumlahkan ke _totalMeter.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mirip penanganan exception di getCurrentPosition (Bagian 5.4), tetapi galatnya datang lewat Stream, sehingga ditangkap di onError, bukan dengan try/catch.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Mencatat di latar belakang membutuhkan izin lokasi "selalu", layanan latar depan (foreground service) di Android, pengaturan khusus iOS, dan pemeriksaan ketat toko aplikasi. Hanya lakukan jika fitur utama aplikasi benar-benar membutuhkannya.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mata arsitektur, GPS dan kamera hanyalah SUMBER DATA baru, sama seperti server dan SQLite.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Baris atas: masalah. Baris bawah: jalan keluarnya, persis seperti kode kusut di Pertemuan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Kelas Posisi lengkap ada di modul Bagian 9.2: constructor const dengan lima field final; palsu bernilai true jika berasal dari aplikasi pemalsu GPS. Di studi kasus (Contoh 08), PengaturanPerangkat juga punya getter bisaDibuka (false di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Kegagalan dari Pertemuan 12 adalah sealed class, jadi setiap switch atasnya dipaksa lengkap oleh analyzer. Mengapa camera_access_denied menjadi IzinDiblokir, bukan IzinDitolak? Karena image_picker sendiri yang menampilkan dialog izin saat kamera dibuka; jika kode ini sampai kepada kita, pengguna sudah menolak, dan jalan yang tersisa adalah Pengaturan.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Potongan dari Contoh 08 (modul Bagian 9.4). Bagian yang dilewati: constructor const, pemeriksaan izin (checkPermission, requestPermission, switch seperti Contoh 03), LocationSettings (akurasi high, batas waktu 20 detik), dan isi Posisi (lintang, bujur, akurasiMeter, waktu: p.timestamp.toLocal(), palsu: p.isMocked).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Potongan method ambil() dari kelas PemilihFotoImagePicker di Contoh 08 (anotasi @override di atasnya tidak ditampilkan). Kelasnya menerima ImagePicker lewat constructor (pemilih ?? ImagePicker()), dan kameraTersedia memakai supportsImageSource(ImageSource.camera).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Posisi pada skenario berhasil dipersingkat di slide: lintang -0.470180, bujur 117.158050, akurasi 8 m, waktu 16 Oktober 2026 pukul 09.30. enum SkenarioLokasi menyimpan label untuk chip: berhasil('Berhasil'), layananMati('Layanan mati'), dan seterusnya. Mata-mata (spy) sudah dikenal di Pertemuan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Potongan; tiga cabang lainnya ada di modul Bagian 9.6: IzinDitolak → 'Izin ... belum diberikan, jadi fitur ini belum bisa dipakai.' + cobaLagi; PerangkatTidakMendukung → 'Perangkat ini tidak memiliki ....' + tidakAda; WaktuHabis → 'Lokasi belum didapat. Coba di dekat jendela atau di luar ruangan.' + cobaLagi. Soal C3 Latihan: IzinDiblokir yang dipetakan ke cobaLagi membuat pengguna terjebak.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ViewModel memakai Perintah dari Pertemuan 12. Karena PengaturanPerangkat adalah kontrak, versi palsunya cukup mencatat bahwa Pengaturan "dibuka", sehingga pemeriksaan "Buka Pengaturan -&gt; pengaturan aplikasi" bisa berjalan tanpa 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pemeriksaan: "Izin diblokir -&gt; tombol bukaPengaturan", "Foto dibatalkan -&gt; tanpa pesan", "Tanpa kamera -&gt; kameraTersedia false", "Dua ketukan cepat -&gt; layanan dipanggil sekali". Di Contoh 07, MultiProvider menitipkan kelas PALSU karena chip skenario perlu mengubah skenarionya. Di aplikasi sungguhan, yang dititipkan selalu KONTRAKNYA.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08 menggabungkan semua materi hari ini dengan arsitektur Pertemuan 12. Setiap bagian diberi judul BERKAS: ... yang menunjukkan letaknya jika dipecah menjadi banyak berkas.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1–3 tidak membutuhkan lokasi; aturan 4–6 membutuhkan lokasi saat ini. Urutan ini penting di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 ini dibaca dari luar ke dalam, seperti di Pertemuan 12; panah menunjuk arah ketergantungan yang diizinkan. Diagram lengkap (mermaid) ada di modul Bagian 10.2: HalamanPresensi dan PresensiViewModel (Perintah ambilFoto, kirim) di lapisan UI; CatatPresensi, aturan, dan kontrak di domain; LayananLokasiGeolocator, PemilihFotoImagePicker, versi palsu, dan RepositoriPresensiMemori di lapisan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Potongan dari modul Bagian 10.3 (baris kosong dihapus agar muat). CatatPresensi layak menjadi use case karena menggabungkan repository, layanan lokasi, jam, dan aturan bisnis dalam urutan tertentu (kriteria Pertemuan 12 Bagian 7.1). Yang disimpan: kodeSesi, nim, waktu, jarakMeter (dari posisi ke titik sesi), akurasiMeter, dan nama foto. Uji mandiri: mengapa "sudah presensi" dan "foto ada" diperiksa sebelum lokasi? Agar GPS, waktu tunggu sampai 20 detik, dan dialog izin tidak dipakai percuma.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Jam palsu penting: tanpa itu, sesi praktikum hanya bisa dicoba pada jam tertentu. Dengan jam tetap 13.10, sesi Basis Data (13.00–15.30) selalu dibuka kapan pun Anda belajar. Selama lingkungan pengembangan, setiap halaman diberi pita DATA PALSU.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Ubah barisnya menjadi Lingkungan.pengembangan, lalu jalankan; aplikasi berjalan di Chrome tanpa mengubah apa pun selain baris tersebut. Menu skenario: Di laboratorium, Di luar area, Akurasi buruk, Pemalsu GPS, Izin diblokir, Layanan lokasi mati.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browser, PengaturanPerangkat melaporkan bisaDibuka false, sehingga tombol Pengaturan diganti petunjuk ikon situs. Tab Riwayat (gambar hasil_contoh_08g di modul) menampilkan "Pukul 13.10, 8 m dari Lab Basis Data, ± 9 m" dengan nomor PR-001.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Dipanggil oleh AppLifecycleListener(onResume: ...), seperti Contoh 03. Di browser, kontrak PengaturanPerangkat melaporkan bisaDibuka bernilai false, sehingga tombol Pengaturan diganti petunjuk "Klik ikon di sebelah kiri alamat situs".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 produksi: siapkan proyek seperti Bagian 3 (flutter pub add geolocator image_picker provider, izin di AndroidManifest.xml, kalimat alasan di Info.plist), lalu ubah jam dan koordinat sesi di RepositoriPresensiMemori agar sesuai, atau di Chrome palsukan lokasinya ke koordinat laboratorium lewat DevTools → Sensors dengan Accuracy kecil (misalnya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Menguji fitur lokasi tidak harus berjalan keliling kampus. Dan karena lokasi serta foto wajah adalah data paling pribadi, privasi bukan tambahan, melainkan bagian dari rancangan.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 Cmd+Option+I lalu Cmd+Shift+P. Di sebagian versi Chrome, pilihan Other… tertulis Custom location. Emulator Android: Extended controls (⋯) → Location → Single points → Set location; tab Routes memutar rute. Lokasi bawaan emulator biasanya di Amerika Serikat, jadi jarak ke kampus bisa belasan ribu kilometer sebelum diatur.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 tercepat tetap data palsu (Bagian 9): semua keadaan bisa dicoba dalam hitungan detik, berulang-ulang, tanpa mengubah pengaturan. HP Android dengan kabel USB memberi pengalaman paling lengkap; uji juga di dalam dan di luar gedung untuk melihat perbedaan akurasinya.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Uji mandiri modul: riwayat presensi menyimpan jarakMeter dan akurasiMeter, tetapi tidak menyimpan lintang dan bujurnya. Keuntungannya: lebih menjaga privasi (minimisasi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hanyalah pengantar. Kebijakan tombol lokasi Google Play diumumkan Google; periksa halaman kebijakan resmi yang terbaru saat menyiapkan rilis di Pertemuan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image_picker dan geolocator sudah cukup untuk sebagian besar kebutuhan, termasuk proyek 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menampilkan satu titik di peta, pakai /maps/search/ dengan parameter query=LINTANG,BUJUR (fungsi bukaDiPeta di modul Bagian 13). launchUrl dipanggil langsung lalu nilai kembaliannya diperiksa; canLaunchUrl di Android 11+ membutuhkan deklarasi &lt;queries&gt;.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lengkap di modul Bagian 14, termasuk aplikasi iOS yang tertutup sendiri saat kamera dibuka (kalimat alasan belum ditulis), dialog izin yang tidak muncul di browser (situs pernah diblokir, atau alamat tidak aman), jarak yang melompat-lompat (titik berakurasi buruk ikut dihitung), aplikasi lambat setelah memilih foto (maxWidth, imageQuality, cacheWidth), dan jarak belasan ribu kilometer di emulator.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Panduan Proyek Akhir menempatkan fitur perangkat sebagai nilai tambah. Lima kartu pertama adalah daftar periksa di modul Bagian 15; kartu Privasi mengingatkan Refleksi 3 di Jobsheet: fitur perangkat apa yang benar-benar dibutuhkan proyek, data pribadi apa yang ikut terkumpul, dan bagaimana menjelaskannya kepada pengguna.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memetakan proyek akhirnya ke tabel ini: fitur perangkat apa yang benar-benar dibutuhkan, dan bagaimana mengujinya tanpa 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menjelaskan dengan kata-kata sendiri: apa bedanya izin ditolak dan diblokir, dan mengapa layanan lokasi diperiksa sebelum izin.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Praktikum 1: aturan laporan fasilitas dalam Dart murni (jarak, arah, akurasi, lokasi palsu). Praktikum 2: foto bukti dengan image_picker. Praktikum 3: lokasi kerusakan dengan geolocator. Praktikum 4: kontrak perangkat, data palsu, dan pemeriksaan (DartPad). Praktikum 5: perangkat asli di balik kontrak, dua titik masuk. Tugas mandiri Parkir Motorku: menandai tempat parkir (lokasi, catatan, foto), mencarinya lagi (jarak, arah, Google Maps), disimpan sebagai JSON dengan SharedPreferencesAsync. Pertemuan 14: jalankanUji() dipindahkan ke folder test/ dan dijalankan dengan flutter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8412480" y="2926080"/>
            <a:ext cx="5669280" cy="5669280"/>
          </a:xfrm>
          <a:prstGeom prst="ellipse">
            <a:avLst/>
          </a:prstGeom>
          <a:solidFill>
            <a:schemeClr val="accent1">
              <a:alpha val="30000"/>
            </a:schemeClr>
          </a:solidFill>
          <a:ln/>
        </p:spPr>
        <p:txBody>
          <a:bodyPr wrap="square" rtlCol="0" anchor="ctr"/>
          <a:lstStyle/>
          <a:p>
            <a:pPr indent="0" marL="0">
              <a:buNone/>
            </a:pPr>
            <a:endParaRPr lang="en-US" dirty="0"/>
          </a:p>
        </p:txBody>
      </p:sp>
      <p:sp>
        <p:nvSpPr>
          <p:cNvPr id="3" name="Text 1"/>
          <p:cNvSpPr/>
          <p:nvPr/>
        </p:nvSpPr>
        <p:spPr>
          <a:xfrm>
            <a:off x="9692640" y="-1280160"/>
            <a:ext cx="3291840" cy="3291840"/>
          </a:xfrm>
          <a:prstGeom prst="ellipse">
            <a:avLst/>
          </a:prstGeom>
          <a:solidFill>
            <a:schemeClr val="accent2">
              <a:alpha val="20000"/>
            </a:schemeClr>
          </a:solidFill>
          <a:ln/>
        </p:spPr>
        <p:txBody>
          <a:bodyPr wrap="square" rtlCol="0" anchor="ctr"/>
          <a:lstStyle/>
          <a:p>
            <a:pPr indent="0" marL="0">
              <a:buNone/>
            </a:pPr>
            <a:endParaRPr lang="en-US" dirty="0"/>
          </a:p>
        </p:txBody>
      </p:sp>
      <p:sp>
        <p:nvSpPr>
          <p:cNvPr id="4" name="Text 2"/>
          <p:cNvSpPr/>
          <p:nvPr/>
        </p:nvSpPr>
        <p:spPr>
          <a:xfrm>
            <a:off x="731520" y="1005840"/>
            <a:ext cx="82296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PEMROGRAMAN PIRANTI BERGERAK  ·  INFORMATIKA S1</a:t>
            </a:r>
            <a:endParaRPr lang="en-US" sz="1400" dirty="0"/>
          </a:p>
        </p:txBody>
      </p:sp>
      <p:sp>
        <p:nvSpPr>
          <p:cNvPr id="5" name="Text 3"/>
          <p:cNvSpPr/>
          <p:nvPr/>
        </p:nvSpPr>
        <p:spPr>
          <a:xfrm>
            <a:off x="731520" y="5989320"/>
            <a:ext cx="7315200" cy="320040"/>
          </a:xfrm>
          <a:prstGeom prst="rect">
            <a:avLst/>
          </a:prstGeom>
          <a:noFill/>
          <a:ln/>
        </p:spPr>
        <p:txBody>
          <a:bodyPr wrap="square" lIns="0" tIns="0" rIns="0" bIns="0" rtlCol="0" anchor="ctr"/>
          <a:lstStyle/>
          <a:p>
            <a:pPr indent="0" marL="0">
              <a:buNone/>
            </a:pPr>
            <a:r>
              <a:rPr lang="en-US" sz="1300" dirty="0">
                <a:solidFill>
                  <a:schemeClr val="bg2"/>
                </a:solidFill>
              </a:rPr>
              <a:t>github.com/antonprafanto/mobile2026</a:t>
            </a:r>
            <a:endParaRPr lang="en-US" sz="1300" dirty="0"/>
          </a:p>
        </p:txBody>
      </p:sp>
      <p:sp>
        <p:nvSpPr>
          <p:cNvPr id="6" name="Text 4"/>
          <p:cNvSpPr/>
          <p:nvPr>
            <p:ph idx="104" type="title" hasCustomPrompt="1"/>
          </p:nvPr>
        </p:nvSpPr>
        <p:spPr>
          <a:xfrm>
            <a:off x="731520" y="1554480"/>
            <a:ext cx="87782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7" name="Text 4"/>
          <p:cNvSpPr/>
          <p:nvPr>
            <p:ph idx="105" type="body" hasCustomPrompt="1"/>
          </p:nvPr>
        </p:nvSpPr>
        <p:spPr>
          <a:xfrm>
            <a:off x="731520" y="3840480"/>
            <a:ext cx="841248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1645920" y="4023360"/>
            <a:ext cx="4572000" cy="4572000"/>
          </a:xfrm>
          <a:prstGeom prst="ellipse">
            <a:avLst/>
          </a:prstGeom>
          <a:solidFill>
            <a:schemeClr val="accent1">
              <a:alpha val="25000"/>
            </a:schemeClr>
          </a:solidFill>
          <a:ln/>
        </p:spPr>
        <p:txBody>
          <a:bodyPr wrap="square" rtlCol="0" anchor="ctr"/>
          <a:lstStyle/>
          <a:p>
            <a:pPr indent="0" marL="0">
              <a:buNone/>
            </a:pPr>
            <a:endParaRPr lang="en-US" dirty="0"/>
          </a:p>
        </p:txBody>
      </p:sp>
      <p:sp>
        <p:nvSpPr>
          <p:cNvPr id="3" name="Text 1"/>
          <p:cNvSpPr/>
          <p:nvPr>
            <p:ph idx="101" type="body" hasCustomPrompt="1"/>
          </p:nvPr>
        </p:nvSpPr>
        <p:spPr>
          <a:xfrm>
            <a:off x="3840480" y="2103120"/>
            <a:ext cx="768096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1"/>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bg2"/>
                </a:solidFill>
              </a:rPr>
              <a:t>Pemrograman Piranti Bergerak  ·  Pertemuan 13  ·  Fitur Perangkat &amp; Izin Akses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6B7A90"/>
                </a:solidFill>
              </a:rPr>
              <a:t>Pemrograman Piranti Bergerak  ·  Pertemuan 13  ·  Fitur Perangkat &amp; Izin Akses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image" Target="../media/image-2-1.png"/><Relationship Id="rId8" Type="http://schemas.openxmlformats.org/officeDocument/2006/relationships/image" Target="../media/image-2-1.png"/><Relationship Id="rId9" Type="http://schemas.openxmlformats.org/officeDocument/2006/relationships/slideLayout" Target="../slideLayouts/slideLayout4.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1_status_izin_dart_murni.dart" TargetMode="External"/><Relationship Id="rId3" Type="http://schemas.openxmlformats.org/officeDocument/2006/relationships/hyperlink" Target="https://github.com/antonprafanto/mobile2026/blob/main/pertemuan_13_fitur_perangkat_dan_izin/kode/contoh_01_status_izin_dart_murni.dart" TargetMode="External"/><Relationship Id="rId2" Type="http://schemas.openxmlformats.org/officeDocument/2006/relationships/image" Target="../media/image-14-1.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1_status_izin_dart_murni.dart" TargetMode="External"/><Relationship Id="rId3" Type="http://schemas.openxmlformats.org/officeDocument/2006/relationships/hyperlink" Target="https://github.com/antonprafanto/mobile2026/blob/main/pertemuan_13_fitur_perangkat_dan_izin/kode/contoh_01_status_izin_dart_murni.dart" TargetMode="External"/><Relationship Id="rId2" Type="http://schemas.openxmlformats.org/officeDocument/2006/relationships/image" Target="../media/image-15-1.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2_galeri_dan_kamera.dart" TargetMode="External"/><Relationship Id="rId3" Type="http://schemas.openxmlformats.org/officeDocument/2006/relationships/hyperlink" Target="https://github.com/antonprafanto/mobile2026/blob/main/pertemuan_13_fitur_perangkat_dan_izin/kode/contoh_02_galeri_dan_kamera.dart" TargetMode="External"/><Relationship Id="rId2" Type="http://schemas.openxmlformats.org/officeDocument/2006/relationships/image" Target="../media/image-24-1.png"/><Relationship Id="rId4" Type="http://schemas.openxmlformats.org/officeDocument/2006/relationships/slideLayout" Target="../slideLayouts/slideLayout4.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4.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2_galeri_dan_kamera.dart" TargetMode="External"/><Relationship Id="rId3" Type="http://schemas.openxmlformats.org/officeDocument/2006/relationships/hyperlink" Target="https://github.com/antonprafanto/mobile2026/blob/main/pertemuan_13_fitur_perangkat_dan_izin/kode/contoh_02_galeri_dan_kamera.dart" TargetMode="External"/><Relationship Id="rId2" Type="http://schemas.openxmlformats.org/officeDocument/2006/relationships/image" Target="../media/image-26-1.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2_galeri_dan_kamera.dart" TargetMode="External"/><Relationship Id="rId3" Type="http://schemas.openxmlformats.org/officeDocument/2006/relationships/hyperlink" Target="https://github.com/antonprafanto/mobile2026/blob/main/pertemuan_13_fitur_perangkat_dan_izin/kode/contoh_02_galeri_dan_kamera.dart" TargetMode="External"/><Relationship Id="rId2" Type="http://schemas.openxmlformats.org/officeDocument/2006/relationships/image" Target="../media/image-27-1.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2_galeri_dan_kamera.dart" TargetMode="External"/><Relationship Id="rId3" Type="http://schemas.openxmlformats.org/officeDocument/2006/relationships/hyperlink" Target="https://github.com/antonprafanto/mobile2026/blob/main/pertemuan_13_fitur_perangkat_dan_izin/kode/contoh_02_galeri_dan_kamera.dart" TargetMode="External"/><Relationship Id="rId2" Type="http://schemas.openxmlformats.org/officeDocument/2006/relationships/image" Target="../media/image-28-1.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antonprafanto/mobile2026/blob/main/pertemuan_13_fitur_perangkat_dan_izin/kode/contoh_02_galeri_dan_kamera.dart" TargetMode="External"/><Relationship Id="rId5" Type="http://schemas.openxmlformats.org/officeDocument/2006/relationships/hyperlink" Target="https://github.com/antonprafanto/mobile2026/blob/main/pertemuan_13_fitur_perangkat_dan_izin/kode/contoh_02_galeri_dan_kamera.dart" TargetMode="External"/><Relationship Id="rId1" Type="http://schemas.openxmlformats.org/officeDocument/2006/relationships/image" Target="../media/image-29-1.jpg"/><Relationship Id="rId2" Type="http://schemas.openxmlformats.org/officeDocument/2006/relationships/image" Target="../media/image-29-2.jpg"/><Relationship Id="rId4" Type="http://schemas.openxmlformats.org/officeDocument/2006/relationships/image" Target="../media/image-29-3.png"/><Relationship Id="rId6" Type="http://schemas.openxmlformats.org/officeDocument/2006/relationships/slideLayout" Target="../slideLayouts/slideLayout4.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1.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4.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3_lokasi_sekarang.dart" TargetMode="External"/><Relationship Id="rId3" Type="http://schemas.openxmlformats.org/officeDocument/2006/relationships/hyperlink" Target="https://github.com/antonprafanto/mobile2026/blob/main/pertemuan_13_fitur_perangkat_dan_izin/kode/contoh_03_lokasi_sekarang.dart" TargetMode="External"/><Relationship Id="rId2" Type="http://schemas.openxmlformats.org/officeDocument/2006/relationships/image" Target="../media/image-33-1.png"/><Relationship Id="rId4" Type="http://schemas.openxmlformats.org/officeDocument/2006/relationships/slideLayout" Target="../slideLayouts/slideLayout4.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3_lokasi_sekarang.dart" TargetMode="External"/><Relationship Id="rId3" Type="http://schemas.openxmlformats.org/officeDocument/2006/relationships/hyperlink" Target="https://github.com/antonprafanto/mobile2026/blob/main/pertemuan_13_fitur_perangkat_dan_izin/kode/contoh_03_lokasi_sekarang.dart" TargetMode="External"/><Relationship Id="rId2" Type="http://schemas.openxmlformats.org/officeDocument/2006/relationships/image" Target="../media/image-34-1.png"/><Relationship Id="rId4" Type="http://schemas.openxmlformats.org/officeDocument/2006/relationships/slideLayout" Target="../slideLayouts/slideLayout4.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3_lokasi_sekarang.dart" TargetMode="External"/><Relationship Id="rId3" Type="http://schemas.openxmlformats.org/officeDocument/2006/relationships/hyperlink" Target="https://github.com/antonprafanto/mobile2026/blob/main/pertemuan_13_fitur_perangkat_dan_izin/kode/contoh_03_lokasi_sekarang.dart" TargetMode="External"/><Relationship Id="rId2" Type="http://schemas.openxmlformats.org/officeDocument/2006/relationships/image" Target="../media/image-35-1.png"/><Relationship Id="rId4" Type="http://schemas.openxmlformats.org/officeDocument/2006/relationships/slideLayout" Target="../slideLayouts/slideLayout4.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4" Type="http://schemas.openxmlformats.org/officeDocument/2006/relationships/hyperlink" Target="https://github.com/antonprafanto/mobile2026/blob/main/pertemuan_13_fitur_perangkat_dan_izin/kode/contoh_03_lokasi_sekarang.dart" TargetMode="External"/><Relationship Id="rId6" Type="http://schemas.openxmlformats.org/officeDocument/2006/relationships/hyperlink" Target="https://github.com/antonprafanto/mobile2026/blob/main/pertemuan_13_fitur_perangkat_dan_izin/kode/contoh_03_lokasi_sekarang.dart" TargetMode="External"/><Relationship Id="rId1" Type="http://schemas.openxmlformats.org/officeDocument/2006/relationships/image" Target="../media/image-36-1.jpg"/><Relationship Id="rId2" Type="http://schemas.openxmlformats.org/officeDocument/2006/relationships/image" Target="../media/image-36-2.jpg"/><Relationship Id="rId3" Type="http://schemas.openxmlformats.org/officeDocument/2006/relationships/image" Target="../media/image-36-3.jpg"/><Relationship Id="rId5" Type="http://schemas.openxmlformats.org/officeDocument/2006/relationships/image" Target="../media/image-36-4.png"/><Relationship Id="rId7" Type="http://schemas.openxmlformats.org/officeDocument/2006/relationships/slideLayout" Target="../slideLayouts/slideLayout4.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4.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4_jarak_dan_zona_dart_murni.dart" TargetMode="External"/><Relationship Id="rId3" Type="http://schemas.openxmlformats.org/officeDocument/2006/relationships/hyperlink" Target="https://github.com/antonprafanto/mobile2026/blob/main/pertemuan_13_fitur_perangkat_dan_izin/kode/contoh_04_jarak_dan_zona_dart_murni.dart" TargetMode="External"/><Relationship Id="rId2" Type="http://schemas.openxmlformats.org/officeDocument/2006/relationships/image" Target="../media/image-39-1.png"/><Relationship Id="rId4" Type="http://schemas.openxmlformats.org/officeDocument/2006/relationships/slideLayout" Target="../slideLayouts/slideLayout4.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4_jarak_dan_zona_dart_murni.dart" TargetMode="External"/><Relationship Id="rId3" Type="http://schemas.openxmlformats.org/officeDocument/2006/relationships/hyperlink" Target="https://github.com/antonprafanto/mobile2026/blob/main/pertemuan_13_fitur_perangkat_dan_izin/kode/contoh_04_jarak_dan_zona_dart_murni.dart" TargetMode="External"/><Relationship Id="rId2" Type="http://schemas.openxmlformats.org/officeDocument/2006/relationships/image" Target="../media/image-40-1.png"/><Relationship Id="rId4" Type="http://schemas.openxmlformats.org/officeDocument/2006/relationships/slideLayout" Target="../slideLayouts/slideLayout4.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4_jarak_dan_zona_dart_murni.dart" TargetMode="External"/><Relationship Id="rId3" Type="http://schemas.openxmlformats.org/officeDocument/2006/relationships/hyperlink" Target="https://github.com/antonprafanto/mobile2026/blob/main/pertemuan_13_fitur_perangkat_dan_izin/kode/contoh_04_jarak_dan_zona_dart_murni.dart" TargetMode="External"/><Relationship Id="rId2" Type="http://schemas.openxmlformats.org/officeDocument/2006/relationships/image" Target="../media/image-41-1.png"/><Relationship Id="rId4" Type="http://schemas.openxmlformats.org/officeDocument/2006/relationships/slideLayout" Target="../slideLayouts/slideLayout4.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4.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3" Type="http://schemas.openxmlformats.org/officeDocument/2006/relationships/hyperlink" Target="https://github.com/antonprafanto/mobile2026/blob/main/pertemuan_13_fitur_perangkat_dan_izin/kode/contoh_05_alur_izin_yang_sopan.dart" TargetMode="External"/><Relationship Id="rId5" Type="http://schemas.openxmlformats.org/officeDocument/2006/relationships/hyperlink" Target="https://github.com/antonprafanto/mobile2026/blob/main/pertemuan_13_fitur_perangkat_dan_izin/kode/contoh_05_alur_izin_yang_sopan.dart" TargetMode="External"/><Relationship Id="rId1" Type="http://schemas.openxmlformats.org/officeDocument/2006/relationships/image" Target="../media/image-44-1.jpg"/><Relationship Id="rId2" Type="http://schemas.openxmlformats.org/officeDocument/2006/relationships/image" Target="../media/image-44-2.jpg"/><Relationship Id="rId4" Type="http://schemas.openxmlformats.org/officeDocument/2006/relationships/image" Target="../media/image-44-3.png"/><Relationship Id="rId6" Type="http://schemas.openxmlformats.org/officeDocument/2006/relationships/slideLayout" Target="../slideLayouts/slideLayout4.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3" Type="http://schemas.openxmlformats.org/officeDocument/2006/relationships/hyperlink" Target="https://github.com/antonprafanto/mobile2026/blob/main/pertemuan_13_fitur_perangkat_dan_izin/kode/contoh_05_alur_izin_yang_sopan.dart" TargetMode="External"/><Relationship Id="rId5" Type="http://schemas.openxmlformats.org/officeDocument/2006/relationships/hyperlink" Target="https://github.com/antonprafanto/mobile2026/blob/main/pertemuan_13_fitur_perangkat_dan_izin/kode/contoh_05_alur_izin_yang_sopan.dart" TargetMode="External"/><Relationship Id="rId1" Type="http://schemas.openxmlformats.org/officeDocument/2006/relationships/image" Target="../media/image-45-1.jpg"/><Relationship Id="rId2" Type="http://schemas.openxmlformats.org/officeDocument/2006/relationships/image" Target="../media/image-45-2.jpg"/><Relationship Id="rId4" Type="http://schemas.openxmlformats.org/officeDocument/2006/relationships/image" Target="../media/image-45-3.png"/><Relationship Id="rId6" Type="http://schemas.openxmlformats.org/officeDocument/2006/relationships/slideLayout" Target="../slideLayouts/slideLayout4.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3" Type="http://schemas.openxmlformats.org/officeDocument/2006/relationships/hyperlink" Target="https://github.com/antonprafanto/mobile2026/blob/main/pertemuan_13_fitur_perangkat_dan_izin/kode/contoh_05_alur_izin_yang_sopan.dart" TargetMode="External"/><Relationship Id="rId5" Type="http://schemas.openxmlformats.org/officeDocument/2006/relationships/hyperlink" Target="https://github.com/antonprafanto/mobile2026/blob/main/pertemuan_13_fitur_perangkat_dan_izin/kode/contoh_05_alur_izin_yang_sopan.dart" TargetMode="External"/><Relationship Id="rId1" Type="http://schemas.openxmlformats.org/officeDocument/2006/relationships/image" Target="../media/image-46-1.jpg"/><Relationship Id="rId2" Type="http://schemas.openxmlformats.org/officeDocument/2006/relationships/image" Target="../media/image-46-2.jpg"/><Relationship Id="rId4" Type="http://schemas.openxmlformats.org/officeDocument/2006/relationships/image" Target="../media/image-46-3.png"/><Relationship Id="rId6" Type="http://schemas.openxmlformats.org/officeDocument/2006/relationships/slideLayout" Target="../slideLayouts/slideLayout4.xml"/><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4.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6_lokasi_terus_menerus.dart" TargetMode="External"/><Relationship Id="rId3" Type="http://schemas.openxmlformats.org/officeDocument/2006/relationships/hyperlink" Target="https://github.com/antonprafanto/mobile2026/blob/main/pertemuan_13_fitur_perangkat_dan_izin/kode/contoh_06_lokasi_terus_menerus.dart" TargetMode="External"/><Relationship Id="rId2" Type="http://schemas.openxmlformats.org/officeDocument/2006/relationships/image" Target="../media/image-50-1.png"/><Relationship Id="rId4" Type="http://schemas.openxmlformats.org/officeDocument/2006/relationships/slideLayout" Target="../slideLayouts/slideLayout4.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6_lokasi_terus_menerus.dart" TargetMode="External"/><Relationship Id="rId3" Type="http://schemas.openxmlformats.org/officeDocument/2006/relationships/hyperlink" Target="https://github.com/antonprafanto/mobile2026/blob/main/pertemuan_13_fitur_perangkat_dan_izin/kode/contoh_06_lokasi_terus_menerus.dart" TargetMode="External"/><Relationship Id="rId2" Type="http://schemas.openxmlformats.org/officeDocument/2006/relationships/image" Target="../media/image-51-1.png"/><Relationship Id="rId4" Type="http://schemas.openxmlformats.org/officeDocument/2006/relationships/slideLayout" Target="../slideLayouts/slideLayout4.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6_lokasi_terus_menerus.dart" TargetMode="External"/><Relationship Id="rId3" Type="http://schemas.openxmlformats.org/officeDocument/2006/relationships/hyperlink" Target="https://github.com/antonprafanto/mobile2026/blob/main/pertemuan_13_fitur_perangkat_dan_izin/kode/contoh_06_lokasi_terus_menerus.dart" TargetMode="External"/><Relationship Id="rId2" Type="http://schemas.openxmlformats.org/officeDocument/2006/relationships/image" Target="../media/image-52-1.png"/><Relationship Id="rId4" Type="http://schemas.openxmlformats.org/officeDocument/2006/relationships/slideLayout" Target="../slideLayouts/slideLayout4.xm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6_lokasi_terus_menerus.dart" TargetMode="External"/><Relationship Id="rId3" Type="http://schemas.openxmlformats.org/officeDocument/2006/relationships/hyperlink" Target="https://github.com/antonprafanto/mobile2026/blob/main/pertemuan_13_fitur_perangkat_dan_izin/kode/contoh_06_lokasi_terus_menerus.dart" TargetMode="External"/><Relationship Id="rId2" Type="http://schemas.openxmlformats.org/officeDocument/2006/relationships/image" Target="../media/image-53-1.png"/><Relationship Id="rId4" Type="http://schemas.openxmlformats.org/officeDocument/2006/relationships/slideLayout" Target="../slideLayouts/slideLayout4.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2" Type="http://schemas.openxmlformats.org/officeDocument/2006/relationships/hyperlink" Target="https://github.com/antonprafanto/mobile2026/blob/main/pertemuan_13_fitur_perangkat_dan_izin/kode/contoh_06_lokasi_terus_menerus.dart" TargetMode="External"/><Relationship Id="rId4" Type="http://schemas.openxmlformats.org/officeDocument/2006/relationships/hyperlink" Target="https://github.com/antonprafanto/mobile2026/blob/main/pertemuan_13_fitur_perangkat_dan_izin/kode/contoh_06_lokasi_terus_menerus.dart" TargetMode="External"/><Relationship Id="rId1" Type="http://schemas.openxmlformats.org/officeDocument/2006/relationships/image" Target="../media/image-54-1.jpg"/><Relationship Id="rId3" Type="http://schemas.openxmlformats.org/officeDocument/2006/relationships/image" Target="../media/image-54-2.png"/><Relationship Id="rId5" Type="http://schemas.openxmlformats.org/officeDocument/2006/relationships/slideLayout" Target="../slideLayouts/slideLayout4.xml"/><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slideLayout" Target="../slideLayouts/slideLayout4.xml"/><Relationship Id="rId8"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7_kontrak_perangkat_dan_data_palsu.dart" TargetMode="External"/><Relationship Id="rId3" Type="http://schemas.openxmlformats.org/officeDocument/2006/relationships/hyperlink" Target="https://github.com/antonprafanto/mobile2026/blob/main/pertemuan_13_fitur_perangkat_dan_izin/kode/contoh_07_kontrak_perangkat_dan_data_palsu.dart" TargetMode="External"/><Relationship Id="rId2" Type="http://schemas.openxmlformats.org/officeDocument/2006/relationships/image" Target="../media/image-57-1.png"/><Relationship Id="rId4" Type="http://schemas.openxmlformats.org/officeDocument/2006/relationships/slideLayout" Target="../slideLayouts/slideLayout4.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4.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8_studi_kasus_presensi.dart" TargetMode="External"/><Relationship Id="rId3" Type="http://schemas.openxmlformats.org/officeDocument/2006/relationships/hyperlink" Target="https://github.com/antonprafanto/mobile2026/blob/main/pertemuan_13_fitur_perangkat_dan_izin/kode/contoh_08_studi_kasus_presensi.dart" TargetMode="External"/><Relationship Id="rId2" Type="http://schemas.openxmlformats.org/officeDocument/2006/relationships/image" Target="../media/image-59-1.png"/><Relationship Id="rId4" Type="http://schemas.openxmlformats.org/officeDocument/2006/relationships/slideLayout" Target="../slideLayouts/slideLayout4.xm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8_studi_kasus_presensi.dart" TargetMode="External"/><Relationship Id="rId3" Type="http://schemas.openxmlformats.org/officeDocument/2006/relationships/hyperlink" Target="https://github.com/antonprafanto/mobile2026/blob/main/pertemuan_13_fitur_perangkat_dan_izin/kode/contoh_08_studi_kasus_presensi.dart" TargetMode="External"/><Relationship Id="rId2" Type="http://schemas.openxmlformats.org/officeDocument/2006/relationships/image" Target="../media/image-60-1.png"/><Relationship Id="rId4" Type="http://schemas.openxmlformats.org/officeDocument/2006/relationships/slideLayout" Target="../slideLayouts/slideLayout4.xml"/><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7_kontrak_perangkat_dan_data_palsu.dart" TargetMode="External"/><Relationship Id="rId3" Type="http://schemas.openxmlformats.org/officeDocument/2006/relationships/hyperlink" Target="https://github.com/antonprafanto/mobile2026/blob/main/pertemuan_13_fitur_perangkat_dan_izin/kode/contoh_07_kontrak_perangkat_dan_data_palsu.dart" TargetMode="External"/><Relationship Id="rId2" Type="http://schemas.openxmlformats.org/officeDocument/2006/relationships/image" Target="../media/image-61-1.png"/><Relationship Id="rId4" Type="http://schemas.openxmlformats.org/officeDocument/2006/relationships/slideLayout" Target="../slideLayouts/slideLayout4.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7_kontrak_perangkat_dan_data_palsu.dart" TargetMode="External"/><Relationship Id="rId3" Type="http://schemas.openxmlformats.org/officeDocument/2006/relationships/hyperlink" Target="https://github.com/antonprafanto/mobile2026/blob/main/pertemuan_13_fitur_perangkat_dan_izin/kode/contoh_07_kontrak_perangkat_dan_data_palsu.dart" TargetMode="External"/><Relationship Id="rId2" Type="http://schemas.openxmlformats.org/officeDocument/2006/relationships/image" Target="../media/image-62-1.png"/><Relationship Id="rId4" Type="http://schemas.openxmlformats.org/officeDocument/2006/relationships/slideLayout" Target="../slideLayouts/slideLayout4.xml"/><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3" Type="http://schemas.openxmlformats.org/officeDocument/2006/relationships/hyperlink" Target="https://github.com/antonprafanto/mobile2026/blob/main/pertemuan_13_fitur_perangkat_dan_izin/kode/contoh_07_kontrak_perangkat_dan_data_palsu.dart" TargetMode="External"/><Relationship Id="rId5" Type="http://schemas.openxmlformats.org/officeDocument/2006/relationships/hyperlink" Target="https://github.com/antonprafanto/mobile2026/blob/main/pertemuan_13_fitur_perangkat_dan_izin/kode/contoh_07_kontrak_perangkat_dan_data_palsu.dart" TargetMode="External"/><Relationship Id="rId1" Type="http://schemas.openxmlformats.org/officeDocument/2006/relationships/image" Target="../media/image-64-1.jpg"/><Relationship Id="rId2" Type="http://schemas.openxmlformats.org/officeDocument/2006/relationships/image" Target="../media/image-64-2.jpg"/><Relationship Id="rId4" Type="http://schemas.openxmlformats.org/officeDocument/2006/relationships/image" Target="../media/image-64-3.png"/><Relationship Id="rId6" Type="http://schemas.openxmlformats.org/officeDocument/2006/relationships/slideLayout" Target="../slideLayouts/slideLayout4.xml"/><Relationship Id="rId7"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image" Target="../media/image-67-4.png"/><Relationship Id="rId5" Type="http://schemas.openxmlformats.org/officeDocument/2006/relationships/slideLayout" Target="../slideLayouts/slideLayout4.xml"/><Relationship Id="rId6"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8_studi_kasus_presensi.dart" TargetMode="External"/><Relationship Id="rId3" Type="http://schemas.openxmlformats.org/officeDocument/2006/relationships/hyperlink" Target="https://github.com/antonprafanto/mobile2026/blob/main/pertemuan_13_fitur_perangkat_dan_izin/kode/contoh_08_studi_kasus_presensi.dart" TargetMode="External"/><Relationship Id="rId2" Type="http://schemas.openxmlformats.org/officeDocument/2006/relationships/image" Target="../media/image-68-1.png"/><Relationship Id="rId4" Type="http://schemas.openxmlformats.org/officeDocument/2006/relationships/slideLayout" Target="../slideLayouts/slideLayout4.xm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4" Type="http://schemas.openxmlformats.org/officeDocument/2006/relationships/hyperlink" Target="https://github.com/antonprafanto/mobile2026/blob/main/pertemuan_13_fitur_perangkat_dan_izin/kode/contoh_08_studi_kasus_presensi.dart" TargetMode="External"/><Relationship Id="rId6" Type="http://schemas.openxmlformats.org/officeDocument/2006/relationships/hyperlink" Target="https://github.com/antonprafanto/mobile2026/blob/main/pertemuan_13_fitur_perangkat_dan_izin/kode/contoh_08_studi_kasus_presensi.dart" TargetMode="External"/><Relationship Id="rId1" Type="http://schemas.openxmlformats.org/officeDocument/2006/relationships/image" Target="../media/image-70-1.jpg"/><Relationship Id="rId2" Type="http://schemas.openxmlformats.org/officeDocument/2006/relationships/image" Target="../media/image-70-2.jpg"/><Relationship Id="rId3" Type="http://schemas.openxmlformats.org/officeDocument/2006/relationships/image" Target="../media/image-70-3.jpg"/><Relationship Id="rId5" Type="http://schemas.openxmlformats.org/officeDocument/2006/relationships/image" Target="../media/image-70-4.png"/><Relationship Id="rId7" Type="http://schemas.openxmlformats.org/officeDocument/2006/relationships/slideLayout" Target="../slideLayouts/slideLayout4.xml"/><Relationship Id="rId8"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4" Type="http://schemas.openxmlformats.org/officeDocument/2006/relationships/hyperlink" Target="https://github.com/antonprafanto/mobile2026/blob/main/pertemuan_13_fitur_perangkat_dan_izin/kode/contoh_08_studi_kasus_presensi.dart" TargetMode="External"/><Relationship Id="rId6" Type="http://schemas.openxmlformats.org/officeDocument/2006/relationships/hyperlink" Target="https://github.com/antonprafanto/mobile2026/blob/main/pertemuan_13_fitur_perangkat_dan_izin/kode/contoh_08_studi_kasus_presensi.dart" TargetMode="External"/><Relationship Id="rId1" Type="http://schemas.openxmlformats.org/officeDocument/2006/relationships/image" Target="../media/image-71-1.jpg"/><Relationship Id="rId2" Type="http://schemas.openxmlformats.org/officeDocument/2006/relationships/image" Target="../media/image-71-2.jpg"/><Relationship Id="rId3" Type="http://schemas.openxmlformats.org/officeDocument/2006/relationships/image" Target="../media/image-71-3.jpg"/><Relationship Id="rId5" Type="http://schemas.openxmlformats.org/officeDocument/2006/relationships/image" Target="../media/image-71-4.png"/><Relationship Id="rId7" Type="http://schemas.openxmlformats.org/officeDocument/2006/relationships/slideLayout" Target="../slideLayouts/slideLayout4.xml"/><Relationship Id="rId8"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8_studi_kasus_presensi.dart" TargetMode="External"/><Relationship Id="rId3" Type="http://schemas.openxmlformats.org/officeDocument/2006/relationships/hyperlink" Target="https://github.com/antonprafanto/mobile2026/blob/main/pertemuan_13_fitur_perangkat_dan_izin/kode/contoh_08_studi_kasus_presensi.dart" TargetMode="External"/><Relationship Id="rId2" Type="http://schemas.openxmlformats.org/officeDocument/2006/relationships/image" Target="../media/image-72-1.png"/><Relationship Id="rId4" Type="http://schemas.openxmlformats.org/officeDocument/2006/relationships/slideLayout" Target="../slideLayouts/slideLayout4.xm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kode/contoh_08_studi_kasus_presensi.dart" TargetMode="External"/><Relationship Id="rId3" Type="http://schemas.openxmlformats.org/officeDocument/2006/relationships/hyperlink" Target="https://github.com/antonprafanto/mobile2026/blob/main/pertemuan_13_fitur_perangkat_dan_izin/kode/contoh_08_studi_kasus_presensi.dart" TargetMode="External"/><Relationship Id="rId2" Type="http://schemas.openxmlformats.org/officeDocument/2006/relationships/image" Target="../media/image-73-1.png"/><Relationship Id="rId4" Type="http://schemas.openxmlformats.org/officeDocument/2006/relationships/slideLayout" Target="../slideLayouts/slideLayout4.xml"/><Relationship Id="rId5"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4.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4.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image" Target="../media/image-78-4.png"/><Relationship Id="rId5" Type="http://schemas.openxmlformats.org/officeDocument/2006/relationships/image" Target="../media/image-78-5.png"/><Relationship Id="rId6" Type="http://schemas.openxmlformats.org/officeDocument/2006/relationships/image" Target="../media/image-78-6.png"/><Relationship Id="rId7" Type="http://schemas.openxmlformats.org/officeDocument/2006/relationships/slideLayout" Target="../slideLayouts/slideLayout4.xml"/><Relationship Id="rId8"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image" Target="../media/image-82-3.png"/><Relationship Id="rId4" Type="http://schemas.openxmlformats.org/officeDocument/2006/relationships/image" Target="../media/image-82-4.png"/><Relationship Id="rId5" Type="http://schemas.openxmlformats.org/officeDocument/2006/relationships/image" Target="../media/image-82-5.png"/><Relationship Id="rId6" Type="http://schemas.openxmlformats.org/officeDocument/2006/relationships/image" Target="../media/image-82-6.png"/><Relationship Id="rId7" Type="http://schemas.openxmlformats.org/officeDocument/2006/relationships/slideLayout" Target="../slideLayouts/slideLayout4.xml"/><Relationship Id="rId8"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hyperlink" Target="https://github.com/antonprafanto/mobile2026/blob/main/pertemuan_13_fitur_perangkat_dan_izin/JOBSHEET.md" TargetMode="External"/><Relationship Id="rId3" Type="http://schemas.openxmlformats.org/officeDocument/2006/relationships/hyperlink" Target="https://github.com/antonprafanto/mobile2026/blob/main/pertemuan_13_fitur_perangkat_dan_izin/JOBSHEET.md" TargetMode="External"/><Relationship Id="rId4" Type="http://schemas.openxmlformats.org/officeDocument/2006/relationships/hyperlink" Target="https://github.com/antonprafanto/mobile2026/blob/main/pertemuan_13_fitur_perangkat_dan_izin/LATIHAN.md" TargetMode="External"/><Relationship Id="rId6" Type="http://schemas.openxmlformats.org/officeDocument/2006/relationships/hyperlink" Target="https://github.com/antonprafanto/mobile2026/blob/main/pertemuan_13_fitur_perangkat_dan_izin/LATIHAN.md" TargetMode="External"/><Relationship Id="rId7" Type="http://schemas.openxmlformats.org/officeDocument/2006/relationships/hyperlink" Target="https://github.com/antonprafanto/mobile2026/blob/main/panduan/05_proyek_akhir.md" TargetMode="External"/><Relationship Id="rId9" Type="http://schemas.openxmlformats.org/officeDocument/2006/relationships/hyperlink" Target="https://github.com/antonprafanto/mobile2026/blob/main/panduan/05_proyek_akhir.md" TargetMode="External"/><Relationship Id="rId2" Type="http://schemas.openxmlformats.org/officeDocument/2006/relationships/image" Target="../media/image-85-1.png"/><Relationship Id="rId5" Type="http://schemas.openxmlformats.org/officeDocument/2006/relationships/image" Target="../media/image-85-2.png"/><Relationship Id="rId8" Type="http://schemas.openxmlformats.org/officeDocument/2006/relationships/image" Target="../media/image-85-3.png"/><Relationship Id="rId10" Type="http://schemas.openxmlformats.org/officeDocument/2006/relationships/image" Target="../media/image-85-3.png"/><Relationship Id="rId11" Type="http://schemas.openxmlformats.org/officeDocument/2006/relationships/slideLayout" Target="../slideLayouts/slideLayout2.xml"/><Relationship Id="rId12" Type="http://schemas.openxmlformats.org/officeDocument/2006/relationships/notesSlide" Target="../notesSlides/notesSlide8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Fitur Perangkat &amp; Izin Akses</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Pertemuan 13  ·  kamera dan galeri (image_picker); lokasi (geolocator); izin akses dan statusnya; jarak, arah, dan zona; alur izin yang sopan; lokasi terus-menerus; fitur perangkat di balik kontrak; privasi</a:t>
            </a:r>
            <a:endParaRPr lang="en-US" sz="2000" dirty="0"/>
          </a:p>
        </p:txBody>
      </p:sp>
      <p:sp>
        <p:nvSpPr>
          <p:cNvPr id="5" name="lingkaran hp"/>
          <p:cNvSpPr/>
          <p:nvPr/>
        </p:nvSpPr>
        <p:spPr>
          <a:xfrm>
            <a:off x="9646920" y="1828800"/>
            <a:ext cx="1737360" cy="1737360"/>
          </a:xfrm>
          <a:prstGeom prst="ellipse">
            <a:avLst/>
          </a:prstGeom>
          <a:solidFill>
            <a:schemeClr val="accent1"/>
          </a:solidFill>
          <a:ln/>
        </p:spPr>
      </p:sp>
      <p:pic>
        <p:nvPicPr>
          <p:cNvPr id="6" name="Image 0" descr="hp">    </p:cNvPr>
          <p:cNvPicPr>
            <a:picLocks noChangeAspect="1"/>
          </p:cNvPicPr>
          <p:nvPr/>
        </p:nvPicPr>
        <p:blipFill>
          <a:blip r:embed="rId1"/>
          <a:stretch>
            <a:fillRect/>
          </a:stretch>
        </p:blipFill>
        <p:spPr>
          <a:xfrm>
            <a:off x="10029139" y="2211019"/>
            <a:ext cx="972922" cy="9729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Tujuan Pembelajaran</a:t>
            </a:r>
            <a:endParaRPr lang="en-US" sz="3200" dirty="0"/>
          </a:p>
        </p:txBody>
      </p:sp>
      <p:sp>
        <p:nvSpPr>
          <p:cNvPr id="4" name="Text 1"/>
          <p:cNvSpPr txBox="1"/>
          <p:nvPr/>
        </p:nvSpPr>
        <p:spPr>
          <a:xfrm>
            <a:off x="548640" y="1325880"/>
            <a:ext cx="11094415" cy="411480"/>
          </a:xfrm>
          <a:prstGeom prst="rect">
            <a:avLst/>
          </a:prstGeom>
          <a:noFill/>
          <a:ln/>
        </p:spPr>
        <p:txBody>
          <a:bodyPr wrap="square" lIns="0" tIns="0" rIns="0" bIns="0" rtlCol="0" anchor="ctr"/>
          <a:lstStyle/>
          <a:p>
            <a:pPr indent="0" marL="0">
              <a:buNone/>
            </a:pPr>
            <a:r>
              <a:rPr lang="en-US" sz="1800" i="1" dirty="0">
                <a:solidFill>
                  <a:srgbClr val="4A5870"/>
                </a:solidFill>
              </a:rPr>
              <a:t>Setelah pertemuan ini, Anda mampu:</a:t>
            </a:r>
            <a:endParaRPr lang="en-US" sz="1800" dirty="0"/>
          </a:p>
        </p:txBody>
      </p:sp>
      <p:sp>
        <p:nvSpPr>
          <p:cNvPr id="5" name="lingkaran centang"/>
          <p:cNvSpPr/>
          <p:nvPr/>
        </p:nvSpPr>
        <p:spPr>
          <a:xfrm>
            <a:off x="548640" y="2011680"/>
            <a:ext cx="594360" cy="594360"/>
          </a:xfrm>
          <a:prstGeom prst="ellipse">
            <a:avLst/>
          </a:prstGeom>
          <a:solidFill>
            <a:schemeClr val="accent4"/>
          </a:solidFill>
          <a:ln/>
        </p:spPr>
      </p:sp>
      <p:pic>
        <p:nvPicPr>
          <p:cNvPr id="6" name="Image 0" descr="centang">    </p:cNvPr>
          <p:cNvPicPr>
            <a:picLocks noChangeAspect="1"/>
          </p:cNvPicPr>
          <p:nvPr/>
        </p:nvPicPr>
        <p:blipFill>
          <a:blip r:embed="rId1"/>
          <a:stretch>
            <a:fillRect/>
          </a:stretch>
        </p:blipFill>
        <p:spPr>
          <a:xfrm>
            <a:off x="679399" y="2142439"/>
            <a:ext cx="332842" cy="332842"/>
          </a:xfrm>
          <a:prstGeom prst="rect">
            <a:avLst/>
          </a:prstGeom>
        </p:spPr>
      </p:pic>
      <p:sp>
        <p:nvSpPr>
          <p:cNvPr id="7" name="Text 3"/>
          <p:cNvSpPr txBox="1"/>
          <p:nvPr/>
        </p:nvSpPr>
        <p:spPr>
          <a:xfrm>
            <a:off x="1325880"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Menjelaskan izin akses: siapa yang menyimpan keputusannya dan arti setiap status izin</a:t>
            </a:r>
            <a:endParaRPr lang="en-US" sz="1900" dirty="0"/>
          </a:p>
        </p:txBody>
      </p:sp>
      <p:sp>
        <p:nvSpPr>
          <p:cNvPr id="8" name="lingkaran centang"/>
          <p:cNvSpPr/>
          <p:nvPr/>
        </p:nvSpPr>
        <p:spPr>
          <a:xfrm>
            <a:off x="548640" y="3086100"/>
            <a:ext cx="594360" cy="594360"/>
          </a:xfrm>
          <a:prstGeom prst="ellipse">
            <a:avLst/>
          </a:prstGeom>
          <a:solidFill>
            <a:schemeClr val="accent4"/>
          </a:solidFill>
          <a:ln/>
        </p:spPr>
      </p:sp>
      <p:pic>
        <p:nvPicPr>
          <p:cNvPr id="9" name="Image 1" descr="centang">    </p:cNvPr>
          <p:cNvPicPr>
            <a:picLocks noChangeAspect="1"/>
          </p:cNvPicPr>
          <p:nvPr/>
        </p:nvPicPr>
        <p:blipFill>
          <a:blip r:embed="rId2"/>
          <a:stretch>
            <a:fillRect/>
          </a:stretch>
        </p:blipFill>
        <p:spPr>
          <a:xfrm>
            <a:off x="679399" y="3216859"/>
            <a:ext cx="332842" cy="332842"/>
          </a:xfrm>
          <a:prstGeom prst="rect">
            <a:avLst/>
          </a:prstGeom>
        </p:spPr>
      </p:pic>
      <p:sp>
        <p:nvSpPr>
          <p:cNvPr id="10" name="Text 5"/>
          <p:cNvSpPr txBox="1"/>
          <p:nvPr/>
        </p:nvSpPr>
        <p:spPr>
          <a:xfrm>
            <a:off x="1325880" y="299466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Menyiapkan proyek: paket, AndroidManifest.xml, Info.plist, dan perbedaan perilaku di web</a:t>
            </a:r>
            <a:endParaRPr lang="en-US" sz="1900" dirty="0"/>
          </a:p>
        </p:txBody>
      </p:sp>
      <p:sp>
        <p:nvSpPr>
          <p:cNvPr id="11" name="lingkaran centang"/>
          <p:cNvSpPr/>
          <p:nvPr/>
        </p:nvSpPr>
        <p:spPr>
          <a:xfrm>
            <a:off x="548640" y="4160520"/>
            <a:ext cx="594360" cy="594360"/>
          </a:xfrm>
          <a:prstGeom prst="ellipse">
            <a:avLst/>
          </a:prstGeom>
          <a:solidFill>
            <a:schemeClr val="accent4"/>
          </a:solidFill>
          <a:ln/>
        </p:spPr>
      </p:sp>
      <p:pic>
        <p:nvPicPr>
          <p:cNvPr id="12" name="Image 2" descr="centang">    </p:cNvPr>
          <p:cNvPicPr>
            <a:picLocks noChangeAspect="1"/>
          </p:cNvPicPr>
          <p:nvPr/>
        </p:nvPicPr>
        <p:blipFill>
          <a:blip r:embed="rId3"/>
          <a:stretch>
            <a:fillRect/>
          </a:stretch>
        </p:blipFill>
        <p:spPr>
          <a:xfrm>
            <a:off x="679399" y="4291279"/>
            <a:ext cx="332842" cy="332842"/>
          </a:xfrm>
          <a:prstGeom prst="rect">
            <a:avLst/>
          </a:prstGeom>
        </p:spPr>
      </p:pic>
      <p:sp>
        <p:nvSpPr>
          <p:cNvPr id="13" name="Text 7"/>
          <p:cNvSpPr txBox="1"/>
          <p:nvPr/>
        </p:nvSpPr>
        <p:spPr>
          <a:xfrm>
            <a:off x="1325880" y="40690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Mengambil foto dari galeri dan kamera, termasuk batal, galat, dan perangkat tanpa kamera</a:t>
            </a:r>
            <a:endParaRPr lang="en-US" sz="1900" dirty="0"/>
          </a:p>
        </p:txBody>
      </p:sp>
      <p:sp>
        <p:nvSpPr>
          <p:cNvPr id="14" name="lingkaran centang"/>
          <p:cNvSpPr/>
          <p:nvPr/>
        </p:nvSpPr>
        <p:spPr>
          <a:xfrm>
            <a:off x="548640" y="5234940"/>
            <a:ext cx="594360" cy="594360"/>
          </a:xfrm>
          <a:prstGeom prst="ellipse">
            <a:avLst/>
          </a:prstGeom>
          <a:solidFill>
            <a:schemeClr val="accent4"/>
          </a:solidFill>
          <a:ln/>
        </p:spPr>
      </p:sp>
      <p:pic>
        <p:nvPicPr>
          <p:cNvPr id="15" name="Image 3" descr="centang">    </p:cNvPr>
          <p:cNvPicPr>
            <a:picLocks noChangeAspect="1"/>
          </p:cNvPicPr>
          <p:nvPr/>
        </p:nvPicPr>
        <p:blipFill>
          <a:blip r:embed="rId4"/>
          <a:stretch>
            <a:fillRect/>
          </a:stretch>
        </p:blipFill>
        <p:spPr>
          <a:xfrm>
            <a:off x="679399" y="5365699"/>
            <a:ext cx="332842" cy="332842"/>
          </a:xfrm>
          <a:prstGeom prst="rect">
            <a:avLst/>
          </a:prstGeom>
        </p:spPr>
      </p:pic>
      <p:sp>
        <p:nvSpPr>
          <p:cNvPr id="16" name="Text 9"/>
          <p:cNvSpPr txBox="1"/>
          <p:nvPr/>
        </p:nvSpPr>
        <p:spPr>
          <a:xfrm>
            <a:off x="1325880" y="514350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Mengambil lokasi lewat tiga pemeriksaan berurutan: layanan, izin, lalu posisi</a:t>
            </a:r>
            <a:endParaRPr lang="en-US" sz="1900" dirty="0"/>
          </a:p>
        </p:txBody>
      </p:sp>
      <p:sp>
        <p:nvSpPr>
          <p:cNvPr id="17" name="lingkaran centang"/>
          <p:cNvSpPr/>
          <p:nvPr/>
        </p:nvSpPr>
        <p:spPr>
          <a:xfrm>
            <a:off x="6278728" y="2011680"/>
            <a:ext cx="594360" cy="594360"/>
          </a:xfrm>
          <a:prstGeom prst="ellipse">
            <a:avLst/>
          </a:prstGeom>
          <a:solidFill>
            <a:schemeClr val="accent4"/>
          </a:solidFill>
          <a:ln/>
        </p:spPr>
      </p:sp>
      <p:pic>
        <p:nvPicPr>
          <p:cNvPr id="18" name="Image 4" descr="centang">    </p:cNvPr>
          <p:cNvPicPr>
            <a:picLocks noChangeAspect="1"/>
          </p:cNvPicPr>
          <p:nvPr/>
        </p:nvPicPr>
        <p:blipFill>
          <a:blip r:embed="rId5"/>
          <a:stretch>
            <a:fillRect/>
          </a:stretch>
        </p:blipFill>
        <p:spPr>
          <a:xfrm>
            <a:off x="6409487" y="2142439"/>
            <a:ext cx="332842" cy="332842"/>
          </a:xfrm>
          <a:prstGeom prst="rect">
            <a:avLst/>
          </a:prstGeom>
        </p:spPr>
      </p:pic>
      <p:sp>
        <p:nvSpPr>
          <p:cNvPr id="19" name="Text 11"/>
          <p:cNvSpPr txBox="1"/>
          <p:nvPr/>
        </p:nvSpPr>
        <p:spPr>
          <a:xfrm>
            <a:off x="7055968"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Menghitung jarak dan arah, lalu menulis aturan zona yang memeriksa akurasi dan lokasi palsu</a:t>
            </a:r>
            <a:endParaRPr lang="en-US" sz="1900" dirty="0"/>
          </a:p>
        </p:txBody>
      </p:sp>
      <p:sp>
        <p:nvSpPr>
          <p:cNvPr id="20" name="lingkaran centang"/>
          <p:cNvSpPr/>
          <p:nvPr/>
        </p:nvSpPr>
        <p:spPr>
          <a:xfrm>
            <a:off x="6278728" y="3086100"/>
            <a:ext cx="594360" cy="594360"/>
          </a:xfrm>
          <a:prstGeom prst="ellipse">
            <a:avLst/>
          </a:prstGeom>
          <a:solidFill>
            <a:schemeClr val="accent4"/>
          </a:solidFill>
          <a:ln/>
        </p:spPr>
      </p:sp>
      <p:pic>
        <p:nvPicPr>
          <p:cNvPr id="21" name="Image 5" descr="centang">    </p:cNvPr>
          <p:cNvPicPr>
            <a:picLocks noChangeAspect="1"/>
          </p:cNvPicPr>
          <p:nvPr/>
        </p:nvPicPr>
        <p:blipFill>
          <a:blip r:embed="rId6"/>
          <a:stretch>
            <a:fillRect/>
          </a:stretch>
        </p:blipFill>
        <p:spPr>
          <a:xfrm>
            <a:off x="6409487" y="3216859"/>
            <a:ext cx="332842" cy="332842"/>
          </a:xfrm>
          <a:prstGeom prst="rect">
            <a:avLst/>
          </a:prstGeom>
        </p:spPr>
      </p:pic>
      <p:sp>
        <p:nvSpPr>
          <p:cNvPr id="22" name="Text 13"/>
          <p:cNvSpPr txBox="1"/>
          <p:nvPr/>
        </p:nvSpPr>
        <p:spPr>
          <a:xfrm>
            <a:off x="7055968" y="299466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Merancang alur izin yang sopan, dan mengikuti lokasi dengan Stream tanpa menguras baterai</a:t>
            </a:r>
            <a:endParaRPr lang="en-US" sz="1900" dirty="0"/>
          </a:p>
        </p:txBody>
      </p:sp>
      <p:sp>
        <p:nvSpPr>
          <p:cNvPr id="23" name="lingkaran centang"/>
          <p:cNvSpPr/>
          <p:nvPr/>
        </p:nvSpPr>
        <p:spPr>
          <a:xfrm>
            <a:off x="6278728" y="4160520"/>
            <a:ext cx="594360" cy="594360"/>
          </a:xfrm>
          <a:prstGeom prst="ellipse">
            <a:avLst/>
          </a:prstGeom>
          <a:solidFill>
            <a:schemeClr val="accent4"/>
          </a:solidFill>
          <a:ln/>
        </p:spPr>
      </p:sp>
      <p:pic>
        <p:nvPicPr>
          <p:cNvPr id="24" name="Image 6" descr="centang">    </p:cNvPr>
          <p:cNvPicPr>
            <a:picLocks noChangeAspect="1"/>
          </p:cNvPicPr>
          <p:nvPr/>
        </p:nvPicPr>
        <p:blipFill>
          <a:blip r:embed="rId7"/>
          <a:stretch>
            <a:fillRect/>
          </a:stretch>
        </p:blipFill>
        <p:spPr>
          <a:xfrm>
            <a:off x="6409487" y="4291279"/>
            <a:ext cx="332842" cy="332842"/>
          </a:xfrm>
          <a:prstGeom prst="rect">
            <a:avLst/>
          </a:prstGeom>
        </p:spPr>
      </p:pic>
      <p:sp>
        <p:nvSpPr>
          <p:cNvPr id="25" name="Text 15"/>
          <p:cNvSpPr txBox="1"/>
          <p:nvPr/>
        </p:nvSpPr>
        <p:spPr>
          <a:xfrm>
            <a:off x="7055968" y="40690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Membungkus fitur perangkat di balik kontrak, lalu mengujinya dengan data palsu tanpa HP</a:t>
            </a:r>
            <a:endParaRPr lang="en-US" sz="1900" dirty="0"/>
          </a:p>
        </p:txBody>
      </p:sp>
      <p:sp>
        <p:nvSpPr>
          <p:cNvPr id="26" name="lingkaran centang"/>
          <p:cNvSpPr/>
          <p:nvPr/>
        </p:nvSpPr>
        <p:spPr>
          <a:xfrm>
            <a:off x="6278728" y="5234940"/>
            <a:ext cx="594360" cy="594360"/>
          </a:xfrm>
          <a:prstGeom prst="ellipse">
            <a:avLst/>
          </a:prstGeom>
          <a:solidFill>
            <a:schemeClr val="accent4"/>
          </a:solidFill>
          <a:ln/>
        </p:spPr>
      </p:sp>
      <p:pic>
        <p:nvPicPr>
          <p:cNvPr id="27" name="Image 7" descr="centang">    </p:cNvPr>
          <p:cNvPicPr>
            <a:picLocks noChangeAspect="1"/>
          </p:cNvPicPr>
          <p:nvPr/>
        </p:nvPicPr>
        <p:blipFill>
          <a:blip r:embed="rId8"/>
          <a:stretch>
            <a:fillRect/>
          </a:stretch>
        </p:blipFill>
        <p:spPr>
          <a:xfrm>
            <a:off x="6409487" y="5365699"/>
            <a:ext cx="332842" cy="332842"/>
          </a:xfrm>
          <a:prstGeom prst="rect">
            <a:avLst/>
          </a:prstGeom>
        </p:spPr>
      </p:pic>
      <p:sp>
        <p:nvSpPr>
          <p:cNvPr id="28" name="Text 17"/>
          <p:cNvSpPr txBox="1"/>
          <p:nvPr/>
        </p:nvSpPr>
        <p:spPr>
          <a:xfrm>
            <a:off x="7055968" y="514350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Menerapkan prinsip privasi: ambil seperlunya, saat dibutuhkan, dan jelaskan pemakaiannya</a:t>
            </a:r>
            <a:endParaRPr lang="en-US" sz="19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Peta Materi Hari Ini</a:t>
            </a:r>
            <a:endParaRPr lang="en-US" sz="3200" dirty="0"/>
          </a:p>
        </p:txBody>
      </p:sp>
      <p:sp>
        <p:nvSpPr>
          <p:cNvPr id="4" name="langkah 1"/>
          <p:cNvSpPr/>
          <p:nvPr/>
        </p:nvSpPr>
        <p:spPr>
          <a:xfrm>
            <a:off x="548640" y="1828800"/>
            <a:ext cx="1962851" cy="3566160"/>
          </a:xfrm>
          <a:prstGeom prst="roundRect">
            <a:avLst>
              <a:gd name="adj" fmla="val 6988"/>
            </a:avLst>
          </a:prstGeom>
          <a:solidFill>
            <a:schemeClr val="bg2"/>
          </a:solidFill>
          <a:ln/>
        </p:spPr>
      </p:sp>
      <p:sp>
        <p:nvSpPr>
          <p:cNvPr id="5" name="lingkaran gembok"/>
          <p:cNvSpPr/>
          <p:nvPr/>
        </p:nvSpPr>
        <p:spPr>
          <a:xfrm>
            <a:off x="1095726" y="2103120"/>
            <a:ext cx="868680" cy="868680"/>
          </a:xfrm>
          <a:prstGeom prst="ellipse">
            <a:avLst/>
          </a:prstGeom>
          <a:solidFill>
            <a:schemeClr val="accent1"/>
          </a:solidFill>
          <a:ln/>
        </p:spPr>
      </p:sp>
      <p:pic>
        <p:nvPicPr>
          <p:cNvPr id="6" name="Image 0" descr="gembok">    </p:cNvPr>
          <p:cNvPicPr>
            <a:picLocks noChangeAspect="1"/>
          </p:cNvPicPr>
          <p:nvPr/>
        </p:nvPicPr>
        <p:blipFill>
          <a:blip r:embed="rId1"/>
          <a:stretch>
            <a:fillRect/>
          </a:stretch>
        </p:blipFill>
        <p:spPr>
          <a:xfrm>
            <a:off x="1286835"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A. Izin dan persiapan</a:t>
            </a:r>
            <a:endParaRPr lang="en-US" sz="1700" dirty="0"/>
          </a:p>
        </p:txBody>
      </p:sp>
      <p:sp>
        <p:nvSpPr>
          <p:cNvPr id="9" name="Text 5"/>
          <p:cNvSpPr txBox="1"/>
          <p:nvPr/>
        </p:nvSpPr>
        <p:spPr>
          <a:xfrm>
            <a:off x="685800"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Plugin, percakapan izin, status, AndroidManifest, Info.plist (Bagian 1–3)</a:t>
            </a:r>
            <a:endParaRPr lang="en-US" sz="1400" dirty="0"/>
          </a:p>
        </p:txBody>
      </p:sp>
      <p:sp>
        <p:nvSpPr>
          <p:cNvPr id="10" name="Shape 6"/>
          <p:cNvSpPr/>
          <p:nvPr/>
        </p:nvSpPr>
        <p:spPr>
          <a:xfrm>
            <a:off x="2548067" y="2395728"/>
            <a:ext cx="246888" cy="274320"/>
          </a:xfrm>
          <a:prstGeom prst="rightArrow">
            <a:avLst/>
          </a:prstGeom>
          <a:solidFill>
            <a:schemeClr val="accent2"/>
          </a:solidFill>
          <a:ln/>
        </p:spPr>
      </p:sp>
      <p:sp>
        <p:nvSpPr>
          <p:cNvPr id="11" name="langkah 2"/>
          <p:cNvSpPr/>
          <p:nvPr/>
        </p:nvSpPr>
        <p:spPr>
          <a:xfrm>
            <a:off x="2831531" y="1828800"/>
            <a:ext cx="1962851" cy="3566160"/>
          </a:xfrm>
          <a:prstGeom prst="roundRect">
            <a:avLst>
              <a:gd name="adj" fmla="val 6988"/>
            </a:avLst>
          </a:prstGeom>
          <a:solidFill>
            <a:schemeClr val="bg2"/>
          </a:solidFill>
          <a:ln/>
        </p:spPr>
      </p:sp>
      <p:sp>
        <p:nvSpPr>
          <p:cNvPr id="12" name="lingkaran kamera"/>
          <p:cNvSpPr/>
          <p:nvPr/>
        </p:nvSpPr>
        <p:spPr>
          <a:xfrm>
            <a:off x="3378617" y="2103120"/>
            <a:ext cx="868680" cy="868680"/>
          </a:xfrm>
          <a:prstGeom prst="ellipse">
            <a:avLst/>
          </a:prstGeom>
          <a:solidFill>
            <a:schemeClr val="accent1"/>
          </a:solidFill>
          <a:ln/>
        </p:spPr>
      </p:sp>
      <p:pic>
        <p:nvPicPr>
          <p:cNvPr id="13" name="Image 1" descr="kamera">    </p:cNvPr>
          <p:cNvPicPr>
            <a:picLocks noChangeAspect="1"/>
          </p:cNvPicPr>
          <p:nvPr/>
        </p:nvPicPr>
        <p:blipFill>
          <a:blip r:embed="rId2"/>
          <a:stretch>
            <a:fillRect/>
          </a:stretch>
        </p:blipFill>
        <p:spPr>
          <a:xfrm>
            <a:off x="3569726" y="2294230"/>
            <a:ext cx="486461" cy="486461"/>
          </a:xfrm>
          <a:prstGeom prst="rect">
            <a:avLst/>
          </a:prstGeom>
        </p:spPr>
      </p:pic>
      <p:sp>
        <p:nvSpPr>
          <p:cNvPr id="14" name="Text 9"/>
          <p:cNvSpPr txBox="1"/>
          <p:nvPr/>
        </p:nvSpPr>
        <p:spPr>
          <a:xfrm>
            <a:off x="2941259"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2968691"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B. Kamera dan galeri</a:t>
            </a:r>
            <a:endParaRPr lang="en-US" sz="1700" dirty="0"/>
          </a:p>
        </p:txBody>
      </p:sp>
      <p:sp>
        <p:nvSpPr>
          <p:cNvPr id="16" name="Text 11"/>
          <p:cNvSpPr txBox="1"/>
          <p:nvPr/>
        </p:nvSpPr>
        <p:spPr>
          <a:xfrm>
            <a:off x="2968691"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pickImage, tiga kemungkinan hasil, Image.memory (4)</a:t>
            </a:r>
            <a:endParaRPr lang="en-US" sz="1400" dirty="0"/>
          </a:p>
        </p:txBody>
      </p:sp>
      <p:sp>
        <p:nvSpPr>
          <p:cNvPr id="17" name="Shape 12"/>
          <p:cNvSpPr/>
          <p:nvPr/>
        </p:nvSpPr>
        <p:spPr>
          <a:xfrm>
            <a:off x="4830958" y="2395728"/>
            <a:ext cx="246888" cy="274320"/>
          </a:xfrm>
          <a:prstGeom prst="rightArrow">
            <a:avLst/>
          </a:prstGeom>
          <a:solidFill>
            <a:schemeClr val="accent2"/>
          </a:solidFill>
          <a:ln/>
        </p:spPr>
      </p:sp>
      <p:sp>
        <p:nvSpPr>
          <p:cNvPr id="18" name="langkah 3"/>
          <p:cNvSpPr/>
          <p:nvPr/>
        </p:nvSpPr>
        <p:spPr>
          <a:xfrm>
            <a:off x="5114422" y="1828800"/>
            <a:ext cx="1962851" cy="3566160"/>
          </a:xfrm>
          <a:prstGeom prst="roundRect">
            <a:avLst>
              <a:gd name="adj" fmla="val 6988"/>
            </a:avLst>
          </a:prstGeom>
          <a:solidFill>
            <a:schemeClr val="bg2"/>
          </a:solidFill>
          <a:ln/>
        </p:spPr>
      </p:sp>
      <p:sp>
        <p:nvSpPr>
          <p:cNvPr id="19" name="lingkaran lokasi"/>
          <p:cNvSpPr/>
          <p:nvPr/>
        </p:nvSpPr>
        <p:spPr>
          <a:xfrm>
            <a:off x="5661508" y="2103120"/>
            <a:ext cx="868680" cy="868680"/>
          </a:xfrm>
          <a:prstGeom prst="ellipse">
            <a:avLst/>
          </a:prstGeom>
          <a:solidFill>
            <a:schemeClr val="accent1"/>
          </a:solidFill>
          <a:ln/>
        </p:spPr>
      </p:sp>
      <p:pic>
        <p:nvPicPr>
          <p:cNvPr id="20" name="Image 2" descr="lokasi">    </p:cNvPr>
          <p:cNvPicPr>
            <a:picLocks noChangeAspect="1"/>
          </p:cNvPicPr>
          <p:nvPr/>
        </p:nvPicPr>
        <p:blipFill>
          <a:blip r:embed="rId3"/>
          <a:stretch>
            <a:fillRect/>
          </a:stretch>
        </p:blipFill>
        <p:spPr>
          <a:xfrm>
            <a:off x="5852617" y="2294230"/>
            <a:ext cx="486461" cy="486461"/>
          </a:xfrm>
          <a:prstGeom prst="rect">
            <a:avLst/>
          </a:prstGeom>
        </p:spPr>
      </p:pic>
      <p:sp>
        <p:nvSpPr>
          <p:cNvPr id="21" name="Text 15"/>
          <p:cNvSpPr txBox="1"/>
          <p:nvPr/>
        </p:nvSpPr>
        <p:spPr>
          <a:xfrm>
            <a:off x="5224150"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5251582"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C. Lokasi</a:t>
            </a:r>
            <a:endParaRPr lang="en-US" sz="1700" dirty="0"/>
          </a:p>
        </p:txBody>
      </p:sp>
      <p:sp>
        <p:nvSpPr>
          <p:cNvPr id="23" name="Text 17"/>
          <p:cNvSpPr txBox="1"/>
          <p:nvPr/>
        </p:nvSpPr>
        <p:spPr>
          <a:xfrm>
            <a:off x="5251582"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Layanan, izin, posisi; jarak, arah, zona (5–6)</a:t>
            </a:r>
            <a:endParaRPr lang="en-US" sz="1400" dirty="0"/>
          </a:p>
        </p:txBody>
      </p:sp>
      <p:sp>
        <p:nvSpPr>
          <p:cNvPr id="24" name="Shape 18"/>
          <p:cNvSpPr/>
          <p:nvPr/>
        </p:nvSpPr>
        <p:spPr>
          <a:xfrm>
            <a:off x="7113849" y="2395728"/>
            <a:ext cx="246888" cy="274320"/>
          </a:xfrm>
          <a:prstGeom prst="rightArrow">
            <a:avLst/>
          </a:prstGeom>
          <a:solidFill>
            <a:schemeClr val="accent2"/>
          </a:solidFill>
          <a:ln/>
        </p:spPr>
      </p:sp>
      <p:sp>
        <p:nvSpPr>
          <p:cNvPr id="25" name="langkah 4"/>
          <p:cNvSpPr/>
          <p:nvPr/>
        </p:nvSpPr>
        <p:spPr>
          <a:xfrm>
            <a:off x="7397313" y="1828800"/>
            <a:ext cx="1962851" cy="3566160"/>
          </a:xfrm>
          <a:prstGeom prst="roundRect">
            <a:avLst>
              <a:gd name="adj" fmla="val 6988"/>
            </a:avLst>
          </a:prstGeom>
          <a:solidFill>
            <a:schemeClr val="bg2"/>
          </a:solidFill>
          <a:ln/>
        </p:spPr>
      </p:sp>
      <p:sp>
        <p:nvSpPr>
          <p:cNvPr id="26" name="lingkaran dialog"/>
          <p:cNvSpPr/>
          <p:nvPr/>
        </p:nvSpPr>
        <p:spPr>
          <a:xfrm>
            <a:off x="7944399" y="2103120"/>
            <a:ext cx="868680" cy="868680"/>
          </a:xfrm>
          <a:prstGeom prst="ellipse">
            <a:avLst/>
          </a:prstGeom>
          <a:solidFill>
            <a:schemeClr val="accent1"/>
          </a:solidFill>
          <a:ln/>
        </p:spPr>
      </p:sp>
      <p:pic>
        <p:nvPicPr>
          <p:cNvPr id="27" name="Image 3" descr="dialog">    </p:cNvPr>
          <p:cNvPicPr>
            <a:picLocks noChangeAspect="1"/>
          </p:cNvPicPr>
          <p:nvPr/>
        </p:nvPicPr>
        <p:blipFill>
          <a:blip r:embed="rId4"/>
          <a:stretch>
            <a:fillRect/>
          </a:stretch>
        </p:blipFill>
        <p:spPr>
          <a:xfrm>
            <a:off x="8135508" y="2294230"/>
            <a:ext cx="486461" cy="486461"/>
          </a:xfrm>
          <a:prstGeom prst="rect">
            <a:avLst/>
          </a:prstGeom>
        </p:spPr>
      </p:pic>
      <p:sp>
        <p:nvSpPr>
          <p:cNvPr id="28" name="Text 21"/>
          <p:cNvSpPr txBox="1"/>
          <p:nvPr/>
        </p:nvSpPr>
        <p:spPr>
          <a:xfrm>
            <a:off x="7507041"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7534473"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D. Izin yang sopan</a:t>
            </a:r>
            <a:endParaRPr lang="en-US" sz="1700" dirty="0"/>
          </a:p>
        </p:txBody>
      </p:sp>
      <p:sp>
        <p:nvSpPr>
          <p:cNvPr id="30" name="Text 23"/>
          <p:cNvSpPr txBox="1"/>
          <p:nvPr/>
        </p:nvSpPr>
        <p:spPr>
          <a:xfrm>
            <a:off x="7534473"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Minta saat dipakai, ditolak, diblokir; Stream lokasi (7–8)</a:t>
            </a:r>
            <a:endParaRPr lang="en-US" sz="1400" dirty="0"/>
          </a:p>
        </p:txBody>
      </p:sp>
      <p:sp>
        <p:nvSpPr>
          <p:cNvPr id="31" name="Shape 24"/>
          <p:cNvSpPr/>
          <p:nvPr/>
        </p:nvSpPr>
        <p:spPr>
          <a:xfrm>
            <a:off x="9396740" y="2395728"/>
            <a:ext cx="246888" cy="274320"/>
          </a:xfrm>
          <a:prstGeom prst="rightArrow">
            <a:avLst/>
          </a:prstGeom>
          <a:solidFill>
            <a:schemeClr val="accent2"/>
          </a:solidFill>
          <a:ln/>
        </p:spPr>
      </p:sp>
      <p:sp>
        <p:nvSpPr>
          <p:cNvPr id="32" name="langkah 5"/>
          <p:cNvSpPr/>
          <p:nvPr/>
        </p:nvSpPr>
        <p:spPr>
          <a:xfrm>
            <a:off x="9680204" y="1828800"/>
            <a:ext cx="1962851" cy="3566160"/>
          </a:xfrm>
          <a:prstGeom prst="roundRect">
            <a:avLst>
              <a:gd name="adj" fmla="val 6988"/>
            </a:avLst>
          </a:prstGeom>
          <a:solidFill>
            <a:schemeClr val="bg2"/>
          </a:solidFill>
          <a:ln/>
        </p:spPr>
      </p:sp>
      <p:sp>
        <p:nvSpPr>
          <p:cNvPr id="33" name="lingkaran lapisan"/>
          <p:cNvSpPr/>
          <p:nvPr/>
        </p:nvSpPr>
        <p:spPr>
          <a:xfrm>
            <a:off x="10227290" y="2103120"/>
            <a:ext cx="868680" cy="868680"/>
          </a:xfrm>
          <a:prstGeom prst="ellipse">
            <a:avLst/>
          </a:prstGeom>
          <a:solidFill>
            <a:schemeClr val="accent4"/>
          </a:solidFill>
          <a:ln/>
        </p:spPr>
      </p:sp>
      <p:pic>
        <p:nvPicPr>
          <p:cNvPr id="34" name="Image 4" descr="lapisan">    </p:cNvPr>
          <p:cNvPicPr>
            <a:picLocks noChangeAspect="1"/>
          </p:cNvPicPr>
          <p:nvPr/>
        </p:nvPicPr>
        <p:blipFill>
          <a:blip r:embed="rId5"/>
          <a:stretch>
            <a:fillRect/>
          </a:stretch>
        </p:blipFill>
        <p:spPr>
          <a:xfrm>
            <a:off x="10418399" y="2294230"/>
            <a:ext cx="486461" cy="486461"/>
          </a:xfrm>
          <a:prstGeom prst="rect">
            <a:avLst/>
          </a:prstGeom>
        </p:spPr>
      </p:pic>
      <p:sp>
        <p:nvSpPr>
          <p:cNvPr id="35" name="Text 27"/>
          <p:cNvSpPr txBox="1"/>
          <p:nvPr/>
        </p:nvSpPr>
        <p:spPr>
          <a:xfrm>
            <a:off x="9789932"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6" name="Text 28"/>
          <p:cNvSpPr txBox="1"/>
          <p:nvPr/>
        </p:nvSpPr>
        <p:spPr>
          <a:xfrm>
            <a:off x="9817364"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E. Kontrak dan studi kasus</a:t>
            </a:r>
            <a:endParaRPr lang="en-US" sz="1700" dirty="0"/>
          </a:p>
        </p:txBody>
      </p:sp>
      <p:sp>
        <p:nvSpPr>
          <p:cNvPr id="37" name="Text 29"/>
          <p:cNvSpPr txBox="1"/>
          <p:nvPr/>
        </p:nvSpPr>
        <p:spPr>
          <a:xfrm>
            <a:off x="9817364"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Data palsu, Presensi Praktikum, privasi (9–15)</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Kode Contoh Hari Ini</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73849"/>
                <a:gridCol w="5355925"/>
                <a:gridCol w="3730019"/>
                <a:gridCol w="1434623"/>
              </a:tblGrid>
              <a:tr h="51206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Berkas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Jalan di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01</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contoh_01_status_izin_dart_murni.dart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Status izin dan sistem operasi tiruan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DartPad</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contoh_02_galeri_dan_kamera.dart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"Foto Profil" dengan image_picker</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Proyek</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03</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contoh_03_lokasi_sekarang.dart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"Di Mana Saya?" dengan geolocator</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Proyek</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04</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contoh_04_jarak_dan_zona_dart_murni.dart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Jarak, arah, dan zona presensi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DartPad</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contoh_05_alur_izin_yang_sopan.dart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"Ruang Belajar": simulasi alur izin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DartPad</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06</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contoh_06_lokasi_terus_menerus.dart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"Jalan Pagi" dengan Stream lokasi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Proyek</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07</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contoh_07_kontrak_perangkat_dan_data_palsu.dart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"Catatan Lapangan": kontrak + data palsu</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DartPad</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08</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contoh_08_studi_kasus_presensi.dart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Studi kasus "Presensi Praktikum"</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Proyek</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Aplikasi yang Menyentuh Dunia Nyata</a:t>
            </a:r>
            <a:endParaRPr lang="en-US" sz="4000" dirty="0"/>
          </a:p>
        </p:txBody>
      </p:sp>
      <p:sp>
        <p:nvSpPr>
          <p:cNvPr id="5" name="lingkaran sensor"/>
          <p:cNvSpPr/>
          <p:nvPr/>
        </p:nvSpPr>
        <p:spPr>
          <a:xfrm>
            <a:off x="1097280" y="2148840"/>
            <a:ext cx="2011680" cy="2011680"/>
          </a:xfrm>
          <a:prstGeom prst="ellipse">
            <a:avLst/>
          </a:prstGeom>
          <a:solidFill>
            <a:schemeClr val="accent1"/>
          </a:solidFill>
          <a:ln/>
        </p:spPr>
      </p:sp>
      <p:pic>
        <p:nvPicPr>
          <p:cNvPr id="6" name="Image 0" descr="sensor">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Fitur Perangkat di Aplikasi Sehari-hari</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251811"/>
                <a:gridCol w="2773604"/>
                <a:gridCol w="506900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Aplikasi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Fitur perangkat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Untuk apa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Ojek dan pesan-antar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Lokasi (GPS)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Menjemput di titik yang tepat, menghitung ongkos dari jarak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Presensi kampus atau kantor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Kamera + lokasi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Orangnya benar, dan berada di tempat yang benar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Laporan fasilitas rusak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Kamera + lokasi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Foto bukti beserta titik kerusakannya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Dompet digital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Kamera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Memindai kode QR untuk membayar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Media sosial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Galeri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Mengunggah foto yang sudah ada di HP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Peta dan olahraga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Lokasi terus-menerus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Menunjukkan posisi dan mencatat jarak selama bergerak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Hari ini: kamera/galeri dan lokasi. Pola "periksa izin → ambil data → tangani kegagalan" berlaku juga untuk mikrofon, Bluetooth, NFC, dan lainnya.</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Plugin: Jembatan ke Perangkat</a:t>
            </a:r>
            <a:endParaRPr lang="en-US" sz="3200" dirty="0"/>
          </a:p>
        </p:txBody>
      </p:sp>
      <p:sp>
        <p:nvSpPr>
          <p:cNvPr id="4" name="Text 1"/>
          <p:cNvSpPr txBox="1"/>
          <p:nvPr/>
        </p:nvSpPr>
        <p:spPr>
          <a:xfrm>
            <a:off x="548640" y="1325880"/>
            <a:ext cx="11094415" cy="548640"/>
          </a:xfrm>
          <a:prstGeom prst="rect">
            <a:avLst/>
          </a:prstGeom>
          <a:noFill/>
          <a:ln/>
        </p:spPr>
        <p:txBody>
          <a:bodyPr wrap="square" lIns="0" tIns="0" rIns="0" bIns="0" rtlCol="0" anchor="ctr"/>
          <a:lstStyle/>
          <a:p>
            <a:pPr indent="0" marL="0">
              <a:buNone/>
            </a:pPr>
            <a:r>
              <a:rPr lang="en-US" sz="1800" dirty="0">
                <a:solidFill>
                  <a:srgbClr val="4A5870"/>
                </a:solidFill>
              </a:rPr>
              <a:t>Kode Dart tidak bisa langsung menyalakan kamera. Plugin = kode Dart yang kita panggil + kode asli setiap platform.</a:t>
            </a:r>
            <a:endParaRPr lang="en-US" sz="1800" dirty="0"/>
          </a:p>
        </p:txBody>
      </p:sp>
      <p:sp>
        <p:nvSpPr>
          <p:cNvPr id="5" name="langkah 1"/>
          <p:cNvSpPr/>
          <p:nvPr/>
        </p:nvSpPr>
        <p:spPr>
          <a:xfrm>
            <a:off x="548640" y="2103120"/>
            <a:ext cx="2533574" cy="3566160"/>
          </a:xfrm>
          <a:prstGeom prst="roundRect">
            <a:avLst>
              <a:gd name="adj" fmla="val 5414"/>
            </a:avLst>
          </a:prstGeom>
          <a:solidFill>
            <a:schemeClr val="bg2"/>
          </a:solidFill>
          <a:ln/>
        </p:spPr>
      </p:sp>
      <p:sp>
        <p:nvSpPr>
          <p:cNvPr id="6" name="lingkaran kode"/>
          <p:cNvSpPr/>
          <p:nvPr/>
        </p:nvSpPr>
        <p:spPr>
          <a:xfrm>
            <a:off x="1381087" y="2377440"/>
            <a:ext cx="868680" cy="868680"/>
          </a:xfrm>
          <a:prstGeom prst="ellipse">
            <a:avLst/>
          </a:prstGeom>
          <a:solidFill>
            <a:schemeClr val="accent1"/>
          </a:solidFill>
          <a:ln/>
        </p:spPr>
      </p:sp>
      <p:pic>
        <p:nvPicPr>
          <p:cNvPr id="7" name="Image 0" descr="kode">    </p:cNvPr>
          <p:cNvPicPr>
            <a:picLocks noChangeAspect="1"/>
          </p:cNvPicPr>
          <p:nvPr/>
        </p:nvPicPr>
        <p:blipFill>
          <a:blip r:embed="rId1"/>
          <a:stretch>
            <a:fillRect/>
          </a:stretch>
        </p:blipFill>
        <p:spPr>
          <a:xfrm>
            <a:off x="1572197" y="2568550"/>
            <a:ext cx="486461" cy="486461"/>
          </a:xfrm>
          <a:prstGeom prst="rect">
            <a:avLst/>
          </a:prstGeom>
        </p:spPr>
      </p:pic>
      <p:sp>
        <p:nvSpPr>
          <p:cNvPr id="8" name="Text 4"/>
          <p:cNvSpPr txBox="1"/>
          <p:nvPr/>
        </p:nvSpPr>
        <p:spPr>
          <a:xfrm>
            <a:off x="658368"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9" name="Text 5"/>
          <p:cNvSpPr txBox="1"/>
          <p:nvPr/>
        </p:nvSpPr>
        <p:spPr>
          <a:xfrm>
            <a:off x="685800" y="338328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Kode kita (Dart)</a:t>
            </a:r>
            <a:endParaRPr lang="en-US" sz="1700" dirty="0"/>
          </a:p>
        </p:txBody>
      </p:sp>
      <p:sp>
        <p:nvSpPr>
          <p:cNvPr id="10" name="Text 6"/>
          <p:cNvSpPr txBox="1"/>
          <p:nvPr/>
        </p:nvSpPr>
        <p:spPr>
          <a:xfrm>
            <a:off x="685800" y="4206240"/>
            <a:ext cx="2259254" cy="1371600"/>
          </a:xfrm>
          <a:prstGeom prst="rect">
            <a:avLst/>
          </a:prstGeom>
          <a:noFill/>
          <a:ln/>
        </p:spPr>
        <p:txBody>
          <a:bodyPr wrap="square" lIns="0" tIns="0" rIns="0" bIns="0" rtlCol="0" anchor="t"/>
          <a:lstStyle/>
          <a:p>
            <a:pPr algn="ctr" indent="0" marL="0">
              <a:buNone/>
            </a:pPr>
            <a:r>
              <a:rPr lang="en-US" sz="1400" dirty="0">
                <a:solidFill>
                  <a:schemeClr val="tx1"/>
                </a:solidFill>
              </a:rPr>
              <a:t>pickImage(...) atau getCurrentPosition(...)</a:t>
            </a:r>
            <a:endParaRPr lang="en-US" sz="1400" dirty="0"/>
          </a:p>
        </p:txBody>
      </p:sp>
      <p:sp>
        <p:nvSpPr>
          <p:cNvPr id="11" name="Shape 7"/>
          <p:cNvSpPr/>
          <p:nvPr/>
        </p:nvSpPr>
        <p:spPr>
          <a:xfrm>
            <a:off x="3118790" y="2670048"/>
            <a:ext cx="246888" cy="274320"/>
          </a:xfrm>
          <a:prstGeom prst="rightArrow">
            <a:avLst/>
          </a:prstGeom>
          <a:solidFill>
            <a:schemeClr val="accent2"/>
          </a:solidFill>
          <a:ln/>
        </p:spPr>
      </p:sp>
      <p:sp>
        <p:nvSpPr>
          <p:cNvPr id="12" name="langkah 2"/>
          <p:cNvSpPr/>
          <p:nvPr/>
        </p:nvSpPr>
        <p:spPr>
          <a:xfrm>
            <a:off x="3402254" y="2103120"/>
            <a:ext cx="2533574" cy="3566160"/>
          </a:xfrm>
          <a:prstGeom prst="roundRect">
            <a:avLst>
              <a:gd name="adj" fmla="val 5414"/>
            </a:avLst>
          </a:prstGeom>
          <a:solidFill>
            <a:schemeClr val="bg2"/>
          </a:solidFill>
          <a:ln/>
        </p:spPr>
      </p:sp>
      <p:sp>
        <p:nvSpPr>
          <p:cNvPr id="13" name="lingkaran tautan"/>
          <p:cNvSpPr/>
          <p:nvPr/>
        </p:nvSpPr>
        <p:spPr>
          <a:xfrm>
            <a:off x="4234701" y="2377440"/>
            <a:ext cx="868680" cy="868680"/>
          </a:xfrm>
          <a:prstGeom prst="ellipse">
            <a:avLst/>
          </a:prstGeom>
          <a:solidFill>
            <a:schemeClr val="accent1"/>
          </a:solidFill>
          <a:ln/>
        </p:spPr>
      </p:sp>
      <p:pic>
        <p:nvPicPr>
          <p:cNvPr id="14" name="Image 1" descr="tautan">    </p:cNvPr>
          <p:cNvPicPr>
            <a:picLocks noChangeAspect="1"/>
          </p:cNvPicPr>
          <p:nvPr/>
        </p:nvPicPr>
        <p:blipFill>
          <a:blip r:embed="rId2"/>
          <a:stretch>
            <a:fillRect/>
          </a:stretch>
        </p:blipFill>
        <p:spPr>
          <a:xfrm>
            <a:off x="4425810" y="2568550"/>
            <a:ext cx="486461" cy="486461"/>
          </a:xfrm>
          <a:prstGeom prst="rect">
            <a:avLst/>
          </a:prstGeom>
        </p:spPr>
      </p:pic>
      <p:sp>
        <p:nvSpPr>
          <p:cNvPr id="15" name="Text 10"/>
          <p:cNvSpPr txBox="1"/>
          <p:nvPr/>
        </p:nvSpPr>
        <p:spPr>
          <a:xfrm>
            <a:off x="3511982"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6" name="Text 11"/>
          <p:cNvSpPr txBox="1"/>
          <p:nvPr/>
        </p:nvSpPr>
        <p:spPr>
          <a:xfrm>
            <a:off x="3539414" y="338328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Plugin (bagian Dart)</a:t>
            </a:r>
            <a:endParaRPr lang="en-US" sz="1700" dirty="0"/>
          </a:p>
        </p:txBody>
      </p:sp>
      <p:sp>
        <p:nvSpPr>
          <p:cNvPr id="17" name="Text 12"/>
          <p:cNvSpPr txBox="1"/>
          <p:nvPr/>
        </p:nvSpPr>
        <p:spPr>
          <a:xfrm>
            <a:off x="3539414" y="4206240"/>
            <a:ext cx="2259254" cy="1371600"/>
          </a:xfrm>
          <a:prstGeom prst="rect">
            <a:avLst/>
          </a:prstGeom>
          <a:noFill/>
          <a:ln/>
        </p:spPr>
        <p:txBody>
          <a:bodyPr wrap="square" lIns="0" tIns="0" rIns="0" bIns="0" rtlCol="0" anchor="t"/>
          <a:lstStyle/>
          <a:p>
            <a:pPr algn="ctr" indent="0" marL="0">
              <a:buNone/>
            </a:pPr>
            <a:r>
              <a:rPr lang="en-US" sz="1400" dirty="0">
                <a:solidFill>
                  <a:schemeClr val="tx1"/>
                </a:solidFill>
              </a:rPr>
              <a:t>image_picker 1.2.4 · geolocator 14.1.1</a:t>
            </a:r>
            <a:endParaRPr lang="en-US" sz="1400" dirty="0"/>
          </a:p>
        </p:txBody>
      </p:sp>
      <p:sp>
        <p:nvSpPr>
          <p:cNvPr id="18" name="Shape 13"/>
          <p:cNvSpPr/>
          <p:nvPr/>
        </p:nvSpPr>
        <p:spPr>
          <a:xfrm>
            <a:off x="5972404" y="2670048"/>
            <a:ext cx="246888" cy="274320"/>
          </a:xfrm>
          <a:prstGeom prst="rightArrow">
            <a:avLst/>
          </a:prstGeom>
          <a:solidFill>
            <a:schemeClr val="accent2"/>
          </a:solidFill>
          <a:ln/>
        </p:spPr>
      </p:sp>
      <p:sp>
        <p:nvSpPr>
          <p:cNvPr id="19" name="langkah 3"/>
          <p:cNvSpPr/>
          <p:nvPr/>
        </p:nvSpPr>
        <p:spPr>
          <a:xfrm>
            <a:off x="6255868" y="2103120"/>
            <a:ext cx="2533574" cy="3566160"/>
          </a:xfrm>
          <a:prstGeom prst="roundRect">
            <a:avLst>
              <a:gd name="adj" fmla="val 5414"/>
            </a:avLst>
          </a:prstGeom>
          <a:solidFill>
            <a:schemeClr val="bg2"/>
          </a:solidFill>
          <a:ln/>
        </p:spPr>
      </p:sp>
      <p:sp>
        <p:nvSpPr>
          <p:cNvPr id="20" name="lingkaran hp"/>
          <p:cNvSpPr/>
          <p:nvPr/>
        </p:nvSpPr>
        <p:spPr>
          <a:xfrm>
            <a:off x="7088315" y="2377440"/>
            <a:ext cx="868680" cy="868680"/>
          </a:xfrm>
          <a:prstGeom prst="ellipse">
            <a:avLst/>
          </a:prstGeom>
          <a:solidFill>
            <a:schemeClr val="accent1"/>
          </a:solidFill>
          <a:ln/>
        </p:spPr>
      </p:sp>
      <p:pic>
        <p:nvPicPr>
          <p:cNvPr id="21" name="Image 2" descr="hp">    </p:cNvPr>
          <p:cNvPicPr>
            <a:picLocks noChangeAspect="1"/>
          </p:cNvPicPr>
          <p:nvPr/>
        </p:nvPicPr>
        <p:blipFill>
          <a:blip r:embed="rId3"/>
          <a:stretch>
            <a:fillRect/>
          </a:stretch>
        </p:blipFill>
        <p:spPr>
          <a:xfrm>
            <a:off x="7279424" y="2568550"/>
            <a:ext cx="486461" cy="486461"/>
          </a:xfrm>
          <a:prstGeom prst="rect">
            <a:avLst/>
          </a:prstGeom>
        </p:spPr>
      </p:pic>
      <p:sp>
        <p:nvSpPr>
          <p:cNvPr id="22" name="Text 16"/>
          <p:cNvSpPr txBox="1"/>
          <p:nvPr/>
        </p:nvSpPr>
        <p:spPr>
          <a:xfrm>
            <a:off x="6365596"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3" name="Text 17"/>
          <p:cNvSpPr txBox="1"/>
          <p:nvPr/>
        </p:nvSpPr>
        <p:spPr>
          <a:xfrm>
            <a:off x="6393028" y="338328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Android / iOS</a:t>
            </a:r>
            <a:endParaRPr lang="en-US" sz="1700" dirty="0"/>
          </a:p>
        </p:txBody>
      </p:sp>
      <p:sp>
        <p:nvSpPr>
          <p:cNvPr id="24" name="Text 18"/>
          <p:cNvSpPr txBox="1"/>
          <p:nvPr/>
        </p:nvSpPr>
        <p:spPr>
          <a:xfrm>
            <a:off x="6393028" y="4206240"/>
            <a:ext cx="2259254" cy="1371600"/>
          </a:xfrm>
          <a:prstGeom prst="rect">
            <a:avLst/>
          </a:prstGeom>
          <a:noFill/>
          <a:ln/>
        </p:spPr>
        <p:txBody>
          <a:bodyPr wrap="square" lIns="0" tIns="0" rIns="0" bIns="0" rtlCol="0" anchor="t"/>
          <a:lstStyle/>
          <a:p>
            <a:pPr algn="ctr" indent="0" marL="0">
              <a:buNone/>
            </a:pPr>
            <a:r>
              <a:rPr lang="en-US" sz="1400" dirty="0">
                <a:solidFill>
                  <a:schemeClr val="tx1"/>
                </a:solidFill>
              </a:rPr>
              <a:t>Kotlin/Java, Swift: Photo Picker, kamera bawaan, GPS</a:t>
            </a:r>
            <a:endParaRPr lang="en-US" sz="1400" dirty="0"/>
          </a:p>
        </p:txBody>
      </p:sp>
      <p:sp>
        <p:nvSpPr>
          <p:cNvPr id="25" name="Shape 19"/>
          <p:cNvSpPr/>
          <p:nvPr/>
        </p:nvSpPr>
        <p:spPr>
          <a:xfrm>
            <a:off x="8826017" y="2670048"/>
            <a:ext cx="246888" cy="274320"/>
          </a:xfrm>
          <a:prstGeom prst="rightArrow">
            <a:avLst/>
          </a:prstGeom>
          <a:solidFill>
            <a:schemeClr val="accent2"/>
          </a:solidFill>
          <a:ln/>
        </p:spPr>
      </p:sp>
      <p:sp>
        <p:nvSpPr>
          <p:cNvPr id="26" name="langkah 4"/>
          <p:cNvSpPr/>
          <p:nvPr/>
        </p:nvSpPr>
        <p:spPr>
          <a:xfrm>
            <a:off x="9109481" y="2103120"/>
            <a:ext cx="2533574" cy="3566160"/>
          </a:xfrm>
          <a:prstGeom prst="roundRect">
            <a:avLst>
              <a:gd name="adj" fmla="val 5414"/>
            </a:avLst>
          </a:prstGeom>
          <a:solidFill>
            <a:schemeClr val="bg2"/>
          </a:solidFill>
          <a:ln/>
        </p:spPr>
      </p:sp>
      <p:sp>
        <p:nvSpPr>
          <p:cNvPr id="27" name="lingkaran web"/>
          <p:cNvSpPr/>
          <p:nvPr/>
        </p:nvSpPr>
        <p:spPr>
          <a:xfrm>
            <a:off x="9941928" y="2377440"/>
            <a:ext cx="868680" cy="868680"/>
          </a:xfrm>
          <a:prstGeom prst="ellipse">
            <a:avLst/>
          </a:prstGeom>
          <a:solidFill>
            <a:schemeClr val="accent1"/>
          </a:solidFill>
          <a:ln/>
        </p:spPr>
      </p:sp>
      <p:pic>
        <p:nvPicPr>
          <p:cNvPr id="28" name="Image 3" descr="web">    </p:cNvPr>
          <p:cNvPicPr>
            <a:picLocks noChangeAspect="1"/>
          </p:cNvPicPr>
          <p:nvPr/>
        </p:nvPicPr>
        <p:blipFill>
          <a:blip r:embed="rId4"/>
          <a:stretch>
            <a:fillRect/>
          </a:stretch>
        </p:blipFill>
        <p:spPr>
          <a:xfrm>
            <a:off x="10133038" y="2568550"/>
            <a:ext cx="486461" cy="486461"/>
          </a:xfrm>
          <a:prstGeom prst="rect">
            <a:avLst/>
          </a:prstGeom>
        </p:spPr>
      </p:pic>
      <p:sp>
        <p:nvSpPr>
          <p:cNvPr id="29" name="Text 22"/>
          <p:cNvSpPr txBox="1"/>
          <p:nvPr/>
        </p:nvSpPr>
        <p:spPr>
          <a:xfrm>
            <a:off x="9219209"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30" name="Text 23"/>
          <p:cNvSpPr txBox="1"/>
          <p:nvPr/>
        </p:nvSpPr>
        <p:spPr>
          <a:xfrm>
            <a:off x="9246641" y="338328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Web</a:t>
            </a:r>
            <a:endParaRPr lang="en-US" sz="1700" dirty="0"/>
          </a:p>
        </p:txBody>
      </p:sp>
      <p:sp>
        <p:nvSpPr>
          <p:cNvPr id="31" name="Text 24"/>
          <p:cNvSpPr txBox="1"/>
          <p:nvPr/>
        </p:nvSpPr>
        <p:spPr>
          <a:xfrm>
            <a:off x="9246641" y="4206240"/>
            <a:ext cx="2259254" cy="1371600"/>
          </a:xfrm>
          <a:prstGeom prst="rect">
            <a:avLst/>
          </a:prstGeom>
          <a:noFill/>
          <a:ln/>
        </p:spPr>
        <p:txBody>
          <a:bodyPr wrap="square" lIns="0" tIns="0" rIns="0" bIns="0" rtlCol="0" anchor="t"/>
          <a:lstStyle/>
          <a:p>
            <a:pPr algn="ctr" indent="0" marL="0">
              <a:buNone/>
            </a:pPr>
            <a:r>
              <a:rPr lang="en-US" sz="1400" dirty="0">
                <a:solidFill>
                  <a:schemeClr val="tx1"/>
                </a:solidFill>
              </a:rPr>
              <a:t>JavaScript: pemilih berkas dan Geolocation API browser</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Tiga Tempat Mencoba</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486679"/>
                <a:gridCol w="3251811"/>
                <a:gridCol w="2869245"/>
                <a:gridCol w="2486679"/>
              </a:tblGrid>
              <a:tr h="9144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Tempat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Kamera dan galeri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Lokasi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Cocok untuk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9144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Chrome (flutter run -d chrome)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Pemilih berkas komputer; tombol kamera di laptop biasanya juga pemilih berkas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Dari browser; bisa diatur lewat DevTools → Sensors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Laptop RAM 8 GB; latihan alur dan tampilan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9144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Emulator Android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Kamera virtual milik emulator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Extended controls → Location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Mencoba dialog izin Android tanpa HP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9144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HP Android (kabel USB)</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Kamera dan galeri sungguhan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GPS sungguhan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Pengalaman paling lengkap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Tidak punya HP Android? Contoh 01, 04, 05, dan 07 berjalan di DartPad; contoh lainnya di Chrome (flutter run -d chrome).</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2</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Izin Akses: Percakapan Tiga Pihak</a:t>
            </a:r>
            <a:endParaRPr lang="en-US" sz="4000" dirty="0"/>
          </a:p>
        </p:txBody>
      </p:sp>
      <p:sp>
        <p:nvSpPr>
          <p:cNvPr id="5" name="lingkaran gembok"/>
          <p:cNvSpPr/>
          <p:nvPr/>
        </p:nvSpPr>
        <p:spPr>
          <a:xfrm>
            <a:off x="1097280" y="2148840"/>
            <a:ext cx="2011680" cy="2011680"/>
          </a:xfrm>
          <a:prstGeom prst="ellipse">
            <a:avLst/>
          </a:prstGeom>
          <a:solidFill>
            <a:schemeClr val="accent1"/>
          </a:solidFill>
          <a:ln/>
        </p:spPr>
      </p:sp>
      <p:pic>
        <p:nvPicPr>
          <p:cNvPr id="6" name="Image 0" descr="gembok">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Aplikasi, Sistem Operasi, dan Pengguna</a:t>
            </a:r>
            <a:endParaRPr lang="en-US" sz="3200" dirty="0"/>
          </a:p>
        </p:txBody>
      </p:sp>
      <p:sp>
        <p:nvSpPr>
          <p:cNvPr id="4" name="Text 1"/>
          <p:cNvSpPr txBox="1"/>
          <p:nvPr/>
        </p:nvSpPr>
        <p:spPr>
          <a:xfrm>
            <a:off x="548640" y="1325880"/>
            <a:ext cx="11094415" cy="548640"/>
          </a:xfrm>
          <a:prstGeom prst="rect">
            <a:avLst/>
          </a:prstGeom>
          <a:noFill/>
          <a:ln/>
        </p:spPr>
        <p:txBody>
          <a:bodyPr wrap="square" lIns="0" tIns="0" rIns="0" bIns="0" rtlCol="0" anchor="ctr"/>
          <a:lstStyle/>
          <a:p>
            <a:pPr indent="0" marL="0">
              <a:buNone/>
            </a:pPr>
            <a:r>
              <a:rPr lang="en-US" sz="1800" dirty="0">
                <a:solidFill>
                  <a:srgbClr val="4A5870"/>
                </a:solidFill>
              </a:rPr>
              <a:t>Tamu (aplikasi) ingin masuk ruang arsip (lokasi). Satpam (sistem operasi) bertanya kepada pemilik ruangan (pengguna), lalu mencatat jawabannya.</a:t>
            </a:r>
            <a:endParaRPr lang="en-US" sz="1800" dirty="0"/>
          </a:p>
        </p:txBody>
      </p:sp>
      <p:sp>
        <p:nvSpPr>
          <p:cNvPr id="5" name="langkah 1"/>
          <p:cNvSpPr/>
          <p:nvPr/>
        </p:nvSpPr>
        <p:spPr>
          <a:xfrm>
            <a:off x="548640" y="2103120"/>
            <a:ext cx="2533574" cy="3566160"/>
          </a:xfrm>
          <a:prstGeom prst="roundRect">
            <a:avLst>
              <a:gd name="adj" fmla="val 5414"/>
            </a:avLst>
          </a:prstGeom>
          <a:solidFill>
            <a:schemeClr val="bg2"/>
          </a:solidFill>
          <a:ln/>
        </p:spPr>
      </p:sp>
      <p:sp>
        <p:nvSpPr>
          <p:cNvPr id="6" name="lingkaran tanya"/>
          <p:cNvSpPr/>
          <p:nvPr/>
        </p:nvSpPr>
        <p:spPr>
          <a:xfrm>
            <a:off x="1381087" y="2377440"/>
            <a:ext cx="868680" cy="868680"/>
          </a:xfrm>
          <a:prstGeom prst="ellipse">
            <a:avLst/>
          </a:prstGeom>
          <a:solidFill>
            <a:schemeClr val="accent1"/>
          </a:solidFill>
          <a:ln/>
        </p:spPr>
      </p:sp>
      <p:pic>
        <p:nvPicPr>
          <p:cNvPr id="7" name="Image 0" descr="tanya">    </p:cNvPr>
          <p:cNvPicPr>
            <a:picLocks noChangeAspect="1"/>
          </p:cNvPicPr>
          <p:nvPr/>
        </p:nvPicPr>
        <p:blipFill>
          <a:blip r:embed="rId1"/>
          <a:stretch>
            <a:fillRect/>
          </a:stretch>
        </p:blipFill>
        <p:spPr>
          <a:xfrm>
            <a:off x="1572197" y="2568550"/>
            <a:ext cx="486461" cy="486461"/>
          </a:xfrm>
          <a:prstGeom prst="rect">
            <a:avLst/>
          </a:prstGeom>
        </p:spPr>
      </p:pic>
      <p:sp>
        <p:nvSpPr>
          <p:cNvPr id="8" name="Text 4"/>
          <p:cNvSpPr txBox="1"/>
          <p:nvPr/>
        </p:nvSpPr>
        <p:spPr>
          <a:xfrm>
            <a:off x="658368"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9" name="Text 5"/>
          <p:cNvSpPr txBox="1"/>
          <p:nvPr/>
        </p:nvSpPr>
        <p:spPr>
          <a:xfrm>
            <a:off x="685800" y="338328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Periksa</a:t>
            </a:r>
            <a:endParaRPr lang="en-US" sz="1700" dirty="0"/>
          </a:p>
        </p:txBody>
      </p:sp>
      <p:sp>
        <p:nvSpPr>
          <p:cNvPr id="10" name="Text 6"/>
          <p:cNvSpPr txBox="1"/>
          <p:nvPr/>
        </p:nvSpPr>
        <p:spPr>
          <a:xfrm>
            <a:off x="685800" y="4206240"/>
            <a:ext cx="2259254" cy="1371600"/>
          </a:xfrm>
          <a:prstGeom prst="rect">
            <a:avLst/>
          </a:prstGeom>
          <a:noFill/>
          <a:ln/>
        </p:spPr>
        <p:txBody>
          <a:bodyPr wrap="square" lIns="0" tIns="0" rIns="0" bIns="0" rtlCol="0" anchor="t"/>
          <a:lstStyle/>
          <a:p>
            <a:pPr algn="ctr" indent="0" marL="0">
              <a:buNone/>
            </a:pPr>
            <a:r>
              <a:rPr lang="en-US" sz="1400" dirty="0">
                <a:solidFill>
                  <a:schemeClr val="tx1"/>
                </a:solidFill>
              </a:rPr>
              <a:t>checkPermission() → denied. Tanpa dialog</a:t>
            </a:r>
            <a:endParaRPr lang="en-US" sz="1400" dirty="0"/>
          </a:p>
        </p:txBody>
      </p:sp>
      <p:sp>
        <p:nvSpPr>
          <p:cNvPr id="11" name="Shape 7"/>
          <p:cNvSpPr/>
          <p:nvPr/>
        </p:nvSpPr>
        <p:spPr>
          <a:xfrm>
            <a:off x="3118790" y="2670048"/>
            <a:ext cx="246888" cy="274320"/>
          </a:xfrm>
          <a:prstGeom prst="rightArrow">
            <a:avLst/>
          </a:prstGeom>
          <a:solidFill>
            <a:schemeClr val="accent2"/>
          </a:solidFill>
          <a:ln/>
        </p:spPr>
      </p:sp>
      <p:sp>
        <p:nvSpPr>
          <p:cNvPr id="12" name="langkah 2"/>
          <p:cNvSpPr/>
          <p:nvPr/>
        </p:nvSpPr>
        <p:spPr>
          <a:xfrm>
            <a:off x="3402254" y="2103120"/>
            <a:ext cx="2533574" cy="3566160"/>
          </a:xfrm>
          <a:prstGeom prst="roundRect">
            <a:avLst>
              <a:gd name="adj" fmla="val 5414"/>
            </a:avLst>
          </a:prstGeom>
          <a:solidFill>
            <a:schemeClr val="bg2"/>
          </a:solidFill>
          <a:ln/>
        </p:spPr>
      </p:sp>
      <p:sp>
        <p:nvSpPr>
          <p:cNvPr id="13" name="lingkaran dialog"/>
          <p:cNvSpPr/>
          <p:nvPr/>
        </p:nvSpPr>
        <p:spPr>
          <a:xfrm>
            <a:off x="4234701" y="2377440"/>
            <a:ext cx="868680" cy="868680"/>
          </a:xfrm>
          <a:prstGeom prst="ellipse">
            <a:avLst/>
          </a:prstGeom>
          <a:solidFill>
            <a:schemeClr val="accent1"/>
          </a:solidFill>
          <a:ln/>
        </p:spPr>
      </p:sp>
      <p:pic>
        <p:nvPicPr>
          <p:cNvPr id="14" name="Image 1" descr="dialog">    </p:cNvPr>
          <p:cNvPicPr>
            <a:picLocks noChangeAspect="1"/>
          </p:cNvPicPr>
          <p:nvPr/>
        </p:nvPicPr>
        <p:blipFill>
          <a:blip r:embed="rId2"/>
          <a:stretch>
            <a:fillRect/>
          </a:stretch>
        </p:blipFill>
        <p:spPr>
          <a:xfrm>
            <a:off x="4425810" y="2568550"/>
            <a:ext cx="486461" cy="486461"/>
          </a:xfrm>
          <a:prstGeom prst="rect">
            <a:avLst/>
          </a:prstGeom>
        </p:spPr>
      </p:pic>
      <p:sp>
        <p:nvSpPr>
          <p:cNvPr id="15" name="Text 10"/>
          <p:cNvSpPr txBox="1"/>
          <p:nvPr/>
        </p:nvSpPr>
        <p:spPr>
          <a:xfrm>
            <a:off x="3511982"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6" name="Text 11"/>
          <p:cNvSpPr txBox="1"/>
          <p:nvPr/>
        </p:nvSpPr>
        <p:spPr>
          <a:xfrm>
            <a:off x="3539414" y="338328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Minta</a:t>
            </a:r>
            <a:endParaRPr lang="en-US" sz="1700" dirty="0"/>
          </a:p>
        </p:txBody>
      </p:sp>
      <p:sp>
        <p:nvSpPr>
          <p:cNvPr id="17" name="Text 12"/>
          <p:cNvSpPr txBox="1"/>
          <p:nvPr/>
        </p:nvSpPr>
        <p:spPr>
          <a:xfrm>
            <a:off x="3539414" y="4206240"/>
            <a:ext cx="2259254" cy="1371600"/>
          </a:xfrm>
          <a:prstGeom prst="rect">
            <a:avLst/>
          </a:prstGeom>
          <a:noFill/>
          <a:ln/>
        </p:spPr>
        <p:txBody>
          <a:bodyPr wrap="square" lIns="0" tIns="0" rIns="0" bIns="0" rtlCol="0" anchor="t"/>
          <a:lstStyle/>
          <a:p>
            <a:pPr algn="ctr" indent="0" marL="0">
              <a:buNone/>
            </a:pPr>
            <a:r>
              <a:rPr lang="en-US" sz="1400" dirty="0">
                <a:solidFill>
                  <a:schemeClr val="tx1"/>
                </a:solidFill>
              </a:rPr>
              <a:t>requestPermission() → sistem menampilkan dialog</a:t>
            </a:r>
            <a:endParaRPr lang="en-US" sz="1400" dirty="0"/>
          </a:p>
        </p:txBody>
      </p:sp>
      <p:sp>
        <p:nvSpPr>
          <p:cNvPr id="18" name="Shape 13"/>
          <p:cNvSpPr/>
          <p:nvPr/>
        </p:nvSpPr>
        <p:spPr>
          <a:xfrm>
            <a:off x="5972404" y="2670048"/>
            <a:ext cx="246888" cy="274320"/>
          </a:xfrm>
          <a:prstGeom prst="rightArrow">
            <a:avLst/>
          </a:prstGeom>
          <a:solidFill>
            <a:schemeClr val="accent2"/>
          </a:solidFill>
          <a:ln/>
        </p:spPr>
      </p:sp>
      <p:sp>
        <p:nvSpPr>
          <p:cNvPr id="19" name="langkah 3"/>
          <p:cNvSpPr/>
          <p:nvPr/>
        </p:nvSpPr>
        <p:spPr>
          <a:xfrm>
            <a:off x="6255868" y="2103120"/>
            <a:ext cx="2533574" cy="3566160"/>
          </a:xfrm>
          <a:prstGeom prst="roundRect">
            <a:avLst>
              <a:gd name="adj" fmla="val 5414"/>
            </a:avLst>
          </a:prstGeom>
          <a:solidFill>
            <a:schemeClr val="bg2"/>
          </a:solidFill>
          <a:ln/>
        </p:spPr>
      </p:sp>
      <p:sp>
        <p:nvSpPr>
          <p:cNvPr id="20" name="lingkaran orang"/>
          <p:cNvSpPr/>
          <p:nvPr/>
        </p:nvSpPr>
        <p:spPr>
          <a:xfrm>
            <a:off x="7088315" y="2377440"/>
            <a:ext cx="868680" cy="868680"/>
          </a:xfrm>
          <a:prstGeom prst="ellipse">
            <a:avLst/>
          </a:prstGeom>
          <a:solidFill>
            <a:schemeClr val="accent1"/>
          </a:solidFill>
          <a:ln/>
        </p:spPr>
      </p:sp>
      <p:pic>
        <p:nvPicPr>
          <p:cNvPr id="21" name="Image 2" descr="orang">    </p:cNvPr>
          <p:cNvPicPr>
            <a:picLocks noChangeAspect="1"/>
          </p:cNvPicPr>
          <p:nvPr/>
        </p:nvPicPr>
        <p:blipFill>
          <a:blip r:embed="rId3"/>
          <a:stretch>
            <a:fillRect/>
          </a:stretch>
        </p:blipFill>
        <p:spPr>
          <a:xfrm>
            <a:off x="7279424" y="2568550"/>
            <a:ext cx="486461" cy="486461"/>
          </a:xfrm>
          <a:prstGeom prst="rect">
            <a:avLst/>
          </a:prstGeom>
        </p:spPr>
      </p:pic>
      <p:sp>
        <p:nvSpPr>
          <p:cNvPr id="22" name="Text 16"/>
          <p:cNvSpPr txBox="1"/>
          <p:nvPr/>
        </p:nvSpPr>
        <p:spPr>
          <a:xfrm>
            <a:off x="6365596"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3" name="Text 17"/>
          <p:cNvSpPr txBox="1"/>
          <p:nvPr/>
        </p:nvSpPr>
        <p:spPr>
          <a:xfrm>
            <a:off x="6393028" y="338328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Pengguna memutuskan</a:t>
            </a:r>
            <a:endParaRPr lang="en-US" sz="1700" dirty="0"/>
          </a:p>
        </p:txBody>
      </p:sp>
      <p:sp>
        <p:nvSpPr>
          <p:cNvPr id="24" name="Text 18"/>
          <p:cNvSpPr txBox="1"/>
          <p:nvPr/>
        </p:nvSpPr>
        <p:spPr>
          <a:xfrm>
            <a:off x="6393028" y="4206240"/>
            <a:ext cx="2259254" cy="1371600"/>
          </a:xfrm>
          <a:prstGeom prst="rect">
            <a:avLst/>
          </a:prstGeom>
          <a:noFill/>
          <a:ln/>
        </p:spPr>
        <p:txBody>
          <a:bodyPr wrap="square" lIns="0" tIns="0" rIns="0" bIns="0" rtlCol="0" anchor="t"/>
          <a:lstStyle/>
          <a:p>
            <a:pPr algn="ctr" indent="0" marL="0">
              <a:buNone/>
            </a:pPr>
            <a:r>
              <a:rPr lang="en-US" sz="1400" dirty="0">
                <a:solidFill>
                  <a:schemeClr val="tx1"/>
                </a:solidFill>
              </a:rPr>
              <a:t>"Saat aplikasi digunakan"</a:t>
            </a:r>
            <a:endParaRPr lang="en-US" sz="1400" dirty="0"/>
          </a:p>
        </p:txBody>
      </p:sp>
      <p:sp>
        <p:nvSpPr>
          <p:cNvPr id="25" name="Shape 19"/>
          <p:cNvSpPr/>
          <p:nvPr/>
        </p:nvSpPr>
        <p:spPr>
          <a:xfrm>
            <a:off x="8826017" y="2670048"/>
            <a:ext cx="246888" cy="274320"/>
          </a:xfrm>
          <a:prstGeom prst="rightArrow">
            <a:avLst/>
          </a:prstGeom>
          <a:solidFill>
            <a:schemeClr val="accent2"/>
          </a:solidFill>
          <a:ln/>
        </p:spPr>
      </p:sp>
      <p:sp>
        <p:nvSpPr>
          <p:cNvPr id="26" name="langkah 4"/>
          <p:cNvSpPr/>
          <p:nvPr/>
        </p:nvSpPr>
        <p:spPr>
          <a:xfrm>
            <a:off x="9109481" y="2103120"/>
            <a:ext cx="2533574" cy="3566160"/>
          </a:xfrm>
          <a:prstGeom prst="roundRect">
            <a:avLst>
              <a:gd name="adj" fmla="val 5414"/>
            </a:avLst>
          </a:prstGeom>
          <a:solidFill>
            <a:schemeClr val="bg2"/>
          </a:solidFill>
          <a:ln/>
        </p:spPr>
      </p:sp>
      <p:sp>
        <p:nvSpPr>
          <p:cNvPr id="27" name="lingkaran lokasi"/>
          <p:cNvSpPr/>
          <p:nvPr/>
        </p:nvSpPr>
        <p:spPr>
          <a:xfrm>
            <a:off x="9941928" y="2377440"/>
            <a:ext cx="868680" cy="868680"/>
          </a:xfrm>
          <a:prstGeom prst="ellipse">
            <a:avLst/>
          </a:prstGeom>
          <a:solidFill>
            <a:schemeClr val="accent4"/>
          </a:solidFill>
          <a:ln/>
        </p:spPr>
      </p:sp>
      <p:pic>
        <p:nvPicPr>
          <p:cNvPr id="28" name="Image 3" descr="lokasi">    </p:cNvPr>
          <p:cNvPicPr>
            <a:picLocks noChangeAspect="1"/>
          </p:cNvPicPr>
          <p:nvPr/>
        </p:nvPicPr>
        <p:blipFill>
          <a:blip r:embed="rId4"/>
          <a:stretch>
            <a:fillRect/>
          </a:stretch>
        </p:blipFill>
        <p:spPr>
          <a:xfrm>
            <a:off x="10133038" y="2568550"/>
            <a:ext cx="486461" cy="486461"/>
          </a:xfrm>
          <a:prstGeom prst="rect">
            <a:avLst/>
          </a:prstGeom>
        </p:spPr>
      </p:pic>
      <p:sp>
        <p:nvSpPr>
          <p:cNvPr id="29" name="Text 22"/>
          <p:cNvSpPr txBox="1"/>
          <p:nvPr/>
        </p:nvSpPr>
        <p:spPr>
          <a:xfrm>
            <a:off x="9219209"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30" name="Text 23"/>
          <p:cNvSpPr txBox="1"/>
          <p:nvPr/>
        </p:nvSpPr>
        <p:spPr>
          <a:xfrm>
            <a:off x="9246641" y="338328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Ambil posisi</a:t>
            </a:r>
            <a:endParaRPr lang="en-US" sz="1700" dirty="0"/>
          </a:p>
        </p:txBody>
      </p:sp>
      <p:sp>
        <p:nvSpPr>
          <p:cNvPr id="31" name="Text 24"/>
          <p:cNvSpPr txBox="1"/>
          <p:nvPr/>
        </p:nvSpPr>
        <p:spPr>
          <a:xfrm>
            <a:off x="9246641" y="4206240"/>
            <a:ext cx="2259254" cy="1371600"/>
          </a:xfrm>
          <a:prstGeom prst="rect">
            <a:avLst/>
          </a:prstGeom>
          <a:noFill/>
          <a:ln/>
        </p:spPr>
        <p:txBody>
          <a:bodyPr wrap="square" lIns="0" tIns="0" rIns="0" bIns="0" rtlCol="0" anchor="t"/>
          <a:lstStyle/>
          <a:p>
            <a:pPr algn="ctr" indent="0" marL="0">
              <a:buNone/>
            </a:pPr>
            <a:r>
              <a:rPr lang="en-US" sz="1400" dirty="0">
                <a:solidFill>
                  <a:schemeClr val="tx1"/>
                </a:solidFill>
              </a:rPr>
              <a:t>whileInUse → getCurrentPosition() → koordinat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Izin Biasa dan Izin yang Ditanyakan</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centang"/>
          <p:cNvSpPr/>
          <p:nvPr/>
        </p:nvSpPr>
        <p:spPr>
          <a:xfrm>
            <a:off x="777240" y="1600200"/>
            <a:ext cx="685800" cy="685800"/>
          </a:xfrm>
          <a:prstGeom prst="ellipse">
            <a:avLst/>
          </a:prstGeom>
          <a:solidFill>
            <a:schemeClr val="accent6"/>
          </a:solidFill>
          <a:ln/>
        </p:spPr>
      </p:sp>
      <p:pic>
        <p:nvPicPr>
          <p:cNvPr id="6" name="Image 0" descr="centang">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Saat pemasangan (install-time)</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6"/>
                </a:solidFill>
              </a:rPr>
              <a:t>Contoh: INTERNET</a:t>
            </a:r>
            <a:endParaRPr lang="en-US" sz="1400" dirty="0"/>
          </a:p>
        </p:txBody>
      </p:sp>
      <p:sp>
        <p:nvSpPr>
          <p:cNvPr id="9" name="daftar poin"/>
          <p:cNvSpPr txBox="1"/>
          <p:nvPr/>
        </p:nvSpPr>
        <p:spPr>
          <a:xfrm>
            <a:off x="777240"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Cukup ditulis di AndroidManifest.xml</a:t>
            </a:r>
            <a:endParaRPr lang="en-US" sz="1600" dirty="0"/>
          </a:p>
          <a:p>
            <a:pPr marL="228600" indent="-228600">
              <a:spcAft>
                <a:spcPts val="800"/>
              </a:spcAft>
              <a:buSzPct val="100000"/>
              <a:buChar char="•"/>
            </a:pPr>
            <a:r>
              <a:rPr lang="en-US" sz="1600" dirty="0">
                <a:solidFill>
                  <a:schemeClr val="tx1"/>
                </a:solidFill>
              </a:rPr>
              <a:t>Diberikan otomatis saat aplikasi dipasang</a:t>
            </a:r>
            <a:endParaRPr lang="en-US" sz="1600" dirty="0"/>
          </a:p>
          <a:p>
            <a:pPr marL="228600" indent="-228600">
              <a:spcAft>
                <a:spcPts val="800"/>
              </a:spcAft>
              <a:buSzPct val="100000"/>
              <a:buChar char="•"/>
            </a:pPr>
            <a:r>
              <a:rPr lang="en-US" sz="1600" dirty="0">
                <a:solidFill>
                  <a:schemeClr val="tx1"/>
                </a:solidFill>
              </a:rPr>
              <a:t>Pengguna tidak ditanya</a:t>
            </a:r>
            <a:endParaRPr lang="en-US" sz="1600" dirty="0"/>
          </a:p>
        </p:txBody>
      </p:sp>
      <p:sp>
        <p:nvSpPr>
          <p:cNvPr id="10" name="kolom 2"/>
          <p:cNvSpPr/>
          <p:nvPr/>
        </p:nvSpPr>
        <p:spPr>
          <a:xfrm>
            <a:off x="6255868" y="1371600"/>
            <a:ext cx="5387188" cy="3931920"/>
          </a:xfrm>
          <a:prstGeom prst="roundRect">
            <a:avLst>
              <a:gd name="adj" fmla="val 2791"/>
            </a:avLst>
          </a:prstGeom>
          <a:solidFill>
            <a:srgbClr val="E3F2FD"/>
          </a:solidFill>
          <a:ln w="25400">
            <a:solidFill>
              <a:schemeClr val="accent1"/>
            </a:solidFill>
            <a:prstDash val="solid"/>
          </a:ln>
        </p:spPr>
      </p:sp>
      <p:sp>
        <p:nvSpPr>
          <p:cNvPr id="11" name="lingkaran dialog"/>
          <p:cNvSpPr/>
          <p:nvPr/>
        </p:nvSpPr>
        <p:spPr>
          <a:xfrm>
            <a:off x="6484468" y="1600200"/>
            <a:ext cx="685800" cy="685800"/>
          </a:xfrm>
          <a:prstGeom prst="ellipse">
            <a:avLst/>
          </a:prstGeom>
          <a:solidFill>
            <a:schemeClr val="accent1"/>
          </a:solidFill>
          <a:ln/>
        </p:spPr>
      </p:sp>
      <p:pic>
        <p:nvPicPr>
          <p:cNvPr id="12" name="Image 1" descr="dialog">    </p:cNvPr>
          <p:cNvPicPr>
            <a:picLocks noChangeAspect="1"/>
          </p:cNvPicPr>
          <p:nvPr/>
        </p:nvPicPr>
        <p:blipFill>
          <a:blip r:embed="rId2"/>
          <a:stretch>
            <a:fillRect/>
          </a:stretch>
        </p:blipFill>
        <p:spPr>
          <a:xfrm>
            <a:off x="6635344" y="1751076"/>
            <a:ext cx="384048" cy="384048"/>
          </a:xfrm>
          <a:prstGeom prst="rect">
            <a:avLst/>
          </a:prstGeom>
        </p:spPr>
      </p:pic>
      <p:sp>
        <p:nvSpPr>
          <p:cNvPr id="13" name="Text 8"/>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Saat dipakai (runtime)</a:t>
            </a:r>
            <a:endParaRPr lang="en-US" sz="1900" dirty="0"/>
          </a:p>
        </p:txBody>
      </p:sp>
      <p:sp>
        <p:nvSpPr>
          <p:cNvPr id="14" name="Text 9"/>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1"/>
                </a:solidFill>
              </a:rPr>
              <a:t>Lokasi, kamera, mikrofon, kontak</a:t>
            </a:r>
            <a:endParaRPr lang="en-US" sz="1400" dirty="0"/>
          </a:p>
        </p:txBody>
      </p:sp>
      <p:sp>
        <p:nvSpPr>
          <p:cNvPr id="15" name="daftar poin"/>
          <p:cNvSpPr txBox="1"/>
          <p:nvPr/>
        </p:nvSpPr>
        <p:spPr>
          <a:xfrm>
            <a:off x="6484468"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Ditulis di AndroidManifest.xml DAN ditanyakan lewat dialog</a:t>
            </a:r>
            <a:endParaRPr lang="en-US" sz="1600" dirty="0"/>
          </a:p>
          <a:p>
            <a:pPr marL="228600" indent="-228600">
              <a:spcAft>
                <a:spcPts val="800"/>
              </a:spcAft>
              <a:buSzPct val="100000"/>
              <a:buChar char="•"/>
            </a:pPr>
            <a:r>
              <a:rPr lang="en-US" sz="1600" dirty="0">
                <a:solidFill>
                  <a:schemeClr val="tx1"/>
                </a:solidFill>
              </a:rPr>
              <a:t>Bisa ditolak, diblokir, atau dicabut kapan saja</a:t>
            </a:r>
            <a:endParaRPr lang="en-US" sz="1600" dirty="0"/>
          </a:p>
          <a:p>
            <a:pPr marL="228600" indent="-228600">
              <a:spcAft>
                <a:spcPts val="800"/>
              </a:spcAft>
              <a:buSzPct val="100000"/>
              <a:buChar char="•"/>
            </a:pPr>
            <a:r>
              <a:rPr lang="en-US" sz="1600" dirty="0">
                <a:solidFill>
                  <a:schemeClr val="tx1"/>
                </a:solidFill>
              </a:rPr>
              <a:t>iOS: selalu ditanyakan + wajib kalimat alasan di Info.plist</a:t>
            </a:r>
            <a:endParaRPr lang="en-US" sz="1600" dirty="0"/>
          </a:p>
          <a:p>
            <a:pPr marL="228600" indent="-228600">
              <a:spcAft>
                <a:spcPts val="800"/>
              </a:spcAft>
              <a:buSzPct val="100000"/>
              <a:buChar char="•"/>
            </a:pPr>
            <a:r>
              <a:rPr lang="en-US" sz="1600" dirty="0">
                <a:solidFill>
                  <a:schemeClr val="tx1"/>
                </a:solidFill>
              </a:rPr>
              <a:t>Web: browser yang bertanya, hanya di HTTPS atau localhost</a:t>
            </a:r>
            <a:endParaRPr lang="en-US" sz="1600" dirty="0"/>
          </a:p>
        </p:txBody>
      </p:sp>
      <p:sp>
        <p:nvSpPr>
          <p:cNvPr id="16" name="lingkaran lampu"/>
          <p:cNvSpPr/>
          <p:nvPr/>
        </p:nvSpPr>
        <p:spPr>
          <a:xfrm>
            <a:off x="548640" y="5532120"/>
            <a:ext cx="548640" cy="548640"/>
          </a:xfrm>
          <a:prstGeom prst="ellipse">
            <a:avLst/>
          </a:prstGeom>
          <a:solidFill>
            <a:schemeClr val="accent3"/>
          </a:solidFill>
          <a:ln/>
        </p:spPr>
      </p:sp>
      <p:pic>
        <p:nvPicPr>
          <p:cNvPr id="17"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18" name="Text 12"/>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Izin INTERNET sudah Anda temui di Pertemuan 10 (Bagian 14.2): cukup satu baris di AndroidManifest.xml, tanpa dialog.</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Lima Status Izin Lokasi</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060528"/>
                <a:gridCol w="5929774"/>
                <a:gridCol w="2104113"/>
              </a:tblGrid>
              <a:tr h="64008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LocationPermission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Artinya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Boleh diminta lagi?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40080">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denied</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Belum pernah diminta, ATAU baru saja ditolak</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deniedForever</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Ditolak permanen. Dialog tidak akan muncul lagi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 (Pengaturan)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0080">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whileInUse</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Diizinkan selama aplikasi sedang dipakai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always</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Diizinkan, termasuk saat aplikasi di latar belakang</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0080">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unableToDetermine</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Tidak bisa diketahui (hanya browser lama)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denied mencakup DUA keadaan: belum pernah ditanya, dan sudah ditolak sekali. Keduanya sama-sama boleh diminta lagi.</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Aturan Main di Android</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399509"/>
                <a:gridCol w="6694906"/>
              </a:tblGrid>
              <a:tr h="621792">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Aturan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Akibatnya bagi aplikasi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21792">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Penolakan kedua dianggap permanen (Android 11+)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requestPermission() langsung menjawab deniedForever tanpa dialog. Jalan satu-satunya: Pengaturan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21792">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"Hanya kali ini" (lokasi, kamera, mikrofon)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Izin dicabut otomatis setelah aplikasi ditutup; saat dibuka lagi kembali denied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21792">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Lokasi perkiraan atau tepat (Android 12+)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Perkiraan ± 3 km persegi; tepat ± 50 m, kadang beberapa meter. Aplikasi harus tetap berfungsi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21792">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Reset otomatis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Izin aplikasi yang lama tidak dibuka bisa dicabut Android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21792">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Pengguna bisa mengubah izin kapan saja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Izin bisa berubah saat aplikasi di latar belakang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Jangan pernah menganggap izin sudah pasti ada. Periksa setiap kali.</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Dari Keadaan ke Tindakan</a:t>
            </a:r>
            <a:endParaRPr lang="en-US" sz="3200" dirty="0"/>
          </a:p>
        </p:txBody>
      </p:sp>
      <p:sp>
        <p:nvSpPr>
          <p:cNvPr id="4" name="kotak kode"/>
          <p:cNvSpPr txBox="1"/>
          <p:nvPr/>
        </p:nvSpPr>
        <p:spPr>
          <a:xfrm>
            <a:off x="548640" y="1371600"/>
            <a:ext cx="7132320" cy="3171825"/>
          </a:xfrm>
          <a:prstGeom prst="roundRect">
            <a:avLst>
              <a:gd name="adj" fmla="val 2883"/>
            </a:avLst>
          </a:prstGeom>
          <a:solidFill>
            <a:srgbClr val="0E1A2B"/>
          </a:solidFill>
          <a:ln/>
        </p:spPr>
        <p:txBody>
          <a:bodyPr wrap="square" lIns="177800" tIns="152400" rIns="152400" bIns="177800" rtlCol="0" anchor="t"/>
          <a:lstStyle/>
          <a:p>
            <a:pPr indent="0" marL="0">
              <a:lnSpc>
                <a:spcPct val="105000"/>
              </a:lnSpc>
              <a:buNone/>
            </a:pPr>
            <a:r>
              <a:rPr lang="en-US" sz="1150" i="1" dirty="0">
                <a:solidFill>
                  <a:srgbClr val="8FA3BC"/>
                </a:solidFill>
                <a:latin typeface="Consolas" pitchFamily="34" charset="0"/>
                <a:ea typeface="Consolas" pitchFamily="34" charset="-122"/>
                <a:cs typeface="Consolas" pitchFamily="34" charset="-120"/>
              </a:rPr>
              <a:t>/// Urutan pemeriksaannya penting: layanan dulu, baru izin.</a:t>
            </a:r>
            <a:endParaRPr lang="en-US" sz="1150" dirty="0"/>
          </a:p>
          <a:p>
            <a:pPr indent="0" marL="0">
              <a:lnSpc>
                <a:spcPct val="105000"/>
              </a:lnSpc>
              <a:buNone/>
            </a:pPr>
            <a:r>
              <a:rPr lang="en-US" sz="1150" dirty="0">
                <a:solidFill>
                  <a:srgbClr val="FFCB6B"/>
                </a:solidFill>
                <a:latin typeface="Consolas" pitchFamily="34" charset="0"/>
                <a:ea typeface="Consolas" pitchFamily="34" charset="-122"/>
                <a:cs typeface="Consolas" pitchFamily="34" charset="-120"/>
              </a:rPr>
              <a:t>Tindakan</a:t>
            </a:r>
            <a:r>
              <a:rPr lang="en-US" sz="1150" dirty="0">
                <a:solidFill>
                  <a:srgbClr val="E6EDF3"/>
                </a:solidFill>
                <a:latin typeface="Consolas" pitchFamily="34" charset="0"/>
                <a:ea typeface="Consolas" pitchFamily="34" charset="-122"/>
                <a:cs typeface="Consolas" pitchFamily="34" charset="-120"/>
              </a:rPr>
              <a:t> tindakanUntuk({</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required</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bool</a:t>
            </a:r>
            <a:r>
              <a:rPr lang="en-US" sz="1150" dirty="0">
                <a:solidFill>
                  <a:srgbClr val="E6EDF3"/>
                </a:solidFill>
                <a:latin typeface="Consolas" pitchFamily="34" charset="0"/>
                <a:ea typeface="Consolas" pitchFamily="34" charset="-122"/>
                <a:cs typeface="Consolas" pitchFamily="34" charset="-120"/>
              </a:rPr>
              <a:t> layananAktif,</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required</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StatusIzin</a:t>
            </a:r>
            <a:r>
              <a:rPr lang="en-US" sz="1150" dirty="0">
                <a:solidFill>
                  <a:srgbClr val="E6EDF3"/>
                </a:solidFill>
                <a:latin typeface="Consolas" pitchFamily="34" charset="0"/>
                <a:ea typeface="Consolas" pitchFamily="34" charset="-122"/>
                <a:cs typeface="Consolas" pitchFamily="34" charset="-120"/>
              </a:rPr>
              <a:t> izin,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if</a:t>
            </a:r>
            <a:r>
              <a:rPr lang="en-US" sz="1150" dirty="0">
                <a:solidFill>
                  <a:srgbClr val="E6EDF3"/>
                </a:solidFill>
                <a:latin typeface="Consolas" pitchFamily="34" charset="0"/>
                <a:ea typeface="Consolas" pitchFamily="34" charset="-122"/>
                <a:cs typeface="Consolas" pitchFamily="34" charset="-120"/>
              </a:rPr>
              <a:t> (!layananAktif) </a:t>
            </a:r>
            <a:r>
              <a:rPr lang="en-US" sz="1150" dirty="0">
                <a:solidFill>
                  <a:srgbClr val="C792EA"/>
                </a:solidFill>
                <a:latin typeface="Consolas" pitchFamily="34" charset="0"/>
                <a:ea typeface="Consolas" pitchFamily="34" charset="-122"/>
                <a:cs typeface="Consolas" pitchFamily="34" charset="-120"/>
              </a:rPr>
              <a:t>return</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Tindakan</a:t>
            </a:r>
            <a:r>
              <a:rPr lang="en-US" sz="1150" dirty="0">
                <a:solidFill>
                  <a:srgbClr val="E6EDF3"/>
                </a:solidFill>
                <a:latin typeface="Consolas" pitchFamily="34" charset="0"/>
                <a:ea typeface="Consolas" pitchFamily="34" charset="-122"/>
                <a:cs typeface="Consolas" pitchFamily="34" charset="-120"/>
              </a:rPr>
              <a:t>.nyalakanLayanan;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i="1" dirty="0">
                <a:solidFill>
                  <a:srgbClr val="8FA3BC"/>
                </a:solidFill>
                <a:latin typeface="Consolas" pitchFamily="34" charset="0"/>
                <a:ea typeface="Consolas" pitchFamily="34" charset="-122"/>
                <a:cs typeface="Consolas" pitchFamily="34" charset="-120"/>
              </a:rPr>
              <a:t>// switch ekspresi WAJIB menangani semua nilai enum. Jika kelak ada</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i="1" dirty="0">
                <a:solidFill>
                  <a:srgbClr val="8FA3BC"/>
                </a:solidFill>
                <a:latin typeface="Consolas" pitchFamily="34" charset="0"/>
                <a:ea typeface="Consolas" pitchFamily="34" charset="-122"/>
                <a:cs typeface="Consolas" pitchFamily="34" charset="-120"/>
              </a:rPr>
              <a:t>// status baru, analyzer langsung mengingatkan kita.</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return</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switch</a:t>
            </a:r>
            <a:r>
              <a:rPr lang="en-US" sz="1150" dirty="0">
                <a:solidFill>
                  <a:srgbClr val="E6EDF3"/>
                </a:solidFill>
                <a:latin typeface="Consolas" pitchFamily="34" charset="0"/>
                <a:ea typeface="Consolas" pitchFamily="34" charset="-122"/>
                <a:cs typeface="Consolas" pitchFamily="34" charset="-120"/>
              </a:rPr>
              <a:t> (izin)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StatusIzin</a:t>
            </a:r>
            <a:r>
              <a:rPr lang="en-US" sz="1150" dirty="0">
                <a:solidFill>
                  <a:srgbClr val="E6EDF3"/>
                </a:solidFill>
                <a:latin typeface="Consolas" pitchFamily="34" charset="0"/>
                <a:ea typeface="Consolas" pitchFamily="34" charset="-122"/>
                <a:cs typeface="Consolas" pitchFamily="34" charset="-120"/>
              </a:rPr>
              <a:t>.saatDipakai || </a:t>
            </a:r>
            <a:r>
              <a:rPr lang="en-US" sz="1150" dirty="0">
                <a:solidFill>
                  <a:srgbClr val="FFCB6B"/>
                </a:solidFill>
                <a:latin typeface="Consolas" pitchFamily="34" charset="0"/>
                <a:ea typeface="Consolas" pitchFamily="34" charset="-122"/>
                <a:cs typeface="Consolas" pitchFamily="34" charset="-120"/>
              </a:rPr>
              <a:t>StatusIzin</a:t>
            </a:r>
            <a:r>
              <a:rPr lang="en-US" sz="1150" dirty="0">
                <a:solidFill>
                  <a:srgbClr val="E6EDF3"/>
                </a:solidFill>
                <a:latin typeface="Consolas" pitchFamily="34" charset="0"/>
                <a:ea typeface="Consolas" pitchFamily="34" charset="-122"/>
                <a:cs typeface="Consolas" pitchFamily="34" charset="-120"/>
              </a:rPr>
              <a:t>.selalu =&gt; </a:t>
            </a:r>
            <a:r>
              <a:rPr lang="en-US" sz="1150" dirty="0">
                <a:solidFill>
                  <a:srgbClr val="FFCB6B"/>
                </a:solidFill>
                <a:latin typeface="Consolas" pitchFamily="34" charset="0"/>
                <a:ea typeface="Consolas" pitchFamily="34" charset="-122"/>
                <a:cs typeface="Consolas" pitchFamily="34" charset="-120"/>
              </a:rPr>
              <a:t>Tindakan</a:t>
            </a:r>
            <a:r>
              <a:rPr lang="en-US" sz="1150" dirty="0">
                <a:solidFill>
                  <a:srgbClr val="E6EDF3"/>
                </a:solidFill>
                <a:latin typeface="Consolas" pitchFamily="34" charset="0"/>
                <a:ea typeface="Consolas" pitchFamily="34" charset="-122"/>
                <a:cs typeface="Consolas" pitchFamily="34" charset="-120"/>
              </a:rPr>
              <a:t>.ambilLokasi,</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i="1" dirty="0">
                <a:solidFill>
                  <a:srgbClr val="8FA3BC"/>
                </a:solidFill>
                <a:latin typeface="Consolas" pitchFamily="34" charset="0"/>
                <a:ea typeface="Consolas" pitchFamily="34" charset="-122"/>
                <a:cs typeface="Consolas" pitchFamily="34" charset="-120"/>
              </a:rPr>
              <a:t>// Di browser lama status tidak bisa diketahui, jadi langsung minta.</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StatusIzin</a:t>
            </a:r>
            <a:r>
              <a:rPr lang="en-US" sz="1150" dirty="0">
                <a:solidFill>
                  <a:srgbClr val="E6EDF3"/>
                </a:solidFill>
                <a:latin typeface="Consolas" pitchFamily="34" charset="0"/>
                <a:ea typeface="Consolas" pitchFamily="34" charset="-122"/>
                <a:cs typeface="Consolas" pitchFamily="34" charset="-120"/>
              </a:rPr>
              <a:t>.ditolak || </a:t>
            </a:r>
            <a:r>
              <a:rPr lang="en-US" sz="1150" dirty="0">
                <a:solidFill>
                  <a:srgbClr val="FFCB6B"/>
                </a:solidFill>
                <a:latin typeface="Consolas" pitchFamily="34" charset="0"/>
                <a:ea typeface="Consolas" pitchFamily="34" charset="-122"/>
                <a:cs typeface="Consolas" pitchFamily="34" charset="-120"/>
              </a:rPr>
              <a:t>StatusIzin</a:t>
            </a:r>
            <a:r>
              <a:rPr lang="en-US" sz="1150" dirty="0">
                <a:solidFill>
                  <a:srgbClr val="E6EDF3"/>
                </a:solidFill>
                <a:latin typeface="Consolas" pitchFamily="34" charset="0"/>
                <a:ea typeface="Consolas" pitchFamily="34" charset="-122"/>
                <a:cs typeface="Consolas" pitchFamily="34" charset="-120"/>
              </a:rPr>
              <a:t>.tidakDiketahui =&gt; </a:t>
            </a:r>
            <a:r>
              <a:rPr lang="en-US" sz="1150" dirty="0">
                <a:solidFill>
                  <a:srgbClr val="FFCB6B"/>
                </a:solidFill>
                <a:latin typeface="Consolas" pitchFamily="34" charset="0"/>
                <a:ea typeface="Consolas" pitchFamily="34" charset="-122"/>
                <a:cs typeface="Consolas" pitchFamily="34" charset="-120"/>
              </a:rPr>
              <a:t>Tindakan</a:t>
            </a:r>
            <a:r>
              <a:rPr lang="en-US" sz="1150" dirty="0">
                <a:solidFill>
                  <a:srgbClr val="E6EDF3"/>
                </a:solidFill>
                <a:latin typeface="Consolas" pitchFamily="34" charset="0"/>
                <a:ea typeface="Consolas" pitchFamily="34" charset="-122"/>
                <a:cs typeface="Consolas" pitchFamily="34" charset="-120"/>
              </a:rPr>
              <a:t>.mintaIzin,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StatusIzin</a:t>
            </a:r>
            <a:r>
              <a:rPr lang="en-US" sz="1150" dirty="0">
                <a:solidFill>
                  <a:srgbClr val="E6EDF3"/>
                </a:solidFill>
                <a:latin typeface="Consolas" pitchFamily="34" charset="0"/>
                <a:ea typeface="Consolas" pitchFamily="34" charset="-122"/>
                <a:cs typeface="Consolas" pitchFamily="34" charset="-120"/>
              </a:rPr>
              <a:t>.ditolakPermanen =&gt; </a:t>
            </a:r>
            <a:r>
              <a:rPr lang="en-US" sz="1150" dirty="0">
                <a:solidFill>
                  <a:srgbClr val="FFCB6B"/>
                </a:solidFill>
                <a:latin typeface="Consolas" pitchFamily="34" charset="0"/>
                <a:ea typeface="Consolas" pitchFamily="34" charset="-122"/>
                <a:cs typeface="Consolas" pitchFamily="34" charset="-120"/>
              </a:rPr>
              <a:t>Tindakan</a:t>
            </a:r>
            <a:r>
              <a:rPr lang="en-US" sz="1150" dirty="0">
                <a:solidFill>
                  <a:srgbClr val="E6EDF3"/>
                </a:solidFill>
                <a:latin typeface="Consolas" pitchFamily="34" charset="0"/>
                <a:ea typeface="Consolas" pitchFamily="34" charset="-122"/>
                <a:cs typeface="Consolas" pitchFamily="34" charset="-120"/>
              </a:rPr>
              <a:t>.bukaPengaturan,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p:txBody>
      </p:sp>
      <p:sp>
        <p:nvSpPr>
          <p:cNvPr id="5" name="tombol tautan">
            <a:hlinkClick r:id="rId1" tooltip="https://github.com/antonprafanto/mobile2026/blob/main/pertemuan_13_fitur_perangkat_dan_izin/kode/contoh_01_status_izin_dart_murni.dart"/>
          </p:cNvPr>
          <p:cNvSpPr txBox="1"/>
          <p:nvPr/>
        </p:nvSpPr>
        <p:spPr>
          <a:xfrm>
            <a:off x="548640" y="4772025"/>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contoh_01_status_izin_dart_murni.dart</a:t>
            </a:r>
            <a:endParaRPr lang="en-US" sz="1300" dirty="0"/>
          </a:p>
        </p:txBody>
      </p:sp>
      <p:pic>
        <p:nvPicPr>
          <p:cNvPr id="6" name="Image 0" descr="ikon tautan">
            <a:hlinkClick r:id="rId3" tooltip="https://github.com/antonprafanto/mobile2026/blob/main/pertemuan_13_fitur_perangkat_dan_izin/kode/contoh_01_status_izin_dart_murni.dart"/>
          </p:cNvPr>
          <p:cNvPicPr>
            <a:picLocks noChangeAspect="1"/>
          </p:cNvPicPr>
          <p:nvPr/>
        </p:nvPicPr>
        <p:blipFill>
          <a:blip r:embed="rId2"/>
          <a:stretch>
            <a:fillRect/>
          </a:stretch>
        </p:blipFill>
        <p:spPr>
          <a:xfrm>
            <a:off x="694944" y="4863465"/>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Dua sakelar berbeda: LAYANAN lokasi (sakelar Lokasi di HP) dan IZIN aplikasi.</a:t>
            </a:r>
            <a:endParaRPr lang="en-US" sz="1700" dirty="0"/>
          </a:p>
          <a:p>
            <a:pPr marL="228600" indent="-228600">
              <a:spcAft>
                <a:spcPts val="800"/>
              </a:spcAft>
              <a:buSzPct val="100000"/>
              <a:buChar char="•"/>
            </a:pPr>
            <a:r>
              <a:rPr lang="en-US" sz="1700" dirty="0">
                <a:solidFill>
                  <a:schemeClr val="tx1"/>
                </a:solidFill>
              </a:rPr>
              <a:t>Layanan mati → izin tidak berguna; jangan tampilkan dialog yang percuma.</a:t>
            </a:r>
            <a:endParaRPr lang="en-US" sz="1700" dirty="0"/>
          </a:p>
          <a:p>
            <a:pPr marL="228600" indent="-228600">
              <a:spcAft>
                <a:spcPts val="800"/>
              </a:spcAft>
              <a:buSzPct val="100000"/>
              <a:buChar char="•"/>
            </a:pPr>
            <a:r>
              <a:rPr lang="en-US" sz="1700" dirty="0">
                <a:solidFill>
                  <a:schemeClr val="tx1"/>
                </a:solidFill>
              </a:rPr>
              <a:t>deniedForever punya tindakan sendiri: jelaskan, lalu tawarkan Buka Pengaturan.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01: Cerita Rina</a:t>
            </a:r>
            <a:endParaRPr lang="en-US" sz="3200" dirty="0"/>
          </a:p>
        </p:txBody>
      </p:sp>
      <p:sp>
        <p:nvSpPr>
          <p:cNvPr id="4" name="kotak kode"/>
          <p:cNvSpPr txBox="1"/>
          <p:nvPr/>
        </p:nvSpPr>
        <p:spPr>
          <a:xfrm>
            <a:off x="548640" y="1371600"/>
            <a:ext cx="7040880" cy="3051810"/>
          </a:xfrm>
          <a:prstGeom prst="roundRect">
            <a:avLst>
              <a:gd name="adj" fmla="val 2996"/>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78C6C"/>
                </a:solidFill>
                <a:latin typeface="Consolas" pitchFamily="34" charset="0"/>
                <a:ea typeface="Consolas" pitchFamily="34" charset="-122"/>
                <a:cs typeface="Consolas" pitchFamily="34" charset="-120"/>
              </a:rPr>
              <a:t>2.</a:t>
            </a:r>
            <a:r>
              <a:rPr lang="en-US" sz="1100" dirty="0">
                <a:solidFill>
                  <a:srgbClr val="E6EDF3"/>
                </a:solidFill>
                <a:latin typeface="Consolas" pitchFamily="34" charset="0"/>
                <a:ea typeface="Consolas" pitchFamily="34" charset="-122"/>
                <a:cs typeface="Consolas" pitchFamily="34" charset="-120"/>
              </a:rPr>
              <a:t> Cerita Rina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78C6C"/>
                </a:solidFill>
                <a:latin typeface="Consolas" pitchFamily="34" charset="0"/>
                <a:ea typeface="Consolas" pitchFamily="34" charset="-122"/>
                <a:cs typeface="Consolas" pitchFamily="34" charset="-120"/>
              </a:rPr>
              <a:t>1</a:t>
            </a:r>
            <a:r>
              <a:rPr lang="en-US" sz="1100" dirty="0">
                <a:solidFill>
                  <a:srgbClr val="E6EDF3"/>
                </a:solidFill>
                <a:latin typeface="Consolas" pitchFamily="34" charset="0"/>
                <a:ea typeface="Consolas" pitchFamily="34" charset="-122"/>
                <a:cs typeface="Consolas" pitchFamily="34" charset="-120"/>
              </a:rPr>
              <a:t>] Aplikasi baru dipasang. Periksa izin: ditolak</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78C6C"/>
                </a:solidFill>
                <a:latin typeface="Consolas" pitchFamily="34" charset="0"/>
                <a:ea typeface="Consolas" pitchFamily="34" charset="-122"/>
                <a:cs typeface="Consolas" pitchFamily="34" charset="-120"/>
              </a:rPr>
              <a:t>2</a:t>
            </a:r>
            <a:r>
              <a:rPr lang="en-US" sz="1100" dirty="0">
                <a:solidFill>
                  <a:srgbClr val="E6EDF3"/>
                </a:solidFill>
                <a:latin typeface="Consolas" pitchFamily="34" charset="0"/>
                <a:ea typeface="Consolas" pitchFamily="34" charset="-122"/>
                <a:cs typeface="Consolas" pitchFamily="34" charset="-120"/>
              </a:rPr>
              <a:t>] Rina mengetuk </a:t>
            </a:r>
            <a:r>
              <a:rPr lang="en-US" sz="1100" dirty="0">
                <a:solidFill>
                  <a:srgbClr val="C3E88D"/>
                </a:solidFill>
                <a:latin typeface="Consolas" pitchFamily="34" charset="0"/>
                <a:ea typeface="Consolas" pitchFamily="34" charset="-122"/>
                <a:cs typeface="Consolas" pitchFamily="34" charset="-120"/>
              </a:rPr>
              <a:t>"Gunakan lokasi saya"</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Dialog sistem muncul -&gt; dipilih </a:t>
            </a:r>
            <a:r>
              <a:rPr lang="en-US" sz="1100" dirty="0">
                <a:solidFill>
                  <a:srgbClr val="C3E88D"/>
                </a:solidFill>
                <a:latin typeface="Consolas" pitchFamily="34" charset="0"/>
                <a:ea typeface="Consolas" pitchFamily="34" charset="-122"/>
                <a:cs typeface="Consolas" pitchFamily="34" charset="-120"/>
              </a:rPr>
              <a:t>"Jangan izinkan"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Hasil: ditolak (penolakan ke-</a:t>
            </a:r>
            <a:r>
              <a:rPr lang="en-US" sz="1100" dirty="0">
                <a:solidFill>
                  <a:srgbClr val="F78C6C"/>
                </a:solidFill>
                <a:latin typeface="Consolas" pitchFamily="34" charset="0"/>
                <a:ea typeface="Consolas" pitchFamily="34" charset="-122"/>
                <a:cs typeface="Consolas" pitchFamily="34" charset="-120"/>
              </a:rPr>
              <a:t>1</a:t>
            </a:r>
            <a:r>
              <a:rPr lang="en-US" sz="1100" dirty="0">
                <a:solidFill>
                  <a:srgbClr val="E6EDF3"/>
                </a:solidFill>
                <a:latin typeface="Consolas" pitchFamily="34" charset="0"/>
                <a:ea typeface="Consolas" pitchFamily="34" charset="-122"/>
                <a:cs typeface="Consolas" pitchFamily="34" charset="-120"/>
              </a:rPr>
              <a:t>, masih boleh diminta)</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78C6C"/>
                </a:solidFill>
                <a:latin typeface="Consolas" pitchFamily="34" charset="0"/>
                <a:ea typeface="Consolas" pitchFamily="34" charset="-122"/>
                <a:cs typeface="Consolas" pitchFamily="34" charset="-120"/>
              </a:rPr>
              <a:t>3</a:t>
            </a:r>
            <a:r>
              <a:rPr lang="en-US" sz="1100" dirty="0">
                <a:solidFill>
                  <a:srgbClr val="E6EDF3"/>
                </a:solidFill>
                <a:latin typeface="Consolas" pitchFamily="34" charset="0"/>
                <a:ea typeface="Consolas" pitchFamily="34" charset="-122"/>
                <a:cs typeface="Consolas" pitchFamily="34" charset="-120"/>
              </a:rPr>
              <a:t>] Rina mengetuk lagi.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Dialog sistem muncul -&gt; dipilih </a:t>
            </a:r>
            <a:r>
              <a:rPr lang="en-US" sz="1100" dirty="0">
                <a:solidFill>
                  <a:srgbClr val="C3E88D"/>
                </a:solidFill>
                <a:latin typeface="Consolas" pitchFamily="34" charset="0"/>
                <a:ea typeface="Consolas" pitchFamily="34" charset="-122"/>
                <a:cs typeface="Consolas" pitchFamily="34" charset="-120"/>
              </a:rPr>
              <a:t>"Jangan izinkan"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Hasil: ditolakPermanen (penolakan ke-</a:t>
            </a:r>
            <a:r>
              <a:rPr lang="en-US" sz="1100" dirty="0">
                <a:solidFill>
                  <a:srgbClr val="F78C6C"/>
                </a:solidFill>
                <a:latin typeface="Consolas" pitchFamily="34" charset="0"/>
                <a:ea typeface="Consolas" pitchFamily="34" charset="-122"/>
                <a:cs typeface="Consolas" pitchFamily="34" charset="-120"/>
              </a:rPr>
              <a:t>2</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78C6C"/>
                </a:solidFill>
                <a:latin typeface="Consolas" pitchFamily="34" charset="0"/>
                <a:ea typeface="Consolas" pitchFamily="34" charset="-122"/>
                <a:cs typeface="Consolas" pitchFamily="34" charset="-120"/>
              </a:rPr>
              <a:t>4</a:t>
            </a:r>
            <a:r>
              <a:rPr lang="en-US" sz="1100" dirty="0">
                <a:solidFill>
                  <a:srgbClr val="E6EDF3"/>
                </a:solidFill>
                <a:latin typeface="Consolas" pitchFamily="34" charset="0"/>
                <a:ea typeface="Consolas" pitchFamily="34" charset="-122"/>
                <a:cs typeface="Consolas" pitchFamily="34" charset="-120"/>
              </a:rPr>
              <a:t>] Rina mengetuk lagi.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Dialog TIDAK muncul -&gt; langsung: ditolakPermanen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Aplikasi: Jelaskan, lalu tawarkan tombol </a:t>
            </a:r>
            <a:r>
              <a:rPr lang="en-US" sz="1100" dirty="0">
                <a:solidFill>
                  <a:srgbClr val="C3E88D"/>
                </a:solidFill>
                <a:latin typeface="Consolas" pitchFamily="34" charset="0"/>
                <a:ea typeface="Consolas" pitchFamily="34" charset="-122"/>
                <a:cs typeface="Consolas" pitchFamily="34" charset="-120"/>
              </a:rPr>
              <a:t>"Buka Pengaturan"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78C6C"/>
                </a:solidFill>
                <a:latin typeface="Consolas" pitchFamily="34" charset="0"/>
                <a:ea typeface="Consolas" pitchFamily="34" charset="-122"/>
                <a:cs typeface="Consolas" pitchFamily="34" charset="-120"/>
              </a:rPr>
              <a:t>5</a:t>
            </a:r>
            <a:r>
              <a:rPr lang="en-US" sz="1100" dirty="0">
                <a:solidFill>
                  <a:srgbClr val="E6EDF3"/>
                </a:solidFill>
                <a:latin typeface="Consolas" pitchFamily="34" charset="0"/>
                <a:ea typeface="Consolas" pitchFamily="34" charset="-122"/>
                <a:cs typeface="Consolas" pitchFamily="34" charset="-120"/>
              </a:rPr>
              <a:t>] Rina membuka Pengaturan dan memilih </a:t>
            </a:r>
            <a:r>
              <a:rPr lang="en-US" sz="1100" dirty="0">
                <a:solidFill>
                  <a:srgbClr val="C3E88D"/>
                </a:solidFill>
                <a:latin typeface="Consolas" pitchFamily="34" charset="0"/>
                <a:ea typeface="Consolas" pitchFamily="34" charset="-122"/>
                <a:cs typeface="Consolas" pitchFamily="34" charset="-120"/>
              </a:rPr>
              <a:t>"Izinkan"</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Periksa izin: saatDipakai -&gt; Ambil lokasi sekarang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78C6C"/>
                </a:solidFill>
                <a:latin typeface="Consolas" pitchFamily="34" charset="0"/>
                <a:ea typeface="Consolas" pitchFamily="34" charset="-122"/>
                <a:cs typeface="Consolas" pitchFamily="34" charset="-120"/>
              </a:rPr>
              <a:t>6</a:t>
            </a:r>
            <a:r>
              <a:rPr lang="en-US" sz="1100" dirty="0">
                <a:solidFill>
                  <a:srgbClr val="E6EDF3"/>
                </a:solidFill>
                <a:latin typeface="Consolas" pitchFamily="34" charset="0"/>
                <a:ea typeface="Consolas" pitchFamily="34" charset="-122"/>
                <a:cs typeface="Consolas" pitchFamily="34" charset="-120"/>
              </a:rPr>
              <a:t>] Rina mematikan sakelar Lokasi di HP.</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Izin tetap saatDipakai, tetapi: Minta pengguna menyalakan layanan lokasi</a:t>
            </a:r>
            <a:endParaRPr lang="en-US" sz="1100" dirty="0"/>
          </a:p>
        </p:txBody>
      </p:sp>
      <p:sp>
        <p:nvSpPr>
          <p:cNvPr id="5" name="tombol tautan">
            <a:hlinkClick r:id="rId1" tooltip="https://github.com/antonprafanto/mobile2026/blob/main/pertemuan_13_fitur_perangkat_dan_izin/kode/contoh_01_status_izin_dart_murni.dart"/>
          </p:cNvPr>
          <p:cNvSpPr txBox="1"/>
          <p:nvPr/>
        </p:nvSpPr>
        <p:spPr>
          <a:xfrm>
            <a:off x="548640" y="4652010"/>
            <a:ext cx="704088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contoh_01_status_izin_dart_murni.dart</a:t>
            </a:r>
            <a:endParaRPr lang="en-US" sz="1300" dirty="0"/>
          </a:p>
        </p:txBody>
      </p:sp>
      <p:pic>
        <p:nvPicPr>
          <p:cNvPr id="6" name="Image 0" descr="ikon tautan">
            <a:hlinkClick r:id="rId3" tooltip="https://github.com/antonprafanto/mobile2026/blob/main/pertemuan_13_fitur_perangkat_dan_izin/kode/contoh_01_status_izin_dart_murni.dart"/>
          </p:cNvPr>
          <p:cNvPicPr>
            <a:picLocks noChangeAspect="1"/>
          </p:cNvPicPr>
          <p:nvPr/>
        </p:nvPicPr>
        <p:blipFill>
          <a:blip r:embed="rId2"/>
          <a:stretch>
            <a:fillRect/>
          </a:stretch>
        </p:blipFill>
        <p:spPr>
          <a:xfrm>
            <a:off x="694944" y="4743450"/>
            <a:ext cx="274320" cy="274320"/>
          </a:xfrm>
          <a:prstGeom prst="rect">
            <a:avLst/>
          </a:prstGeom>
        </p:spPr>
      </p:pic>
      <p:sp>
        <p:nvSpPr>
          <p:cNvPr id="7" name="daftar poin"/>
          <p:cNvSpPr txBox="1"/>
          <p:nvPr/>
        </p:nvSpPr>
        <p:spPr>
          <a:xfrm>
            <a:off x="8001000" y="1417320"/>
            <a:ext cx="364205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SistemOperasiTiruan meniru aturan Android, di DartPad.</a:t>
            </a:r>
            <a:endParaRPr lang="en-US" sz="1700" dirty="0"/>
          </a:p>
          <a:p>
            <a:pPr marL="228600" indent="-228600">
              <a:spcAft>
                <a:spcPts val="800"/>
              </a:spcAft>
              <a:buSzPct val="100000"/>
              <a:buChar char="•"/>
            </a:pPr>
            <a:r>
              <a:rPr lang="en-US" sz="1700" dirty="0">
                <a:solidFill>
                  <a:schemeClr val="tx1"/>
                </a:solidFill>
              </a:rPr>
              <a:t>Langkah [4]: dialog tidak muncul lagi walaupun diminta.</a:t>
            </a:r>
            <a:endParaRPr lang="en-US" sz="1700" dirty="0"/>
          </a:p>
          <a:p>
            <a:pPr marL="228600" indent="-228600">
              <a:spcAft>
                <a:spcPts val="800"/>
              </a:spcAft>
              <a:buSzPct val="100000"/>
              <a:buChar char="•"/>
            </a:pPr>
            <a:r>
              <a:rPr lang="en-US" sz="1700" dirty="0">
                <a:solidFill>
                  <a:schemeClr val="tx1"/>
                </a:solidFill>
              </a:rPr>
              <a:t>Tanpa penanganan deniedForever, tombol seolah rusak: diketuk berkali-kali, tidak terjadi apa-apa.</a:t>
            </a:r>
            <a:endParaRPr lang="en-US" sz="1700" dirty="0"/>
          </a:p>
          <a:p>
            <a:pPr marL="228600" indent="-228600">
              <a:spcAft>
                <a:spcPts val="800"/>
              </a:spcAft>
              <a:buSzPct val="100000"/>
              <a:buChar char="•"/>
            </a:pPr>
            <a:r>
              <a:rPr lang="en-US" sz="1700" dirty="0">
                <a:solidFill>
                  <a:schemeClr val="tx1"/>
                </a:solidFill>
              </a:rPr>
              <a:t>Bagian 3: Budi memilih "Hanya kali ini"; besoknya kembali ditolak.</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3</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Menyiapkan Proyek: Paket dan Pengaturan Platform</a:t>
            </a:r>
            <a:endParaRPr lang="en-US" sz="4000" dirty="0"/>
          </a:p>
        </p:txBody>
      </p:sp>
      <p:sp>
        <p:nvSpPr>
          <p:cNvPr id="5" name="lingkaran setel"/>
          <p:cNvSpPr/>
          <p:nvPr/>
        </p:nvSpPr>
        <p:spPr>
          <a:xfrm>
            <a:off x="1097280" y="2148840"/>
            <a:ext cx="2011680" cy="2011680"/>
          </a:xfrm>
          <a:prstGeom prst="ellipse">
            <a:avLst/>
          </a:prstGeom>
          <a:solidFill>
            <a:schemeClr val="accent1"/>
          </a:solidFill>
          <a:ln/>
        </p:spPr>
      </p:sp>
      <p:pic>
        <p:nvPicPr>
          <p:cNvPr id="6" name="Image 0" descr="setel">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Menambah Paket</a:t>
            </a:r>
            <a:endParaRPr lang="en-US" sz="3200" dirty="0"/>
          </a:p>
        </p:txBody>
      </p:sp>
      <p:sp>
        <p:nvSpPr>
          <p:cNvPr id="4" name="kotak kode"/>
          <p:cNvSpPr txBox="1"/>
          <p:nvPr/>
        </p:nvSpPr>
        <p:spPr>
          <a:xfrm>
            <a:off x="548640" y="1371600"/>
            <a:ext cx="6035040" cy="2571750"/>
          </a:xfrm>
          <a:prstGeom prst="roundRect">
            <a:avLst>
              <a:gd name="adj" fmla="val 3556"/>
            </a:avLst>
          </a:prstGeom>
          <a:solidFill>
            <a:srgbClr val="0E1A2B"/>
          </a:solidFill>
          <a:ln/>
        </p:spPr>
        <p:txBody>
          <a:bodyPr wrap="square" lIns="177800" tIns="152400" rIns="152400" bIns="177800" rtlCol="0" anchor="t"/>
          <a:lstStyle/>
          <a:p>
            <a:pPr indent="0" marL="0">
              <a:lnSpc>
                <a:spcPct val="105000"/>
              </a:lnSpc>
              <a:buNone/>
            </a:pPr>
            <a:r>
              <a:rPr lang="en-US" sz="1500" i="1" dirty="0">
                <a:solidFill>
                  <a:srgbClr val="8FA3BC"/>
                </a:solidFill>
                <a:latin typeface="Consolas" pitchFamily="34" charset="0"/>
                <a:ea typeface="Consolas" pitchFamily="34" charset="-122"/>
                <a:cs typeface="Consolas" pitchFamily="34" charset="-120"/>
              </a:rPr>
              <a:t># di folder proyek</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flutter pub add image_picker geolocator</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i="1" dirty="0">
                <a:solidFill>
                  <a:srgbClr val="8FA3BC"/>
                </a:solidFill>
                <a:latin typeface="Consolas" pitchFamily="34" charset="0"/>
                <a:ea typeface="Consolas" pitchFamily="34" charset="-122"/>
                <a:cs typeface="Consolas" pitchFamily="34" charset="-120"/>
              </a:rPr>
              <a:t># pubspec.yaml (urut abjad)</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dependencies:</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flutter:</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sdk: flutter</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geolocator: ^</a:t>
            </a:r>
            <a:r>
              <a:rPr lang="en-US" sz="1500" dirty="0">
                <a:solidFill>
                  <a:srgbClr val="F78C6C"/>
                </a:solidFill>
                <a:latin typeface="Consolas" pitchFamily="34" charset="0"/>
                <a:ea typeface="Consolas" pitchFamily="34" charset="-122"/>
                <a:cs typeface="Consolas" pitchFamily="34" charset="-120"/>
              </a:rPr>
              <a:t>14.1.1</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image_picker: ^</a:t>
            </a:r>
            <a:r>
              <a:rPr lang="en-US" sz="1500" dirty="0">
                <a:solidFill>
                  <a:srgbClr val="F78C6C"/>
                </a:solidFill>
                <a:latin typeface="Consolas" pitchFamily="34" charset="0"/>
                <a:ea typeface="Consolas" pitchFamily="34" charset="-122"/>
                <a:cs typeface="Consolas" pitchFamily="34" charset="-120"/>
              </a:rPr>
              <a:t>1.2.4</a:t>
            </a:r>
            <a:endParaRPr lang="en-US" sz="1500" dirty="0"/>
          </a:p>
        </p:txBody>
      </p:sp>
      <p:sp>
        <p:nvSpPr>
          <p:cNvPr id="5" name="daftar poin"/>
          <p:cNvSpPr txBox="1"/>
          <p:nvPr/>
        </p:nvSpPr>
        <p:spPr>
          <a:xfrm>
            <a:off x="6995160" y="1417320"/>
            <a:ext cx="46478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Contoh 07 dan 08 juga memakai provider, seperti Pertemuan 9–12.</a:t>
            </a:r>
            <a:endParaRPr lang="en-US" sz="1700" dirty="0"/>
          </a:p>
          <a:p>
            <a:pPr marL="228600" indent="-228600">
              <a:spcAft>
                <a:spcPts val="800"/>
              </a:spcAft>
              <a:buSzPct val="100000"/>
              <a:buChar char="•"/>
            </a:pPr>
            <a:r>
              <a:rPr lang="en-US" sz="1700" dirty="0">
                <a:solidFill>
                  <a:schemeClr val="tx1"/>
                </a:solidFill>
              </a:rPr>
              <a:t>Setelah menambah plugin atau mengubah pengaturan platform: HENTIKAN aplikasi, lalu flutter run ulang.</a:t>
            </a:r>
            <a:endParaRPr lang="en-US" sz="1700" dirty="0"/>
          </a:p>
          <a:p>
            <a:pPr marL="228600" indent="-228600">
              <a:spcAft>
                <a:spcPts val="800"/>
              </a:spcAft>
              <a:buSzPct val="100000"/>
              <a:buChar char="•"/>
            </a:pPr>
            <a:r>
              <a:rPr lang="en-US" sz="1700" dirty="0">
                <a:solidFill>
                  <a:schemeClr val="tx1"/>
                </a:solidFill>
              </a:rPr>
              <a:t>Hot reload/hot restart hanya memuat ulang kode Dart → galat MissingPluginException.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Android: AndroidManifest.xml</a:t>
            </a:r>
            <a:endParaRPr lang="en-US" sz="3200" dirty="0"/>
          </a:p>
        </p:txBody>
      </p:sp>
      <p:sp>
        <p:nvSpPr>
          <p:cNvPr id="4" name="kotak kode"/>
          <p:cNvSpPr txBox="1"/>
          <p:nvPr/>
        </p:nvSpPr>
        <p:spPr>
          <a:xfrm>
            <a:off x="548640" y="1371600"/>
            <a:ext cx="6949440" cy="2715768"/>
          </a:xfrm>
          <a:prstGeom prst="roundRect">
            <a:avLst>
              <a:gd name="adj" fmla="val 3367"/>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&lt;manifest xmlns:android=</a:t>
            </a:r>
            <a:r>
              <a:rPr lang="en-US" sz="1200" dirty="0">
                <a:solidFill>
                  <a:srgbClr val="C3E88D"/>
                </a:solidFill>
                <a:latin typeface="Consolas" pitchFamily="34" charset="0"/>
                <a:ea typeface="Consolas" pitchFamily="34" charset="-122"/>
                <a:cs typeface="Consolas" pitchFamily="34" charset="-120"/>
              </a:rPr>
              <a:t>"http://schemas.android.com/apk/res/android"</a:t>
            </a:r>
            <a:r>
              <a:rPr lang="en-US" sz="1200" dirty="0">
                <a:solidFill>
                  <a:srgbClr val="E6EDF3"/>
                </a:solidFill>
                <a:latin typeface="Consolas" pitchFamily="34" charset="0"/>
                <a:ea typeface="Consolas" pitchFamily="34" charset="-122"/>
                <a:cs typeface="Consolas" pitchFamily="34" charset="-120"/>
              </a:rPr>
              <a:t>&gt;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&lt;!-- Lokasi perkiraan (area sekitar </a:t>
            </a:r>
            <a:r>
              <a:rPr lang="en-US" sz="1200" dirty="0">
                <a:solidFill>
                  <a:srgbClr val="F78C6C"/>
                </a:solidFill>
                <a:latin typeface="Consolas" pitchFamily="34" charset="0"/>
                <a:ea typeface="Consolas" pitchFamily="34" charset="-122"/>
                <a:cs typeface="Consolas" pitchFamily="34" charset="-120"/>
              </a:rPr>
              <a:t>3</a:t>
            </a:r>
            <a:r>
              <a:rPr lang="en-US" sz="1200" dirty="0">
                <a:solidFill>
                  <a:srgbClr val="E6EDF3"/>
                </a:solidFill>
                <a:latin typeface="Consolas" pitchFamily="34" charset="0"/>
                <a:ea typeface="Consolas" pitchFamily="34" charset="-122"/>
                <a:cs typeface="Consolas" pitchFamily="34" charset="-120"/>
              </a:rPr>
              <a:t> km persegi).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&lt;uses-permission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android:name=</a:t>
            </a:r>
            <a:r>
              <a:rPr lang="en-US" sz="1200" dirty="0">
                <a:solidFill>
                  <a:srgbClr val="C3E88D"/>
                </a:solidFill>
                <a:latin typeface="Consolas" pitchFamily="34" charset="0"/>
                <a:ea typeface="Consolas" pitchFamily="34" charset="-122"/>
                <a:cs typeface="Consolas" pitchFamily="34" charset="-120"/>
              </a:rPr>
              <a:t>"android.permission.ACCESS_COARSE_LOCATION"</a:t>
            </a:r>
            <a:r>
              <a:rPr lang="en-US" sz="1200" dirty="0">
                <a:solidFill>
                  <a:srgbClr val="E6EDF3"/>
                </a:solidFill>
                <a:latin typeface="Consolas" pitchFamily="34" charset="0"/>
                <a:ea typeface="Consolas" pitchFamily="34" charset="-122"/>
                <a:cs typeface="Consolas" pitchFamily="34" charset="-120"/>
              </a:rPr>
              <a:t>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&lt;!-- Lokasi tepat (GPS). Di Android </a:t>
            </a:r>
            <a:r>
              <a:rPr lang="en-US" sz="1200" dirty="0">
                <a:solidFill>
                  <a:srgbClr val="F78C6C"/>
                </a:solidFill>
                <a:latin typeface="Consolas" pitchFamily="34" charset="0"/>
                <a:ea typeface="Consolas" pitchFamily="34" charset="-122"/>
                <a:cs typeface="Consolas" pitchFamily="34" charset="-120"/>
              </a:rPr>
              <a:t>12</a:t>
            </a:r>
            <a:r>
              <a:rPr lang="en-US" sz="1200" dirty="0">
                <a:solidFill>
                  <a:srgbClr val="E6EDF3"/>
                </a:solidFill>
                <a:latin typeface="Consolas" pitchFamily="34" charset="0"/>
                <a:ea typeface="Consolas" pitchFamily="34" charset="-122"/>
                <a:cs typeface="Consolas" pitchFamily="34" charset="-120"/>
              </a:rPr>
              <a:t> ke atas wajib ditulis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bersama ACCESS_COARSE_LOCATION.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&lt;uses-permission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android:name=</a:t>
            </a:r>
            <a:r>
              <a:rPr lang="en-US" sz="1200" dirty="0">
                <a:solidFill>
                  <a:srgbClr val="C3E88D"/>
                </a:solidFill>
                <a:latin typeface="Consolas" pitchFamily="34" charset="0"/>
                <a:ea typeface="Consolas" pitchFamily="34" charset="-122"/>
                <a:cs typeface="Consolas" pitchFamily="34" charset="-120"/>
              </a:rPr>
              <a:t>"android.permission.ACCESS_FINE_LOCATION"</a:t>
            </a:r>
            <a:r>
              <a:rPr lang="en-US" sz="1200" dirty="0">
                <a:solidFill>
                  <a:srgbClr val="E6EDF3"/>
                </a:solidFill>
                <a:latin typeface="Consolas" pitchFamily="34" charset="0"/>
                <a:ea typeface="Consolas" pitchFamily="34" charset="-122"/>
                <a:cs typeface="Consolas" pitchFamily="34" charset="-120"/>
              </a:rPr>
              <a:t>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&lt;application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android:label=</a:t>
            </a:r>
            <a:r>
              <a:rPr lang="en-US" sz="1200" dirty="0">
                <a:solidFill>
                  <a:srgbClr val="C3E88D"/>
                </a:solidFill>
                <a:latin typeface="Consolas" pitchFamily="34" charset="0"/>
                <a:ea typeface="Consolas" pitchFamily="34" charset="-122"/>
                <a:cs typeface="Consolas" pitchFamily="34" charset="-120"/>
              </a:rPr>
              <a:t>"presensi_praktikum"</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...&gt;</a:t>
            </a:r>
            <a:endParaRPr lang="en-US" sz="1200" dirty="0"/>
          </a:p>
        </p:txBody>
      </p:sp>
      <p:sp>
        <p:nvSpPr>
          <p:cNvPr id="5"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Ditulis DI ATAS tag &lt;application&gt;.</a:t>
            </a:r>
            <a:endParaRPr lang="en-US" sz="1700" dirty="0"/>
          </a:p>
          <a:p>
            <a:pPr marL="228600" indent="-228600">
              <a:spcAft>
                <a:spcPts val="800"/>
              </a:spcAft>
              <a:buSzPct val="100000"/>
              <a:buChar char="•"/>
            </a:pPr>
            <a:r>
              <a:rPr lang="en-US" sz="1700" dirty="0">
                <a:solidFill>
                  <a:schemeClr val="tx1"/>
                </a:solidFill>
              </a:rPr>
              <a:t>image_picker: TIDAK perlu baris tambahan (Photo Picker sistem + kamera bawaan).</a:t>
            </a:r>
            <a:endParaRPr lang="en-US" sz="1700" dirty="0"/>
          </a:p>
          <a:p>
            <a:pPr marL="228600" indent="-228600">
              <a:spcAft>
                <a:spcPts val="800"/>
              </a:spcAft>
              <a:buSzPct val="100000"/>
              <a:buChar char="•"/>
            </a:pPr>
            <a:r>
              <a:rPr lang="en-US" sz="1700" dirty="0">
                <a:solidFill>
                  <a:schemeClr val="tx1"/>
                </a:solidFill>
              </a:rPr>
              <a:t>JANGAN tambahkan izin CAMERA hanya karena image_picker: jika belum diberikan, Android justru menolak membuka kamera bawaan.</a:t>
            </a:r>
            <a:endParaRPr lang="en-US" sz="1700" dirty="0"/>
          </a:p>
          <a:p>
            <a:pPr marL="228600" indent="-228600">
              <a:spcAft>
                <a:spcPts val="800"/>
              </a:spcAft>
              <a:buSzPct val="100000"/>
              <a:buChar char="•"/>
            </a:pPr>
            <a:r>
              <a:rPr lang="en-US" sz="1700" dirty="0">
                <a:solidFill>
                  <a:schemeClr val="tx1"/>
                </a:solidFill>
              </a:rPr>
              <a:t>Lokasi latar belakang tidak dipakai.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iOS: Kalimat Alasan di Info.plist</a:t>
            </a:r>
            <a:endParaRPr lang="en-US" sz="3200" dirty="0"/>
          </a:p>
        </p:txBody>
      </p:sp>
      <p:sp>
        <p:nvSpPr>
          <p:cNvPr id="4" name="kotak kode"/>
          <p:cNvSpPr txBox="1"/>
          <p:nvPr/>
        </p:nvSpPr>
        <p:spPr>
          <a:xfrm>
            <a:off x="548640" y="1371600"/>
            <a:ext cx="7040880" cy="1587627"/>
          </a:xfrm>
          <a:prstGeom prst="roundRect">
            <a:avLst>
              <a:gd name="adj" fmla="val 5760"/>
            </a:avLst>
          </a:prstGeom>
          <a:solidFill>
            <a:srgbClr val="0E1A2B"/>
          </a:solidFill>
          <a:ln/>
        </p:spPr>
        <p:txBody>
          <a:bodyPr wrap="square" lIns="177800" tIns="152400" rIns="152400" bIns="177800" rtlCol="0" anchor="t"/>
          <a:lstStyle/>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&lt;!-- ios/Runner/Info.plist, di dalam &lt;dict&gt; --&gt;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&lt;key&gt;NSPhotoLibraryUsageDescription&lt;/key&gt;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&lt;string&gt;Anda bisa memilih foto dari galeri sebagai foto profil.&lt;/string&gt;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&lt;key&gt;NSCameraUsageDescription&lt;/key&gt;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&lt;string&gt;Aplikasi memotret foto profil dan foto presensi dengan kamera.&lt;/string&gt;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&lt;key&gt;NSLocationWhenInUseUsageDescription&lt;/key&gt;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&lt;string&gt;Aplikasi memeriksa jarak Anda ke laboratorium saat presensi.&lt;/string&gt;</a:t>
            </a:r>
            <a:endParaRPr lang="en-US" sz="1050" dirty="0"/>
          </a:p>
        </p:txBody>
      </p:sp>
      <p:sp>
        <p:nvSpPr>
          <p:cNvPr id="5" name="daftar poin"/>
          <p:cNvSpPr txBox="1"/>
          <p:nvPr/>
        </p:nvSpPr>
        <p:spPr>
          <a:xfrm>
            <a:off x="8001000" y="1417320"/>
            <a:ext cx="364205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Wajib untuk setiap fitur sensitif; kalimatnya TAMPIL di dialog izin iOS.</a:t>
            </a:r>
            <a:endParaRPr lang="en-US" sz="1700" dirty="0"/>
          </a:p>
          <a:p>
            <a:pPr marL="228600" indent="-228600">
              <a:spcAft>
                <a:spcPts val="800"/>
              </a:spcAft>
              <a:buSzPct val="100000"/>
              <a:buChar char="•"/>
            </a:pPr>
            <a:r>
              <a:rPr lang="en-US" sz="1700" dirty="0">
                <a:solidFill>
                  <a:schemeClr val="tx1"/>
                </a:solidFill>
              </a:rPr>
              <a:t>Lupa menulis: iOS menutup paksa aplikasi saat kamera/galeri dibuka; geolocator melempar galat saat izin lokasi diminta.</a:t>
            </a:r>
            <a:endParaRPr lang="en-US" sz="1700" dirty="0"/>
          </a:p>
          <a:p>
            <a:pPr marL="228600" indent="-228600">
              <a:spcAft>
                <a:spcPts val="800"/>
              </a:spcAft>
              <a:buSzPct val="100000"/>
              <a:buChar char="•"/>
            </a:pPr>
            <a:r>
              <a:rPr lang="en-US" sz="1700" dirty="0">
                <a:solidFill>
                  <a:schemeClr val="tx1"/>
                </a:solidFill>
              </a:rPr>
              <a:t>Video bersuara: tambah NSMicrophoneUsageDescription.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Menulis Kalimat Alasan yang Baik</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peringatan"/>
          <p:cNvSpPr/>
          <p:nvPr/>
        </p:nvSpPr>
        <p:spPr>
          <a:xfrm>
            <a:off x="777240" y="1600200"/>
            <a:ext cx="685800" cy="685800"/>
          </a:xfrm>
          <a:prstGeom prst="ellipse">
            <a:avLst/>
          </a:prstGeom>
          <a:solidFill>
            <a:schemeClr val="accent5"/>
          </a:solidFill>
          <a:ln/>
        </p:spPr>
      </p:sp>
      <p:pic>
        <p:nvPicPr>
          <p:cNvPr id="6" name="Image 0" descr="peringatan">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Kurang baik</a:t>
            </a:r>
            <a:endParaRPr lang="en-US" sz="1900" dirty="0"/>
          </a:p>
        </p:txBody>
      </p:sp>
      <p:sp>
        <p:nvSpPr>
          <p:cNvPr id="8" name="daftar poin"/>
          <p:cNvSpPr txBox="1"/>
          <p:nvPr/>
        </p:nvSpPr>
        <p:spPr>
          <a:xfrm>
            <a:off x="777240" y="2560320"/>
            <a:ext cx="4929988" cy="26060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"Lokasi dibutuhkan agar pengalaman lebih baik." → kalimat pasif, alasannya kabur</a:t>
            </a:r>
            <a:endParaRPr lang="en-US" sz="1800" dirty="0"/>
          </a:p>
          <a:p>
            <a:pPr marL="228600" indent="-228600">
              <a:spcAft>
                <a:spcPts val="800"/>
              </a:spcAft>
              <a:buSzPct val="100000"/>
              <a:buChar char="•"/>
            </a:pPr>
            <a:r>
              <a:rPr lang="en-US" sz="1800" dirty="0">
                <a:solidFill>
                  <a:schemeClr val="tx1"/>
                </a:solidFill>
              </a:rPr>
              <a:t>"Izinkan akses kamera." → kalimat perintah tanpa alasan</a:t>
            </a:r>
            <a:endParaRPr lang="en-US" sz="1800" dirty="0"/>
          </a:p>
        </p:txBody>
      </p:sp>
      <p:sp>
        <p:nvSpPr>
          <p:cNvPr id="9" name="kolom 2"/>
          <p:cNvSpPr/>
          <p:nvPr/>
        </p:nvSpPr>
        <p:spPr>
          <a:xfrm>
            <a:off x="6255868" y="1371600"/>
            <a:ext cx="5387188" cy="3931920"/>
          </a:xfrm>
          <a:prstGeom prst="roundRect">
            <a:avLst>
              <a:gd name="adj" fmla="val 2791"/>
            </a:avLst>
          </a:prstGeom>
          <a:solidFill>
            <a:srgbClr val="E3F2FD"/>
          </a:solidFill>
          <a:ln w="25400">
            <a:solidFill>
              <a:schemeClr val="accent1"/>
            </a:solidFill>
            <a:prstDash val="solid"/>
          </a:ln>
        </p:spPr>
      </p:sp>
      <p:sp>
        <p:nvSpPr>
          <p:cNvPr id="10" name="lingkaran centang"/>
          <p:cNvSpPr/>
          <p:nvPr/>
        </p:nvSpPr>
        <p:spPr>
          <a:xfrm>
            <a:off x="6484468" y="1600200"/>
            <a:ext cx="685800" cy="685800"/>
          </a:xfrm>
          <a:prstGeom prst="ellipse">
            <a:avLst/>
          </a:prstGeom>
          <a:solidFill>
            <a:schemeClr val="accent4"/>
          </a:solidFill>
          <a:ln/>
        </p:spPr>
      </p:sp>
      <p:pic>
        <p:nvPicPr>
          <p:cNvPr id="11" name="Image 1" descr="centang">    </p:cNvPr>
          <p:cNvPicPr>
            <a:picLocks noChangeAspect="1"/>
          </p:cNvPicPr>
          <p:nvPr/>
        </p:nvPicPr>
        <p:blipFill>
          <a:blip r:embed="rId2"/>
          <a:stretch>
            <a:fillRect/>
          </a:stretch>
        </p:blipFill>
        <p:spPr>
          <a:xfrm>
            <a:off x="6635344" y="1751076"/>
            <a:ext cx="384048" cy="384048"/>
          </a:xfrm>
          <a:prstGeom prst="rect">
            <a:avLst/>
          </a:prstGeom>
        </p:spPr>
      </p:pic>
      <p:sp>
        <p:nvSpPr>
          <p:cNvPr id="12" name="Text 7"/>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Lebih baik</a:t>
            </a:r>
            <a:endParaRPr lang="en-US" sz="1900" dirty="0"/>
          </a:p>
        </p:txBody>
      </p:sp>
      <p:sp>
        <p:nvSpPr>
          <p:cNvPr id="13" name="daftar poin"/>
          <p:cNvSpPr txBox="1"/>
          <p:nvPr/>
        </p:nvSpPr>
        <p:spPr>
          <a:xfrm>
            <a:off x="6484468" y="2560320"/>
            <a:ext cx="4929988" cy="26060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"Aplikasi memeriksa jarak Anda ke laboratorium saat presensi."</a:t>
            </a:r>
            <a:endParaRPr lang="en-US" sz="1800" dirty="0"/>
          </a:p>
          <a:p>
            <a:pPr marL="228600" indent="-228600">
              <a:spcAft>
                <a:spcPts val="800"/>
              </a:spcAft>
              <a:buSzPct val="100000"/>
              <a:buChar char="•"/>
            </a:pPr>
            <a:r>
              <a:rPr lang="en-US" sz="1800" dirty="0">
                <a:solidFill>
                  <a:schemeClr val="tx1"/>
                </a:solidFill>
              </a:rPr>
              <a:t>"Aplikasi memotret foto profil dan foto presensi dengan kamera."</a:t>
            </a:r>
            <a:endParaRPr lang="en-US" sz="1800" dirty="0"/>
          </a:p>
        </p:txBody>
      </p:sp>
      <p:sp>
        <p:nvSpPr>
          <p:cNvPr id="14" name="lingkaran lampu"/>
          <p:cNvSpPr/>
          <p:nvPr/>
        </p:nvSpPr>
        <p:spPr>
          <a:xfrm>
            <a:off x="548640" y="5532120"/>
            <a:ext cx="548640" cy="548640"/>
          </a:xfrm>
          <a:prstGeom prst="ellipse">
            <a:avLst/>
          </a:prstGeom>
          <a:solidFill>
            <a:schemeClr val="accent3"/>
          </a:solidFill>
          <a:ln/>
        </p:spPr>
      </p:sp>
      <p:pic>
        <p:nvPicPr>
          <p:cNvPr id="15"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16" name="Text 10"/>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Pedoman Apple: satu kalimat lengkap yang AKTIF, SPESIFIK tentang cara dan alasan data dipakai, mudah dipahami, dan diakhiri titik.</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Web: Perbedaan Perilaku di Browser</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486679"/>
                <a:gridCol w="8607736"/>
              </a:tblGrid>
              <a:tr h="60350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Hal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Perilaku di browser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Alamat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Lokasi dan kamera hanya di konteks aman: HTTPS atau localhost (flutter run -d chrome memakai localhost)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Dialog izin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Ditampilkan browser; izin situs diatur lewat ikon di sebelah kiri alamat situs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Layanan lokasi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isLocationServiceEnabled() SELALU true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Fungsi yang tidak ada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openAppSettings(), openLocationSettings(), getLastKnownPosition(), getServiceStatusStream() → UnsupportedError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Foto</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XFile.path berisi alamat sementara blob:..., bukan lokasi berkas → tampilkan dengan Image.memory</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Kamera di laptop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Biasanya membuka pemilih berkas; di browser HP kamera bisa terbuka langsung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Ringkasan Persiapan</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912830"/>
                <a:gridCol w="3443094"/>
                <a:gridCol w="3443094"/>
                <a:gridCol w="2295396"/>
              </a:tblGrid>
              <a:tr h="822960">
                <a:tc>
                  <a:txBody>
                    <a:bodyPr/>
                    <a:lstStyle/>
                    <a:p>
                      <a:pPr indent="0" marL="0">
                        <a:buNone/>
                      </a:pP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Android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iOS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Web</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82296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Galeri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NSPhotoLibraryUsageDescription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82296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Kamera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 (jangan tambah CAMERA)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NSCameraUsageDescription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82296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Lokasi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ACCESS_COARSE_LOCATION + ACCESS_FINE_LOCATION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NSLocationWhenInUseUsageDescription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HTTPS atau localhost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82296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Setelah mengubah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Hentikan, lalu flutter run ulang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Hentikan, lalu flutter run ulang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Muat ulang halaman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4</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Foto dari Galeri dan Kamera</a:t>
            </a:r>
            <a:endParaRPr lang="en-US" sz="4000" dirty="0"/>
          </a:p>
        </p:txBody>
      </p:sp>
      <p:sp>
        <p:nvSpPr>
          <p:cNvPr id="5" name="lingkaran kamera"/>
          <p:cNvSpPr/>
          <p:nvPr/>
        </p:nvSpPr>
        <p:spPr>
          <a:xfrm>
            <a:off x="1097280" y="2148840"/>
            <a:ext cx="2011680" cy="2011680"/>
          </a:xfrm>
          <a:prstGeom prst="ellipse">
            <a:avLst/>
          </a:prstGeom>
          <a:solidFill>
            <a:schemeClr val="accent1"/>
          </a:solidFill>
          <a:ln/>
        </p:spPr>
      </p:sp>
      <p:pic>
        <p:nvPicPr>
          <p:cNvPr id="6" name="Image 0" descr="kamera">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Memanggil pickImage</a:t>
            </a:r>
            <a:endParaRPr lang="en-US" sz="3200" dirty="0"/>
          </a:p>
        </p:txBody>
      </p:sp>
      <p:sp>
        <p:nvSpPr>
          <p:cNvPr id="4" name="kotak kode"/>
          <p:cNvSpPr txBox="1"/>
          <p:nvPr/>
        </p:nvSpPr>
        <p:spPr>
          <a:xfrm>
            <a:off x="548640" y="1371600"/>
            <a:ext cx="6583680" cy="4107942"/>
          </a:xfrm>
          <a:prstGeom prst="roundRect">
            <a:avLst>
              <a:gd name="adj" fmla="val 2226"/>
            </a:avLst>
          </a:prstGeom>
          <a:solidFill>
            <a:srgbClr val="0E1A2B"/>
          </a:solidFill>
          <a:ln/>
        </p:spPr>
        <p:txBody>
          <a:bodyPr wrap="square" lIns="177800" tIns="152400" rIns="152400" bIns="177800" rtlCol="0" anchor="t"/>
          <a:lstStyle/>
          <a:p>
            <a:pPr indent="0" marL="0">
              <a:lnSpc>
                <a:spcPct val="105000"/>
              </a:lnSpc>
              <a:buNone/>
            </a:pPr>
            <a:r>
              <a:rPr lang="en-US" sz="1050" dirty="0">
                <a:solidFill>
                  <a:srgbClr val="FFCB6B"/>
                </a:solidFill>
                <a:latin typeface="Consolas" pitchFamily="34" charset="0"/>
                <a:ea typeface="Consolas" pitchFamily="34" charset="-122"/>
                <a:cs typeface="Consolas" pitchFamily="34" charset="-120"/>
              </a:rPr>
              <a:t>Future</a:t>
            </a:r>
            <a:r>
              <a:rPr lang="en-US" sz="1050" dirty="0">
                <a:solidFill>
                  <a:srgbClr val="E6EDF3"/>
                </a:solidFill>
                <a:latin typeface="Consolas" pitchFamily="34" charset="0"/>
                <a:ea typeface="Consolas" pitchFamily="34" charset="-122"/>
                <a:cs typeface="Consolas" pitchFamily="34" charset="-120"/>
              </a:rPr>
              <a:t>&lt;</a:t>
            </a:r>
            <a:r>
              <a:rPr lang="en-US" sz="1050" dirty="0">
                <a:solidFill>
                  <a:srgbClr val="C792EA"/>
                </a:solidFill>
                <a:latin typeface="Consolas" pitchFamily="34" charset="0"/>
                <a:ea typeface="Consolas" pitchFamily="34" charset="-122"/>
                <a:cs typeface="Consolas" pitchFamily="34" charset="-120"/>
              </a:rPr>
              <a:t>void</a:t>
            </a:r>
            <a:r>
              <a:rPr lang="en-US" sz="1050" dirty="0">
                <a:solidFill>
                  <a:srgbClr val="E6EDF3"/>
                </a:solidFill>
                <a:latin typeface="Consolas" pitchFamily="34" charset="0"/>
                <a:ea typeface="Consolas" pitchFamily="34" charset="-122"/>
                <a:cs typeface="Consolas" pitchFamily="34" charset="-120"/>
              </a:rPr>
              <a:t>&gt; _ambilFoto(</a:t>
            </a:r>
            <a:r>
              <a:rPr lang="en-US" sz="1050" dirty="0">
                <a:solidFill>
                  <a:srgbClr val="FFCB6B"/>
                </a:solidFill>
                <a:latin typeface="Consolas" pitchFamily="34" charset="0"/>
                <a:ea typeface="Consolas" pitchFamily="34" charset="-122"/>
                <a:cs typeface="Consolas" pitchFamily="34" charset="-120"/>
              </a:rPr>
              <a:t>ImageSource</a:t>
            </a:r>
            <a:r>
              <a:rPr lang="en-US" sz="1050" dirty="0">
                <a:solidFill>
                  <a:srgbClr val="E6EDF3"/>
                </a:solidFill>
                <a:latin typeface="Consolas" pitchFamily="34" charset="0"/>
                <a:ea typeface="Consolas" pitchFamily="34" charset="-122"/>
                <a:cs typeface="Consolas" pitchFamily="34" charset="-120"/>
              </a:rPr>
              <a:t> sumber) </a:t>
            </a:r>
            <a:r>
              <a:rPr lang="en-US" sz="1050" dirty="0">
                <a:solidFill>
                  <a:srgbClr val="C792EA"/>
                </a:solidFill>
                <a:latin typeface="Consolas" pitchFamily="34" charset="0"/>
                <a:ea typeface="Consolas" pitchFamily="34" charset="-122"/>
                <a:cs typeface="Consolas" pitchFamily="34" charset="-120"/>
              </a:rPr>
              <a:t>async</a:t>
            </a: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if</a:t>
            </a:r>
            <a:r>
              <a:rPr lang="en-US" sz="1050" dirty="0">
                <a:solidFill>
                  <a:srgbClr val="E6EDF3"/>
                </a:solidFill>
                <a:latin typeface="Consolas" pitchFamily="34" charset="0"/>
                <a:ea typeface="Consolas" pitchFamily="34" charset="-122"/>
                <a:cs typeface="Consolas" pitchFamily="34" charset="-120"/>
              </a:rPr>
              <a:t> (_sedangMemilih) </a:t>
            </a:r>
            <a:r>
              <a:rPr lang="en-US" sz="1050" dirty="0">
                <a:solidFill>
                  <a:srgbClr val="C792EA"/>
                </a:solidFill>
                <a:latin typeface="Consolas" pitchFamily="34" charset="0"/>
                <a:ea typeface="Consolas" pitchFamily="34" charset="-122"/>
                <a:cs typeface="Consolas" pitchFamily="34" charset="-120"/>
              </a:rPr>
              <a:t>return</a:t>
            </a: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cegah pemilih terbuka dua kali</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setState(() =&gt; _sedangMemilih = </a:t>
            </a:r>
            <a:r>
              <a:rPr lang="en-US" sz="1050" dirty="0">
                <a:solidFill>
                  <a:srgbClr val="C792EA"/>
                </a:solidFill>
                <a:latin typeface="Consolas" pitchFamily="34" charset="0"/>
                <a:ea typeface="Consolas" pitchFamily="34" charset="-122"/>
                <a:cs typeface="Consolas" pitchFamily="34" charset="-120"/>
              </a:rPr>
              <a:t>true</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try</a:t>
            </a: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final</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XFile</a:t>
            </a:r>
            <a:r>
              <a:rPr lang="en-US" sz="1050" dirty="0">
                <a:solidFill>
                  <a:srgbClr val="E6EDF3"/>
                </a:solidFill>
                <a:latin typeface="Consolas" pitchFamily="34" charset="0"/>
                <a:ea typeface="Consolas" pitchFamily="34" charset="-122"/>
                <a:cs typeface="Consolas" pitchFamily="34" charset="-120"/>
              </a:rPr>
              <a:t>? berkas = </a:t>
            </a:r>
            <a:r>
              <a:rPr lang="en-US" sz="1050" dirty="0">
                <a:solidFill>
                  <a:srgbClr val="C792EA"/>
                </a:solidFill>
                <a:latin typeface="Consolas" pitchFamily="34" charset="0"/>
                <a:ea typeface="Consolas" pitchFamily="34" charset="-122"/>
                <a:cs typeface="Consolas" pitchFamily="34" charset="-120"/>
              </a:rPr>
              <a:t>await</a:t>
            </a:r>
            <a:r>
              <a:rPr lang="en-US" sz="1050" dirty="0">
                <a:solidFill>
                  <a:srgbClr val="E6EDF3"/>
                </a:solidFill>
                <a:latin typeface="Consolas" pitchFamily="34" charset="0"/>
                <a:ea typeface="Consolas" pitchFamily="34" charset="-122"/>
                <a:cs typeface="Consolas" pitchFamily="34" charset="-120"/>
              </a:rPr>
              <a:t> _pemilih.pickImage(</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source: sumber,</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maxWidth: </a:t>
            </a:r>
            <a:r>
              <a:rPr lang="en-US" sz="1050" dirty="0">
                <a:solidFill>
                  <a:srgbClr val="F78C6C"/>
                </a:solidFill>
                <a:latin typeface="Consolas" pitchFamily="34" charset="0"/>
                <a:ea typeface="Consolas" pitchFamily="34" charset="-122"/>
                <a:cs typeface="Consolas" pitchFamily="34" charset="-120"/>
              </a:rPr>
              <a:t>1080</a:t>
            </a: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foto 4000 piksel diperkecil menjadi 1080</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imageQuality: </a:t>
            </a:r>
            <a:r>
              <a:rPr lang="en-US" sz="1050" dirty="0">
                <a:solidFill>
                  <a:srgbClr val="F78C6C"/>
                </a:solidFill>
                <a:latin typeface="Consolas" pitchFamily="34" charset="0"/>
                <a:ea typeface="Consolas" pitchFamily="34" charset="-122"/>
                <a:cs typeface="Consolas" pitchFamily="34" charset="-120"/>
              </a:rPr>
              <a:t>80</a:t>
            </a: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0-100; berlaku untuk JPEG (dan WebP)</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preferredCameraDevice: </a:t>
            </a:r>
            <a:r>
              <a:rPr lang="en-US" sz="1050" dirty="0">
                <a:solidFill>
                  <a:srgbClr val="FFCB6B"/>
                </a:solidFill>
                <a:latin typeface="Consolas" pitchFamily="34" charset="0"/>
                <a:ea typeface="Consolas" pitchFamily="34" charset="-122"/>
                <a:cs typeface="Consolas" pitchFamily="34" charset="-120"/>
              </a:rPr>
              <a:t>CameraDevice</a:t>
            </a:r>
            <a:r>
              <a:rPr lang="en-US" sz="1050" dirty="0">
                <a:solidFill>
                  <a:srgbClr val="E6EDF3"/>
                </a:solidFill>
                <a:latin typeface="Consolas" pitchFamily="34" charset="0"/>
                <a:ea typeface="Consolas" pitchFamily="34" charset="-122"/>
                <a:cs typeface="Consolas" pitchFamily="34" charset="-120"/>
              </a:rPr>
              <a:t>.front,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requestFullMetadata: </a:t>
            </a:r>
            <a:r>
              <a:rPr lang="en-US" sz="1050" dirty="0">
                <a:solidFill>
                  <a:srgbClr val="C792EA"/>
                </a:solidFill>
                <a:latin typeface="Consolas" pitchFamily="34" charset="0"/>
                <a:ea typeface="Consolas" pitchFamily="34" charset="-122"/>
                <a:cs typeface="Consolas" pitchFamily="34" charset="-120"/>
              </a:rPr>
              <a:t>false</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if</a:t>
            </a:r>
            <a:r>
              <a:rPr lang="en-US" sz="1050" dirty="0">
                <a:solidFill>
                  <a:srgbClr val="E6EDF3"/>
                </a:solidFill>
                <a:latin typeface="Consolas" pitchFamily="34" charset="0"/>
                <a:ea typeface="Consolas" pitchFamily="34" charset="-122"/>
                <a:cs typeface="Consolas" pitchFamily="34" charset="-120"/>
              </a:rPr>
              <a:t> (berkas == </a:t>
            </a:r>
            <a:r>
              <a:rPr lang="en-US" sz="1050" dirty="0">
                <a:solidFill>
                  <a:srgbClr val="C792EA"/>
                </a:solidFill>
                <a:latin typeface="Consolas" pitchFamily="34" charset="0"/>
                <a:ea typeface="Consolas" pitchFamily="34" charset="-122"/>
                <a:cs typeface="Consolas" pitchFamily="34" charset="-120"/>
              </a:rPr>
              <a:t>null</a:t>
            </a: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_beriTahu(</a:t>
            </a:r>
            <a:r>
              <a:rPr lang="en-US" sz="1050" dirty="0">
                <a:solidFill>
                  <a:srgbClr val="C3E88D"/>
                </a:solidFill>
                <a:latin typeface="Consolas" pitchFamily="34" charset="0"/>
                <a:ea typeface="Consolas" pitchFamily="34" charset="-122"/>
                <a:cs typeface="Consolas" pitchFamily="34" charset="-120"/>
              </a:rPr>
              <a:t>'Tidak ada foto yang dipilih.'</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return</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await</a:t>
            </a:r>
            <a:r>
              <a:rPr lang="en-US" sz="1050" dirty="0">
                <a:solidFill>
                  <a:srgbClr val="E6EDF3"/>
                </a:solidFill>
                <a:latin typeface="Consolas" pitchFamily="34" charset="0"/>
                <a:ea typeface="Consolas" pitchFamily="34" charset="-122"/>
                <a:cs typeface="Consolas" pitchFamily="34" charset="-120"/>
              </a:rPr>
              <a:t> _tampilkan(berkas);</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 </a:t>
            </a:r>
            <a:r>
              <a:rPr lang="en-US" sz="1050" dirty="0">
                <a:solidFill>
                  <a:srgbClr val="C792EA"/>
                </a:solidFill>
                <a:latin typeface="Consolas" pitchFamily="34" charset="0"/>
                <a:ea typeface="Consolas" pitchFamily="34" charset="-122"/>
                <a:cs typeface="Consolas" pitchFamily="34" charset="-120"/>
              </a:rPr>
              <a:t>on</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PlatformException</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catch</a:t>
            </a:r>
            <a:r>
              <a:rPr lang="en-US" sz="1050" dirty="0">
                <a:solidFill>
                  <a:srgbClr val="E6EDF3"/>
                </a:solidFill>
                <a:latin typeface="Consolas" pitchFamily="34" charset="0"/>
                <a:ea typeface="Consolas" pitchFamily="34" charset="-122"/>
                <a:cs typeface="Consolas" pitchFamily="34" charset="-120"/>
              </a:rPr>
              <a:t> (e)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_beriTahu(pesanGalatFoto(e));</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 </a:t>
            </a:r>
            <a:r>
              <a:rPr lang="en-US" sz="1050" dirty="0">
                <a:solidFill>
                  <a:srgbClr val="C792EA"/>
                </a:solidFill>
                <a:latin typeface="Consolas" pitchFamily="34" charset="0"/>
                <a:ea typeface="Consolas" pitchFamily="34" charset="-122"/>
                <a:cs typeface="Consolas" pitchFamily="34" charset="-120"/>
              </a:rPr>
              <a:t>finally</a:t>
            </a: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if</a:t>
            </a:r>
            <a:r>
              <a:rPr lang="en-US" sz="1050" dirty="0">
                <a:solidFill>
                  <a:srgbClr val="E6EDF3"/>
                </a:solidFill>
                <a:latin typeface="Consolas" pitchFamily="34" charset="0"/>
                <a:ea typeface="Consolas" pitchFamily="34" charset="-122"/>
                <a:cs typeface="Consolas" pitchFamily="34" charset="-120"/>
              </a:rPr>
              <a:t> (mounted) setState(() =&gt; _sedangMemilih = </a:t>
            </a:r>
            <a:r>
              <a:rPr lang="en-US" sz="1050" dirty="0">
                <a:solidFill>
                  <a:srgbClr val="C792EA"/>
                </a:solidFill>
                <a:latin typeface="Consolas" pitchFamily="34" charset="0"/>
                <a:ea typeface="Consolas" pitchFamily="34" charset="-122"/>
                <a:cs typeface="Consolas" pitchFamily="34" charset="-120"/>
              </a:rPr>
              <a:t>false</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p:txBody>
      </p:sp>
      <p:sp>
        <p:nvSpPr>
          <p:cNvPr id="5" name="tombol tautan">
            <a:hlinkClick r:id="rId1" tooltip="https://github.com/antonprafanto/mobile2026/blob/main/pertemuan_13_fitur_perangkat_dan_izin/kode/contoh_02_galeri_dan_kamera.dart"/>
          </p:cNvPr>
          <p:cNvSpPr txBox="1"/>
          <p:nvPr/>
        </p:nvSpPr>
        <p:spPr>
          <a:xfrm>
            <a:off x="548640" y="5708142"/>
            <a:ext cx="658368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contoh_02_galeri_dan_kamera.dart</a:t>
            </a:r>
            <a:endParaRPr lang="en-US" sz="1300" dirty="0"/>
          </a:p>
        </p:txBody>
      </p:sp>
      <p:pic>
        <p:nvPicPr>
          <p:cNvPr id="6" name="Image 0" descr="ikon tautan">
            <a:hlinkClick r:id="rId3" tooltip="https://github.com/antonprafanto/mobile2026/blob/main/pertemuan_13_fitur_perangkat_dan_izin/kode/contoh_02_galeri_dan_kamera.dart"/>
          </p:cNvPr>
          <p:cNvPicPr>
            <a:picLocks noChangeAspect="1"/>
          </p:cNvPicPr>
          <p:nvPr/>
        </p:nvPicPr>
        <p:blipFill>
          <a:blip r:embed="rId2"/>
          <a:stretch>
            <a:fillRect/>
          </a:stretch>
        </p:blipFill>
        <p:spPr>
          <a:xfrm>
            <a:off x="694944" y="5799582"/>
            <a:ext cx="274320" cy="274320"/>
          </a:xfrm>
          <a:prstGeom prst="rect">
            <a:avLst/>
          </a:prstGeom>
        </p:spPr>
      </p:pic>
      <p:sp>
        <p:nvSpPr>
          <p:cNvPr id="7" name="daftar poin"/>
          <p:cNvSpPr txBox="1"/>
          <p:nvPr/>
        </p:nvSpPr>
        <p:spPr>
          <a:xfrm>
            <a:off x="7543800" y="1417320"/>
            <a:ext cx="409925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final ImagePicker _pemilih = ImagePicker(); cukup SEKALI sebagai field (tanpa const).</a:t>
            </a:r>
            <a:endParaRPr lang="en-US" sz="1700" dirty="0"/>
          </a:p>
          <a:p>
            <a:pPr marL="228600" indent="-228600">
              <a:spcAft>
                <a:spcPts val="800"/>
              </a:spcAft>
              <a:buSzPct val="100000"/>
              <a:buChar char="•"/>
            </a:pPr>
            <a:r>
              <a:rPr lang="en-US" sz="1700" dirty="0">
                <a:solidFill>
                  <a:schemeClr val="tx1"/>
                </a:solidFill>
              </a:rPr>
              <a:t>ImageSource.gallery atau ImageSource.camera.</a:t>
            </a:r>
            <a:endParaRPr lang="en-US" sz="1700" dirty="0"/>
          </a:p>
          <a:p>
            <a:pPr marL="228600" indent="-228600">
              <a:spcAft>
                <a:spcPts val="800"/>
              </a:spcAft>
              <a:buSzPct val="100000"/>
              <a:buChar char="•"/>
            </a:pPr>
            <a:r>
              <a:rPr lang="en-US" sz="1700" dirty="0">
                <a:solidFill>
                  <a:schemeClr val="tx1"/>
                </a:solidFill>
              </a:rPr>
              <a:t>Kamera depan hanya DIMINTA; tidak semua HP menurutinya.</a:t>
            </a:r>
            <a:endParaRPr lang="en-US" sz="1700" dirty="0"/>
          </a:p>
          <a:p>
            <a:pPr marL="228600" indent="-228600">
              <a:spcAft>
                <a:spcPts val="800"/>
              </a:spcAft>
              <a:buSzPct val="100000"/>
              <a:buChar char="•"/>
            </a:pPr>
            <a:r>
              <a:rPr lang="en-US" sz="1700" dirty="0">
                <a:solidFill>
                  <a:schemeClr val="tx1"/>
                </a:solidFill>
              </a:rPr>
              <a:t>requestFullMetadata: false → tanpa metadata seperti lokasi pemotretan.</a:t>
            </a:r>
            <a:endParaRPr lang="en-US" sz="1700" dirty="0"/>
          </a:p>
          <a:p>
            <a:pPr marL="228600" indent="-228600">
              <a:spcAft>
                <a:spcPts val="800"/>
              </a:spcAft>
              <a:buSzPct val="100000"/>
              <a:buChar char="•"/>
            </a:pPr>
            <a:r>
              <a:rPr lang="en-US" sz="1700" dirty="0">
                <a:solidFill>
                  <a:schemeClr val="tx1"/>
                </a:solidFill>
              </a:rPr>
              <a:t>_sedangMemilih: penjaga ketukan ganda (galat already_active / multiple_request).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Tiga Kemungkinan Hasil</a:t>
            </a:r>
            <a:endParaRPr lang="en-US" sz="3200" dirty="0"/>
          </a:p>
        </p:txBody>
      </p:sp>
      <p:sp>
        <p:nvSpPr>
          <p:cNvPr id="4" name="kolom 1"/>
          <p:cNvSpPr/>
          <p:nvPr/>
        </p:nvSpPr>
        <p:spPr>
          <a:xfrm>
            <a:off x="548640" y="1371600"/>
            <a:ext cx="3484778" cy="3931920"/>
          </a:xfrm>
          <a:prstGeom prst="roundRect">
            <a:avLst>
              <a:gd name="adj" fmla="val 3149"/>
            </a:avLst>
          </a:prstGeom>
          <a:solidFill>
            <a:schemeClr val="bg2"/>
          </a:solidFill>
          <a:ln/>
        </p:spPr>
      </p:sp>
      <p:sp>
        <p:nvSpPr>
          <p:cNvPr id="5" name="lingkaran centang"/>
          <p:cNvSpPr/>
          <p:nvPr/>
        </p:nvSpPr>
        <p:spPr>
          <a:xfrm>
            <a:off x="777240" y="1600200"/>
            <a:ext cx="685800" cy="685800"/>
          </a:xfrm>
          <a:prstGeom prst="ellipse">
            <a:avLst/>
          </a:prstGeom>
          <a:solidFill>
            <a:schemeClr val="accent4"/>
          </a:solidFill>
          <a:ln/>
        </p:spPr>
      </p:sp>
      <p:pic>
        <p:nvPicPr>
          <p:cNvPr id="6" name="Image 0" descr="centang">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2296058" cy="777240"/>
          </a:xfrm>
          <a:prstGeom prst="rect">
            <a:avLst/>
          </a:prstGeom>
          <a:noFill/>
          <a:ln/>
        </p:spPr>
        <p:txBody>
          <a:bodyPr wrap="square" lIns="0" tIns="0" rIns="0" bIns="0" rtlCol="0" anchor="ctr"/>
          <a:lstStyle/>
          <a:p>
            <a:pPr indent="0" marL="0">
              <a:buNone/>
            </a:pPr>
            <a:r>
              <a:rPr lang="en-US" sz="1900" b="1" dirty="0">
                <a:solidFill>
                  <a:schemeClr val="tx2"/>
                </a:solidFill>
              </a:rPr>
              <a:t>XFile</a:t>
            </a:r>
            <a:endParaRPr lang="en-US" sz="1900" dirty="0"/>
          </a:p>
        </p:txBody>
      </p:sp>
      <p:sp>
        <p:nvSpPr>
          <p:cNvPr id="8" name="Text 4"/>
          <p:cNvSpPr txBox="1"/>
          <p:nvPr/>
        </p:nvSpPr>
        <p:spPr>
          <a:xfrm>
            <a:off x="777240" y="2423160"/>
            <a:ext cx="3027578" cy="365760"/>
          </a:xfrm>
          <a:prstGeom prst="rect">
            <a:avLst/>
          </a:prstGeom>
          <a:noFill/>
          <a:ln/>
        </p:spPr>
        <p:txBody>
          <a:bodyPr wrap="square" lIns="0" tIns="0" rIns="0" bIns="0" rtlCol="0" anchor="ctr"/>
          <a:lstStyle/>
          <a:p>
            <a:pPr indent="0" marL="0">
              <a:buNone/>
            </a:pPr>
            <a:r>
              <a:rPr lang="en-US" sz="1400" b="1" dirty="0">
                <a:solidFill>
                  <a:schemeClr val="accent4"/>
                </a:solidFill>
              </a:rPr>
              <a:t>Foto dipilih atau dipotret</a:t>
            </a:r>
            <a:endParaRPr lang="en-US" sz="1400" dirty="0"/>
          </a:p>
        </p:txBody>
      </p:sp>
      <p:sp>
        <p:nvSpPr>
          <p:cNvPr id="9" name="daftar poin"/>
          <p:cNvSpPr txBox="1"/>
          <p:nvPr/>
        </p:nvSpPr>
        <p:spPr>
          <a:xfrm>
            <a:off x="777240" y="2926080"/>
            <a:ext cx="302757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Tampilkan fotonya</a:t>
            </a:r>
            <a:endParaRPr lang="en-US" sz="1600" dirty="0"/>
          </a:p>
        </p:txBody>
      </p:sp>
      <p:sp>
        <p:nvSpPr>
          <p:cNvPr id="10" name="kolom 2"/>
          <p:cNvSpPr/>
          <p:nvPr/>
        </p:nvSpPr>
        <p:spPr>
          <a:xfrm>
            <a:off x="4353458" y="1371600"/>
            <a:ext cx="3484778" cy="3931920"/>
          </a:xfrm>
          <a:prstGeom prst="roundRect">
            <a:avLst>
              <a:gd name="adj" fmla="val 3149"/>
            </a:avLst>
          </a:prstGeom>
          <a:solidFill>
            <a:srgbClr val="E3F2FD"/>
          </a:solidFill>
          <a:ln w="25400">
            <a:solidFill>
              <a:schemeClr val="accent1"/>
            </a:solidFill>
            <a:prstDash val="solid"/>
          </a:ln>
        </p:spPr>
      </p:sp>
      <p:sp>
        <p:nvSpPr>
          <p:cNvPr id="11" name="lingkaran kembali"/>
          <p:cNvSpPr/>
          <p:nvPr/>
        </p:nvSpPr>
        <p:spPr>
          <a:xfrm>
            <a:off x="4582058" y="1600200"/>
            <a:ext cx="685800" cy="685800"/>
          </a:xfrm>
          <a:prstGeom prst="ellipse">
            <a:avLst/>
          </a:prstGeom>
          <a:solidFill>
            <a:schemeClr val="accent6"/>
          </a:solidFill>
          <a:ln/>
        </p:spPr>
      </p:sp>
      <p:pic>
        <p:nvPicPr>
          <p:cNvPr id="12" name="Image 1" descr="kembali">    </p:cNvPr>
          <p:cNvPicPr>
            <a:picLocks noChangeAspect="1"/>
          </p:cNvPicPr>
          <p:nvPr/>
        </p:nvPicPr>
        <p:blipFill>
          <a:blip r:embed="rId2"/>
          <a:stretch>
            <a:fillRect/>
          </a:stretch>
        </p:blipFill>
        <p:spPr>
          <a:xfrm>
            <a:off x="4732934" y="1751076"/>
            <a:ext cx="384048" cy="384048"/>
          </a:xfrm>
          <a:prstGeom prst="rect">
            <a:avLst/>
          </a:prstGeom>
        </p:spPr>
      </p:pic>
      <p:sp>
        <p:nvSpPr>
          <p:cNvPr id="13" name="Text 8"/>
          <p:cNvSpPr txBox="1"/>
          <p:nvPr/>
        </p:nvSpPr>
        <p:spPr>
          <a:xfrm>
            <a:off x="5405018" y="1554480"/>
            <a:ext cx="2296058" cy="777240"/>
          </a:xfrm>
          <a:prstGeom prst="rect">
            <a:avLst/>
          </a:prstGeom>
          <a:noFill/>
          <a:ln/>
        </p:spPr>
        <p:txBody>
          <a:bodyPr wrap="square" lIns="0" tIns="0" rIns="0" bIns="0" rtlCol="0" anchor="ctr"/>
          <a:lstStyle/>
          <a:p>
            <a:pPr indent="0" marL="0">
              <a:buNone/>
            </a:pPr>
            <a:r>
              <a:rPr lang="en-US" sz="1900" b="1" dirty="0">
                <a:solidFill>
                  <a:schemeClr val="tx2"/>
                </a:solidFill>
              </a:rPr>
              <a:t>null</a:t>
            </a:r>
            <a:endParaRPr lang="en-US" sz="1900" dirty="0"/>
          </a:p>
        </p:txBody>
      </p:sp>
      <p:sp>
        <p:nvSpPr>
          <p:cNvPr id="14" name="Text 9"/>
          <p:cNvSpPr txBox="1"/>
          <p:nvPr/>
        </p:nvSpPr>
        <p:spPr>
          <a:xfrm>
            <a:off x="4582058" y="2423160"/>
            <a:ext cx="3027578" cy="365760"/>
          </a:xfrm>
          <a:prstGeom prst="rect">
            <a:avLst/>
          </a:prstGeom>
          <a:noFill/>
          <a:ln/>
        </p:spPr>
        <p:txBody>
          <a:bodyPr wrap="square" lIns="0" tIns="0" rIns="0" bIns="0" rtlCol="0" anchor="ctr"/>
          <a:lstStyle/>
          <a:p>
            <a:pPr indent="0" marL="0">
              <a:buNone/>
            </a:pPr>
            <a:r>
              <a:rPr lang="en-US" sz="1400" b="1" dirty="0">
                <a:solidFill>
                  <a:schemeClr val="accent6"/>
                </a:solidFill>
              </a:rPr>
              <a:t>Pengguna MEMBATALKAN</a:t>
            </a:r>
            <a:endParaRPr lang="en-US" sz="1400" dirty="0"/>
          </a:p>
        </p:txBody>
      </p:sp>
      <p:sp>
        <p:nvSpPr>
          <p:cNvPr id="15" name="daftar poin"/>
          <p:cNvSpPr txBox="1"/>
          <p:nvPr/>
        </p:nvSpPr>
        <p:spPr>
          <a:xfrm>
            <a:off x="4582058" y="2926080"/>
            <a:ext cx="302757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Bukan kesalahan</a:t>
            </a:r>
            <a:endParaRPr lang="en-US" sz="1600" dirty="0"/>
          </a:p>
          <a:p>
            <a:pPr marL="228600" indent="-228600">
              <a:spcAft>
                <a:spcPts val="800"/>
              </a:spcAft>
              <a:buSzPct val="100000"/>
              <a:buChar char="•"/>
            </a:pPr>
            <a:r>
              <a:rPr lang="en-US" sz="1600" dirty="0">
                <a:solidFill>
                  <a:schemeClr val="tx1"/>
                </a:solidFill>
              </a:rPr>
              <a:t>Pesan singkat, atau tanpa pesan sama sekali</a:t>
            </a:r>
            <a:endParaRPr lang="en-US" sz="1600" dirty="0"/>
          </a:p>
          <a:p>
            <a:pPr marL="228600" indent="-228600">
              <a:spcAft>
                <a:spcPts val="800"/>
              </a:spcAft>
              <a:buSzPct val="100000"/>
              <a:buChar char="•"/>
            </a:pPr>
            <a:r>
              <a:rPr lang="en-US" sz="1600" dirty="0">
                <a:solidFill>
                  <a:schemeClr val="tx1"/>
                </a:solidFill>
              </a:rPr>
              <a:t>Jangan pakai berkas!</a:t>
            </a:r>
            <a:endParaRPr lang="en-US" sz="1600" dirty="0"/>
          </a:p>
        </p:txBody>
      </p:sp>
      <p:sp>
        <p:nvSpPr>
          <p:cNvPr id="16" name="kolom 3"/>
          <p:cNvSpPr/>
          <p:nvPr/>
        </p:nvSpPr>
        <p:spPr>
          <a:xfrm>
            <a:off x="8158277" y="1371600"/>
            <a:ext cx="3484778" cy="3931920"/>
          </a:xfrm>
          <a:prstGeom prst="roundRect">
            <a:avLst>
              <a:gd name="adj" fmla="val 3149"/>
            </a:avLst>
          </a:prstGeom>
          <a:solidFill>
            <a:schemeClr val="bg2"/>
          </a:solidFill>
          <a:ln/>
        </p:spPr>
      </p:sp>
      <p:sp>
        <p:nvSpPr>
          <p:cNvPr id="17" name="lingkaran galat"/>
          <p:cNvSpPr/>
          <p:nvPr/>
        </p:nvSpPr>
        <p:spPr>
          <a:xfrm>
            <a:off x="8386877" y="1600200"/>
            <a:ext cx="685800" cy="685800"/>
          </a:xfrm>
          <a:prstGeom prst="ellipse">
            <a:avLst/>
          </a:prstGeom>
          <a:solidFill>
            <a:schemeClr val="accent5"/>
          </a:solidFill>
          <a:ln/>
        </p:spPr>
      </p:sp>
      <p:pic>
        <p:nvPicPr>
          <p:cNvPr id="18" name="Image 2" descr="galat">    </p:cNvPr>
          <p:cNvPicPr>
            <a:picLocks noChangeAspect="1"/>
          </p:cNvPicPr>
          <p:nvPr/>
        </p:nvPicPr>
        <p:blipFill>
          <a:blip r:embed="rId3"/>
          <a:stretch>
            <a:fillRect/>
          </a:stretch>
        </p:blipFill>
        <p:spPr>
          <a:xfrm>
            <a:off x="8537753" y="1751076"/>
            <a:ext cx="384048" cy="384048"/>
          </a:xfrm>
          <a:prstGeom prst="rect">
            <a:avLst/>
          </a:prstGeom>
        </p:spPr>
      </p:pic>
      <p:sp>
        <p:nvSpPr>
          <p:cNvPr id="19" name="Text 13"/>
          <p:cNvSpPr txBox="1"/>
          <p:nvPr/>
        </p:nvSpPr>
        <p:spPr>
          <a:xfrm>
            <a:off x="9209837" y="1554480"/>
            <a:ext cx="2296058" cy="777240"/>
          </a:xfrm>
          <a:prstGeom prst="rect">
            <a:avLst/>
          </a:prstGeom>
          <a:noFill/>
          <a:ln/>
        </p:spPr>
        <p:txBody>
          <a:bodyPr wrap="square" lIns="0" tIns="0" rIns="0" bIns="0" rtlCol="0" anchor="ctr"/>
          <a:lstStyle/>
          <a:p>
            <a:pPr indent="0" marL="0">
              <a:buNone/>
            </a:pPr>
            <a:r>
              <a:rPr lang="en-US" sz="1900" b="1" dirty="0">
                <a:solidFill>
                  <a:schemeClr val="tx2"/>
                </a:solidFill>
              </a:rPr>
              <a:t>PlatformException</a:t>
            </a:r>
            <a:endParaRPr lang="en-US" sz="1900" dirty="0"/>
          </a:p>
        </p:txBody>
      </p:sp>
      <p:sp>
        <p:nvSpPr>
          <p:cNvPr id="20" name="Text 14"/>
          <p:cNvSpPr txBox="1"/>
          <p:nvPr/>
        </p:nvSpPr>
        <p:spPr>
          <a:xfrm>
            <a:off x="8386877" y="2423160"/>
            <a:ext cx="3027578" cy="365760"/>
          </a:xfrm>
          <a:prstGeom prst="rect">
            <a:avLst/>
          </a:prstGeom>
          <a:noFill/>
          <a:ln/>
        </p:spPr>
        <p:txBody>
          <a:bodyPr wrap="square" lIns="0" tIns="0" rIns="0" bIns="0" rtlCol="0" anchor="ctr"/>
          <a:lstStyle/>
          <a:p>
            <a:pPr indent="0" marL="0">
              <a:buNone/>
            </a:pPr>
            <a:r>
              <a:rPr lang="en-US" sz="1400" b="1" dirty="0">
                <a:solidFill>
                  <a:schemeClr val="accent5"/>
                </a:solidFill>
              </a:rPr>
              <a:t>Ada masalah</a:t>
            </a:r>
            <a:endParaRPr lang="en-US" sz="1400" dirty="0"/>
          </a:p>
        </p:txBody>
      </p:sp>
      <p:sp>
        <p:nvSpPr>
          <p:cNvPr id="21" name="daftar poin"/>
          <p:cNvSpPr txBox="1"/>
          <p:nvPr/>
        </p:nvSpPr>
        <p:spPr>
          <a:xfrm>
            <a:off x="8386877" y="2926080"/>
            <a:ext cx="302757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Misalnya akses kamera ditolak</a:t>
            </a:r>
            <a:endParaRPr lang="en-US" sz="1600" dirty="0"/>
          </a:p>
          <a:p>
            <a:pPr marL="228600" indent="-228600">
              <a:spcAft>
                <a:spcPts val="800"/>
              </a:spcAft>
              <a:buSzPct val="100000"/>
              <a:buChar char="•"/>
            </a:pPr>
            <a:r>
              <a:rPr lang="en-US" sz="1600" dirty="0">
                <a:solidFill>
                  <a:schemeClr val="tx1"/>
                </a:solidFill>
              </a:rPr>
              <a:t>Pesan yang menjelaskan masalah dan jalan keluarnya</a:t>
            </a:r>
            <a:endParaRPr lang="en-US" sz="1600" dirty="0"/>
          </a:p>
        </p:txBody>
      </p:sp>
      <p:sp>
        <p:nvSpPr>
          <p:cNvPr id="22" name="lingkaran lampu"/>
          <p:cNvSpPr/>
          <p:nvPr/>
        </p:nvSpPr>
        <p:spPr>
          <a:xfrm>
            <a:off x="548640" y="5532120"/>
            <a:ext cx="548640" cy="548640"/>
          </a:xfrm>
          <a:prstGeom prst="ellipse">
            <a:avLst/>
          </a:prstGeom>
          <a:solidFill>
            <a:schemeClr val="accent3"/>
          </a:solidFill>
          <a:ln/>
        </p:spPr>
      </p:sp>
      <p:pic>
        <p:nvPicPr>
          <p:cNvPr id="23" name="Image 3" descr="lampu">    </p:cNvPr>
          <p:cNvPicPr>
            <a:picLocks noChangeAspect="1"/>
          </p:cNvPicPr>
          <p:nvPr/>
        </p:nvPicPr>
        <p:blipFill>
          <a:blip r:embed="rId4"/>
          <a:stretch>
            <a:fillRect/>
          </a:stretch>
        </p:blipFill>
        <p:spPr>
          <a:xfrm>
            <a:off x="669341" y="5652821"/>
            <a:ext cx="307238" cy="307238"/>
          </a:xfrm>
          <a:prstGeom prst="rect">
            <a:avLst/>
          </a:prstGeom>
        </p:spPr>
      </p:pic>
      <p:sp>
        <p:nvSpPr>
          <p:cNvPr id="24" name="Text 17"/>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pickMultiImage: batal menghasilkan daftar KOSONG, bukan null.</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Satu Fungsi untuk Pesan Galat</a:t>
            </a:r>
            <a:endParaRPr lang="en-US" sz="3200" dirty="0"/>
          </a:p>
        </p:txBody>
      </p:sp>
      <p:sp>
        <p:nvSpPr>
          <p:cNvPr id="4" name="kotak kode"/>
          <p:cNvSpPr txBox="1"/>
          <p:nvPr/>
        </p:nvSpPr>
        <p:spPr>
          <a:xfrm>
            <a:off x="548640" y="1371600"/>
            <a:ext cx="7040880" cy="2875788"/>
          </a:xfrm>
          <a:prstGeom prst="roundRect">
            <a:avLst>
              <a:gd name="adj" fmla="val 3180"/>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pesanGalatFoto(</a:t>
            </a:r>
            <a:r>
              <a:rPr lang="en-US" sz="1100" dirty="0">
                <a:solidFill>
                  <a:srgbClr val="FFCB6B"/>
                </a:solidFill>
                <a:latin typeface="Consolas" pitchFamily="34" charset="0"/>
                <a:ea typeface="Consolas" pitchFamily="34" charset="-122"/>
                <a:cs typeface="Consolas" pitchFamily="34" charset="-120"/>
              </a:rPr>
              <a:t>PlatformException</a:t>
            </a:r>
            <a:r>
              <a:rPr lang="en-US" sz="1100" dirty="0">
                <a:solidFill>
                  <a:srgbClr val="E6EDF3"/>
                </a:solidFill>
                <a:latin typeface="Consolas" pitchFamily="34" charset="0"/>
                <a:ea typeface="Consolas" pitchFamily="34" charset="-122"/>
                <a:cs typeface="Consolas" pitchFamily="34" charset="-120"/>
              </a:rPr>
              <a:t> e)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switch</a:t>
            </a:r>
            <a:r>
              <a:rPr lang="en-US" sz="1100" dirty="0">
                <a:solidFill>
                  <a:srgbClr val="E6EDF3"/>
                </a:solidFill>
                <a:latin typeface="Consolas" pitchFamily="34" charset="0"/>
                <a:ea typeface="Consolas" pitchFamily="34" charset="-122"/>
                <a:cs typeface="Consolas" pitchFamily="34" charset="-120"/>
              </a:rPr>
              <a:t> (e.code)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'camera_access_denied'</a:t>
            </a:r>
            <a:r>
              <a:rPr lang="en-US" sz="1100" dirty="0">
                <a:solidFill>
                  <a:srgbClr val="E6EDF3"/>
                </a:solidFill>
                <a:latin typeface="Consolas" pitchFamily="34" charset="0"/>
                <a:ea typeface="Consolas" pitchFamily="34" charset="-122"/>
                <a:cs typeface="Consolas" pitchFamily="34" charset="-120"/>
              </a:rPr>
              <a:t> =&gt;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'Akses kamera ditolak. Anda bisa mengizinkannya di Pengaturan.'</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'photo_access_denied'</a:t>
            </a:r>
            <a:r>
              <a:rPr lang="en-US" sz="1100" dirty="0">
                <a:solidFill>
                  <a:srgbClr val="E6EDF3"/>
                </a:solidFill>
                <a:latin typeface="Consolas" pitchFamily="34" charset="0"/>
                <a:ea typeface="Consolas" pitchFamily="34" charset="-122"/>
                <a:cs typeface="Consolas" pitchFamily="34" charset="-120"/>
              </a:rPr>
              <a:t> =&gt;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'Akses galeri ditolak. Anda bisa mengizinkannya di Pengaturan.'</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'camera_access_restricted'</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'photo_access_restricted'</a:t>
            </a:r>
            <a:r>
              <a:rPr lang="en-US" sz="1100" dirty="0">
                <a:solidFill>
                  <a:srgbClr val="E6EDF3"/>
                </a:solidFill>
                <a:latin typeface="Consolas" pitchFamily="34" charset="0"/>
                <a:ea typeface="Consolas" pitchFamily="34" charset="-122"/>
                <a:cs typeface="Consolas" pitchFamily="34" charset="-120"/>
              </a:rPr>
              <a:t> =&gt; </a:t>
            </a:r>
            <a:r>
              <a:rPr lang="en-US" sz="1100" dirty="0">
                <a:solidFill>
                  <a:srgbClr val="C3E88D"/>
                </a:solidFill>
                <a:latin typeface="Consolas" pitchFamily="34" charset="0"/>
                <a:ea typeface="Consolas" pitchFamily="34" charset="-122"/>
                <a:cs typeface="Consolas" pitchFamily="34" charset="-120"/>
              </a:rPr>
              <a:t>'Akses dibatasi oleh pengaturan perangkat.'</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'no_available_camera'</a:t>
            </a:r>
            <a:r>
              <a:rPr lang="en-US" sz="1100" dirty="0">
                <a:solidFill>
                  <a:srgbClr val="E6EDF3"/>
                </a:solidFill>
                <a:latin typeface="Consolas" pitchFamily="34" charset="0"/>
                <a:ea typeface="Consolas" pitchFamily="34" charset="-122"/>
                <a:cs typeface="Consolas" pitchFamily="34" charset="-120"/>
              </a:rPr>
              <a:t> =&gt; </a:t>
            </a:r>
            <a:r>
              <a:rPr lang="en-US" sz="1100" dirty="0">
                <a:solidFill>
                  <a:srgbClr val="C3E88D"/>
                </a:solidFill>
                <a:latin typeface="Consolas" pitchFamily="34" charset="0"/>
                <a:ea typeface="Consolas" pitchFamily="34" charset="-122"/>
                <a:cs typeface="Consolas" pitchFamily="34" charset="-120"/>
              </a:rPr>
              <a:t>'Perangkat ini tidak memiliki kamera.'</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'already_active'</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'multiple_request'</a:t>
            </a:r>
            <a:r>
              <a:rPr lang="en-US" sz="1100" dirty="0">
                <a:solidFill>
                  <a:srgbClr val="E6EDF3"/>
                </a:solidFill>
                <a:latin typeface="Consolas" pitchFamily="34" charset="0"/>
                <a:ea typeface="Consolas" pitchFamily="34" charset="-122"/>
                <a:cs typeface="Consolas" pitchFamily="34" charset="-120"/>
              </a:rPr>
              <a:t> =&gt; </a:t>
            </a:r>
            <a:r>
              <a:rPr lang="en-US" sz="1100" dirty="0">
                <a:solidFill>
                  <a:srgbClr val="C3E88D"/>
                </a:solidFill>
                <a:latin typeface="Consolas" pitchFamily="34" charset="0"/>
                <a:ea typeface="Consolas" pitchFamily="34" charset="-122"/>
                <a:cs typeface="Consolas" pitchFamily="34" charset="-120"/>
              </a:rPr>
              <a:t>'Pemilih foto masih terbuka. Coba lagi.'</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 =&gt; </a:t>
            </a:r>
            <a:r>
              <a:rPr lang="en-US" sz="1100" dirty="0">
                <a:solidFill>
                  <a:srgbClr val="C3E88D"/>
                </a:solidFill>
                <a:latin typeface="Consolas" pitchFamily="34" charset="0"/>
                <a:ea typeface="Consolas" pitchFamily="34" charset="-122"/>
                <a:cs typeface="Consolas" pitchFamily="34" charset="-120"/>
              </a:rPr>
              <a:t>'Foto gagal diambil (${e.code}).'</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3_fitur_perangkat_dan_izin/kode/contoh_02_galeri_dan_kamera.dart"/>
          </p:cNvPr>
          <p:cNvSpPr txBox="1"/>
          <p:nvPr/>
        </p:nvSpPr>
        <p:spPr>
          <a:xfrm>
            <a:off x="548640" y="4475988"/>
            <a:ext cx="704088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contoh_02_galeri_dan_kamera.dart</a:t>
            </a:r>
            <a:endParaRPr lang="en-US" sz="1300" dirty="0"/>
          </a:p>
        </p:txBody>
      </p:sp>
      <p:pic>
        <p:nvPicPr>
          <p:cNvPr id="6" name="Image 0" descr="ikon tautan">
            <a:hlinkClick r:id="rId3" tooltip="https://github.com/antonprafanto/mobile2026/blob/main/pertemuan_13_fitur_perangkat_dan_izin/kode/contoh_02_galeri_dan_kamera.dart"/>
          </p:cNvPr>
          <p:cNvPicPr>
            <a:picLocks noChangeAspect="1"/>
          </p:cNvPicPr>
          <p:nvPr/>
        </p:nvPicPr>
        <p:blipFill>
          <a:blip r:embed="rId2"/>
          <a:stretch>
            <a:fillRect/>
          </a:stretch>
        </p:blipFill>
        <p:spPr>
          <a:xfrm>
            <a:off x="694944" y="4567428"/>
            <a:ext cx="274320" cy="274320"/>
          </a:xfrm>
          <a:prstGeom prst="rect">
            <a:avLst/>
          </a:prstGeom>
        </p:spPr>
      </p:pic>
      <p:sp>
        <p:nvSpPr>
          <p:cNvPr id="7" name="daftar poin"/>
          <p:cNvSpPr txBox="1"/>
          <p:nvPr/>
        </p:nvSpPr>
        <p:spPr>
          <a:xfrm>
            <a:off x="8001000" y="1417320"/>
            <a:ext cx="364205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camera_access_denied: Android dan iOS.</a:t>
            </a:r>
            <a:endParaRPr lang="en-US" sz="1700" dirty="0"/>
          </a:p>
          <a:p>
            <a:pPr marL="228600" indent="-228600">
              <a:spcAft>
                <a:spcPts val="800"/>
              </a:spcAft>
              <a:buSzPct val="100000"/>
              <a:buChar char="•"/>
            </a:pPr>
            <a:r>
              <a:rPr lang="en-US" sz="1700" dirty="0">
                <a:solidFill>
                  <a:schemeClr val="tx1"/>
                </a:solidFill>
              </a:rPr>
              <a:t>photo_access_denied, ..._restricted: iOS (misalnya kontrol orang tua).</a:t>
            </a:r>
            <a:endParaRPr lang="en-US" sz="1700" dirty="0"/>
          </a:p>
          <a:p>
            <a:pPr marL="228600" indent="-228600">
              <a:spcAft>
                <a:spcPts val="800"/>
              </a:spcAft>
              <a:buSzPct val="100000"/>
              <a:buChar char="•"/>
            </a:pPr>
            <a:r>
              <a:rPr lang="en-US" sz="1700" dirty="0">
                <a:solidFill>
                  <a:schemeClr val="tx1"/>
                </a:solidFill>
              </a:rPr>
              <a:t>no_available_camera: Android tanpa kamera.</a:t>
            </a:r>
            <a:endParaRPr lang="en-US" sz="1700" dirty="0"/>
          </a:p>
          <a:p>
            <a:pPr marL="228600" indent="-228600">
              <a:spcAft>
                <a:spcPts val="800"/>
              </a:spcAft>
              <a:buSzPct val="100000"/>
              <a:buChar char="•"/>
            </a:pPr>
            <a:r>
              <a:rPr lang="en-US" sz="1700" dirty="0">
                <a:solidFill>
                  <a:schemeClr val="tx1"/>
                </a:solidFill>
              </a:rPr>
              <a:t>Cabang _: kode lain ikut ditampilkan agar mudah dilaporkan.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Membaca dan Menampilkan Foto</a:t>
            </a:r>
            <a:endParaRPr lang="en-US" sz="3200" dirty="0"/>
          </a:p>
        </p:txBody>
      </p:sp>
      <p:sp>
        <p:nvSpPr>
          <p:cNvPr id="4" name="kotak kode"/>
          <p:cNvSpPr txBox="1"/>
          <p:nvPr/>
        </p:nvSpPr>
        <p:spPr>
          <a:xfrm>
            <a:off x="548640" y="1371600"/>
            <a:ext cx="6583680" cy="4059936"/>
          </a:xfrm>
          <a:prstGeom prst="roundRect">
            <a:avLst>
              <a:gd name="adj" fmla="val 2252"/>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Membaca isi berkas, lalu mencari tahu ukuran gambarnya.</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Future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C792EA"/>
                </a:solidFill>
                <a:latin typeface="Consolas" pitchFamily="34" charset="0"/>
                <a:ea typeface="Consolas" pitchFamily="34" charset="-122"/>
                <a:cs typeface="Consolas" pitchFamily="34" charset="-120"/>
              </a:rPr>
              <a:t>void</a:t>
            </a:r>
            <a:r>
              <a:rPr lang="en-US" sz="1200" dirty="0">
                <a:solidFill>
                  <a:srgbClr val="E6EDF3"/>
                </a:solidFill>
                <a:latin typeface="Consolas" pitchFamily="34" charset="0"/>
                <a:ea typeface="Consolas" pitchFamily="34" charset="-122"/>
                <a:cs typeface="Consolas" pitchFamily="34" charset="-120"/>
              </a:rPr>
              <a:t>&gt; _tampilkan(</a:t>
            </a:r>
            <a:r>
              <a:rPr lang="en-US" sz="1200" dirty="0">
                <a:solidFill>
                  <a:srgbClr val="FFCB6B"/>
                </a:solidFill>
                <a:latin typeface="Consolas" pitchFamily="34" charset="0"/>
                <a:ea typeface="Consolas" pitchFamily="34" charset="-122"/>
                <a:cs typeface="Consolas" pitchFamily="34" charset="-120"/>
              </a:rPr>
              <a:t>XFile</a:t>
            </a:r>
            <a:r>
              <a:rPr lang="en-US" sz="1200" dirty="0">
                <a:solidFill>
                  <a:srgbClr val="E6EDF3"/>
                </a:solidFill>
                <a:latin typeface="Consolas" pitchFamily="34" charset="0"/>
                <a:ea typeface="Consolas" pitchFamily="34" charset="-122"/>
                <a:cs typeface="Consolas" pitchFamily="34" charset="-120"/>
              </a:rPr>
              <a:t> berkas) </a:t>
            </a:r>
            <a:r>
              <a:rPr lang="en-US" sz="1200" dirty="0">
                <a:solidFill>
                  <a:srgbClr val="C792EA"/>
                </a:solidFill>
                <a:latin typeface="Consolas" pitchFamily="34" charset="0"/>
                <a:ea typeface="Consolas" pitchFamily="34" charset="-122"/>
                <a:cs typeface="Consolas" pitchFamily="34" charset="-120"/>
              </a:rPr>
              <a:t>async</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Uint8List</a:t>
            </a:r>
            <a:r>
              <a:rPr lang="en-US" sz="1200" dirty="0">
                <a:solidFill>
                  <a:srgbClr val="E6EDF3"/>
                </a:solidFill>
                <a:latin typeface="Consolas" pitchFamily="34" charset="0"/>
                <a:ea typeface="Consolas" pitchFamily="34" charset="-122"/>
                <a:cs typeface="Consolas" pitchFamily="34" charset="-120"/>
              </a:rPr>
              <a:t> bita =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berkas.readAsBytes();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ui.</a:t>
            </a:r>
            <a:r>
              <a:rPr lang="en-US" sz="1200" dirty="0">
                <a:solidFill>
                  <a:srgbClr val="FFCB6B"/>
                </a:solidFill>
                <a:latin typeface="Consolas" pitchFamily="34" charset="0"/>
                <a:ea typeface="Consolas" pitchFamily="34" charset="-122"/>
                <a:cs typeface="Consolas" pitchFamily="34" charset="-120"/>
              </a:rPr>
              <a:t>Image</a:t>
            </a:r>
            <a:r>
              <a:rPr lang="en-US" sz="1200" dirty="0">
                <a:solidFill>
                  <a:srgbClr val="E6EDF3"/>
                </a:solidFill>
                <a:latin typeface="Consolas" pitchFamily="34" charset="0"/>
                <a:ea typeface="Consolas" pitchFamily="34" charset="-122"/>
                <a:cs typeface="Consolas" pitchFamily="34" charset="-120"/>
              </a:rPr>
              <a:t> gambar =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decodeImageFromList(bita);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FotoTerpilih</a:t>
            </a:r>
            <a:r>
              <a:rPr lang="en-US" sz="1200" dirty="0">
                <a:solidFill>
                  <a:srgbClr val="E6EDF3"/>
                </a:solidFill>
                <a:latin typeface="Consolas" pitchFamily="34" charset="0"/>
                <a:ea typeface="Consolas" pitchFamily="34" charset="-122"/>
                <a:cs typeface="Consolas" pitchFamily="34" charset="-120"/>
              </a:rPr>
              <a:t> foto = </a:t>
            </a:r>
            <a:r>
              <a:rPr lang="en-US" sz="1200" dirty="0">
                <a:solidFill>
                  <a:srgbClr val="FFCB6B"/>
                </a:solidFill>
                <a:latin typeface="Consolas" pitchFamily="34" charset="0"/>
                <a:ea typeface="Consolas" pitchFamily="34" charset="-122"/>
                <a:cs typeface="Consolas" pitchFamily="34" charset="-120"/>
              </a:rPr>
              <a:t>FotoTerpilih</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nama: berkas.name,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bita: bita,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lebar: gambar.width,</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tinggi: gambar.height,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jenis: berkas.mimeType,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gambar.dispose(); </a:t>
            </a:r>
            <a:r>
              <a:rPr lang="en-US" sz="1200" i="1" dirty="0">
                <a:solidFill>
                  <a:srgbClr val="8FA3BC"/>
                </a:solidFill>
                <a:latin typeface="Consolas" pitchFamily="34" charset="0"/>
                <a:ea typeface="Consolas" pitchFamily="34" charset="-122"/>
                <a:cs typeface="Consolas" pitchFamily="34" charset="-120"/>
              </a:rPr>
              <a:t>// yang kita perlukan hanya ukurannya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(!mounted)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setState(() =&gt; _foto = foto);</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cacheWidth: gambar diuraikan (decode) seukuran tampilan</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saja, sehingga memori tidak terbuang untuk foto besar.</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Image</a:t>
            </a:r>
            <a:r>
              <a:rPr lang="en-US" sz="1200" dirty="0">
                <a:solidFill>
                  <a:srgbClr val="E6EDF3"/>
                </a:solidFill>
                <a:latin typeface="Consolas" pitchFamily="34" charset="0"/>
                <a:ea typeface="Consolas" pitchFamily="34" charset="-122"/>
                <a:cs typeface="Consolas" pitchFamily="34" charset="-120"/>
              </a:rPr>
              <a:t>.memory(f.bita, fit: </a:t>
            </a:r>
            <a:r>
              <a:rPr lang="en-US" sz="1200" dirty="0">
                <a:solidFill>
                  <a:srgbClr val="FFCB6B"/>
                </a:solidFill>
                <a:latin typeface="Consolas" pitchFamily="34" charset="0"/>
                <a:ea typeface="Consolas" pitchFamily="34" charset="-122"/>
                <a:cs typeface="Consolas" pitchFamily="34" charset="-120"/>
              </a:rPr>
              <a:t>BoxFit</a:t>
            </a:r>
            <a:r>
              <a:rPr lang="en-US" sz="1200" dirty="0">
                <a:solidFill>
                  <a:srgbClr val="E6EDF3"/>
                </a:solidFill>
                <a:latin typeface="Consolas" pitchFamily="34" charset="0"/>
                <a:ea typeface="Consolas" pitchFamily="34" charset="-122"/>
                <a:cs typeface="Consolas" pitchFamily="34" charset="-120"/>
              </a:rPr>
              <a:t>.cover, cacheWidth: </a:t>
            </a:r>
            <a:r>
              <a:rPr lang="en-US" sz="1200" dirty="0">
                <a:solidFill>
                  <a:srgbClr val="F78C6C"/>
                </a:solidFill>
                <a:latin typeface="Consolas" pitchFamily="34" charset="0"/>
                <a:ea typeface="Consolas" pitchFamily="34" charset="-122"/>
                <a:cs typeface="Consolas" pitchFamily="34" charset="-120"/>
              </a:rPr>
              <a:t>480</a:t>
            </a: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3_fitur_perangkat_dan_izin/kode/contoh_02_galeri_dan_kamera.dart"/>
          </p:cNvPr>
          <p:cNvSpPr txBox="1"/>
          <p:nvPr/>
        </p:nvSpPr>
        <p:spPr>
          <a:xfrm>
            <a:off x="548640" y="5660136"/>
            <a:ext cx="658368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contoh_02_galeri_dan_kamera.dart</a:t>
            </a:r>
            <a:endParaRPr lang="en-US" sz="1300" dirty="0"/>
          </a:p>
        </p:txBody>
      </p:sp>
      <p:pic>
        <p:nvPicPr>
          <p:cNvPr id="6" name="Image 0" descr="ikon tautan">
            <a:hlinkClick r:id="rId3" tooltip="https://github.com/antonprafanto/mobile2026/blob/main/pertemuan_13_fitur_perangkat_dan_izin/kode/contoh_02_galeri_dan_kamera.dart"/>
          </p:cNvPr>
          <p:cNvPicPr>
            <a:picLocks noChangeAspect="1"/>
          </p:cNvPicPr>
          <p:nvPr/>
        </p:nvPicPr>
        <p:blipFill>
          <a:blip r:embed="rId2"/>
          <a:stretch>
            <a:fillRect/>
          </a:stretch>
        </p:blipFill>
        <p:spPr>
          <a:xfrm>
            <a:off x="694944" y="5751576"/>
            <a:ext cx="274320" cy="274320"/>
          </a:xfrm>
          <a:prstGeom prst="rect">
            <a:avLst/>
          </a:prstGeom>
        </p:spPr>
      </p:pic>
      <p:sp>
        <p:nvSpPr>
          <p:cNvPr id="7" name="daftar poin"/>
          <p:cNvSpPr txBox="1"/>
          <p:nvPr/>
        </p:nvSpPr>
        <p:spPr>
          <a:xfrm>
            <a:off x="7543800" y="1417320"/>
            <a:ext cx="409925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XFile: name, path, mimeType (bisa null di Android), length(), readAsBytes().</a:t>
            </a:r>
            <a:endParaRPr lang="en-US" sz="1700" dirty="0"/>
          </a:p>
          <a:p>
            <a:pPr marL="228600" indent="-228600">
              <a:spcAft>
                <a:spcPts val="800"/>
              </a:spcAft>
              <a:buSzPct val="100000"/>
              <a:buChar char="•"/>
            </a:pPr>
            <a:r>
              <a:rPr lang="en-US" sz="1700" dirty="0">
                <a:solidFill>
                  <a:schemeClr val="tx1"/>
                </a:solidFill>
              </a:rPr>
              <a:t>Image.memory berjalan di SEMUA platform.</a:t>
            </a:r>
            <a:endParaRPr lang="en-US" sz="1700" dirty="0"/>
          </a:p>
          <a:p>
            <a:pPr marL="228600" indent="-228600">
              <a:spcAft>
                <a:spcPts val="800"/>
              </a:spcAft>
              <a:buSzPct val="100000"/>
              <a:buChar char="•"/>
            </a:pPr>
            <a:r>
              <a:rPr lang="en-US" sz="1700" dirty="0">
                <a:solidFill>
                  <a:schemeClr val="tx1"/>
                </a:solidFill>
              </a:rPr>
              <a:t>Image.file(File(path)) memakai dart:io → tidak tersedia di web.</a:t>
            </a:r>
            <a:endParaRPr lang="en-US" sz="1700" dirty="0"/>
          </a:p>
          <a:p>
            <a:pPr marL="228600" indent="-228600">
              <a:spcAft>
                <a:spcPts val="800"/>
              </a:spcAft>
              <a:buSzPct val="100000"/>
              <a:buChar char="•"/>
            </a:pPr>
            <a:r>
              <a:rPr lang="en-US" sz="1700" dirty="0">
                <a:solidFill>
                  <a:schemeClr val="tx1"/>
                </a:solidFill>
              </a:rPr>
              <a:t>Foto kamera ada di folder sementara (cache); salin (XFile.saveTo) atau unggah jika perlu disimpan lama.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Kamera, Foto "Hilang", dan Banyak Foto</a:t>
            </a:r>
            <a:endParaRPr lang="en-US" sz="3200" dirty="0"/>
          </a:p>
        </p:txBody>
      </p:sp>
      <p:sp>
        <p:nvSpPr>
          <p:cNvPr id="4" name="kotak kode"/>
          <p:cNvSpPr txBox="1"/>
          <p:nvPr/>
        </p:nvSpPr>
        <p:spPr>
          <a:xfrm>
            <a:off x="548640" y="1371600"/>
            <a:ext cx="6766560" cy="3579876"/>
          </a:xfrm>
          <a:prstGeom prst="roundRect">
            <a:avLst>
              <a:gd name="adj" fmla="val 2554"/>
            </a:avLst>
          </a:prstGeom>
          <a:solidFill>
            <a:srgbClr val="0E1A2B"/>
          </a:solidFill>
          <a:ln/>
        </p:spPr>
        <p:txBody>
          <a:bodyPr wrap="square" lIns="177800" tIns="152400" rIns="152400" bIns="177800" rtlCol="0" anchor="t"/>
          <a:lstStyle/>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Di Android, iOS, dan web: true. Di Windows/Linux/macOS: false.</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bool</a:t>
            </a:r>
            <a:r>
              <a:rPr lang="en-US" sz="1100" dirty="0">
                <a:solidFill>
                  <a:srgbClr val="E6EDF3"/>
                </a:solidFill>
                <a:latin typeface="Consolas" pitchFamily="34" charset="0"/>
                <a:ea typeface="Consolas" pitchFamily="34" charset="-122"/>
                <a:cs typeface="Consolas" pitchFamily="34" charset="-120"/>
              </a:rPr>
              <a:t> kameraAda = _pemilih.supportsImageSource(</a:t>
            </a:r>
            <a:r>
              <a:rPr lang="en-US" sz="1100" dirty="0">
                <a:solidFill>
                  <a:srgbClr val="FFCB6B"/>
                </a:solidFill>
                <a:latin typeface="Consolas" pitchFamily="34" charset="0"/>
                <a:ea typeface="Consolas" pitchFamily="34" charset="-122"/>
                <a:cs typeface="Consolas" pitchFamily="34" charset="-120"/>
              </a:rPr>
              <a:t>ImageSource</a:t>
            </a:r>
            <a:r>
              <a:rPr lang="en-US" sz="1100" dirty="0">
                <a:solidFill>
                  <a:srgbClr val="E6EDF3"/>
                </a:solidFill>
                <a:latin typeface="Consolas" pitchFamily="34" charset="0"/>
                <a:ea typeface="Consolas" pitchFamily="34" charset="-122"/>
                <a:cs typeface="Consolas" pitchFamily="34" charset="-120"/>
              </a:rPr>
              <a:t>.camera);</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Khusus Android, dipanggil di initState:</a:t>
            </a:r>
            <a:endParaRPr lang="en-US" sz="1100" dirty="0"/>
          </a:p>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&gt; _pulihkanFotoYangHilang()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(kIsWeb || defaultTargetPlatform != </a:t>
            </a:r>
            <a:r>
              <a:rPr lang="en-US" sz="1100" dirty="0">
                <a:solidFill>
                  <a:srgbClr val="FFCB6B"/>
                </a:solidFill>
                <a:latin typeface="Consolas" pitchFamily="34" charset="0"/>
                <a:ea typeface="Consolas" pitchFamily="34" charset="-122"/>
                <a:cs typeface="Consolas" pitchFamily="34" charset="-120"/>
              </a:rPr>
              <a:t>TargetPlatform</a:t>
            </a:r>
            <a:r>
              <a:rPr lang="en-US" sz="1100" dirty="0">
                <a:solidFill>
                  <a:srgbClr val="E6EDF3"/>
                </a:solidFill>
                <a:latin typeface="Consolas" pitchFamily="34" charset="0"/>
                <a:ea typeface="Consolas" pitchFamily="34" charset="-122"/>
                <a:cs typeface="Consolas" pitchFamily="34" charset="-120"/>
              </a:rPr>
              <a:t>.android)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LostDataResponse</a:t>
            </a:r>
            <a:r>
              <a:rPr lang="en-US" sz="1100" dirty="0">
                <a:solidFill>
                  <a:srgbClr val="E6EDF3"/>
                </a:solidFill>
                <a:latin typeface="Consolas" pitchFamily="34" charset="0"/>
                <a:ea typeface="Consolas" pitchFamily="34" charset="-122"/>
                <a:cs typeface="Consolas" pitchFamily="34" charset="-120"/>
              </a:rPr>
              <a:t> respons =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_pemilih.retrieveLostData();</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XFile</a:t>
            </a:r>
            <a:r>
              <a:rPr lang="en-US" sz="1100" dirty="0">
                <a:solidFill>
                  <a:srgbClr val="E6EDF3"/>
                </a:solidFill>
                <a:latin typeface="Consolas" pitchFamily="34" charset="0"/>
                <a:ea typeface="Consolas" pitchFamily="34" charset="-122"/>
                <a:cs typeface="Consolas" pitchFamily="34" charset="-120"/>
              </a:rPr>
              <a:t>? berkas = respons.file;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(respons.isEmpty || berkas == </a:t>
            </a:r>
            <a:r>
              <a:rPr lang="en-US" sz="1100" dirty="0">
                <a:solidFill>
                  <a:srgbClr val="C792EA"/>
                </a:solidFill>
                <a:latin typeface="Consolas" pitchFamily="34" charset="0"/>
                <a:ea typeface="Consolas" pitchFamily="34" charset="-122"/>
                <a:cs typeface="Consolas" pitchFamily="34" charset="-120"/>
              </a:rPr>
              <a:t>null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_tampilkan(berkas);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List</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XFile</a:t>
            </a:r>
            <a:r>
              <a:rPr lang="en-US" sz="1100" dirty="0">
                <a:solidFill>
                  <a:srgbClr val="E6EDF3"/>
                </a:solidFill>
                <a:latin typeface="Consolas" pitchFamily="34" charset="0"/>
                <a:ea typeface="Consolas" pitchFamily="34" charset="-122"/>
                <a:cs typeface="Consolas" pitchFamily="34" charset="-120"/>
              </a:rPr>
              <a:t>&gt; daftar =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_pemilih.pickMultiImage(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maxWidth: </a:t>
            </a:r>
            <a:r>
              <a:rPr lang="en-US" sz="1100" dirty="0">
                <a:solidFill>
                  <a:srgbClr val="F78C6C"/>
                </a:solidFill>
                <a:latin typeface="Consolas" pitchFamily="34" charset="0"/>
                <a:ea typeface="Consolas" pitchFamily="34" charset="-122"/>
                <a:cs typeface="Consolas" pitchFamily="34" charset="-120"/>
              </a:rPr>
              <a:t>1080</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imageQuality: </a:t>
            </a:r>
            <a:r>
              <a:rPr lang="en-US" sz="1100" dirty="0">
                <a:solidFill>
                  <a:srgbClr val="F78C6C"/>
                </a:solidFill>
                <a:latin typeface="Consolas" pitchFamily="34" charset="0"/>
                <a:ea typeface="Consolas" pitchFamily="34" charset="-122"/>
                <a:cs typeface="Consolas" pitchFamily="34" charset="-120"/>
              </a:rPr>
              <a:t>80</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limit: </a:t>
            </a:r>
            <a:r>
              <a:rPr lang="en-US" sz="1100" dirty="0">
                <a:solidFill>
                  <a:srgbClr val="F78C6C"/>
                </a:solidFill>
                <a:latin typeface="Consolas" pitchFamily="34" charset="0"/>
                <a:ea typeface="Consolas" pitchFamily="34" charset="-122"/>
                <a:cs typeface="Consolas" pitchFamily="34" charset="-120"/>
              </a:rPr>
              <a:t>5</a:t>
            </a: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paling banyak 5 foto (berlaku di Android dan iOS)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(daftar.isEmpty)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dibatalkan: daftar kosong, bukan null</a:t>
            </a:r>
            <a:endParaRPr lang="en-US" sz="1100" dirty="0"/>
          </a:p>
        </p:txBody>
      </p:sp>
      <p:sp>
        <p:nvSpPr>
          <p:cNvPr id="5" name="tombol tautan">
            <a:hlinkClick r:id="rId1" tooltip="https://github.com/antonprafanto/mobile2026/blob/main/pertemuan_13_fitur_perangkat_dan_izin/kode/contoh_02_galeri_dan_kamera.dart"/>
          </p:cNvPr>
          <p:cNvSpPr txBox="1"/>
          <p:nvPr/>
        </p:nvSpPr>
        <p:spPr>
          <a:xfrm>
            <a:off x="548640" y="5180076"/>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contoh_02_galeri_dan_kamera.dart</a:t>
            </a:r>
            <a:endParaRPr lang="en-US" sz="1300" dirty="0"/>
          </a:p>
        </p:txBody>
      </p:sp>
      <p:pic>
        <p:nvPicPr>
          <p:cNvPr id="6" name="Image 0" descr="ikon tautan">
            <a:hlinkClick r:id="rId3" tooltip="https://github.com/antonprafanto/mobile2026/blob/main/pertemuan_13_fitur_perangkat_dan_izin/kode/contoh_02_galeri_dan_kamera.dart"/>
          </p:cNvPr>
          <p:cNvPicPr>
            <a:picLocks noChangeAspect="1"/>
          </p:cNvPicPr>
          <p:nvPr/>
        </p:nvPicPr>
        <p:blipFill>
          <a:blip r:embed="rId2"/>
          <a:stretch>
            <a:fillRect/>
          </a:stretch>
        </p:blipFill>
        <p:spPr>
          <a:xfrm>
            <a:off x="694944" y="5271516"/>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supportsImageSource: tombol Kamera hanya tampil jika didukung.</a:t>
            </a:r>
            <a:endParaRPr lang="en-US" sz="1700" dirty="0"/>
          </a:p>
          <a:p>
            <a:pPr marL="228600" indent="-228600">
              <a:spcAft>
                <a:spcPts val="800"/>
              </a:spcAft>
              <a:buSzPct val="100000"/>
              <a:buChar char="•"/>
            </a:pPr>
            <a:r>
              <a:rPr lang="en-US" sz="1700" dirty="0">
                <a:solidFill>
                  <a:schemeClr val="tx1"/>
                </a:solidFill>
              </a:rPr>
              <a:t>retrieveLostData(): foto yang sempat "hilang" diminta SEKALI.</a:t>
            </a:r>
            <a:endParaRPr lang="en-US" sz="1700" dirty="0"/>
          </a:p>
          <a:p>
            <a:pPr marL="228600" indent="-228600">
              <a:spcAft>
                <a:spcPts val="800"/>
              </a:spcAft>
              <a:buSzPct val="100000"/>
              <a:buChar char="•"/>
            </a:pPr>
            <a:r>
              <a:rPr lang="en-US" sz="1700" dirty="0">
                <a:solidFill>
                  <a:schemeClr val="tx1"/>
                </a:solidFill>
              </a:rPr>
              <a:t>Urutan kIsWeb || penting: di browser HP, defaultTargetPlatform bisa android.</a:t>
            </a:r>
            <a:endParaRPr lang="en-US" sz="1700" dirty="0"/>
          </a:p>
          <a:p>
            <a:pPr marL="228600" indent="-228600">
              <a:spcAft>
                <a:spcPts val="800"/>
              </a:spcAft>
              <a:buSzPct val="100000"/>
              <a:buChar char="•"/>
            </a:pPr>
            <a:r>
              <a:rPr lang="en-US" sz="1700" dirty="0">
                <a:solidFill>
                  <a:schemeClr val="tx1"/>
                </a:solidFill>
              </a:rPr>
              <a:t>pickMultiImage untuk beberapa foto sekaligus.</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02: Foto Profil</a:t>
            </a:r>
            <a:endParaRPr lang="en-US" sz="3200" dirty="0"/>
          </a:p>
        </p:txBody>
      </p:sp>
      <p:sp>
        <p:nvSpPr>
          <p:cNvPr id="4" name="bingkai layar 1"/>
          <p:cNvSpPr/>
          <p:nvPr/>
        </p:nvSpPr>
        <p:spPr>
          <a:xfrm>
            <a:off x="5278831" y="1316736"/>
            <a:ext cx="3127248" cy="4801201"/>
          </a:xfrm>
          <a:prstGeom prst="roundRect">
            <a:avLst>
              <a:gd name="adj" fmla="val 2924"/>
            </a:avLst>
          </a:prstGeom>
          <a:solidFill>
            <a:srgbClr val="FFFFFF"/>
          </a:solidFill>
          <a:ln w="12700">
            <a:solidFill>
              <a:srgbClr val="C9D3E0"/>
            </a:solidFill>
            <a:prstDash val="solid"/>
          </a:ln>
        </p:spPr>
      </p:sp>
      <p:pic>
        <p:nvPicPr>
          <p:cNvPr id="5" name="layar 1" descr="Tangkapan layar aplikasi (hasil_contoh_02a.jpg)">    </p:cNvPr>
          <p:cNvPicPr>
            <a:picLocks noChangeAspect="1"/>
          </p:cNvPicPr>
          <p:nvPr/>
        </p:nvPicPr>
        <p:blipFill>
          <a:blip r:embed="rId1"/>
          <a:stretch>
            <a:fillRect/>
          </a:stretch>
        </p:blipFill>
        <p:spPr>
          <a:xfrm>
            <a:off x="5333695" y="1371600"/>
            <a:ext cx="3017520" cy="4691473"/>
          </a:xfrm>
          <a:prstGeom prst="rect">
            <a:avLst/>
          </a:prstGeom>
        </p:spPr>
      </p:pic>
      <p:sp>
        <p:nvSpPr>
          <p:cNvPr id="6" name="bingkai layar 2"/>
          <p:cNvSpPr/>
          <p:nvPr/>
        </p:nvSpPr>
        <p:spPr>
          <a:xfrm>
            <a:off x="8570671" y="1316736"/>
            <a:ext cx="3127248" cy="4801201"/>
          </a:xfrm>
          <a:prstGeom prst="roundRect">
            <a:avLst>
              <a:gd name="adj" fmla="val 2924"/>
            </a:avLst>
          </a:prstGeom>
          <a:solidFill>
            <a:srgbClr val="FFFFFF"/>
          </a:solidFill>
          <a:ln w="12700">
            <a:solidFill>
              <a:srgbClr val="C9D3E0"/>
            </a:solidFill>
            <a:prstDash val="solid"/>
          </a:ln>
        </p:spPr>
      </p:sp>
      <p:pic>
        <p:nvPicPr>
          <p:cNvPr id="7" name="layar 2" descr="Tangkapan layar aplikasi (hasil_contoh_02b.jpg)">    </p:cNvPr>
          <p:cNvPicPr>
            <a:picLocks noChangeAspect="1"/>
          </p:cNvPicPr>
          <p:nvPr/>
        </p:nvPicPr>
        <p:blipFill>
          <a:blip r:embed="rId2"/>
          <a:stretch>
            <a:fillRect/>
          </a:stretch>
        </p:blipFill>
        <p:spPr>
          <a:xfrm>
            <a:off x="8625535" y="1371600"/>
            <a:ext cx="3017520" cy="4691473"/>
          </a:xfrm>
          <a:prstGeom prst="rect">
            <a:avLst/>
          </a:prstGeom>
        </p:spPr>
      </p:pic>
      <p:sp>
        <p:nvSpPr>
          <p:cNvPr id="8" name="tombol tautan">
            <a:hlinkClick r:id="rId3" tooltip="https://github.com/antonprafanto/mobile2026/blob/main/pertemuan_13_fitur_perangkat_dan_izin/kode/contoh_02_galeri_dan_kamera.dart"/>
          </p:cNvPr>
          <p:cNvSpPr txBox="1"/>
          <p:nvPr/>
        </p:nvSpPr>
        <p:spPr>
          <a:xfrm>
            <a:off x="548640" y="1371600"/>
            <a:ext cx="43278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contoh_02_galeri_dan_kamera.dart</a:t>
            </a:r>
            <a:endParaRPr lang="en-US" sz="1300" dirty="0"/>
          </a:p>
        </p:txBody>
      </p:sp>
      <p:pic>
        <p:nvPicPr>
          <p:cNvPr id="9" name="Image 2" descr="ikon tautan">
            <a:hlinkClick r:id="rId5" tooltip="https://github.com/antonprafanto/mobile2026/blob/main/pertemuan_13_fitur_perangkat_dan_izin/kode/contoh_02_galeri_dan_kamera.dart"/>
          </p:cNvPr>
          <p:cNvPicPr>
            <a:picLocks noChangeAspect="1"/>
          </p:cNvPicPr>
          <p:nvPr/>
        </p:nvPicPr>
        <p:blipFill>
          <a:blip r:embed="rId4"/>
          <a:stretch>
            <a:fillRect/>
          </a:stretch>
        </p:blipFill>
        <p:spPr>
          <a:xfrm>
            <a:off x="694944" y="1463040"/>
            <a:ext cx="274320" cy="274320"/>
          </a:xfrm>
          <a:prstGeom prst="rect">
            <a:avLst/>
          </a:prstGeom>
        </p:spPr>
      </p:pic>
      <p:sp>
        <p:nvSpPr>
          <p:cNvPr id="10" name="daftar poin"/>
          <p:cNvSpPr txBox="1"/>
          <p:nvPr/>
        </p:nvSpPr>
        <p:spPr>
          <a:xfrm>
            <a:off x="548640" y="2103120"/>
            <a:ext cx="4327855" cy="41148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Kiri: pemilih ditutup tanpa memilih → null → pesan singkat "Tidak ada foto yang dipilih."</a:t>
            </a:r>
            <a:endParaRPr lang="en-US" sz="1600" dirty="0"/>
          </a:p>
          <a:p>
            <a:pPr marL="228600" indent="-228600">
              <a:spcAft>
                <a:spcPts val="800"/>
              </a:spcAft>
              <a:buSzPct val="100000"/>
              <a:buChar char="•"/>
            </a:pPr>
            <a:r>
              <a:rPr lang="en-US" sz="1600" dirty="0">
                <a:solidFill>
                  <a:schemeClr val="tx1"/>
                </a:solidFill>
              </a:rPr>
              <a:t>Kanan: foto kamera sudah diperkecil menjadi lebar 1080 piksel (maxWidth), 48 KB.</a:t>
            </a:r>
            <a:endParaRPr lang="en-US" sz="1600" dirty="0"/>
          </a:p>
          <a:p>
            <a:pPr marL="228600" indent="-228600">
              <a:spcAft>
                <a:spcPts val="800"/>
              </a:spcAft>
              <a:buSzPct val="100000"/>
              <a:buChar char="•"/>
            </a:pPr>
            <a:r>
              <a:rPr lang="en-US" sz="1600" dirty="0">
                <a:solidFill>
                  <a:schemeClr val="tx1"/>
                </a:solidFill>
              </a:rPr>
              <a:t>Jalankan: flutter create foto_profil → flutter pub add image_picker → flutter run -d chrome.</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5</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Lokasi Perangkat</a:t>
            </a:r>
            <a:endParaRPr lang="en-US" sz="4000" dirty="0"/>
          </a:p>
        </p:txBody>
      </p:sp>
      <p:sp>
        <p:nvSpPr>
          <p:cNvPr id="5" name="lingkaran lokasi"/>
          <p:cNvSpPr/>
          <p:nvPr/>
        </p:nvSpPr>
        <p:spPr>
          <a:xfrm>
            <a:off x="1097280" y="2148840"/>
            <a:ext cx="2011680" cy="2011680"/>
          </a:xfrm>
          <a:prstGeom prst="ellipse">
            <a:avLst/>
          </a:prstGeom>
          <a:solidFill>
            <a:schemeClr val="accent1"/>
          </a:solidFill>
          <a:ln/>
        </p:spPr>
      </p:sp>
      <p:pic>
        <p:nvPicPr>
          <p:cNvPr id="6" name="Image 0" descr="lokasi">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Koordinat dan Akurasi</a:t>
            </a:r>
            <a:endParaRPr lang="en-US" sz="3200" dirty="0"/>
          </a:p>
        </p:txBody>
      </p:sp>
      <p:sp>
        <p:nvSpPr>
          <p:cNvPr id="4" name="kartu 1"/>
          <p:cNvSpPr/>
          <p:nvPr/>
        </p:nvSpPr>
        <p:spPr>
          <a:xfrm>
            <a:off x="548640" y="1371600"/>
            <a:ext cx="3484778" cy="2286000"/>
          </a:xfrm>
          <a:prstGeom prst="roundRect">
            <a:avLst>
              <a:gd name="adj" fmla="val 4800"/>
            </a:avLst>
          </a:prstGeom>
          <a:solidFill>
            <a:schemeClr val="bg2"/>
          </a:solidFill>
          <a:ln/>
        </p:spPr>
      </p:sp>
      <p:sp>
        <p:nvSpPr>
          <p:cNvPr id="5" name="lingkaran jelajah"/>
          <p:cNvSpPr/>
          <p:nvPr/>
        </p:nvSpPr>
        <p:spPr>
          <a:xfrm>
            <a:off x="777240" y="1600200"/>
            <a:ext cx="685800" cy="685800"/>
          </a:xfrm>
          <a:prstGeom prst="ellipse">
            <a:avLst/>
          </a:prstGeom>
          <a:solidFill>
            <a:schemeClr val="accent1"/>
          </a:solidFill>
          <a:ln/>
        </p:spPr>
      </p:sp>
      <p:pic>
        <p:nvPicPr>
          <p:cNvPr id="6" name="Image 0" descr="jelajah">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Lintang (latitude)</a:t>
            </a:r>
            <a:endParaRPr lang="en-US" sz="1800" dirty="0"/>
          </a:p>
        </p:txBody>
      </p:sp>
      <p:sp>
        <p:nvSpPr>
          <p:cNvPr id="8" name="Text 4"/>
          <p:cNvSpPr txBox="1"/>
          <p:nvPr/>
        </p:nvSpPr>
        <p:spPr>
          <a:xfrm>
            <a:off x="777240"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−90 (kutub selatan) sampai 90 (kutub utara). Negatif = di selatan khatulistiwa. Contoh: -0.4700</a:t>
            </a:r>
            <a:endParaRPr lang="en-US" sz="1500" dirty="0"/>
          </a:p>
        </p:txBody>
      </p:sp>
      <p:sp>
        <p:nvSpPr>
          <p:cNvPr id="9" name="kartu 2"/>
          <p:cNvSpPr/>
          <p:nvPr/>
        </p:nvSpPr>
        <p:spPr>
          <a:xfrm>
            <a:off x="4353458" y="1371600"/>
            <a:ext cx="3484778" cy="2286000"/>
          </a:xfrm>
          <a:prstGeom prst="roundRect">
            <a:avLst>
              <a:gd name="adj" fmla="val 4800"/>
            </a:avLst>
          </a:prstGeom>
          <a:solidFill>
            <a:schemeClr val="bg2"/>
          </a:solidFill>
          <a:ln/>
        </p:spPr>
      </p:sp>
      <p:sp>
        <p:nvSpPr>
          <p:cNvPr id="10" name="lingkaran jelajah"/>
          <p:cNvSpPr/>
          <p:nvPr/>
        </p:nvSpPr>
        <p:spPr>
          <a:xfrm>
            <a:off x="4582058" y="1600200"/>
            <a:ext cx="685800" cy="685800"/>
          </a:xfrm>
          <a:prstGeom prst="ellipse">
            <a:avLst/>
          </a:prstGeom>
          <a:solidFill>
            <a:schemeClr val="accent6"/>
          </a:solidFill>
          <a:ln/>
        </p:spPr>
      </p:sp>
      <p:pic>
        <p:nvPicPr>
          <p:cNvPr id="11" name="Image 1" descr="jelajah">    </p:cNvPr>
          <p:cNvPicPr>
            <a:picLocks noChangeAspect="1"/>
          </p:cNvPicPr>
          <p:nvPr/>
        </p:nvPicPr>
        <p:blipFill>
          <a:blip r:embed="rId2"/>
          <a:stretch>
            <a:fillRect/>
          </a:stretch>
        </p:blipFill>
        <p:spPr>
          <a:xfrm>
            <a:off x="4732934" y="1751076"/>
            <a:ext cx="384048" cy="384048"/>
          </a:xfrm>
          <a:prstGeom prst="rect">
            <a:avLst/>
          </a:prstGeom>
        </p:spPr>
      </p:pic>
      <p:sp>
        <p:nvSpPr>
          <p:cNvPr id="12" name="Text 7"/>
          <p:cNvSpPr txBox="1"/>
          <p:nvPr/>
        </p:nvSpPr>
        <p:spPr>
          <a:xfrm>
            <a:off x="5405018"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Bujur (longitude)</a:t>
            </a:r>
            <a:endParaRPr lang="en-US" sz="1800" dirty="0"/>
          </a:p>
        </p:txBody>
      </p:sp>
      <p:sp>
        <p:nvSpPr>
          <p:cNvPr id="13" name="Text 8"/>
          <p:cNvSpPr txBox="1"/>
          <p:nvPr/>
        </p:nvSpPr>
        <p:spPr>
          <a:xfrm>
            <a:off x="4582058"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−180 sampai 180. Positif = di timur Greenwich (Inggris). Contoh: 117.1580</a:t>
            </a:r>
            <a:endParaRPr lang="en-US" sz="1500" dirty="0"/>
          </a:p>
        </p:txBody>
      </p:sp>
      <p:sp>
        <p:nvSpPr>
          <p:cNvPr id="14" name="kartu 3"/>
          <p:cNvSpPr/>
          <p:nvPr/>
        </p:nvSpPr>
        <p:spPr>
          <a:xfrm>
            <a:off x="8158277" y="1371600"/>
            <a:ext cx="3484778" cy="2286000"/>
          </a:xfrm>
          <a:prstGeom prst="roundRect">
            <a:avLst>
              <a:gd name="adj" fmla="val 4800"/>
            </a:avLst>
          </a:prstGeom>
          <a:solidFill>
            <a:schemeClr val="bg2"/>
          </a:solidFill>
          <a:ln/>
        </p:spPr>
      </p:sp>
      <p:sp>
        <p:nvSpPr>
          <p:cNvPr id="15" name="lingkaran lokasi"/>
          <p:cNvSpPr/>
          <p:nvPr/>
        </p:nvSpPr>
        <p:spPr>
          <a:xfrm>
            <a:off x="8386877" y="1600200"/>
            <a:ext cx="685800" cy="685800"/>
          </a:xfrm>
          <a:prstGeom prst="ellipse">
            <a:avLst/>
          </a:prstGeom>
          <a:solidFill>
            <a:schemeClr val="accent4"/>
          </a:solidFill>
          <a:ln/>
        </p:spPr>
      </p:sp>
      <p:pic>
        <p:nvPicPr>
          <p:cNvPr id="16" name="Image 2" descr="lokasi">    </p:cNvPr>
          <p:cNvPicPr>
            <a:picLocks noChangeAspect="1"/>
          </p:cNvPicPr>
          <p:nvPr/>
        </p:nvPicPr>
        <p:blipFill>
          <a:blip r:embed="rId3"/>
          <a:stretch>
            <a:fillRect/>
          </a:stretch>
        </p:blipFill>
        <p:spPr>
          <a:xfrm>
            <a:off x="8537753" y="1751076"/>
            <a:ext cx="384048" cy="384048"/>
          </a:xfrm>
          <a:prstGeom prst="rect">
            <a:avLst/>
          </a:prstGeom>
        </p:spPr>
      </p:pic>
      <p:sp>
        <p:nvSpPr>
          <p:cNvPr id="17" name="Text 11"/>
          <p:cNvSpPr txBox="1"/>
          <p:nvPr/>
        </p:nvSpPr>
        <p:spPr>
          <a:xfrm>
            <a:off x="9209837"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Akurasi (meter)</a:t>
            </a:r>
            <a:endParaRPr lang="en-US" sz="1800" dirty="0"/>
          </a:p>
        </p:txBody>
      </p:sp>
      <p:sp>
        <p:nvSpPr>
          <p:cNvPr id="18" name="Text 12"/>
          <p:cNvSpPr txBox="1"/>
          <p:nvPr/>
        </p:nvSpPr>
        <p:spPr>
          <a:xfrm>
            <a:off x="8386877"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Jari-jari lingkaran tempat posisi sebenarnya kemungkinan besar berada. Makin kecil, makin baik</a:t>
            </a:r>
            <a:endParaRPr lang="en-US" sz="1500" dirty="0"/>
          </a:p>
        </p:txBody>
      </p:sp>
      <p:sp>
        <p:nvSpPr>
          <p:cNvPr id="19" name="kartu 4"/>
          <p:cNvSpPr/>
          <p:nvPr/>
        </p:nvSpPr>
        <p:spPr>
          <a:xfrm>
            <a:off x="548640" y="3931920"/>
            <a:ext cx="3484778" cy="2286000"/>
          </a:xfrm>
          <a:prstGeom prst="roundRect">
            <a:avLst>
              <a:gd name="adj" fmla="val 4800"/>
            </a:avLst>
          </a:prstGeom>
          <a:solidFill>
            <a:schemeClr val="bg2"/>
          </a:solidFill>
          <a:ln/>
        </p:spPr>
      </p:sp>
      <p:sp>
        <p:nvSpPr>
          <p:cNvPr id="20" name="lingkaran peta"/>
          <p:cNvSpPr/>
          <p:nvPr/>
        </p:nvSpPr>
        <p:spPr>
          <a:xfrm>
            <a:off x="777240" y="4160520"/>
            <a:ext cx="685800" cy="685800"/>
          </a:xfrm>
          <a:prstGeom prst="ellipse">
            <a:avLst/>
          </a:prstGeom>
          <a:solidFill>
            <a:schemeClr val="accent1"/>
          </a:solidFill>
          <a:ln/>
        </p:spPr>
      </p:sp>
      <p:pic>
        <p:nvPicPr>
          <p:cNvPr id="21" name="Image 3" descr="peta">    </p:cNvPr>
          <p:cNvPicPr>
            <a:picLocks noChangeAspect="1"/>
          </p:cNvPicPr>
          <p:nvPr/>
        </p:nvPicPr>
        <p:blipFill>
          <a:blip r:embed="rId4"/>
          <a:stretch>
            <a:fillRect/>
          </a:stretch>
        </p:blipFill>
        <p:spPr>
          <a:xfrm>
            <a:off x="928116" y="4311396"/>
            <a:ext cx="384048" cy="384048"/>
          </a:xfrm>
          <a:prstGeom prst="rect">
            <a:avLst/>
          </a:prstGeom>
        </p:spPr>
      </p:pic>
      <p:sp>
        <p:nvSpPr>
          <p:cNvPr id="22" name="Text 15"/>
          <p:cNvSpPr txBox="1"/>
          <p:nvPr/>
        </p:nvSpPr>
        <p:spPr>
          <a:xfrm>
            <a:off x="1600200"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Indonesia</a:t>
            </a:r>
            <a:endParaRPr lang="en-US" sz="1800" dirty="0"/>
          </a:p>
        </p:txBody>
      </p:sp>
      <p:sp>
        <p:nvSpPr>
          <p:cNvPr id="23" name="Text 16"/>
          <p:cNvSpPr txBox="1"/>
          <p:nvPr/>
        </p:nvSpPr>
        <p:spPr>
          <a:xfrm>
            <a:off x="777240"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Lintang kira-kira −11 sampai 6, bujur 95 sampai 141.</a:t>
            </a:r>
            <a:endParaRPr lang="en-US" sz="1500" dirty="0"/>
          </a:p>
        </p:txBody>
      </p:sp>
      <p:sp>
        <p:nvSpPr>
          <p:cNvPr id="24" name="kartu 5"/>
          <p:cNvSpPr/>
          <p:nvPr/>
        </p:nvSpPr>
        <p:spPr>
          <a:xfrm>
            <a:off x="4353458" y="3931920"/>
            <a:ext cx="3484778" cy="2286000"/>
          </a:xfrm>
          <a:prstGeom prst="roundRect">
            <a:avLst>
              <a:gd name="adj" fmla="val 4800"/>
            </a:avLst>
          </a:prstGeom>
          <a:solidFill>
            <a:schemeClr val="bg2"/>
          </a:solidFill>
          <a:ln/>
        </p:spPr>
      </p:sp>
      <p:sp>
        <p:nvSpPr>
          <p:cNvPr id="25" name="lingkaran pin"/>
          <p:cNvSpPr/>
          <p:nvPr/>
        </p:nvSpPr>
        <p:spPr>
          <a:xfrm>
            <a:off x="4582058" y="4160520"/>
            <a:ext cx="685800" cy="685800"/>
          </a:xfrm>
          <a:prstGeom prst="ellipse">
            <a:avLst/>
          </a:prstGeom>
          <a:solidFill>
            <a:schemeClr val="accent6"/>
          </a:solidFill>
          <a:ln/>
        </p:spPr>
      </p:sp>
      <p:pic>
        <p:nvPicPr>
          <p:cNvPr id="26" name="Image 4" descr="pin">    </p:cNvPr>
          <p:cNvPicPr>
            <a:picLocks noChangeAspect="1"/>
          </p:cNvPicPr>
          <p:nvPr/>
        </p:nvPicPr>
        <p:blipFill>
          <a:blip r:embed="rId5"/>
          <a:stretch>
            <a:fillRect/>
          </a:stretch>
        </p:blipFill>
        <p:spPr>
          <a:xfrm>
            <a:off x="4732934" y="4311396"/>
            <a:ext cx="384048" cy="384048"/>
          </a:xfrm>
          <a:prstGeom prst="rect">
            <a:avLst/>
          </a:prstGeom>
        </p:spPr>
      </p:pic>
      <p:sp>
        <p:nvSpPr>
          <p:cNvPr id="27" name="Text 19"/>
          <p:cNvSpPr txBox="1"/>
          <p:nvPr/>
        </p:nvSpPr>
        <p:spPr>
          <a:xfrm>
            <a:off x="5405018"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Koordinat kampus</a:t>
            </a:r>
            <a:endParaRPr lang="en-US" sz="1800" dirty="0"/>
          </a:p>
        </p:txBody>
      </p:sp>
      <p:sp>
        <p:nvSpPr>
          <p:cNvPr id="28" name="Text 20"/>
          <p:cNvSpPr txBox="1"/>
          <p:nvPr/>
        </p:nvSpPr>
        <p:spPr>
          <a:xfrm>
            <a:off x="4582058"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Google Maps di laptop: klik kanan titiknya, lalu klik angka koordinat di baris paling atas.</a:t>
            </a:r>
            <a:endParaRPr lang="en-US" sz="1500" dirty="0"/>
          </a:p>
        </p:txBody>
      </p:sp>
      <p:sp>
        <p:nvSpPr>
          <p:cNvPr id="29" name="kartu 6"/>
          <p:cNvSpPr/>
          <p:nvPr/>
        </p:nvSpPr>
        <p:spPr>
          <a:xfrm>
            <a:off x="8158277" y="3931920"/>
            <a:ext cx="3484778" cy="2286000"/>
          </a:xfrm>
          <a:prstGeom prst="roundRect">
            <a:avLst>
              <a:gd name="adj" fmla="val 4800"/>
            </a:avLst>
          </a:prstGeom>
          <a:solidFill>
            <a:schemeClr val="bg2"/>
          </a:solidFill>
          <a:ln/>
        </p:spPr>
      </p:sp>
      <p:sp>
        <p:nvSpPr>
          <p:cNvPr id="30" name="lingkaran lihat"/>
          <p:cNvSpPr/>
          <p:nvPr/>
        </p:nvSpPr>
        <p:spPr>
          <a:xfrm>
            <a:off x="8386877" y="4160520"/>
            <a:ext cx="685800" cy="685800"/>
          </a:xfrm>
          <a:prstGeom prst="ellipse">
            <a:avLst/>
          </a:prstGeom>
          <a:solidFill>
            <a:schemeClr val="accent4"/>
          </a:solidFill>
          <a:ln/>
        </p:spPr>
      </p:sp>
      <p:pic>
        <p:nvPicPr>
          <p:cNvPr id="31" name="Image 5" descr="lihat">    </p:cNvPr>
          <p:cNvPicPr>
            <a:picLocks noChangeAspect="1"/>
          </p:cNvPicPr>
          <p:nvPr/>
        </p:nvPicPr>
        <p:blipFill>
          <a:blip r:embed="rId6"/>
          <a:stretch>
            <a:fillRect/>
          </a:stretch>
        </p:blipFill>
        <p:spPr>
          <a:xfrm>
            <a:off x="8537753" y="4311396"/>
            <a:ext cx="384048" cy="384048"/>
          </a:xfrm>
          <a:prstGeom prst="rect">
            <a:avLst/>
          </a:prstGeom>
        </p:spPr>
      </p:pic>
      <p:sp>
        <p:nvSpPr>
          <p:cNvPr id="32" name="Text 23"/>
          <p:cNvSpPr txBox="1"/>
          <p:nvPr/>
        </p:nvSpPr>
        <p:spPr>
          <a:xfrm>
            <a:off x="9209837"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Lingkaran biru</a:t>
            </a:r>
            <a:endParaRPr lang="en-US" sz="1800" dirty="0"/>
          </a:p>
        </p:txBody>
      </p:sp>
      <p:sp>
        <p:nvSpPr>
          <p:cNvPr id="33" name="Text 24"/>
          <p:cNvSpPr txBox="1"/>
          <p:nvPr/>
        </p:nvSpPr>
        <p:spPr>
          <a:xfrm>
            <a:off x="8386877"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Di aplikasi peta, akurasi digambar sebagai lingkaran biru transparan di sekitar titik biru.</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Akurasi: Lingkaran Ketidakpastian</a:t>
            </a:r>
            <a:endParaRPr lang="en-US" sz="3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6312340"/>
                <a:gridCol w="4782076"/>
              </a:tblGrid>
              <a:tr h="64008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Keadaan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Akurasi yang biasa didapat</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4008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Di luar ruangan, langit terbuka</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 3–10 m</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Di dalam gedung, dekat jendela</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 10–30 m</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008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Di dalam gedung, jauh dari jendela</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Puluhan sampai ratusan meter</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Pengguna hanya memberi lokasi PERKIRAAN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Area ± 3 km persegi</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Aplikasi yang mengambil keputusan dari lokasi (misalnya presensi) WAJIB ikut memeriksa akurasi.</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Tiga Pemeriksaan Berurutan</a:t>
            </a:r>
            <a:endParaRPr lang="en-US" sz="3200" dirty="0"/>
          </a:p>
        </p:txBody>
      </p:sp>
      <p:sp>
        <p:nvSpPr>
          <p:cNvPr id="4" name="kotak kode"/>
          <p:cNvSpPr txBox="1"/>
          <p:nvPr/>
        </p:nvSpPr>
        <p:spPr>
          <a:xfrm>
            <a:off x="548640" y="1371600"/>
            <a:ext cx="6583680" cy="4107942"/>
          </a:xfrm>
          <a:prstGeom prst="roundRect">
            <a:avLst>
              <a:gd name="adj" fmla="val 2226"/>
            </a:avLst>
          </a:prstGeom>
          <a:solidFill>
            <a:srgbClr val="0E1A2B"/>
          </a:solidFill>
          <a:ln/>
        </p:spPr>
        <p:txBody>
          <a:bodyPr wrap="square" lIns="177800" tIns="152400" rIns="152400" bIns="177800" rtlCol="0" anchor="t"/>
          <a:lstStyle/>
          <a:p>
            <a:pPr indent="0" marL="0">
              <a:lnSpc>
                <a:spcPct val="105000"/>
              </a:lnSpc>
              <a:buNone/>
            </a:pPr>
            <a:r>
              <a:rPr lang="en-US" sz="1050" dirty="0">
                <a:solidFill>
                  <a:srgbClr val="FFCB6B"/>
                </a:solidFill>
                <a:latin typeface="Consolas" pitchFamily="34" charset="0"/>
                <a:ea typeface="Consolas" pitchFamily="34" charset="-122"/>
                <a:cs typeface="Consolas" pitchFamily="34" charset="-120"/>
              </a:rPr>
              <a:t>Future</a:t>
            </a:r>
            <a:r>
              <a:rPr lang="en-US" sz="1050" dirty="0">
                <a:solidFill>
                  <a:srgbClr val="E6EDF3"/>
                </a:solidFill>
                <a:latin typeface="Consolas" pitchFamily="34" charset="0"/>
                <a:ea typeface="Consolas" pitchFamily="34" charset="-122"/>
                <a:cs typeface="Consolas" pitchFamily="34" charset="-120"/>
              </a:rPr>
              <a:t>&lt;</a:t>
            </a:r>
            <a:r>
              <a:rPr lang="en-US" sz="1050" dirty="0">
                <a:solidFill>
                  <a:srgbClr val="FFCB6B"/>
                </a:solidFill>
                <a:latin typeface="Consolas" pitchFamily="34" charset="0"/>
                <a:ea typeface="Consolas" pitchFamily="34" charset="-122"/>
                <a:cs typeface="Consolas" pitchFamily="34" charset="-120"/>
              </a:rPr>
              <a:t>KeadaanLokasi</a:t>
            </a:r>
            <a:r>
              <a:rPr lang="en-US" sz="1050" dirty="0">
                <a:solidFill>
                  <a:srgbClr val="E6EDF3"/>
                </a:solidFill>
                <a:latin typeface="Consolas" pitchFamily="34" charset="0"/>
                <a:ea typeface="Consolas" pitchFamily="34" charset="-122"/>
                <a:cs typeface="Consolas" pitchFamily="34" charset="-120"/>
              </a:rPr>
              <a:t>&gt; _ambilLokasi() </a:t>
            </a:r>
            <a:r>
              <a:rPr lang="en-US" sz="1050" dirty="0">
                <a:solidFill>
                  <a:srgbClr val="C792EA"/>
                </a:solidFill>
                <a:latin typeface="Consolas" pitchFamily="34" charset="0"/>
                <a:ea typeface="Consolas" pitchFamily="34" charset="-122"/>
                <a:cs typeface="Consolas" pitchFamily="34" charset="-120"/>
              </a:rPr>
              <a:t>async</a:t>
            </a: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1. Sakelar Lokasi di perangkat. (Di web selalu true.)</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if</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await</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Geolocator</a:t>
            </a:r>
            <a:r>
              <a:rPr lang="en-US" sz="1050" dirty="0">
                <a:solidFill>
                  <a:srgbClr val="E6EDF3"/>
                </a:solidFill>
                <a:latin typeface="Consolas" pitchFamily="34" charset="0"/>
                <a:ea typeface="Consolas" pitchFamily="34" charset="-122"/>
                <a:cs typeface="Consolas" pitchFamily="34" charset="-120"/>
              </a:rPr>
              <a:t>.isLocationServiceEnabled())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return</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const</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LokasiGagal</a:t>
            </a:r>
            <a:r>
              <a:rPr lang="en-US" sz="1050" dirty="0">
                <a:solidFill>
                  <a:srgbClr val="E6EDF3"/>
                </a:solidFill>
                <a:latin typeface="Consolas" pitchFamily="34" charset="0"/>
                <a:ea typeface="Consolas" pitchFamily="34" charset="-122"/>
                <a:cs typeface="Consolas" pitchFamily="34" charset="-120"/>
              </a:rPr>
              <a:t>(</a:t>
            </a:r>
            <a:r>
              <a:rPr lang="en-US" sz="1050" dirty="0">
                <a:solidFill>
                  <a:srgbClr val="FFCB6B"/>
                </a:solidFill>
                <a:latin typeface="Consolas" pitchFamily="34" charset="0"/>
                <a:ea typeface="Consolas" pitchFamily="34" charset="-122"/>
                <a:cs typeface="Consolas" pitchFamily="34" charset="-120"/>
              </a:rPr>
              <a:t>MasalahLokasi</a:t>
            </a:r>
            <a:r>
              <a:rPr lang="en-US" sz="1050" dirty="0">
                <a:solidFill>
                  <a:srgbClr val="E6EDF3"/>
                </a:solidFill>
                <a:latin typeface="Consolas" pitchFamily="34" charset="0"/>
                <a:ea typeface="Consolas" pitchFamily="34" charset="-122"/>
                <a:cs typeface="Consolas" pitchFamily="34" charset="-120"/>
              </a:rPr>
              <a:t>.layananMati);</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2. Izin. checkPermission() tidak pernah menampilkan dialog;</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requestPermission() menampilkannya jika masih boleh.</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LocationPermission</a:t>
            </a:r>
            <a:r>
              <a:rPr lang="en-US" sz="1050" dirty="0">
                <a:solidFill>
                  <a:srgbClr val="E6EDF3"/>
                </a:solidFill>
                <a:latin typeface="Consolas" pitchFamily="34" charset="0"/>
                <a:ea typeface="Consolas" pitchFamily="34" charset="-122"/>
                <a:cs typeface="Consolas" pitchFamily="34" charset="-120"/>
              </a:rPr>
              <a:t> izin = </a:t>
            </a:r>
            <a:r>
              <a:rPr lang="en-US" sz="1050" dirty="0">
                <a:solidFill>
                  <a:srgbClr val="C792EA"/>
                </a:solidFill>
                <a:latin typeface="Consolas" pitchFamily="34" charset="0"/>
                <a:ea typeface="Consolas" pitchFamily="34" charset="-122"/>
                <a:cs typeface="Consolas" pitchFamily="34" charset="-120"/>
              </a:rPr>
              <a:t>await</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Geolocator</a:t>
            </a:r>
            <a:r>
              <a:rPr lang="en-US" sz="1050" dirty="0">
                <a:solidFill>
                  <a:srgbClr val="E6EDF3"/>
                </a:solidFill>
                <a:latin typeface="Consolas" pitchFamily="34" charset="0"/>
                <a:ea typeface="Consolas" pitchFamily="34" charset="-122"/>
                <a:cs typeface="Consolas" pitchFamily="34" charset="-120"/>
              </a:rPr>
              <a:t>.checkPermission();</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if</a:t>
            </a:r>
            <a:r>
              <a:rPr lang="en-US" sz="1050" dirty="0">
                <a:solidFill>
                  <a:srgbClr val="E6EDF3"/>
                </a:solidFill>
                <a:latin typeface="Consolas" pitchFamily="34" charset="0"/>
                <a:ea typeface="Consolas" pitchFamily="34" charset="-122"/>
                <a:cs typeface="Consolas" pitchFamily="34" charset="-120"/>
              </a:rPr>
              <a:t> (izin == </a:t>
            </a:r>
            <a:r>
              <a:rPr lang="en-US" sz="1050" dirty="0">
                <a:solidFill>
                  <a:srgbClr val="FFCB6B"/>
                </a:solidFill>
                <a:latin typeface="Consolas" pitchFamily="34" charset="0"/>
                <a:ea typeface="Consolas" pitchFamily="34" charset="-122"/>
                <a:cs typeface="Consolas" pitchFamily="34" charset="-120"/>
              </a:rPr>
              <a:t>LocationPermission</a:t>
            </a:r>
            <a:r>
              <a:rPr lang="en-US" sz="1050" dirty="0">
                <a:solidFill>
                  <a:srgbClr val="E6EDF3"/>
                </a:solidFill>
                <a:latin typeface="Consolas" pitchFamily="34" charset="0"/>
                <a:ea typeface="Consolas" pitchFamily="34" charset="-122"/>
                <a:cs typeface="Consolas" pitchFamily="34" charset="-120"/>
              </a:rPr>
              <a:t>.denied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izin == </a:t>
            </a:r>
            <a:r>
              <a:rPr lang="en-US" sz="1050" dirty="0">
                <a:solidFill>
                  <a:srgbClr val="FFCB6B"/>
                </a:solidFill>
                <a:latin typeface="Consolas" pitchFamily="34" charset="0"/>
                <a:ea typeface="Consolas" pitchFamily="34" charset="-122"/>
                <a:cs typeface="Consolas" pitchFamily="34" charset="-120"/>
              </a:rPr>
              <a:t>LocationPermission</a:t>
            </a:r>
            <a:r>
              <a:rPr lang="en-US" sz="1050" dirty="0">
                <a:solidFill>
                  <a:srgbClr val="E6EDF3"/>
                </a:solidFill>
                <a:latin typeface="Consolas" pitchFamily="34" charset="0"/>
                <a:ea typeface="Consolas" pitchFamily="34" charset="-122"/>
                <a:cs typeface="Consolas" pitchFamily="34" charset="-120"/>
              </a:rPr>
              <a:t>.unableToDetermine)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izin = </a:t>
            </a:r>
            <a:r>
              <a:rPr lang="en-US" sz="1050" dirty="0">
                <a:solidFill>
                  <a:srgbClr val="C792EA"/>
                </a:solidFill>
                <a:latin typeface="Consolas" pitchFamily="34" charset="0"/>
                <a:ea typeface="Consolas" pitchFamily="34" charset="-122"/>
                <a:cs typeface="Consolas" pitchFamily="34" charset="-120"/>
              </a:rPr>
              <a:t>await</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Geolocator</a:t>
            </a:r>
            <a:r>
              <a:rPr lang="en-US" sz="1050" dirty="0">
                <a:solidFill>
                  <a:srgbClr val="E6EDF3"/>
                </a:solidFill>
                <a:latin typeface="Consolas" pitchFamily="34" charset="0"/>
                <a:ea typeface="Consolas" pitchFamily="34" charset="-122"/>
                <a:cs typeface="Consolas" pitchFamily="34" charset="-120"/>
              </a:rPr>
              <a:t>.requestPermission();</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final</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MasalahLokasi</a:t>
            </a:r>
            <a:r>
              <a:rPr lang="en-US" sz="1050" dirty="0">
                <a:solidFill>
                  <a:srgbClr val="E6EDF3"/>
                </a:solidFill>
                <a:latin typeface="Consolas" pitchFamily="34" charset="0"/>
                <a:ea typeface="Consolas" pitchFamily="34" charset="-122"/>
                <a:cs typeface="Consolas" pitchFamily="34" charset="-120"/>
              </a:rPr>
              <a:t>? masalahIzin = </a:t>
            </a:r>
            <a:r>
              <a:rPr lang="en-US" sz="1050" dirty="0">
                <a:solidFill>
                  <a:srgbClr val="C792EA"/>
                </a:solidFill>
                <a:latin typeface="Consolas" pitchFamily="34" charset="0"/>
                <a:ea typeface="Consolas" pitchFamily="34" charset="-122"/>
                <a:cs typeface="Consolas" pitchFamily="34" charset="-120"/>
              </a:rPr>
              <a:t>switch</a:t>
            </a:r>
            <a:r>
              <a:rPr lang="en-US" sz="1050" dirty="0">
                <a:solidFill>
                  <a:srgbClr val="E6EDF3"/>
                </a:solidFill>
                <a:latin typeface="Consolas" pitchFamily="34" charset="0"/>
                <a:ea typeface="Consolas" pitchFamily="34" charset="-122"/>
                <a:cs typeface="Consolas" pitchFamily="34" charset="-120"/>
              </a:rPr>
              <a:t> (izin)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LocationPermission</a:t>
            </a:r>
            <a:r>
              <a:rPr lang="en-US" sz="1050" dirty="0">
                <a:solidFill>
                  <a:srgbClr val="E6EDF3"/>
                </a:solidFill>
                <a:latin typeface="Consolas" pitchFamily="34" charset="0"/>
                <a:ea typeface="Consolas" pitchFamily="34" charset="-122"/>
                <a:cs typeface="Consolas" pitchFamily="34" charset="-120"/>
              </a:rPr>
              <a:t>.denied =&gt; </a:t>
            </a:r>
            <a:r>
              <a:rPr lang="en-US" sz="1050" dirty="0">
                <a:solidFill>
                  <a:srgbClr val="FFCB6B"/>
                </a:solidFill>
                <a:latin typeface="Consolas" pitchFamily="34" charset="0"/>
                <a:ea typeface="Consolas" pitchFamily="34" charset="-122"/>
                <a:cs typeface="Consolas" pitchFamily="34" charset="-120"/>
              </a:rPr>
              <a:t>MasalahLokasi</a:t>
            </a:r>
            <a:r>
              <a:rPr lang="en-US" sz="1050" dirty="0">
                <a:solidFill>
                  <a:srgbClr val="E6EDF3"/>
                </a:solidFill>
                <a:latin typeface="Consolas" pitchFamily="34" charset="0"/>
                <a:ea typeface="Consolas" pitchFamily="34" charset="-122"/>
                <a:cs typeface="Consolas" pitchFamily="34" charset="-120"/>
              </a:rPr>
              <a:t>.izinDitolak,</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LocationPermission</a:t>
            </a:r>
            <a:r>
              <a:rPr lang="en-US" sz="1050" dirty="0">
                <a:solidFill>
                  <a:srgbClr val="E6EDF3"/>
                </a:solidFill>
                <a:latin typeface="Consolas" pitchFamily="34" charset="0"/>
                <a:ea typeface="Consolas" pitchFamily="34" charset="-122"/>
                <a:cs typeface="Consolas" pitchFamily="34" charset="-120"/>
              </a:rPr>
              <a:t>.deniedForever =&gt; </a:t>
            </a:r>
            <a:r>
              <a:rPr lang="en-US" sz="1050" dirty="0">
                <a:solidFill>
                  <a:srgbClr val="FFCB6B"/>
                </a:solidFill>
                <a:latin typeface="Consolas" pitchFamily="34" charset="0"/>
                <a:ea typeface="Consolas" pitchFamily="34" charset="-122"/>
                <a:cs typeface="Consolas" pitchFamily="34" charset="-120"/>
              </a:rPr>
              <a:t>MasalahLokasi</a:t>
            </a:r>
            <a:r>
              <a:rPr lang="en-US" sz="1050" dirty="0">
                <a:solidFill>
                  <a:srgbClr val="E6EDF3"/>
                </a:solidFill>
                <a:latin typeface="Consolas" pitchFamily="34" charset="0"/>
                <a:ea typeface="Consolas" pitchFamily="34" charset="-122"/>
                <a:cs typeface="Consolas" pitchFamily="34" charset="-120"/>
              </a:rPr>
              <a:t>.izinDiblokir,</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LocationPermission</a:t>
            </a:r>
            <a:r>
              <a:rPr lang="en-US" sz="1050" dirty="0">
                <a:solidFill>
                  <a:srgbClr val="E6EDF3"/>
                </a:solidFill>
                <a:latin typeface="Consolas" pitchFamily="34" charset="0"/>
                <a:ea typeface="Consolas" pitchFamily="34" charset="-122"/>
                <a:cs typeface="Consolas" pitchFamily="34" charset="-120"/>
              </a:rPr>
              <a:t>.whileInUse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LocationPermission</a:t>
            </a:r>
            <a:r>
              <a:rPr lang="en-US" sz="1050" dirty="0">
                <a:solidFill>
                  <a:srgbClr val="E6EDF3"/>
                </a:solidFill>
                <a:latin typeface="Consolas" pitchFamily="34" charset="0"/>
                <a:ea typeface="Consolas" pitchFamily="34" charset="-122"/>
                <a:cs typeface="Consolas" pitchFamily="34" charset="-120"/>
              </a:rPr>
              <a:t>.always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LocationPermission</a:t>
            </a:r>
            <a:r>
              <a:rPr lang="en-US" sz="1050" dirty="0">
                <a:solidFill>
                  <a:srgbClr val="E6EDF3"/>
                </a:solidFill>
                <a:latin typeface="Consolas" pitchFamily="34" charset="0"/>
                <a:ea typeface="Consolas" pitchFamily="34" charset="-122"/>
                <a:cs typeface="Consolas" pitchFamily="34" charset="-120"/>
              </a:rPr>
              <a:t>.unableToDetermine =&gt; </a:t>
            </a:r>
            <a:r>
              <a:rPr lang="en-US" sz="1050" dirty="0">
                <a:solidFill>
                  <a:srgbClr val="C792EA"/>
                </a:solidFill>
                <a:latin typeface="Consolas" pitchFamily="34" charset="0"/>
                <a:ea typeface="Consolas" pitchFamily="34" charset="-122"/>
                <a:cs typeface="Consolas" pitchFamily="34" charset="-120"/>
              </a:rPr>
              <a:t>null</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if</a:t>
            </a:r>
            <a:r>
              <a:rPr lang="en-US" sz="1050" dirty="0">
                <a:solidFill>
                  <a:srgbClr val="E6EDF3"/>
                </a:solidFill>
                <a:latin typeface="Consolas" pitchFamily="34" charset="0"/>
                <a:ea typeface="Consolas" pitchFamily="34" charset="-122"/>
                <a:cs typeface="Consolas" pitchFamily="34" charset="-120"/>
              </a:rPr>
              <a:t> (masalahIzin != </a:t>
            </a:r>
            <a:r>
              <a:rPr lang="en-US" sz="1050" dirty="0">
                <a:solidFill>
                  <a:srgbClr val="C792EA"/>
                </a:solidFill>
                <a:latin typeface="Consolas" pitchFamily="34" charset="0"/>
                <a:ea typeface="Consolas" pitchFamily="34" charset="-122"/>
                <a:cs typeface="Consolas" pitchFamily="34" charset="-120"/>
              </a:rPr>
              <a:t>null</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return</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LokasiGagal</a:t>
            </a:r>
            <a:r>
              <a:rPr lang="en-US" sz="1050" dirty="0">
                <a:solidFill>
                  <a:srgbClr val="E6EDF3"/>
                </a:solidFill>
                <a:latin typeface="Consolas" pitchFamily="34" charset="0"/>
                <a:ea typeface="Consolas" pitchFamily="34" charset="-122"/>
                <a:cs typeface="Consolas" pitchFamily="34" charset="-120"/>
              </a:rPr>
              <a:t>(masalahIzin);</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3. Posisi, dengan batas waktu (slide berikutnya)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p:txBody>
      </p:sp>
      <p:sp>
        <p:nvSpPr>
          <p:cNvPr id="5" name="tombol tautan">
            <a:hlinkClick r:id="rId1" tooltip="https://github.com/antonprafanto/mobile2026/blob/main/pertemuan_13_fitur_perangkat_dan_izin/kode/contoh_03_lokasi_sekarang.dart"/>
          </p:cNvPr>
          <p:cNvSpPr txBox="1"/>
          <p:nvPr/>
        </p:nvSpPr>
        <p:spPr>
          <a:xfrm>
            <a:off x="548640" y="5708142"/>
            <a:ext cx="658368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contoh_03_lokasi_sekarang.dart</a:t>
            </a:r>
            <a:endParaRPr lang="en-US" sz="1300" dirty="0"/>
          </a:p>
        </p:txBody>
      </p:sp>
      <p:pic>
        <p:nvPicPr>
          <p:cNvPr id="6" name="Image 0" descr="ikon tautan">
            <a:hlinkClick r:id="rId3" tooltip="https://github.com/antonprafanto/mobile2026/blob/main/pertemuan_13_fitur_perangkat_dan_izin/kode/contoh_03_lokasi_sekarang.dart"/>
          </p:cNvPr>
          <p:cNvPicPr>
            <a:picLocks noChangeAspect="1"/>
          </p:cNvPicPr>
          <p:nvPr/>
        </p:nvPicPr>
        <p:blipFill>
          <a:blip r:embed="rId2"/>
          <a:stretch>
            <a:fillRect/>
          </a:stretch>
        </p:blipFill>
        <p:spPr>
          <a:xfrm>
            <a:off x="694944" y="5799582"/>
            <a:ext cx="274320" cy="274320"/>
          </a:xfrm>
          <a:prstGeom prst="rect">
            <a:avLst/>
          </a:prstGeom>
        </p:spPr>
      </p:pic>
      <p:sp>
        <p:nvSpPr>
          <p:cNvPr id="7" name="daftar poin"/>
          <p:cNvSpPr txBox="1"/>
          <p:nvPr/>
        </p:nvSpPr>
        <p:spPr>
          <a:xfrm>
            <a:off x="7543800" y="1417320"/>
            <a:ext cx="409925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checkPermission(): TANPA dialog.</a:t>
            </a:r>
            <a:endParaRPr lang="en-US" sz="1700" dirty="0"/>
          </a:p>
          <a:p>
            <a:pPr marL="228600" indent="-228600">
              <a:spcAft>
                <a:spcPts val="800"/>
              </a:spcAft>
              <a:buSzPct val="100000"/>
              <a:buChar char="•"/>
            </a:pPr>
            <a:r>
              <a:rPr lang="en-US" sz="1700" dirty="0">
                <a:solidFill>
                  <a:schemeClr val="tx1"/>
                </a:solidFill>
              </a:rPr>
              <a:t>requestPermission(): dialog, hanya jika status masih denied.</a:t>
            </a:r>
            <a:endParaRPr lang="en-US" sz="1700" dirty="0"/>
          </a:p>
          <a:p>
            <a:pPr marL="228600" indent="-228600">
              <a:spcAft>
                <a:spcPts val="800"/>
              </a:spcAft>
              <a:buSzPct val="100000"/>
              <a:buChar char="•"/>
            </a:pPr>
            <a:r>
              <a:rPr lang="en-US" sz="1700" dirty="0">
                <a:solidFill>
                  <a:schemeClr val="tx1"/>
                </a:solidFill>
              </a:rPr>
              <a:t>Kelima status wajib ditangani; deniedForever punya pesan sendiri.</a:t>
            </a:r>
            <a:endParaRPr lang="en-US" sz="1700" dirty="0"/>
          </a:p>
          <a:p>
            <a:pPr marL="228600" indent="-228600">
              <a:spcAft>
                <a:spcPts val="800"/>
              </a:spcAft>
              <a:buSzPct val="100000"/>
              <a:buChar char="•"/>
            </a:pPr>
            <a:r>
              <a:rPr lang="en-US" sz="1700" dirty="0">
                <a:solidFill>
                  <a:schemeClr val="tx1"/>
                </a:solidFill>
              </a:rPr>
              <a:t>Empat keadaan layar (sealed class): BelumDiminta, SedangMencari, LokasiDitemukan, LokasiGagal.</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Posisi dengan Batas Waktu</a:t>
            </a:r>
            <a:endParaRPr lang="en-US" sz="3200" dirty="0"/>
          </a:p>
        </p:txBody>
      </p:sp>
      <p:sp>
        <p:nvSpPr>
          <p:cNvPr id="4" name="kotak kode"/>
          <p:cNvSpPr txBox="1"/>
          <p:nvPr/>
        </p:nvSpPr>
        <p:spPr>
          <a:xfrm>
            <a:off x="548640" y="1371600"/>
            <a:ext cx="6949440" cy="3867912"/>
          </a:xfrm>
          <a:prstGeom prst="roundRect">
            <a:avLst>
              <a:gd name="adj" fmla="val 2364"/>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3. Posisi. GPS bisa lama di dalam gedung, jadi diberi batas waktu.</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try</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Position</a:t>
            </a:r>
            <a:r>
              <a:rPr lang="en-US" sz="1200" dirty="0">
                <a:solidFill>
                  <a:srgbClr val="E6EDF3"/>
                </a:solidFill>
                <a:latin typeface="Consolas" pitchFamily="34" charset="0"/>
                <a:ea typeface="Consolas" pitchFamily="34" charset="-122"/>
                <a:cs typeface="Consolas" pitchFamily="34" charset="-120"/>
              </a:rPr>
              <a:t> posisi =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Geolocator</a:t>
            </a:r>
            <a:r>
              <a:rPr lang="en-US" sz="1200" dirty="0">
                <a:solidFill>
                  <a:srgbClr val="E6EDF3"/>
                </a:solidFill>
                <a:latin typeface="Consolas" pitchFamily="34" charset="0"/>
                <a:ea typeface="Consolas" pitchFamily="34" charset="-122"/>
                <a:cs typeface="Consolas" pitchFamily="34" charset="-120"/>
              </a:rPr>
              <a:t>.getCurrentPosition(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locationSettings: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LocationSettings</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accuracy: </a:t>
            </a:r>
            <a:r>
              <a:rPr lang="en-US" sz="1200" dirty="0">
                <a:solidFill>
                  <a:srgbClr val="FFCB6B"/>
                </a:solidFill>
                <a:latin typeface="Consolas" pitchFamily="34" charset="0"/>
                <a:ea typeface="Consolas" pitchFamily="34" charset="-122"/>
                <a:cs typeface="Consolas" pitchFamily="34" charset="-120"/>
              </a:rPr>
              <a:t>LocationAccuracy</a:t>
            </a:r>
            <a:r>
              <a:rPr lang="en-US" sz="1200" dirty="0">
                <a:solidFill>
                  <a:srgbClr val="E6EDF3"/>
                </a:solidFill>
                <a:latin typeface="Consolas" pitchFamily="34" charset="0"/>
                <a:ea typeface="Consolas" pitchFamily="34" charset="-122"/>
                <a:cs typeface="Consolas" pitchFamily="34" charset="-120"/>
              </a:rPr>
              <a:t>.high,</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timeLimit: </a:t>
            </a:r>
            <a:r>
              <a:rPr lang="en-US" sz="1200" dirty="0">
                <a:solidFill>
                  <a:srgbClr val="FFCB6B"/>
                </a:solidFill>
                <a:latin typeface="Consolas" pitchFamily="34" charset="0"/>
                <a:ea typeface="Consolas" pitchFamily="34" charset="-122"/>
                <a:cs typeface="Consolas" pitchFamily="34" charset="-120"/>
              </a:rPr>
              <a:t>Duration</a:t>
            </a:r>
            <a:r>
              <a:rPr lang="en-US" sz="1200" dirty="0">
                <a:solidFill>
                  <a:srgbClr val="E6EDF3"/>
                </a:solidFill>
                <a:latin typeface="Consolas" pitchFamily="34" charset="0"/>
                <a:ea typeface="Consolas" pitchFamily="34" charset="-122"/>
                <a:cs typeface="Consolas" pitchFamily="34" charset="-120"/>
              </a:rPr>
              <a:t>(seconds: </a:t>
            </a:r>
            <a:r>
              <a:rPr lang="en-US" sz="1200" dirty="0">
                <a:solidFill>
                  <a:srgbClr val="F78C6C"/>
                </a:solidFill>
                <a:latin typeface="Consolas" pitchFamily="34" charset="0"/>
                <a:ea typeface="Consolas" pitchFamily="34" charset="-122"/>
                <a:cs typeface="Consolas" pitchFamily="34" charset="-120"/>
              </a:rPr>
              <a:t>15</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LokasiDitemukan</a:t>
            </a:r>
            <a:r>
              <a:rPr lang="en-US" sz="1200" dirty="0">
                <a:solidFill>
                  <a:srgbClr val="E6EDF3"/>
                </a:solidFill>
                <a:latin typeface="Consolas" pitchFamily="34" charset="0"/>
                <a:ea typeface="Consolas" pitchFamily="34" charset="-122"/>
                <a:cs typeface="Consolas" pitchFamily="34" charset="-120"/>
              </a:rPr>
              <a:t>(posisi);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on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TimeoutException</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LokasiGagal</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FFCB6B"/>
                </a:solidFill>
                <a:latin typeface="Consolas" pitchFamily="34" charset="0"/>
                <a:ea typeface="Consolas" pitchFamily="34" charset="-122"/>
                <a:cs typeface="Consolas" pitchFamily="34" charset="-120"/>
              </a:rPr>
              <a:t>MasalahLokasi</a:t>
            </a:r>
            <a:r>
              <a:rPr lang="en-US" sz="1200" dirty="0">
                <a:solidFill>
                  <a:srgbClr val="E6EDF3"/>
                </a:solidFill>
                <a:latin typeface="Consolas" pitchFamily="34" charset="0"/>
                <a:ea typeface="Consolas" pitchFamily="34" charset="-122"/>
                <a:cs typeface="Consolas" pitchFamily="34" charset="-120"/>
              </a:rPr>
              <a:t>.waktuHabis);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on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LocationServiceDisabledException</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LokasiGagal</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FFCB6B"/>
                </a:solidFill>
                <a:latin typeface="Consolas" pitchFamily="34" charset="0"/>
                <a:ea typeface="Consolas" pitchFamily="34" charset="-122"/>
                <a:cs typeface="Consolas" pitchFamily="34" charset="-120"/>
              </a:rPr>
              <a:t>MasalahLokasi</a:t>
            </a:r>
            <a:r>
              <a:rPr lang="en-US" sz="1200" dirty="0">
                <a:solidFill>
                  <a:srgbClr val="E6EDF3"/>
                </a:solidFill>
                <a:latin typeface="Consolas" pitchFamily="34" charset="0"/>
                <a:ea typeface="Consolas" pitchFamily="34" charset="-122"/>
                <a:cs typeface="Consolas" pitchFamily="34" charset="-120"/>
              </a:rPr>
              <a:t>.layananMati);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on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PermissionDeniedException</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LokasiGagal</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FFCB6B"/>
                </a:solidFill>
                <a:latin typeface="Consolas" pitchFamily="34" charset="0"/>
                <a:ea typeface="Consolas" pitchFamily="34" charset="-122"/>
                <a:cs typeface="Consolas" pitchFamily="34" charset="-120"/>
              </a:rPr>
              <a:t>MasalahLokasi</a:t>
            </a:r>
            <a:r>
              <a:rPr lang="en-US" sz="1200" dirty="0">
                <a:solidFill>
                  <a:srgbClr val="E6EDF3"/>
                </a:solidFill>
                <a:latin typeface="Consolas" pitchFamily="34" charset="0"/>
                <a:ea typeface="Consolas" pitchFamily="34" charset="-122"/>
                <a:cs typeface="Consolas" pitchFamily="34" charset="-120"/>
              </a:rPr>
              <a:t>.izinDitolak);</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on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PositionUpdateException</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LokasiGagal</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FFCB6B"/>
                </a:solidFill>
                <a:latin typeface="Consolas" pitchFamily="34" charset="0"/>
                <a:ea typeface="Consolas" pitchFamily="34" charset="-122"/>
                <a:cs typeface="Consolas" pitchFamily="34" charset="-120"/>
              </a:rPr>
              <a:t>MasalahLokasi</a:t>
            </a:r>
            <a:r>
              <a:rPr lang="en-US" sz="1200" dirty="0">
                <a:solidFill>
                  <a:srgbClr val="E6EDF3"/>
                </a:solidFill>
                <a:latin typeface="Consolas" pitchFamily="34" charset="0"/>
                <a:ea typeface="Consolas" pitchFamily="34" charset="-122"/>
                <a:cs typeface="Consolas" pitchFamily="34" charset="-120"/>
              </a:rPr>
              <a:t>.lainnya);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3_fitur_perangkat_dan_izin/kode/contoh_03_lokasi_sekarang.dart"/>
          </p:cNvPr>
          <p:cNvSpPr txBox="1"/>
          <p:nvPr/>
        </p:nvSpPr>
        <p:spPr>
          <a:xfrm>
            <a:off x="548640" y="5468112"/>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contoh_03_lokasi_sekarang.dart</a:t>
            </a:r>
            <a:endParaRPr lang="en-US" sz="1300" dirty="0"/>
          </a:p>
        </p:txBody>
      </p:sp>
      <p:pic>
        <p:nvPicPr>
          <p:cNvPr id="6" name="Image 0" descr="ikon tautan">
            <a:hlinkClick r:id="rId3" tooltip="https://github.com/antonprafanto/mobile2026/blob/main/pertemuan_13_fitur_perangkat_dan_izin/kode/contoh_03_lokasi_sekarang.dart"/>
          </p:cNvPr>
          <p:cNvPicPr>
            <a:picLocks noChangeAspect="1"/>
          </p:cNvPicPr>
          <p:nvPr/>
        </p:nvPicPr>
        <p:blipFill>
          <a:blip r:embed="rId2"/>
          <a:stretch>
            <a:fillRect/>
          </a:stretch>
        </p:blipFill>
        <p:spPr>
          <a:xfrm>
            <a:off x="694944" y="5559552"/>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Tanpa timeLimit, pengguna di dalam gedung bisa menunggu tanpa akhir.</a:t>
            </a:r>
            <a:endParaRPr lang="en-US" sz="1700" dirty="0"/>
          </a:p>
          <a:p>
            <a:pPr marL="228600" indent="-228600">
              <a:spcAft>
                <a:spcPts val="800"/>
              </a:spcAft>
              <a:buSzPct val="100000"/>
              <a:buChar char="•"/>
            </a:pPr>
            <a:r>
              <a:rPr lang="en-US" sz="1700" dirty="0">
                <a:solidFill>
                  <a:schemeClr val="tx1"/>
                </a:solidFill>
              </a:rPr>
              <a:t>TimeoutException berasal dari dart:async.</a:t>
            </a:r>
            <a:endParaRPr lang="en-US" sz="1700" dirty="0"/>
          </a:p>
          <a:p>
            <a:pPr marL="228600" indent="-228600">
              <a:spcAft>
                <a:spcPts val="800"/>
              </a:spcAft>
              <a:buSzPct val="100000"/>
              <a:buChar char="•"/>
            </a:pPr>
            <a:r>
              <a:rPr lang="en-US" sz="1700" dirty="0">
                <a:solidFill>
                  <a:schemeClr val="tx1"/>
                </a:solidFill>
              </a:rPr>
              <a:t>high: cukup untuk presensi. best/bestForNavigation: paling boros baterai.</a:t>
            </a:r>
            <a:endParaRPr lang="en-US" sz="1700" dirty="0"/>
          </a:p>
          <a:p>
            <a:pPr marL="228600" indent="-228600">
              <a:spcAft>
                <a:spcPts val="800"/>
              </a:spcAft>
              <a:buSzPct val="100000"/>
              <a:buChar char="•"/>
            </a:pPr>
            <a:r>
              <a:rPr lang="en-US" sz="1700" dirty="0">
                <a:solidFill>
                  <a:schemeClr val="tx1"/>
                </a:solidFill>
              </a:rPr>
              <a:t>desiredAccuracy: dan timeLimit: langsung di getCurrentPosition sudah USANG.</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Kembali dari Pengaturan</a:t>
            </a:r>
            <a:endParaRPr lang="en-US" sz="3200" dirty="0"/>
          </a:p>
        </p:txBody>
      </p:sp>
      <p:sp>
        <p:nvSpPr>
          <p:cNvPr id="4" name="kotak kode"/>
          <p:cNvSpPr txBox="1"/>
          <p:nvPr/>
        </p:nvSpPr>
        <p:spPr>
          <a:xfrm>
            <a:off x="548640" y="1371600"/>
            <a:ext cx="6400800" cy="4107942"/>
          </a:xfrm>
          <a:prstGeom prst="roundRect">
            <a:avLst>
              <a:gd name="adj" fmla="val 2226"/>
            </a:avLst>
          </a:prstGeom>
          <a:solidFill>
            <a:srgbClr val="0E1A2B"/>
          </a:solidFill>
          <a:ln/>
        </p:spPr>
        <p:txBody>
          <a:bodyPr wrap="square" lIns="177800" tIns="152400" rIns="152400" bIns="177800" rtlCol="0" anchor="t"/>
          <a:lstStyle/>
          <a:p>
            <a:pPr indent="0" marL="0">
              <a:lnSpc>
                <a:spcPct val="105000"/>
              </a:lnSpc>
              <a:buNone/>
            </a:pPr>
            <a:r>
              <a:rPr lang="en-US" sz="1050" dirty="0">
                <a:solidFill>
                  <a:srgbClr val="C792EA"/>
                </a:solidFill>
                <a:latin typeface="Consolas" pitchFamily="34" charset="0"/>
                <a:ea typeface="Consolas" pitchFamily="34" charset="-122"/>
                <a:cs typeface="Consolas" pitchFamily="34" charset="-120"/>
              </a:rPr>
              <a:t>late</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final</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AppLifecycleListener</a:t>
            </a:r>
            <a:r>
              <a:rPr lang="en-US" sz="1050" dirty="0">
                <a:solidFill>
                  <a:srgbClr val="E6EDF3"/>
                </a:solidFill>
                <a:latin typeface="Consolas" pitchFamily="34" charset="0"/>
                <a:ea typeface="Consolas" pitchFamily="34" charset="-122"/>
                <a:cs typeface="Consolas" pitchFamily="34" charset="-120"/>
              </a:rPr>
              <a:t> _pendengar;</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89DDFF"/>
                </a:solidFill>
                <a:latin typeface="Consolas" pitchFamily="34" charset="0"/>
                <a:ea typeface="Consolas" pitchFamily="34" charset="-122"/>
                <a:cs typeface="Consolas" pitchFamily="34" charset="-120"/>
              </a:rPr>
              <a:t>@override</a:t>
            </a:r>
            <a:endParaRPr lang="en-US" sz="1050" dirty="0"/>
          </a:p>
          <a:p>
            <a:pPr indent="0" marL="0">
              <a:lnSpc>
                <a:spcPct val="105000"/>
              </a:lnSpc>
              <a:buNone/>
            </a:pPr>
            <a:r>
              <a:rPr lang="en-US" sz="1050" dirty="0">
                <a:solidFill>
                  <a:srgbClr val="C792EA"/>
                </a:solidFill>
                <a:latin typeface="Consolas" pitchFamily="34" charset="0"/>
                <a:ea typeface="Consolas" pitchFamily="34" charset="-122"/>
                <a:cs typeface="Consolas" pitchFamily="34" charset="-120"/>
              </a:rPr>
              <a:t>void</a:t>
            </a:r>
            <a:r>
              <a:rPr lang="en-US" sz="1050" dirty="0">
                <a:solidFill>
                  <a:srgbClr val="E6EDF3"/>
                </a:solidFill>
                <a:latin typeface="Consolas" pitchFamily="34" charset="0"/>
                <a:ea typeface="Consolas" pitchFamily="34" charset="-122"/>
                <a:cs typeface="Consolas" pitchFamily="34" charset="-120"/>
              </a:rPr>
              <a:t> initState()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super</a:t>
            </a:r>
            <a:r>
              <a:rPr lang="en-US" sz="1050" dirty="0">
                <a:solidFill>
                  <a:srgbClr val="E6EDF3"/>
                </a:solidFill>
                <a:latin typeface="Consolas" pitchFamily="34" charset="0"/>
                <a:ea typeface="Consolas" pitchFamily="34" charset="-122"/>
                <a:cs typeface="Consolas" pitchFamily="34" charset="-120"/>
              </a:rPr>
              <a:t>.initState();</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_pendengar = </a:t>
            </a:r>
            <a:r>
              <a:rPr lang="en-US" sz="1050" dirty="0">
                <a:solidFill>
                  <a:srgbClr val="FFCB6B"/>
                </a:solidFill>
                <a:latin typeface="Consolas" pitchFamily="34" charset="0"/>
                <a:ea typeface="Consolas" pitchFamily="34" charset="-122"/>
                <a:cs typeface="Consolas" pitchFamily="34" charset="-120"/>
              </a:rPr>
              <a:t>AppLifecycleListener</a:t>
            </a:r>
            <a:r>
              <a:rPr lang="en-US" sz="1050" dirty="0">
                <a:solidFill>
                  <a:srgbClr val="E6EDF3"/>
                </a:solidFill>
                <a:latin typeface="Consolas" pitchFamily="34" charset="0"/>
                <a:ea typeface="Consolas" pitchFamily="34" charset="-122"/>
                <a:cs typeface="Consolas" pitchFamily="34" charset="-120"/>
              </a:rPr>
              <a:t>(onResume: _saatKembali);</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89DDFF"/>
                </a:solidFill>
                <a:latin typeface="Consolas" pitchFamily="34" charset="0"/>
                <a:ea typeface="Consolas" pitchFamily="34" charset="-122"/>
                <a:cs typeface="Consolas" pitchFamily="34" charset="-120"/>
              </a:rPr>
              <a:t>@override</a:t>
            </a:r>
            <a:endParaRPr lang="en-US" sz="1050" dirty="0"/>
          </a:p>
          <a:p>
            <a:pPr indent="0" marL="0">
              <a:lnSpc>
                <a:spcPct val="105000"/>
              </a:lnSpc>
              <a:buNone/>
            </a:pPr>
            <a:r>
              <a:rPr lang="en-US" sz="1050" dirty="0">
                <a:solidFill>
                  <a:srgbClr val="C792EA"/>
                </a:solidFill>
                <a:latin typeface="Consolas" pitchFamily="34" charset="0"/>
                <a:ea typeface="Consolas" pitchFamily="34" charset="-122"/>
                <a:cs typeface="Consolas" pitchFamily="34" charset="-120"/>
              </a:rPr>
              <a:t>void</a:t>
            </a:r>
            <a:r>
              <a:rPr lang="en-US" sz="1050" dirty="0">
                <a:solidFill>
                  <a:srgbClr val="E6EDF3"/>
                </a:solidFill>
                <a:latin typeface="Consolas" pitchFamily="34" charset="0"/>
                <a:ea typeface="Consolas" pitchFamily="34" charset="-122"/>
                <a:cs typeface="Consolas" pitchFamily="34" charset="-120"/>
              </a:rPr>
              <a:t> dispose()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_pendengar.dispose();</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super</a:t>
            </a:r>
            <a:r>
              <a:rPr lang="en-US" sz="1050" dirty="0">
                <a:solidFill>
                  <a:srgbClr val="E6EDF3"/>
                </a:solidFill>
                <a:latin typeface="Consolas" pitchFamily="34" charset="0"/>
                <a:ea typeface="Consolas" pitchFamily="34" charset="-122"/>
                <a:cs typeface="Consolas" pitchFamily="34" charset="-120"/>
              </a:rPr>
              <a:t>.dispose();</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C792EA"/>
                </a:solidFill>
                <a:latin typeface="Consolas" pitchFamily="34" charset="0"/>
                <a:ea typeface="Consolas" pitchFamily="34" charset="-122"/>
                <a:cs typeface="Consolas" pitchFamily="34" charset="-120"/>
              </a:rPr>
              <a:t>void</a:t>
            </a:r>
            <a:r>
              <a:rPr lang="en-US" sz="1050" dirty="0">
                <a:solidFill>
                  <a:srgbClr val="E6EDF3"/>
                </a:solidFill>
                <a:latin typeface="Consolas" pitchFamily="34" charset="0"/>
                <a:ea typeface="Consolas" pitchFamily="34" charset="-122"/>
                <a:cs typeface="Consolas" pitchFamily="34" charset="-120"/>
              </a:rPr>
              <a:t> _saatKembali()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final</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KeadaanLokasi</a:t>
            </a:r>
            <a:r>
              <a:rPr lang="en-US" sz="1050" dirty="0">
                <a:solidFill>
                  <a:srgbClr val="E6EDF3"/>
                </a:solidFill>
                <a:latin typeface="Consolas" pitchFamily="34" charset="0"/>
                <a:ea typeface="Consolas" pitchFamily="34" charset="-122"/>
                <a:cs typeface="Consolas" pitchFamily="34" charset="-120"/>
              </a:rPr>
              <a:t> k = _keadaan;</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if</a:t>
            </a:r>
            <a:r>
              <a:rPr lang="en-US" sz="1050" dirty="0">
                <a:solidFill>
                  <a:srgbClr val="E6EDF3"/>
                </a:solidFill>
                <a:latin typeface="Consolas" pitchFamily="34" charset="0"/>
                <a:ea typeface="Consolas" pitchFamily="34" charset="-122"/>
                <a:cs typeface="Consolas" pitchFamily="34" charset="-120"/>
              </a:rPr>
              <a:t> (k </a:t>
            </a:r>
            <a:r>
              <a:rPr lang="en-US" sz="1050" dirty="0">
                <a:solidFill>
                  <a:srgbClr val="C792EA"/>
                </a:solidFill>
                <a:latin typeface="Consolas" pitchFamily="34" charset="0"/>
                <a:ea typeface="Consolas" pitchFamily="34" charset="-122"/>
                <a:cs typeface="Consolas" pitchFamily="34" charset="-120"/>
              </a:rPr>
              <a:t>is</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LokasiGagal</a:t>
            </a:r>
            <a:r>
              <a:rPr lang="en-US" sz="1050" dirty="0">
                <a:solidFill>
                  <a:srgbClr val="E6EDF3"/>
                </a:solidFill>
                <a:latin typeface="Consolas" pitchFamily="34" charset="0"/>
                <a:ea typeface="Consolas" pitchFamily="34" charset="-122"/>
                <a:cs typeface="Consolas" pitchFamily="34" charset="-120"/>
              </a:rPr>
              <a:t> &amp;&amp;</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(k.masalah == </a:t>
            </a:r>
            <a:r>
              <a:rPr lang="en-US" sz="1050" dirty="0">
                <a:solidFill>
                  <a:srgbClr val="FFCB6B"/>
                </a:solidFill>
                <a:latin typeface="Consolas" pitchFamily="34" charset="0"/>
                <a:ea typeface="Consolas" pitchFamily="34" charset="-122"/>
                <a:cs typeface="Consolas" pitchFamily="34" charset="-120"/>
              </a:rPr>
              <a:t>MasalahLokasi</a:t>
            </a:r>
            <a:r>
              <a:rPr lang="en-US" sz="1050" dirty="0">
                <a:solidFill>
                  <a:srgbClr val="E6EDF3"/>
                </a:solidFill>
                <a:latin typeface="Consolas" pitchFamily="34" charset="0"/>
                <a:ea typeface="Consolas" pitchFamily="34" charset="-122"/>
                <a:cs typeface="Consolas" pitchFamily="34" charset="-120"/>
              </a:rPr>
              <a:t>.layananMati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k.masalah == </a:t>
            </a:r>
            <a:r>
              <a:rPr lang="en-US" sz="1050" dirty="0">
                <a:solidFill>
                  <a:srgbClr val="FFCB6B"/>
                </a:solidFill>
                <a:latin typeface="Consolas" pitchFamily="34" charset="0"/>
                <a:ea typeface="Consolas" pitchFamily="34" charset="-122"/>
                <a:cs typeface="Consolas" pitchFamily="34" charset="-120"/>
              </a:rPr>
              <a:t>MasalahLokasi</a:t>
            </a:r>
            <a:r>
              <a:rPr lang="en-US" sz="1050" dirty="0">
                <a:solidFill>
                  <a:srgbClr val="E6EDF3"/>
                </a:solidFill>
                <a:latin typeface="Consolas" pitchFamily="34" charset="0"/>
                <a:ea typeface="Consolas" pitchFamily="34" charset="-122"/>
                <a:cs typeface="Consolas" pitchFamily="34" charset="-120"/>
              </a:rPr>
              <a:t>.izinDiblokir))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_cariLokasi();</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p:txBody>
      </p:sp>
      <p:sp>
        <p:nvSpPr>
          <p:cNvPr id="5" name="tombol tautan">
            <a:hlinkClick r:id="rId1" tooltip="https://github.com/antonprafanto/mobile2026/blob/main/pertemuan_13_fitur_perangkat_dan_izin/kode/contoh_03_lokasi_sekarang.dart"/>
          </p:cNvPr>
          <p:cNvSpPr txBox="1"/>
          <p:nvPr/>
        </p:nvSpPr>
        <p:spPr>
          <a:xfrm>
            <a:off x="548640" y="5708142"/>
            <a:ext cx="64008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contoh_03_lokasi_sekarang.dart</a:t>
            </a:r>
            <a:endParaRPr lang="en-US" sz="1300" dirty="0"/>
          </a:p>
        </p:txBody>
      </p:sp>
      <p:pic>
        <p:nvPicPr>
          <p:cNvPr id="6" name="Image 0" descr="ikon tautan">
            <a:hlinkClick r:id="rId3" tooltip="https://github.com/antonprafanto/mobile2026/blob/main/pertemuan_13_fitur_perangkat_dan_izin/kode/contoh_03_lokasi_sekarang.dart"/>
          </p:cNvPr>
          <p:cNvPicPr>
            <a:picLocks noChangeAspect="1"/>
          </p:cNvPicPr>
          <p:nvPr/>
        </p:nvPicPr>
        <p:blipFill>
          <a:blip r:embed="rId2"/>
          <a:stretch>
            <a:fillRect/>
          </a:stretch>
        </p:blipFill>
        <p:spPr>
          <a:xfrm>
            <a:off x="694944" y="5799582"/>
            <a:ext cx="274320" cy="274320"/>
          </a:xfrm>
          <a:prstGeom prst="rect">
            <a:avLst/>
          </a:prstGeom>
        </p:spPr>
      </p:pic>
      <p:sp>
        <p:nvSpPr>
          <p:cNvPr id="7" name="daftar poin"/>
          <p:cNvSpPr txBox="1"/>
          <p:nvPr/>
        </p:nvSpPr>
        <p:spPr>
          <a:xfrm>
            <a:off x="7360920" y="1417320"/>
            <a:ext cx="42821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Pengaturan = aplikasi LAIN; aplikasi kita ke latar belakang.</a:t>
            </a:r>
            <a:endParaRPr lang="en-US" sz="1700" dirty="0"/>
          </a:p>
          <a:p>
            <a:pPr marL="228600" indent="-228600">
              <a:spcAft>
                <a:spcPts val="800"/>
              </a:spcAft>
              <a:buSzPct val="100000"/>
              <a:buChar char="•"/>
            </a:pPr>
            <a:r>
              <a:rPr lang="en-US" sz="1700" dirty="0">
                <a:solidFill>
                  <a:schemeClr val="tx1"/>
                </a:solidFill>
              </a:rPr>
              <a:t>onResume: periksa ulang tanpa menyuruh pengguna mengetuk lagi; hanya jika tadi gagal karena layanan mati atau izin diblokir.</a:t>
            </a:r>
            <a:endParaRPr lang="en-US" sz="1700" dirty="0"/>
          </a:p>
          <a:p>
            <a:pPr marL="228600" indent="-228600">
              <a:spcAft>
                <a:spcPts val="800"/>
              </a:spcAft>
              <a:buSzPct val="100000"/>
              <a:buChar char="•"/>
            </a:pPr>
            <a:r>
              <a:rPr lang="en-US" sz="1700" dirty="0">
                <a:solidFill>
                  <a:schemeClr val="tx1"/>
                </a:solidFill>
              </a:rPr>
              <a:t>Tombol: openLocationSettings() untuk layanan, openAppSettings() untuk izin (tidak ada di web).</a:t>
            </a:r>
            <a:endParaRPr lang="en-US" sz="1700" dirty="0"/>
          </a:p>
          <a:p>
            <a:pPr marL="228600" indent="-228600">
              <a:spcAft>
                <a:spcPts val="800"/>
              </a:spcAft>
              <a:buSzPct val="100000"/>
              <a:buChar char="•"/>
            </a:pPr>
            <a:r>
              <a:rPr lang="en-US" sz="1700" dirty="0">
                <a:solidFill>
                  <a:schemeClr val="tx1"/>
                </a:solidFill>
              </a:rPr>
              <a:t>Di web: klik ikon alamat → inactive; klik halaman → resumed → lokasi diperiksa ulang sendiri.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03: Di Mana Saya?</a:t>
            </a:r>
            <a:endParaRPr lang="en-US" sz="3200" dirty="0"/>
          </a:p>
        </p:txBody>
      </p:sp>
      <p:sp>
        <p:nvSpPr>
          <p:cNvPr id="4" name="bingkai layar 1"/>
          <p:cNvSpPr/>
          <p:nvPr/>
        </p:nvSpPr>
        <p:spPr>
          <a:xfrm>
            <a:off x="4181551" y="1316736"/>
            <a:ext cx="2395728" cy="3663874"/>
          </a:xfrm>
          <a:prstGeom prst="roundRect">
            <a:avLst>
              <a:gd name="adj" fmla="val 3817"/>
            </a:avLst>
          </a:prstGeom>
          <a:solidFill>
            <a:srgbClr val="FFFFFF"/>
          </a:solidFill>
          <a:ln w="12700">
            <a:solidFill>
              <a:srgbClr val="C9D3E0"/>
            </a:solidFill>
            <a:prstDash val="solid"/>
          </a:ln>
        </p:spPr>
      </p:sp>
      <p:pic>
        <p:nvPicPr>
          <p:cNvPr id="5" name="layar 1" descr="Tangkapan layar aplikasi (hasil_contoh_03a.jpg)">    </p:cNvPr>
          <p:cNvPicPr>
            <a:picLocks noChangeAspect="1"/>
          </p:cNvPicPr>
          <p:nvPr/>
        </p:nvPicPr>
        <p:blipFill>
          <a:blip r:embed="rId1"/>
          <a:stretch>
            <a:fillRect/>
          </a:stretch>
        </p:blipFill>
        <p:spPr>
          <a:xfrm>
            <a:off x="4236415" y="1371600"/>
            <a:ext cx="2286000" cy="3554146"/>
          </a:xfrm>
          <a:prstGeom prst="rect">
            <a:avLst/>
          </a:prstGeom>
        </p:spPr>
      </p:pic>
      <p:sp>
        <p:nvSpPr>
          <p:cNvPr id="6" name="bingkai layar 2"/>
          <p:cNvSpPr/>
          <p:nvPr/>
        </p:nvSpPr>
        <p:spPr>
          <a:xfrm>
            <a:off x="6741871" y="1316736"/>
            <a:ext cx="2395728" cy="3663874"/>
          </a:xfrm>
          <a:prstGeom prst="roundRect">
            <a:avLst>
              <a:gd name="adj" fmla="val 3817"/>
            </a:avLst>
          </a:prstGeom>
          <a:solidFill>
            <a:srgbClr val="FFFFFF"/>
          </a:solidFill>
          <a:ln w="12700">
            <a:solidFill>
              <a:srgbClr val="C9D3E0"/>
            </a:solidFill>
            <a:prstDash val="solid"/>
          </a:ln>
        </p:spPr>
      </p:sp>
      <p:pic>
        <p:nvPicPr>
          <p:cNvPr id="7" name="layar 2" descr="Tangkapan layar aplikasi (hasil_contoh_03b.jpg)">    </p:cNvPr>
          <p:cNvPicPr>
            <a:picLocks noChangeAspect="1"/>
          </p:cNvPicPr>
          <p:nvPr/>
        </p:nvPicPr>
        <p:blipFill>
          <a:blip r:embed="rId2"/>
          <a:stretch>
            <a:fillRect/>
          </a:stretch>
        </p:blipFill>
        <p:spPr>
          <a:xfrm>
            <a:off x="6796735" y="1371600"/>
            <a:ext cx="2286000" cy="3554146"/>
          </a:xfrm>
          <a:prstGeom prst="rect">
            <a:avLst/>
          </a:prstGeom>
        </p:spPr>
      </p:pic>
      <p:sp>
        <p:nvSpPr>
          <p:cNvPr id="8" name="bingkai layar 3"/>
          <p:cNvSpPr/>
          <p:nvPr/>
        </p:nvSpPr>
        <p:spPr>
          <a:xfrm>
            <a:off x="9302191" y="1316736"/>
            <a:ext cx="2395728" cy="3663874"/>
          </a:xfrm>
          <a:prstGeom prst="roundRect">
            <a:avLst>
              <a:gd name="adj" fmla="val 3817"/>
            </a:avLst>
          </a:prstGeom>
          <a:solidFill>
            <a:srgbClr val="FFFFFF"/>
          </a:solidFill>
          <a:ln w="12700">
            <a:solidFill>
              <a:srgbClr val="C9D3E0"/>
            </a:solidFill>
            <a:prstDash val="solid"/>
          </a:ln>
        </p:spPr>
      </p:sp>
      <p:pic>
        <p:nvPicPr>
          <p:cNvPr id="9" name="layar 3" descr="Tangkapan layar aplikasi (hasil_contoh_03c.jpg)">    </p:cNvPr>
          <p:cNvPicPr>
            <a:picLocks noChangeAspect="1"/>
          </p:cNvPicPr>
          <p:nvPr/>
        </p:nvPicPr>
        <p:blipFill>
          <a:blip r:embed="rId3"/>
          <a:stretch>
            <a:fillRect/>
          </a:stretch>
        </p:blipFill>
        <p:spPr>
          <a:xfrm>
            <a:off x="9357055" y="1371600"/>
            <a:ext cx="2286000" cy="3554146"/>
          </a:xfrm>
          <a:prstGeom prst="rect">
            <a:avLst/>
          </a:prstGeom>
        </p:spPr>
      </p:pic>
      <p:sp>
        <p:nvSpPr>
          <p:cNvPr id="10" name="tombol tautan">
            <a:hlinkClick r:id="rId4" tooltip="https://github.com/antonprafanto/mobile2026/blob/main/pertemuan_13_fitur_perangkat_dan_izin/kode/contoh_03_lokasi_sekarang.dart"/>
          </p:cNvPr>
          <p:cNvSpPr txBox="1"/>
          <p:nvPr/>
        </p:nvSpPr>
        <p:spPr>
          <a:xfrm>
            <a:off x="548640" y="1371600"/>
            <a:ext cx="3230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contoh_03_lokasi_sekarang.dart</a:t>
            </a:r>
            <a:endParaRPr lang="en-US" sz="1300" dirty="0"/>
          </a:p>
        </p:txBody>
      </p:sp>
      <p:pic>
        <p:nvPicPr>
          <p:cNvPr id="11" name="Image 3" descr="ikon tautan">
            <a:hlinkClick r:id="rId6" tooltip="https://github.com/antonprafanto/mobile2026/blob/main/pertemuan_13_fitur_perangkat_dan_izin/kode/contoh_03_lokasi_sekarang.dart"/>
          </p:cNvPr>
          <p:cNvPicPr>
            <a:picLocks noChangeAspect="1"/>
          </p:cNvPicPr>
          <p:nvPr/>
        </p:nvPicPr>
        <p:blipFill>
          <a:blip r:embed="rId5"/>
          <a:stretch>
            <a:fillRect/>
          </a:stretch>
        </p:blipFill>
        <p:spPr>
          <a:xfrm>
            <a:off x="694944" y="1463040"/>
            <a:ext cx="274320" cy="274320"/>
          </a:xfrm>
          <a:prstGeom prst="rect">
            <a:avLst/>
          </a:prstGeom>
        </p:spPr>
      </p:pic>
      <p:sp>
        <p:nvSpPr>
          <p:cNvPr id="12" name="daftar poin"/>
          <p:cNvSpPr txBox="1"/>
          <p:nvPr/>
        </p:nvSpPr>
        <p:spPr>
          <a:xfrm>
            <a:off x="548640" y="2103120"/>
            <a:ext cx="323057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Berhasil: koordinat, ± 8 m, 21 m ke kampus.</a:t>
            </a:r>
            <a:endParaRPr lang="en-US" sz="1500" dirty="0"/>
          </a:p>
          <a:p>
            <a:pPr marL="228600" indent="-228600">
              <a:spcAft>
                <a:spcPts val="800"/>
              </a:spcAft>
              <a:buSzPct val="100000"/>
              <a:buChar char="•"/>
            </a:pPr>
            <a:r>
              <a:rPr lang="en-US" sz="1500" dirty="0">
                <a:solidFill>
                  <a:schemeClr val="tx1"/>
                </a:solidFill>
              </a:rPr>
              <a:t>HP: izin diblokir → Buka Pengaturan.</a:t>
            </a:r>
            <a:endParaRPr lang="en-US" sz="1500" dirty="0"/>
          </a:p>
          <a:p>
            <a:pPr marL="228600" indent="-228600">
              <a:spcAft>
                <a:spcPts val="800"/>
              </a:spcAft>
              <a:buSzPct val="100000"/>
              <a:buChar char="•"/>
            </a:pPr>
            <a:r>
              <a:rPr lang="en-US" sz="1500" dirty="0">
                <a:solidFill>
                  <a:schemeClr val="tx1"/>
                </a:solidFill>
              </a:rPr>
              <a:t>Browser: petunjuk ikon situs.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6</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Jarak, Arah, dan Zona</a:t>
            </a:r>
            <a:endParaRPr lang="en-US" sz="4000" dirty="0"/>
          </a:p>
        </p:txBody>
      </p:sp>
      <p:sp>
        <p:nvSpPr>
          <p:cNvPr id="5" name="lingkaran ukur"/>
          <p:cNvSpPr/>
          <p:nvPr/>
        </p:nvSpPr>
        <p:spPr>
          <a:xfrm>
            <a:off x="1097280" y="2148840"/>
            <a:ext cx="2011680" cy="2011680"/>
          </a:xfrm>
          <a:prstGeom prst="ellipse">
            <a:avLst/>
          </a:prstGeom>
          <a:solidFill>
            <a:schemeClr val="accent1"/>
          </a:solidFill>
          <a:ln/>
        </p:spPr>
      </p:sp>
      <p:pic>
        <p:nvPicPr>
          <p:cNvPr id="6" name="Image 0" descr="ukur">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Satu Derajat Itu Sejauh Apa?</a:t>
            </a:r>
            <a:endParaRPr lang="en-US" sz="3200" dirty="0"/>
          </a:p>
        </p:txBody>
      </p:sp>
      <p:sp>
        <p:nvSpPr>
          <p:cNvPr id="4" name="Shape 1"/>
          <p:cNvSpPr/>
          <p:nvPr/>
        </p:nvSpPr>
        <p:spPr>
          <a:xfrm>
            <a:off x="548640" y="1417320"/>
            <a:ext cx="3393338" cy="2926080"/>
          </a:xfrm>
          <a:prstGeom prst="roundRect">
            <a:avLst>
              <a:gd name="adj" fmla="val 4688"/>
            </a:avLst>
          </a:prstGeom>
          <a:solidFill>
            <a:schemeClr val="bg2"/>
          </a:solidFill>
          <a:ln/>
        </p:spPr>
      </p:sp>
      <p:sp>
        <p:nvSpPr>
          <p:cNvPr id="5" name="lingkaran ukur"/>
          <p:cNvSpPr/>
          <p:nvPr/>
        </p:nvSpPr>
        <p:spPr>
          <a:xfrm>
            <a:off x="868680" y="1691640"/>
            <a:ext cx="731520" cy="731520"/>
          </a:xfrm>
          <a:prstGeom prst="ellipse">
            <a:avLst/>
          </a:prstGeom>
          <a:solidFill>
            <a:schemeClr val="accent1"/>
          </a:solidFill>
          <a:ln/>
        </p:spPr>
      </p:sp>
      <p:pic>
        <p:nvPicPr>
          <p:cNvPr id="6" name="Image 0" descr="ukur">    </p:cNvPr>
          <p:cNvPicPr>
            <a:picLocks noChangeAspect="1"/>
          </p:cNvPicPr>
          <p:nvPr/>
        </p:nvPicPr>
        <p:blipFill>
          <a:blip r:embed="rId1"/>
          <a:stretch>
            <a:fillRect/>
          </a:stretch>
        </p:blipFill>
        <p:spPr>
          <a:xfrm>
            <a:off x="1029614" y="1852574"/>
            <a:ext cx="409651" cy="409651"/>
          </a:xfrm>
          <a:prstGeom prst="rect">
            <a:avLst/>
          </a:prstGeom>
        </p:spPr>
      </p:pic>
      <p:sp>
        <p:nvSpPr>
          <p:cNvPr id="7" name="Text 3"/>
          <p:cNvSpPr txBox="1"/>
          <p:nvPr/>
        </p:nvSpPr>
        <p:spPr>
          <a:xfrm>
            <a:off x="822960" y="2468880"/>
            <a:ext cx="2844698" cy="1188720"/>
          </a:xfrm>
          <a:prstGeom prst="rect">
            <a:avLst/>
          </a:prstGeom>
          <a:noFill/>
          <a:ln/>
        </p:spPr>
        <p:txBody>
          <a:bodyPr wrap="square" lIns="0" tIns="0" rIns="0" bIns="0" rtlCol="0" anchor="ctr"/>
          <a:lstStyle/>
          <a:p>
            <a:pPr indent="0" marL="0">
              <a:buNone/>
            </a:pPr>
            <a:r>
              <a:rPr lang="en-US" sz="5400" b="1" dirty="0">
                <a:solidFill>
                  <a:schemeClr val="accent1"/>
                </a:solidFill>
              </a:rPr>
              <a:t>111,3 km</a:t>
            </a:r>
            <a:endParaRPr lang="en-US" sz="5400" dirty="0"/>
          </a:p>
        </p:txBody>
      </p:sp>
      <p:sp>
        <p:nvSpPr>
          <p:cNvPr id="8" name="Text 4"/>
          <p:cNvSpPr txBox="1"/>
          <p:nvPr/>
        </p:nvSpPr>
        <p:spPr>
          <a:xfrm>
            <a:off x="868680" y="3657600"/>
            <a:ext cx="2753258" cy="548640"/>
          </a:xfrm>
          <a:prstGeom prst="rect">
            <a:avLst/>
          </a:prstGeom>
          <a:noFill/>
          <a:ln/>
        </p:spPr>
        <p:txBody>
          <a:bodyPr wrap="square" lIns="0" tIns="0" rIns="0" bIns="0" rtlCol="0" anchor="ctr"/>
          <a:lstStyle/>
          <a:p>
            <a:pPr indent="0" marL="0">
              <a:buNone/>
            </a:pPr>
            <a:r>
              <a:rPr lang="en-US" sz="1800" dirty="0">
                <a:solidFill>
                  <a:schemeClr val="tx1"/>
                </a:solidFill>
              </a:rPr>
              <a:t>1 derajat lintang (dan 1 derajat bujur di khatulistiwa)</a:t>
            </a:r>
            <a:endParaRPr lang="en-US" sz="1800" dirty="0"/>
          </a:p>
        </p:txBody>
      </p:sp>
      <p:sp>
        <p:nvSpPr>
          <p:cNvPr id="9" name="Shape 5"/>
          <p:cNvSpPr/>
          <p:nvPr/>
        </p:nvSpPr>
        <p:spPr>
          <a:xfrm>
            <a:off x="4399178" y="1417320"/>
            <a:ext cx="3393338" cy="2926080"/>
          </a:xfrm>
          <a:prstGeom prst="roundRect">
            <a:avLst>
              <a:gd name="adj" fmla="val 4688"/>
            </a:avLst>
          </a:prstGeom>
          <a:solidFill>
            <a:schemeClr val="bg2"/>
          </a:solidFill>
          <a:ln/>
        </p:spPr>
      </p:sp>
      <p:sp>
        <p:nvSpPr>
          <p:cNvPr id="10" name="lingkaran jelajah"/>
          <p:cNvSpPr/>
          <p:nvPr/>
        </p:nvSpPr>
        <p:spPr>
          <a:xfrm>
            <a:off x="4719218" y="1691640"/>
            <a:ext cx="731520" cy="731520"/>
          </a:xfrm>
          <a:prstGeom prst="ellipse">
            <a:avLst/>
          </a:prstGeom>
          <a:solidFill>
            <a:schemeClr val="accent6"/>
          </a:solidFill>
          <a:ln/>
        </p:spPr>
      </p:sp>
      <p:pic>
        <p:nvPicPr>
          <p:cNvPr id="11" name="Image 1" descr="jelajah">    </p:cNvPr>
          <p:cNvPicPr>
            <a:picLocks noChangeAspect="1"/>
          </p:cNvPicPr>
          <p:nvPr/>
        </p:nvPicPr>
        <p:blipFill>
          <a:blip r:embed="rId2"/>
          <a:stretch>
            <a:fillRect/>
          </a:stretch>
        </p:blipFill>
        <p:spPr>
          <a:xfrm>
            <a:off x="4880153" y="1852574"/>
            <a:ext cx="409651" cy="409651"/>
          </a:xfrm>
          <a:prstGeom prst="rect">
            <a:avLst/>
          </a:prstGeom>
        </p:spPr>
      </p:pic>
      <p:sp>
        <p:nvSpPr>
          <p:cNvPr id="12" name="Text 7"/>
          <p:cNvSpPr txBox="1"/>
          <p:nvPr/>
        </p:nvSpPr>
        <p:spPr>
          <a:xfrm>
            <a:off x="4673498" y="2468880"/>
            <a:ext cx="2844698" cy="1188720"/>
          </a:xfrm>
          <a:prstGeom prst="rect">
            <a:avLst/>
          </a:prstGeom>
          <a:noFill/>
          <a:ln/>
        </p:spPr>
        <p:txBody>
          <a:bodyPr wrap="square" lIns="0" tIns="0" rIns="0" bIns="0" rtlCol="0" anchor="ctr"/>
          <a:lstStyle/>
          <a:p>
            <a:pPr indent="0" marL="0">
              <a:buNone/>
            </a:pPr>
            <a:r>
              <a:rPr lang="en-US" sz="5400" b="1" dirty="0">
                <a:solidFill>
                  <a:schemeClr val="accent6"/>
                </a:solidFill>
              </a:rPr>
              <a:t>55,7 km</a:t>
            </a:r>
            <a:endParaRPr lang="en-US" sz="5400" dirty="0"/>
          </a:p>
        </p:txBody>
      </p:sp>
      <p:sp>
        <p:nvSpPr>
          <p:cNvPr id="13" name="Text 8"/>
          <p:cNvSpPr txBox="1"/>
          <p:nvPr/>
        </p:nvSpPr>
        <p:spPr>
          <a:xfrm>
            <a:off x="4719218" y="3657600"/>
            <a:ext cx="2753258" cy="548640"/>
          </a:xfrm>
          <a:prstGeom prst="rect">
            <a:avLst/>
          </a:prstGeom>
          <a:noFill/>
          <a:ln/>
        </p:spPr>
        <p:txBody>
          <a:bodyPr wrap="square" lIns="0" tIns="0" rIns="0" bIns="0" rtlCol="0" anchor="ctr"/>
          <a:lstStyle/>
          <a:p>
            <a:pPr indent="0" marL="0">
              <a:buNone/>
            </a:pPr>
            <a:r>
              <a:rPr lang="en-US" sz="1800" dirty="0">
                <a:solidFill>
                  <a:schemeClr val="tx1"/>
                </a:solidFill>
              </a:rPr>
              <a:t>1 derajat bujur di lintang 60</a:t>
            </a:r>
            <a:endParaRPr lang="en-US" sz="1800" dirty="0"/>
          </a:p>
        </p:txBody>
      </p:sp>
      <p:sp>
        <p:nvSpPr>
          <p:cNvPr id="14" name="Shape 9"/>
          <p:cNvSpPr/>
          <p:nvPr/>
        </p:nvSpPr>
        <p:spPr>
          <a:xfrm>
            <a:off x="8249717" y="1417320"/>
            <a:ext cx="3393338" cy="2926080"/>
          </a:xfrm>
          <a:prstGeom prst="roundRect">
            <a:avLst>
              <a:gd name="adj" fmla="val 4688"/>
            </a:avLst>
          </a:prstGeom>
          <a:solidFill>
            <a:schemeClr val="bg2"/>
          </a:solidFill>
          <a:ln/>
        </p:spPr>
      </p:sp>
      <p:sp>
        <p:nvSpPr>
          <p:cNvPr id="15" name="lingkaran lokasi"/>
          <p:cNvSpPr/>
          <p:nvPr/>
        </p:nvSpPr>
        <p:spPr>
          <a:xfrm>
            <a:off x="8569757" y="1691640"/>
            <a:ext cx="731520" cy="731520"/>
          </a:xfrm>
          <a:prstGeom prst="ellipse">
            <a:avLst/>
          </a:prstGeom>
          <a:solidFill>
            <a:schemeClr val="accent4"/>
          </a:solidFill>
          <a:ln/>
        </p:spPr>
      </p:sp>
      <p:pic>
        <p:nvPicPr>
          <p:cNvPr id="16" name="Image 2" descr="lokasi">    </p:cNvPr>
          <p:cNvPicPr>
            <a:picLocks noChangeAspect="1"/>
          </p:cNvPicPr>
          <p:nvPr/>
        </p:nvPicPr>
        <p:blipFill>
          <a:blip r:embed="rId3"/>
          <a:stretch>
            <a:fillRect/>
          </a:stretch>
        </p:blipFill>
        <p:spPr>
          <a:xfrm>
            <a:off x="8730691" y="1852574"/>
            <a:ext cx="409651" cy="409651"/>
          </a:xfrm>
          <a:prstGeom prst="rect">
            <a:avLst/>
          </a:prstGeom>
        </p:spPr>
      </p:pic>
      <p:sp>
        <p:nvSpPr>
          <p:cNvPr id="17" name="Text 11"/>
          <p:cNvSpPr txBox="1"/>
          <p:nvPr/>
        </p:nvSpPr>
        <p:spPr>
          <a:xfrm>
            <a:off x="8524037" y="2468880"/>
            <a:ext cx="2844698" cy="1188720"/>
          </a:xfrm>
          <a:prstGeom prst="rect">
            <a:avLst/>
          </a:prstGeom>
          <a:noFill/>
          <a:ln/>
        </p:spPr>
        <p:txBody>
          <a:bodyPr wrap="square" lIns="0" tIns="0" rIns="0" bIns="0" rtlCol="0" anchor="ctr"/>
          <a:lstStyle/>
          <a:p>
            <a:pPr indent="0" marL="0">
              <a:buNone/>
            </a:pPr>
            <a:r>
              <a:rPr lang="en-US" sz="5400" b="1" dirty="0">
                <a:solidFill>
                  <a:schemeClr val="accent4"/>
                </a:solidFill>
              </a:rPr>
              <a:t>11 m</a:t>
            </a:r>
            <a:endParaRPr lang="en-US" sz="5400" dirty="0"/>
          </a:p>
        </p:txBody>
      </p:sp>
      <p:sp>
        <p:nvSpPr>
          <p:cNvPr id="18" name="Text 12"/>
          <p:cNvSpPr txBox="1"/>
          <p:nvPr/>
        </p:nvSpPr>
        <p:spPr>
          <a:xfrm>
            <a:off x="8569757" y="3657600"/>
            <a:ext cx="2753258" cy="548640"/>
          </a:xfrm>
          <a:prstGeom prst="rect">
            <a:avLst/>
          </a:prstGeom>
          <a:noFill/>
          <a:ln/>
        </p:spPr>
        <p:txBody>
          <a:bodyPr wrap="square" lIns="0" tIns="0" rIns="0" bIns="0" rtlCol="0" anchor="ctr"/>
          <a:lstStyle/>
          <a:p>
            <a:pPr indent="0" marL="0">
              <a:buNone/>
            </a:pPr>
            <a:r>
              <a:rPr lang="en-US" sz="1800" dirty="0">
                <a:solidFill>
                  <a:schemeClr val="tx1"/>
                </a:solidFill>
              </a:rPr>
              <a:t>0,0001 derajat lintang (4 angka di belakang koma)</a:t>
            </a:r>
            <a:endParaRPr lang="en-US" sz="1800" dirty="0"/>
          </a:p>
        </p:txBody>
      </p:sp>
      <p:sp>
        <p:nvSpPr>
          <p:cNvPr id="19" name="lingkaran lampu"/>
          <p:cNvSpPr/>
          <p:nvPr/>
        </p:nvSpPr>
        <p:spPr>
          <a:xfrm>
            <a:off x="548640" y="4617720"/>
            <a:ext cx="548640" cy="548640"/>
          </a:xfrm>
          <a:prstGeom prst="ellipse">
            <a:avLst/>
          </a:prstGeom>
          <a:solidFill>
            <a:schemeClr val="accent3"/>
          </a:solidFill>
          <a:ln/>
        </p:spPr>
      </p:sp>
      <p:pic>
        <p:nvPicPr>
          <p:cNvPr id="20" name="Image 3" descr="lampu">    </p:cNvPr>
          <p:cNvPicPr>
            <a:picLocks noChangeAspect="1"/>
          </p:cNvPicPr>
          <p:nvPr/>
        </p:nvPicPr>
        <p:blipFill>
          <a:blip r:embed="rId4"/>
          <a:stretch>
            <a:fillRect/>
          </a:stretch>
        </p:blipFill>
        <p:spPr>
          <a:xfrm>
            <a:off x="669341" y="4738421"/>
            <a:ext cx="307238" cy="307238"/>
          </a:xfrm>
          <a:prstGeom prst="rect">
            <a:avLst/>
          </a:prstGeom>
        </p:spPr>
      </p:pic>
      <p:sp>
        <p:nvSpPr>
          <p:cNvPr id="21" name="Text 14"/>
          <p:cNvSpPr txBox="1"/>
          <p:nvPr/>
        </p:nvSpPr>
        <p:spPr>
          <a:xfrm>
            <a:off x="1280160" y="4526280"/>
            <a:ext cx="10362895" cy="822960"/>
          </a:xfrm>
          <a:prstGeom prst="rect">
            <a:avLst/>
          </a:prstGeom>
          <a:noFill/>
          <a:ln/>
        </p:spPr>
        <p:txBody>
          <a:bodyPr wrap="square" lIns="0" tIns="0" rIns="0" bIns="0" rtlCol="0" anchor="ctr"/>
          <a:lstStyle/>
          <a:p>
            <a:pPr indent="0" marL="0">
              <a:buNone/>
            </a:pPr>
            <a:r>
              <a:rPr lang="en-US" sz="1800" dirty="0">
                <a:solidFill>
                  <a:schemeClr val="tx1"/>
                </a:solidFill>
              </a:rPr>
              <a:t>Garis bujur bertemu di kutub, jadi 1 derajat bujur makin pendek ke arah kutub. 6 angka di belakang koma ≈ 10 cm → toStringAsFixed(6).</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Rumus Jarak di Permukaan Bumi (Haversine)</a:t>
            </a:r>
            <a:endParaRPr lang="en-US" sz="3200" dirty="0"/>
          </a:p>
        </p:txBody>
      </p:sp>
      <p:sp>
        <p:nvSpPr>
          <p:cNvPr id="4" name="kotak kode"/>
          <p:cNvSpPr txBox="1"/>
          <p:nvPr/>
        </p:nvSpPr>
        <p:spPr>
          <a:xfrm>
            <a:off x="548640" y="1371600"/>
            <a:ext cx="7132320" cy="3291840"/>
          </a:xfrm>
          <a:prstGeom prst="roundRect">
            <a:avLst>
              <a:gd name="adj" fmla="val 2778"/>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double</a:t>
            </a:r>
            <a:r>
              <a:rPr lang="en-US" sz="1200" dirty="0">
                <a:solidFill>
                  <a:srgbClr val="E6EDF3"/>
                </a:solidFill>
                <a:latin typeface="Consolas" pitchFamily="34" charset="0"/>
                <a:ea typeface="Consolas" pitchFamily="34" charset="-122"/>
                <a:cs typeface="Consolas" pitchFamily="34" charset="-120"/>
              </a:rPr>
              <a:t> jariJariBumiMeter = </a:t>
            </a:r>
            <a:r>
              <a:rPr lang="en-US" sz="1200" dirty="0">
                <a:solidFill>
                  <a:srgbClr val="F78C6C"/>
                </a:solidFill>
                <a:latin typeface="Consolas" pitchFamily="34" charset="0"/>
                <a:ea typeface="Consolas" pitchFamily="34" charset="-122"/>
                <a:cs typeface="Consolas" pitchFamily="34" charset="-120"/>
              </a:rPr>
              <a:t>6378137.0</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double</a:t>
            </a:r>
            <a:r>
              <a:rPr lang="en-US" sz="1200" dirty="0">
                <a:solidFill>
                  <a:srgbClr val="E6EDF3"/>
                </a:solidFill>
                <a:latin typeface="Consolas" pitchFamily="34" charset="0"/>
                <a:ea typeface="Consolas" pitchFamily="34" charset="-122"/>
                <a:cs typeface="Consolas" pitchFamily="34" charset="-120"/>
              </a:rPr>
              <a:t> _keRadian(</a:t>
            </a:r>
            <a:r>
              <a:rPr lang="en-US" sz="1200" dirty="0">
                <a:solidFill>
                  <a:srgbClr val="FFCB6B"/>
                </a:solidFill>
                <a:latin typeface="Consolas" pitchFamily="34" charset="0"/>
                <a:ea typeface="Consolas" pitchFamily="34" charset="-122"/>
                <a:cs typeface="Consolas" pitchFamily="34" charset="-120"/>
              </a:rPr>
              <a:t>double</a:t>
            </a:r>
            <a:r>
              <a:rPr lang="en-US" sz="1200" dirty="0">
                <a:solidFill>
                  <a:srgbClr val="E6EDF3"/>
                </a:solidFill>
                <a:latin typeface="Consolas" pitchFamily="34" charset="0"/>
                <a:ea typeface="Consolas" pitchFamily="34" charset="-122"/>
                <a:cs typeface="Consolas" pitchFamily="34" charset="-120"/>
              </a:rPr>
              <a:t> derajat) =&gt; derajat * pi / </a:t>
            </a:r>
            <a:r>
              <a:rPr lang="en-US" sz="1200" dirty="0">
                <a:solidFill>
                  <a:srgbClr val="F78C6C"/>
                </a:solidFill>
                <a:latin typeface="Consolas" pitchFamily="34" charset="0"/>
                <a:ea typeface="Consolas" pitchFamily="34" charset="-122"/>
                <a:cs typeface="Consolas" pitchFamily="34" charset="-120"/>
              </a:rPr>
              <a:t>180</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Jarak "garis lurus di permukaan bumi" antara dua titik, dalam meter.</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double</a:t>
            </a:r>
            <a:r>
              <a:rPr lang="en-US" sz="1200" dirty="0">
                <a:solidFill>
                  <a:srgbClr val="E6EDF3"/>
                </a:solidFill>
                <a:latin typeface="Consolas" pitchFamily="34" charset="0"/>
                <a:ea typeface="Consolas" pitchFamily="34" charset="-122"/>
                <a:cs typeface="Consolas" pitchFamily="34" charset="-120"/>
              </a:rPr>
              <a:t> jarakMeter(</a:t>
            </a:r>
            <a:r>
              <a:rPr lang="en-US" sz="1200" dirty="0">
                <a:solidFill>
                  <a:srgbClr val="FFCB6B"/>
                </a:solidFill>
                <a:latin typeface="Consolas" pitchFamily="34" charset="0"/>
                <a:ea typeface="Consolas" pitchFamily="34" charset="-122"/>
                <a:cs typeface="Consolas" pitchFamily="34" charset="-120"/>
              </a:rPr>
              <a:t>Koordinat</a:t>
            </a:r>
            <a:r>
              <a:rPr lang="en-US" sz="1200" dirty="0">
                <a:solidFill>
                  <a:srgbClr val="E6EDF3"/>
                </a:solidFill>
                <a:latin typeface="Consolas" pitchFamily="34" charset="0"/>
                <a:ea typeface="Consolas" pitchFamily="34" charset="-122"/>
                <a:cs typeface="Consolas" pitchFamily="34" charset="-120"/>
              </a:rPr>
              <a:t> a, </a:t>
            </a:r>
            <a:r>
              <a:rPr lang="en-US" sz="1200" dirty="0">
                <a:solidFill>
                  <a:srgbClr val="FFCB6B"/>
                </a:solidFill>
                <a:latin typeface="Consolas" pitchFamily="34" charset="0"/>
                <a:ea typeface="Consolas" pitchFamily="34" charset="-122"/>
                <a:cs typeface="Consolas" pitchFamily="34" charset="-120"/>
              </a:rPr>
              <a:t>Koordinat</a:t>
            </a:r>
            <a:r>
              <a:rPr lang="en-US" sz="1200" dirty="0">
                <a:solidFill>
                  <a:srgbClr val="E6EDF3"/>
                </a:solidFill>
                <a:latin typeface="Consolas" pitchFamily="34" charset="0"/>
                <a:ea typeface="Consolas" pitchFamily="34" charset="-122"/>
                <a:cs typeface="Consolas" pitchFamily="34" charset="-120"/>
              </a:rPr>
              <a:t> b)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double</a:t>
            </a:r>
            <a:r>
              <a:rPr lang="en-US" sz="1200" dirty="0">
                <a:solidFill>
                  <a:srgbClr val="E6EDF3"/>
                </a:solidFill>
                <a:latin typeface="Consolas" pitchFamily="34" charset="0"/>
                <a:ea typeface="Consolas" pitchFamily="34" charset="-122"/>
                <a:cs typeface="Consolas" pitchFamily="34" charset="-120"/>
              </a:rPr>
              <a:t> dLintang = _keRadian(b.lintang - a.lintang);</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double</a:t>
            </a:r>
            <a:r>
              <a:rPr lang="en-US" sz="1200" dirty="0">
                <a:solidFill>
                  <a:srgbClr val="E6EDF3"/>
                </a:solidFill>
                <a:latin typeface="Consolas" pitchFamily="34" charset="0"/>
                <a:ea typeface="Consolas" pitchFamily="34" charset="-122"/>
                <a:cs typeface="Consolas" pitchFamily="34" charset="-120"/>
              </a:rPr>
              <a:t> dBujur = _keRadian(b.bujur - a.bujur);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double</a:t>
            </a:r>
            <a:r>
              <a:rPr lang="en-US" sz="1200" dirty="0">
                <a:solidFill>
                  <a:srgbClr val="E6EDF3"/>
                </a:solidFill>
                <a:latin typeface="Consolas" pitchFamily="34" charset="0"/>
                <a:ea typeface="Consolas" pitchFamily="34" charset="-122"/>
                <a:cs typeface="Consolas" pitchFamily="34" charset="-120"/>
              </a:rPr>
              <a:t> h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pow(sin(dLintang / </a:t>
            </a:r>
            <a:r>
              <a:rPr lang="en-US" sz="1200" dirty="0">
                <a:solidFill>
                  <a:srgbClr val="F78C6C"/>
                </a:solidFill>
                <a:latin typeface="Consolas" pitchFamily="34" charset="0"/>
                <a:ea typeface="Consolas" pitchFamily="34" charset="-122"/>
                <a:cs typeface="Consolas" pitchFamily="34" charset="-120"/>
              </a:rPr>
              <a:t>2</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78C6C"/>
                </a:solidFill>
                <a:latin typeface="Consolas" pitchFamily="34" charset="0"/>
                <a:ea typeface="Consolas" pitchFamily="34" charset="-122"/>
                <a:cs typeface="Consolas" pitchFamily="34" charset="-120"/>
              </a:rPr>
              <a:t>2</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pow(sin(dBujur / </a:t>
            </a:r>
            <a:r>
              <a:rPr lang="en-US" sz="1200" dirty="0">
                <a:solidFill>
                  <a:srgbClr val="F78C6C"/>
                </a:solidFill>
                <a:latin typeface="Consolas" pitchFamily="34" charset="0"/>
                <a:ea typeface="Consolas" pitchFamily="34" charset="-122"/>
                <a:cs typeface="Consolas" pitchFamily="34" charset="-120"/>
              </a:rPr>
              <a:t>2</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78C6C"/>
                </a:solidFill>
                <a:latin typeface="Consolas" pitchFamily="34" charset="0"/>
                <a:ea typeface="Consolas" pitchFamily="34" charset="-122"/>
                <a:cs typeface="Consolas" pitchFamily="34" charset="-120"/>
              </a:rPr>
              <a:t>2</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cos(_keRadian(a.lintang))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cos(_keRadian(b.lintang));</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jariJariBumiMeter * </a:t>
            </a:r>
            <a:r>
              <a:rPr lang="en-US" sz="1200" dirty="0">
                <a:solidFill>
                  <a:srgbClr val="F78C6C"/>
                </a:solidFill>
                <a:latin typeface="Consolas" pitchFamily="34" charset="0"/>
                <a:ea typeface="Consolas" pitchFamily="34" charset="-122"/>
                <a:cs typeface="Consolas" pitchFamily="34" charset="-120"/>
              </a:rPr>
              <a:t>2</a:t>
            </a:r>
            <a:r>
              <a:rPr lang="en-US" sz="1200" dirty="0">
                <a:solidFill>
                  <a:srgbClr val="E6EDF3"/>
                </a:solidFill>
                <a:latin typeface="Consolas" pitchFamily="34" charset="0"/>
                <a:ea typeface="Consolas" pitchFamily="34" charset="-122"/>
                <a:cs typeface="Consolas" pitchFamily="34" charset="-120"/>
              </a:rPr>
              <a:t> * asin(sqrt(h));</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3_fitur_perangkat_dan_izin/kode/contoh_04_jarak_dan_zona_dart_murni.dart"/>
          </p:cNvPr>
          <p:cNvSpPr txBox="1"/>
          <p:nvPr/>
        </p:nvSpPr>
        <p:spPr>
          <a:xfrm>
            <a:off x="548640" y="4892040"/>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contoh_04_jarak_dan_zona_dart_murni.dart</a:t>
            </a:r>
            <a:endParaRPr lang="en-US" sz="1300" dirty="0"/>
          </a:p>
        </p:txBody>
      </p:sp>
      <p:pic>
        <p:nvPicPr>
          <p:cNvPr id="6" name="Image 0" descr="ikon tautan">
            <a:hlinkClick r:id="rId3" tooltip="https://github.com/antonprafanto/mobile2026/blob/main/pertemuan_13_fitur_perangkat_dan_izin/kode/contoh_04_jarak_dan_zona_dart_murni.dart"/>
          </p:cNvPr>
          <p:cNvPicPr>
            <a:picLocks noChangeAspect="1"/>
          </p:cNvPicPr>
          <p:nvPr/>
        </p:nvPicPr>
        <p:blipFill>
          <a:blip r:embed="rId2"/>
          <a:stretch>
            <a:fillRect/>
          </a:stretch>
        </p:blipFill>
        <p:spPr>
          <a:xfrm>
            <a:off x="694944" y="4983480"/>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Tidak perlu dihafal.</a:t>
            </a:r>
            <a:endParaRPr lang="en-US" sz="1700" dirty="0"/>
          </a:p>
          <a:p>
            <a:pPr marL="228600" indent="-228600">
              <a:spcAft>
                <a:spcPts val="800"/>
              </a:spcAft>
              <a:buSzPct val="100000"/>
              <a:buChar char="•"/>
            </a:pPr>
            <a:r>
              <a:rPr lang="en-US" sz="1700" dirty="0">
                <a:solidFill>
                  <a:schemeClr val="tx1"/>
                </a:solidFill>
              </a:rPr>
              <a:t>sin dan cos di dart:math memakai RADIAN.</a:t>
            </a:r>
            <a:endParaRPr lang="en-US" sz="1700" dirty="0"/>
          </a:p>
          <a:p>
            <a:pPr marL="228600" indent="-228600">
              <a:spcAft>
                <a:spcPts val="800"/>
              </a:spcAft>
              <a:buSzPct val="100000"/>
              <a:buChar char="•"/>
            </a:pPr>
            <a:r>
              <a:rPr lang="en-US" sz="1700" dirty="0">
                <a:solidFill>
                  <a:schemeClr val="tx1"/>
                </a:solidFill>
              </a:rPr>
              <a:t>Jari-jari 6378137 m = Geolocator.distanceBetween → hasil sama.</a:t>
            </a:r>
            <a:endParaRPr lang="en-US" sz="1700" dirty="0"/>
          </a:p>
          <a:p>
            <a:pPr marL="228600" indent="-228600">
              <a:spcAft>
                <a:spcPts val="800"/>
              </a:spcAft>
              <a:buSzPct val="100000"/>
              <a:buChar char="•"/>
            </a:pPr>
            <a:r>
              <a:rPr lang="en-US" sz="1700" dirty="0">
                <a:solidFill>
                  <a:schemeClr val="tx1"/>
                </a:solidFill>
              </a:rPr>
              <a:t>Jarak GARIS LURUS, bukan jarak tempuh lewat jalan.</a:t>
            </a:r>
            <a:endParaRPr lang="en-US" sz="1700" dirty="0"/>
          </a:p>
          <a:p>
            <a:pPr marL="228600" indent="-228600">
              <a:spcAft>
                <a:spcPts val="800"/>
              </a:spcAft>
              <a:buSzPct val="100000"/>
              <a:buChar char="•"/>
            </a:pPr>
            <a:r>
              <a:rPr lang="en-US" sz="1700" dirty="0">
                <a:solidFill>
                  <a:schemeClr val="tx1"/>
                </a:solidFill>
              </a:rPr>
              <a:t>Ditulis sendiri karena aturan bisnis di domain = Dart murni (Pertemuan 12).</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Arah: Delapan Mata Angin</a:t>
            </a:r>
            <a:endParaRPr lang="en-US" sz="3200" dirty="0"/>
          </a:p>
        </p:txBody>
      </p:sp>
      <p:sp>
        <p:nvSpPr>
          <p:cNvPr id="4" name="kotak kode"/>
          <p:cNvSpPr txBox="1"/>
          <p:nvPr/>
        </p:nvSpPr>
        <p:spPr>
          <a:xfrm>
            <a:off x="548640" y="1371600"/>
            <a:ext cx="7132320" cy="3291840"/>
          </a:xfrm>
          <a:prstGeom prst="roundRect">
            <a:avLst>
              <a:gd name="adj" fmla="val 2778"/>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namaArah(</a:t>
            </a:r>
            <a:r>
              <a:rPr lang="en-US" sz="1200" dirty="0">
                <a:solidFill>
                  <a:srgbClr val="FFCB6B"/>
                </a:solidFill>
                <a:latin typeface="Consolas" pitchFamily="34" charset="0"/>
                <a:ea typeface="Consolas" pitchFamily="34" charset="-122"/>
                <a:cs typeface="Consolas" pitchFamily="34" charset="-120"/>
              </a:rPr>
              <a:t>double</a:t>
            </a:r>
            <a:r>
              <a:rPr lang="en-US" sz="1200" dirty="0">
                <a:solidFill>
                  <a:srgbClr val="E6EDF3"/>
                </a:solidFill>
                <a:latin typeface="Consolas" pitchFamily="34" charset="0"/>
                <a:ea typeface="Consolas" pitchFamily="34" charset="-122"/>
                <a:cs typeface="Consolas" pitchFamily="34" charset="-120"/>
              </a:rPr>
              <a:t> derajat)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&gt; nama =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'utara'</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'timur laut'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'timur'</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'tenggara'</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'selatan'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'barat daya'</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'barat'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'barat laut'</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Satu arah mencakup 45 derajat, berpusat pada sudutnya (utara: -22,5</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sampai 22,5 derajat).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nama[((derajat + </a:t>
            </a:r>
            <a:r>
              <a:rPr lang="en-US" sz="1200" dirty="0">
                <a:solidFill>
                  <a:srgbClr val="F78C6C"/>
                </a:solidFill>
                <a:latin typeface="Consolas" pitchFamily="34" charset="0"/>
                <a:ea typeface="Consolas" pitchFamily="34" charset="-122"/>
                <a:cs typeface="Consolas" pitchFamily="34" charset="-120"/>
              </a:rPr>
              <a:t>22.5</a:t>
            </a:r>
            <a:r>
              <a:rPr lang="en-US" sz="1200" dirty="0">
                <a:solidFill>
                  <a:srgbClr val="E6EDF3"/>
                </a:solidFill>
                <a:latin typeface="Consolas" pitchFamily="34" charset="0"/>
                <a:ea typeface="Consolas" pitchFamily="34" charset="-122"/>
                <a:cs typeface="Consolas" pitchFamily="34" charset="-120"/>
              </a:rPr>
              <a:t>) ~/ </a:t>
            </a:r>
            <a:r>
              <a:rPr lang="en-US" sz="1200" dirty="0">
                <a:solidFill>
                  <a:srgbClr val="F78C6C"/>
                </a:solidFill>
                <a:latin typeface="Consolas" pitchFamily="34" charset="0"/>
                <a:ea typeface="Consolas" pitchFamily="34" charset="-122"/>
                <a:cs typeface="Consolas" pitchFamily="34" charset="-120"/>
              </a:rPr>
              <a:t>45</a:t>
            </a:r>
            <a:r>
              <a:rPr lang="en-US" sz="1200" dirty="0">
                <a:solidFill>
                  <a:srgbClr val="E6EDF3"/>
                </a:solidFill>
                <a:latin typeface="Consolas" pitchFamily="34" charset="0"/>
                <a:ea typeface="Consolas" pitchFamily="34" charset="-122"/>
                <a:cs typeface="Consolas" pitchFamily="34" charset="-120"/>
              </a:rPr>
              <a:t>) % </a:t>
            </a:r>
            <a:r>
              <a:rPr lang="en-US" sz="1200" dirty="0">
                <a:solidFill>
                  <a:srgbClr val="F78C6C"/>
                </a:solidFill>
                <a:latin typeface="Consolas" pitchFamily="34" charset="0"/>
                <a:ea typeface="Consolas" pitchFamily="34" charset="-122"/>
                <a:cs typeface="Consolas" pitchFamily="34" charset="-120"/>
              </a:rPr>
              <a:t>8</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 2. Jarak dan arah dari lab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Depan pintu lab    25 m  arah 153 derajat (tenggara)</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Kantin            176 m  arah 125 derajat (tenggara)</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Gerbang kampus    553 m  arah 214 derajat (barat daya)</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Rumah kos        2,1 km  arah 216 derajat (barat daya)</a:t>
            </a:r>
            <a:endParaRPr lang="en-US" sz="1200" dirty="0"/>
          </a:p>
        </p:txBody>
      </p:sp>
      <p:sp>
        <p:nvSpPr>
          <p:cNvPr id="5" name="tombol tautan">
            <a:hlinkClick r:id="rId1" tooltip="https://github.com/antonprafanto/mobile2026/blob/main/pertemuan_13_fitur_perangkat_dan_izin/kode/contoh_04_jarak_dan_zona_dart_murni.dart"/>
          </p:cNvPr>
          <p:cNvSpPr txBox="1"/>
          <p:nvPr/>
        </p:nvSpPr>
        <p:spPr>
          <a:xfrm>
            <a:off x="548640" y="4892040"/>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contoh_04_jarak_dan_zona_dart_murni.dart</a:t>
            </a:r>
            <a:endParaRPr lang="en-US" sz="1300" dirty="0"/>
          </a:p>
        </p:txBody>
      </p:sp>
      <p:pic>
        <p:nvPicPr>
          <p:cNvPr id="6" name="Image 0" descr="ikon tautan">
            <a:hlinkClick r:id="rId3" tooltip="https://github.com/antonprafanto/mobile2026/blob/main/pertemuan_13_fitur_perangkat_dan_izin/kode/contoh_04_jarak_dan_zona_dart_murni.dart"/>
          </p:cNvPr>
          <p:cNvPicPr>
            <a:picLocks noChangeAspect="1"/>
          </p:cNvPicPr>
          <p:nvPr/>
        </p:nvPicPr>
        <p:blipFill>
          <a:blip r:embed="rId2"/>
          <a:stretch>
            <a:fillRect/>
          </a:stretch>
        </p:blipFill>
        <p:spPr>
          <a:xfrm>
            <a:off x="694944" y="4983480"/>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Arah (bearing): derajat searah jarum jam dari utara.</a:t>
            </a:r>
            <a:endParaRPr lang="en-US" sz="1700" dirty="0"/>
          </a:p>
          <a:p>
            <a:pPr marL="228600" indent="-228600">
              <a:spcAft>
                <a:spcPts val="800"/>
              </a:spcAft>
              <a:buSzPct val="100000"/>
              <a:buChar char="•"/>
            </a:pPr>
            <a:r>
              <a:rPr lang="en-US" sz="1700" dirty="0">
                <a:solidFill>
                  <a:schemeClr val="tx1"/>
                </a:solidFill>
              </a:rPr>
              <a:t>0 utara, 90 timur, 180 selatan, 270 barat.</a:t>
            </a:r>
            <a:endParaRPr lang="en-US" sz="1700" dirty="0"/>
          </a:p>
          <a:p>
            <a:pPr marL="228600" indent="-228600">
              <a:spcAft>
                <a:spcPts val="800"/>
              </a:spcAft>
              <a:buSzPct val="100000"/>
              <a:buChar char="•"/>
            </a:pPr>
            <a:r>
              <a:rPr lang="en-US" sz="1700" dirty="0">
                <a:solidFill>
                  <a:schemeClr val="tx1"/>
                </a:solidFill>
              </a:rPr>
              <a:t>bearingBetween memberi −180..180 → ubah dulu ke 0..360.</a:t>
            </a:r>
            <a:endParaRPr lang="en-US" sz="1700" dirty="0"/>
          </a:p>
          <a:p>
            <a:pPr marL="228600" indent="-228600">
              <a:spcAft>
                <a:spcPts val="800"/>
              </a:spcAft>
              <a:buSzPct val="100000"/>
              <a:buChar char="•"/>
            </a:pPr>
            <a:r>
              <a:rPr lang="en-US" sz="1700" dirty="0">
                <a:solidFill>
                  <a:schemeClr val="tx1"/>
                </a:solidFill>
              </a:rPr>
              <a:t>~/ = pembagian bulat; % 8 membuat 360 kembali ke utara.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Aturan Zona Presensi</a:t>
            </a:r>
            <a:endParaRPr lang="en-US" sz="3200" dirty="0"/>
          </a:p>
        </p:txBody>
      </p:sp>
      <p:sp>
        <p:nvSpPr>
          <p:cNvPr id="4" name="kotak kode"/>
          <p:cNvSpPr txBox="1"/>
          <p:nvPr/>
        </p:nvSpPr>
        <p:spPr>
          <a:xfrm>
            <a:off x="548640" y="1371600"/>
            <a:ext cx="7132320" cy="3867912"/>
          </a:xfrm>
          <a:prstGeom prst="roundRect">
            <a:avLst>
              <a:gd name="adj" fmla="val 2364"/>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Aturan presensi. Urutan pemeriksaan disengaja:</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1. lokasi palsu (aplikasi pemalsu GPS) langsung ditolak;</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2. GPS dengan akurasi buruk (lingkaran ketidakpastiannya lebar)</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belum bisa dipercaya, apa pun jaraknya;</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3. baru jaraknya dibandingkan dengan radius.</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HasilZona</a:t>
            </a:r>
            <a:r>
              <a:rPr lang="en-US" sz="1200" dirty="0">
                <a:solidFill>
                  <a:srgbClr val="E6EDF3"/>
                </a:solidFill>
                <a:latin typeface="Consolas" pitchFamily="34" charset="0"/>
                <a:ea typeface="Consolas" pitchFamily="34" charset="-122"/>
                <a:cs typeface="Consolas" pitchFamily="34" charset="-120"/>
              </a:rPr>
              <a:t> periksaZona({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required</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Koordinat</a:t>
            </a:r>
            <a:r>
              <a:rPr lang="en-US" sz="1200" dirty="0">
                <a:solidFill>
                  <a:srgbClr val="E6EDF3"/>
                </a:solidFill>
                <a:latin typeface="Consolas" pitchFamily="34" charset="0"/>
                <a:ea typeface="Consolas" pitchFamily="34" charset="-122"/>
                <a:cs typeface="Consolas" pitchFamily="34" charset="-120"/>
              </a:rPr>
              <a:t> posisi,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required</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double</a:t>
            </a:r>
            <a:r>
              <a:rPr lang="en-US" sz="1200" dirty="0">
                <a:solidFill>
                  <a:srgbClr val="E6EDF3"/>
                </a:solidFill>
                <a:latin typeface="Consolas" pitchFamily="34" charset="0"/>
                <a:ea typeface="Consolas" pitchFamily="34" charset="-122"/>
                <a:cs typeface="Consolas" pitchFamily="34" charset="-120"/>
              </a:rPr>
              <a:t> akurasiMeter,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required</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bool</a:t>
            </a:r>
            <a:r>
              <a:rPr lang="en-US" sz="1200" dirty="0">
                <a:solidFill>
                  <a:srgbClr val="E6EDF3"/>
                </a:solidFill>
                <a:latin typeface="Consolas" pitchFamily="34" charset="0"/>
                <a:ea typeface="Consolas" pitchFamily="34" charset="-122"/>
                <a:cs typeface="Consolas" pitchFamily="34" charset="-120"/>
              </a:rPr>
              <a:t> palsu,</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required</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Koordinat</a:t>
            </a:r>
            <a:r>
              <a:rPr lang="en-US" sz="1200" dirty="0">
                <a:solidFill>
                  <a:srgbClr val="E6EDF3"/>
                </a:solidFill>
                <a:latin typeface="Consolas" pitchFamily="34" charset="0"/>
                <a:ea typeface="Consolas" pitchFamily="34" charset="-122"/>
                <a:cs typeface="Consolas" pitchFamily="34" charset="-120"/>
              </a:rPr>
              <a:t> pusat,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double</a:t>
            </a:r>
            <a:r>
              <a:rPr lang="en-US" sz="1200" dirty="0">
                <a:solidFill>
                  <a:srgbClr val="E6EDF3"/>
                </a:solidFill>
                <a:latin typeface="Consolas" pitchFamily="34" charset="0"/>
                <a:ea typeface="Consolas" pitchFamily="34" charset="-122"/>
                <a:cs typeface="Consolas" pitchFamily="34" charset="-120"/>
              </a:rPr>
              <a:t> radiusMeter = </a:t>
            </a:r>
            <a:r>
              <a:rPr lang="en-US" sz="1200" dirty="0">
                <a:solidFill>
                  <a:srgbClr val="F78C6C"/>
                </a:solidFill>
                <a:latin typeface="Consolas" pitchFamily="34" charset="0"/>
                <a:ea typeface="Consolas" pitchFamily="34" charset="-122"/>
                <a:cs typeface="Consolas" pitchFamily="34" charset="-120"/>
              </a:rPr>
              <a:t>100</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double</a:t>
            </a:r>
            <a:r>
              <a:rPr lang="en-US" sz="1200" dirty="0">
                <a:solidFill>
                  <a:srgbClr val="E6EDF3"/>
                </a:solidFill>
                <a:latin typeface="Consolas" pitchFamily="34" charset="0"/>
                <a:ea typeface="Consolas" pitchFamily="34" charset="-122"/>
                <a:cs typeface="Consolas" pitchFamily="34" charset="-120"/>
              </a:rPr>
              <a:t> akurasiMaksimal = </a:t>
            </a:r>
            <a:r>
              <a:rPr lang="en-US" sz="1200" dirty="0">
                <a:solidFill>
                  <a:srgbClr val="F78C6C"/>
                </a:solidFill>
                <a:latin typeface="Consolas" pitchFamily="34" charset="0"/>
                <a:ea typeface="Consolas" pitchFamily="34" charset="-122"/>
                <a:cs typeface="Consolas" pitchFamily="34" charset="-120"/>
              </a:rPr>
              <a:t>50</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(palsu)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HasilZona</a:t>
            </a:r>
            <a:r>
              <a:rPr lang="en-US" sz="1200" dirty="0">
                <a:solidFill>
                  <a:srgbClr val="E6EDF3"/>
                </a:solidFill>
                <a:latin typeface="Consolas" pitchFamily="34" charset="0"/>
                <a:ea typeface="Consolas" pitchFamily="34" charset="-122"/>
                <a:cs typeface="Consolas" pitchFamily="34" charset="-120"/>
              </a:rPr>
              <a:t>.lokasiPalsu;</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(akurasiMeter &gt; akurasiMaksimal)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HasilZona</a:t>
            </a:r>
            <a:r>
              <a:rPr lang="en-US" sz="1200" dirty="0">
                <a:solidFill>
                  <a:srgbClr val="E6EDF3"/>
                </a:solidFill>
                <a:latin typeface="Consolas" pitchFamily="34" charset="0"/>
                <a:ea typeface="Consolas" pitchFamily="34" charset="-122"/>
                <a:cs typeface="Consolas" pitchFamily="34" charset="-120"/>
              </a:rPr>
              <a:t>.kurangAkurat;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(jarakMeter(posisi, pusat) &gt; radiusMeter)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HasilZona</a:t>
            </a:r>
            <a:r>
              <a:rPr lang="en-US" sz="1200" dirty="0">
                <a:solidFill>
                  <a:srgbClr val="E6EDF3"/>
                </a:solidFill>
                <a:latin typeface="Consolas" pitchFamily="34" charset="0"/>
                <a:ea typeface="Consolas" pitchFamily="34" charset="-122"/>
                <a:cs typeface="Consolas" pitchFamily="34" charset="-120"/>
              </a:rPr>
              <a:t>.diLuar;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HasilZona</a:t>
            </a:r>
            <a:r>
              <a:rPr lang="en-US" sz="1200" dirty="0">
                <a:solidFill>
                  <a:srgbClr val="E6EDF3"/>
                </a:solidFill>
                <a:latin typeface="Consolas" pitchFamily="34" charset="0"/>
                <a:ea typeface="Consolas" pitchFamily="34" charset="-122"/>
                <a:cs typeface="Consolas" pitchFamily="34" charset="-120"/>
              </a:rPr>
              <a:t>.diDalam;</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3_fitur_perangkat_dan_izin/kode/contoh_04_jarak_dan_zona_dart_murni.dart"/>
          </p:cNvPr>
          <p:cNvSpPr txBox="1"/>
          <p:nvPr/>
        </p:nvSpPr>
        <p:spPr>
          <a:xfrm>
            <a:off x="548640" y="5468112"/>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contoh_04_jarak_dan_zona_dart_murni.dart</a:t>
            </a:r>
            <a:endParaRPr lang="en-US" sz="1300" dirty="0"/>
          </a:p>
        </p:txBody>
      </p:sp>
      <p:pic>
        <p:nvPicPr>
          <p:cNvPr id="6" name="Image 0" descr="ikon tautan">
            <a:hlinkClick r:id="rId3" tooltip="https://github.com/antonprafanto/mobile2026/blob/main/pertemuan_13_fitur_perangkat_dan_izin/kode/contoh_04_jarak_dan_zona_dart_murni.dart"/>
          </p:cNvPr>
          <p:cNvPicPr>
            <a:picLocks noChangeAspect="1"/>
          </p:cNvPicPr>
          <p:nvPr/>
        </p:nvPicPr>
        <p:blipFill>
          <a:blip r:embed="rId2"/>
          <a:stretch>
            <a:fillRect/>
          </a:stretch>
        </p:blipFill>
        <p:spPr>
          <a:xfrm>
            <a:off x="694944" y="5559552"/>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Di dalam lab, akurasi 120 m → "lokasi kurang akurat" (tetap ditolak).</a:t>
            </a:r>
            <a:endParaRPr lang="en-US" sz="1700" dirty="0"/>
          </a:p>
          <a:p>
            <a:pPr marL="228600" indent="-228600">
              <a:spcAft>
                <a:spcPts val="800"/>
              </a:spcAft>
              <a:buSzPct val="100000"/>
              <a:buChar char="•"/>
            </a:pPr>
            <a:r>
              <a:rPr lang="en-US" sz="1700" dirty="0">
                <a:solidFill>
                  <a:schemeClr val="tx1"/>
                </a:solidFill>
              </a:rPr>
              <a:t>Batas diuji: 100 m boleh, 101 m di luar area.</a:t>
            </a:r>
            <a:endParaRPr lang="en-US" sz="1700" dirty="0"/>
          </a:p>
          <a:p>
            <a:pPr marL="228600" indent="-228600">
              <a:spcAft>
                <a:spcPts val="800"/>
              </a:spcAft>
              <a:buSzPct val="100000"/>
              <a:buChar char="•"/>
            </a:pPr>
            <a:r>
              <a:rPr lang="en-US" sz="1700" dirty="0">
                <a:solidFill>
                  <a:schemeClr val="tx1"/>
                </a:solidFill>
              </a:rPr>
              <a:t>Lokasi palsu: Position.isMocked (Android).</a:t>
            </a:r>
            <a:endParaRPr lang="en-US" sz="1700" dirty="0"/>
          </a:p>
          <a:p>
            <a:pPr marL="228600" indent="-228600">
              <a:spcAft>
                <a:spcPts val="800"/>
              </a:spcAft>
              <a:buSzPct val="100000"/>
              <a:buChar char="•"/>
            </a:pPr>
            <a:r>
              <a:rPr lang="en-US" sz="1700" dirty="0">
                <a:solidFill>
                  <a:schemeClr val="tx1"/>
                </a:solidFill>
              </a:rPr>
              <a:t>Pemeriksaan di aplikasi tidak pernah benar-benar aman: server sebaiknya ikut memeriksa.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7</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Alur Izin yang Sopan</a:t>
            </a:r>
            <a:endParaRPr lang="en-US" sz="4000" dirty="0"/>
          </a:p>
        </p:txBody>
      </p:sp>
      <p:sp>
        <p:nvSpPr>
          <p:cNvPr id="5" name="lingkaran dialog"/>
          <p:cNvSpPr/>
          <p:nvPr/>
        </p:nvSpPr>
        <p:spPr>
          <a:xfrm>
            <a:off x="1097280" y="2148840"/>
            <a:ext cx="2011680" cy="2011680"/>
          </a:xfrm>
          <a:prstGeom prst="ellipse">
            <a:avLst/>
          </a:prstGeom>
          <a:solidFill>
            <a:schemeClr val="accent1"/>
          </a:solidFill>
          <a:ln/>
        </p:spPr>
      </p:sp>
      <p:pic>
        <p:nvPicPr>
          <p:cNvPr id="6" name="Image 0" descr="dialog">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Minta Saat Fiturnya Dipakai</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peringatan"/>
          <p:cNvSpPr/>
          <p:nvPr/>
        </p:nvSpPr>
        <p:spPr>
          <a:xfrm>
            <a:off x="777240" y="1600200"/>
            <a:ext cx="685800" cy="685800"/>
          </a:xfrm>
          <a:prstGeom prst="ellipse">
            <a:avLst/>
          </a:prstGeom>
          <a:solidFill>
            <a:schemeClr val="accent5"/>
          </a:solidFill>
          <a:ln/>
        </p:spPr>
      </p:sp>
      <p:pic>
        <p:nvPicPr>
          <p:cNvPr id="6" name="Image 0" descr="peringatan">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Aplikasi A</a:t>
            </a:r>
            <a:endParaRPr lang="en-US" sz="1900" dirty="0"/>
          </a:p>
        </p:txBody>
      </p:sp>
      <p:sp>
        <p:nvSpPr>
          <p:cNvPr id="8" name="daftar poin"/>
          <p:cNvSpPr txBox="1"/>
          <p:nvPr/>
        </p:nvSpPr>
        <p:spPr>
          <a:xfrm>
            <a:off x="777240" y="2560320"/>
            <a:ext cx="4929988" cy="26060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Baru dibuka, langsung tiga dialog berturut-turut: lokasi, kamera, notifikasi</a:t>
            </a:r>
            <a:endParaRPr lang="en-US" sz="1700" dirty="0"/>
          </a:p>
          <a:p>
            <a:pPr marL="228600" indent="-228600">
              <a:spcAft>
                <a:spcPts val="800"/>
              </a:spcAft>
              <a:buSzPct val="100000"/>
              <a:buChar char="•"/>
            </a:pPr>
            <a:r>
              <a:rPr lang="en-US" sz="1700" dirty="0">
                <a:solidFill>
                  <a:schemeClr val="tx1"/>
                </a:solidFill>
              </a:rPr>
              <a:t>Pengguna belum tahu untuk apa izinnya</a:t>
            </a:r>
            <a:endParaRPr lang="en-US" sz="1700" dirty="0"/>
          </a:p>
          <a:p>
            <a:pPr marL="228600" indent="-228600">
              <a:spcAft>
                <a:spcPts val="800"/>
              </a:spcAft>
              <a:buSzPct val="100000"/>
              <a:buChar char="•"/>
            </a:pPr>
            <a:r>
              <a:rPr lang="en-US" sz="1700" dirty="0">
                <a:solidFill>
                  <a:schemeClr val="tx1"/>
                </a:solidFill>
              </a:rPr>
              <a:t>Akibatnya: semua ditolak</a:t>
            </a:r>
            <a:endParaRPr lang="en-US" sz="1700" dirty="0"/>
          </a:p>
        </p:txBody>
      </p:sp>
      <p:sp>
        <p:nvSpPr>
          <p:cNvPr id="9" name="kolom 2"/>
          <p:cNvSpPr/>
          <p:nvPr/>
        </p:nvSpPr>
        <p:spPr>
          <a:xfrm>
            <a:off x="6255868" y="1371600"/>
            <a:ext cx="5387188" cy="3931920"/>
          </a:xfrm>
          <a:prstGeom prst="roundRect">
            <a:avLst>
              <a:gd name="adj" fmla="val 2791"/>
            </a:avLst>
          </a:prstGeom>
          <a:solidFill>
            <a:srgbClr val="E3F2FD"/>
          </a:solidFill>
          <a:ln w="25400">
            <a:solidFill>
              <a:schemeClr val="accent1"/>
            </a:solidFill>
            <a:prstDash val="solid"/>
          </a:ln>
        </p:spPr>
      </p:sp>
      <p:sp>
        <p:nvSpPr>
          <p:cNvPr id="10" name="lingkaran centang"/>
          <p:cNvSpPr/>
          <p:nvPr/>
        </p:nvSpPr>
        <p:spPr>
          <a:xfrm>
            <a:off x="6484468" y="1600200"/>
            <a:ext cx="685800" cy="685800"/>
          </a:xfrm>
          <a:prstGeom prst="ellipse">
            <a:avLst/>
          </a:prstGeom>
          <a:solidFill>
            <a:schemeClr val="accent4"/>
          </a:solidFill>
          <a:ln/>
        </p:spPr>
      </p:sp>
      <p:pic>
        <p:nvPicPr>
          <p:cNvPr id="11" name="Image 1" descr="centang">    </p:cNvPr>
          <p:cNvPicPr>
            <a:picLocks noChangeAspect="1"/>
          </p:cNvPicPr>
          <p:nvPr/>
        </p:nvPicPr>
        <p:blipFill>
          <a:blip r:embed="rId2"/>
          <a:stretch>
            <a:fillRect/>
          </a:stretch>
        </p:blipFill>
        <p:spPr>
          <a:xfrm>
            <a:off x="6635344" y="1751076"/>
            <a:ext cx="384048" cy="384048"/>
          </a:xfrm>
          <a:prstGeom prst="rect">
            <a:avLst/>
          </a:prstGeom>
        </p:spPr>
      </p:pic>
      <p:sp>
        <p:nvSpPr>
          <p:cNvPr id="12" name="Text 7"/>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Aplikasi B</a:t>
            </a:r>
            <a:endParaRPr lang="en-US" sz="1900" dirty="0"/>
          </a:p>
        </p:txBody>
      </p:sp>
      <p:sp>
        <p:nvSpPr>
          <p:cNvPr id="13" name="daftar poin"/>
          <p:cNvSpPr txBox="1"/>
          <p:nvPr/>
        </p:nvSpPr>
        <p:spPr>
          <a:xfrm>
            <a:off x="6484468" y="2560320"/>
            <a:ext cx="4929988" cy="26060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Aplikasi langsung bisa dipakai</a:t>
            </a:r>
            <a:endParaRPr lang="en-US" sz="1700" dirty="0"/>
          </a:p>
          <a:p>
            <a:pPr marL="228600" indent="-228600">
              <a:spcAft>
                <a:spcPts val="800"/>
              </a:spcAft>
              <a:buSzPct val="100000"/>
              <a:buChar char="•"/>
            </a:pPr>
            <a:r>
              <a:rPr lang="en-US" sz="1700" dirty="0">
                <a:solidFill>
                  <a:schemeClr val="tx1"/>
                </a:solidFill>
              </a:rPr>
              <a:t>Dialog lokasi baru muncul saat pengguna mengetuk "Urutkan dari yang terdekat"</a:t>
            </a:r>
            <a:endParaRPr lang="en-US" sz="1700" dirty="0"/>
          </a:p>
          <a:p>
            <a:pPr marL="228600" indent="-228600">
              <a:spcAft>
                <a:spcPts val="800"/>
              </a:spcAft>
              <a:buSzPct val="100000"/>
              <a:buChar char="•"/>
            </a:pPr>
            <a:r>
              <a:rPr lang="en-US" sz="1700" dirty="0">
                <a:solidFill>
                  <a:schemeClr val="tx1"/>
                </a:solidFill>
              </a:rPr>
              <a:t>Pengguna paham hubungannya → lebih mungkin mengizinkan</a:t>
            </a:r>
            <a:endParaRPr lang="en-US" sz="1700" dirty="0"/>
          </a:p>
        </p:txBody>
      </p:sp>
      <p:sp>
        <p:nvSpPr>
          <p:cNvPr id="14" name="lingkaran lampu"/>
          <p:cNvSpPr/>
          <p:nvPr/>
        </p:nvSpPr>
        <p:spPr>
          <a:xfrm>
            <a:off x="548640" y="5532120"/>
            <a:ext cx="548640" cy="548640"/>
          </a:xfrm>
          <a:prstGeom prst="ellipse">
            <a:avLst/>
          </a:prstGeom>
          <a:solidFill>
            <a:schemeClr val="accent3"/>
          </a:solidFill>
          <a:ln/>
        </p:spPr>
      </p:sp>
      <p:pic>
        <p:nvPicPr>
          <p:cNvPr id="15"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16" name="Text 10"/>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Pedoman Android dan Apple sama-sama menyarankan Aplikasi B: minta izin DALAM KONTEKS.</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Jelaskan Dulu di Layar Sendiri</a:t>
            </a:r>
            <a:endParaRPr lang="en-US" sz="3200" dirty="0"/>
          </a:p>
        </p:txBody>
      </p:sp>
      <p:sp>
        <p:nvSpPr>
          <p:cNvPr id="4" name="bingkai layar 1"/>
          <p:cNvSpPr/>
          <p:nvPr/>
        </p:nvSpPr>
        <p:spPr>
          <a:xfrm>
            <a:off x="5278831" y="1316736"/>
            <a:ext cx="3127248" cy="4801201"/>
          </a:xfrm>
          <a:prstGeom prst="roundRect">
            <a:avLst>
              <a:gd name="adj" fmla="val 2924"/>
            </a:avLst>
          </a:prstGeom>
          <a:solidFill>
            <a:srgbClr val="FFFFFF"/>
          </a:solidFill>
          <a:ln w="12700">
            <a:solidFill>
              <a:srgbClr val="C9D3E0"/>
            </a:solidFill>
            <a:prstDash val="solid"/>
          </a:ln>
        </p:spPr>
      </p:sp>
      <p:pic>
        <p:nvPicPr>
          <p:cNvPr id="5" name="layar 1" descr="Tangkapan layar aplikasi (hasil_contoh_05a.jpg)">    </p:cNvPr>
          <p:cNvPicPr>
            <a:picLocks noChangeAspect="1"/>
          </p:cNvPicPr>
          <p:nvPr/>
        </p:nvPicPr>
        <p:blipFill>
          <a:blip r:embed="rId1"/>
          <a:stretch>
            <a:fillRect/>
          </a:stretch>
        </p:blipFill>
        <p:spPr>
          <a:xfrm>
            <a:off x="5333695" y="1371600"/>
            <a:ext cx="3017520" cy="4691473"/>
          </a:xfrm>
          <a:prstGeom prst="rect">
            <a:avLst/>
          </a:prstGeom>
        </p:spPr>
      </p:pic>
      <p:sp>
        <p:nvSpPr>
          <p:cNvPr id="6" name="bingkai layar 2"/>
          <p:cNvSpPr/>
          <p:nvPr/>
        </p:nvSpPr>
        <p:spPr>
          <a:xfrm>
            <a:off x="8570671" y="1316736"/>
            <a:ext cx="3127248" cy="4801201"/>
          </a:xfrm>
          <a:prstGeom prst="roundRect">
            <a:avLst>
              <a:gd name="adj" fmla="val 2924"/>
            </a:avLst>
          </a:prstGeom>
          <a:solidFill>
            <a:srgbClr val="FFFFFF"/>
          </a:solidFill>
          <a:ln w="12700">
            <a:solidFill>
              <a:srgbClr val="C9D3E0"/>
            </a:solidFill>
            <a:prstDash val="solid"/>
          </a:ln>
        </p:spPr>
      </p:sp>
      <p:pic>
        <p:nvPicPr>
          <p:cNvPr id="7" name="layar 2" descr="Tangkapan layar aplikasi (hasil_contoh_05b.jpg)">    </p:cNvPr>
          <p:cNvPicPr>
            <a:picLocks noChangeAspect="1"/>
          </p:cNvPicPr>
          <p:nvPr/>
        </p:nvPicPr>
        <p:blipFill>
          <a:blip r:embed="rId2"/>
          <a:stretch>
            <a:fillRect/>
          </a:stretch>
        </p:blipFill>
        <p:spPr>
          <a:xfrm>
            <a:off x="8625535" y="1371600"/>
            <a:ext cx="3017520" cy="4691473"/>
          </a:xfrm>
          <a:prstGeom prst="rect">
            <a:avLst/>
          </a:prstGeom>
        </p:spPr>
      </p:pic>
      <p:sp>
        <p:nvSpPr>
          <p:cNvPr id="8" name="tombol tautan">
            <a:hlinkClick r:id="rId3" tooltip="https://github.com/antonprafanto/mobile2026/blob/main/pertemuan_13_fitur_perangkat_dan_izin/kode/contoh_05_alur_izin_yang_sopan.dart"/>
          </p:cNvPr>
          <p:cNvSpPr txBox="1"/>
          <p:nvPr/>
        </p:nvSpPr>
        <p:spPr>
          <a:xfrm>
            <a:off x="548640" y="1371600"/>
            <a:ext cx="43278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contoh_05_alur_izin_yang_sopan.dart</a:t>
            </a:r>
            <a:endParaRPr lang="en-US" sz="1300" dirty="0"/>
          </a:p>
        </p:txBody>
      </p:sp>
      <p:pic>
        <p:nvPicPr>
          <p:cNvPr id="9" name="Image 2" descr="ikon tautan">
            <a:hlinkClick r:id="rId5" tooltip="https://github.com/antonprafanto/mobile2026/blob/main/pertemuan_13_fitur_perangkat_dan_izin/kode/contoh_05_alur_izin_yang_sopan.dart"/>
          </p:cNvPr>
          <p:cNvPicPr>
            <a:picLocks noChangeAspect="1"/>
          </p:cNvPicPr>
          <p:nvPr/>
        </p:nvPicPr>
        <p:blipFill>
          <a:blip r:embed="rId4"/>
          <a:stretch>
            <a:fillRect/>
          </a:stretch>
        </p:blipFill>
        <p:spPr>
          <a:xfrm>
            <a:off x="694944" y="1463040"/>
            <a:ext cx="274320" cy="274320"/>
          </a:xfrm>
          <a:prstGeom prst="rect">
            <a:avLst/>
          </a:prstGeom>
        </p:spPr>
      </p:pic>
      <p:sp>
        <p:nvSpPr>
          <p:cNvPr id="10" name="daftar poin"/>
          <p:cNvSpPr txBox="1"/>
          <p:nvPr/>
        </p:nvSpPr>
        <p:spPr>
          <a:xfrm>
            <a:off x="548640" y="2103120"/>
            <a:ext cx="432785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Kartu yang baik menjawab: APA manfaatnya, KE MANA datanya pergi, BAGAIMANA jika tidak mau ("Nanti saja").</a:t>
            </a:r>
            <a:endParaRPr lang="en-US" sz="1500" dirty="0"/>
          </a:p>
          <a:p>
            <a:pPr marL="228600" indent="-228600">
              <a:spcAft>
                <a:spcPts val="800"/>
              </a:spcAft>
              <a:buSzPct val="100000"/>
              <a:buChar char="•"/>
            </a:pPr>
            <a:r>
              <a:rPr lang="en-US" sz="1500" dirty="0">
                <a:solidFill>
                  <a:schemeClr val="tx1"/>
                </a:solidFill>
              </a:rPr>
              <a:t>Baru setelah diketuk: dialog sistem (di contoh ini simulasi).</a:t>
            </a:r>
            <a:endParaRPr lang="en-US" sz="1500" dirty="0"/>
          </a:p>
          <a:p>
            <a:pPr marL="228600" indent="-228600">
              <a:spcAft>
                <a:spcPts val="800"/>
              </a:spcAft>
              <a:buSzPct val="100000"/>
              <a:buChar char="•"/>
            </a:pPr>
            <a:r>
              <a:rPr lang="en-US" sz="1500" dirty="0">
                <a:solidFill>
                  <a:schemeClr val="tx1"/>
                </a:solidFill>
              </a:rPr>
              <a:t>iOS lebih ketat: layar penjelasan hanya boleh satu tombol "Lanjutkan".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Ditolak? Tetap Jalan. Diblokir? Tawarkan Pengaturan</a:t>
            </a:r>
            <a:endParaRPr lang="en-US" sz="3200" dirty="0"/>
          </a:p>
        </p:txBody>
      </p:sp>
      <p:sp>
        <p:nvSpPr>
          <p:cNvPr id="4" name="bingkai layar 1"/>
          <p:cNvSpPr/>
          <p:nvPr/>
        </p:nvSpPr>
        <p:spPr>
          <a:xfrm>
            <a:off x="5278831" y="1316736"/>
            <a:ext cx="3127248" cy="4801201"/>
          </a:xfrm>
          <a:prstGeom prst="roundRect">
            <a:avLst>
              <a:gd name="adj" fmla="val 2924"/>
            </a:avLst>
          </a:prstGeom>
          <a:solidFill>
            <a:srgbClr val="FFFFFF"/>
          </a:solidFill>
          <a:ln w="12700">
            <a:solidFill>
              <a:srgbClr val="C9D3E0"/>
            </a:solidFill>
            <a:prstDash val="solid"/>
          </a:ln>
        </p:spPr>
      </p:sp>
      <p:pic>
        <p:nvPicPr>
          <p:cNvPr id="5" name="layar 1" descr="Tangkapan layar aplikasi (hasil_contoh_05c.jpg)">    </p:cNvPr>
          <p:cNvPicPr>
            <a:picLocks noChangeAspect="1"/>
          </p:cNvPicPr>
          <p:nvPr/>
        </p:nvPicPr>
        <p:blipFill>
          <a:blip r:embed="rId1"/>
          <a:stretch>
            <a:fillRect/>
          </a:stretch>
        </p:blipFill>
        <p:spPr>
          <a:xfrm>
            <a:off x="5333695" y="1371600"/>
            <a:ext cx="3017520" cy="4691473"/>
          </a:xfrm>
          <a:prstGeom prst="rect">
            <a:avLst/>
          </a:prstGeom>
        </p:spPr>
      </p:pic>
      <p:sp>
        <p:nvSpPr>
          <p:cNvPr id="6" name="bingkai layar 2"/>
          <p:cNvSpPr/>
          <p:nvPr/>
        </p:nvSpPr>
        <p:spPr>
          <a:xfrm>
            <a:off x="8570671" y="1316736"/>
            <a:ext cx="3127248" cy="4801201"/>
          </a:xfrm>
          <a:prstGeom prst="roundRect">
            <a:avLst>
              <a:gd name="adj" fmla="val 2924"/>
            </a:avLst>
          </a:prstGeom>
          <a:solidFill>
            <a:srgbClr val="FFFFFF"/>
          </a:solidFill>
          <a:ln w="12700">
            <a:solidFill>
              <a:srgbClr val="C9D3E0"/>
            </a:solidFill>
            <a:prstDash val="solid"/>
          </a:ln>
        </p:spPr>
      </p:sp>
      <p:pic>
        <p:nvPicPr>
          <p:cNvPr id="7" name="layar 2" descr="Tangkapan layar aplikasi (hasil_contoh_05d.jpg)">    </p:cNvPr>
          <p:cNvPicPr>
            <a:picLocks noChangeAspect="1"/>
          </p:cNvPicPr>
          <p:nvPr/>
        </p:nvPicPr>
        <p:blipFill>
          <a:blip r:embed="rId2"/>
          <a:stretch>
            <a:fillRect/>
          </a:stretch>
        </p:blipFill>
        <p:spPr>
          <a:xfrm>
            <a:off x="8625535" y="1371600"/>
            <a:ext cx="3017520" cy="4691473"/>
          </a:xfrm>
          <a:prstGeom prst="rect">
            <a:avLst/>
          </a:prstGeom>
        </p:spPr>
      </p:pic>
      <p:sp>
        <p:nvSpPr>
          <p:cNvPr id="8" name="tombol tautan">
            <a:hlinkClick r:id="rId3" tooltip="https://github.com/antonprafanto/mobile2026/blob/main/pertemuan_13_fitur_perangkat_dan_izin/kode/contoh_05_alur_izin_yang_sopan.dart"/>
          </p:cNvPr>
          <p:cNvSpPr txBox="1"/>
          <p:nvPr/>
        </p:nvSpPr>
        <p:spPr>
          <a:xfrm>
            <a:off x="548640" y="1371600"/>
            <a:ext cx="43278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contoh_05_alur_izin_yang_sopan.dart</a:t>
            </a:r>
            <a:endParaRPr lang="en-US" sz="1300" dirty="0"/>
          </a:p>
        </p:txBody>
      </p:sp>
      <p:pic>
        <p:nvPicPr>
          <p:cNvPr id="9" name="Image 2" descr="ikon tautan">
            <a:hlinkClick r:id="rId5" tooltip="https://github.com/antonprafanto/mobile2026/blob/main/pertemuan_13_fitur_perangkat_dan_izin/kode/contoh_05_alur_izin_yang_sopan.dart"/>
          </p:cNvPr>
          <p:cNvPicPr>
            <a:picLocks noChangeAspect="1"/>
          </p:cNvPicPr>
          <p:nvPr/>
        </p:nvPicPr>
        <p:blipFill>
          <a:blip r:embed="rId4"/>
          <a:stretch>
            <a:fillRect/>
          </a:stretch>
        </p:blipFill>
        <p:spPr>
          <a:xfrm>
            <a:off x="694944" y="1463040"/>
            <a:ext cx="274320" cy="274320"/>
          </a:xfrm>
          <a:prstGeom prst="rect">
            <a:avLst/>
          </a:prstGeom>
        </p:spPr>
      </p:pic>
      <p:sp>
        <p:nvSpPr>
          <p:cNvPr id="10" name="daftar poin"/>
          <p:cNvSpPr txBox="1"/>
          <p:nvPr/>
        </p:nvSpPr>
        <p:spPr>
          <a:xfrm>
            <a:off x="548640" y="2103120"/>
            <a:ext cx="432785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Ditolak: daftar tetap tampil (urut abjad) + tombol Coba lagi.</a:t>
            </a:r>
            <a:endParaRPr lang="en-US" sz="1500" dirty="0"/>
          </a:p>
          <a:p>
            <a:pPr marL="228600" indent="-228600">
              <a:spcAft>
                <a:spcPts val="800"/>
              </a:spcAft>
              <a:buSzPct val="100000"/>
              <a:buChar char="•"/>
            </a:pPr>
            <a:r>
              <a:rPr lang="en-US" sz="1500" dirty="0">
                <a:solidFill>
                  <a:schemeClr val="tx1"/>
                </a:solidFill>
              </a:rPr>
              <a:t>Diblokir: jelaskan dengan tenang + tombol Buka Pengaturan.</a:t>
            </a:r>
            <a:endParaRPr lang="en-US" sz="1500" dirty="0"/>
          </a:p>
          <a:p>
            <a:pPr marL="228600" indent="-228600">
              <a:spcAft>
                <a:spcPts val="800"/>
              </a:spcAft>
              <a:buSzPct val="100000"/>
              <a:buChar char="•"/>
            </a:pPr>
            <a:r>
              <a:rPr lang="en-US" sz="1500" dirty="0">
                <a:solidFill>
                  <a:schemeClr val="tx1"/>
                </a:solidFill>
              </a:rPr>
              <a:t>Degradasi anggun (graceful degradation): fitur dikurangi, sisanya tetap berfungsi.</a:t>
            </a:r>
            <a:endParaRPr lang="en-US" sz="1500" dirty="0"/>
          </a:p>
          <a:p>
            <a:pPr marL="228600" indent="-228600">
              <a:spcAft>
                <a:spcPts val="800"/>
              </a:spcAft>
              <a:buSzPct val="100000"/>
              <a:buChar char="•"/>
            </a:pPr>
            <a:r>
              <a:rPr lang="en-US" sz="1500" dirty="0">
                <a:solidFill>
                  <a:schemeClr val="tx1"/>
                </a:solidFill>
              </a:rPr>
              <a:t>Tidak sopan: peringatan "Izinkan lokasi!" setiap kali dibuka, atau menutup aplikasi.</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Kembali dari Pengaturan: Langsung Terurut</a:t>
            </a:r>
            <a:endParaRPr lang="en-US" sz="3200" dirty="0"/>
          </a:p>
        </p:txBody>
      </p:sp>
      <p:sp>
        <p:nvSpPr>
          <p:cNvPr id="4" name="bingkai layar 1"/>
          <p:cNvSpPr/>
          <p:nvPr/>
        </p:nvSpPr>
        <p:spPr>
          <a:xfrm>
            <a:off x="5278831" y="1316736"/>
            <a:ext cx="3127248" cy="4801201"/>
          </a:xfrm>
          <a:prstGeom prst="roundRect">
            <a:avLst>
              <a:gd name="adj" fmla="val 2924"/>
            </a:avLst>
          </a:prstGeom>
          <a:solidFill>
            <a:srgbClr val="FFFFFF"/>
          </a:solidFill>
          <a:ln w="12700">
            <a:solidFill>
              <a:srgbClr val="C9D3E0"/>
            </a:solidFill>
            <a:prstDash val="solid"/>
          </a:ln>
        </p:spPr>
      </p:sp>
      <p:pic>
        <p:nvPicPr>
          <p:cNvPr id="5" name="layar 1" descr="Tangkapan layar aplikasi (hasil_contoh_05e.jpg)">    </p:cNvPr>
          <p:cNvPicPr>
            <a:picLocks noChangeAspect="1"/>
          </p:cNvPicPr>
          <p:nvPr/>
        </p:nvPicPr>
        <p:blipFill>
          <a:blip r:embed="rId1"/>
          <a:stretch>
            <a:fillRect/>
          </a:stretch>
        </p:blipFill>
        <p:spPr>
          <a:xfrm>
            <a:off x="5333695" y="1371600"/>
            <a:ext cx="3017520" cy="4691473"/>
          </a:xfrm>
          <a:prstGeom prst="rect">
            <a:avLst/>
          </a:prstGeom>
        </p:spPr>
      </p:pic>
      <p:sp>
        <p:nvSpPr>
          <p:cNvPr id="6" name="bingkai layar 2"/>
          <p:cNvSpPr/>
          <p:nvPr/>
        </p:nvSpPr>
        <p:spPr>
          <a:xfrm>
            <a:off x="8570671" y="1316736"/>
            <a:ext cx="3127248" cy="4801201"/>
          </a:xfrm>
          <a:prstGeom prst="roundRect">
            <a:avLst>
              <a:gd name="adj" fmla="val 2924"/>
            </a:avLst>
          </a:prstGeom>
          <a:solidFill>
            <a:srgbClr val="FFFFFF"/>
          </a:solidFill>
          <a:ln w="12700">
            <a:solidFill>
              <a:srgbClr val="C9D3E0"/>
            </a:solidFill>
            <a:prstDash val="solid"/>
          </a:ln>
        </p:spPr>
      </p:sp>
      <p:pic>
        <p:nvPicPr>
          <p:cNvPr id="7" name="layar 2" descr="Tangkapan layar aplikasi (hasil_contoh_05f.jpg)">    </p:cNvPr>
          <p:cNvPicPr>
            <a:picLocks noChangeAspect="1"/>
          </p:cNvPicPr>
          <p:nvPr/>
        </p:nvPicPr>
        <p:blipFill>
          <a:blip r:embed="rId2"/>
          <a:stretch>
            <a:fillRect/>
          </a:stretch>
        </p:blipFill>
        <p:spPr>
          <a:xfrm>
            <a:off x="8625535" y="1371600"/>
            <a:ext cx="3017520" cy="4691473"/>
          </a:xfrm>
          <a:prstGeom prst="rect">
            <a:avLst/>
          </a:prstGeom>
        </p:spPr>
      </p:pic>
      <p:sp>
        <p:nvSpPr>
          <p:cNvPr id="8" name="tombol tautan">
            <a:hlinkClick r:id="rId3" tooltip="https://github.com/antonprafanto/mobile2026/blob/main/pertemuan_13_fitur_perangkat_dan_izin/kode/contoh_05_alur_izin_yang_sopan.dart"/>
          </p:cNvPr>
          <p:cNvSpPr txBox="1"/>
          <p:nvPr/>
        </p:nvSpPr>
        <p:spPr>
          <a:xfrm>
            <a:off x="548640" y="1371600"/>
            <a:ext cx="43278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contoh_05_alur_izin_yang_sopan.dart</a:t>
            </a:r>
            <a:endParaRPr lang="en-US" sz="1300" dirty="0"/>
          </a:p>
        </p:txBody>
      </p:sp>
      <p:pic>
        <p:nvPicPr>
          <p:cNvPr id="9" name="Image 2" descr="ikon tautan">
            <a:hlinkClick r:id="rId5" tooltip="https://github.com/antonprafanto/mobile2026/blob/main/pertemuan_13_fitur_perangkat_dan_izin/kode/contoh_05_alur_izin_yang_sopan.dart"/>
          </p:cNvPr>
          <p:cNvPicPr>
            <a:picLocks noChangeAspect="1"/>
          </p:cNvPicPr>
          <p:nvPr/>
        </p:nvPicPr>
        <p:blipFill>
          <a:blip r:embed="rId4"/>
          <a:stretch>
            <a:fillRect/>
          </a:stretch>
        </p:blipFill>
        <p:spPr>
          <a:xfrm>
            <a:off x="694944" y="1463040"/>
            <a:ext cx="274320" cy="274320"/>
          </a:xfrm>
          <a:prstGeom prst="rect">
            <a:avLst/>
          </a:prstGeom>
        </p:spPr>
      </p:pic>
      <p:sp>
        <p:nvSpPr>
          <p:cNvPr id="10" name="daftar poin"/>
          <p:cNvSpPr txBox="1"/>
          <p:nvPr/>
        </p:nvSpPr>
        <p:spPr>
          <a:xfrm>
            <a:off x="548640" y="2103120"/>
            <a:ext cx="432785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Pengaturan (simulasi): "Izinkan hanya saat aplikasi digunakan".</a:t>
            </a:r>
            <a:endParaRPr lang="en-US" sz="1500" dirty="0"/>
          </a:p>
          <a:p>
            <a:pPr marL="228600" indent="-228600">
              <a:spcAft>
                <a:spcPts val="800"/>
              </a:spcAft>
              <a:buSzPct val="100000"/>
              <a:buChar char="•"/>
            </a:pPr>
            <a:r>
              <a:rPr lang="en-US" sz="1500" dirty="0">
                <a:solidFill>
                  <a:schemeClr val="tx1"/>
                </a:solidFill>
              </a:rPr>
              <a:t>Kembali: daftar langsung diurutkan dari yang terdekat (31 m, 118 m, 205 m, ...).</a:t>
            </a:r>
            <a:endParaRPr lang="en-US" sz="1500" dirty="0"/>
          </a:p>
          <a:p>
            <a:pPr marL="228600" indent="-228600">
              <a:spcAft>
                <a:spcPts val="800"/>
              </a:spcAft>
              <a:buSzPct val="100000"/>
              <a:buChar char="•"/>
            </a:pPr>
            <a:r>
              <a:rPr lang="en-US" sz="1500" dirty="0">
                <a:solidFill>
                  <a:schemeClr val="tx1"/>
                </a:solidFill>
              </a:rPr>
              <a:t>Menu titik tiga: "Tutup lalu buka lagi" (efek Hanya kali ini) dan "Pasang ulang aplikasi".</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Daftar Periksa Izin yang Sopan</a:t>
            </a:r>
            <a:endParaRPr lang="en-US" sz="32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547208"/>
                <a:gridCol w="5547208"/>
              </a:tblGrid>
              <a:tr h="60350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 Lakukan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 Hindari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Minta izin saat pengguna memakai fiturnya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Meminta semua izin saat aplikasi pertama dibuka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Jelaskan manfaatnya sebelum dialog sistem</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Dialog sistem tanpa konteks apa pun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Tetap berfungsi saat izin ditolak, dengan pesan jelas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Aplikasi macet, kosong, atau menutup sendiri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Tawarkan tombol Pengaturan saat izin diblokir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Peringatan berulang-ulang yang memaksa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Periksa ulang saat kembali dari Pengaturan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Menyuruh menutup lalu membuka ulang aplikasi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Minta izin paling kecil yang cukup ("saat dipakai")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Meminta lokasi latar belakang padahal tidak perlu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8</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Mengikuti Lokasi Terus-Menerus</a:t>
            </a:r>
            <a:endParaRPr lang="en-US" sz="4000" dirty="0"/>
          </a:p>
        </p:txBody>
      </p:sp>
      <p:sp>
        <p:nvSpPr>
          <p:cNvPr id="5" name="lingkaran rute"/>
          <p:cNvSpPr/>
          <p:nvPr/>
        </p:nvSpPr>
        <p:spPr>
          <a:xfrm>
            <a:off x="1097280" y="2148840"/>
            <a:ext cx="2011680" cy="2011680"/>
          </a:xfrm>
          <a:prstGeom prst="ellipse">
            <a:avLst/>
          </a:prstGeom>
          <a:solidFill>
            <a:schemeClr val="accent1"/>
          </a:solidFill>
          <a:ln/>
        </p:spPr>
      </p:sp>
      <p:pic>
        <p:nvPicPr>
          <p:cNvPr id="6" name="Image 0" descr="rute">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Sekali Ambil atau Terus Mengikuti?</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kamera"/>
          <p:cNvSpPr/>
          <p:nvPr/>
        </p:nvSpPr>
        <p:spPr>
          <a:xfrm>
            <a:off x="777240" y="1600200"/>
            <a:ext cx="685800" cy="685800"/>
          </a:xfrm>
          <a:prstGeom prst="ellipse">
            <a:avLst/>
          </a:prstGeom>
          <a:solidFill>
            <a:schemeClr val="accent6"/>
          </a:solidFill>
          <a:ln/>
        </p:spPr>
      </p:sp>
      <p:pic>
        <p:nvPicPr>
          <p:cNvPr id="6" name="Image 0" descr="kamera">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getCurrentPosition()</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6"/>
                </a:solidFill>
              </a:rPr>
              <a:t>Future&lt;Position&gt;: satu posisi</a:t>
            </a:r>
            <a:endParaRPr lang="en-US" sz="1400" dirty="0"/>
          </a:p>
        </p:txBody>
      </p:sp>
      <p:sp>
        <p:nvSpPr>
          <p:cNvPr id="9" name="daftar poin"/>
          <p:cNvSpPr txBox="1"/>
          <p:nvPr/>
        </p:nvSpPr>
        <p:spPr>
          <a:xfrm>
            <a:off x="777240"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GPS menyala sebentar, sampai posisi didapat</a:t>
            </a:r>
            <a:endParaRPr lang="en-US" sz="1700" dirty="0"/>
          </a:p>
          <a:p>
            <a:pPr marL="228600" indent="-228600">
              <a:spcAft>
                <a:spcPts val="800"/>
              </a:spcAft>
              <a:buSzPct val="100000"/>
              <a:buChar char="•"/>
            </a:pPr>
            <a:r>
              <a:rPr lang="en-US" sz="1700" dirty="0">
                <a:solidFill>
                  <a:schemeClr val="tx1"/>
                </a:solidFill>
              </a:rPr>
              <a:t>Presensi, menandai lokasi laporan</a:t>
            </a:r>
            <a:endParaRPr lang="en-US" sz="1700" dirty="0"/>
          </a:p>
        </p:txBody>
      </p:sp>
      <p:sp>
        <p:nvSpPr>
          <p:cNvPr id="10" name="kolom 2"/>
          <p:cNvSpPr/>
          <p:nvPr/>
        </p:nvSpPr>
        <p:spPr>
          <a:xfrm>
            <a:off x="6255868" y="1371600"/>
            <a:ext cx="5387188" cy="3931920"/>
          </a:xfrm>
          <a:prstGeom prst="roundRect">
            <a:avLst>
              <a:gd name="adj" fmla="val 2791"/>
            </a:avLst>
          </a:prstGeom>
          <a:solidFill>
            <a:srgbClr val="E3F2FD"/>
          </a:solidFill>
          <a:ln w="25400">
            <a:solidFill>
              <a:schemeClr val="accent1"/>
            </a:solidFill>
            <a:prstDash val="solid"/>
          </a:ln>
        </p:spPr>
      </p:sp>
      <p:sp>
        <p:nvSpPr>
          <p:cNvPr id="11" name="lingkaran rute"/>
          <p:cNvSpPr/>
          <p:nvPr/>
        </p:nvSpPr>
        <p:spPr>
          <a:xfrm>
            <a:off x="6484468" y="1600200"/>
            <a:ext cx="685800" cy="685800"/>
          </a:xfrm>
          <a:prstGeom prst="ellipse">
            <a:avLst/>
          </a:prstGeom>
          <a:solidFill>
            <a:schemeClr val="accent1"/>
          </a:solidFill>
          <a:ln/>
        </p:spPr>
      </p:sp>
      <p:pic>
        <p:nvPicPr>
          <p:cNvPr id="12" name="Image 1" descr="rute">    </p:cNvPr>
          <p:cNvPicPr>
            <a:picLocks noChangeAspect="1"/>
          </p:cNvPicPr>
          <p:nvPr/>
        </p:nvPicPr>
        <p:blipFill>
          <a:blip r:embed="rId2"/>
          <a:stretch>
            <a:fillRect/>
          </a:stretch>
        </p:blipFill>
        <p:spPr>
          <a:xfrm>
            <a:off x="6635344" y="1751076"/>
            <a:ext cx="384048" cy="384048"/>
          </a:xfrm>
          <a:prstGeom prst="rect">
            <a:avLst/>
          </a:prstGeom>
        </p:spPr>
      </p:pic>
      <p:sp>
        <p:nvSpPr>
          <p:cNvPr id="13" name="Text 8"/>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getPositionStream()</a:t>
            </a:r>
            <a:endParaRPr lang="en-US" sz="1900" dirty="0"/>
          </a:p>
        </p:txBody>
      </p:sp>
      <p:sp>
        <p:nvSpPr>
          <p:cNvPr id="14" name="Text 9"/>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1"/>
                </a:solidFill>
              </a:rPr>
              <a:t>Stream&lt;Position&gt;: banyak posisi</a:t>
            </a:r>
            <a:endParaRPr lang="en-US" sz="1400" dirty="0"/>
          </a:p>
        </p:txBody>
      </p:sp>
      <p:sp>
        <p:nvSpPr>
          <p:cNvPr id="15" name="daftar poin"/>
          <p:cNvSpPr txBox="1"/>
          <p:nvPr/>
        </p:nvSpPr>
        <p:spPr>
          <a:xfrm>
            <a:off x="6484468"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GPS menyala TERUS selama masih berlangganan</a:t>
            </a:r>
            <a:endParaRPr lang="en-US" sz="1700" dirty="0"/>
          </a:p>
          <a:p>
            <a:pPr marL="228600" indent="-228600">
              <a:spcAft>
                <a:spcPts val="800"/>
              </a:spcAft>
              <a:buSzPct val="100000"/>
              <a:buChar char="•"/>
            </a:pPr>
            <a:r>
              <a:rPr lang="en-US" sz="1700" dirty="0">
                <a:solidFill>
                  <a:schemeClr val="tx1"/>
                </a:solidFill>
              </a:rPr>
              <a:t>Pencatat olahraga, navigasi</a:t>
            </a:r>
            <a:endParaRPr lang="en-US" sz="1700" dirty="0"/>
          </a:p>
          <a:p>
            <a:pPr marL="228600" indent="-228600">
              <a:spcAft>
                <a:spcPts val="800"/>
              </a:spcAft>
              <a:buSzPct val="100000"/>
              <a:buChar char="•"/>
            </a:pPr>
            <a:r>
              <a:rPr lang="en-US" sz="1700" dirty="0">
                <a:solidFill>
                  <a:schemeClr val="tx1"/>
                </a:solidFill>
              </a:rPr>
              <a:t>Wajib dihentikan: cancel()</a:t>
            </a:r>
            <a:endParaRPr lang="en-US" sz="1700" dirty="0"/>
          </a:p>
        </p:txBody>
      </p:sp>
      <p:sp>
        <p:nvSpPr>
          <p:cNvPr id="16" name="lingkaran lampu"/>
          <p:cNvSpPr/>
          <p:nvPr/>
        </p:nvSpPr>
        <p:spPr>
          <a:xfrm>
            <a:off x="548640" y="5532120"/>
            <a:ext cx="548640" cy="548640"/>
          </a:xfrm>
          <a:prstGeom prst="ellipse">
            <a:avLst/>
          </a:prstGeom>
          <a:solidFill>
            <a:schemeClr val="accent3"/>
          </a:solidFill>
          <a:ln/>
        </p:spPr>
      </p:sp>
      <p:pic>
        <p:nvPicPr>
          <p:cNvPr id="17"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18" name="Text 12"/>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Contoh 06 "Jalan Pagi" memakai getPositionStream untuk mencatat jarak jalan kaki, hanya SELAMA aplikasi terbuka.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Berlangganan: Membuka Keran</a:t>
            </a:r>
            <a:endParaRPr lang="en-US" sz="3200" dirty="0"/>
          </a:p>
        </p:txBody>
      </p:sp>
      <p:sp>
        <p:nvSpPr>
          <p:cNvPr id="4" name="kotak kode"/>
          <p:cNvSpPr txBox="1"/>
          <p:nvPr/>
        </p:nvSpPr>
        <p:spPr>
          <a:xfrm>
            <a:off x="548640" y="1371600"/>
            <a:ext cx="6949440" cy="2907792"/>
          </a:xfrm>
          <a:prstGeom prst="roundRect">
            <a:avLst>
              <a:gd name="adj" fmla="val 3145"/>
            </a:avLst>
          </a:prstGeom>
          <a:solidFill>
            <a:srgbClr val="0E1A2B"/>
          </a:solidFill>
          <a:ln/>
        </p:spPr>
        <p:txBody>
          <a:bodyPr wrap="square" lIns="177800" tIns="152400" rIns="152400" bIns="177800" rtlCol="0" anchor="t"/>
          <a:lstStyle/>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Dua "keran" yang harus ditutup: langganan lokasi dan pewaktu.</a:t>
            </a:r>
            <a:endParaRPr lang="en-US" sz="1300" dirty="0"/>
          </a:p>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StreamSubscription</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Position</a:t>
            </a:r>
            <a:r>
              <a:rPr lang="en-US" sz="1300" dirty="0">
                <a:solidFill>
                  <a:srgbClr val="E6EDF3"/>
                </a:solidFill>
                <a:latin typeface="Consolas" pitchFamily="34" charset="0"/>
                <a:ea typeface="Consolas" pitchFamily="34" charset="-122"/>
                <a:cs typeface="Consolas" pitchFamily="34" charset="-120"/>
              </a:rPr>
              <a:t>&gt;? _langganan;</a:t>
            </a:r>
            <a:endParaRPr lang="en-US" sz="1300" dirty="0"/>
          </a:p>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Timer</a:t>
            </a:r>
            <a:r>
              <a:rPr lang="en-US" sz="1300" dirty="0">
                <a:solidFill>
                  <a:srgbClr val="E6EDF3"/>
                </a:solidFill>
                <a:latin typeface="Consolas" pitchFamily="34" charset="0"/>
                <a:ea typeface="Consolas" pitchFamily="34" charset="-122"/>
                <a:cs typeface="Consolas" pitchFamily="34" charset="-120"/>
              </a:rPr>
              <a:t>? _pewaktu;</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Di _mulai(), setelah layanan dan izin siap:</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Mulai berlangganan. Selama langganan aktif, GPS menyala.</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_langganan = </a:t>
            </a:r>
            <a:r>
              <a:rPr lang="en-US" sz="1300" dirty="0">
                <a:solidFill>
                  <a:srgbClr val="FFCB6B"/>
                </a:solidFill>
                <a:latin typeface="Consolas" pitchFamily="34" charset="0"/>
                <a:ea typeface="Consolas" pitchFamily="34" charset="-122"/>
                <a:cs typeface="Consolas" pitchFamily="34" charset="-120"/>
              </a:rPr>
              <a:t>Geolocator</a:t>
            </a:r>
            <a:r>
              <a:rPr lang="en-US" sz="1300" dirty="0">
                <a:solidFill>
                  <a:srgbClr val="E6EDF3"/>
                </a:solidFill>
                <a:latin typeface="Consolas" pitchFamily="34" charset="0"/>
                <a:ea typeface="Consolas" pitchFamily="34" charset="-122"/>
                <a:cs typeface="Consolas" pitchFamily="34" charset="-120"/>
              </a:rPr>
              <a:t>.getPositionStream(</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locationSettings: </a:t>
            </a:r>
            <a:r>
              <a:rPr lang="en-US" sz="1300" dirty="0">
                <a:solidFill>
                  <a:srgbClr val="C792EA"/>
                </a:solidFill>
                <a:latin typeface="Consolas" pitchFamily="34" charset="0"/>
                <a:ea typeface="Consolas" pitchFamily="34" charset="-122"/>
                <a:cs typeface="Consolas" pitchFamily="34" charset="-120"/>
              </a:rPr>
              <a:t>const</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LocationSettings</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accuracy: </a:t>
            </a:r>
            <a:r>
              <a:rPr lang="en-US" sz="1300" dirty="0">
                <a:solidFill>
                  <a:srgbClr val="FFCB6B"/>
                </a:solidFill>
                <a:latin typeface="Consolas" pitchFamily="34" charset="0"/>
                <a:ea typeface="Consolas" pitchFamily="34" charset="-122"/>
                <a:cs typeface="Consolas" pitchFamily="34" charset="-120"/>
              </a:rPr>
              <a:t>LocationAccuracy</a:t>
            </a:r>
            <a:r>
              <a:rPr lang="en-US" sz="1300" dirty="0">
                <a:solidFill>
                  <a:srgbClr val="E6EDF3"/>
                </a:solidFill>
                <a:latin typeface="Consolas" pitchFamily="34" charset="0"/>
                <a:ea typeface="Consolas" pitchFamily="34" charset="-122"/>
                <a:cs typeface="Consolas" pitchFamily="34" charset="-120"/>
              </a:rPr>
              <a:t>.high,</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distanceFilter: </a:t>
            </a:r>
            <a:r>
              <a:rPr lang="en-US" sz="1300" dirty="0">
                <a:solidFill>
                  <a:srgbClr val="F78C6C"/>
                </a:solidFill>
                <a:latin typeface="Consolas" pitchFamily="34" charset="0"/>
                <a:ea typeface="Consolas" pitchFamily="34" charset="-122"/>
                <a:cs typeface="Consolas" pitchFamily="34" charset="-120"/>
              </a:rPr>
              <a:t>5</a:t>
            </a:r>
            <a:r>
              <a:rPr lang="en-US" sz="1300" dirty="0">
                <a:solidFill>
                  <a:srgbClr val="E6EDF3"/>
                </a:solidFill>
                <a:latin typeface="Consolas" pitchFamily="34" charset="0"/>
                <a:ea typeface="Consolas" pitchFamily="34" charset="-122"/>
                <a:cs typeface="Consolas" pitchFamily="34" charset="-120"/>
              </a:rPr>
              <a:t>, </a:t>
            </a:r>
            <a:r>
              <a:rPr lang="en-US" sz="1300" i="1" dirty="0">
                <a:solidFill>
                  <a:srgbClr val="8FA3BC"/>
                </a:solidFill>
                <a:latin typeface="Consolas" pitchFamily="34" charset="0"/>
                <a:ea typeface="Consolas" pitchFamily="34" charset="-122"/>
                <a:cs typeface="Consolas" pitchFamily="34" charset="-120"/>
              </a:rPr>
              <a:t>// kirim posisi baru setiap pindah &gt;= 5 m</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).listen(_titikBaru, onError: _galatLokasi);</a:t>
            </a:r>
            <a:endParaRPr lang="en-US" sz="1300" dirty="0"/>
          </a:p>
        </p:txBody>
      </p:sp>
      <p:sp>
        <p:nvSpPr>
          <p:cNvPr id="5" name="tombol tautan">
            <a:hlinkClick r:id="rId1" tooltip="https://github.com/antonprafanto/mobile2026/blob/main/pertemuan_13_fitur_perangkat_dan_izin/kode/contoh_06_lokasi_terus_menerus.dart"/>
          </p:cNvPr>
          <p:cNvSpPr txBox="1"/>
          <p:nvPr/>
        </p:nvSpPr>
        <p:spPr>
          <a:xfrm>
            <a:off x="548640" y="4507992"/>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contoh_06_lokasi_terus_menerus.dart</a:t>
            </a:r>
            <a:endParaRPr lang="en-US" sz="1300" dirty="0"/>
          </a:p>
        </p:txBody>
      </p:sp>
      <p:pic>
        <p:nvPicPr>
          <p:cNvPr id="6" name="Image 0" descr="ikon tautan">
            <a:hlinkClick r:id="rId3" tooltip="https://github.com/antonprafanto/mobile2026/blob/main/pertemuan_13_fitur_perangkat_dan_izin/kode/contoh_06_lokasi_terus_menerus.dart"/>
          </p:cNvPr>
          <p:cNvPicPr>
            <a:picLocks noChangeAspect="1"/>
          </p:cNvPicPr>
          <p:nvPr/>
        </p:nvPicPr>
        <p:blipFill>
          <a:blip r:embed="rId2"/>
          <a:stretch>
            <a:fillRect/>
          </a:stretch>
        </p:blipFill>
        <p:spPr>
          <a:xfrm>
            <a:off x="694944" y="4599432"/>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Langganan = KERAN AIR: selama terbuka, posisi mengalir dan baterai terpakai.</a:t>
            </a:r>
            <a:endParaRPr lang="en-US" sz="1700" dirty="0"/>
          </a:p>
          <a:p>
            <a:pPr marL="228600" indent="-228600">
              <a:spcAft>
                <a:spcPts val="800"/>
              </a:spcAft>
              <a:buSzPct val="100000"/>
              <a:buChar char="•"/>
            </a:pPr>
            <a:r>
              <a:rPr lang="en-US" sz="1700" dirty="0">
                <a:solidFill>
                  <a:schemeClr val="tx1"/>
                </a:solidFill>
              </a:rPr>
              <a:t>_titikBaru dipanggil untuk setiap posisi baru; _galatLokasi jika terjadi galat.</a:t>
            </a:r>
            <a:endParaRPr lang="en-US" sz="1700" dirty="0"/>
          </a:p>
          <a:p>
            <a:pPr marL="228600" indent="-228600">
              <a:spcAft>
                <a:spcPts val="800"/>
              </a:spcAft>
              <a:buSzPct val="100000"/>
              <a:buChar char="•"/>
            </a:pPr>
            <a:r>
              <a:rPr lang="en-US" sz="1700" dirty="0">
                <a:solidFill>
                  <a:schemeClr val="tx1"/>
                </a:solidFill>
              </a:rPr>
              <a:t>distanceFilter: 5 → posisi baru hanya jika berpindah ≥ 5 m; mengurangi pekerjaan dan "getaran" titik saat diam.</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Berhenti: Menutup Keran</a:t>
            </a:r>
            <a:endParaRPr lang="en-US" sz="3200" dirty="0"/>
          </a:p>
        </p:txBody>
      </p:sp>
      <p:sp>
        <p:nvSpPr>
          <p:cNvPr id="4" name="kotak kode"/>
          <p:cNvSpPr txBox="1"/>
          <p:nvPr/>
        </p:nvSpPr>
        <p:spPr>
          <a:xfrm>
            <a:off x="548640" y="1371600"/>
            <a:ext cx="6035040" cy="3995928"/>
          </a:xfrm>
          <a:prstGeom prst="roundRect">
            <a:avLst>
              <a:gd name="adj" fmla="val 2288"/>
            </a:avLst>
          </a:prstGeom>
          <a:solidFill>
            <a:srgbClr val="0E1A2B"/>
          </a:solidFill>
          <a:ln/>
        </p:spPr>
        <p:txBody>
          <a:bodyPr wrap="square" lIns="177800" tIns="152400" rIns="152400" bIns="177800" rtlCol="0" anchor="t"/>
          <a:lstStyle/>
          <a:p>
            <a:pPr indent="0" marL="0">
              <a:lnSpc>
                <a:spcPct val="105000"/>
              </a:lnSpc>
              <a:buNone/>
            </a:pPr>
            <a:r>
              <a:rPr lang="en-US" sz="1400" dirty="0">
                <a:solidFill>
                  <a:srgbClr val="C792EA"/>
                </a:solidFill>
                <a:latin typeface="Consolas" pitchFamily="34" charset="0"/>
                <a:ea typeface="Consolas" pitchFamily="34" charset="-122"/>
                <a:cs typeface="Consolas" pitchFamily="34" charset="-120"/>
              </a:rPr>
              <a:t>void</a:t>
            </a:r>
            <a:r>
              <a:rPr lang="en-US" sz="1400" dirty="0">
                <a:solidFill>
                  <a:srgbClr val="E6EDF3"/>
                </a:solidFill>
                <a:latin typeface="Consolas" pitchFamily="34" charset="0"/>
                <a:ea typeface="Consolas" pitchFamily="34" charset="-122"/>
                <a:cs typeface="Consolas" pitchFamily="34" charset="-120"/>
              </a:rPr>
              <a:t> _berhenti()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_langganan?.cancel();</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_pewaktu?.cancel();</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setState(()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_langganan = </a:t>
            </a:r>
            <a:r>
              <a:rPr lang="en-US" sz="1400" dirty="0">
                <a:solidFill>
                  <a:srgbClr val="C792EA"/>
                </a:solidFill>
                <a:latin typeface="Consolas" pitchFamily="34" charset="0"/>
                <a:ea typeface="Consolas" pitchFamily="34" charset="-122"/>
                <a:cs typeface="Consolas" pitchFamily="34" charset="-120"/>
              </a:rPr>
              <a:t>null</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_pewaktu = </a:t>
            </a:r>
            <a:r>
              <a:rPr lang="en-US" sz="1400" dirty="0">
                <a:solidFill>
                  <a:srgbClr val="C792EA"/>
                </a:solidFill>
                <a:latin typeface="Consolas" pitchFamily="34" charset="0"/>
                <a:ea typeface="Consolas" pitchFamily="34" charset="-122"/>
                <a:cs typeface="Consolas" pitchFamily="34" charset="-120"/>
              </a:rPr>
              <a:t>null</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89DDFF"/>
                </a:solidFill>
                <a:latin typeface="Consolas" pitchFamily="34" charset="0"/>
                <a:ea typeface="Consolas" pitchFamily="34" charset="-122"/>
                <a:cs typeface="Consolas" pitchFamily="34" charset="-120"/>
              </a:rPr>
              <a:t>@override</a:t>
            </a:r>
            <a:endParaRPr lang="en-US" sz="1400" dirty="0"/>
          </a:p>
          <a:p>
            <a:pPr indent="0" marL="0">
              <a:lnSpc>
                <a:spcPct val="105000"/>
              </a:lnSpc>
              <a:buNone/>
            </a:pPr>
            <a:r>
              <a:rPr lang="en-US" sz="1400" dirty="0">
                <a:solidFill>
                  <a:srgbClr val="C792EA"/>
                </a:solidFill>
                <a:latin typeface="Consolas" pitchFamily="34" charset="0"/>
                <a:ea typeface="Consolas" pitchFamily="34" charset="-122"/>
                <a:cs typeface="Consolas" pitchFamily="34" charset="-120"/>
              </a:rPr>
              <a:t>void</a:t>
            </a:r>
            <a:r>
              <a:rPr lang="en-US" sz="1400" dirty="0">
                <a:solidFill>
                  <a:srgbClr val="E6EDF3"/>
                </a:solidFill>
                <a:latin typeface="Consolas" pitchFamily="34" charset="0"/>
                <a:ea typeface="Consolas" pitchFamily="34" charset="-122"/>
                <a:cs typeface="Consolas" pitchFamily="34" charset="-120"/>
              </a:rPr>
              <a:t> dispose()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i="1" dirty="0">
                <a:solidFill>
                  <a:srgbClr val="8FA3BC"/>
                </a:solidFill>
                <a:latin typeface="Consolas" pitchFamily="34" charset="0"/>
                <a:ea typeface="Consolas" pitchFamily="34" charset="-122"/>
                <a:cs typeface="Consolas" pitchFamily="34" charset="-120"/>
              </a:rPr>
              <a:t>// Halaman ditutup: hentikan GPS dan pewaktu.</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_langganan?.cancel();</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_pewaktu?.cancel();</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super</a:t>
            </a:r>
            <a:r>
              <a:rPr lang="en-US" sz="1400" dirty="0">
                <a:solidFill>
                  <a:srgbClr val="E6EDF3"/>
                </a:solidFill>
                <a:latin typeface="Consolas" pitchFamily="34" charset="0"/>
                <a:ea typeface="Consolas" pitchFamily="34" charset="-122"/>
                <a:cs typeface="Consolas" pitchFamily="34" charset="-120"/>
              </a:rPr>
              <a:t>.dispose();</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5" name="tombol tautan">
            <a:hlinkClick r:id="rId1" tooltip="https://github.com/antonprafanto/mobile2026/blob/main/pertemuan_13_fitur_perangkat_dan_izin/kode/contoh_06_lokasi_terus_menerus.dart"/>
          </p:cNvPr>
          <p:cNvSpPr txBox="1"/>
          <p:nvPr/>
        </p:nvSpPr>
        <p:spPr>
          <a:xfrm>
            <a:off x="548640" y="5596128"/>
            <a:ext cx="60350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contoh_06_lokasi_terus_menerus.dart</a:t>
            </a:r>
            <a:endParaRPr lang="en-US" sz="1300" dirty="0"/>
          </a:p>
        </p:txBody>
      </p:sp>
      <p:pic>
        <p:nvPicPr>
          <p:cNvPr id="6" name="Image 0" descr="ikon tautan">
            <a:hlinkClick r:id="rId3" tooltip="https://github.com/antonprafanto/mobile2026/blob/main/pertemuan_13_fitur_perangkat_dan_izin/kode/contoh_06_lokasi_terus_menerus.dart"/>
          </p:cNvPr>
          <p:cNvPicPr>
            <a:picLocks noChangeAspect="1"/>
          </p:cNvPicPr>
          <p:nvPr/>
        </p:nvPicPr>
        <p:blipFill>
          <a:blip r:embed="rId2"/>
          <a:stretch>
            <a:fillRect/>
          </a:stretch>
        </p:blipFill>
        <p:spPr>
          <a:xfrm>
            <a:off x="694944" y="5687568"/>
            <a:ext cx="274320" cy="274320"/>
          </a:xfrm>
          <a:prstGeom prst="rect">
            <a:avLst/>
          </a:prstGeom>
        </p:spPr>
      </p:pic>
      <p:sp>
        <p:nvSpPr>
          <p:cNvPr id="7" name="daftar poin"/>
          <p:cNvSpPr txBox="1"/>
          <p:nvPr/>
        </p:nvSpPr>
        <p:spPr>
          <a:xfrm>
            <a:off x="6995160" y="1417320"/>
            <a:ext cx="46478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cancel() menutup keran: GPS boleh dimatikan sistem.</a:t>
            </a:r>
            <a:endParaRPr lang="en-US" sz="1700" dirty="0"/>
          </a:p>
          <a:p>
            <a:pPr marL="228600" indent="-228600">
              <a:spcAft>
                <a:spcPts val="800"/>
              </a:spcAft>
              <a:buSzPct val="100000"/>
              <a:buChar char="•"/>
            </a:pPr>
            <a:r>
              <a:rPr lang="en-US" sz="1700" dirty="0">
                <a:solidFill>
                  <a:schemeClr val="tx1"/>
                </a:solidFill>
              </a:rPr>
              <a:t>Lupa cancel → GPS tetap menyala walau halaman sudah ditutup; baterai terkuras tanpa disadari.</a:t>
            </a:r>
            <a:endParaRPr lang="en-US" sz="1700" dirty="0"/>
          </a:p>
          <a:p>
            <a:pPr marL="228600" indent="-228600">
              <a:spcAft>
                <a:spcPts val="800"/>
              </a:spcAft>
              <a:buSzPct val="100000"/>
              <a:buChar char="•"/>
            </a:pPr>
            <a:r>
              <a:rPr lang="en-US" sz="1700" dirty="0">
                <a:solidFill>
                  <a:schemeClr val="tx1"/>
                </a:solidFill>
              </a:rPr>
              <a:t>dispose(): tempat terakhir menutup keran, misalnya saat pengguna menekan tombol kembali.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Menyaring Titik yang Kabur</a:t>
            </a:r>
            <a:endParaRPr lang="en-US" sz="3200" dirty="0"/>
          </a:p>
        </p:txBody>
      </p:sp>
      <p:sp>
        <p:nvSpPr>
          <p:cNvPr id="4" name="kotak kode"/>
          <p:cNvSpPr txBox="1"/>
          <p:nvPr/>
        </p:nvSpPr>
        <p:spPr>
          <a:xfrm>
            <a:off x="548640" y="1371600"/>
            <a:ext cx="6035040" cy="3867912"/>
          </a:xfrm>
          <a:prstGeom prst="roundRect">
            <a:avLst>
              <a:gd name="adj" fmla="val 2364"/>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void</a:t>
            </a:r>
            <a:r>
              <a:rPr lang="en-US" sz="1200" dirty="0">
                <a:solidFill>
                  <a:srgbClr val="E6EDF3"/>
                </a:solidFill>
                <a:latin typeface="Consolas" pitchFamily="34" charset="0"/>
                <a:ea typeface="Consolas" pitchFamily="34" charset="-122"/>
                <a:cs typeface="Consolas" pitchFamily="34" charset="-120"/>
              </a:rPr>
              <a:t> _titikBaru(</a:t>
            </a:r>
            <a:r>
              <a:rPr lang="en-US" sz="1200" dirty="0">
                <a:solidFill>
                  <a:srgbClr val="FFCB6B"/>
                </a:solidFill>
                <a:latin typeface="Consolas" pitchFamily="34" charset="0"/>
                <a:ea typeface="Consolas" pitchFamily="34" charset="-122"/>
                <a:cs typeface="Consolas" pitchFamily="34" charset="-120"/>
              </a:rPr>
              <a:t>Position</a:t>
            </a:r>
            <a:r>
              <a:rPr lang="en-US" sz="1200" dirty="0">
                <a:solidFill>
                  <a:srgbClr val="E6EDF3"/>
                </a:solidFill>
                <a:latin typeface="Consolas" pitchFamily="34" charset="0"/>
                <a:ea typeface="Consolas" pitchFamily="34" charset="-122"/>
                <a:cs typeface="Consolas" pitchFamily="34" charset="-120"/>
              </a:rPr>
              <a:t> p)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(p.accuracy &gt; </a:t>
            </a:r>
            <a:r>
              <a:rPr lang="en-US" sz="1200" dirty="0">
                <a:solidFill>
                  <a:srgbClr val="F78C6C"/>
                </a:solidFill>
                <a:latin typeface="Consolas" pitchFamily="34" charset="0"/>
                <a:ea typeface="Consolas" pitchFamily="34" charset="-122"/>
                <a:cs typeface="Consolas" pitchFamily="34" charset="-120"/>
              </a:rPr>
              <a:t>25</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setState(() =&gt; _diabaikan++); </a:t>
            </a:r>
            <a:r>
              <a:rPr lang="en-US" sz="1200" i="1" dirty="0">
                <a:solidFill>
                  <a:srgbClr val="8FA3BC"/>
                </a:solidFill>
                <a:latin typeface="Consolas" pitchFamily="34" charset="0"/>
                <a:ea typeface="Consolas" pitchFamily="34" charset="-122"/>
                <a:cs typeface="Consolas" pitchFamily="34" charset="-120"/>
              </a:rPr>
              <a:t>// terlalu kabur, abaikan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setState(()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(_titik.isNotEmpty)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Position</a:t>
            </a:r>
            <a:r>
              <a:rPr lang="en-US" sz="1200" dirty="0">
                <a:solidFill>
                  <a:srgbClr val="E6EDF3"/>
                </a:solidFill>
                <a:latin typeface="Consolas" pitchFamily="34" charset="0"/>
                <a:ea typeface="Consolas" pitchFamily="34" charset="-122"/>
                <a:cs typeface="Consolas" pitchFamily="34" charset="-120"/>
              </a:rPr>
              <a:t> sebelum = _titik.last;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_totalMeter += </a:t>
            </a:r>
            <a:r>
              <a:rPr lang="en-US" sz="1200" dirty="0">
                <a:solidFill>
                  <a:srgbClr val="FFCB6B"/>
                </a:solidFill>
                <a:latin typeface="Consolas" pitchFamily="34" charset="0"/>
                <a:ea typeface="Consolas" pitchFamily="34" charset="-122"/>
                <a:cs typeface="Consolas" pitchFamily="34" charset="-120"/>
              </a:rPr>
              <a:t>Geolocator</a:t>
            </a:r>
            <a:r>
              <a:rPr lang="en-US" sz="1200" dirty="0">
                <a:solidFill>
                  <a:srgbClr val="E6EDF3"/>
                </a:solidFill>
                <a:latin typeface="Consolas" pitchFamily="34" charset="0"/>
                <a:ea typeface="Consolas" pitchFamily="34" charset="-122"/>
                <a:cs typeface="Consolas" pitchFamily="34" charset="-120"/>
              </a:rPr>
              <a:t>.distanceBetween(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sebelum.latitude,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sebelum.longitude,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p.latitude,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p.longitude,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_titik.add(p);</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3_fitur_perangkat_dan_izin/kode/contoh_06_lokasi_terus_menerus.dart"/>
          </p:cNvPr>
          <p:cNvSpPr txBox="1"/>
          <p:nvPr/>
        </p:nvSpPr>
        <p:spPr>
          <a:xfrm>
            <a:off x="548640" y="5468112"/>
            <a:ext cx="60350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contoh_06_lokasi_terus_menerus.dart</a:t>
            </a:r>
            <a:endParaRPr lang="en-US" sz="1300" dirty="0"/>
          </a:p>
        </p:txBody>
      </p:sp>
      <p:pic>
        <p:nvPicPr>
          <p:cNvPr id="6" name="Image 0" descr="ikon tautan">
            <a:hlinkClick r:id="rId3" tooltip="https://github.com/antonprafanto/mobile2026/blob/main/pertemuan_13_fitur_perangkat_dan_izin/kode/contoh_06_lokasi_terus_menerus.dart"/>
          </p:cNvPr>
          <p:cNvPicPr>
            <a:picLocks noChangeAspect="1"/>
          </p:cNvPicPr>
          <p:nvPr/>
        </p:nvPicPr>
        <p:blipFill>
          <a:blip r:embed="rId2"/>
          <a:stretch>
            <a:fillRect/>
          </a:stretch>
        </p:blipFill>
        <p:spPr>
          <a:xfrm>
            <a:off x="694944" y="5559552"/>
            <a:ext cx="274320" cy="274320"/>
          </a:xfrm>
          <a:prstGeom prst="rect">
            <a:avLst/>
          </a:prstGeom>
        </p:spPr>
      </p:pic>
      <p:sp>
        <p:nvSpPr>
          <p:cNvPr id="7" name="daftar poin"/>
          <p:cNvSpPr txBox="1"/>
          <p:nvPr/>
        </p:nvSpPr>
        <p:spPr>
          <a:xfrm>
            <a:off x="6995160" y="1417320"/>
            <a:ext cx="46478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GPS kadang mengirim posisi berakurasi buruk, misalnya saat melewati gedung tinggi.</a:t>
            </a:r>
            <a:endParaRPr lang="en-US" sz="1700" dirty="0"/>
          </a:p>
          <a:p>
            <a:pPr marL="228600" indent="-228600">
              <a:spcAft>
                <a:spcPts val="800"/>
              </a:spcAft>
              <a:buSzPct val="100000"/>
              <a:buChar char="•"/>
            </a:pPr>
            <a:r>
              <a:rPr lang="en-US" sz="1700" dirty="0">
                <a:solidFill>
                  <a:schemeClr val="tx1"/>
                </a:solidFill>
              </a:rPr>
              <a:t>Jika ikut dijumlahkan, total jarak "melompat" puluhan meter.</a:t>
            </a:r>
            <a:endParaRPr lang="en-US" sz="1700" dirty="0"/>
          </a:p>
          <a:p>
            <a:pPr marL="228600" indent="-228600">
              <a:spcAft>
                <a:spcPts val="800"/>
              </a:spcAft>
              <a:buSzPct val="100000"/>
              <a:buChar char="•"/>
            </a:pPr>
            <a:r>
              <a:rPr lang="en-US" sz="1700" dirty="0">
                <a:solidFill>
                  <a:schemeClr val="tx1"/>
                </a:solidFill>
              </a:rPr>
              <a:t>Contoh 06 mengabaikan titik dengan akurasi lebih dari 25 m, dan menghitung berapa yang diabaikan.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Galat di Tengah Jalan</a:t>
            </a:r>
            <a:endParaRPr lang="en-US" sz="3200" dirty="0"/>
          </a:p>
        </p:txBody>
      </p:sp>
      <p:sp>
        <p:nvSpPr>
          <p:cNvPr id="4" name="kotak kode"/>
          <p:cNvSpPr txBox="1"/>
          <p:nvPr/>
        </p:nvSpPr>
        <p:spPr>
          <a:xfrm>
            <a:off x="548640" y="1371600"/>
            <a:ext cx="6949440" cy="2907792"/>
          </a:xfrm>
          <a:prstGeom prst="roundRect">
            <a:avLst>
              <a:gd name="adj" fmla="val 314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void</a:t>
            </a:r>
            <a:r>
              <a:rPr lang="en-US" sz="1300" dirty="0">
                <a:solidFill>
                  <a:srgbClr val="E6EDF3"/>
                </a:solidFill>
                <a:latin typeface="Consolas" pitchFamily="34" charset="0"/>
                <a:ea typeface="Consolas" pitchFamily="34" charset="-122"/>
                <a:cs typeface="Consolas" pitchFamily="34" charset="-120"/>
              </a:rPr>
              <a:t> _galatLokasi(</a:t>
            </a:r>
            <a:r>
              <a:rPr lang="en-US" sz="1300" dirty="0">
                <a:solidFill>
                  <a:srgbClr val="FFCB6B"/>
                </a:solidFill>
                <a:latin typeface="Consolas" pitchFamily="34" charset="0"/>
                <a:ea typeface="Consolas" pitchFamily="34" charset="-122"/>
                <a:cs typeface="Consolas" pitchFamily="34" charset="-120"/>
              </a:rPr>
              <a:t>Object</a:t>
            </a:r>
            <a:r>
              <a:rPr lang="en-US" sz="1300" dirty="0">
                <a:solidFill>
                  <a:srgbClr val="E6EDF3"/>
                </a:solidFill>
                <a:latin typeface="Consolas" pitchFamily="34" charset="0"/>
                <a:ea typeface="Consolas" pitchFamily="34" charset="-122"/>
                <a:cs typeface="Consolas" pitchFamily="34" charset="-120"/>
              </a:rPr>
              <a:t> galat)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_berhenti();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setState(()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_pesan = </a:t>
            </a:r>
            <a:r>
              <a:rPr lang="en-US" sz="1300" dirty="0">
                <a:solidFill>
                  <a:srgbClr val="C792EA"/>
                </a:solidFill>
                <a:latin typeface="Consolas" pitchFamily="34" charset="0"/>
                <a:ea typeface="Consolas" pitchFamily="34" charset="-122"/>
                <a:cs typeface="Consolas" pitchFamily="34" charset="-120"/>
              </a:rPr>
              <a:t>switch</a:t>
            </a:r>
            <a:r>
              <a:rPr lang="en-US" sz="1300" dirty="0">
                <a:solidFill>
                  <a:srgbClr val="E6EDF3"/>
                </a:solidFill>
                <a:latin typeface="Consolas" pitchFamily="34" charset="0"/>
                <a:ea typeface="Consolas" pitchFamily="34" charset="-122"/>
                <a:cs typeface="Consolas" pitchFamily="34" charset="-120"/>
              </a:rPr>
              <a:t> (galat)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LocationServiceDisabledException</a:t>
            </a:r>
            <a:r>
              <a:rPr lang="en-US" sz="1300" dirty="0">
                <a:solidFill>
                  <a:srgbClr val="E6EDF3"/>
                </a:solidFill>
                <a:latin typeface="Consolas" pitchFamily="34" charset="0"/>
                <a:ea typeface="Consolas" pitchFamily="34" charset="-122"/>
                <a:cs typeface="Consolas" pitchFamily="34" charset="-120"/>
              </a:rPr>
              <a:t>() =&gt;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'Layanan lokasi dimatikan, jadi pencatatan dihentikan.'</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PermissionDeniedException</a:t>
            </a:r>
            <a:r>
              <a:rPr lang="en-US" sz="1300" dirty="0">
                <a:solidFill>
                  <a:srgbClr val="E6EDF3"/>
                </a:solidFill>
                <a:latin typeface="Consolas" pitchFamily="34" charset="0"/>
                <a:ea typeface="Consolas" pitchFamily="34" charset="-122"/>
                <a:cs typeface="Consolas" pitchFamily="34" charset="-120"/>
              </a:rPr>
              <a:t>() =&gt;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'Izin lokasi dicabut, jadi pencatatan dihentikan.'</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 =&gt; </a:t>
            </a:r>
            <a:r>
              <a:rPr lang="en-US" sz="1300" dirty="0">
                <a:solidFill>
                  <a:srgbClr val="C3E88D"/>
                </a:solidFill>
                <a:latin typeface="Consolas" pitchFamily="34" charset="0"/>
                <a:ea typeface="Consolas" pitchFamily="34" charset="-122"/>
                <a:cs typeface="Consolas" pitchFamily="34" charset="-120"/>
              </a:rPr>
              <a:t>'Lokasi terputus, jadi pencatatan dihentikan.'</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5" name="tombol tautan">
            <a:hlinkClick r:id="rId1" tooltip="https://github.com/antonprafanto/mobile2026/blob/main/pertemuan_13_fitur_perangkat_dan_izin/kode/contoh_06_lokasi_terus_menerus.dart"/>
          </p:cNvPr>
          <p:cNvSpPr txBox="1"/>
          <p:nvPr/>
        </p:nvSpPr>
        <p:spPr>
          <a:xfrm>
            <a:off x="548640" y="4507992"/>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contoh_06_lokasi_terus_menerus.dart</a:t>
            </a:r>
            <a:endParaRPr lang="en-US" sz="1300" dirty="0"/>
          </a:p>
        </p:txBody>
      </p:sp>
      <p:pic>
        <p:nvPicPr>
          <p:cNvPr id="6" name="Image 0" descr="ikon tautan">
            <a:hlinkClick r:id="rId3" tooltip="https://github.com/antonprafanto/mobile2026/blob/main/pertemuan_13_fitur_perangkat_dan_izin/kode/contoh_06_lokasi_terus_menerus.dart"/>
          </p:cNvPr>
          <p:cNvPicPr>
            <a:picLocks noChangeAspect="1"/>
          </p:cNvPicPr>
          <p:nvPr/>
        </p:nvPicPr>
        <p:blipFill>
          <a:blip r:embed="rId2"/>
          <a:stretch>
            <a:fillRect/>
          </a:stretch>
        </p:blipFill>
        <p:spPr>
          <a:xfrm>
            <a:off x="694944" y="4599432"/>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Saat mencatat, pengguna bisa mematikan sakelar Lokasi atau mencabut izin.</a:t>
            </a:r>
            <a:endParaRPr lang="en-US" sz="1700" dirty="0"/>
          </a:p>
          <a:p>
            <a:pPr marL="228600" indent="-228600">
              <a:spcAft>
                <a:spcPts val="800"/>
              </a:spcAft>
              <a:buSzPct val="100000"/>
              <a:buChar char="•"/>
            </a:pPr>
            <a:r>
              <a:rPr lang="en-US" sz="1700" dirty="0">
                <a:solidFill>
                  <a:schemeClr val="tx1"/>
                </a:solidFill>
              </a:rPr>
              <a:t>Galat datang lewat onError → pencatatan dihentikan dengan pesan yang jelas.</a:t>
            </a:r>
            <a:endParaRPr lang="en-US" sz="1700" dirty="0"/>
          </a:p>
          <a:p>
            <a:pPr marL="228600" indent="-228600">
              <a:spcAft>
                <a:spcPts val="800"/>
              </a:spcAft>
              <a:buSzPct val="100000"/>
              <a:buChar char="•"/>
            </a:pPr>
            <a:r>
              <a:rPr lang="en-US" sz="1700" dirty="0">
                <a:solidFill>
                  <a:schemeClr val="tx1"/>
                </a:solidFill>
              </a:rPr>
              <a:t>switch atas jenis galat, dengan pola objek seperti LocationServiceDisabledException().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06: Jalan Pagi</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6a.jpg)">    </p:cNvPr>
          <p:cNvPicPr>
            <a:picLocks noChangeAspect="1"/>
          </p:cNvPicPr>
          <p:nvPr/>
        </p:nvPicPr>
        <p:blipFill>
          <a:blip r:embed="rId1"/>
          <a:stretch>
            <a:fillRect/>
          </a:stretch>
        </p:blipFill>
        <p:spPr>
          <a:xfrm>
            <a:off x="8614159" y="1371600"/>
            <a:ext cx="3028896" cy="4709160"/>
          </a:xfrm>
          <a:prstGeom prst="rect">
            <a:avLst/>
          </a:prstGeom>
        </p:spPr>
      </p:pic>
      <p:sp>
        <p:nvSpPr>
          <p:cNvPr id="6" name="tombol tautan">
            <a:hlinkClick r:id="rId2" tooltip="https://github.com/antonprafanto/mobile2026/blob/main/pertemuan_13_fitur_perangkat_dan_izin/kode/contoh_06_lokasi_terus_menerus.dart"/>
          </p:cNvPr>
          <p:cNvSpPr txBox="1"/>
          <p:nvPr/>
        </p:nvSpPr>
        <p:spPr>
          <a:xfrm>
            <a:off x="548640" y="1371600"/>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contoh_06_lokasi_terus_menerus.dart</a:t>
            </a:r>
            <a:endParaRPr lang="en-US" sz="1300" dirty="0"/>
          </a:p>
        </p:txBody>
      </p:sp>
      <p:pic>
        <p:nvPicPr>
          <p:cNvPr id="7" name="Image 1" descr="ikon tautan">
            <a:hlinkClick r:id="rId4" tooltip="https://github.com/antonprafanto/mobile2026/blob/main/pertemuan_13_fitur_perangkat_dan_izin/kode/contoh_06_lokasi_terus_menerus.dart"/>
          </p:cNvPr>
          <p:cNvPicPr>
            <a:picLocks noChangeAspect="1"/>
          </p:cNvPicPr>
          <p:nvPr/>
        </p:nvPicPr>
        <p:blipFill>
          <a:blip r:embed="rId3"/>
          <a:stretch>
            <a:fillRect/>
          </a:stretch>
        </p:blipFill>
        <p:spPr>
          <a:xfrm>
            <a:off x="694944" y="1463040"/>
            <a:ext cx="274320" cy="274320"/>
          </a:xfrm>
          <a:prstGeom prst="rect">
            <a:avLst/>
          </a:prstGeom>
        </p:spPr>
      </p:pic>
      <p:sp>
        <p:nvSpPr>
          <p:cNvPr id="8" name="daftar poin"/>
          <p:cNvSpPr txBox="1"/>
          <p:nvPr/>
        </p:nvSpPr>
        <p:spPr>
          <a:xfrm>
            <a:off x="548640" y="2103120"/>
            <a:ext cx="7608319" cy="41148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Jarak 88 m dalam 00:09; 7 titik tercatat, 1 diabaikan (akurasi lebih dari 25 m).</a:t>
            </a:r>
            <a:endParaRPr lang="en-US" sz="1700" dirty="0"/>
          </a:p>
          <a:p>
            <a:pPr marL="228600" indent="-228600">
              <a:spcAft>
                <a:spcPts val="800"/>
              </a:spcAft>
              <a:buSzPct val="100000"/>
              <a:buChar char="•"/>
            </a:pPr>
            <a:r>
              <a:rPr lang="en-US" sz="1700" dirty="0">
                <a:solidFill>
                  <a:schemeClr val="tx1"/>
                </a:solidFill>
              </a:rPr>
              <a:t>Titik yang diabaikan berakurasi ± 40 m: tanpa penyaringan, ia menambah jarak palsu.</a:t>
            </a:r>
            <a:endParaRPr lang="en-US" sz="1700" dirty="0"/>
          </a:p>
          <a:p>
            <a:pPr marL="228600" indent="-228600">
              <a:spcAft>
                <a:spcPts val="800"/>
              </a:spcAft>
              <a:buSzPct val="100000"/>
              <a:buChar char="•"/>
            </a:pPr>
            <a:r>
              <a:rPr lang="en-US" sz="1700" dirty="0">
                <a:solidFill>
                  <a:schemeClr val="tx1"/>
                </a:solidFill>
              </a:rPr>
              <a:t>Mencoba: HP Android sambil berjalan; Chrome → DevTools → Sensors (ubah lokasi beberapa kali); emulator → Routes.</a:t>
            </a:r>
            <a:endParaRPr lang="en-US" sz="1700" dirty="0"/>
          </a:p>
          <a:p>
            <a:pPr marL="228600" indent="-228600">
              <a:spcAft>
                <a:spcPts val="800"/>
              </a:spcAft>
              <a:buSzPct val="100000"/>
              <a:buChar char="•"/>
            </a:pPr>
            <a:r>
              <a:rPr lang="en-US" sz="1700" dirty="0">
                <a:solidFill>
                  <a:schemeClr val="tx1"/>
                </a:solidFill>
              </a:rPr>
              <a:t>Hanya mencatat SELAMA aplikasi terbuka.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9</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Fitur Perangkat di Balik Kontrak</a:t>
            </a:r>
            <a:endParaRPr lang="en-US" sz="4000" dirty="0"/>
          </a:p>
        </p:txBody>
      </p:sp>
      <p:sp>
        <p:nvSpPr>
          <p:cNvPr id="5" name="lingkaran lapisan"/>
          <p:cNvSpPr/>
          <p:nvPr/>
        </p:nvSpPr>
        <p:spPr>
          <a:xfrm>
            <a:off x="1097280" y="2148840"/>
            <a:ext cx="2011680" cy="2011680"/>
          </a:xfrm>
          <a:prstGeom prst="ellipse">
            <a:avLst/>
          </a:prstGeom>
          <a:solidFill>
            <a:schemeClr val="accent1"/>
          </a:solidFill>
          <a:ln/>
        </p:spPr>
      </p:sp>
      <p:pic>
        <p:nvPicPr>
          <p:cNvPr id="6" name="Image 0" descr="lapisan">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Masalahnya: Kode yang Hanya Bisa Diuji di HP</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Contoh 02, 03, dan 06 memanggil ImagePicker dan Geolocator langsung dari widget. Untuk aplikasi sungguhan:</a:t>
            </a:r>
            <a:endParaRPr lang="en-US" sz="1800" dirty="0"/>
          </a:p>
        </p:txBody>
      </p:sp>
      <p:sp>
        <p:nvSpPr>
          <p:cNvPr id="5" name="kartu 1"/>
          <p:cNvSpPr/>
          <p:nvPr/>
        </p:nvSpPr>
        <p:spPr>
          <a:xfrm>
            <a:off x="548640" y="2011680"/>
            <a:ext cx="3484778" cy="1965960"/>
          </a:xfrm>
          <a:prstGeom prst="roundRect">
            <a:avLst>
              <a:gd name="adj" fmla="val 5581"/>
            </a:avLst>
          </a:prstGeom>
          <a:solidFill>
            <a:schemeClr val="bg2"/>
          </a:solidFill>
          <a:ln/>
        </p:spPr>
      </p:sp>
      <p:sp>
        <p:nvSpPr>
          <p:cNvPr id="6" name="lingkaran hp"/>
          <p:cNvSpPr/>
          <p:nvPr/>
        </p:nvSpPr>
        <p:spPr>
          <a:xfrm>
            <a:off x="777240" y="2240280"/>
            <a:ext cx="685800" cy="685800"/>
          </a:xfrm>
          <a:prstGeom prst="ellipse">
            <a:avLst/>
          </a:prstGeom>
          <a:solidFill>
            <a:schemeClr val="accent5"/>
          </a:solidFill>
          <a:ln/>
        </p:spPr>
      </p:sp>
      <p:pic>
        <p:nvPicPr>
          <p:cNvPr id="7" name="Image 0" descr="hp">    </p:cNvPr>
          <p:cNvPicPr>
            <a:picLocks noChangeAspect="1"/>
          </p:cNvPicPr>
          <p:nvPr/>
        </p:nvPicPr>
        <p:blipFill>
          <a:blip r:embed="rId1"/>
          <a:stretch>
            <a:fillRect/>
          </a:stretch>
        </p:blipFill>
        <p:spPr>
          <a:xfrm>
            <a:off x="928116" y="2391156"/>
            <a:ext cx="384048" cy="384048"/>
          </a:xfrm>
          <a:prstGeom prst="rect">
            <a:avLst/>
          </a:prstGeom>
        </p:spPr>
      </p:pic>
      <p:sp>
        <p:nvSpPr>
          <p:cNvPr id="8" name="Text 4"/>
          <p:cNvSpPr txBox="1"/>
          <p:nvPr/>
        </p:nvSpPr>
        <p:spPr>
          <a:xfrm>
            <a:off x="1600200"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Tidak bisa diuji tanpa perangkat</a:t>
            </a:r>
            <a:endParaRPr lang="en-US" sz="1800" dirty="0"/>
          </a:p>
        </p:txBody>
      </p:sp>
      <p:sp>
        <p:nvSpPr>
          <p:cNvPr id="9" name="Text 5"/>
          <p:cNvSpPr txBox="1"/>
          <p:nvPr/>
        </p:nvSpPr>
        <p:spPr>
          <a:xfrm>
            <a:off x="777240" y="3063240"/>
            <a:ext cx="3027578" cy="777240"/>
          </a:xfrm>
          <a:prstGeom prst="rect">
            <a:avLst/>
          </a:prstGeom>
          <a:noFill/>
          <a:ln/>
        </p:spPr>
        <p:txBody>
          <a:bodyPr wrap="square" lIns="0" tIns="0" rIns="0" bIns="0" rtlCol="0" anchor="t"/>
          <a:lstStyle/>
          <a:p>
            <a:pPr indent="0" marL="0">
              <a:buNone/>
            </a:pPr>
            <a:r>
              <a:rPr lang="en-US" sz="1500" dirty="0">
                <a:solidFill>
                  <a:schemeClr val="tx1"/>
                </a:solidFill>
              </a:rPr>
              <a:t>Pesan "izin diblokir" baru terlihat setelah menolak izin dua kali di HP sungguhan.</a:t>
            </a:r>
            <a:endParaRPr lang="en-US" sz="1500" dirty="0"/>
          </a:p>
        </p:txBody>
      </p:sp>
      <p:sp>
        <p:nvSpPr>
          <p:cNvPr id="10" name="kartu 2"/>
          <p:cNvSpPr/>
          <p:nvPr/>
        </p:nvSpPr>
        <p:spPr>
          <a:xfrm>
            <a:off x="4353458" y="2011680"/>
            <a:ext cx="3484778" cy="1965960"/>
          </a:xfrm>
          <a:prstGeom prst="roundRect">
            <a:avLst>
              <a:gd name="adj" fmla="val 5581"/>
            </a:avLst>
          </a:prstGeom>
          <a:solidFill>
            <a:schemeClr val="bg2"/>
          </a:solidFill>
          <a:ln/>
        </p:spPr>
      </p:sp>
      <p:sp>
        <p:nvSpPr>
          <p:cNvPr id="11" name="lingkaran tanya"/>
          <p:cNvSpPr/>
          <p:nvPr/>
        </p:nvSpPr>
        <p:spPr>
          <a:xfrm>
            <a:off x="4582058" y="2240280"/>
            <a:ext cx="685800" cy="685800"/>
          </a:xfrm>
          <a:prstGeom prst="ellipse">
            <a:avLst/>
          </a:prstGeom>
          <a:solidFill>
            <a:schemeClr val="accent5"/>
          </a:solidFill>
          <a:ln/>
        </p:spPr>
      </p:sp>
      <p:pic>
        <p:nvPicPr>
          <p:cNvPr id="12" name="Image 1" descr="tanya">    </p:cNvPr>
          <p:cNvPicPr>
            <a:picLocks noChangeAspect="1"/>
          </p:cNvPicPr>
          <p:nvPr/>
        </p:nvPicPr>
        <p:blipFill>
          <a:blip r:embed="rId2"/>
          <a:stretch>
            <a:fillRect/>
          </a:stretch>
        </p:blipFill>
        <p:spPr>
          <a:xfrm>
            <a:off x="4732934" y="2391156"/>
            <a:ext cx="384048" cy="384048"/>
          </a:xfrm>
          <a:prstGeom prst="rect">
            <a:avLst/>
          </a:prstGeom>
        </p:spPr>
      </p:pic>
      <p:sp>
        <p:nvSpPr>
          <p:cNvPr id="13" name="Text 8"/>
          <p:cNvSpPr txBox="1"/>
          <p:nvPr/>
        </p:nvSpPr>
        <p:spPr>
          <a:xfrm>
            <a:off x="5405018"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Sulit mencoba semua keadaan</a:t>
            </a:r>
            <a:endParaRPr lang="en-US" sz="1800" dirty="0"/>
          </a:p>
        </p:txBody>
      </p:sp>
      <p:sp>
        <p:nvSpPr>
          <p:cNvPr id="14" name="Text 9"/>
          <p:cNvSpPr txBox="1"/>
          <p:nvPr/>
        </p:nvSpPr>
        <p:spPr>
          <a:xfrm>
            <a:off x="4582058" y="3063240"/>
            <a:ext cx="3027578" cy="777240"/>
          </a:xfrm>
          <a:prstGeom prst="rect">
            <a:avLst/>
          </a:prstGeom>
          <a:noFill/>
          <a:ln/>
        </p:spPr>
        <p:txBody>
          <a:bodyPr wrap="square" lIns="0" tIns="0" rIns="0" bIns="0" rtlCol="0" anchor="t"/>
          <a:lstStyle/>
          <a:p>
            <a:pPr indent="0" marL="0">
              <a:buNone/>
            </a:pPr>
            <a:r>
              <a:rPr lang="en-US" sz="1500" dirty="0">
                <a:solidFill>
                  <a:schemeClr val="tx1"/>
                </a:solidFill>
              </a:rPr>
              <a:t>Bagaimana mencoba "GPS kurang akurat" atau "lokasi palsu" di laboratorium?</a:t>
            </a:r>
            <a:endParaRPr lang="en-US" sz="1500" dirty="0"/>
          </a:p>
        </p:txBody>
      </p:sp>
      <p:sp>
        <p:nvSpPr>
          <p:cNvPr id="15" name="kartu 3"/>
          <p:cNvSpPr/>
          <p:nvPr/>
        </p:nvSpPr>
        <p:spPr>
          <a:xfrm>
            <a:off x="8158277" y="2011680"/>
            <a:ext cx="3484778" cy="1965960"/>
          </a:xfrm>
          <a:prstGeom prst="roundRect">
            <a:avLst>
              <a:gd name="adj" fmla="val 5581"/>
            </a:avLst>
          </a:prstGeom>
          <a:solidFill>
            <a:schemeClr val="bg2"/>
          </a:solidFill>
          <a:ln/>
        </p:spPr>
      </p:sp>
      <p:sp>
        <p:nvSpPr>
          <p:cNvPr id="16" name="lingkaran tautan"/>
          <p:cNvSpPr/>
          <p:nvPr/>
        </p:nvSpPr>
        <p:spPr>
          <a:xfrm>
            <a:off x="8386877" y="2240280"/>
            <a:ext cx="685800" cy="685800"/>
          </a:xfrm>
          <a:prstGeom prst="ellipse">
            <a:avLst/>
          </a:prstGeom>
          <a:solidFill>
            <a:schemeClr val="accent5"/>
          </a:solidFill>
          <a:ln/>
        </p:spPr>
      </p:sp>
      <p:pic>
        <p:nvPicPr>
          <p:cNvPr id="17" name="Image 2" descr="tautan">    </p:cNvPr>
          <p:cNvPicPr>
            <a:picLocks noChangeAspect="1"/>
          </p:cNvPicPr>
          <p:nvPr/>
        </p:nvPicPr>
        <p:blipFill>
          <a:blip r:embed="rId3"/>
          <a:stretch>
            <a:fillRect/>
          </a:stretch>
        </p:blipFill>
        <p:spPr>
          <a:xfrm>
            <a:off x="8537753" y="2391156"/>
            <a:ext cx="384048" cy="384048"/>
          </a:xfrm>
          <a:prstGeom prst="rect">
            <a:avLst/>
          </a:prstGeom>
        </p:spPr>
      </p:pic>
      <p:sp>
        <p:nvSpPr>
          <p:cNvPr id="18" name="Text 12"/>
          <p:cNvSpPr txBox="1"/>
          <p:nvPr/>
        </p:nvSpPr>
        <p:spPr>
          <a:xfrm>
            <a:off x="9209837"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Tampilan ikut mengenal paket</a:t>
            </a:r>
            <a:endParaRPr lang="en-US" sz="1800" dirty="0"/>
          </a:p>
        </p:txBody>
      </p:sp>
      <p:sp>
        <p:nvSpPr>
          <p:cNvPr id="19" name="Text 13"/>
          <p:cNvSpPr txBox="1"/>
          <p:nvPr/>
        </p:nvSpPr>
        <p:spPr>
          <a:xfrm>
            <a:off x="8386877" y="3063240"/>
            <a:ext cx="3027578" cy="777240"/>
          </a:xfrm>
          <a:prstGeom prst="rect">
            <a:avLst/>
          </a:prstGeom>
          <a:noFill/>
          <a:ln/>
        </p:spPr>
        <p:txBody>
          <a:bodyPr wrap="square" lIns="0" tIns="0" rIns="0" bIns="0" rtlCol="0" anchor="t"/>
          <a:lstStyle/>
          <a:p>
            <a:pPr indent="0" marL="0">
              <a:buNone/>
            </a:pPr>
            <a:r>
              <a:rPr lang="en-US" sz="1500" dirty="0">
                <a:solidFill>
                  <a:schemeClr val="tx1"/>
                </a:solidFill>
              </a:rPr>
              <a:t>Widget harus tahu LocationServiceDisabledException, PlatformException, dan kode galatnya.</a:t>
            </a:r>
            <a:endParaRPr lang="en-US" sz="1500" dirty="0"/>
          </a:p>
        </p:txBody>
      </p:sp>
      <p:sp>
        <p:nvSpPr>
          <p:cNvPr id="20" name="kartu 4"/>
          <p:cNvSpPr/>
          <p:nvPr/>
        </p:nvSpPr>
        <p:spPr>
          <a:xfrm>
            <a:off x="548640" y="4251960"/>
            <a:ext cx="3484778" cy="1965960"/>
          </a:xfrm>
          <a:prstGeom prst="roundRect">
            <a:avLst>
              <a:gd name="adj" fmla="val 5581"/>
            </a:avLst>
          </a:prstGeom>
          <a:solidFill>
            <a:schemeClr val="bg2"/>
          </a:solidFill>
          <a:ln/>
        </p:spPr>
      </p:sp>
      <p:sp>
        <p:nvSpPr>
          <p:cNvPr id="21" name="lingkaran buku"/>
          <p:cNvSpPr/>
          <p:nvPr/>
        </p:nvSpPr>
        <p:spPr>
          <a:xfrm>
            <a:off x="777240" y="4480560"/>
            <a:ext cx="685800" cy="685800"/>
          </a:xfrm>
          <a:prstGeom prst="ellipse">
            <a:avLst/>
          </a:prstGeom>
          <a:solidFill>
            <a:schemeClr val="accent4"/>
          </a:solidFill>
          <a:ln/>
        </p:spPr>
      </p:sp>
      <p:pic>
        <p:nvPicPr>
          <p:cNvPr id="22" name="Image 3" descr="buku">    </p:cNvPr>
          <p:cNvPicPr>
            <a:picLocks noChangeAspect="1"/>
          </p:cNvPicPr>
          <p:nvPr/>
        </p:nvPicPr>
        <p:blipFill>
          <a:blip r:embed="rId4"/>
          <a:stretch>
            <a:fillRect/>
          </a:stretch>
        </p:blipFill>
        <p:spPr>
          <a:xfrm>
            <a:off x="928116" y="4631436"/>
            <a:ext cx="384048" cy="384048"/>
          </a:xfrm>
          <a:prstGeom prst="rect">
            <a:avLst/>
          </a:prstGeom>
        </p:spPr>
      </p:pic>
      <p:sp>
        <p:nvSpPr>
          <p:cNvPr id="23" name="Text 16"/>
          <p:cNvSpPr txBox="1"/>
          <p:nvPr/>
        </p:nvSpPr>
        <p:spPr>
          <a:xfrm>
            <a:off x="1600200" y="445312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Kontrak di domain</a:t>
            </a:r>
            <a:endParaRPr lang="en-US" sz="1800" dirty="0"/>
          </a:p>
        </p:txBody>
      </p:sp>
      <p:sp>
        <p:nvSpPr>
          <p:cNvPr id="24" name="Text 17"/>
          <p:cNvSpPr txBox="1"/>
          <p:nvPr/>
        </p:nvSpPr>
        <p:spPr>
          <a:xfrm>
            <a:off x="777240" y="5303520"/>
            <a:ext cx="3027578" cy="777240"/>
          </a:xfrm>
          <a:prstGeom prst="rect">
            <a:avLst/>
          </a:prstGeom>
          <a:noFill/>
          <a:ln/>
        </p:spPr>
        <p:txBody>
          <a:bodyPr wrap="square" lIns="0" tIns="0" rIns="0" bIns="0" rtlCol="0" anchor="t"/>
          <a:lstStyle/>
          <a:p>
            <a:pPr indent="0" marL="0">
              <a:buNone/>
            </a:pPr>
            <a:r>
              <a:rPr lang="en-US" sz="1500" dirty="0">
                <a:solidFill>
                  <a:schemeClr val="tx1"/>
                </a:solidFill>
              </a:rPr>
              <a:t>LayananLokasi, PemilihFoto, PengaturanPerangkat: tanpa Position atau XFile.</a:t>
            </a:r>
            <a:endParaRPr lang="en-US" sz="1500" dirty="0"/>
          </a:p>
        </p:txBody>
      </p:sp>
      <p:sp>
        <p:nvSpPr>
          <p:cNvPr id="25" name="kartu 5"/>
          <p:cNvSpPr/>
          <p:nvPr/>
        </p:nvSpPr>
        <p:spPr>
          <a:xfrm>
            <a:off x="4353458" y="4251960"/>
            <a:ext cx="3484778" cy="1965960"/>
          </a:xfrm>
          <a:prstGeom prst="roundRect">
            <a:avLst>
              <a:gd name="adj" fmla="val 5581"/>
            </a:avLst>
          </a:prstGeom>
          <a:solidFill>
            <a:schemeClr val="bg2"/>
          </a:solidFill>
          <a:ln/>
        </p:spPr>
      </p:sp>
      <p:sp>
        <p:nvSpPr>
          <p:cNvPr id="26" name="lingkaran perkakas"/>
          <p:cNvSpPr/>
          <p:nvPr/>
        </p:nvSpPr>
        <p:spPr>
          <a:xfrm>
            <a:off x="4582058" y="4480560"/>
            <a:ext cx="685800" cy="685800"/>
          </a:xfrm>
          <a:prstGeom prst="ellipse">
            <a:avLst/>
          </a:prstGeom>
          <a:solidFill>
            <a:schemeClr val="accent4"/>
          </a:solidFill>
          <a:ln/>
        </p:spPr>
      </p:sp>
      <p:pic>
        <p:nvPicPr>
          <p:cNvPr id="27" name="Image 4" descr="perkakas">    </p:cNvPr>
          <p:cNvPicPr>
            <a:picLocks noChangeAspect="1"/>
          </p:cNvPicPr>
          <p:nvPr/>
        </p:nvPicPr>
        <p:blipFill>
          <a:blip r:embed="rId5"/>
          <a:stretch>
            <a:fillRect/>
          </a:stretch>
        </p:blipFill>
        <p:spPr>
          <a:xfrm>
            <a:off x="4732934" y="4631436"/>
            <a:ext cx="384048" cy="384048"/>
          </a:xfrm>
          <a:prstGeom prst="rect">
            <a:avLst/>
          </a:prstGeom>
        </p:spPr>
      </p:pic>
      <p:sp>
        <p:nvSpPr>
          <p:cNvPr id="28" name="Text 20"/>
          <p:cNvSpPr txBox="1"/>
          <p:nvPr/>
        </p:nvSpPr>
        <p:spPr>
          <a:xfrm>
            <a:off x="5405018" y="445312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Implementasi asli di data</a:t>
            </a:r>
            <a:endParaRPr lang="en-US" sz="1800" dirty="0"/>
          </a:p>
        </p:txBody>
      </p:sp>
      <p:sp>
        <p:nvSpPr>
          <p:cNvPr id="29" name="Text 21"/>
          <p:cNvSpPr txBox="1"/>
          <p:nvPr/>
        </p:nvSpPr>
        <p:spPr>
          <a:xfrm>
            <a:off x="4582058" y="5303520"/>
            <a:ext cx="3027578" cy="777240"/>
          </a:xfrm>
          <a:prstGeom prst="rect">
            <a:avLst/>
          </a:prstGeom>
          <a:noFill/>
          <a:ln/>
        </p:spPr>
        <p:txBody>
          <a:bodyPr wrap="square" lIns="0" tIns="0" rIns="0" bIns="0" rtlCol="0" anchor="t"/>
          <a:lstStyle/>
          <a:p>
            <a:pPr indent="0" marL="0">
              <a:buNone/>
            </a:pPr>
            <a:r>
              <a:rPr lang="en-US" sz="1500" dirty="0">
                <a:solidFill>
                  <a:schemeClr val="tx1"/>
                </a:solidFill>
              </a:rPr>
              <a:t>Satu-satunya yang mengenal geolocator dan image_picker; penerjemah exception.</a:t>
            </a:r>
            <a:endParaRPr lang="en-US" sz="1500" dirty="0"/>
          </a:p>
        </p:txBody>
      </p:sp>
      <p:sp>
        <p:nvSpPr>
          <p:cNvPr id="30" name="kartu 6"/>
          <p:cNvSpPr/>
          <p:nvPr/>
        </p:nvSpPr>
        <p:spPr>
          <a:xfrm>
            <a:off x="8158277" y="4251960"/>
            <a:ext cx="3484778" cy="1965960"/>
          </a:xfrm>
          <a:prstGeom prst="roundRect">
            <a:avLst>
              <a:gd name="adj" fmla="val 5581"/>
            </a:avLst>
          </a:prstGeom>
          <a:solidFill>
            <a:schemeClr val="bg2"/>
          </a:solidFill>
          <a:ln/>
        </p:spPr>
      </p:sp>
      <p:sp>
        <p:nvSpPr>
          <p:cNvPr id="31" name="lingkaran uji"/>
          <p:cNvSpPr/>
          <p:nvPr/>
        </p:nvSpPr>
        <p:spPr>
          <a:xfrm>
            <a:off x="8386877" y="4480560"/>
            <a:ext cx="685800" cy="685800"/>
          </a:xfrm>
          <a:prstGeom prst="ellipse">
            <a:avLst/>
          </a:prstGeom>
          <a:solidFill>
            <a:schemeClr val="accent4"/>
          </a:solidFill>
          <a:ln/>
        </p:spPr>
      </p:sp>
      <p:pic>
        <p:nvPicPr>
          <p:cNvPr id="32" name="Image 5" descr="uji">    </p:cNvPr>
          <p:cNvPicPr>
            <a:picLocks noChangeAspect="1"/>
          </p:cNvPicPr>
          <p:nvPr/>
        </p:nvPicPr>
        <p:blipFill>
          <a:blip r:embed="rId6"/>
          <a:stretch>
            <a:fillRect/>
          </a:stretch>
        </p:blipFill>
        <p:spPr>
          <a:xfrm>
            <a:off x="8537753" y="4631436"/>
            <a:ext cx="384048" cy="384048"/>
          </a:xfrm>
          <a:prstGeom prst="rect">
            <a:avLst/>
          </a:prstGeom>
        </p:spPr>
      </p:pic>
      <p:sp>
        <p:nvSpPr>
          <p:cNvPr id="33" name="Text 24"/>
          <p:cNvSpPr txBox="1"/>
          <p:nvPr/>
        </p:nvSpPr>
        <p:spPr>
          <a:xfrm>
            <a:off x="9209837" y="445312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Data palsu berskenario</a:t>
            </a:r>
            <a:endParaRPr lang="en-US" sz="1800" dirty="0"/>
          </a:p>
        </p:txBody>
      </p:sp>
      <p:sp>
        <p:nvSpPr>
          <p:cNvPr id="34" name="Text 25"/>
          <p:cNvSpPr txBox="1"/>
          <p:nvPr/>
        </p:nvSpPr>
        <p:spPr>
          <a:xfrm>
            <a:off x="8386877" y="5303520"/>
            <a:ext cx="3027578" cy="777240"/>
          </a:xfrm>
          <a:prstGeom prst="rect">
            <a:avLst/>
          </a:prstGeom>
          <a:noFill/>
          <a:ln/>
        </p:spPr>
        <p:txBody>
          <a:bodyPr wrap="square" lIns="0" tIns="0" rIns="0" bIns="0" rtlCol="0" anchor="t"/>
          <a:lstStyle/>
          <a:p>
            <a:pPr indent="0" marL="0">
              <a:buNone/>
            </a:pPr>
            <a:r>
              <a:rPr lang="en-US" sz="1500" dirty="0">
                <a:solidFill>
                  <a:schemeClr val="tx1"/>
                </a:solidFill>
              </a:rPr>
              <a:t>Semua keadaan bisa dicoba dan diperiksa otomatis, tanpa HP.</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Kontrak di Domain</a:t>
            </a:r>
            <a:endParaRPr lang="en-US" sz="3200" dirty="0"/>
          </a:p>
        </p:txBody>
      </p:sp>
      <p:sp>
        <p:nvSpPr>
          <p:cNvPr id="4" name="kotak kode"/>
          <p:cNvSpPr txBox="1"/>
          <p:nvPr/>
        </p:nvSpPr>
        <p:spPr>
          <a:xfrm>
            <a:off x="548640" y="1371600"/>
            <a:ext cx="6949440" cy="3739896"/>
          </a:xfrm>
          <a:prstGeom prst="roundRect">
            <a:avLst>
              <a:gd name="adj" fmla="val 244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abstract</a:t>
            </a:r>
            <a:r>
              <a:rPr lang="en-US" sz="1300" dirty="0">
                <a:solidFill>
                  <a:srgbClr val="E6EDF3"/>
                </a:solidFill>
                <a:latin typeface="Consolas" pitchFamily="34" charset="0"/>
                <a:ea typeface="Consolas" pitchFamily="34" charset="-122"/>
                <a:cs typeface="Consolas" pitchFamily="34" charset="-120"/>
              </a:rPr>
              <a:t> interface </a:t>
            </a:r>
            <a:r>
              <a:rPr lang="en-US" sz="1300" dirty="0">
                <a:solidFill>
                  <a:srgbClr val="C792EA"/>
                </a:solidFill>
                <a:latin typeface="Consolas" pitchFamily="34" charset="0"/>
                <a:ea typeface="Consolas" pitchFamily="34" charset="-122"/>
                <a:cs typeface="Consolas" pitchFamily="34" charset="-120"/>
              </a:rPr>
              <a:t>class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LayananLokasi</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i="1" dirty="0">
                <a:solidFill>
                  <a:srgbClr val="8FA3BC"/>
                </a:solidFill>
                <a:latin typeface="Consolas" pitchFamily="34" charset="0"/>
                <a:ea typeface="Consolas" pitchFamily="34" charset="-122"/>
                <a:cs typeface="Consolas" pitchFamily="34" charset="-120"/>
              </a:rPr>
              <a:t>/// Memeriksa layanan dan izin, lalu mengambil posisi sekarang.</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Future</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Hasil</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Posisi</a:t>
            </a:r>
            <a:r>
              <a:rPr lang="en-US" sz="1300" dirty="0">
                <a:solidFill>
                  <a:srgbClr val="E6EDF3"/>
                </a:solidFill>
                <a:latin typeface="Consolas" pitchFamily="34" charset="0"/>
                <a:ea typeface="Consolas" pitchFamily="34" charset="-122"/>
                <a:cs typeface="Consolas" pitchFamily="34" charset="-120"/>
              </a:rPr>
              <a:t>&gt;&gt; posisiSekarang();</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abstract</a:t>
            </a:r>
            <a:r>
              <a:rPr lang="en-US" sz="1300" dirty="0">
                <a:solidFill>
                  <a:srgbClr val="E6EDF3"/>
                </a:solidFill>
                <a:latin typeface="Consolas" pitchFamily="34" charset="0"/>
                <a:ea typeface="Consolas" pitchFamily="34" charset="-122"/>
                <a:cs typeface="Consolas" pitchFamily="34" charset="-120"/>
              </a:rPr>
              <a:t> interface </a:t>
            </a:r>
            <a:r>
              <a:rPr lang="en-US" sz="1300" dirty="0">
                <a:solidFill>
                  <a:srgbClr val="C792EA"/>
                </a:solidFill>
                <a:latin typeface="Consolas" pitchFamily="34" charset="0"/>
                <a:ea typeface="Consolas" pitchFamily="34" charset="-122"/>
                <a:cs typeface="Consolas" pitchFamily="34" charset="-120"/>
              </a:rPr>
              <a:t>class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PemilihFoto</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bool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get</a:t>
            </a:r>
            <a:r>
              <a:rPr lang="en-US" sz="1300" dirty="0">
                <a:solidFill>
                  <a:srgbClr val="E6EDF3"/>
                </a:solidFill>
                <a:latin typeface="Consolas" pitchFamily="34" charset="0"/>
                <a:ea typeface="Consolas" pitchFamily="34" charset="-122"/>
                <a:cs typeface="Consolas" pitchFamily="34" charset="-120"/>
              </a:rPr>
              <a:t> kameraTersedia;</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Future</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Hasil</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FotoBukti</a:t>
            </a:r>
            <a:r>
              <a:rPr lang="en-US" sz="1300" dirty="0">
                <a:solidFill>
                  <a:srgbClr val="E6EDF3"/>
                </a:solidFill>
                <a:latin typeface="Consolas" pitchFamily="34" charset="0"/>
                <a:ea typeface="Consolas" pitchFamily="34" charset="-122"/>
                <a:cs typeface="Consolas" pitchFamily="34" charset="-120"/>
              </a:rPr>
              <a:t>&gt;&gt; ambil({</a:t>
            </a:r>
            <a:r>
              <a:rPr lang="en-US" sz="1300" dirty="0">
                <a:solidFill>
                  <a:srgbClr val="C792EA"/>
                </a:solidFill>
                <a:latin typeface="Consolas" pitchFamily="34" charset="0"/>
                <a:ea typeface="Consolas" pitchFamily="34" charset="-122"/>
                <a:cs typeface="Consolas" pitchFamily="34" charset="-120"/>
              </a:rPr>
              <a:t>required</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bool</a:t>
            </a:r>
            <a:r>
              <a:rPr lang="en-US" sz="1300" dirty="0">
                <a:solidFill>
                  <a:srgbClr val="E6EDF3"/>
                </a:solidFill>
                <a:latin typeface="Consolas" pitchFamily="34" charset="0"/>
                <a:ea typeface="Consolas" pitchFamily="34" charset="-122"/>
                <a:cs typeface="Consolas" pitchFamily="34" charset="-120"/>
              </a:rPr>
              <a:t> dariKamera});</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abstract</a:t>
            </a:r>
            <a:r>
              <a:rPr lang="en-US" sz="1300" dirty="0">
                <a:solidFill>
                  <a:srgbClr val="E6EDF3"/>
                </a:solidFill>
                <a:latin typeface="Consolas" pitchFamily="34" charset="0"/>
                <a:ea typeface="Consolas" pitchFamily="34" charset="-122"/>
                <a:cs typeface="Consolas" pitchFamily="34" charset="-120"/>
              </a:rPr>
              <a:t> interface </a:t>
            </a:r>
            <a:r>
              <a:rPr lang="en-US" sz="1300" dirty="0">
                <a:solidFill>
                  <a:srgbClr val="C792EA"/>
                </a:solidFill>
                <a:latin typeface="Consolas" pitchFamily="34" charset="0"/>
                <a:ea typeface="Consolas" pitchFamily="34" charset="-122"/>
                <a:cs typeface="Consolas" pitchFamily="34" charset="-120"/>
              </a:rPr>
              <a:t>class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PengaturanPerangkat</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Future</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C792EA"/>
                </a:solidFill>
                <a:latin typeface="Consolas" pitchFamily="34" charset="0"/>
                <a:ea typeface="Consolas" pitchFamily="34" charset="-122"/>
                <a:cs typeface="Consolas" pitchFamily="34" charset="-120"/>
              </a:rPr>
              <a:t>void</a:t>
            </a:r>
            <a:r>
              <a:rPr lang="en-US" sz="1300" dirty="0">
                <a:solidFill>
                  <a:srgbClr val="E6EDF3"/>
                </a:solidFill>
                <a:latin typeface="Consolas" pitchFamily="34" charset="0"/>
                <a:ea typeface="Consolas" pitchFamily="34" charset="-122"/>
                <a:cs typeface="Consolas" pitchFamily="34" charset="-120"/>
              </a:rPr>
              <a:t>&gt; bukaPengaturanAplikasi();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Future</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C792EA"/>
                </a:solidFill>
                <a:latin typeface="Consolas" pitchFamily="34" charset="0"/>
                <a:ea typeface="Consolas" pitchFamily="34" charset="-122"/>
                <a:cs typeface="Consolas" pitchFamily="34" charset="-120"/>
              </a:rPr>
              <a:t>void</a:t>
            </a:r>
            <a:r>
              <a:rPr lang="en-US" sz="1300" dirty="0">
                <a:solidFill>
                  <a:srgbClr val="E6EDF3"/>
                </a:solidFill>
                <a:latin typeface="Consolas" pitchFamily="34" charset="0"/>
                <a:ea typeface="Consolas" pitchFamily="34" charset="-122"/>
                <a:cs typeface="Consolas" pitchFamily="34" charset="-120"/>
              </a:rPr>
              <a:t>&gt; bukaPengaturanLokasi();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5" name="tombol tautan">
            <a:hlinkClick r:id="rId1" tooltip="https://github.com/antonprafanto/mobile2026/blob/main/pertemuan_13_fitur_perangkat_dan_izin/kode/contoh_07_kontrak_perangkat_dan_data_palsu.dart"/>
          </p:cNvPr>
          <p:cNvSpPr txBox="1"/>
          <p:nvPr/>
        </p:nvSpPr>
        <p:spPr>
          <a:xfrm>
            <a:off x="548640" y="5340096"/>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contoh_07_kontrak_perangkat_dan_data_palsu.dart</a:t>
            </a:r>
            <a:endParaRPr lang="en-US" sz="1300" dirty="0"/>
          </a:p>
        </p:txBody>
      </p:sp>
      <p:pic>
        <p:nvPicPr>
          <p:cNvPr id="6" name="Image 0" descr="ikon tautan">
            <a:hlinkClick r:id="rId3" tooltip="https://github.com/antonprafanto/mobile2026/blob/main/pertemuan_13_fitur_perangkat_dan_izin/kode/contoh_07_kontrak_perangkat_dan_data_palsu.dart"/>
          </p:cNvPr>
          <p:cNvPicPr>
            <a:picLocks noChangeAspect="1"/>
          </p:cNvPicPr>
          <p:nvPr/>
        </p:nvPicPr>
        <p:blipFill>
          <a:blip r:embed="rId2"/>
          <a:stretch>
            <a:fillRect/>
          </a:stretch>
        </p:blipFill>
        <p:spPr>
          <a:xfrm>
            <a:off x="694944" y="5431536"/>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Tidak ada Position, XFile, atau LocationPermission di domain.</a:t>
            </a:r>
            <a:endParaRPr lang="en-US" sz="1700" dirty="0"/>
          </a:p>
          <a:p>
            <a:pPr marL="228600" indent="-228600">
              <a:spcAft>
                <a:spcPts val="800"/>
              </a:spcAft>
              <a:buSzPct val="100000"/>
              <a:buChar char="•"/>
            </a:pPr>
            <a:r>
              <a:rPr lang="en-US" sz="1700" dirty="0">
                <a:solidFill>
                  <a:schemeClr val="tx1"/>
                </a:solidFill>
              </a:rPr>
              <a:t>Domain memakai entitasnya sendiri: Posisi (lintang, bujur, akurasiMeter, waktu, palsu) dan FotoBukti.</a:t>
            </a:r>
            <a:endParaRPr lang="en-US" sz="1700" dirty="0"/>
          </a:p>
          <a:p>
            <a:pPr marL="228600" indent="-228600">
              <a:spcAft>
                <a:spcPts val="800"/>
              </a:spcAft>
              <a:buSzPct val="100000"/>
              <a:buChar char="•"/>
            </a:pPr>
            <a:r>
              <a:rPr lang="en-US" sz="1700" dirty="0">
                <a:solidFill>
                  <a:schemeClr val="tx1"/>
                </a:solidFill>
              </a:rPr>
              <a:t>interface: hanya boleh diimplementasikan (implements), bukan diwarisi (extends).</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Kegagalan Baru untuk Dunia Perangkat</a:t>
            </a:r>
            <a:endParaRPr lang="en-US" sz="32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443094"/>
                <a:gridCol w="3443094"/>
                <a:gridCol w="4208226"/>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Kegagalan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Artinya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Berasal dari (implementasi asli)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48640">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LayananLokasiMati()</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Sakelar Lokasi mati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isLocationServiceEnabled() false, LocationServiceDisabledException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IzinDitolak(fitur)</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Belum diberikan, masih boleh diminta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denied, PermissionDeniedException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IzinDiblokir(fitur)</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Hanya bisa lewat Pengaturan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deniedForever, camera_access_denied</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PerangkatTidakMendukung(fitur)</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Perangkat tak punya fiturnya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no_available_camera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Dibatalkan()</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Pengguna sengaja membatalkan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pickImage mengembalikan null</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WaktuHabis()</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Posisi tak didapat dalam batas waktu</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TimeoutException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fitur = Fitur.lokasi, Fitur.kamera, atau Fitur.galeri. Studi kasus menambah GangguanPerangkat(kode).</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Implementasi Asli Lokasi: Penerjemah</a:t>
            </a:r>
            <a:endParaRPr lang="en-US" sz="3200" dirty="0"/>
          </a:p>
        </p:txBody>
      </p:sp>
      <p:sp>
        <p:nvSpPr>
          <p:cNvPr id="4" name="kotak kode"/>
          <p:cNvSpPr txBox="1"/>
          <p:nvPr/>
        </p:nvSpPr>
        <p:spPr>
          <a:xfrm>
            <a:off x="548640" y="1371600"/>
            <a:ext cx="6766560" cy="4107942"/>
          </a:xfrm>
          <a:prstGeom prst="roundRect">
            <a:avLst>
              <a:gd name="adj" fmla="val 2226"/>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LayananLokasiGeolocator</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implements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LayananLokasi</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89DDFF"/>
                </a:solidFill>
                <a:latin typeface="Consolas" pitchFamily="34" charset="0"/>
                <a:ea typeface="Consolas" pitchFamily="34" charset="-122"/>
                <a:cs typeface="Consolas" pitchFamily="34" charset="-120"/>
              </a:rPr>
              <a:t>@override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Posisi</a:t>
            </a:r>
            <a:r>
              <a:rPr lang="en-US" sz="1100" dirty="0">
                <a:solidFill>
                  <a:srgbClr val="E6EDF3"/>
                </a:solidFill>
                <a:latin typeface="Consolas" pitchFamily="34" charset="0"/>
                <a:ea typeface="Consolas" pitchFamily="34" charset="-122"/>
                <a:cs typeface="Consolas" pitchFamily="34" charset="-120"/>
              </a:rPr>
              <a:t>&gt;&gt; posisiSekarang()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Geolocator</a:t>
            </a:r>
            <a:r>
              <a:rPr lang="en-US" sz="1100" dirty="0">
                <a:solidFill>
                  <a:srgbClr val="E6EDF3"/>
                </a:solidFill>
                <a:latin typeface="Consolas" pitchFamily="34" charset="0"/>
                <a:ea typeface="Consolas" pitchFamily="34" charset="-122"/>
                <a:cs typeface="Consolas" pitchFamily="34" charset="-120"/>
              </a:rPr>
              <a:t>.isLocationServiceEnabled())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LayananLokasiMati</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 izin seperti Contoh 03 -&gt; IzinDitolak atau IzinDiblokir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try</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Position</a:t>
            </a:r>
            <a:r>
              <a:rPr lang="en-US" sz="1100" dirty="0">
                <a:solidFill>
                  <a:srgbClr val="E6EDF3"/>
                </a:solidFill>
                <a:latin typeface="Consolas" pitchFamily="34" charset="0"/>
                <a:ea typeface="Consolas" pitchFamily="34" charset="-122"/>
                <a:cs typeface="Consolas" pitchFamily="34" charset="-120"/>
              </a:rPr>
              <a:t> p =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Geolocator</a:t>
            </a:r>
            <a:r>
              <a:rPr lang="en-US" sz="1100" dirty="0">
                <a:solidFill>
                  <a:srgbClr val="E6EDF3"/>
                </a:solidFill>
                <a:latin typeface="Consolas" pitchFamily="34" charset="0"/>
                <a:ea typeface="Consolas" pitchFamily="34" charset="-122"/>
                <a:cs typeface="Consolas" pitchFamily="34" charset="-120"/>
              </a:rPr>
              <a:t>.getCurrentPosition(</a:t>
            </a:r>
            <a:r>
              <a:rPr lang="en-US" sz="1100" i="1" dirty="0">
                <a:solidFill>
                  <a:srgbClr val="8FA3BC"/>
                </a:solidFill>
                <a:latin typeface="Consolas" pitchFamily="34" charset="0"/>
                <a:ea typeface="Consolas" pitchFamily="34" charset="-122"/>
                <a:cs typeface="Consolas" pitchFamily="34" charset="-120"/>
              </a:rPr>
              <a:t>/* ... */</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Berhasil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Posisi</a:t>
            </a:r>
            <a:r>
              <a:rPr lang="en-US" sz="1100" dirty="0">
                <a:solidFill>
                  <a:srgbClr val="E6EDF3"/>
                </a:solidFill>
                <a:latin typeface="Consolas" pitchFamily="34" charset="0"/>
                <a:ea typeface="Consolas" pitchFamily="34" charset="-122"/>
                <a:cs typeface="Consolas" pitchFamily="34" charset="-120"/>
              </a:rPr>
              <a:t>(</a:t>
            </a:r>
            <a:r>
              <a:rPr lang="en-US" sz="1100" i="1" dirty="0">
                <a:solidFill>
                  <a:srgbClr val="8FA3BC"/>
                </a:solidFill>
                <a:latin typeface="Consolas" pitchFamily="34" charset="0"/>
                <a:ea typeface="Consolas" pitchFamily="34" charset="-122"/>
                <a:cs typeface="Consolas" pitchFamily="34" charset="-120"/>
              </a:rPr>
              <a:t>/* ..., palsu: p.isMocked */</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792EA"/>
                </a:solidFill>
                <a:latin typeface="Consolas" pitchFamily="34" charset="0"/>
                <a:ea typeface="Consolas" pitchFamily="34" charset="-122"/>
                <a:cs typeface="Consolas" pitchFamily="34" charset="-120"/>
              </a:rPr>
              <a:t>on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TimeoutException</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WaktuHabis</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792EA"/>
                </a:solidFill>
                <a:latin typeface="Consolas" pitchFamily="34" charset="0"/>
                <a:ea typeface="Consolas" pitchFamily="34" charset="-122"/>
                <a:cs typeface="Consolas" pitchFamily="34" charset="-120"/>
              </a:rPr>
              <a:t>on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LocationServiceDisabledException</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LayananLokasiMati</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792EA"/>
                </a:solidFill>
                <a:latin typeface="Consolas" pitchFamily="34" charset="0"/>
                <a:ea typeface="Consolas" pitchFamily="34" charset="-122"/>
                <a:cs typeface="Consolas" pitchFamily="34" charset="-120"/>
              </a:rPr>
              <a:t>on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PermissionDeniedException</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IzinDitolak</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Fitur</a:t>
            </a:r>
            <a:r>
              <a:rPr lang="en-US" sz="1100" dirty="0">
                <a:solidFill>
                  <a:srgbClr val="E6EDF3"/>
                </a:solidFill>
                <a:latin typeface="Consolas" pitchFamily="34" charset="0"/>
                <a:ea typeface="Consolas" pitchFamily="34" charset="-122"/>
                <a:cs typeface="Consolas" pitchFamily="34" charset="-120"/>
              </a:rPr>
              <a:t>.lokasi));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792EA"/>
                </a:solidFill>
                <a:latin typeface="Consolas" pitchFamily="34" charset="0"/>
                <a:ea typeface="Consolas" pitchFamily="34" charset="-122"/>
                <a:cs typeface="Consolas" pitchFamily="34" charset="-120"/>
              </a:rPr>
              <a:t>on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PositionUpdateException</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GangguanPerangkat</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3E88D"/>
                </a:solidFill>
                <a:latin typeface="Consolas" pitchFamily="34" charset="0"/>
                <a:ea typeface="Consolas" pitchFamily="34" charset="-122"/>
                <a:cs typeface="Consolas" pitchFamily="34" charset="-120"/>
              </a:rPr>
              <a:t>'position_update'</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3_fitur_perangkat_dan_izin/kode/contoh_08_studi_kasus_presensi.dart"/>
          </p:cNvPr>
          <p:cNvSpPr txBox="1"/>
          <p:nvPr/>
        </p:nvSpPr>
        <p:spPr>
          <a:xfrm>
            <a:off x="548640" y="5708142"/>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contoh_08_studi_kasus_presensi.dart</a:t>
            </a:r>
            <a:endParaRPr lang="en-US" sz="1300" dirty="0"/>
          </a:p>
        </p:txBody>
      </p:sp>
      <p:pic>
        <p:nvPicPr>
          <p:cNvPr id="6" name="Image 0" descr="ikon tautan">
            <a:hlinkClick r:id="rId3" tooltip="https://github.com/antonprafanto/mobile2026/blob/main/pertemuan_13_fitur_perangkat_dan_izin/kode/contoh_08_studi_kasus_presensi.dart"/>
          </p:cNvPr>
          <p:cNvPicPr>
            <a:picLocks noChangeAspect="1"/>
          </p:cNvPicPr>
          <p:nvPr/>
        </p:nvPicPr>
        <p:blipFill>
          <a:blip r:embed="rId2"/>
          <a:stretch>
            <a:fillRect/>
          </a:stretch>
        </p:blipFill>
        <p:spPr>
          <a:xfrm>
            <a:off x="694944" y="5799582"/>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SATU-SATUNYA bagian yang mengenal paket geolocator.</a:t>
            </a:r>
            <a:endParaRPr lang="en-US" sz="1700" dirty="0"/>
          </a:p>
          <a:p>
            <a:pPr marL="228600" indent="-228600">
              <a:spcAft>
                <a:spcPts val="800"/>
              </a:spcAft>
              <a:buSzPct val="100000"/>
              <a:buChar char="•"/>
            </a:pPr>
            <a:r>
              <a:rPr lang="en-US" sz="1700" dirty="0">
                <a:solidFill>
                  <a:schemeClr val="tx1"/>
                </a:solidFill>
              </a:rPr>
              <a:t>Setiap exception diterjemahkan menjadi Kegagalan, tanpa catch-all.</a:t>
            </a:r>
            <a:endParaRPr lang="en-US" sz="1700" dirty="0"/>
          </a:p>
          <a:p>
            <a:pPr marL="228600" indent="-228600">
              <a:spcAft>
                <a:spcPts val="800"/>
              </a:spcAft>
              <a:buSzPct val="100000"/>
              <a:buChar char="•"/>
            </a:pPr>
            <a:r>
              <a:rPr lang="en-US" sz="1700" dirty="0">
                <a:solidFill>
                  <a:schemeClr val="tx1"/>
                </a:solidFill>
              </a:rPr>
              <a:t>Position diubah menjadi Posisi milik domain; palsu diambil dari p.isMocked.</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Implementasi Asli Kamera</a:t>
            </a:r>
            <a:endParaRPr lang="en-US" sz="3200" dirty="0"/>
          </a:p>
        </p:txBody>
      </p:sp>
      <p:sp>
        <p:nvSpPr>
          <p:cNvPr id="4" name="kotak kode"/>
          <p:cNvSpPr txBox="1"/>
          <p:nvPr/>
        </p:nvSpPr>
        <p:spPr>
          <a:xfrm>
            <a:off x="548640" y="1371600"/>
            <a:ext cx="6949440" cy="4107942"/>
          </a:xfrm>
          <a:prstGeom prst="roundRect">
            <a:avLst>
              <a:gd name="adj" fmla="val 2226"/>
            </a:avLst>
          </a:prstGeom>
          <a:solidFill>
            <a:srgbClr val="0E1A2B"/>
          </a:solidFill>
          <a:ln/>
        </p:spPr>
        <p:txBody>
          <a:bodyPr wrap="square" lIns="177800" tIns="152400" rIns="152400" bIns="177800" rtlCol="0" anchor="t"/>
          <a:lstStyle/>
          <a:p>
            <a:pPr indent="0" marL="0">
              <a:lnSpc>
                <a:spcPct val="105000"/>
              </a:lnSpc>
              <a:buNone/>
            </a:pPr>
            <a:r>
              <a:rPr lang="en-US" sz="1050" dirty="0">
                <a:solidFill>
                  <a:srgbClr val="FFCB6B"/>
                </a:solidFill>
                <a:latin typeface="Consolas" pitchFamily="34" charset="0"/>
                <a:ea typeface="Consolas" pitchFamily="34" charset="-122"/>
                <a:cs typeface="Consolas" pitchFamily="34" charset="-120"/>
              </a:rPr>
              <a:t>Future</a:t>
            </a:r>
            <a:r>
              <a:rPr lang="en-US" sz="1050" dirty="0">
                <a:solidFill>
                  <a:srgbClr val="E6EDF3"/>
                </a:solidFill>
                <a:latin typeface="Consolas" pitchFamily="34" charset="0"/>
                <a:ea typeface="Consolas" pitchFamily="34" charset="-122"/>
                <a:cs typeface="Consolas" pitchFamily="34" charset="-120"/>
              </a:rPr>
              <a:t>&lt;</a:t>
            </a:r>
            <a:r>
              <a:rPr lang="en-US" sz="1050" dirty="0">
                <a:solidFill>
                  <a:srgbClr val="FFCB6B"/>
                </a:solidFill>
                <a:latin typeface="Consolas" pitchFamily="34" charset="0"/>
                <a:ea typeface="Consolas" pitchFamily="34" charset="-122"/>
                <a:cs typeface="Consolas" pitchFamily="34" charset="-120"/>
              </a:rPr>
              <a:t>Hasil</a:t>
            </a:r>
            <a:r>
              <a:rPr lang="en-US" sz="1050" dirty="0">
                <a:solidFill>
                  <a:srgbClr val="E6EDF3"/>
                </a:solidFill>
                <a:latin typeface="Consolas" pitchFamily="34" charset="0"/>
                <a:ea typeface="Consolas" pitchFamily="34" charset="-122"/>
                <a:cs typeface="Consolas" pitchFamily="34" charset="-120"/>
              </a:rPr>
              <a:t>&lt;</a:t>
            </a:r>
            <a:r>
              <a:rPr lang="en-US" sz="1050" dirty="0">
                <a:solidFill>
                  <a:srgbClr val="FFCB6B"/>
                </a:solidFill>
                <a:latin typeface="Consolas" pitchFamily="34" charset="0"/>
                <a:ea typeface="Consolas" pitchFamily="34" charset="-122"/>
                <a:cs typeface="Consolas" pitchFamily="34" charset="-120"/>
              </a:rPr>
              <a:t>FotoBukti</a:t>
            </a:r>
            <a:r>
              <a:rPr lang="en-US" sz="1050" dirty="0">
                <a:solidFill>
                  <a:srgbClr val="E6EDF3"/>
                </a:solidFill>
                <a:latin typeface="Consolas" pitchFamily="34" charset="0"/>
                <a:ea typeface="Consolas" pitchFamily="34" charset="-122"/>
                <a:cs typeface="Consolas" pitchFamily="34" charset="-120"/>
              </a:rPr>
              <a:t>&gt;&gt; ambil({</a:t>
            </a:r>
            <a:r>
              <a:rPr lang="en-US" sz="1050" dirty="0">
                <a:solidFill>
                  <a:srgbClr val="C792EA"/>
                </a:solidFill>
                <a:latin typeface="Consolas" pitchFamily="34" charset="0"/>
                <a:ea typeface="Consolas" pitchFamily="34" charset="-122"/>
                <a:cs typeface="Consolas" pitchFamily="34" charset="-120"/>
              </a:rPr>
              <a:t>required</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bool</a:t>
            </a:r>
            <a:r>
              <a:rPr lang="en-US" sz="1050" dirty="0">
                <a:solidFill>
                  <a:srgbClr val="E6EDF3"/>
                </a:solidFill>
                <a:latin typeface="Consolas" pitchFamily="34" charset="0"/>
                <a:ea typeface="Consolas" pitchFamily="34" charset="-122"/>
                <a:cs typeface="Consolas" pitchFamily="34" charset="-120"/>
              </a:rPr>
              <a:t> dariKamera}) </a:t>
            </a:r>
            <a:r>
              <a:rPr lang="en-US" sz="1050" dirty="0">
                <a:solidFill>
                  <a:srgbClr val="C792EA"/>
                </a:solidFill>
                <a:latin typeface="Consolas" pitchFamily="34" charset="0"/>
                <a:ea typeface="Consolas" pitchFamily="34" charset="-122"/>
                <a:cs typeface="Consolas" pitchFamily="34" charset="-120"/>
              </a:rPr>
              <a:t>async</a:t>
            </a: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try</a:t>
            </a: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final</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XFile</a:t>
            </a:r>
            <a:r>
              <a:rPr lang="en-US" sz="1050" dirty="0">
                <a:solidFill>
                  <a:srgbClr val="E6EDF3"/>
                </a:solidFill>
                <a:latin typeface="Consolas" pitchFamily="34" charset="0"/>
                <a:ea typeface="Consolas" pitchFamily="34" charset="-122"/>
                <a:cs typeface="Consolas" pitchFamily="34" charset="-120"/>
              </a:rPr>
              <a:t>? berkas = </a:t>
            </a:r>
            <a:r>
              <a:rPr lang="en-US" sz="1050" dirty="0">
                <a:solidFill>
                  <a:srgbClr val="C792EA"/>
                </a:solidFill>
                <a:latin typeface="Consolas" pitchFamily="34" charset="0"/>
                <a:ea typeface="Consolas" pitchFamily="34" charset="-122"/>
                <a:cs typeface="Consolas" pitchFamily="34" charset="-120"/>
              </a:rPr>
              <a:t>await</a:t>
            </a:r>
            <a:r>
              <a:rPr lang="en-US" sz="1050" dirty="0">
                <a:solidFill>
                  <a:srgbClr val="E6EDF3"/>
                </a:solidFill>
                <a:latin typeface="Consolas" pitchFamily="34" charset="0"/>
                <a:ea typeface="Consolas" pitchFamily="34" charset="-122"/>
                <a:cs typeface="Consolas" pitchFamily="34" charset="-120"/>
              </a:rPr>
              <a:t> _pemilih.pickImage(</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source: dariKamera ? </a:t>
            </a:r>
            <a:r>
              <a:rPr lang="en-US" sz="1050" dirty="0">
                <a:solidFill>
                  <a:srgbClr val="FFCB6B"/>
                </a:solidFill>
                <a:latin typeface="Consolas" pitchFamily="34" charset="0"/>
                <a:ea typeface="Consolas" pitchFamily="34" charset="-122"/>
                <a:cs typeface="Consolas" pitchFamily="34" charset="-120"/>
              </a:rPr>
              <a:t>ImageSource</a:t>
            </a:r>
            <a:r>
              <a:rPr lang="en-US" sz="1050" dirty="0">
                <a:solidFill>
                  <a:srgbClr val="E6EDF3"/>
                </a:solidFill>
                <a:latin typeface="Consolas" pitchFamily="34" charset="0"/>
                <a:ea typeface="Consolas" pitchFamily="34" charset="-122"/>
                <a:cs typeface="Consolas" pitchFamily="34" charset="-120"/>
              </a:rPr>
              <a:t>.camera : </a:t>
            </a:r>
            <a:r>
              <a:rPr lang="en-US" sz="1050" dirty="0">
                <a:solidFill>
                  <a:srgbClr val="FFCB6B"/>
                </a:solidFill>
                <a:latin typeface="Consolas" pitchFamily="34" charset="0"/>
                <a:ea typeface="Consolas" pitchFamily="34" charset="-122"/>
                <a:cs typeface="Consolas" pitchFamily="34" charset="-120"/>
              </a:rPr>
              <a:t>ImageSource</a:t>
            </a:r>
            <a:r>
              <a:rPr lang="en-US" sz="1050" dirty="0">
                <a:solidFill>
                  <a:srgbClr val="E6EDF3"/>
                </a:solidFill>
                <a:latin typeface="Consolas" pitchFamily="34" charset="0"/>
                <a:ea typeface="Consolas" pitchFamily="34" charset="-122"/>
                <a:cs typeface="Consolas" pitchFamily="34" charset="-120"/>
              </a:rPr>
              <a:t>.gallery,</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preferredCameraDevice: </a:t>
            </a:r>
            <a:r>
              <a:rPr lang="en-US" sz="1050" dirty="0">
                <a:solidFill>
                  <a:srgbClr val="FFCB6B"/>
                </a:solidFill>
                <a:latin typeface="Consolas" pitchFamily="34" charset="0"/>
                <a:ea typeface="Consolas" pitchFamily="34" charset="-122"/>
                <a:cs typeface="Consolas" pitchFamily="34" charset="-120"/>
              </a:rPr>
              <a:t>CameraDevice</a:t>
            </a:r>
            <a:r>
              <a:rPr lang="en-US" sz="1050" dirty="0">
                <a:solidFill>
                  <a:srgbClr val="E6EDF3"/>
                </a:solidFill>
                <a:latin typeface="Consolas" pitchFamily="34" charset="0"/>
                <a:ea typeface="Consolas" pitchFamily="34" charset="-122"/>
                <a:cs typeface="Consolas" pitchFamily="34" charset="-120"/>
              </a:rPr>
              <a:t>.front,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maxWidth: </a:t>
            </a:r>
            <a:r>
              <a:rPr lang="en-US" sz="1050" dirty="0">
                <a:solidFill>
                  <a:srgbClr val="F78C6C"/>
                </a:solidFill>
                <a:latin typeface="Consolas" pitchFamily="34" charset="0"/>
                <a:ea typeface="Consolas" pitchFamily="34" charset="-122"/>
                <a:cs typeface="Consolas" pitchFamily="34" charset="-120"/>
              </a:rPr>
              <a:t>720</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imageQuality: </a:t>
            </a:r>
            <a:r>
              <a:rPr lang="en-US" sz="1050" dirty="0">
                <a:solidFill>
                  <a:srgbClr val="F78C6C"/>
                </a:solidFill>
                <a:latin typeface="Consolas" pitchFamily="34" charset="0"/>
                <a:ea typeface="Consolas" pitchFamily="34" charset="-122"/>
                <a:cs typeface="Consolas" pitchFamily="34" charset="-120"/>
              </a:rPr>
              <a:t>70</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requestFullMetadata: </a:t>
            </a:r>
            <a:r>
              <a:rPr lang="en-US" sz="1050" dirty="0">
                <a:solidFill>
                  <a:srgbClr val="C792EA"/>
                </a:solidFill>
                <a:latin typeface="Consolas" pitchFamily="34" charset="0"/>
                <a:ea typeface="Consolas" pitchFamily="34" charset="-122"/>
                <a:cs typeface="Consolas" pitchFamily="34" charset="-120"/>
              </a:rPr>
              <a:t>false</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if</a:t>
            </a:r>
            <a:r>
              <a:rPr lang="en-US" sz="1050" dirty="0">
                <a:solidFill>
                  <a:srgbClr val="E6EDF3"/>
                </a:solidFill>
                <a:latin typeface="Consolas" pitchFamily="34" charset="0"/>
                <a:ea typeface="Consolas" pitchFamily="34" charset="-122"/>
                <a:cs typeface="Consolas" pitchFamily="34" charset="-120"/>
              </a:rPr>
              <a:t> (berkas == </a:t>
            </a:r>
            <a:r>
              <a:rPr lang="en-US" sz="1050" dirty="0">
                <a:solidFill>
                  <a:srgbClr val="C792EA"/>
                </a:solidFill>
                <a:latin typeface="Consolas" pitchFamily="34" charset="0"/>
                <a:ea typeface="Consolas" pitchFamily="34" charset="-122"/>
                <a:cs typeface="Consolas" pitchFamily="34" charset="-120"/>
              </a:rPr>
              <a:t>null</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return</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const</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Gagal</a:t>
            </a:r>
            <a:r>
              <a:rPr lang="en-US" sz="1050" dirty="0">
                <a:solidFill>
                  <a:srgbClr val="E6EDF3"/>
                </a:solidFill>
                <a:latin typeface="Consolas" pitchFamily="34" charset="0"/>
                <a:ea typeface="Consolas" pitchFamily="34" charset="-122"/>
                <a:cs typeface="Consolas" pitchFamily="34" charset="-120"/>
              </a:rPr>
              <a:t>(</a:t>
            </a:r>
            <a:r>
              <a:rPr lang="en-US" sz="1050" dirty="0">
                <a:solidFill>
                  <a:srgbClr val="FFCB6B"/>
                </a:solidFill>
                <a:latin typeface="Consolas" pitchFamily="34" charset="0"/>
                <a:ea typeface="Consolas" pitchFamily="34" charset="-122"/>
                <a:cs typeface="Consolas" pitchFamily="34" charset="-120"/>
              </a:rPr>
              <a:t>Dibatalkan</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return</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Berhasil</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FotoBukti</a:t>
            </a:r>
            <a:r>
              <a:rPr lang="en-US" sz="1050" dirty="0">
                <a:solidFill>
                  <a:srgbClr val="E6EDF3"/>
                </a:solidFill>
                <a:latin typeface="Consolas" pitchFamily="34" charset="0"/>
                <a:ea typeface="Consolas" pitchFamily="34" charset="-122"/>
                <a:cs typeface="Consolas" pitchFamily="34" charset="-120"/>
              </a:rPr>
              <a:t>(nama: berkas.name, bita: </a:t>
            </a:r>
            <a:r>
              <a:rPr lang="en-US" sz="1050" dirty="0">
                <a:solidFill>
                  <a:srgbClr val="C792EA"/>
                </a:solidFill>
                <a:latin typeface="Consolas" pitchFamily="34" charset="0"/>
                <a:ea typeface="Consolas" pitchFamily="34" charset="-122"/>
                <a:cs typeface="Consolas" pitchFamily="34" charset="-120"/>
              </a:rPr>
              <a:t>await</a:t>
            </a:r>
            <a:r>
              <a:rPr lang="en-US" sz="1050" dirty="0">
                <a:solidFill>
                  <a:srgbClr val="E6EDF3"/>
                </a:solidFill>
                <a:latin typeface="Consolas" pitchFamily="34" charset="0"/>
                <a:ea typeface="Consolas" pitchFamily="34" charset="-122"/>
                <a:cs typeface="Consolas" pitchFamily="34" charset="-120"/>
              </a:rPr>
              <a:t> berkas.readAsBytes()),</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 </a:t>
            </a:r>
            <a:r>
              <a:rPr lang="en-US" sz="1050" dirty="0">
                <a:solidFill>
                  <a:srgbClr val="C792EA"/>
                </a:solidFill>
                <a:latin typeface="Consolas" pitchFamily="34" charset="0"/>
                <a:ea typeface="Consolas" pitchFamily="34" charset="-122"/>
                <a:cs typeface="Consolas" pitchFamily="34" charset="-120"/>
              </a:rPr>
              <a:t>on</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PlatformException</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catch</a:t>
            </a:r>
            <a:r>
              <a:rPr lang="en-US" sz="1050" dirty="0">
                <a:solidFill>
                  <a:srgbClr val="E6EDF3"/>
                </a:solidFill>
                <a:latin typeface="Consolas" pitchFamily="34" charset="0"/>
                <a:ea typeface="Consolas" pitchFamily="34" charset="-122"/>
                <a:cs typeface="Consolas" pitchFamily="34" charset="-120"/>
              </a:rPr>
              <a:t> (e)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return</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Gagal</a:t>
            </a:r>
            <a:r>
              <a:rPr lang="en-US" sz="1050" dirty="0">
                <a:solidFill>
                  <a:srgbClr val="E6EDF3"/>
                </a:solidFill>
                <a:latin typeface="Consolas" pitchFamily="34" charset="0"/>
                <a:ea typeface="Consolas" pitchFamily="34" charset="-122"/>
                <a:cs typeface="Consolas" pitchFamily="34" charset="-120"/>
              </a:rPr>
              <a:t>(</a:t>
            </a:r>
            <a:r>
              <a:rPr lang="en-US" sz="1050" dirty="0">
                <a:solidFill>
                  <a:srgbClr val="C792EA"/>
                </a:solidFill>
                <a:latin typeface="Consolas" pitchFamily="34" charset="0"/>
                <a:ea typeface="Consolas" pitchFamily="34" charset="-122"/>
                <a:cs typeface="Consolas" pitchFamily="34" charset="-120"/>
              </a:rPr>
              <a:t>switch</a:t>
            </a:r>
            <a:r>
              <a:rPr lang="en-US" sz="1050" dirty="0">
                <a:solidFill>
                  <a:srgbClr val="E6EDF3"/>
                </a:solidFill>
                <a:latin typeface="Consolas" pitchFamily="34" charset="0"/>
                <a:ea typeface="Consolas" pitchFamily="34" charset="-122"/>
                <a:cs typeface="Consolas" pitchFamily="34" charset="-120"/>
              </a:rPr>
              <a:t> (e.code)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3E88D"/>
                </a:solidFill>
                <a:latin typeface="Consolas" pitchFamily="34" charset="0"/>
                <a:ea typeface="Consolas" pitchFamily="34" charset="-122"/>
                <a:cs typeface="Consolas" pitchFamily="34" charset="-120"/>
              </a:rPr>
              <a:t>'camera_access_denied'</a:t>
            </a:r>
            <a:r>
              <a:rPr lang="en-US" sz="1050" dirty="0">
                <a:solidFill>
                  <a:srgbClr val="E6EDF3"/>
                </a:solidFill>
                <a:latin typeface="Consolas" pitchFamily="34" charset="0"/>
                <a:ea typeface="Consolas" pitchFamily="34" charset="-122"/>
                <a:cs typeface="Consolas" pitchFamily="34" charset="-120"/>
              </a:rPr>
              <a:t> =&gt; </a:t>
            </a:r>
            <a:r>
              <a:rPr lang="en-US" sz="1050" dirty="0">
                <a:solidFill>
                  <a:srgbClr val="C792EA"/>
                </a:solidFill>
                <a:latin typeface="Consolas" pitchFamily="34" charset="0"/>
                <a:ea typeface="Consolas" pitchFamily="34" charset="-122"/>
                <a:cs typeface="Consolas" pitchFamily="34" charset="-120"/>
              </a:rPr>
              <a:t>const</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IzinDiblokir</a:t>
            </a:r>
            <a:r>
              <a:rPr lang="en-US" sz="1050" dirty="0">
                <a:solidFill>
                  <a:srgbClr val="E6EDF3"/>
                </a:solidFill>
                <a:latin typeface="Consolas" pitchFamily="34" charset="0"/>
                <a:ea typeface="Consolas" pitchFamily="34" charset="-122"/>
                <a:cs typeface="Consolas" pitchFamily="34" charset="-120"/>
              </a:rPr>
              <a:t>(</a:t>
            </a:r>
            <a:r>
              <a:rPr lang="en-US" sz="1050" dirty="0">
                <a:solidFill>
                  <a:srgbClr val="FFCB6B"/>
                </a:solidFill>
                <a:latin typeface="Consolas" pitchFamily="34" charset="0"/>
                <a:ea typeface="Consolas" pitchFamily="34" charset="-122"/>
                <a:cs typeface="Consolas" pitchFamily="34" charset="-120"/>
              </a:rPr>
              <a:t>Fitur</a:t>
            </a:r>
            <a:r>
              <a:rPr lang="en-US" sz="1050" dirty="0">
                <a:solidFill>
                  <a:srgbClr val="E6EDF3"/>
                </a:solidFill>
                <a:latin typeface="Consolas" pitchFamily="34" charset="0"/>
                <a:ea typeface="Consolas" pitchFamily="34" charset="-122"/>
                <a:cs typeface="Consolas" pitchFamily="34" charset="-120"/>
              </a:rPr>
              <a:t>.kamera),</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3E88D"/>
                </a:solidFill>
                <a:latin typeface="Consolas" pitchFamily="34" charset="0"/>
                <a:ea typeface="Consolas" pitchFamily="34" charset="-122"/>
                <a:cs typeface="Consolas" pitchFamily="34" charset="-120"/>
              </a:rPr>
              <a:t>'photo_access_denied'</a:t>
            </a:r>
            <a:r>
              <a:rPr lang="en-US" sz="1050" dirty="0">
                <a:solidFill>
                  <a:srgbClr val="E6EDF3"/>
                </a:solidFill>
                <a:latin typeface="Consolas" pitchFamily="34" charset="0"/>
                <a:ea typeface="Consolas" pitchFamily="34" charset="-122"/>
                <a:cs typeface="Consolas" pitchFamily="34" charset="-120"/>
              </a:rPr>
              <a:t> =&gt; </a:t>
            </a:r>
            <a:r>
              <a:rPr lang="en-US" sz="1050" dirty="0">
                <a:solidFill>
                  <a:srgbClr val="C792EA"/>
                </a:solidFill>
                <a:latin typeface="Consolas" pitchFamily="34" charset="0"/>
                <a:ea typeface="Consolas" pitchFamily="34" charset="-122"/>
                <a:cs typeface="Consolas" pitchFamily="34" charset="-120"/>
              </a:rPr>
              <a:t>const</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IzinDiblokir</a:t>
            </a:r>
            <a:r>
              <a:rPr lang="en-US" sz="1050" dirty="0">
                <a:solidFill>
                  <a:srgbClr val="E6EDF3"/>
                </a:solidFill>
                <a:latin typeface="Consolas" pitchFamily="34" charset="0"/>
                <a:ea typeface="Consolas" pitchFamily="34" charset="-122"/>
                <a:cs typeface="Consolas" pitchFamily="34" charset="-120"/>
              </a:rPr>
              <a:t>(</a:t>
            </a:r>
            <a:r>
              <a:rPr lang="en-US" sz="1050" dirty="0">
                <a:solidFill>
                  <a:srgbClr val="FFCB6B"/>
                </a:solidFill>
                <a:latin typeface="Consolas" pitchFamily="34" charset="0"/>
                <a:ea typeface="Consolas" pitchFamily="34" charset="-122"/>
                <a:cs typeface="Consolas" pitchFamily="34" charset="-120"/>
              </a:rPr>
              <a:t>Fitur</a:t>
            </a:r>
            <a:r>
              <a:rPr lang="en-US" sz="1050" dirty="0">
                <a:solidFill>
                  <a:srgbClr val="E6EDF3"/>
                </a:solidFill>
                <a:latin typeface="Consolas" pitchFamily="34" charset="0"/>
                <a:ea typeface="Consolas" pitchFamily="34" charset="-122"/>
                <a:cs typeface="Consolas" pitchFamily="34" charset="-120"/>
              </a:rPr>
              <a:t>.galeri),</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3E88D"/>
                </a:solidFill>
                <a:latin typeface="Consolas" pitchFamily="34" charset="0"/>
                <a:ea typeface="Consolas" pitchFamily="34" charset="-122"/>
                <a:cs typeface="Consolas" pitchFamily="34" charset="-120"/>
              </a:rPr>
              <a:t>'no_available_camera'</a:t>
            </a:r>
            <a:r>
              <a:rPr lang="en-US" sz="1050" dirty="0">
                <a:solidFill>
                  <a:srgbClr val="E6EDF3"/>
                </a:solidFill>
                <a:latin typeface="Consolas" pitchFamily="34" charset="0"/>
                <a:ea typeface="Consolas" pitchFamily="34" charset="-122"/>
                <a:cs typeface="Consolas" pitchFamily="34" charset="-120"/>
              </a:rPr>
              <a:t> =&gt; </a:t>
            </a:r>
            <a:r>
              <a:rPr lang="en-US" sz="1050" dirty="0">
                <a:solidFill>
                  <a:srgbClr val="C792EA"/>
                </a:solidFill>
                <a:latin typeface="Consolas" pitchFamily="34" charset="0"/>
                <a:ea typeface="Consolas" pitchFamily="34" charset="-122"/>
                <a:cs typeface="Consolas" pitchFamily="34" charset="-120"/>
              </a:rPr>
              <a:t>const</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PerangkatTidakMendukung</a:t>
            </a:r>
            <a:r>
              <a:rPr lang="en-US" sz="1050" dirty="0">
                <a:solidFill>
                  <a:srgbClr val="E6EDF3"/>
                </a:solidFill>
                <a:latin typeface="Consolas" pitchFamily="34" charset="0"/>
                <a:ea typeface="Consolas" pitchFamily="34" charset="-122"/>
                <a:cs typeface="Consolas" pitchFamily="34" charset="-120"/>
              </a:rPr>
              <a:t>(</a:t>
            </a:r>
            <a:r>
              <a:rPr lang="en-US" sz="1050" dirty="0">
                <a:solidFill>
                  <a:srgbClr val="FFCB6B"/>
                </a:solidFill>
                <a:latin typeface="Consolas" pitchFamily="34" charset="0"/>
                <a:ea typeface="Consolas" pitchFamily="34" charset="-122"/>
                <a:cs typeface="Consolas" pitchFamily="34" charset="-120"/>
              </a:rPr>
              <a:t>Fitur</a:t>
            </a:r>
            <a:r>
              <a:rPr lang="en-US" sz="1050" dirty="0">
                <a:solidFill>
                  <a:srgbClr val="E6EDF3"/>
                </a:solidFill>
                <a:latin typeface="Consolas" pitchFamily="34" charset="0"/>
                <a:ea typeface="Consolas" pitchFamily="34" charset="-122"/>
                <a:cs typeface="Consolas" pitchFamily="34" charset="-120"/>
              </a:rPr>
              <a:t>.kamera),</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_ =&gt; </a:t>
            </a:r>
            <a:r>
              <a:rPr lang="en-US" sz="1050" dirty="0">
                <a:solidFill>
                  <a:srgbClr val="FFCB6B"/>
                </a:solidFill>
                <a:latin typeface="Consolas" pitchFamily="34" charset="0"/>
                <a:ea typeface="Consolas" pitchFamily="34" charset="-122"/>
                <a:cs typeface="Consolas" pitchFamily="34" charset="-120"/>
              </a:rPr>
              <a:t>GangguanPerangkat</a:t>
            </a:r>
            <a:r>
              <a:rPr lang="en-US" sz="1050" dirty="0">
                <a:solidFill>
                  <a:srgbClr val="E6EDF3"/>
                </a:solidFill>
                <a:latin typeface="Consolas" pitchFamily="34" charset="0"/>
                <a:ea typeface="Consolas" pitchFamily="34" charset="-122"/>
                <a:cs typeface="Consolas" pitchFamily="34" charset="-120"/>
              </a:rPr>
              <a:t>(e.code),</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p:txBody>
      </p:sp>
      <p:sp>
        <p:nvSpPr>
          <p:cNvPr id="5" name="tombol tautan">
            <a:hlinkClick r:id="rId1" tooltip="https://github.com/antonprafanto/mobile2026/blob/main/pertemuan_13_fitur_perangkat_dan_izin/kode/contoh_08_studi_kasus_presensi.dart"/>
          </p:cNvPr>
          <p:cNvSpPr txBox="1"/>
          <p:nvPr/>
        </p:nvSpPr>
        <p:spPr>
          <a:xfrm>
            <a:off x="548640" y="5708142"/>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contoh_08_studi_kasus_presensi.dart</a:t>
            </a:r>
            <a:endParaRPr lang="en-US" sz="1300" dirty="0"/>
          </a:p>
        </p:txBody>
      </p:sp>
      <p:pic>
        <p:nvPicPr>
          <p:cNvPr id="6" name="Image 0" descr="ikon tautan">
            <a:hlinkClick r:id="rId3" tooltip="https://github.com/antonprafanto/mobile2026/blob/main/pertemuan_13_fitur_perangkat_dan_izin/kode/contoh_08_studi_kasus_presensi.dart"/>
          </p:cNvPr>
          <p:cNvPicPr>
            <a:picLocks noChangeAspect="1"/>
          </p:cNvPicPr>
          <p:nvPr/>
        </p:nvPicPr>
        <p:blipFill>
          <a:blip r:embed="rId2"/>
          <a:stretch>
            <a:fillRect/>
          </a:stretch>
        </p:blipFill>
        <p:spPr>
          <a:xfrm>
            <a:off x="694944" y="5799582"/>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Batal (null) → Dibatalkan.</a:t>
            </a:r>
            <a:endParaRPr lang="en-US" sz="1700" dirty="0"/>
          </a:p>
          <a:p>
            <a:pPr marL="228600" indent="-228600">
              <a:spcAft>
                <a:spcPts val="800"/>
              </a:spcAft>
              <a:buSzPct val="100000"/>
              <a:buChar char="•"/>
            </a:pPr>
            <a:r>
              <a:rPr lang="en-US" sz="1700" dirty="0">
                <a:solidFill>
                  <a:schemeClr val="tx1"/>
                </a:solidFill>
              </a:rPr>
              <a:t>camera_access_denied → IzinDiblokir: image_picker sudah menampilkan dialognya sendiri.</a:t>
            </a:r>
            <a:endParaRPr lang="en-US" sz="1700" dirty="0"/>
          </a:p>
          <a:p>
            <a:pPr marL="228600" indent="-228600">
              <a:spcAft>
                <a:spcPts val="800"/>
              </a:spcAft>
              <a:buSzPct val="100000"/>
              <a:buChar char="•"/>
            </a:pPr>
            <a:r>
              <a:rPr lang="en-US" sz="1700" dirty="0">
                <a:solidFill>
                  <a:schemeClr val="tx1"/>
                </a:solidFill>
              </a:rPr>
              <a:t>Kode galat lain → GangguanPerangkat(kode).</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Data Palsu Berskenario</a:t>
            </a:r>
            <a:endParaRPr lang="en-US" sz="3200" dirty="0"/>
          </a:p>
        </p:txBody>
      </p:sp>
      <p:sp>
        <p:nvSpPr>
          <p:cNvPr id="4" name="kotak kode"/>
          <p:cNvSpPr txBox="1"/>
          <p:nvPr/>
        </p:nvSpPr>
        <p:spPr>
          <a:xfrm>
            <a:off x="548640" y="1371600"/>
            <a:ext cx="6949440" cy="3403854"/>
          </a:xfrm>
          <a:prstGeom prst="roundRect">
            <a:avLst>
              <a:gd name="adj" fmla="val 2686"/>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LayananLokasiPalsu</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implements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LayananLokasi</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SkenarioLokasi</a:t>
            </a:r>
            <a:r>
              <a:rPr lang="en-US" sz="1100" dirty="0">
                <a:solidFill>
                  <a:srgbClr val="E6EDF3"/>
                </a:solidFill>
                <a:latin typeface="Consolas" pitchFamily="34" charset="0"/>
                <a:ea typeface="Consolas" pitchFamily="34" charset="-122"/>
                <a:cs typeface="Consolas" pitchFamily="34" charset="-120"/>
              </a:rPr>
              <a:t> skenario = </a:t>
            </a:r>
            <a:r>
              <a:rPr lang="en-US" sz="1100" dirty="0">
                <a:solidFill>
                  <a:srgbClr val="FFCB6B"/>
                </a:solidFill>
                <a:latin typeface="Consolas" pitchFamily="34" charset="0"/>
                <a:ea typeface="Consolas" pitchFamily="34" charset="-122"/>
                <a:cs typeface="Consolas" pitchFamily="34" charset="-120"/>
              </a:rPr>
              <a:t>SkenarioLokasi</a:t>
            </a:r>
            <a:r>
              <a:rPr lang="en-US" sz="1100" dirty="0">
                <a:solidFill>
                  <a:srgbClr val="E6EDF3"/>
                </a:solidFill>
                <a:latin typeface="Consolas" pitchFamily="34" charset="0"/>
                <a:ea typeface="Consolas" pitchFamily="34" charset="-122"/>
                <a:cs typeface="Consolas" pitchFamily="34" charset="-120"/>
              </a:rPr>
              <a:t>.berhasil;</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int</a:t>
            </a:r>
            <a:r>
              <a:rPr lang="en-US" sz="1100" dirty="0">
                <a:solidFill>
                  <a:srgbClr val="E6EDF3"/>
                </a:solidFill>
                <a:latin typeface="Consolas" pitchFamily="34" charset="0"/>
                <a:ea typeface="Consolas" pitchFamily="34" charset="-122"/>
                <a:cs typeface="Consolas" pitchFamily="34" charset="-120"/>
              </a:rPr>
              <a:t> dipanggil = </a:t>
            </a:r>
            <a:r>
              <a:rPr lang="en-US" sz="1100" dirty="0">
                <a:solidFill>
                  <a:srgbClr val="F78C6C"/>
                </a:solidFill>
                <a:latin typeface="Consolas" pitchFamily="34" charset="0"/>
                <a:ea typeface="Consolas" pitchFamily="34" charset="-122"/>
                <a:cs typeface="Consolas" pitchFamily="34" charset="-120"/>
              </a:rPr>
              <a:t>0</a:t>
            </a: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mata-mata (spy)</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89DDFF"/>
                </a:solidFill>
                <a:latin typeface="Consolas" pitchFamily="34" charset="0"/>
                <a:ea typeface="Consolas" pitchFamily="34" charset="-122"/>
                <a:cs typeface="Consolas" pitchFamily="34" charset="-120"/>
              </a:rPr>
              <a:t>@override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Posisi</a:t>
            </a:r>
            <a:r>
              <a:rPr lang="en-US" sz="1100" dirty="0">
                <a:solidFill>
                  <a:srgbClr val="E6EDF3"/>
                </a:solidFill>
                <a:latin typeface="Consolas" pitchFamily="34" charset="0"/>
                <a:ea typeface="Consolas" pitchFamily="34" charset="-122"/>
                <a:cs typeface="Consolas" pitchFamily="34" charset="-120"/>
              </a:rPr>
              <a:t>&gt;&gt; posisiSekarang()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dipanggil++;</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&gt;.delayed(</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Duration</a:t>
            </a:r>
            <a:r>
              <a:rPr lang="en-US" sz="1100" dirty="0">
                <a:solidFill>
                  <a:srgbClr val="E6EDF3"/>
                </a:solidFill>
                <a:latin typeface="Consolas" pitchFamily="34" charset="0"/>
                <a:ea typeface="Consolas" pitchFamily="34" charset="-122"/>
                <a:cs typeface="Consolas" pitchFamily="34" charset="-120"/>
              </a:rPr>
              <a:t>(milliseconds: </a:t>
            </a:r>
            <a:r>
              <a:rPr lang="en-US" sz="1100" dirty="0">
                <a:solidFill>
                  <a:srgbClr val="F78C6C"/>
                </a:solidFill>
                <a:latin typeface="Consolas" pitchFamily="34" charset="0"/>
                <a:ea typeface="Consolas" pitchFamily="34" charset="-122"/>
                <a:cs typeface="Consolas" pitchFamily="34" charset="-120"/>
              </a:rPr>
              <a:t>300</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switch</a:t>
            </a:r>
            <a:r>
              <a:rPr lang="en-US" sz="1100" dirty="0">
                <a:solidFill>
                  <a:srgbClr val="E6EDF3"/>
                </a:solidFill>
                <a:latin typeface="Consolas" pitchFamily="34" charset="0"/>
                <a:ea typeface="Consolas" pitchFamily="34" charset="-122"/>
                <a:cs typeface="Consolas" pitchFamily="34" charset="-120"/>
              </a:rPr>
              <a:t> (skenario)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SkenarioLokasi</a:t>
            </a:r>
            <a:r>
              <a:rPr lang="en-US" sz="1100" dirty="0">
                <a:solidFill>
                  <a:srgbClr val="E6EDF3"/>
                </a:solidFill>
                <a:latin typeface="Consolas" pitchFamily="34" charset="0"/>
                <a:ea typeface="Consolas" pitchFamily="34" charset="-122"/>
                <a:cs typeface="Consolas" pitchFamily="34" charset="-120"/>
              </a:rPr>
              <a:t>.berhasil =&gt; </a:t>
            </a:r>
            <a:r>
              <a:rPr lang="en-US" sz="1100" dirty="0">
                <a:solidFill>
                  <a:srgbClr val="FFCB6B"/>
                </a:solidFill>
                <a:latin typeface="Consolas" pitchFamily="34" charset="0"/>
                <a:ea typeface="Consolas" pitchFamily="34" charset="-122"/>
                <a:cs typeface="Consolas" pitchFamily="34" charset="-120"/>
              </a:rPr>
              <a:t>Berhasil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Posisi</a:t>
            </a:r>
            <a:r>
              <a:rPr lang="en-US" sz="1100" dirty="0">
                <a:solidFill>
                  <a:srgbClr val="E6EDF3"/>
                </a:solidFill>
                <a:latin typeface="Consolas" pitchFamily="34" charset="0"/>
                <a:ea typeface="Consolas" pitchFamily="34" charset="-122"/>
                <a:cs typeface="Consolas" pitchFamily="34" charset="-120"/>
              </a:rPr>
              <a:t>(</a:t>
            </a:r>
            <a:r>
              <a:rPr lang="en-US" sz="1100" i="1" dirty="0">
                <a:solidFill>
                  <a:srgbClr val="8FA3BC"/>
                </a:solidFill>
                <a:latin typeface="Consolas" pitchFamily="34" charset="0"/>
                <a:ea typeface="Consolas" pitchFamily="34" charset="-122"/>
                <a:cs typeface="Consolas" pitchFamily="34" charset="-120"/>
              </a:rPr>
              <a:t>/* ... ± 8 m */</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SkenarioLokasi</a:t>
            </a:r>
            <a:r>
              <a:rPr lang="en-US" sz="1100" dirty="0">
                <a:solidFill>
                  <a:srgbClr val="E6EDF3"/>
                </a:solidFill>
                <a:latin typeface="Consolas" pitchFamily="34" charset="0"/>
                <a:ea typeface="Consolas" pitchFamily="34" charset="-122"/>
                <a:cs typeface="Consolas" pitchFamily="34" charset="-120"/>
              </a:rPr>
              <a:t>.layananMati =&gt;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LayananLokasiMati</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SkenarioLokasi</a:t>
            </a:r>
            <a:r>
              <a:rPr lang="en-US" sz="1100" dirty="0">
                <a:solidFill>
                  <a:srgbClr val="E6EDF3"/>
                </a:solidFill>
                <a:latin typeface="Consolas" pitchFamily="34" charset="0"/>
                <a:ea typeface="Consolas" pitchFamily="34" charset="-122"/>
                <a:cs typeface="Consolas" pitchFamily="34" charset="-120"/>
              </a:rPr>
              <a:t>.izinDitolak =&gt;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IzinDitolak</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Fitur</a:t>
            </a:r>
            <a:r>
              <a:rPr lang="en-US" sz="1100" dirty="0">
                <a:solidFill>
                  <a:srgbClr val="E6EDF3"/>
                </a:solidFill>
                <a:latin typeface="Consolas" pitchFamily="34" charset="0"/>
                <a:ea typeface="Consolas" pitchFamily="34" charset="-122"/>
                <a:cs typeface="Consolas" pitchFamily="34" charset="-120"/>
              </a:rPr>
              <a:t>.lokasi)),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SkenarioLokasi</a:t>
            </a:r>
            <a:r>
              <a:rPr lang="en-US" sz="1100" dirty="0">
                <a:solidFill>
                  <a:srgbClr val="E6EDF3"/>
                </a:solidFill>
                <a:latin typeface="Consolas" pitchFamily="34" charset="0"/>
                <a:ea typeface="Consolas" pitchFamily="34" charset="-122"/>
                <a:cs typeface="Consolas" pitchFamily="34" charset="-120"/>
              </a:rPr>
              <a:t>.izinDiblokir =&gt;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IzinDiblokir</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Fitur</a:t>
            </a:r>
            <a:r>
              <a:rPr lang="en-US" sz="1100" dirty="0">
                <a:solidFill>
                  <a:srgbClr val="E6EDF3"/>
                </a:solidFill>
                <a:latin typeface="Consolas" pitchFamily="34" charset="0"/>
                <a:ea typeface="Consolas" pitchFamily="34" charset="-122"/>
                <a:cs typeface="Consolas" pitchFamily="34" charset="-120"/>
              </a:rPr>
              <a:t>.lokasi)),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SkenarioLokasi</a:t>
            </a:r>
            <a:r>
              <a:rPr lang="en-US" sz="1100" dirty="0">
                <a:solidFill>
                  <a:srgbClr val="E6EDF3"/>
                </a:solidFill>
                <a:latin typeface="Consolas" pitchFamily="34" charset="0"/>
                <a:ea typeface="Consolas" pitchFamily="34" charset="-122"/>
                <a:cs typeface="Consolas" pitchFamily="34" charset="-120"/>
              </a:rPr>
              <a:t>.waktuHabis =&gt;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WaktuHabis</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3_fitur_perangkat_dan_izin/kode/contoh_07_kontrak_perangkat_dan_data_palsu.dart"/>
          </p:cNvPr>
          <p:cNvSpPr txBox="1"/>
          <p:nvPr/>
        </p:nvSpPr>
        <p:spPr>
          <a:xfrm>
            <a:off x="548640" y="5004054"/>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contoh_07_kontrak_perangkat_dan_data_palsu.dart</a:t>
            </a:r>
            <a:endParaRPr lang="en-US" sz="1300" dirty="0"/>
          </a:p>
        </p:txBody>
      </p:sp>
      <p:pic>
        <p:nvPicPr>
          <p:cNvPr id="6" name="Image 0" descr="ikon tautan">
            <a:hlinkClick r:id="rId3" tooltip="https://github.com/antonprafanto/mobile2026/blob/main/pertemuan_13_fitur_perangkat_dan_izin/kode/contoh_07_kontrak_perangkat_dan_data_palsu.dart"/>
          </p:cNvPr>
          <p:cNvPicPr>
            <a:picLocks noChangeAspect="1"/>
          </p:cNvPicPr>
          <p:nvPr/>
        </p:nvPicPr>
        <p:blipFill>
          <a:blip r:embed="rId2"/>
          <a:stretch>
            <a:fillRect/>
          </a:stretch>
        </p:blipFill>
        <p:spPr>
          <a:xfrm>
            <a:off x="694944" y="5095494"/>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Tidak menyentuh perangkat sama sekali.</a:t>
            </a:r>
            <a:endParaRPr lang="en-US" sz="1700" dirty="0"/>
          </a:p>
          <a:p>
            <a:pPr marL="228600" indent="-228600">
              <a:spcAft>
                <a:spcPts val="800"/>
              </a:spcAft>
              <a:buSzPct val="100000"/>
              <a:buChar char="•"/>
            </a:pPr>
            <a:r>
              <a:rPr lang="en-US" sz="1700" dirty="0">
                <a:solidFill>
                  <a:schemeClr val="tx1"/>
                </a:solidFill>
              </a:rPr>
              <a:t>Skenario dipilih lewat chip di layar atau di pemeriksaan.</a:t>
            </a:r>
            <a:endParaRPr lang="en-US" sz="1700" dirty="0"/>
          </a:p>
          <a:p>
            <a:pPr marL="228600" indent="-228600">
              <a:spcAft>
                <a:spcPts val="800"/>
              </a:spcAft>
              <a:buSzPct val="100000"/>
              <a:buChar char="•"/>
            </a:pPr>
            <a:r>
              <a:rPr lang="en-US" sz="1700" dirty="0">
                <a:solidFill>
                  <a:schemeClr val="tx1"/>
                </a:solidFill>
              </a:rPr>
              <a:t>dipanggil: memastikan dua ketukan cepat hanya memanggil layanan SEKALI.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Satu Tempat untuk Pesan dan Tombol</a:t>
            </a:r>
            <a:endParaRPr lang="en-US" sz="3200" dirty="0"/>
          </a:p>
        </p:txBody>
      </p:sp>
      <p:sp>
        <p:nvSpPr>
          <p:cNvPr id="4" name="kotak kode"/>
          <p:cNvSpPr txBox="1"/>
          <p:nvPr/>
        </p:nvSpPr>
        <p:spPr>
          <a:xfrm>
            <a:off x="548640" y="1371600"/>
            <a:ext cx="6766560" cy="3675888"/>
          </a:xfrm>
          <a:prstGeom prst="roundRect">
            <a:avLst>
              <a:gd name="adj" fmla="val 2488"/>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SATU-SATUNYA tempat yang mengubah Kegagalan menjadi kalimat.</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null berarti tidak perlu pesan apa pun.</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Tanggapan</a:t>
            </a:r>
            <a:r>
              <a:rPr lang="en-US" sz="1200" dirty="0">
                <a:solidFill>
                  <a:srgbClr val="E6EDF3"/>
                </a:solidFill>
                <a:latin typeface="Consolas" pitchFamily="34" charset="0"/>
                <a:ea typeface="Consolas" pitchFamily="34" charset="-122"/>
                <a:cs typeface="Consolas" pitchFamily="34" charset="-120"/>
              </a:rPr>
              <a:t>? tanggapanUntuk(</a:t>
            </a:r>
            <a:r>
              <a:rPr lang="en-US" sz="1200" dirty="0">
                <a:solidFill>
                  <a:srgbClr val="FFCB6B"/>
                </a:solidFill>
                <a:latin typeface="Consolas" pitchFamily="34" charset="0"/>
                <a:ea typeface="Consolas" pitchFamily="34" charset="-122"/>
                <a:cs typeface="Consolas" pitchFamily="34" charset="-120"/>
              </a:rPr>
              <a:t>Kegagalan</a:t>
            </a:r>
            <a:r>
              <a:rPr lang="en-US" sz="1200" dirty="0">
                <a:solidFill>
                  <a:srgbClr val="E6EDF3"/>
                </a:solidFill>
                <a:latin typeface="Consolas" pitchFamily="34" charset="0"/>
                <a:ea typeface="Consolas" pitchFamily="34" charset="-122"/>
                <a:cs typeface="Consolas" pitchFamily="34" charset="-120"/>
              </a:rPr>
              <a:t> kegagalan)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switch</a:t>
            </a:r>
            <a:r>
              <a:rPr lang="en-US" sz="1200" dirty="0">
                <a:solidFill>
                  <a:srgbClr val="E6EDF3"/>
                </a:solidFill>
                <a:latin typeface="Consolas" pitchFamily="34" charset="0"/>
                <a:ea typeface="Consolas" pitchFamily="34" charset="-122"/>
                <a:cs typeface="Consolas" pitchFamily="34" charset="-120"/>
              </a:rPr>
              <a:t> (kegagalan)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Dibatalkan</a:t>
            </a:r>
            <a:r>
              <a:rPr lang="en-US" sz="1200" dirty="0">
                <a:solidFill>
                  <a:srgbClr val="E6EDF3"/>
                </a:solidFill>
                <a:latin typeface="Consolas" pitchFamily="34" charset="0"/>
                <a:ea typeface="Consolas" pitchFamily="34" charset="-122"/>
                <a:cs typeface="Consolas" pitchFamily="34" charset="-120"/>
              </a:rPr>
              <a:t>() =&gt; </a:t>
            </a:r>
            <a:r>
              <a:rPr lang="en-US" sz="1200" dirty="0">
                <a:solidFill>
                  <a:srgbClr val="C792EA"/>
                </a:solidFill>
                <a:latin typeface="Consolas" pitchFamily="34" charset="0"/>
                <a:ea typeface="Consolas" pitchFamily="34" charset="-122"/>
                <a:cs typeface="Consolas" pitchFamily="34" charset="-120"/>
              </a:rPr>
              <a:t>null</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LayananLokasiMati</a:t>
            </a:r>
            <a:r>
              <a:rPr lang="en-US" sz="1200" dirty="0">
                <a:solidFill>
                  <a:srgbClr val="E6EDF3"/>
                </a:solidFill>
                <a:latin typeface="Consolas" pitchFamily="34" charset="0"/>
                <a:ea typeface="Consolas" pitchFamily="34" charset="-122"/>
                <a:cs typeface="Consolas" pitchFamily="34" charset="-120"/>
              </a:rPr>
              <a:t>() =&gt;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Tanggapan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'Layanan lokasi mati. Nyalakan, lalu coba lagi.'</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AksiPerbaikan</a:t>
            </a:r>
            <a:r>
              <a:rPr lang="en-US" sz="1200" dirty="0">
                <a:solidFill>
                  <a:srgbClr val="E6EDF3"/>
                </a:solidFill>
                <a:latin typeface="Consolas" pitchFamily="34" charset="0"/>
                <a:ea typeface="Consolas" pitchFamily="34" charset="-122"/>
                <a:cs typeface="Consolas" pitchFamily="34" charset="-120"/>
              </a:rPr>
              <a:t>.nyalakanLokasi,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IzinDiblokir</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Fitur</a:t>
            </a:r>
            <a:r>
              <a:rPr lang="en-US" sz="1200" dirty="0">
                <a:solidFill>
                  <a:srgbClr val="E6EDF3"/>
                </a:solidFill>
                <a:latin typeface="Consolas" pitchFamily="34" charset="0"/>
                <a:ea typeface="Consolas" pitchFamily="34" charset="-122"/>
                <a:cs typeface="Consolas" pitchFamily="34" charset="-120"/>
              </a:rPr>
              <a:t> fitur) =&gt; </a:t>
            </a:r>
            <a:r>
              <a:rPr lang="en-US" sz="1200" dirty="0">
                <a:solidFill>
                  <a:srgbClr val="FFCB6B"/>
                </a:solidFill>
                <a:latin typeface="Consolas" pitchFamily="34" charset="0"/>
                <a:ea typeface="Consolas" pitchFamily="34" charset="-122"/>
                <a:cs typeface="Consolas" pitchFamily="34" charset="-120"/>
              </a:rPr>
              <a:t>Tanggapan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'Izin ${fitur.nama} diblokir. Jika ingin memakai fitur ini,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'izinkan di Pengaturan.'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AksiPerbaikan</a:t>
            </a:r>
            <a:r>
              <a:rPr lang="en-US" sz="1200" dirty="0">
                <a:solidFill>
                  <a:srgbClr val="E6EDF3"/>
                </a:solidFill>
                <a:latin typeface="Consolas" pitchFamily="34" charset="0"/>
                <a:ea typeface="Consolas" pitchFamily="34" charset="-122"/>
                <a:cs typeface="Consolas" pitchFamily="34" charset="-120"/>
              </a:rPr>
              <a:t>.bukaPengaturan,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 IzinDitolak, PerangkatTidakMendukung, WaktuHabis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3_fitur_perangkat_dan_izin/kode/contoh_07_kontrak_perangkat_dan_data_palsu.dart"/>
          </p:cNvPr>
          <p:cNvSpPr txBox="1"/>
          <p:nvPr/>
        </p:nvSpPr>
        <p:spPr>
          <a:xfrm>
            <a:off x="548640" y="5276088"/>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contoh_07_kontrak_perangkat_dan_data_palsu.dart</a:t>
            </a:r>
            <a:endParaRPr lang="en-US" sz="1300" dirty="0"/>
          </a:p>
        </p:txBody>
      </p:sp>
      <p:pic>
        <p:nvPicPr>
          <p:cNvPr id="6" name="Image 0" descr="ikon tautan">
            <a:hlinkClick r:id="rId3" tooltip="https://github.com/antonprafanto/mobile2026/blob/main/pertemuan_13_fitur_perangkat_dan_izin/kode/contoh_07_kontrak_perangkat_dan_data_palsu.dart"/>
          </p:cNvPr>
          <p:cNvPicPr>
            <a:picLocks noChangeAspect="1"/>
          </p:cNvPicPr>
          <p:nvPr/>
        </p:nvPicPr>
        <p:blipFill>
          <a:blip r:embed="rId2"/>
          <a:stretch>
            <a:fillRect/>
          </a:stretch>
        </p:blipFill>
        <p:spPr>
          <a:xfrm>
            <a:off x="694944" y="5367528"/>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Pesan DAN tombol perbaikan ditentukan di satu fungsi.</a:t>
            </a:r>
            <a:endParaRPr lang="en-US" sz="1700" dirty="0"/>
          </a:p>
          <a:p>
            <a:pPr marL="228600" indent="-228600">
              <a:spcAft>
                <a:spcPts val="800"/>
              </a:spcAft>
              <a:buSzPct val="100000"/>
              <a:buChar char="•"/>
            </a:pPr>
            <a:r>
              <a:rPr lang="en-US" sz="1700" dirty="0">
                <a:solidFill>
                  <a:schemeClr val="tx1"/>
                </a:solidFill>
              </a:rPr>
              <a:t>Dibatalkan → tanpa pesan.</a:t>
            </a:r>
            <a:endParaRPr lang="en-US" sz="1700" dirty="0"/>
          </a:p>
          <a:p>
            <a:pPr marL="228600" indent="-228600">
              <a:spcAft>
                <a:spcPts val="800"/>
              </a:spcAft>
              <a:buSzPct val="100000"/>
              <a:buChar char="•"/>
            </a:pPr>
            <a:r>
              <a:rPr lang="en-US" sz="1700" dirty="0">
                <a:solidFill>
                  <a:schemeClr val="tx1"/>
                </a:solidFill>
              </a:rPr>
              <a:t>Kegagalan baru tanpa cabang = galat analyzer (switch wajib lengkap).</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Kegagalan dan Tombolnya</a:t>
            </a:r>
            <a:endParaRPr lang="en-US" sz="32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443094"/>
                <a:gridCol w="3825660"/>
                <a:gridCol w="3825660"/>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Kegagalan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Tombol yang ditawarkan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ViewModel memanggil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4864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Dibatalkan</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 ada pesan (pengguna sendiri yang membatalkan)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LayananLokasiMati</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Nyalakan lokasi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bukaPengaturanLokasi()</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IzinDitolak</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Coba lagi (dialog izin muncul lagi)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cobaLagi()</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IzinDiblokir</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Buka Pengaturan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bukaPengaturanAplikasi()</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PerangkatTidakMendukung</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 ada tombol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WaktuHabis</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Coba lagi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cobaLagi()</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perbaiki(aksi, cobaLagi) di ViewModel: switch atas AksiPerbaikan, lalu meneruskan ke kontrak PengaturanPerangkat.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07: Catatan Lapangan</a:t>
            </a:r>
            <a:endParaRPr lang="en-US" sz="3200" dirty="0"/>
          </a:p>
        </p:txBody>
      </p:sp>
      <p:sp>
        <p:nvSpPr>
          <p:cNvPr id="4" name="bingkai layar 1"/>
          <p:cNvSpPr/>
          <p:nvPr/>
        </p:nvSpPr>
        <p:spPr>
          <a:xfrm>
            <a:off x="5278831" y="1316736"/>
            <a:ext cx="3127248" cy="4801201"/>
          </a:xfrm>
          <a:prstGeom prst="roundRect">
            <a:avLst>
              <a:gd name="adj" fmla="val 2924"/>
            </a:avLst>
          </a:prstGeom>
          <a:solidFill>
            <a:srgbClr val="FFFFFF"/>
          </a:solidFill>
          <a:ln w="12700">
            <a:solidFill>
              <a:srgbClr val="C9D3E0"/>
            </a:solidFill>
            <a:prstDash val="solid"/>
          </a:ln>
        </p:spPr>
      </p:sp>
      <p:pic>
        <p:nvPicPr>
          <p:cNvPr id="5" name="layar 1" descr="Tangkapan layar aplikasi (hasil_contoh_07a.jpg)">    </p:cNvPr>
          <p:cNvPicPr>
            <a:picLocks noChangeAspect="1"/>
          </p:cNvPicPr>
          <p:nvPr/>
        </p:nvPicPr>
        <p:blipFill>
          <a:blip r:embed="rId1"/>
          <a:stretch>
            <a:fillRect/>
          </a:stretch>
        </p:blipFill>
        <p:spPr>
          <a:xfrm>
            <a:off x="5333695" y="1371600"/>
            <a:ext cx="3017520" cy="4691473"/>
          </a:xfrm>
          <a:prstGeom prst="rect">
            <a:avLst/>
          </a:prstGeom>
        </p:spPr>
      </p:pic>
      <p:sp>
        <p:nvSpPr>
          <p:cNvPr id="6" name="bingkai layar 2"/>
          <p:cNvSpPr/>
          <p:nvPr/>
        </p:nvSpPr>
        <p:spPr>
          <a:xfrm>
            <a:off x="8570671" y="1316736"/>
            <a:ext cx="3127248" cy="4801201"/>
          </a:xfrm>
          <a:prstGeom prst="roundRect">
            <a:avLst>
              <a:gd name="adj" fmla="val 2924"/>
            </a:avLst>
          </a:prstGeom>
          <a:solidFill>
            <a:srgbClr val="FFFFFF"/>
          </a:solidFill>
          <a:ln w="12700">
            <a:solidFill>
              <a:srgbClr val="C9D3E0"/>
            </a:solidFill>
            <a:prstDash val="solid"/>
          </a:ln>
        </p:spPr>
      </p:sp>
      <p:pic>
        <p:nvPicPr>
          <p:cNvPr id="7" name="layar 2" descr="Tangkapan layar aplikasi (hasil_contoh_07b.jpg)">    </p:cNvPr>
          <p:cNvPicPr>
            <a:picLocks noChangeAspect="1"/>
          </p:cNvPicPr>
          <p:nvPr/>
        </p:nvPicPr>
        <p:blipFill>
          <a:blip r:embed="rId2"/>
          <a:stretch>
            <a:fillRect/>
          </a:stretch>
        </p:blipFill>
        <p:spPr>
          <a:xfrm>
            <a:off x="8625535" y="1371600"/>
            <a:ext cx="3017520" cy="4691473"/>
          </a:xfrm>
          <a:prstGeom prst="rect">
            <a:avLst/>
          </a:prstGeom>
        </p:spPr>
      </p:pic>
      <p:sp>
        <p:nvSpPr>
          <p:cNvPr id="8" name="tombol tautan">
            <a:hlinkClick r:id="rId3" tooltip="https://github.com/antonprafanto/mobile2026/blob/main/pertemuan_13_fitur_perangkat_dan_izin/kode/contoh_07_kontrak_perangkat_dan_data_palsu.dart"/>
          </p:cNvPr>
          <p:cNvSpPr txBox="1"/>
          <p:nvPr/>
        </p:nvSpPr>
        <p:spPr>
          <a:xfrm>
            <a:off x="548640" y="1371600"/>
            <a:ext cx="43278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250" b="1" dirty="0">
                <a:solidFill>
                  <a:schemeClr val="bg1"/>
                </a:solidFill>
              </a:rPr>
              <a:t>Kode di GitHub  ·  contoh_07_kontrak_perangkat_dan_data_palsu.dart</a:t>
            </a:r>
            <a:endParaRPr lang="en-US" sz="1250" dirty="0"/>
          </a:p>
        </p:txBody>
      </p:sp>
      <p:pic>
        <p:nvPicPr>
          <p:cNvPr id="9" name="Image 2" descr="ikon tautan">
            <a:hlinkClick r:id="rId5" tooltip="https://github.com/antonprafanto/mobile2026/blob/main/pertemuan_13_fitur_perangkat_dan_izin/kode/contoh_07_kontrak_perangkat_dan_data_palsu.dart"/>
          </p:cNvPr>
          <p:cNvPicPr>
            <a:picLocks noChangeAspect="1"/>
          </p:cNvPicPr>
          <p:nvPr/>
        </p:nvPicPr>
        <p:blipFill>
          <a:blip r:embed="rId4"/>
          <a:stretch>
            <a:fillRect/>
          </a:stretch>
        </p:blipFill>
        <p:spPr>
          <a:xfrm>
            <a:off x="694944" y="1463040"/>
            <a:ext cx="274320" cy="274320"/>
          </a:xfrm>
          <a:prstGeom prst="rect">
            <a:avLst/>
          </a:prstGeom>
        </p:spPr>
      </p:pic>
      <p:sp>
        <p:nvSpPr>
          <p:cNvPr id="10" name="daftar poin"/>
          <p:cNvSpPr txBox="1"/>
          <p:nvPr/>
        </p:nvSpPr>
        <p:spPr>
          <a:xfrm>
            <a:off x="548640" y="2103120"/>
            <a:ext cx="432785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Sebelum runApp: 15 dari 15 pemeriksaan LULUS, tanpa HP, dialog izin, maupun GPS.</a:t>
            </a:r>
            <a:endParaRPr lang="en-US" sz="1500" dirty="0"/>
          </a:p>
          <a:p>
            <a:pPr marL="228600" indent="-228600">
              <a:spcAft>
                <a:spcPts val="800"/>
              </a:spcAft>
              <a:buSzPct val="100000"/>
              <a:buChar char="•"/>
            </a:pPr>
            <a:r>
              <a:rPr lang="en-US" sz="1500" dirty="0">
                <a:solidFill>
                  <a:schemeClr val="tx1"/>
                </a:solidFill>
              </a:rPr>
              <a:t>Setiap kegagalan mendapat tombolnya sendiri.</a:t>
            </a:r>
            <a:endParaRPr lang="en-US" sz="1500" dirty="0"/>
          </a:p>
          <a:p>
            <a:pPr marL="228600" indent="-228600">
              <a:spcAft>
                <a:spcPts val="800"/>
              </a:spcAft>
              <a:buSzPct val="100000"/>
              <a:buChar char="•"/>
            </a:pPr>
            <a:r>
              <a:rPr lang="en-US" sz="1500" dirty="0">
                <a:solidFill>
                  <a:schemeClr val="tx1"/>
                </a:solidFill>
              </a:rPr>
              <a:t>Foto dan lokasi yang sudah ada TIDAK hilang karena percobaan berikutnya gagal.</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10</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Studi Kasus: Presensi Praktikum</a:t>
            </a:r>
            <a:endParaRPr lang="en-US" sz="4000" dirty="0"/>
          </a:p>
        </p:txBody>
      </p:sp>
      <p:sp>
        <p:nvSpPr>
          <p:cNvPr id="5" name="lingkaran tugas"/>
          <p:cNvSpPr/>
          <p:nvPr/>
        </p:nvSpPr>
        <p:spPr>
          <a:xfrm>
            <a:off x="1097280" y="2148840"/>
            <a:ext cx="2011680" cy="2011680"/>
          </a:xfrm>
          <a:prstGeom prst="ellipse">
            <a:avLst/>
          </a:prstGeom>
          <a:solidFill>
            <a:schemeClr val="accent1"/>
          </a:solidFill>
          <a:ln/>
        </p:spPr>
      </p:sp>
      <p:pic>
        <p:nvPicPr>
          <p:cNvPr id="6" name="Image 0" descr="tugas">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Fitur dan Aturan</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Presensi praktikum dengan foto selfie dan lokasi. Diterima jika:</a:t>
            </a:r>
            <a:endParaRPr lang="en-US" sz="18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573849"/>
                <a:gridCol w="5547208"/>
                <a:gridCol w="4973359"/>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Aturan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Pesan jika dilanggar</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Sesi dibuka: 15 menit sebelum mulai sampai 30 menit sesudahnya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"Presensi baru dibuka pukul ..." / "... sudah ditutup ..."</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Belum presensi di sesi yang sama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"Anda sudah presensi untuk sesi ini."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Ada foto selfie dari KAMERA (bukan galeri)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"Ambil foto selfie terlebih dahulu."</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Lokasi bukan dari pemalsu GPS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"Lokasi palsu terdeteksi. ..."</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Akurasi paling buruk 50 m</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"Lokasi kurang akurat (± ... m). ..."</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Paling jauh 100 m dari laboratorium</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"Anda berada ... m dari .... Presensi hanya bisa dalam radius 100 m."</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Peta Arsitektur</a:t>
            </a:r>
            <a:endParaRPr lang="en-US" sz="3200" dirty="0"/>
          </a:p>
        </p:txBody>
      </p:sp>
      <p:sp>
        <p:nvSpPr>
          <p:cNvPr id="4" name="lapisan 1"/>
          <p:cNvSpPr/>
          <p:nvPr/>
        </p:nvSpPr>
        <p:spPr>
          <a:xfrm>
            <a:off x="548640" y="1371600"/>
            <a:ext cx="6583680" cy="868680"/>
          </a:xfrm>
          <a:prstGeom prst="roundRect">
            <a:avLst>
              <a:gd name="adj" fmla="val 12632"/>
            </a:avLst>
          </a:prstGeom>
          <a:solidFill>
            <a:schemeClr val="bg2"/>
          </a:solidFill>
          <a:ln/>
        </p:spPr>
      </p:sp>
      <p:sp>
        <p:nvSpPr>
          <p:cNvPr id="5" name="lingkaran perkakas"/>
          <p:cNvSpPr/>
          <p:nvPr/>
        </p:nvSpPr>
        <p:spPr>
          <a:xfrm>
            <a:off x="731520" y="1485900"/>
            <a:ext cx="640080" cy="640080"/>
          </a:xfrm>
          <a:prstGeom prst="ellipse">
            <a:avLst/>
          </a:prstGeom>
          <a:solidFill>
            <a:schemeClr val="tx2"/>
          </a:solidFill>
          <a:ln/>
        </p:spPr>
      </p:sp>
      <p:pic>
        <p:nvPicPr>
          <p:cNvPr id="6" name="Image 0" descr="perkakas">    </p:cNvPr>
          <p:cNvPicPr>
            <a:picLocks noChangeAspect="1"/>
          </p:cNvPicPr>
          <p:nvPr/>
        </p:nvPicPr>
        <p:blipFill>
          <a:blip r:embed="rId1"/>
          <a:stretch>
            <a:fillRect/>
          </a:stretch>
        </p:blipFill>
        <p:spPr>
          <a:xfrm>
            <a:off x="872338" y="1626718"/>
            <a:ext cx="358445" cy="358445"/>
          </a:xfrm>
          <a:prstGeom prst="rect">
            <a:avLst/>
          </a:prstGeom>
        </p:spPr>
      </p:pic>
      <p:sp>
        <p:nvSpPr>
          <p:cNvPr id="7" name="Text 3"/>
          <p:cNvSpPr txBox="1"/>
          <p:nvPr/>
        </p:nvSpPr>
        <p:spPr>
          <a:xfrm>
            <a:off x="1554480" y="137160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Kerangka dan perangkat</a:t>
            </a:r>
            <a:endParaRPr lang="en-US" sz="1800" dirty="0"/>
          </a:p>
          <a:p>
            <a:pPr indent="0" marL="0">
              <a:buNone/>
            </a:pPr>
            <a:r>
              <a:rPr lang="en-US" sz="1500" dirty="0">
                <a:solidFill>
                  <a:schemeClr val="tx1"/>
                </a:solidFill>
              </a:rPr>
              <a:t>Flutter, geolocator, image_picker, GPS, kamera</a:t>
            </a:r>
            <a:endParaRPr lang="en-US" sz="1800" dirty="0"/>
          </a:p>
        </p:txBody>
      </p:sp>
      <p:sp>
        <p:nvSpPr>
          <p:cNvPr id="8" name="Shape 4"/>
          <p:cNvSpPr/>
          <p:nvPr/>
        </p:nvSpPr>
        <p:spPr>
          <a:xfrm>
            <a:off x="3703320" y="2221992"/>
            <a:ext cx="274320" cy="219456"/>
          </a:xfrm>
          <a:prstGeom prst="downArrow">
            <a:avLst/>
          </a:prstGeom>
          <a:solidFill>
            <a:schemeClr val="accent2"/>
          </a:solidFill>
          <a:ln/>
        </p:spPr>
      </p:sp>
      <p:sp>
        <p:nvSpPr>
          <p:cNvPr id="9" name="lapisan 2"/>
          <p:cNvSpPr/>
          <p:nvPr/>
        </p:nvSpPr>
        <p:spPr>
          <a:xfrm>
            <a:off x="548640" y="2423160"/>
            <a:ext cx="6583680" cy="868680"/>
          </a:xfrm>
          <a:prstGeom prst="roundRect">
            <a:avLst>
              <a:gd name="adj" fmla="val 12632"/>
            </a:avLst>
          </a:prstGeom>
          <a:solidFill>
            <a:schemeClr val="bg2"/>
          </a:solidFill>
          <a:ln/>
        </p:spPr>
      </p:sp>
      <p:sp>
        <p:nvSpPr>
          <p:cNvPr id="10" name="lingkaran tautan"/>
          <p:cNvSpPr/>
          <p:nvPr/>
        </p:nvSpPr>
        <p:spPr>
          <a:xfrm>
            <a:off x="731520" y="2537460"/>
            <a:ext cx="640080" cy="640080"/>
          </a:xfrm>
          <a:prstGeom prst="ellipse">
            <a:avLst/>
          </a:prstGeom>
          <a:solidFill>
            <a:schemeClr val="accent6"/>
          </a:solidFill>
          <a:ln/>
        </p:spPr>
      </p:sp>
      <p:pic>
        <p:nvPicPr>
          <p:cNvPr id="11" name="Image 1" descr="tautan">    </p:cNvPr>
          <p:cNvPicPr>
            <a:picLocks noChangeAspect="1"/>
          </p:cNvPicPr>
          <p:nvPr/>
        </p:nvPicPr>
        <p:blipFill>
          <a:blip r:embed="rId2"/>
          <a:stretch>
            <a:fillRect/>
          </a:stretch>
        </p:blipFill>
        <p:spPr>
          <a:xfrm>
            <a:off x="872338" y="2678278"/>
            <a:ext cx="358445" cy="358445"/>
          </a:xfrm>
          <a:prstGeom prst="rect">
            <a:avLst/>
          </a:prstGeom>
        </p:spPr>
      </p:pic>
      <p:sp>
        <p:nvSpPr>
          <p:cNvPr id="12" name="Text 7"/>
          <p:cNvSpPr txBox="1"/>
          <p:nvPr/>
        </p:nvSpPr>
        <p:spPr>
          <a:xfrm>
            <a:off x="1554480" y="242316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Penghubung</a:t>
            </a:r>
            <a:endParaRPr lang="en-US" sz="1800" dirty="0"/>
          </a:p>
          <a:p>
            <a:pPr indent="0" marL="0">
              <a:buNone/>
            </a:pPr>
            <a:r>
              <a:rPr lang="en-US" sz="1500" dirty="0">
                <a:solidFill>
                  <a:schemeClr val="tx1"/>
                </a:solidFill>
              </a:rPr>
              <a:t>View, ViewModel, tanggapanUntuk(); implementasi asli dan palsu; RepositoriPresensiMemori</a:t>
            </a:r>
            <a:endParaRPr lang="en-US" sz="1800" dirty="0"/>
          </a:p>
        </p:txBody>
      </p:sp>
      <p:sp>
        <p:nvSpPr>
          <p:cNvPr id="13" name="Shape 8"/>
          <p:cNvSpPr/>
          <p:nvPr/>
        </p:nvSpPr>
        <p:spPr>
          <a:xfrm>
            <a:off x="3703320" y="3273552"/>
            <a:ext cx="274320" cy="219456"/>
          </a:xfrm>
          <a:prstGeom prst="downArrow">
            <a:avLst/>
          </a:prstGeom>
          <a:solidFill>
            <a:schemeClr val="accent2"/>
          </a:solidFill>
          <a:ln/>
        </p:spPr>
      </p:sp>
      <p:sp>
        <p:nvSpPr>
          <p:cNvPr id="14" name="lapisan 3"/>
          <p:cNvSpPr/>
          <p:nvPr/>
        </p:nvSpPr>
        <p:spPr>
          <a:xfrm>
            <a:off x="548640" y="3474720"/>
            <a:ext cx="6583680" cy="868680"/>
          </a:xfrm>
          <a:prstGeom prst="roundRect">
            <a:avLst>
              <a:gd name="adj" fmla="val 12632"/>
            </a:avLst>
          </a:prstGeom>
          <a:solidFill>
            <a:schemeClr val="bg2"/>
          </a:solidFill>
          <a:ln/>
        </p:spPr>
      </p:sp>
      <p:sp>
        <p:nvSpPr>
          <p:cNvPr id="15" name="lingkaran tugas"/>
          <p:cNvSpPr/>
          <p:nvPr/>
        </p:nvSpPr>
        <p:spPr>
          <a:xfrm>
            <a:off x="731520" y="3589020"/>
            <a:ext cx="640080" cy="640080"/>
          </a:xfrm>
          <a:prstGeom prst="ellipse">
            <a:avLst/>
          </a:prstGeom>
          <a:solidFill>
            <a:schemeClr val="accent4"/>
          </a:solidFill>
          <a:ln/>
        </p:spPr>
      </p:sp>
      <p:pic>
        <p:nvPicPr>
          <p:cNvPr id="16" name="Image 2" descr="tugas">    </p:cNvPr>
          <p:cNvPicPr>
            <a:picLocks noChangeAspect="1"/>
          </p:cNvPicPr>
          <p:nvPr/>
        </p:nvPicPr>
        <p:blipFill>
          <a:blip r:embed="rId3"/>
          <a:stretch>
            <a:fillRect/>
          </a:stretch>
        </p:blipFill>
        <p:spPr>
          <a:xfrm>
            <a:off x="872338" y="3729838"/>
            <a:ext cx="358445" cy="358445"/>
          </a:xfrm>
          <a:prstGeom prst="rect">
            <a:avLst/>
          </a:prstGeom>
        </p:spPr>
      </p:pic>
      <p:sp>
        <p:nvSpPr>
          <p:cNvPr id="17" name="Text 11"/>
          <p:cNvSpPr txBox="1"/>
          <p:nvPr/>
        </p:nvSpPr>
        <p:spPr>
          <a:xfrm>
            <a:off x="1554480" y="347472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Use case</a:t>
            </a:r>
            <a:endParaRPr lang="en-US" sz="1800" dirty="0"/>
          </a:p>
          <a:p>
            <a:pPr indent="0" marL="0">
              <a:buNone/>
            </a:pPr>
            <a:r>
              <a:rPr lang="en-US" sz="1500" dirty="0">
                <a:solidFill>
                  <a:schemeClr val="tx1"/>
                </a:solidFill>
              </a:rPr>
              <a:t>CatatPresensi</a:t>
            </a:r>
            <a:endParaRPr lang="en-US" sz="1800" dirty="0"/>
          </a:p>
        </p:txBody>
      </p:sp>
      <p:sp>
        <p:nvSpPr>
          <p:cNvPr id="18" name="Shape 12"/>
          <p:cNvSpPr/>
          <p:nvPr/>
        </p:nvSpPr>
        <p:spPr>
          <a:xfrm>
            <a:off x="3703320" y="4325112"/>
            <a:ext cx="274320" cy="219456"/>
          </a:xfrm>
          <a:prstGeom prst="downArrow">
            <a:avLst/>
          </a:prstGeom>
          <a:solidFill>
            <a:schemeClr val="accent2"/>
          </a:solidFill>
          <a:ln/>
        </p:spPr>
      </p:sp>
      <p:sp>
        <p:nvSpPr>
          <p:cNvPr id="19" name="lapisan 4"/>
          <p:cNvSpPr/>
          <p:nvPr/>
        </p:nvSpPr>
        <p:spPr>
          <a:xfrm>
            <a:off x="548640" y="4526280"/>
            <a:ext cx="6583680" cy="868680"/>
          </a:xfrm>
          <a:prstGeom prst="roundRect">
            <a:avLst>
              <a:gd name="adj" fmla="val 12632"/>
            </a:avLst>
          </a:prstGeom>
          <a:solidFill>
            <a:schemeClr val="bg2"/>
          </a:solidFill>
          <a:ln/>
        </p:spPr>
      </p:sp>
      <p:sp>
        <p:nvSpPr>
          <p:cNvPr id="20" name="lingkaran buku"/>
          <p:cNvSpPr/>
          <p:nvPr/>
        </p:nvSpPr>
        <p:spPr>
          <a:xfrm>
            <a:off x="731520" y="4640580"/>
            <a:ext cx="640080" cy="640080"/>
          </a:xfrm>
          <a:prstGeom prst="ellipse">
            <a:avLst/>
          </a:prstGeom>
          <a:solidFill>
            <a:schemeClr val="accent1"/>
          </a:solidFill>
          <a:ln/>
        </p:spPr>
      </p:sp>
      <p:pic>
        <p:nvPicPr>
          <p:cNvPr id="21" name="Image 3" descr="buku">    </p:cNvPr>
          <p:cNvPicPr>
            <a:picLocks noChangeAspect="1"/>
          </p:cNvPicPr>
          <p:nvPr/>
        </p:nvPicPr>
        <p:blipFill>
          <a:blip r:embed="rId4"/>
          <a:stretch>
            <a:fillRect/>
          </a:stretch>
        </p:blipFill>
        <p:spPr>
          <a:xfrm>
            <a:off x="872338" y="4781398"/>
            <a:ext cx="358445" cy="358445"/>
          </a:xfrm>
          <a:prstGeom prst="rect">
            <a:avLst/>
          </a:prstGeom>
        </p:spPr>
      </p:pic>
      <p:sp>
        <p:nvSpPr>
          <p:cNvPr id="22" name="Text 15"/>
          <p:cNvSpPr txBox="1"/>
          <p:nvPr/>
        </p:nvSpPr>
        <p:spPr>
          <a:xfrm>
            <a:off x="1554480" y="452628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Entitas, aturan, dan kontrak</a:t>
            </a:r>
            <a:endParaRPr lang="en-US" sz="1800" dirty="0"/>
          </a:p>
          <a:p>
            <a:pPr indent="0" marL="0">
              <a:buNone/>
            </a:pPr>
            <a:r>
              <a:rPr lang="en-US" sz="1500" dirty="0">
                <a:solidFill>
                  <a:schemeClr val="tx1"/>
                </a:solidFill>
              </a:rPr>
              <a:t>SesiPraktikum, Posisi, statusSesi(), periksaLokasi(); kontrak LayananLokasi, PemilihFoto, RepositoriPresensi</a:t>
            </a:r>
            <a:endParaRPr lang="en-US" sz="1800" dirty="0"/>
          </a:p>
        </p:txBody>
      </p:sp>
      <p:sp>
        <p:nvSpPr>
          <p:cNvPr id="23" name="daftar poin"/>
          <p:cNvSpPr txBox="1"/>
          <p:nvPr/>
        </p:nvSpPr>
        <p:spPr>
          <a:xfrm>
            <a:off x="7589520" y="1417320"/>
            <a:ext cx="4053535" cy="45720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Sama seperti Pertemuan 12: panah ketergantungan hanya menunjuk ke dalam.</a:t>
            </a:r>
            <a:endParaRPr lang="en-US" sz="1800" dirty="0"/>
          </a:p>
          <a:p>
            <a:pPr marL="228600" indent="-228600">
              <a:spcAft>
                <a:spcPts val="800"/>
              </a:spcAft>
              <a:buSzPct val="100000"/>
              <a:buChar char="•"/>
            </a:pPr>
            <a:r>
              <a:rPr lang="en-US" sz="1800" dirty="0">
                <a:solidFill>
                  <a:schemeClr val="tx1"/>
                </a:solidFill>
              </a:rPr>
              <a:t>GPS dan kamera hanyalah sumber data baru, di lingkaran paling luar.</a:t>
            </a:r>
            <a:endParaRPr lang="en-US" sz="1800" dirty="0"/>
          </a:p>
          <a:p>
            <a:pPr marL="228600" indent="-228600">
              <a:spcAft>
                <a:spcPts val="800"/>
              </a:spcAft>
              <a:buSzPct val="100000"/>
              <a:buChar char="•"/>
            </a:pPr>
            <a:r>
              <a:rPr lang="en-US" sz="1800" dirty="0">
                <a:solidFill>
                  <a:schemeClr val="tx1"/>
                </a:solidFill>
              </a:rPr>
              <a:t>Implementasi asli DAN palsu sama-sama "implements" kontrak di dalam.</a:t>
            </a:r>
            <a:endParaRPr lang="en-US" sz="1800" dirty="0"/>
          </a:p>
          <a:p>
            <a:pPr marL="228600" indent="-228600">
              <a:spcAft>
                <a:spcPts val="800"/>
              </a:spcAft>
              <a:buSzPct val="100000"/>
              <a:buChar char="•"/>
            </a:pPr>
            <a:r>
              <a:rPr lang="en-US" sz="1800" dirty="0">
                <a:solidFill>
                  <a:schemeClr val="tx1"/>
                </a:solidFill>
              </a:rPr>
              <a:t>Nama paket perangkat tidak pernah muncul di use case dan aturan.</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Use Case: Urutannya Penting</a:t>
            </a:r>
            <a:endParaRPr lang="en-US" sz="3200" dirty="0"/>
          </a:p>
        </p:txBody>
      </p:sp>
      <p:sp>
        <p:nvSpPr>
          <p:cNvPr id="4" name="kotak kode"/>
          <p:cNvSpPr txBox="1"/>
          <p:nvPr/>
        </p:nvSpPr>
        <p:spPr>
          <a:xfrm>
            <a:off x="548640" y="1371600"/>
            <a:ext cx="6949440" cy="4107942"/>
          </a:xfrm>
          <a:prstGeom prst="roundRect">
            <a:avLst>
              <a:gd name="adj" fmla="val 2226"/>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Presensi</a:t>
            </a:r>
            <a:r>
              <a:rPr lang="en-US" sz="1100" dirty="0">
                <a:solidFill>
                  <a:srgbClr val="E6EDF3"/>
                </a:solidFill>
                <a:latin typeface="Consolas" pitchFamily="34" charset="0"/>
                <a:ea typeface="Consolas" pitchFamily="34" charset="-122"/>
                <a:cs typeface="Consolas" pitchFamily="34" charset="-120"/>
              </a:rPr>
              <a:t>&gt;&gt; jalankan({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required</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SesiPraktikum</a:t>
            </a:r>
            <a:r>
              <a:rPr lang="en-US" sz="1100" dirty="0">
                <a:solidFill>
                  <a:srgbClr val="E6EDF3"/>
                </a:solidFill>
                <a:latin typeface="Consolas" pitchFamily="34" charset="0"/>
                <a:ea typeface="Consolas" pitchFamily="34" charset="-122"/>
                <a:cs typeface="Consolas" pitchFamily="34" charset="-120"/>
              </a:rPr>
              <a:t> sesi,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required</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FotoBukti</a:t>
            </a:r>
            <a:r>
              <a:rPr lang="en-US" sz="1100" dirty="0">
                <a:solidFill>
                  <a:srgbClr val="E6EDF3"/>
                </a:solidFill>
                <a:latin typeface="Consolas" pitchFamily="34" charset="0"/>
                <a:ea typeface="Consolas" pitchFamily="34" charset="-122"/>
                <a:cs typeface="Consolas" pitchFamily="34" charset="-120"/>
              </a:rPr>
              <a:t>? foto,</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1. Pemeriksaan tanpa lokasi: sesi dibuka? sudah presensi? foto ada?</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 riwayat dibaca dari _repositori; jika Gagal, dikembalikan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alasanAwal = periksaSebelumLokasi(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sesi: sesi,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foto: foto,</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sekarang: _jam.sekarang(),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sudahPresensi: riwayat.any((</a:t>
            </a:r>
            <a:r>
              <a:rPr lang="en-US" sz="1100" dirty="0">
                <a:solidFill>
                  <a:srgbClr val="FFCB6B"/>
                </a:solidFill>
                <a:latin typeface="Consolas" pitchFamily="34" charset="0"/>
                <a:ea typeface="Consolas" pitchFamily="34" charset="-122"/>
                <a:cs typeface="Consolas" pitchFamily="34" charset="-120"/>
              </a:rPr>
              <a:t>Presensi</a:t>
            </a:r>
            <a:r>
              <a:rPr lang="en-US" sz="1100" dirty="0">
                <a:solidFill>
                  <a:srgbClr val="E6EDF3"/>
                </a:solidFill>
                <a:latin typeface="Consolas" pitchFamily="34" charset="0"/>
                <a:ea typeface="Consolas" pitchFamily="34" charset="-122"/>
                <a:cs typeface="Consolas" pitchFamily="34" charset="-120"/>
              </a:rPr>
              <a:t> p) =&gt; p.kodeSesi == sesi.kode),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(alasanAwal != </a:t>
            </a:r>
            <a:r>
              <a:rPr lang="en-US" sz="1100" dirty="0">
                <a:solidFill>
                  <a:srgbClr val="C792EA"/>
                </a:solidFill>
                <a:latin typeface="Consolas" pitchFamily="34" charset="0"/>
                <a:ea typeface="Consolas" pitchFamily="34" charset="-122"/>
                <a:cs typeface="Consolas" pitchFamily="34" charset="-120"/>
              </a:rPr>
              <a:t>null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AturanDilanggar</a:t>
            </a:r>
            <a:r>
              <a:rPr lang="en-US" sz="1100" dirty="0">
                <a:solidFill>
                  <a:srgbClr val="E6EDF3"/>
                </a:solidFill>
                <a:latin typeface="Consolas" pitchFamily="34" charset="0"/>
                <a:ea typeface="Consolas" pitchFamily="34" charset="-122"/>
                <a:cs typeface="Consolas" pitchFamily="34" charset="-120"/>
              </a:rPr>
              <a:t>(alasanAwal));</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2. Lokasi diambil SAAT INI JUGA, bukan lokasi yang tersimpan.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Posisi</a:t>
            </a:r>
            <a:r>
              <a:rPr lang="en-US" sz="1100" dirty="0">
                <a:solidFill>
                  <a:srgbClr val="E6EDF3"/>
                </a:solidFill>
                <a:latin typeface="Consolas" pitchFamily="34" charset="0"/>
                <a:ea typeface="Consolas" pitchFamily="34" charset="-122"/>
                <a:cs typeface="Consolas" pitchFamily="34" charset="-120"/>
              </a:rPr>
              <a:t>&gt; hasilPosisi =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_lokasi.posisiSekarang();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 jika Gagal, kembalikan kegagalannya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alasanLokasi = periksaLokasi(sesi: sesi, posisi: posisi);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(alasanLokasi != </a:t>
            </a:r>
            <a:r>
              <a:rPr lang="en-US" sz="1100" dirty="0">
                <a:solidFill>
                  <a:srgbClr val="C792EA"/>
                </a:solidFill>
                <a:latin typeface="Consolas" pitchFamily="34" charset="0"/>
                <a:ea typeface="Consolas" pitchFamily="34" charset="-122"/>
                <a:cs typeface="Consolas" pitchFamily="34" charset="-120"/>
              </a:rPr>
              <a:t>null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AturanDilanggar</a:t>
            </a:r>
            <a:r>
              <a:rPr lang="en-US" sz="1100" dirty="0">
                <a:solidFill>
                  <a:srgbClr val="E6EDF3"/>
                </a:solidFill>
                <a:latin typeface="Consolas" pitchFamily="34" charset="0"/>
                <a:ea typeface="Consolas" pitchFamily="34" charset="-122"/>
                <a:cs typeface="Consolas" pitchFamily="34" charset="-120"/>
              </a:rPr>
              <a:t>(alasanLokasi));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3. Semua aturan terpenuhi: simpan.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_repositori.simpan(</a:t>
            </a:r>
            <a:r>
              <a:rPr lang="en-US" sz="1100" i="1" dirty="0">
                <a:solidFill>
                  <a:srgbClr val="8FA3BC"/>
                </a:solidFill>
                <a:latin typeface="Consolas" pitchFamily="34" charset="0"/>
                <a:ea typeface="Consolas" pitchFamily="34" charset="-122"/>
                <a:cs typeface="Consolas" pitchFamily="34" charset="-120"/>
              </a:rPr>
              <a:t>/* ..., jarakMeter, akurasiMeter, ... */</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3_fitur_perangkat_dan_izin/kode/contoh_08_studi_kasus_presensi.dart"/>
          </p:cNvPr>
          <p:cNvSpPr txBox="1"/>
          <p:nvPr/>
        </p:nvSpPr>
        <p:spPr>
          <a:xfrm>
            <a:off x="548640" y="5708142"/>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contoh_08_studi_kasus_presensi.dart</a:t>
            </a:r>
            <a:endParaRPr lang="en-US" sz="1300" dirty="0"/>
          </a:p>
        </p:txBody>
      </p:sp>
      <p:pic>
        <p:nvPicPr>
          <p:cNvPr id="6" name="Image 0" descr="ikon tautan">
            <a:hlinkClick r:id="rId3" tooltip="https://github.com/antonprafanto/mobile2026/blob/main/pertemuan_13_fitur_perangkat_dan_izin/kode/contoh_08_studi_kasus_presensi.dart"/>
          </p:cNvPr>
          <p:cNvPicPr>
            <a:picLocks noChangeAspect="1"/>
          </p:cNvPicPr>
          <p:nvPr/>
        </p:nvPicPr>
        <p:blipFill>
          <a:blip r:embed="rId2"/>
          <a:stretch>
            <a:fillRect/>
          </a:stretch>
        </p:blipFill>
        <p:spPr>
          <a:xfrm>
            <a:off x="694944" y="5799582"/>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Yang tidak butuh lokasi diperiksa DULU.</a:t>
            </a:r>
            <a:endParaRPr lang="en-US" sz="1700" dirty="0"/>
          </a:p>
          <a:p>
            <a:pPr marL="228600" indent="-228600">
              <a:spcAft>
                <a:spcPts val="800"/>
              </a:spcAft>
              <a:buSzPct val="100000"/>
              <a:buChar char="•"/>
            </a:pPr>
            <a:r>
              <a:rPr lang="en-US" sz="1700" dirty="0">
                <a:solidFill>
                  <a:schemeClr val="tx1"/>
                </a:solidFill>
              </a:rPr>
              <a:t>Sesi ditutup → lokasi tidak diminta: tanpa dialog percuma, tanpa baterai terbuang.</a:t>
            </a:r>
            <a:endParaRPr lang="en-US" sz="1700" dirty="0"/>
          </a:p>
          <a:p>
            <a:pPr marL="228600" indent="-228600">
              <a:spcAft>
                <a:spcPts val="800"/>
              </a:spcAft>
              <a:buSzPct val="100000"/>
              <a:buChar char="•"/>
            </a:pPr>
            <a:r>
              <a:rPr lang="en-US" sz="1700" dirty="0">
                <a:solidFill>
                  <a:schemeClr val="tx1"/>
                </a:solidFill>
              </a:rPr>
              <a:t>Pengujian memeriksa lokasi.dipanggil tidak bertambah.</a:t>
            </a:r>
            <a:endParaRPr lang="en-US" sz="1700" dirty="0"/>
          </a:p>
          <a:p>
            <a:pPr marL="228600" indent="-228600">
              <a:spcAft>
                <a:spcPts val="800"/>
              </a:spcAft>
              <a:buSzPct val="100000"/>
              <a:buChar char="•"/>
            </a:pPr>
            <a:r>
              <a:rPr lang="en-US" sz="1700" dirty="0">
                <a:solidFill>
                  <a:schemeClr val="tx1"/>
                </a:solidFill>
              </a:rPr>
              <a:t>Disimpan: jarak dan akurasi, bukan koordinat.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Dua Lingkungan dan Jam Palsu</a:t>
            </a:r>
            <a:endParaRPr lang="en-US" sz="32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04113"/>
                <a:gridCol w="4782076"/>
                <a:gridCol w="4208226"/>
              </a:tblGrid>
              <a:tr h="6858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Kebutuhan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Pengembangan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Produksi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858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Lokasi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LayananLokasiPalsu (menu skenario)</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LayananLokasiGeolocator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858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Kamera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PemilihFotoPalsu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PemilihFotoImagePicker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858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Pengaturan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PengaturanPerangkatPalsu (hanya mencatat)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PengaturanPerangkatGeolocator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858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Jam</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Jam(jamPengembangan): selalu pukul 13.10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Jam(): jam sungguhan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const Lingkungan lingkungan = Lingkungan.produksi;  ← satu-satunya baris yang diubah</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08: Jadwal, Presensi, dan Skenario</a:t>
            </a:r>
            <a:endParaRPr lang="en-US" sz="3200" dirty="0"/>
          </a:p>
        </p:txBody>
      </p:sp>
      <p:sp>
        <p:nvSpPr>
          <p:cNvPr id="4" name="bingkai layar 1"/>
          <p:cNvSpPr/>
          <p:nvPr/>
        </p:nvSpPr>
        <p:spPr>
          <a:xfrm>
            <a:off x="4181551" y="1316736"/>
            <a:ext cx="2395728" cy="3663874"/>
          </a:xfrm>
          <a:prstGeom prst="roundRect">
            <a:avLst>
              <a:gd name="adj" fmla="val 3817"/>
            </a:avLst>
          </a:prstGeom>
          <a:solidFill>
            <a:srgbClr val="FFFFFF"/>
          </a:solidFill>
          <a:ln w="12700">
            <a:solidFill>
              <a:srgbClr val="C9D3E0"/>
            </a:solidFill>
            <a:prstDash val="solid"/>
          </a:ln>
        </p:spPr>
      </p:sp>
      <p:pic>
        <p:nvPicPr>
          <p:cNvPr id="5" name="layar 1" descr="Tangkapan layar aplikasi (hasil_contoh_08a.jpg)">    </p:cNvPr>
          <p:cNvPicPr>
            <a:picLocks noChangeAspect="1"/>
          </p:cNvPicPr>
          <p:nvPr/>
        </p:nvPicPr>
        <p:blipFill>
          <a:blip r:embed="rId1"/>
          <a:stretch>
            <a:fillRect/>
          </a:stretch>
        </p:blipFill>
        <p:spPr>
          <a:xfrm>
            <a:off x="4236415" y="1371600"/>
            <a:ext cx="2286000" cy="3554146"/>
          </a:xfrm>
          <a:prstGeom prst="rect">
            <a:avLst/>
          </a:prstGeom>
        </p:spPr>
      </p:pic>
      <p:sp>
        <p:nvSpPr>
          <p:cNvPr id="6" name="bingkai layar 2"/>
          <p:cNvSpPr/>
          <p:nvPr/>
        </p:nvSpPr>
        <p:spPr>
          <a:xfrm>
            <a:off x="6741871" y="1316736"/>
            <a:ext cx="2395728" cy="3663874"/>
          </a:xfrm>
          <a:prstGeom prst="roundRect">
            <a:avLst>
              <a:gd name="adj" fmla="val 3817"/>
            </a:avLst>
          </a:prstGeom>
          <a:solidFill>
            <a:srgbClr val="FFFFFF"/>
          </a:solidFill>
          <a:ln w="12700">
            <a:solidFill>
              <a:srgbClr val="C9D3E0"/>
            </a:solidFill>
            <a:prstDash val="solid"/>
          </a:ln>
        </p:spPr>
      </p:sp>
      <p:pic>
        <p:nvPicPr>
          <p:cNvPr id="7" name="layar 2" descr="Tangkapan layar aplikasi (hasil_contoh_08b.jpg)">    </p:cNvPr>
          <p:cNvPicPr>
            <a:picLocks noChangeAspect="1"/>
          </p:cNvPicPr>
          <p:nvPr/>
        </p:nvPicPr>
        <p:blipFill>
          <a:blip r:embed="rId2"/>
          <a:stretch>
            <a:fillRect/>
          </a:stretch>
        </p:blipFill>
        <p:spPr>
          <a:xfrm>
            <a:off x="6796735" y="1371600"/>
            <a:ext cx="2286000" cy="3554146"/>
          </a:xfrm>
          <a:prstGeom prst="rect">
            <a:avLst/>
          </a:prstGeom>
        </p:spPr>
      </p:pic>
      <p:sp>
        <p:nvSpPr>
          <p:cNvPr id="8" name="bingkai layar 3"/>
          <p:cNvSpPr/>
          <p:nvPr/>
        </p:nvSpPr>
        <p:spPr>
          <a:xfrm>
            <a:off x="9302191" y="1316736"/>
            <a:ext cx="2395728" cy="3663874"/>
          </a:xfrm>
          <a:prstGeom prst="roundRect">
            <a:avLst>
              <a:gd name="adj" fmla="val 3817"/>
            </a:avLst>
          </a:prstGeom>
          <a:solidFill>
            <a:srgbClr val="FFFFFF"/>
          </a:solidFill>
          <a:ln w="12700">
            <a:solidFill>
              <a:srgbClr val="C9D3E0"/>
            </a:solidFill>
            <a:prstDash val="solid"/>
          </a:ln>
        </p:spPr>
      </p:sp>
      <p:pic>
        <p:nvPicPr>
          <p:cNvPr id="9" name="layar 3" descr="Tangkapan layar aplikasi (hasil_contoh_08c.jpg)">    </p:cNvPr>
          <p:cNvPicPr>
            <a:picLocks noChangeAspect="1"/>
          </p:cNvPicPr>
          <p:nvPr/>
        </p:nvPicPr>
        <p:blipFill>
          <a:blip r:embed="rId3"/>
          <a:stretch>
            <a:fillRect/>
          </a:stretch>
        </p:blipFill>
        <p:spPr>
          <a:xfrm>
            <a:off x="9357055" y="1371600"/>
            <a:ext cx="2286000" cy="3554146"/>
          </a:xfrm>
          <a:prstGeom prst="rect">
            <a:avLst/>
          </a:prstGeom>
        </p:spPr>
      </p:pic>
      <p:sp>
        <p:nvSpPr>
          <p:cNvPr id="10" name="tombol tautan">
            <a:hlinkClick r:id="rId4" tooltip="https://github.com/antonprafanto/mobile2026/blob/main/pertemuan_13_fitur_perangkat_dan_izin/kode/contoh_08_studi_kasus_presensi.dart"/>
          </p:cNvPr>
          <p:cNvSpPr txBox="1"/>
          <p:nvPr/>
        </p:nvSpPr>
        <p:spPr>
          <a:xfrm>
            <a:off x="548640" y="1371600"/>
            <a:ext cx="3230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150" b="1" dirty="0">
                <a:solidFill>
                  <a:schemeClr val="bg1"/>
                </a:solidFill>
              </a:rPr>
              <a:t>Kode di GitHub  ·  contoh_08_studi_kasus_presensi.dart</a:t>
            </a:r>
            <a:endParaRPr lang="en-US" sz="1150" dirty="0"/>
          </a:p>
        </p:txBody>
      </p:sp>
      <p:pic>
        <p:nvPicPr>
          <p:cNvPr id="11" name="Image 3" descr="ikon tautan">
            <a:hlinkClick r:id="rId6" tooltip="https://github.com/antonprafanto/mobile2026/blob/main/pertemuan_13_fitur_perangkat_dan_izin/kode/contoh_08_studi_kasus_presensi.dart"/>
          </p:cNvPr>
          <p:cNvPicPr>
            <a:picLocks noChangeAspect="1"/>
          </p:cNvPicPr>
          <p:nvPr/>
        </p:nvPicPr>
        <p:blipFill>
          <a:blip r:embed="rId5"/>
          <a:stretch>
            <a:fillRect/>
          </a:stretch>
        </p:blipFill>
        <p:spPr>
          <a:xfrm>
            <a:off x="694944" y="1463040"/>
            <a:ext cx="274320" cy="274320"/>
          </a:xfrm>
          <a:prstGeom prst="rect">
            <a:avLst/>
          </a:prstGeom>
        </p:spPr>
      </p:pic>
      <p:sp>
        <p:nvSpPr>
          <p:cNvPr id="12" name="daftar poin"/>
          <p:cNvSpPr txBox="1"/>
          <p:nvPr/>
        </p:nvSpPr>
        <p:spPr>
          <a:xfrm>
            <a:off x="548640" y="2103120"/>
            <a:ext cx="323057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Jadwal: ditutup, dibuka sampai 13.30, dibuka 15.30.</a:t>
            </a:r>
            <a:endParaRPr lang="en-US" sz="1500" dirty="0"/>
          </a:p>
          <a:p>
            <a:pPr marL="228600" indent="-228600">
              <a:spcAft>
                <a:spcPts val="800"/>
              </a:spcAft>
              <a:buSzPct val="100000"/>
              <a:buChar char="•"/>
            </a:pPr>
            <a:r>
              <a:rPr lang="en-US" sz="1500" dirty="0">
                <a:solidFill>
                  <a:schemeClr val="tx1"/>
                </a:solidFill>
              </a:rPr>
              <a:t>Foto selfie, lalu Kirim (lokasi diambil saat itu).</a:t>
            </a:r>
            <a:endParaRPr lang="en-US" sz="1500" dirty="0"/>
          </a:p>
          <a:p>
            <a:pPr marL="228600" indent="-228600">
              <a:spcAft>
                <a:spcPts val="800"/>
              </a:spcAft>
              <a:buSzPct val="100000"/>
              <a:buChar char="•"/>
            </a:pPr>
            <a:r>
              <a:rPr lang="en-US" sz="1500" dirty="0">
                <a:solidFill>
                  <a:schemeClr val="tx1"/>
                </a:solidFill>
              </a:rPr>
              <a:t>Menu skenario lokasi palsu.</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08: Ditolak, Diblokir, Tercatat</a:t>
            </a:r>
            <a:endParaRPr lang="en-US" sz="3200" dirty="0"/>
          </a:p>
        </p:txBody>
      </p:sp>
      <p:sp>
        <p:nvSpPr>
          <p:cNvPr id="4" name="bingkai layar 1"/>
          <p:cNvSpPr/>
          <p:nvPr/>
        </p:nvSpPr>
        <p:spPr>
          <a:xfrm>
            <a:off x="4181551" y="1316736"/>
            <a:ext cx="2395728" cy="3663874"/>
          </a:xfrm>
          <a:prstGeom prst="roundRect">
            <a:avLst>
              <a:gd name="adj" fmla="val 3817"/>
            </a:avLst>
          </a:prstGeom>
          <a:solidFill>
            <a:srgbClr val="FFFFFF"/>
          </a:solidFill>
          <a:ln w="12700">
            <a:solidFill>
              <a:srgbClr val="C9D3E0"/>
            </a:solidFill>
            <a:prstDash val="solid"/>
          </a:ln>
        </p:spPr>
      </p:sp>
      <p:pic>
        <p:nvPicPr>
          <p:cNvPr id="5" name="layar 1" descr="Tangkapan layar aplikasi (hasil_contoh_08d.jpg)">    </p:cNvPr>
          <p:cNvPicPr>
            <a:picLocks noChangeAspect="1"/>
          </p:cNvPicPr>
          <p:nvPr/>
        </p:nvPicPr>
        <p:blipFill>
          <a:blip r:embed="rId1"/>
          <a:stretch>
            <a:fillRect/>
          </a:stretch>
        </p:blipFill>
        <p:spPr>
          <a:xfrm>
            <a:off x="4236415" y="1371600"/>
            <a:ext cx="2286000" cy="3554146"/>
          </a:xfrm>
          <a:prstGeom prst="rect">
            <a:avLst/>
          </a:prstGeom>
        </p:spPr>
      </p:pic>
      <p:sp>
        <p:nvSpPr>
          <p:cNvPr id="6" name="bingkai layar 2"/>
          <p:cNvSpPr/>
          <p:nvPr/>
        </p:nvSpPr>
        <p:spPr>
          <a:xfrm>
            <a:off x="6741871" y="1316736"/>
            <a:ext cx="2395728" cy="3663874"/>
          </a:xfrm>
          <a:prstGeom prst="roundRect">
            <a:avLst>
              <a:gd name="adj" fmla="val 3817"/>
            </a:avLst>
          </a:prstGeom>
          <a:solidFill>
            <a:srgbClr val="FFFFFF"/>
          </a:solidFill>
          <a:ln w="12700">
            <a:solidFill>
              <a:srgbClr val="C9D3E0"/>
            </a:solidFill>
            <a:prstDash val="solid"/>
          </a:ln>
        </p:spPr>
      </p:sp>
      <p:pic>
        <p:nvPicPr>
          <p:cNvPr id="7" name="layar 2" descr="Tangkapan layar aplikasi (hasil_contoh_08e.jpg)">    </p:cNvPr>
          <p:cNvPicPr>
            <a:picLocks noChangeAspect="1"/>
          </p:cNvPicPr>
          <p:nvPr/>
        </p:nvPicPr>
        <p:blipFill>
          <a:blip r:embed="rId2"/>
          <a:stretch>
            <a:fillRect/>
          </a:stretch>
        </p:blipFill>
        <p:spPr>
          <a:xfrm>
            <a:off x="6796735" y="1371600"/>
            <a:ext cx="2286000" cy="3554146"/>
          </a:xfrm>
          <a:prstGeom prst="rect">
            <a:avLst/>
          </a:prstGeom>
        </p:spPr>
      </p:pic>
      <p:sp>
        <p:nvSpPr>
          <p:cNvPr id="8" name="bingkai layar 3"/>
          <p:cNvSpPr/>
          <p:nvPr/>
        </p:nvSpPr>
        <p:spPr>
          <a:xfrm>
            <a:off x="9302191" y="1316736"/>
            <a:ext cx="2395728" cy="3663874"/>
          </a:xfrm>
          <a:prstGeom prst="roundRect">
            <a:avLst>
              <a:gd name="adj" fmla="val 3817"/>
            </a:avLst>
          </a:prstGeom>
          <a:solidFill>
            <a:srgbClr val="FFFFFF"/>
          </a:solidFill>
          <a:ln w="12700">
            <a:solidFill>
              <a:srgbClr val="C9D3E0"/>
            </a:solidFill>
            <a:prstDash val="solid"/>
          </a:ln>
        </p:spPr>
      </p:sp>
      <p:pic>
        <p:nvPicPr>
          <p:cNvPr id="9" name="layar 3" descr="Tangkapan layar aplikasi (hasil_contoh_08f.jpg)">    </p:cNvPr>
          <p:cNvPicPr>
            <a:picLocks noChangeAspect="1"/>
          </p:cNvPicPr>
          <p:nvPr/>
        </p:nvPicPr>
        <p:blipFill>
          <a:blip r:embed="rId3"/>
          <a:stretch>
            <a:fillRect/>
          </a:stretch>
        </p:blipFill>
        <p:spPr>
          <a:xfrm>
            <a:off x="9357055" y="1371600"/>
            <a:ext cx="2286000" cy="3554146"/>
          </a:xfrm>
          <a:prstGeom prst="rect">
            <a:avLst/>
          </a:prstGeom>
        </p:spPr>
      </p:pic>
      <p:sp>
        <p:nvSpPr>
          <p:cNvPr id="10" name="tombol tautan">
            <a:hlinkClick r:id="rId4" tooltip="https://github.com/antonprafanto/mobile2026/blob/main/pertemuan_13_fitur_perangkat_dan_izin/kode/contoh_08_studi_kasus_presensi.dart"/>
          </p:cNvPr>
          <p:cNvSpPr txBox="1"/>
          <p:nvPr/>
        </p:nvSpPr>
        <p:spPr>
          <a:xfrm>
            <a:off x="548640" y="1371600"/>
            <a:ext cx="3230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150" b="1" dirty="0">
                <a:solidFill>
                  <a:schemeClr val="bg1"/>
                </a:solidFill>
              </a:rPr>
              <a:t>Kode di GitHub  ·  contoh_08_studi_kasus_presensi.dart</a:t>
            </a:r>
            <a:endParaRPr lang="en-US" sz="1150" dirty="0"/>
          </a:p>
        </p:txBody>
      </p:sp>
      <p:pic>
        <p:nvPicPr>
          <p:cNvPr id="11" name="Image 3" descr="ikon tautan">
            <a:hlinkClick r:id="rId6" tooltip="https://github.com/antonprafanto/mobile2026/blob/main/pertemuan_13_fitur_perangkat_dan_izin/kode/contoh_08_studi_kasus_presensi.dart"/>
          </p:cNvPr>
          <p:cNvPicPr>
            <a:picLocks noChangeAspect="1"/>
          </p:cNvPicPr>
          <p:nvPr/>
        </p:nvPicPr>
        <p:blipFill>
          <a:blip r:embed="rId5"/>
          <a:stretch>
            <a:fillRect/>
          </a:stretch>
        </p:blipFill>
        <p:spPr>
          <a:xfrm>
            <a:off x="694944" y="1463040"/>
            <a:ext cx="274320" cy="274320"/>
          </a:xfrm>
          <a:prstGeom prst="rect">
            <a:avLst/>
          </a:prstGeom>
        </p:spPr>
      </p:pic>
      <p:sp>
        <p:nvSpPr>
          <p:cNvPr id="12" name="daftar poin"/>
          <p:cNvSpPr txBox="1"/>
          <p:nvPr/>
        </p:nvSpPr>
        <p:spPr>
          <a:xfrm>
            <a:off x="548640" y="2103120"/>
            <a:ext cx="323057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Di luar area: 234 m dari Lab Basis Data.</a:t>
            </a:r>
            <a:endParaRPr lang="en-US" sz="1500" dirty="0"/>
          </a:p>
          <a:p>
            <a:pPr marL="228600" indent="-228600">
              <a:spcAft>
                <a:spcPts val="800"/>
              </a:spcAft>
              <a:buSzPct val="100000"/>
              <a:buChar char="•"/>
            </a:pPr>
            <a:r>
              <a:rPr lang="en-US" sz="1500" dirty="0">
                <a:solidFill>
                  <a:schemeClr val="tx1"/>
                </a:solidFill>
              </a:rPr>
              <a:t>Izin diblokir: tombol Buka Pengaturan.</a:t>
            </a:r>
            <a:endParaRPr lang="en-US" sz="1500" dirty="0"/>
          </a:p>
          <a:p>
            <a:pPr marL="228600" indent="-228600">
              <a:spcAft>
                <a:spcPts val="800"/>
              </a:spcAft>
              <a:buSzPct val="100000"/>
              <a:buChar char="•"/>
            </a:pPr>
            <a:r>
              <a:rPr lang="en-US" sz="1500" dirty="0">
                <a:solidFill>
                  <a:schemeClr val="tx1"/>
                </a:solidFill>
              </a:rPr>
              <a:t>Berhasil: "Presensi tercatat pukul 13.10 (8 m dari ...)".</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Kembali dari Pengaturan: Pesan Lama Dibersihkan</a:t>
            </a:r>
            <a:endParaRPr lang="en-US" sz="3200" dirty="0"/>
          </a:p>
        </p:txBody>
      </p:sp>
      <p:sp>
        <p:nvSpPr>
          <p:cNvPr id="4" name="kotak kode"/>
          <p:cNvSpPr txBox="1"/>
          <p:nvPr/>
        </p:nvSpPr>
        <p:spPr>
          <a:xfrm>
            <a:off x="548640" y="1371600"/>
            <a:ext cx="7132320" cy="1883664"/>
          </a:xfrm>
          <a:prstGeom prst="roundRect">
            <a:avLst>
              <a:gd name="adj" fmla="val 4854"/>
            </a:avLst>
          </a:prstGeom>
          <a:solidFill>
            <a:srgbClr val="0E1A2B"/>
          </a:solidFill>
          <a:ln/>
        </p:spPr>
        <p:txBody>
          <a:bodyPr wrap="square" lIns="177800" tIns="152400" rIns="152400" bIns="177800" rtlCol="0" anchor="t"/>
          <a:lstStyle/>
          <a:p>
            <a:pPr indent="0" marL="0">
              <a:lnSpc>
                <a:spcPct val="105000"/>
              </a:lnSpc>
              <a:buNone/>
            </a:pPr>
            <a:r>
              <a:rPr lang="en-US" sz="1150" i="1" dirty="0">
                <a:solidFill>
                  <a:srgbClr val="8FA3BC"/>
                </a:solidFill>
                <a:latin typeface="Consolas" pitchFamily="34" charset="0"/>
                <a:ea typeface="Consolas" pitchFamily="34" charset="-122"/>
                <a:cs typeface="Consolas" pitchFamily="34" charset="-120"/>
              </a:rPr>
              <a:t>/// Kembali dari Pengaturan: hapus pesan lama tentang izin atau layanan,</a:t>
            </a:r>
            <a:endParaRPr lang="en-US" sz="1150" dirty="0"/>
          </a:p>
          <a:p>
            <a:pPr indent="0" marL="0">
              <a:lnSpc>
                <a:spcPct val="105000"/>
              </a:lnSpc>
              <a:buNone/>
            </a:pPr>
            <a:r>
              <a:rPr lang="en-US" sz="1150" i="1" dirty="0">
                <a:solidFill>
                  <a:srgbClr val="8FA3BC"/>
                </a:solidFill>
                <a:latin typeface="Consolas" pitchFamily="34" charset="0"/>
                <a:ea typeface="Consolas" pitchFamily="34" charset="-122"/>
                <a:cs typeface="Consolas" pitchFamily="34" charset="-120"/>
              </a:rPr>
              <a:t>/// agar pengguna bisa langsung menekan Kirim lagi.</a:t>
            </a:r>
            <a:endParaRPr lang="en-US" sz="1150" dirty="0"/>
          </a:p>
          <a:p>
            <a:pPr indent="0" marL="0">
              <a:lnSpc>
                <a:spcPct val="105000"/>
              </a:lnSpc>
              <a:buNone/>
            </a:pPr>
            <a:r>
              <a:rPr lang="en-US" sz="1150" dirty="0">
                <a:solidFill>
                  <a:srgbClr val="C792EA"/>
                </a:solidFill>
                <a:latin typeface="Consolas" pitchFamily="34" charset="0"/>
                <a:ea typeface="Consolas" pitchFamily="34" charset="-122"/>
                <a:cs typeface="Consolas" pitchFamily="34" charset="-120"/>
              </a:rPr>
              <a:t>void</a:t>
            </a:r>
            <a:r>
              <a:rPr lang="en-US" sz="1150" dirty="0">
                <a:solidFill>
                  <a:srgbClr val="E6EDF3"/>
                </a:solidFill>
                <a:latin typeface="Consolas" pitchFamily="34" charset="0"/>
                <a:ea typeface="Consolas" pitchFamily="34" charset="-122"/>
                <a:cs typeface="Consolas" pitchFamily="34" charset="-120"/>
              </a:rPr>
              <a:t> _saatKembali()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final</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Hasil</a:t>
            </a:r>
            <a:r>
              <a:rPr lang="en-US" sz="1150" dirty="0">
                <a:solidFill>
                  <a:srgbClr val="E6EDF3"/>
                </a:solidFill>
                <a:latin typeface="Consolas" pitchFamily="34" charset="0"/>
                <a:ea typeface="Consolas" pitchFamily="34" charset="-122"/>
                <a:cs typeface="Consolas" pitchFamily="34" charset="-120"/>
              </a:rPr>
              <a:t>&lt;</a:t>
            </a:r>
            <a:r>
              <a:rPr lang="en-US" sz="1150" dirty="0">
                <a:solidFill>
                  <a:srgbClr val="FFCB6B"/>
                </a:solidFill>
                <a:latin typeface="Consolas" pitchFamily="34" charset="0"/>
                <a:ea typeface="Consolas" pitchFamily="34" charset="-122"/>
                <a:cs typeface="Consolas" pitchFamily="34" charset="-120"/>
              </a:rPr>
              <a:t>Presensi</a:t>
            </a:r>
            <a:r>
              <a:rPr lang="en-US" sz="1150" dirty="0">
                <a:solidFill>
                  <a:srgbClr val="E6EDF3"/>
                </a:solidFill>
                <a:latin typeface="Consolas" pitchFamily="34" charset="0"/>
                <a:ea typeface="Consolas" pitchFamily="34" charset="-122"/>
                <a:cs typeface="Consolas" pitchFamily="34" charset="-120"/>
              </a:rPr>
              <a:t>&gt;? hasil = _vm.kirim.hasil;</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if</a:t>
            </a:r>
            <a:r>
              <a:rPr lang="en-US" sz="1150" dirty="0">
                <a:solidFill>
                  <a:srgbClr val="E6EDF3"/>
                </a:solidFill>
                <a:latin typeface="Consolas" pitchFamily="34" charset="0"/>
                <a:ea typeface="Consolas" pitchFamily="34" charset="-122"/>
                <a:cs typeface="Consolas" pitchFamily="34" charset="-120"/>
              </a:rPr>
              <a:t> (hasil </a:t>
            </a:r>
            <a:r>
              <a:rPr lang="en-US" sz="1150" dirty="0">
                <a:solidFill>
                  <a:srgbClr val="C792EA"/>
                </a:solidFill>
                <a:latin typeface="Consolas" pitchFamily="34" charset="0"/>
                <a:ea typeface="Consolas" pitchFamily="34" charset="-122"/>
                <a:cs typeface="Consolas" pitchFamily="34" charset="-120"/>
              </a:rPr>
              <a:t>case</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Gagal</a:t>
            </a:r>
            <a:r>
              <a:rPr lang="en-US" sz="1150" dirty="0">
                <a:solidFill>
                  <a:srgbClr val="E6EDF3"/>
                </a:solidFill>
                <a:latin typeface="Consolas" pitchFamily="34" charset="0"/>
                <a:ea typeface="Consolas" pitchFamily="34" charset="-122"/>
                <a:cs typeface="Consolas" pitchFamily="34" charset="-120"/>
              </a:rPr>
              <a:t>(kegagalan: </a:t>
            </a:r>
            <a:r>
              <a:rPr lang="en-US" sz="1150" dirty="0">
                <a:solidFill>
                  <a:srgbClr val="FFCB6B"/>
                </a:solidFill>
                <a:latin typeface="Consolas" pitchFamily="34" charset="0"/>
                <a:ea typeface="Consolas" pitchFamily="34" charset="-122"/>
                <a:cs typeface="Consolas" pitchFamily="34" charset="-120"/>
              </a:rPr>
              <a:t>IzinDiblokir</a:t>
            </a:r>
            <a:r>
              <a:rPr lang="en-US" sz="1150" dirty="0">
                <a:solidFill>
                  <a:srgbClr val="E6EDF3"/>
                </a:solidFill>
                <a:latin typeface="Consolas" pitchFamily="34" charset="0"/>
                <a:ea typeface="Consolas" pitchFamily="34" charset="-122"/>
                <a:cs typeface="Consolas" pitchFamily="34" charset="-120"/>
              </a:rPr>
              <a:t>() || </a:t>
            </a:r>
            <a:r>
              <a:rPr lang="en-US" sz="1150" dirty="0">
                <a:solidFill>
                  <a:srgbClr val="FFCB6B"/>
                </a:solidFill>
                <a:latin typeface="Consolas" pitchFamily="34" charset="0"/>
                <a:ea typeface="Consolas" pitchFamily="34" charset="-122"/>
                <a:cs typeface="Consolas" pitchFamily="34" charset="-120"/>
              </a:rPr>
              <a:t>LayananLokasiMati</a:t>
            </a: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_vm.kirim.bersihkanHasil();</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p:txBody>
      </p:sp>
      <p:sp>
        <p:nvSpPr>
          <p:cNvPr id="5" name="tombol tautan">
            <a:hlinkClick r:id="rId1" tooltip="https://github.com/antonprafanto/mobile2026/blob/main/pertemuan_13_fitur_perangkat_dan_izin/kode/contoh_08_studi_kasus_presensi.dart"/>
          </p:cNvPr>
          <p:cNvSpPr txBox="1"/>
          <p:nvPr/>
        </p:nvSpPr>
        <p:spPr>
          <a:xfrm>
            <a:off x="548640" y="3483864"/>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contoh_08_studi_kasus_presensi.dart</a:t>
            </a:r>
            <a:endParaRPr lang="en-US" sz="1300" dirty="0"/>
          </a:p>
        </p:txBody>
      </p:sp>
      <p:pic>
        <p:nvPicPr>
          <p:cNvPr id="6" name="Image 0" descr="ikon tautan">
            <a:hlinkClick r:id="rId3" tooltip="https://github.com/antonprafanto/mobile2026/blob/main/pertemuan_13_fitur_perangkat_dan_izin/kode/contoh_08_studi_kasus_presensi.dart"/>
          </p:cNvPr>
          <p:cNvPicPr>
            <a:picLocks noChangeAspect="1"/>
          </p:cNvPicPr>
          <p:nvPr/>
        </p:nvPicPr>
        <p:blipFill>
          <a:blip r:embed="rId2"/>
          <a:stretch>
            <a:fillRect/>
          </a:stretch>
        </p:blipFill>
        <p:spPr>
          <a:xfrm>
            <a:off x="694944" y="3575304"/>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Pola dibaca: hasilnya Gagal DAN kegagalannya IzinDiblokir ATAU LayananLokasiMati.</a:t>
            </a:r>
            <a:endParaRPr lang="en-US" sz="1700" dirty="0"/>
          </a:p>
          <a:p>
            <a:pPr marL="228600" indent="-228600">
              <a:spcAft>
                <a:spcPts val="800"/>
              </a:spcAft>
              <a:buSzPct val="100000"/>
              <a:buChar char="•"/>
            </a:pPr>
            <a:r>
              <a:rPr lang="en-US" sz="1700" dirty="0">
                <a:solidFill>
                  <a:schemeClr val="tx1"/>
                </a:solidFill>
              </a:rPr>
              <a:t>Pesan "izin diblokir" yang masih tampil bisa membingungkan: mungkin izinnya sudah diberikan.</a:t>
            </a:r>
            <a:endParaRPr lang="en-US" sz="1700" dirty="0"/>
          </a:p>
          <a:p>
            <a:pPr marL="228600" indent="-228600">
              <a:spcAft>
                <a:spcPts val="800"/>
              </a:spcAft>
              <a:buSzPct val="100000"/>
              <a:buChar char="•"/>
            </a:pPr>
            <a:r>
              <a:rPr lang="en-US" sz="1700" dirty="0">
                <a:solidFill>
                  <a:schemeClr val="tx1"/>
                </a:solidFill>
              </a:rPr>
              <a:t>Pengguna tinggal mengetuk Kirim lagi.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08: 18 Pemeriksaan Otomatis</a:t>
            </a:r>
            <a:endParaRPr lang="en-US" sz="3200" dirty="0"/>
          </a:p>
        </p:txBody>
      </p:sp>
      <p:sp>
        <p:nvSpPr>
          <p:cNvPr id="4" name="kotak kode"/>
          <p:cNvSpPr txBox="1"/>
          <p:nvPr/>
        </p:nvSpPr>
        <p:spPr>
          <a:xfrm>
            <a:off x="548640" y="1371600"/>
            <a:ext cx="5852160" cy="4091940"/>
          </a:xfrm>
          <a:prstGeom prst="roundRect">
            <a:avLst>
              <a:gd name="adj" fmla="val 2235"/>
            </a:avLst>
          </a:prstGeom>
          <a:solidFill>
            <a:srgbClr val="0E1A2B"/>
          </a:solidFill>
          <a:ln/>
        </p:spPr>
        <p:txBody>
          <a:bodyPr wrap="square" lIns="177800" tIns="152400" rIns="152400" bIns="177800" rtlCol="0" anchor="t"/>
          <a:lstStyle/>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Pemeriksaan Presensi Praktikum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Jarak dua titik contoh = </a:t>
            </a:r>
            <a:r>
              <a:rPr lang="en-US" sz="1150" dirty="0">
                <a:solidFill>
                  <a:srgbClr val="F78C6C"/>
                </a:solidFill>
                <a:latin typeface="Consolas" pitchFamily="34" charset="0"/>
                <a:ea typeface="Consolas" pitchFamily="34" charset="-122"/>
                <a:cs typeface="Consolas" pitchFamily="34" charset="-120"/>
              </a:rPr>
              <a:t>25</a:t>
            </a:r>
            <a:r>
              <a:rPr lang="en-US" sz="1150" dirty="0">
                <a:solidFill>
                  <a:srgbClr val="E6EDF3"/>
                </a:solidFill>
                <a:latin typeface="Consolas" pitchFamily="34" charset="0"/>
                <a:ea typeface="Consolas" pitchFamily="34" charset="-122"/>
                <a:cs typeface="Consolas" pitchFamily="34" charset="-120"/>
              </a:rPr>
              <a:t> m</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a:t>
            </a:r>
            <a:r>
              <a:rPr lang="en-US" sz="1150" dirty="0">
                <a:solidFill>
                  <a:srgbClr val="F78C6C"/>
                </a:solidFill>
                <a:latin typeface="Consolas" pitchFamily="34" charset="0"/>
                <a:ea typeface="Consolas" pitchFamily="34" charset="-122"/>
                <a:cs typeface="Consolas" pitchFamily="34" charset="-120"/>
              </a:rPr>
              <a:t>12.44</a:t>
            </a:r>
            <a:r>
              <a:rPr lang="en-US" sz="1150" dirty="0">
                <a:solidFill>
                  <a:srgbClr val="E6EDF3"/>
                </a:solidFill>
                <a:latin typeface="Consolas" pitchFamily="34" charset="0"/>
                <a:ea typeface="Consolas" pitchFamily="34" charset="-122"/>
                <a:cs typeface="Consolas" pitchFamily="34" charset="-120"/>
              </a:rPr>
              <a:t> belum dibuka</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a:t>
            </a:r>
            <a:r>
              <a:rPr lang="en-US" sz="1150" dirty="0">
                <a:solidFill>
                  <a:srgbClr val="F78C6C"/>
                </a:solidFill>
                <a:latin typeface="Consolas" pitchFamily="34" charset="0"/>
                <a:ea typeface="Consolas" pitchFamily="34" charset="-122"/>
                <a:cs typeface="Consolas" pitchFamily="34" charset="-120"/>
              </a:rPr>
              <a:t>12.45</a:t>
            </a:r>
            <a:r>
              <a:rPr lang="en-US" sz="1150" dirty="0">
                <a:solidFill>
                  <a:srgbClr val="E6EDF3"/>
                </a:solidFill>
                <a:latin typeface="Consolas" pitchFamily="34" charset="0"/>
                <a:ea typeface="Consolas" pitchFamily="34" charset="-122"/>
                <a:cs typeface="Consolas" pitchFamily="34" charset="-120"/>
              </a:rPr>
              <a:t> dibuka</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a:t>
            </a:r>
            <a:r>
              <a:rPr lang="en-US" sz="1150" dirty="0">
                <a:solidFill>
                  <a:srgbClr val="F78C6C"/>
                </a:solidFill>
                <a:latin typeface="Consolas" pitchFamily="34" charset="0"/>
                <a:ea typeface="Consolas" pitchFamily="34" charset="-122"/>
                <a:cs typeface="Consolas" pitchFamily="34" charset="-120"/>
              </a:rPr>
              <a:t>13.30</a:t>
            </a:r>
            <a:r>
              <a:rPr lang="en-US" sz="1150" dirty="0">
                <a:solidFill>
                  <a:srgbClr val="E6EDF3"/>
                </a:solidFill>
                <a:latin typeface="Consolas" pitchFamily="34" charset="0"/>
                <a:ea typeface="Consolas" pitchFamily="34" charset="-122"/>
                <a:cs typeface="Consolas" pitchFamily="34" charset="-120"/>
              </a:rPr>
              <a:t> masih dibuka</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a:t>
            </a:r>
            <a:r>
              <a:rPr lang="en-US" sz="1150" dirty="0">
                <a:solidFill>
                  <a:srgbClr val="F78C6C"/>
                </a:solidFill>
                <a:latin typeface="Consolas" pitchFamily="34" charset="0"/>
                <a:ea typeface="Consolas" pitchFamily="34" charset="-122"/>
                <a:cs typeface="Consolas" pitchFamily="34" charset="-120"/>
              </a:rPr>
              <a:t>13.31</a:t>
            </a:r>
            <a:r>
              <a:rPr lang="en-US" sz="1150" dirty="0">
                <a:solidFill>
                  <a:srgbClr val="E6EDF3"/>
                </a:solidFill>
                <a:latin typeface="Consolas" pitchFamily="34" charset="0"/>
                <a:ea typeface="Consolas" pitchFamily="34" charset="-122"/>
                <a:cs typeface="Consolas" pitchFamily="34" charset="-120"/>
              </a:rPr>
              <a:t> ditutup</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Tanpa foto ditolak</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Di dalam radius (</a:t>
            </a:r>
            <a:r>
              <a:rPr lang="en-US" sz="1150" dirty="0">
                <a:solidFill>
                  <a:srgbClr val="F78C6C"/>
                </a:solidFill>
                <a:latin typeface="Consolas" pitchFamily="34" charset="0"/>
                <a:ea typeface="Consolas" pitchFamily="34" charset="-122"/>
                <a:cs typeface="Consolas" pitchFamily="34" charset="-120"/>
              </a:rPr>
              <a:t>8</a:t>
            </a:r>
            <a:r>
              <a:rPr lang="en-US" sz="1150" dirty="0">
                <a:solidFill>
                  <a:srgbClr val="E6EDF3"/>
                </a:solidFill>
                <a:latin typeface="Consolas" pitchFamily="34" charset="0"/>
                <a:ea typeface="Consolas" pitchFamily="34" charset="-122"/>
                <a:cs typeface="Consolas" pitchFamily="34" charset="-120"/>
              </a:rPr>
              <a:t> m) diterima</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Akurasi </a:t>
            </a:r>
            <a:r>
              <a:rPr lang="en-US" sz="1150" dirty="0">
                <a:solidFill>
                  <a:srgbClr val="F78C6C"/>
                </a:solidFill>
                <a:latin typeface="Consolas" pitchFamily="34" charset="0"/>
                <a:ea typeface="Consolas" pitchFamily="34" charset="-122"/>
                <a:cs typeface="Consolas" pitchFamily="34" charset="-120"/>
              </a:rPr>
              <a:t>120</a:t>
            </a:r>
            <a:r>
              <a:rPr lang="en-US" sz="1150" dirty="0">
                <a:solidFill>
                  <a:srgbClr val="E6EDF3"/>
                </a:solidFill>
                <a:latin typeface="Consolas" pitchFamily="34" charset="0"/>
                <a:ea typeface="Consolas" pitchFamily="34" charset="-122"/>
                <a:cs typeface="Consolas" pitchFamily="34" charset="-120"/>
              </a:rPr>
              <a:t> m ditolak</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a:t>
            </a:r>
            <a:r>
              <a:rPr lang="en-US" sz="1150" dirty="0">
                <a:solidFill>
                  <a:srgbClr val="F78C6C"/>
                </a:solidFill>
                <a:latin typeface="Consolas" pitchFamily="34" charset="0"/>
                <a:ea typeface="Consolas" pitchFamily="34" charset="-122"/>
                <a:cs typeface="Consolas" pitchFamily="34" charset="-120"/>
              </a:rPr>
              <a:t>234</a:t>
            </a:r>
            <a:r>
              <a:rPr lang="en-US" sz="1150" dirty="0">
                <a:solidFill>
                  <a:srgbClr val="E6EDF3"/>
                </a:solidFill>
                <a:latin typeface="Consolas" pitchFamily="34" charset="0"/>
                <a:ea typeface="Consolas" pitchFamily="34" charset="-122"/>
                <a:cs typeface="Consolas" pitchFamily="34" charset="-120"/>
              </a:rPr>
              <a:t> m dari lab ditolak</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Di lab pukul </a:t>
            </a:r>
            <a:r>
              <a:rPr lang="en-US" sz="1150" dirty="0">
                <a:solidFill>
                  <a:srgbClr val="F78C6C"/>
                </a:solidFill>
                <a:latin typeface="Consolas" pitchFamily="34" charset="0"/>
                <a:ea typeface="Consolas" pitchFamily="34" charset="-122"/>
                <a:cs typeface="Consolas" pitchFamily="34" charset="-120"/>
              </a:rPr>
              <a:t>13.10</a:t>
            </a:r>
            <a:r>
              <a:rPr lang="en-US" sz="1150" dirty="0">
                <a:solidFill>
                  <a:srgbClr val="E6EDF3"/>
                </a:solidFill>
                <a:latin typeface="Consolas" pitchFamily="34" charset="0"/>
                <a:ea typeface="Consolas" pitchFamily="34" charset="-122"/>
                <a:cs typeface="Consolas" pitchFamily="34" charset="-120"/>
              </a:rPr>
              <a:t> -&gt; tercatat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Presensi kedua -&gt; ditolak</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Presensi kedua -&gt; lokasi TIDAK diminta</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Pukul </a:t>
            </a:r>
            <a:r>
              <a:rPr lang="en-US" sz="1150" dirty="0">
                <a:solidFill>
                  <a:srgbClr val="F78C6C"/>
                </a:solidFill>
                <a:latin typeface="Consolas" pitchFamily="34" charset="0"/>
                <a:ea typeface="Consolas" pitchFamily="34" charset="-122"/>
                <a:cs typeface="Consolas" pitchFamily="34" charset="-120"/>
              </a:rPr>
              <a:t>14.00</a:t>
            </a:r>
            <a:r>
              <a:rPr lang="en-US" sz="1150" dirty="0">
                <a:solidFill>
                  <a:srgbClr val="E6EDF3"/>
                </a:solidFill>
                <a:latin typeface="Consolas" pitchFamily="34" charset="0"/>
                <a:ea typeface="Consolas" pitchFamily="34" charset="-122"/>
                <a:cs typeface="Consolas" pitchFamily="34" charset="-120"/>
              </a:rPr>
              <a:t> -&gt; ditutup, lokasi tidak diminta</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Izin lokasi diblokir -&gt; gagal, tidak tersimpan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Izin diblokir -&gt; tombol Buka Pengaturan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Kirim tanpa foto -&gt; diminta foto</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Foto dibatalkan -&gt; foto tetap kosong</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LULUS  Dua ketukan cepat -&gt; satu presensi</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Ringkasan: </a:t>
            </a:r>
            <a:r>
              <a:rPr lang="en-US" sz="1150" dirty="0">
                <a:solidFill>
                  <a:srgbClr val="F78C6C"/>
                </a:solidFill>
                <a:latin typeface="Consolas" pitchFamily="34" charset="0"/>
                <a:ea typeface="Consolas" pitchFamily="34" charset="-122"/>
                <a:cs typeface="Consolas" pitchFamily="34" charset="-120"/>
              </a:rPr>
              <a:t>18</a:t>
            </a:r>
            <a:r>
              <a:rPr lang="en-US" sz="1150" dirty="0">
                <a:solidFill>
                  <a:srgbClr val="E6EDF3"/>
                </a:solidFill>
                <a:latin typeface="Consolas" pitchFamily="34" charset="0"/>
                <a:ea typeface="Consolas" pitchFamily="34" charset="-122"/>
                <a:cs typeface="Consolas" pitchFamily="34" charset="-120"/>
              </a:rPr>
              <a:t> dari </a:t>
            </a:r>
            <a:r>
              <a:rPr lang="en-US" sz="1150" dirty="0">
                <a:solidFill>
                  <a:srgbClr val="F78C6C"/>
                </a:solidFill>
                <a:latin typeface="Consolas" pitchFamily="34" charset="0"/>
                <a:ea typeface="Consolas" pitchFamily="34" charset="-122"/>
                <a:cs typeface="Consolas" pitchFamily="34" charset="-120"/>
              </a:rPr>
              <a:t>18</a:t>
            </a:r>
            <a:r>
              <a:rPr lang="en-US" sz="1150" dirty="0">
                <a:solidFill>
                  <a:srgbClr val="E6EDF3"/>
                </a:solidFill>
                <a:latin typeface="Consolas" pitchFamily="34" charset="0"/>
                <a:ea typeface="Consolas" pitchFamily="34" charset="-122"/>
                <a:cs typeface="Consolas" pitchFamily="34" charset="-120"/>
              </a:rPr>
              <a:t> uji lulus</a:t>
            </a:r>
            <a:endParaRPr lang="en-US" sz="1150" dirty="0"/>
          </a:p>
        </p:txBody>
      </p:sp>
      <p:sp>
        <p:nvSpPr>
          <p:cNvPr id="5" name="tombol tautan">
            <a:hlinkClick r:id="rId1" tooltip="https://github.com/antonprafanto/mobile2026/blob/main/pertemuan_13_fitur_perangkat_dan_izin/kode/contoh_08_studi_kasus_presensi.dart"/>
          </p:cNvPr>
          <p:cNvSpPr txBox="1"/>
          <p:nvPr/>
        </p:nvSpPr>
        <p:spPr>
          <a:xfrm>
            <a:off x="548640" y="5692140"/>
            <a:ext cx="58521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contoh_08_studi_kasus_presensi.dart</a:t>
            </a:r>
            <a:endParaRPr lang="en-US" sz="1300" dirty="0"/>
          </a:p>
        </p:txBody>
      </p:sp>
      <p:pic>
        <p:nvPicPr>
          <p:cNvPr id="6" name="Image 0" descr="ikon tautan">
            <a:hlinkClick r:id="rId3" tooltip="https://github.com/antonprafanto/mobile2026/blob/main/pertemuan_13_fitur_perangkat_dan_izin/kode/contoh_08_studi_kasus_presensi.dart"/>
          </p:cNvPr>
          <p:cNvPicPr>
            <a:picLocks noChangeAspect="1"/>
          </p:cNvPicPr>
          <p:nvPr/>
        </p:nvPicPr>
        <p:blipFill>
          <a:blip r:embed="rId2"/>
          <a:stretch>
            <a:fillRect/>
          </a:stretch>
        </p:blipFill>
        <p:spPr>
          <a:xfrm>
            <a:off x="694944" y="5783580"/>
            <a:ext cx="274320" cy="274320"/>
          </a:xfrm>
          <a:prstGeom prst="rect">
            <a:avLst/>
          </a:prstGeom>
        </p:spPr>
      </p:pic>
      <p:sp>
        <p:nvSpPr>
          <p:cNvPr id="7" name="daftar poin"/>
          <p:cNvSpPr txBox="1"/>
          <p:nvPr/>
        </p:nvSpPr>
        <p:spPr>
          <a:xfrm>
            <a:off x="6812280" y="1417320"/>
            <a:ext cx="48307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Domain, use case, dan ViewModel diperiksa dengan data palsu serta jam tetap.</a:t>
            </a:r>
            <a:endParaRPr lang="en-US" sz="1700" dirty="0"/>
          </a:p>
          <a:p>
            <a:pPr marL="228600" indent="-228600">
              <a:spcAft>
                <a:spcPts val="800"/>
              </a:spcAft>
              <a:buSzPct val="100000"/>
              <a:buChar char="•"/>
            </a:pPr>
            <a:r>
              <a:rPr lang="en-US" sz="1700" dirty="0">
                <a:solidFill>
                  <a:schemeClr val="tx1"/>
                </a:solidFill>
              </a:rPr>
              <a:t>Batas waktu diuji: 12.44 belum dibuka, 12.45 dibuka, 13.30 masih dibuka, 13.31 ditutup.</a:t>
            </a:r>
            <a:endParaRPr lang="en-US" sz="1700" dirty="0"/>
          </a:p>
          <a:p>
            <a:pPr marL="228600" indent="-228600">
              <a:spcAft>
                <a:spcPts val="800"/>
              </a:spcAft>
              <a:buSzPct val="100000"/>
              <a:buChar char="•"/>
            </a:pPr>
            <a:r>
              <a:rPr lang="en-US" sz="1700" dirty="0">
                <a:solidFill>
                  <a:schemeClr val="tx1"/>
                </a:solidFill>
              </a:rPr>
              <a:t>Presensi kedua dan pukul 14.00: lokasi TIDAK diminta.</a:t>
            </a:r>
            <a:endParaRPr lang="en-US" sz="1700" dirty="0"/>
          </a:p>
          <a:p>
            <a:pPr marL="228600" indent="-228600">
              <a:spcAft>
                <a:spcPts val="800"/>
              </a:spcAft>
              <a:buSzPct val="100000"/>
              <a:buChar char="•"/>
            </a:pPr>
            <a:r>
              <a:rPr lang="en-US" sz="1700" dirty="0">
                <a:solidFill>
                  <a:schemeClr val="tx1"/>
                </a:solidFill>
              </a:rPr>
              <a:t>Pertemuan 14: pemeriksaan ini pindah ke folder test/ dan dijalankan dengan flutter test.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11–15</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Menguji, Privasi, Paket Lain, dan Proyek Akhir</a:t>
            </a:r>
            <a:endParaRPr lang="en-US" sz="4000" dirty="0"/>
          </a:p>
        </p:txBody>
      </p:sp>
      <p:sp>
        <p:nvSpPr>
          <p:cNvPr id="5" name="lingkaran privasi"/>
          <p:cNvSpPr/>
          <p:nvPr/>
        </p:nvSpPr>
        <p:spPr>
          <a:xfrm>
            <a:off x="1097280" y="2148840"/>
            <a:ext cx="2011680" cy="2011680"/>
          </a:xfrm>
          <a:prstGeom prst="ellipse">
            <a:avLst/>
          </a:prstGeom>
          <a:solidFill>
            <a:schemeClr val="accent1"/>
          </a:solidFill>
          <a:ln/>
        </p:spPr>
      </p:sp>
      <p:pic>
        <p:nvPicPr>
          <p:cNvPr id="6" name="Image 0" descr="privasi">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Chrome DevTools: Sensors</a:t>
            </a:r>
            <a:endParaRPr lang="en-US" sz="3200" dirty="0"/>
          </a:p>
        </p:txBody>
      </p:sp>
      <p:sp>
        <p:nvSpPr>
          <p:cNvPr id="4" name="langkah 1"/>
          <p:cNvSpPr/>
          <p:nvPr/>
        </p:nvSpPr>
        <p:spPr>
          <a:xfrm>
            <a:off x="548640" y="1828800"/>
            <a:ext cx="1962851" cy="3566160"/>
          </a:xfrm>
          <a:prstGeom prst="roundRect">
            <a:avLst>
              <a:gd name="adj" fmla="val 6988"/>
            </a:avLst>
          </a:prstGeom>
          <a:solidFill>
            <a:schemeClr val="bg2"/>
          </a:solidFill>
          <a:ln/>
        </p:spPr>
      </p:sp>
      <p:sp>
        <p:nvSpPr>
          <p:cNvPr id="5" name="lingkaran perkakas"/>
          <p:cNvSpPr/>
          <p:nvPr/>
        </p:nvSpPr>
        <p:spPr>
          <a:xfrm>
            <a:off x="1095726" y="2103120"/>
            <a:ext cx="868680" cy="868680"/>
          </a:xfrm>
          <a:prstGeom prst="ellipse">
            <a:avLst/>
          </a:prstGeom>
          <a:solidFill>
            <a:schemeClr val="accent1"/>
          </a:solidFill>
          <a:ln/>
        </p:spPr>
      </p:sp>
      <p:pic>
        <p:nvPicPr>
          <p:cNvPr id="6" name="Image 0" descr="perkakas">    </p:cNvPr>
          <p:cNvPicPr>
            <a:picLocks noChangeAspect="1"/>
          </p:cNvPicPr>
          <p:nvPr/>
        </p:nvPicPr>
        <p:blipFill>
          <a:blip r:embed="rId1"/>
          <a:stretch>
            <a:fillRect/>
          </a:stretch>
        </p:blipFill>
        <p:spPr>
          <a:xfrm>
            <a:off x="1286835"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Buka DevTools</a:t>
            </a:r>
            <a:endParaRPr lang="en-US" sz="1700" dirty="0"/>
          </a:p>
        </p:txBody>
      </p:sp>
      <p:sp>
        <p:nvSpPr>
          <p:cNvPr id="9" name="Text 5"/>
          <p:cNvSpPr txBox="1"/>
          <p:nvPr/>
        </p:nvSpPr>
        <p:spPr>
          <a:xfrm>
            <a:off x="685800"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F12, lalu Ctrl+Shift+P → ketik sensors → Show Sensors</a:t>
            </a:r>
            <a:endParaRPr lang="en-US" sz="1400" dirty="0"/>
          </a:p>
        </p:txBody>
      </p:sp>
      <p:sp>
        <p:nvSpPr>
          <p:cNvPr id="10" name="Shape 6"/>
          <p:cNvSpPr/>
          <p:nvPr/>
        </p:nvSpPr>
        <p:spPr>
          <a:xfrm>
            <a:off x="2548067" y="2395728"/>
            <a:ext cx="246888" cy="274320"/>
          </a:xfrm>
          <a:prstGeom prst="rightArrow">
            <a:avLst/>
          </a:prstGeom>
          <a:solidFill>
            <a:schemeClr val="accent2"/>
          </a:solidFill>
          <a:ln/>
        </p:spPr>
      </p:sp>
      <p:sp>
        <p:nvSpPr>
          <p:cNvPr id="11" name="langkah 2"/>
          <p:cNvSpPr/>
          <p:nvPr/>
        </p:nvSpPr>
        <p:spPr>
          <a:xfrm>
            <a:off x="2831531" y="1828800"/>
            <a:ext cx="1962851" cy="3566160"/>
          </a:xfrm>
          <a:prstGeom prst="roundRect">
            <a:avLst>
              <a:gd name="adj" fmla="val 6988"/>
            </a:avLst>
          </a:prstGeom>
          <a:solidFill>
            <a:schemeClr val="bg2"/>
          </a:solidFill>
          <a:ln/>
        </p:spPr>
      </p:sp>
      <p:sp>
        <p:nvSpPr>
          <p:cNvPr id="12" name="lingkaran lokasi"/>
          <p:cNvSpPr/>
          <p:nvPr/>
        </p:nvSpPr>
        <p:spPr>
          <a:xfrm>
            <a:off x="3378617" y="2103120"/>
            <a:ext cx="868680" cy="868680"/>
          </a:xfrm>
          <a:prstGeom prst="ellipse">
            <a:avLst/>
          </a:prstGeom>
          <a:solidFill>
            <a:schemeClr val="accent1"/>
          </a:solidFill>
          <a:ln/>
        </p:spPr>
      </p:sp>
      <p:pic>
        <p:nvPicPr>
          <p:cNvPr id="13" name="Image 1" descr="lokasi">    </p:cNvPr>
          <p:cNvPicPr>
            <a:picLocks noChangeAspect="1"/>
          </p:cNvPicPr>
          <p:nvPr/>
        </p:nvPicPr>
        <p:blipFill>
          <a:blip r:embed="rId2"/>
          <a:stretch>
            <a:fillRect/>
          </a:stretch>
        </p:blipFill>
        <p:spPr>
          <a:xfrm>
            <a:off x="3569726" y="2294230"/>
            <a:ext cx="486461" cy="486461"/>
          </a:xfrm>
          <a:prstGeom prst="rect">
            <a:avLst/>
          </a:prstGeom>
        </p:spPr>
      </p:pic>
      <p:sp>
        <p:nvSpPr>
          <p:cNvPr id="14" name="Text 9"/>
          <p:cNvSpPr txBox="1"/>
          <p:nvPr/>
        </p:nvSpPr>
        <p:spPr>
          <a:xfrm>
            <a:off x="2941259"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2968691"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Atur lokasi</a:t>
            </a:r>
            <a:endParaRPr lang="en-US" sz="1700" dirty="0"/>
          </a:p>
        </p:txBody>
      </p:sp>
      <p:sp>
        <p:nvSpPr>
          <p:cNvPr id="16" name="Text 11"/>
          <p:cNvSpPr txBox="1"/>
          <p:nvPr/>
        </p:nvSpPr>
        <p:spPr>
          <a:xfrm>
            <a:off x="2968691"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Pilih kota, atau Other… → Latitude dan Longitude</a:t>
            </a:r>
            <a:endParaRPr lang="en-US" sz="1400" dirty="0"/>
          </a:p>
        </p:txBody>
      </p:sp>
      <p:sp>
        <p:nvSpPr>
          <p:cNvPr id="17" name="Shape 12"/>
          <p:cNvSpPr/>
          <p:nvPr/>
        </p:nvSpPr>
        <p:spPr>
          <a:xfrm>
            <a:off x="4830958" y="2395728"/>
            <a:ext cx="246888" cy="274320"/>
          </a:xfrm>
          <a:prstGeom prst="rightArrow">
            <a:avLst/>
          </a:prstGeom>
          <a:solidFill>
            <a:schemeClr val="accent2"/>
          </a:solidFill>
          <a:ln/>
        </p:spPr>
      </p:sp>
      <p:sp>
        <p:nvSpPr>
          <p:cNvPr id="18" name="langkah 3"/>
          <p:cNvSpPr/>
          <p:nvPr/>
        </p:nvSpPr>
        <p:spPr>
          <a:xfrm>
            <a:off x="5114422" y="1828800"/>
            <a:ext cx="1962851" cy="3566160"/>
          </a:xfrm>
          <a:prstGeom prst="roundRect">
            <a:avLst>
              <a:gd name="adj" fmla="val 6988"/>
            </a:avLst>
          </a:prstGeom>
          <a:solidFill>
            <a:schemeClr val="bg2"/>
          </a:solidFill>
          <a:ln/>
        </p:spPr>
      </p:sp>
      <p:sp>
        <p:nvSpPr>
          <p:cNvPr id="19" name="lingkaran ukur"/>
          <p:cNvSpPr/>
          <p:nvPr/>
        </p:nvSpPr>
        <p:spPr>
          <a:xfrm>
            <a:off x="5661508" y="2103120"/>
            <a:ext cx="868680" cy="868680"/>
          </a:xfrm>
          <a:prstGeom prst="ellipse">
            <a:avLst/>
          </a:prstGeom>
          <a:solidFill>
            <a:schemeClr val="accent1"/>
          </a:solidFill>
          <a:ln/>
        </p:spPr>
      </p:sp>
      <p:pic>
        <p:nvPicPr>
          <p:cNvPr id="20" name="Image 2" descr="ukur">    </p:cNvPr>
          <p:cNvPicPr>
            <a:picLocks noChangeAspect="1"/>
          </p:cNvPicPr>
          <p:nvPr/>
        </p:nvPicPr>
        <p:blipFill>
          <a:blip r:embed="rId3"/>
          <a:stretch>
            <a:fillRect/>
          </a:stretch>
        </p:blipFill>
        <p:spPr>
          <a:xfrm>
            <a:off x="5852617" y="2294230"/>
            <a:ext cx="486461" cy="486461"/>
          </a:xfrm>
          <a:prstGeom prst="rect">
            <a:avLst/>
          </a:prstGeom>
        </p:spPr>
      </p:pic>
      <p:sp>
        <p:nvSpPr>
          <p:cNvPr id="21" name="Text 15"/>
          <p:cNvSpPr txBox="1"/>
          <p:nvPr/>
        </p:nvSpPr>
        <p:spPr>
          <a:xfrm>
            <a:off x="5224150"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5251582"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Isi Accuracy</a:t>
            </a:r>
            <a:endParaRPr lang="en-US" sz="1700" dirty="0"/>
          </a:p>
        </p:txBody>
      </p:sp>
      <p:sp>
        <p:nvSpPr>
          <p:cNvPr id="23" name="Text 17"/>
          <p:cNvSpPr txBox="1"/>
          <p:nvPr/>
        </p:nvSpPr>
        <p:spPr>
          <a:xfrm>
            <a:off x="5251582"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Misalnya 10. Kosong = 150 m → ditolak aturan akurasi</a:t>
            </a:r>
            <a:endParaRPr lang="en-US" sz="1400" dirty="0"/>
          </a:p>
        </p:txBody>
      </p:sp>
      <p:sp>
        <p:nvSpPr>
          <p:cNvPr id="24" name="Shape 18"/>
          <p:cNvSpPr/>
          <p:nvPr/>
        </p:nvSpPr>
        <p:spPr>
          <a:xfrm>
            <a:off x="7113849" y="2395728"/>
            <a:ext cx="246888" cy="274320"/>
          </a:xfrm>
          <a:prstGeom prst="rightArrow">
            <a:avLst/>
          </a:prstGeom>
          <a:solidFill>
            <a:schemeClr val="accent2"/>
          </a:solidFill>
          <a:ln/>
        </p:spPr>
      </p:sp>
      <p:sp>
        <p:nvSpPr>
          <p:cNvPr id="25" name="langkah 4"/>
          <p:cNvSpPr/>
          <p:nvPr/>
        </p:nvSpPr>
        <p:spPr>
          <a:xfrm>
            <a:off x="7397313" y="1828800"/>
            <a:ext cx="1962851" cy="3566160"/>
          </a:xfrm>
          <a:prstGeom prst="roundRect">
            <a:avLst>
              <a:gd name="adj" fmla="val 6988"/>
            </a:avLst>
          </a:prstGeom>
          <a:solidFill>
            <a:schemeClr val="bg2"/>
          </a:solidFill>
          <a:ln/>
        </p:spPr>
      </p:sp>
      <p:sp>
        <p:nvSpPr>
          <p:cNvPr id="26" name="lingkaran ulang"/>
          <p:cNvSpPr/>
          <p:nvPr/>
        </p:nvSpPr>
        <p:spPr>
          <a:xfrm>
            <a:off x="7944399" y="2103120"/>
            <a:ext cx="868680" cy="868680"/>
          </a:xfrm>
          <a:prstGeom prst="ellipse">
            <a:avLst/>
          </a:prstGeom>
          <a:solidFill>
            <a:schemeClr val="accent4"/>
          </a:solidFill>
          <a:ln/>
        </p:spPr>
      </p:sp>
      <p:pic>
        <p:nvPicPr>
          <p:cNvPr id="27" name="Image 3" descr="ulang">    </p:cNvPr>
          <p:cNvPicPr>
            <a:picLocks noChangeAspect="1"/>
          </p:cNvPicPr>
          <p:nvPr/>
        </p:nvPicPr>
        <p:blipFill>
          <a:blip r:embed="rId4"/>
          <a:stretch>
            <a:fillRect/>
          </a:stretch>
        </p:blipFill>
        <p:spPr>
          <a:xfrm>
            <a:off x="8135508" y="2294230"/>
            <a:ext cx="486461" cy="486461"/>
          </a:xfrm>
          <a:prstGeom prst="rect">
            <a:avLst/>
          </a:prstGeom>
        </p:spPr>
      </p:pic>
      <p:sp>
        <p:nvSpPr>
          <p:cNvPr id="28" name="Text 21"/>
          <p:cNvSpPr txBox="1"/>
          <p:nvPr/>
        </p:nvSpPr>
        <p:spPr>
          <a:xfrm>
            <a:off x="7507041"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7534473"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Ketuk lagi</a:t>
            </a:r>
            <a:endParaRPr lang="en-US" sz="1700" dirty="0"/>
          </a:p>
        </p:txBody>
      </p:sp>
      <p:sp>
        <p:nvSpPr>
          <p:cNvPr id="30" name="Text 23"/>
          <p:cNvSpPr txBox="1"/>
          <p:nvPr/>
        </p:nvSpPr>
        <p:spPr>
          <a:xfrm>
            <a:off x="7534473"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Posisi baru langsung dipakai. Location unavailable = posisi gagal</a:t>
            </a:r>
            <a:endParaRPr lang="en-US" sz="1400" dirty="0"/>
          </a:p>
        </p:txBody>
      </p:sp>
      <p:sp>
        <p:nvSpPr>
          <p:cNvPr id="31" name="Shape 24"/>
          <p:cNvSpPr/>
          <p:nvPr/>
        </p:nvSpPr>
        <p:spPr>
          <a:xfrm>
            <a:off x="9396740" y="2395728"/>
            <a:ext cx="246888" cy="274320"/>
          </a:xfrm>
          <a:prstGeom prst="rightArrow">
            <a:avLst/>
          </a:prstGeom>
          <a:solidFill>
            <a:schemeClr val="accent2"/>
          </a:solidFill>
          <a:ln/>
        </p:spPr>
      </p:sp>
      <p:sp>
        <p:nvSpPr>
          <p:cNvPr id="32" name="langkah 5"/>
          <p:cNvSpPr/>
          <p:nvPr/>
        </p:nvSpPr>
        <p:spPr>
          <a:xfrm>
            <a:off x="9680204" y="1828800"/>
            <a:ext cx="1962851" cy="3566160"/>
          </a:xfrm>
          <a:prstGeom prst="roundRect">
            <a:avLst>
              <a:gd name="adj" fmla="val 6988"/>
            </a:avLst>
          </a:prstGeom>
          <a:solidFill>
            <a:schemeClr val="bg2"/>
          </a:solidFill>
          <a:ln/>
        </p:spPr>
      </p:sp>
      <p:sp>
        <p:nvSpPr>
          <p:cNvPr id="33" name="lingkaran gembok"/>
          <p:cNvSpPr/>
          <p:nvPr/>
        </p:nvSpPr>
        <p:spPr>
          <a:xfrm>
            <a:off x="10227290" y="2103120"/>
            <a:ext cx="868680" cy="868680"/>
          </a:xfrm>
          <a:prstGeom prst="ellipse">
            <a:avLst/>
          </a:prstGeom>
          <a:solidFill>
            <a:schemeClr val="accent6"/>
          </a:solidFill>
          <a:ln/>
        </p:spPr>
      </p:sp>
      <p:pic>
        <p:nvPicPr>
          <p:cNvPr id="34" name="Image 4" descr="gembok">    </p:cNvPr>
          <p:cNvPicPr>
            <a:picLocks noChangeAspect="1"/>
          </p:cNvPicPr>
          <p:nvPr/>
        </p:nvPicPr>
        <p:blipFill>
          <a:blip r:embed="rId5"/>
          <a:stretch>
            <a:fillRect/>
          </a:stretch>
        </p:blipFill>
        <p:spPr>
          <a:xfrm>
            <a:off x="10418399" y="2294230"/>
            <a:ext cx="486461" cy="486461"/>
          </a:xfrm>
          <a:prstGeom prst="rect">
            <a:avLst/>
          </a:prstGeom>
        </p:spPr>
      </p:pic>
      <p:sp>
        <p:nvSpPr>
          <p:cNvPr id="35" name="Text 27"/>
          <p:cNvSpPr txBox="1"/>
          <p:nvPr/>
        </p:nvSpPr>
        <p:spPr>
          <a:xfrm>
            <a:off x="9789932"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6" name="Text 28"/>
          <p:cNvSpPr txBox="1"/>
          <p:nvPr/>
        </p:nvSpPr>
        <p:spPr>
          <a:xfrm>
            <a:off x="9817364"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Blokir atau reset</a:t>
            </a:r>
            <a:endParaRPr lang="en-US" sz="1700" dirty="0"/>
          </a:p>
        </p:txBody>
      </p:sp>
      <p:sp>
        <p:nvSpPr>
          <p:cNvPr id="37" name="Text 29"/>
          <p:cNvSpPr txBox="1"/>
          <p:nvPr/>
        </p:nvSpPr>
        <p:spPr>
          <a:xfrm>
            <a:off x="9817364"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Ikon di kiri alamat situs → Lokasi: Blokir, atau Reset izin</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Menguji Setiap Keadaan</a:t>
            </a:r>
            <a:endParaRPr lang="en-US" sz="32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973359"/>
                <a:gridCol w="6121057"/>
              </a:tblGrid>
              <a:tr h="47548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Keadaan yang ingin dicoba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Cara paling mudah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47548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Lokasi berhasil, di dalam atau di luar area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Data palsu, atau DevTools → Sensors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Akurasi buruk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Data palsu, atau Sensors dengan Accuracy besar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Pemalsu GPS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Data palsu (di browser isMocked selalu false)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Izin ditolak lalu diblokir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Emulator/HP Android, atau simulasi Contoh 05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Layanan lokasi mati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Emulator atau HP: matikan sakelar Lokasi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Batas waktu habis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Data palsu, atau HP di ruangan tertutup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Kamera tidak tersedia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Data palsu, atau aplikasi desktop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Mencabut izin: Android → Pengaturan → Aplikasi → Izin; Chrome → ikon alamat → Reset izin.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Lima Prinsip Privasi</a:t>
            </a:r>
            <a:endParaRPr lang="en-US" sz="32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443094"/>
                <a:gridCol w="7651321"/>
              </a:tblGrid>
              <a:tr h="65836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Prinsip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Contoh penerapan di studi kasus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5836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Ambil hanya yang dibutuhkan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Lokasi "saat dipakai", bukan "selalu"; tanpa metadata foto (requestFullMetadata: false)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5836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Ambil saat dibutuhkan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Lokasi diambil saat tombol Kirim ditekan, bukan terus-menerus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5836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Jelaskan pemakaiannya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"Lokasi Anda diambil saat tombol Kirim ditekan, hanya untuk memeriksa jarak ke ..."</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5836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Simpan seperlunya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Yang disimpan hanya jarak dan akurasi, bukan koordinat persis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5836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Lindungi yang disimpan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Kirim lewat HTTPS; hapus foto setelah tidak diperlukan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UU PDP dan Aturan Toko Aplikasi</a:t>
            </a:r>
            <a:endParaRPr lang="en-US" sz="3200" dirty="0"/>
          </a:p>
        </p:txBody>
      </p:sp>
      <p:sp>
        <p:nvSpPr>
          <p:cNvPr id="4" name="kartu 1"/>
          <p:cNvSpPr/>
          <p:nvPr/>
        </p:nvSpPr>
        <p:spPr>
          <a:xfrm>
            <a:off x="548640" y="1371600"/>
            <a:ext cx="3484778" cy="2286000"/>
          </a:xfrm>
          <a:prstGeom prst="roundRect">
            <a:avLst>
              <a:gd name="adj" fmla="val 4800"/>
            </a:avLst>
          </a:prstGeom>
          <a:solidFill>
            <a:schemeClr val="bg2"/>
          </a:solidFill>
          <a:ln/>
        </p:spPr>
      </p:sp>
      <p:sp>
        <p:nvSpPr>
          <p:cNvPr id="5" name="lingkaran buku"/>
          <p:cNvSpPr/>
          <p:nvPr/>
        </p:nvSpPr>
        <p:spPr>
          <a:xfrm>
            <a:off x="777240" y="1600200"/>
            <a:ext cx="685800" cy="685800"/>
          </a:xfrm>
          <a:prstGeom prst="ellipse">
            <a:avLst/>
          </a:prstGeom>
          <a:solidFill>
            <a:schemeClr val="accent1"/>
          </a:solidFill>
          <a:ln/>
        </p:spPr>
      </p:sp>
      <p:pic>
        <p:nvPicPr>
          <p:cNvPr id="6" name="Image 0" descr="buku">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UU No. 27 Tahun 2022</a:t>
            </a:r>
            <a:endParaRPr lang="en-US" sz="1800" dirty="0"/>
          </a:p>
        </p:txBody>
      </p:sp>
      <p:sp>
        <p:nvSpPr>
          <p:cNvPr id="8" name="Text 4"/>
          <p:cNvSpPr txBox="1"/>
          <p:nvPr/>
        </p:nvSpPr>
        <p:spPr>
          <a:xfrm>
            <a:off x="777240"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Data pribadi umum dan spesifik (misalnya biometrik). Lokasi + nama + NIM, atau foto wajah, perlu sangat hati-hati.</a:t>
            </a:r>
            <a:endParaRPr lang="en-US" sz="1500" dirty="0"/>
          </a:p>
        </p:txBody>
      </p:sp>
      <p:sp>
        <p:nvSpPr>
          <p:cNvPr id="9" name="kartu 2"/>
          <p:cNvSpPr/>
          <p:nvPr/>
        </p:nvSpPr>
        <p:spPr>
          <a:xfrm>
            <a:off x="4353458" y="1371600"/>
            <a:ext cx="3484778" cy="2286000"/>
          </a:xfrm>
          <a:prstGeom prst="roundRect">
            <a:avLst>
              <a:gd name="adj" fmla="val 4800"/>
            </a:avLst>
          </a:prstGeom>
          <a:solidFill>
            <a:schemeClr val="bg2"/>
          </a:solidFill>
          <a:ln/>
        </p:spPr>
      </p:sp>
      <p:sp>
        <p:nvSpPr>
          <p:cNvPr id="10" name="lingkaran gembok"/>
          <p:cNvSpPr/>
          <p:nvPr/>
        </p:nvSpPr>
        <p:spPr>
          <a:xfrm>
            <a:off x="4582058" y="1600200"/>
            <a:ext cx="685800" cy="685800"/>
          </a:xfrm>
          <a:prstGeom prst="ellipse">
            <a:avLst/>
          </a:prstGeom>
          <a:solidFill>
            <a:schemeClr val="accent6"/>
          </a:solidFill>
          <a:ln/>
        </p:spPr>
      </p:sp>
      <p:pic>
        <p:nvPicPr>
          <p:cNvPr id="11" name="Image 1" descr="gembok">    </p:cNvPr>
          <p:cNvPicPr>
            <a:picLocks noChangeAspect="1"/>
          </p:cNvPicPr>
          <p:nvPr/>
        </p:nvPicPr>
        <p:blipFill>
          <a:blip r:embed="rId2"/>
          <a:stretch>
            <a:fillRect/>
          </a:stretch>
        </p:blipFill>
        <p:spPr>
          <a:xfrm>
            <a:off x="4732934" y="1751076"/>
            <a:ext cx="384048" cy="384048"/>
          </a:xfrm>
          <a:prstGeom prst="rect">
            <a:avLst/>
          </a:prstGeom>
        </p:spPr>
      </p:pic>
      <p:sp>
        <p:nvSpPr>
          <p:cNvPr id="12" name="Text 7"/>
          <p:cNvSpPr txBox="1"/>
          <p:nvPr/>
        </p:nvSpPr>
        <p:spPr>
          <a:xfrm>
            <a:off x="5405018"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Dasar yang sah dan tujuan</a:t>
            </a:r>
            <a:endParaRPr lang="en-US" sz="1800" dirty="0"/>
          </a:p>
        </p:txBody>
      </p:sp>
      <p:sp>
        <p:nvSpPr>
          <p:cNvPr id="13" name="Text 8"/>
          <p:cNvSpPr txBox="1"/>
          <p:nvPr/>
        </p:nvSpPr>
        <p:spPr>
          <a:xfrm>
            <a:off x="4582058"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Persetujuan yang jelas, tujuan disampaikan, data dijaga keamanannya dan tidak disimpan lebih lama dari perlu.</a:t>
            </a:r>
            <a:endParaRPr lang="en-US" sz="1500" dirty="0"/>
          </a:p>
        </p:txBody>
      </p:sp>
      <p:sp>
        <p:nvSpPr>
          <p:cNvPr id="14" name="kartu 3"/>
          <p:cNvSpPr/>
          <p:nvPr/>
        </p:nvSpPr>
        <p:spPr>
          <a:xfrm>
            <a:off x="8158277" y="1371600"/>
            <a:ext cx="3484778" cy="2286000"/>
          </a:xfrm>
          <a:prstGeom prst="roundRect">
            <a:avLst>
              <a:gd name="adj" fmla="val 4800"/>
            </a:avLst>
          </a:prstGeom>
          <a:solidFill>
            <a:schemeClr val="bg2"/>
          </a:solidFill>
          <a:ln/>
        </p:spPr>
      </p:sp>
      <p:sp>
        <p:nvSpPr>
          <p:cNvPr id="15" name="lingkaran kotak"/>
          <p:cNvSpPr/>
          <p:nvPr/>
        </p:nvSpPr>
        <p:spPr>
          <a:xfrm>
            <a:off x="8386877" y="1600200"/>
            <a:ext cx="685800" cy="685800"/>
          </a:xfrm>
          <a:prstGeom prst="ellipse">
            <a:avLst/>
          </a:prstGeom>
          <a:solidFill>
            <a:schemeClr val="accent4"/>
          </a:solidFill>
          <a:ln/>
        </p:spPr>
      </p:sp>
      <p:pic>
        <p:nvPicPr>
          <p:cNvPr id="16" name="Image 2" descr="kotak">    </p:cNvPr>
          <p:cNvPicPr>
            <a:picLocks noChangeAspect="1"/>
          </p:cNvPicPr>
          <p:nvPr/>
        </p:nvPicPr>
        <p:blipFill>
          <a:blip r:embed="rId3"/>
          <a:stretch>
            <a:fillRect/>
          </a:stretch>
        </p:blipFill>
        <p:spPr>
          <a:xfrm>
            <a:off x="8537753" y="1751076"/>
            <a:ext cx="384048" cy="384048"/>
          </a:xfrm>
          <a:prstGeom prst="rect">
            <a:avLst/>
          </a:prstGeom>
        </p:spPr>
      </p:pic>
      <p:sp>
        <p:nvSpPr>
          <p:cNvPr id="17" name="Text 11"/>
          <p:cNvSpPr txBox="1"/>
          <p:nvPr/>
        </p:nvSpPr>
        <p:spPr>
          <a:xfrm>
            <a:off x="9209837"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Google Play</a:t>
            </a:r>
            <a:endParaRPr lang="en-US" sz="1800" dirty="0"/>
          </a:p>
        </p:txBody>
      </p:sp>
      <p:sp>
        <p:nvSpPr>
          <p:cNvPr id="18" name="Text 12"/>
          <p:cNvSpPr txBox="1"/>
          <p:nvPr/>
        </p:nvSpPr>
        <p:spPr>
          <a:xfrm>
            <a:off x="8386877"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Pemilih foto sistem (bukan izin seluruh galeri); formulir Keamanan Data; lokasi latar belakang diperiksa ketat.</a:t>
            </a:r>
            <a:endParaRPr lang="en-US" sz="1500" dirty="0"/>
          </a:p>
        </p:txBody>
      </p:sp>
      <p:sp>
        <p:nvSpPr>
          <p:cNvPr id="19" name="kartu 4"/>
          <p:cNvSpPr/>
          <p:nvPr/>
        </p:nvSpPr>
        <p:spPr>
          <a:xfrm>
            <a:off x="548640" y="3931920"/>
            <a:ext cx="3484778" cy="2286000"/>
          </a:xfrm>
          <a:prstGeom prst="roundRect">
            <a:avLst>
              <a:gd name="adj" fmla="val 4800"/>
            </a:avLst>
          </a:prstGeom>
          <a:solidFill>
            <a:schemeClr val="bg2"/>
          </a:solidFill>
          <a:ln/>
        </p:spPr>
      </p:sp>
      <p:sp>
        <p:nvSpPr>
          <p:cNvPr id="20" name="lingkaran lokasi"/>
          <p:cNvSpPr/>
          <p:nvPr/>
        </p:nvSpPr>
        <p:spPr>
          <a:xfrm>
            <a:off x="777240" y="4160520"/>
            <a:ext cx="685800" cy="685800"/>
          </a:xfrm>
          <a:prstGeom prst="ellipse">
            <a:avLst/>
          </a:prstGeom>
          <a:solidFill>
            <a:schemeClr val="accent3"/>
          </a:solidFill>
          <a:ln/>
        </p:spPr>
      </p:sp>
      <p:pic>
        <p:nvPicPr>
          <p:cNvPr id="21" name="Image 3" descr="lokasi">    </p:cNvPr>
          <p:cNvPicPr>
            <a:picLocks noChangeAspect="1"/>
          </p:cNvPicPr>
          <p:nvPr/>
        </p:nvPicPr>
        <p:blipFill>
          <a:blip r:embed="rId4"/>
          <a:stretch>
            <a:fillRect/>
          </a:stretch>
        </p:blipFill>
        <p:spPr>
          <a:xfrm>
            <a:off x="928116" y="4311396"/>
            <a:ext cx="384048" cy="384048"/>
          </a:xfrm>
          <a:prstGeom prst="rect">
            <a:avLst/>
          </a:prstGeom>
        </p:spPr>
      </p:pic>
      <p:sp>
        <p:nvSpPr>
          <p:cNvPr id="22" name="Text 15"/>
          <p:cNvSpPr txBox="1"/>
          <p:nvPr/>
        </p:nvSpPr>
        <p:spPr>
          <a:xfrm>
            <a:off x="1600200"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Tombol lokasi sistem</a:t>
            </a:r>
            <a:endParaRPr lang="en-US" sz="1800" dirty="0"/>
          </a:p>
        </p:txBody>
      </p:sp>
      <p:sp>
        <p:nvSpPr>
          <p:cNvPr id="23" name="Text 16"/>
          <p:cNvSpPr txBox="1"/>
          <p:nvPr/>
        </p:nvSpPr>
        <p:spPr>
          <a:xfrm>
            <a:off x="777240"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Aplikasi target Android 17 (API 37) yang hanya butuh lokasi sesaat wajib memakainya, mulai 27 Januari 2027.</a:t>
            </a:r>
            <a:endParaRPr lang="en-US" sz="1500" dirty="0"/>
          </a:p>
        </p:txBody>
      </p:sp>
      <p:sp>
        <p:nvSpPr>
          <p:cNvPr id="24" name="kartu 5"/>
          <p:cNvSpPr/>
          <p:nvPr/>
        </p:nvSpPr>
        <p:spPr>
          <a:xfrm>
            <a:off x="4353458" y="3931920"/>
            <a:ext cx="3484778" cy="2286000"/>
          </a:xfrm>
          <a:prstGeom prst="roundRect">
            <a:avLst>
              <a:gd name="adj" fmla="val 4800"/>
            </a:avLst>
          </a:prstGeom>
          <a:solidFill>
            <a:schemeClr val="bg2"/>
          </a:solidFill>
          <a:ln/>
        </p:spPr>
      </p:sp>
      <p:sp>
        <p:nvSpPr>
          <p:cNvPr id="25" name="lingkaran hp"/>
          <p:cNvSpPr/>
          <p:nvPr/>
        </p:nvSpPr>
        <p:spPr>
          <a:xfrm>
            <a:off x="4582058" y="4160520"/>
            <a:ext cx="685800" cy="685800"/>
          </a:xfrm>
          <a:prstGeom prst="ellipse">
            <a:avLst/>
          </a:prstGeom>
          <a:solidFill>
            <a:schemeClr val="accent6"/>
          </a:solidFill>
          <a:ln/>
        </p:spPr>
      </p:sp>
      <p:pic>
        <p:nvPicPr>
          <p:cNvPr id="26" name="Image 4" descr="hp">    </p:cNvPr>
          <p:cNvPicPr>
            <a:picLocks noChangeAspect="1"/>
          </p:cNvPicPr>
          <p:nvPr/>
        </p:nvPicPr>
        <p:blipFill>
          <a:blip r:embed="rId5"/>
          <a:stretch>
            <a:fillRect/>
          </a:stretch>
        </p:blipFill>
        <p:spPr>
          <a:xfrm>
            <a:off x="4732934" y="4311396"/>
            <a:ext cx="384048" cy="384048"/>
          </a:xfrm>
          <a:prstGeom prst="rect">
            <a:avLst/>
          </a:prstGeom>
        </p:spPr>
      </p:pic>
      <p:sp>
        <p:nvSpPr>
          <p:cNvPr id="27" name="Text 19"/>
          <p:cNvSpPr txBox="1"/>
          <p:nvPr/>
        </p:nvSpPr>
        <p:spPr>
          <a:xfrm>
            <a:off x="5405018"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App Store</a:t>
            </a:r>
            <a:endParaRPr lang="en-US" sz="1800" dirty="0"/>
          </a:p>
        </p:txBody>
      </p:sp>
      <p:sp>
        <p:nvSpPr>
          <p:cNvPr id="28" name="Text 20"/>
          <p:cNvSpPr txBox="1"/>
          <p:nvPr/>
        </p:nvSpPr>
        <p:spPr>
          <a:xfrm>
            <a:off x="4582058"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Setiap izin wajib punya kalimat alasan yang jelas; halaman aplikasi mencantumkan ringkasan privasi.</a:t>
            </a:r>
            <a:endParaRPr lang="en-US" sz="1500" dirty="0"/>
          </a:p>
        </p:txBody>
      </p:sp>
      <p:sp>
        <p:nvSpPr>
          <p:cNvPr id="29" name="kartu 6"/>
          <p:cNvSpPr/>
          <p:nvPr/>
        </p:nvSpPr>
        <p:spPr>
          <a:xfrm>
            <a:off x="8158277" y="3931920"/>
            <a:ext cx="3484778" cy="2286000"/>
          </a:xfrm>
          <a:prstGeom prst="roundRect">
            <a:avLst>
              <a:gd name="adj" fmla="val 4800"/>
            </a:avLst>
          </a:prstGeom>
          <a:solidFill>
            <a:schemeClr val="bg2"/>
          </a:solidFill>
          <a:ln/>
        </p:spPr>
      </p:sp>
      <p:sp>
        <p:nvSpPr>
          <p:cNvPr id="30" name="lingkaran peringatan"/>
          <p:cNvSpPr/>
          <p:nvPr/>
        </p:nvSpPr>
        <p:spPr>
          <a:xfrm>
            <a:off x="8386877" y="4160520"/>
            <a:ext cx="685800" cy="685800"/>
          </a:xfrm>
          <a:prstGeom prst="ellipse">
            <a:avLst/>
          </a:prstGeom>
          <a:solidFill>
            <a:schemeClr val="accent5"/>
          </a:solidFill>
          <a:ln/>
        </p:spPr>
      </p:sp>
      <p:pic>
        <p:nvPicPr>
          <p:cNvPr id="31" name="Image 5" descr="peringatan">    </p:cNvPr>
          <p:cNvPicPr>
            <a:picLocks noChangeAspect="1"/>
          </p:cNvPicPr>
          <p:nvPr/>
        </p:nvPicPr>
        <p:blipFill>
          <a:blip r:embed="rId6"/>
          <a:stretch>
            <a:fillRect/>
          </a:stretch>
        </p:blipFill>
        <p:spPr>
          <a:xfrm>
            <a:off x="8537753" y="4311396"/>
            <a:ext cx="384048" cy="384048"/>
          </a:xfrm>
          <a:prstGeom prst="rect">
            <a:avLst/>
          </a:prstGeom>
        </p:spPr>
      </p:pic>
      <p:sp>
        <p:nvSpPr>
          <p:cNvPr id="32" name="Text 23"/>
          <p:cNvSpPr txBox="1"/>
          <p:nvPr/>
        </p:nvSpPr>
        <p:spPr>
          <a:xfrm>
            <a:off x="9209837"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Bukan nasihat hukum</a:t>
            </a:r>
            <a:endParaRPr lang="en-US" sz="1800" dirty="0"/>
          </a:p>
        </p:txBody>
      </p:sp>
      <p:sp>
        <p:nvSpPr>
          <p:cNvPr id="33" name="Text 24"/>
          <p:cNvSpPr txBox="1"/>
          <p:nvPr/>
        </p:nvSpPr>
        <p:spPr>
          <a:xfrm>
            <a:off x="8386877"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Untuk aplikasi resmi, libatkan pihak kampus yang berwenang. Aturan toko berubah: periksa kebijakan terbaru.</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Paket Lain dan Kapan Memakainya</a:t>
            </a:r>
            <a:endParaRPr lang="en-US" sz="32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825660"/>
                <a:gridCol w="2773604"/>
                <a:gridCol w="4495151"/>
              </a:tblGrid>
              <a:tr h="60350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Kebutuhan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Paket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Keterangan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Tampilan kamera buatan sendiri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camera</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Butuh izin CAMERA; pakai hanya jika kamera bawaan tak cukup</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Memindai kode QR atau barcode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mobile_scanner</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Misalnya presensi dengan kode QR di kelas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Izin fitur lain (mikrofon, kontak, notifikasi)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permission_handler</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Termasuk openAppSettings()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Membuka aplikasi peta atau navigasi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url_launcher</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Maps URLs, tanpa kunci API (slide berikut)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Menampilkan peta di dalam aplikasi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flutter_map</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Atau google_maps_flutter (butuh kunci API)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Koordinat ⇄ alamat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geocoding</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Bergantung layanan sistem dan internet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Membuka Google Maps Tanpa Kunci API</a:t>
            </a:r>
            <a:endParaRPr lang="en-US" sz="3200" dirty="0"/>
          </a:p>
        </p:txBody>
      </p:sp>
      <p:sp>
        <p:nvSpPr>
          <p:cNvPr id="4" name="kotak kode"/>
          <p:cNvSpPr txBox="1"/>
          <p:nvPr/>
        </p:nvSpPr>
        <p:spPr>
          <a:xfrm>
            <a:off x="548640" y="1371600"/>
            <a:ext cx="7315200" cy="3099816"/>
          </a:xfrm>
          <a:prstGeom prst="roundRect">
            <a:avLst>
              <a:gd name="adj" fmla="val 2950"/>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import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'package:url_launcher/url_launcher.dart'</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Petunjuk arah jalan kaki ke titik tertentu.</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Future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bool</a:t>
            </a:r>
            <a:r>
              <a:rPr lang="en-US" sz="1200" dirty="0">
                <a:solidFill>
                  <a:srgbClr val="E6EDF3"/>
                </a:solidFill>
                <a:latin typeface="Consolas" pitchFamily="34" charset="0"/>
                <a:ea typeface="Consolas" pitchFamily="34" charset="-122"/>
                <a:cs typeface="Consolas" pitchFamily="34" charset="-120"/>
              </a:rPr>
              <a:t>&gt; petunjukArah(</a:t>
            </a:r>
            <a:r>
              <a:rPr lang="en-US" sz="1200" dirty="0">
                <a:solidFill>
                  <a:srgbClr val="FFCB6B"/>
                </a:solidFill>
                <a:latin typeface="Consolas" pitchFamily="34" charset="0"/>
                <a:ea typeface="Consolas" pitchFamily="34" charset="-122"/>
                <a:cs typeface="Consolas" pitchFamily="34" charset="-120"/>
              </a:rPr>
              <a:t>double</a:t>
            </a:r>
            <a:r>
              <a:rPr lang="en-US" sz="1200" dirty="0">
                <a:solidFill>
                  <a:srgbClr val="E6EDF3"/>
                </a:solidFill>
                <a:latin typeface="Consolas" pitchFamily="34" charset="0"/>
                <a:ea typeface="Consolas" pitchFamily="34" charset="-122"/>
                <a:cs typeface="Consolas" pitchFamily="34" charset="-120"/>
              </a:rPr>
              <a:t> lintang, </a:t>
            </a:r>
            <a:r>
              <a:rPr lang="en-US" sz="1200" dirty="0">
                <a:solidFill>
                  <a:srgbClr val="FFCB6B"/>
                </a:solidFill>
                <a:latin typeface="Consolas" pitchFamily="34" charset="0"/>
                <a:ea typeface="Consolas" pitchFamily="34" charset="-122"/>
                <a:cs typeface="Consolas" pitchFamily="34" charset="-120"/>
              </a:rPr>
              <a:t>double</a:t>
            </a:r>
            <a:r>
              <a:rPr lang="en-US" sz="1200" dirty="0">
                <a:solidFill>
                  <a:srgbClr val="E6EDF3"/>
                </a:solidFill>
                <a:latin typeface="Consolas" pitchFamily="34" charset="0"/>
                <a:ea typeface="Consolas" pitchFamily="34" charset="-122"/>
                <a:cs typeface="Consolas" pitchFamily="34" charset="-120"/>
              </a:rPr>
              <a:t> bujur)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Uri</a:t>
            </a:r>
            <a:r>
              <a:rPr lang="en-US" sz="1200" dirty="0">
                <a:solidFill>
                  <a:srgbClr val="E6EDF3"/>
                </a:solidFill>
                <a:latin typeface="Consolas" pitchFamily="34" charset="0"/>
                <a:ea typeface="Consolas" pitchFamily="34" charset="-122"/>
                <a:cs typeface="Consolas" pitchFamily="34" charset="-120"/>
              </a:rPr>
              <a:t> alamat = </a:t>
            </a:r>
            <a:r>
              <a:rPr lang="en-US" sz="1200" dirty="0">
                <a:solidFill>
                  <a:srgbClr val="FFCB6B"/>
                </a:solidFill>
                <a:latin typeface="Consolas" pitchFamily="34" charset="0"/>
                <a:ea typeface="Consolas" pitchFamily="34" charset="-122"/>
                <a:cs typeface="Consolas" pitchFamily="34" charset="-120"/>
              </a:rPr>
              <a:t>Uri</a:t>
            </a:r>
            <a:r>
              <a:rPr lang="en-US" sz="1200" dirty="0">
                <a:solidFill>
                  <a:srgbClr val="E6EDF3"/>
                </a:solidFill>
                <a:latin typeface="Consolas" pitchFamily="34" charset="0"/>
                <a:ea typeface="Consolas" pitchFamily="34" charset="-122"/>
                <a:cs typeface="Consolas" pitchFamily="34" charset="-120"/>
              </a:rPr>
              <a:t>.https(</a:t>
            </a:r>
            <a:r>
              <a:rPr lang="en-US" sz="1200" dirty="0">
                <a:solidFill>
                  <a:srgbClr val="C3E88D"/>
                </a:solidFill>
                <a:latin typeface="Consolas" pitchFamily="34" charset="0"/>
                <a:ea typeface="Consolas" pitchFamily="34" charset="-122"/>
                <a:cs typeface="Consolas" pitchFamily="34" charset="-120"/>
              </a:rPr>
              <a:t>'www.google.com'</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'/maps/dir/'</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'api'</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'1'</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'destination'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'$lintang,$bujur'</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'travelmode'</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'walking'</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launchUrl(alamat, mode: </a:t>
            </a:r>
            <a:r>
              <a:rPr lang="en-US" sz="1200" dirty="0">
                <a:solidFill>
                  <a:srgbClr val="FFCB6B"/>
                </a:solidFill>
                <a:latin typeface="Consolas" pitchFamily="34" charset="0"/>
                <a:ea typeface="Consolas" pitchFamily="34" charset="-122"/>
                <a:cs typeface="Consolas" pitchFamily="34" charset="-120"/>
              </a:rPr>
              <a:t>LaunchMode</a:t>
            </a:r>
            <a:r>
              <a:rPr lang="en-US" sz="1200" dirty="0">
                <a:solidFill>
                  <a:srgbClr val="E6EDF3"/>
                </a:solidFill>
                <a:latin typeface="Consolas" pitchFamily="34" charset="0"/>
                <a:ea typeface="Consolas" pitchFamily="34" charset="-122"/>
                <a:cs typeface="Consolas" pitchFamily="34" charset="-120"/>
              </a:rPr>
              <a:t>.externalApplication);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Hasil: https://www.google.com/maps/dir/?api=1</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&amp;destination=-0.4697%2C117.1611&amp;travelmode=walking</a:t>
            </a:r>
            <a:endParaRPr lang="en-US" sz="1200" dirty="0"/>
          </a:p>
        </p:txBody>
      </p:sp>
      <p:sp>
        <p:nvSpPr>
          <p:cNvPr id="5" name="daftar poin"/>
          <p:cNvSpPr txBox="1"/>
          <p:nvPr/>
        </p:nvSpPr>
        <p:spPr>
          <a:xfrm>
            <a:off x="8275320" y="1417320"/>
            <a:ext cx="33677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Uri.https menyusun alamat dan mengubah koma menjadi %2C.</a:t>
            </a:r>
            <a:endParaRPr lang="en-US" sz="1700" dirty="0"/>
          </a:p>
          <a:p>
            <a:pPr marL="228600" indent="-228600">
              <a:spcAft>
                <a:spcPts val="800"/>
              </a:spcAft>
              <a:buSzPct val="100000"/>
              <a:buChar char="•"/>
            </a:pPr>
            <a:r>
              <a:rPr lang="en-US" sz="1700" dirty="0">
                <a:solidFill>
                  <a:schemeClr val="tx1"/>
                </a:solidFill>
              </a:rPr>
              <a:t>launchUrl → false jika tidak ada aplikasi yang bisa membuka.</a:t>
            </a:r>
            <a:endParaRPr lang="en-US" sz="1700" dirty="0"/>
          </a:p>
          <a:p>
            <a:pPr marL="228600" indent="-228600">
              <a:spcAft>
                <a:spcPts val="800"/>
              </a:spcAft>
              <a:buSzPct val="100000"/>
              <a:buChar char="•"/>
            </a:pPr>
            <a:r>
              <a:rPr lang="en-US" sz="1700" dirty="0">
                <a:solidFill>
                  <a:schemeClr val="tx1"/>
                </a:solidFill>
              </a:rPr>
              <a:t>Siapkan pesan (SnackBar) untuk keadaan itu.</a:t>
            </a:r>
            <a:endParaRPr lang="en-US" sz="1700" dirty="0"/>
          </a:p>
          <a:p>
            <a:pPr marL="228600" indent="-228600">
              <a:spcAft>
                <a:spcPts val="800"/>
              </a:spcAft>
              <a:buSzPct val="100000"/>
              <a:buChar char="•"/>
            </a:pPr>
            <a:r>
              <a:rPr lang="en-US" sz="1700" dirty="0">
                <a:solidFill>
                  <a:schemeClr val="tx1"/>
                </a:solidFill>
              </a:rPr>
              <a:t>Dipakai di tugas mandiri "Parkir Motorku".</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Kesalahan Umum Pemula</a:t>
            </a:r>
            <a:endParaRPr lang="en-US" sz="32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6025415"/>
                <a:gridCol w="506900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Gejala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Solusi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475488">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MissingPluginException(...)</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Hentikan aplikasi, lalu flutter run ulang</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PermissionDefinitionsNotFoundException</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Tulis izin di AndroidManifest.xml / Info.plist</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Tombol lokasi diketuk, tidak terjadi apa-apa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Tangani deniedForever: pesan + Pengaturan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Kamera tak mau terbuka di Android, galeri bisa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Hapus izin CAMERA jika hanya image_picker</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Unsupported operation saat menampilkan foto di web</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readAsBytes() lalu Image.memory</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Tombol lokasi berputar terus</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Beri timeLimit + pesan "coba di dekat jendela"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Baterai cepat habis</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cancel() langganan di Berhenti dan dispose()</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setState() called after dispose()</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if (!mounted) return; setelah await</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Di Chrome selalu "kurang akurat (± 150 m)"</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Isi Accuracy di DevTools → Sensors</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Fitur Perangkat untuk Proyek Akhir</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Nilai tambah, bukan syarat wajib. Contoh: presensi kegiatan (lokasi + foto), katalog UMKM (foto produk, buka di peta), pencatat keuangan (foto struk).</a:t>
            </a:r>
            <a:endParaRPr lang="en-US" sz="1800" dirty="0"/>
          </a:p>
        </p:txBody>
      </p:sp>
      <p:sp>
        <p:nvSpPr>
          <p:cNvPr id="5" name="kartu 1"/>
          <p:cNvSpPr/>
          <p:nvPr/>
        </p:nvSpPr>
        <p:spPr>
          <a:xfrm>
            <a:off x="548640" y="2011680"/>
            <a:ext cx="3484778" cy="1965960"/>
          </a:xfrm>
          <a:prstGeom prst="roundRect">
            <a:avLst>
              <a:gd name="adj" fmla="val 5581"/>
            </a:avLst>
          </a:prstGeom>
          <a:solidFill>
            <a:schemeClr val="bg2"/>
          </a:solidFill>
          <a:ln/>
        </p:spPr>
      </p:sp>
      <p:sp>
        <p:nvSpPr>
          <p:cNvPr id="6" name="lingkaran dialog"/>
          <p:cNvSpPr/>
          <p:nvPr/>
        </p:nvSpPr>
        <p:spPr>
          <a:xfrm>
            <a:off x="777240" y="2240280"/>
            <a:ext cx="685800" cy="685800"/>
          </a:xfrm>
          <a:prstGeom prst="ellipse">
            <a:avLst/>
          </a:prstGeom>
          <a:solidFill>
            <a:schemeClr val="accent1"/>
          </a:solidFill>
          <a:ln/>
        </p:spPr>
      </p:sp>
      <p:pic>
        <p:nvPicPr>
          <p:cNvPr id="7" name="Image 0" descr="dialog">    </p:cNvPr>
          <p:cNvPicPr>
            <a:picLocks noChangeAspect="1"/>
          </p:cNvPicPr>
          <p:nvPr/>
        </p:nvPicPr>
        <p:blipFill>
          <a:blip r:embed="rId1"/>
          <a:stretch>
            <a:fillRect/>
          </a:stretch>
        </p:blipFill>
        <p:spPr>
          <a:xfrm>
            <a:off x="928116" y="2391156"/>
            <a:ext cx="384048" cy="384048"/>
          </a:xfrm>
          <a:prstGeom prst="rect">
            <a:avLst/>
          </a:prstGeom>
        </p:spPr>
      </p:pic>
      <p:sp>
        <p:nvSpPr>
          <p:cNvPr id="8" name="Text 4"/>
          <p:cNvSpPr txBox="1"/>
          <p:nvPr/>
        </p:nvSpPr>
        <p:spPr>
          <a:xfrm>
            <a:off x="1600200"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Izin yang sopan</a:t>
            </a:r>
            <a:endParaRPr lang="en-US" sz="1800" dirty="0"/>
          </a:p>
        </p:txBody>
      </p:sp>
      <p:sp>
        <p:nvSpPr>
          <p:cNvPr id="9" name="Text 5"/>
          <p:cNvSpPr txBox="1"/>
          <p:nvPr/>
        </p:nvSpPr>
        <p:spPr>
          <a:xfrm>
            <a:off x="777240" y="3063240"/>
            <a:ext cx="3027578" cy="777240"/>
          </a:xfrm>
          <a:prstGeom prst="rect">
            <a:avLst/>
          </a:prstGeom>
          <a:noFill/>
          <a:ln/>
        </p:spPr>
        <p:txBody>
          <a:bodyPr wrap="square" lIns="0" tIns="0" rIns="0" bIns="0" rtlCol="0" anchor="t"/>
          <a:lstStyle/>
          <a:p>
            <a:pPr indent="0" marL="0">
              <a:buNone/>
            </a:pPr>
            <a:r>
              <a:rPr lang="en-US" sz="1500" dirty="0">
                <a:solidFill>
                  <a:schemeClr val="tx1"/>
                </a:solidFill>
              </a:rPr>
              <a:t>Diminta saat fitur dipakai, dengan penjelasan; aplikasi tetap berfungsi saat ditolak.</a:t>
            </a:r>
            <a:endParaRPr lang="en-US" sz="1500" dirty="0"/>
          </a:p>
        </p:txBody>
      </p:sp>
      <p:sp>
        <p:nvSpPr>
          <p:cNvPr id="10" name="kartu 2"/>
          <p:cNvSpPr/>
          <p:nvPr/>
        </p:nvSpPr>
        <p:spPr>
          <a:xfrm>
            <a:off x="4353458" y="2011680"/>
            <a:ext cx="3484778" cy="1965960"/>
          </a:xfrm>
          <a:prstGeom prst="roundRect">
            <a:avLst>
              <a:gd name="adj" fmla="val 5581"/>
            </a:avLst>
          </a:prstGeom>
          <a:solidFill>
            <a:schemeClr val="bg2"/>
          </a:solidFill>
          <a:ln/>
        </p:spPr>
      </p:sp>
      <p:sp>
        <p:nvSpPr>
          <p:cNvPr id="11" name="lingkaran galat"/>
          <p:cNvSpPr/>
          <p:nvPr/>
        </p:nvSpPr>
        <p:spPr>
          <a:xfrm>
            <a:off x="4582058" y="2240280"/>
            <a:ext cx="685800" cy="685800"/>
          </a:xfrm>
          <a:prstGeom prst="ellipse">
            <a:avLst/>
          </a:prstGeom>
          <a:solidFill>
            <a:schemeClr val="accent5"/>
          </a:solidFill>
          <a:ln/>
        </p:spPr>
      </p:sp>
      <p:pic>
        <p:nvPicPr>
          <p:cNvPr id="12" name="Image 1" descr="galat">    </p:cNvPr>
          <p:cNvPicPr>
            <a:picLocks noChangeAspect="1"/>
          </p:cNvPicPr>
          <p:nvPr/>
        </p:nvPicPr>
        <p:blipFill>
          <a:blip r:embed="rId2"/>
          <a:stretch>
            <a:fillRect/>
          </a:stretch>
        </p:blipFill>
        <p:spPr>
          <a:xfrm>
            <a:off x="4732934" y="2391156"/>
            <a:ext cx="384048" cy="384048"/>
          </a:xfrm>
          <a:prstGeom prst="rect">
            <a:avLst/>
          </a:prstGeom>
        </p:spPr>
      </p:pic>
      <p:sp>
        <p:nvSpPr>
          <p:cNvPr id="13" name="Text 8"/>
          <p:cNvSpPr txBox="1"/>
          <p:nvPr/>
        </p:nvSpPr>
        <p:spPr>
          <a:xfrm>
            <a:off x="5405018"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Semua keadaan punya pesan</a:t>
            </a:r>
            <a:endParaRPr lang="en-US" sz="1800" dirty="0"/>
          </a:p>
        </p:txBody>
      </p:sp>
      <p:sp>
        <p:nvSpPr>
          <p:cNvPr id="14" name="Text 9"/>
          <p:cNvSpPr txBox="1"/>
          <p:nvPr/>
        </p:nvSpPr>
        <p:spPr>
          <a:xfrm>
            <a:off x="4582058" y="3063240"/>
            <a:ext cx="3027578" cy="777240"/>
          </a:xfrm>
          <a:prstGeom prst="rect">
            <a:avLst/>
          </a:prstGeom>
          <a:noFill/>
          <a:ln/>
        </p:spPr>
        <p:txBody>
          <a:bodyPr wrap="square" lIns="0" tIns="0" rIns="0" bIns="0" rtlCol="0" anchor="t"/>
          <a:lstStyle/>
          <a:p>
            <a:pPr indent="0" marL="0">
              <a:buNone/>
            </a:pPr>
            <a:r>
              <a:rPr lang="en-US" sz="1500" dirty="0">
                <a:solidFill>
                  <a:schemeClr val="tx1"/>
                </a:solidFill>
              </a:rPr>
              <a:t>Berhasil, dibatalkan, ditolak, diblokir, layanan mati, waktu habis.</a:t>
            </a:r>
            <a:endParaRPr lang="en-US" sz="1500" dirty="0"/>
          </a:p>
        </p:txBody>
      </p:sp>
      <p:sp>
        <p:nvSpPr>
          <p:cNvPr id="15" name="kartu 3"/>
          <p:cNvSpPr/>
          <p:nvPr/>
        </p:nvSpPr>
        <p:spPr>
          <a:xfrm>
            <a:off x="8158277" y="2011680"/>
            <a:ext cx="3484778" cy="1965960"/>
          </a:xfrm>
          <a:prstGeom prst="roundRect">
            <a:avLst>
              <a:gd name="adj" fmla="val 5581"/>
            </a:avLst>
          </a:prstGeom>
          <a:solidFill>
            <a:schemeClr val="bg2"/>
          </a:solidFill>
          <a:ln/>
        </p:spPr>
      </p:sp>
      <p:sp>
        <p:nvSpPr>
          <p:cNvPr id="16" name="lingkaran lapisan"/>
          <p:cNvSpPr/>
          <p:nvPr/>
        </p:nvSpPr>
        <p:spPr>
          <a:xfrm>
            <a:off x="8386877" y="2240280"/>
            <a:ext cx="685800" cy="685800"/>
          </a:xfrm>
          <a:prstGeom prst="ellipse">
            <a:avLst/>
          </a:prstGeom>
          <a:solidFill>
            <a:schemeClr val="accent6"/>
          </a:solidFill>
          <a:ln/>
        </p:spPr>
      </p:sp>
      <p:pic>
        <p:nvPicPr>
          <p:cNvPr id="17" name="Image 2" descr="lapisan">    </p:cNvPr>
          <p:cNvPicPr>
            <a:picLocks noChangeAspect="1"/>
          </p:cNvPicPr>
          <p:nvPr/>
        </p:nvPicPr>
        <p:blipFill>
          <a:blip r:embed="rId3"/>
          <a:stretch>
            <a:fillRect/>
          </a:stretch>
        </p:blipFill>
        <p:spPr>
          <a:xfrm>
            <a:off x="8537753" y="2391156"/>
            <a:ext cx="384048" cy="384048"/>
          </a:xfrm>
          <a:prstGeom prst="rect">
            <a:avLst/>
          </a:prstGeom>
        </p:spPr>
      </p:pic>
      <p:sp>
        <p:nvSpPr>
          <p:cNvPr id="18" name="Text 12"/>
          <p:cNvSpPr txBox="1"/>
          <p:nvPr/>
        </p:nvSpPr>
        <p:spPr>
          <a:xfrm>
            <a:off x="9209837"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Kontrak + data palsu</a:t>
            </a:r>
            <a:endParaRPr lang="en-US" sz="1800" dirty="0"/>
          </a:p>
        </p:txBody>
      </p:sp>
      <p:sp>
        <p:nvSpPr>
          <p:cNvPr id="19" name="Text 13"/>
          <p:cNvSpPr txBox="1"/>
          <p:nvPr/>
        </p:nvSpPr>
        <p:spPr>
          <a:xfrm>
            <a:off x="8386877" y="3063240"/>
            <a:ext cx="3027578" cy="777240"/>
          </a:xfrm>
          <a:prstGeom prst="rect">
            <a:avLst/>
          </a:prstGeom>
          <a:noFill/>
          <a:ln/>
        </p:spPr>
        <p:txBody>
          <a:bodyPr wrap="square" lIns="0" tIns="0" rIns="0" bIns="0" rtlCol="0" anchor="t"/>
          <a:lstStyle/>
          <a:p>
            <a:pPr indent="0" marL="0">
              <a:buNone/>
            </a:pPr>
            <a:r>
              <a:rPr lang="en-US" sz="1500" dirty="0">
                <a:solidFill>
                  <a:schemeClr val="tx1"/>
                </a:solidFill>
              </a:rPr>
              <a:t>Fitur perangkat dibungkus kontrak; ada versi palsu untuk pengembangan dan pengujian.</a:t>
            </a:r>
            <a:endParaRPr lang="en-US" sz="1500" dirty="0"/>
          </a:p>
        </p:txBody>
      </p:sp>
      <p:sp>
        <p:nvSpPr>
          <p:cNvPr id="20" name="kartu 4"/>
          <p:cNvSpPr/>
          <p:nvPr/>
        </p:nvSpPr>
        <p:spPr>
          <a:xfrm>
            <a:off x="548640" y="4251960"/>
            <a:ext cx="3484778" cy="1965960"/>
          </a:xfrm>
          <a:prstGeom prst="roundRect">
            <a:avLst>
              <a:gd name="adj" fmla="val 5581"/>
            </a:avLst>
          </a:prstGeom>
          <a:solidFill>
            <a:schemeClr val="bg2"/>
          </a:solidFill>
          <a:ln/>
        </p:spPr>
      </p:sp>
      <p:sp>
        <p:nvSpPr>
          <p:cNvPr id="21" name="lingkaran dokumen"/>
          <p:cNvSpPr/>
          <p:nvPr/>
        </p:nvSpPr>
        <p:spPr>
          <a:xfrm>
            <a:off x="777240" y="4480560"/>
            <a:ext cx="685800" cy="685800"/>
          </a:xfrm>
          <a:prstGeom prst="ellipse">
            <a:avLst/>
          </a:prstGeom>
          <a:solidFill>
            <a:schemeClr val="accent3"/>
          </a:solidFill>
          <a:ln/>
        </p:spPr>
      </p:sp>
      <p:pic>
        <p:nvPicPr>
          <p:cNvPr id="22" name="Image 3" descr="dokumen">    </p:cNvPr>
          <p:cNvPicPr>
            <a:picLocks noChangeAspect="1"/>
          </p:cNvPicPr>
          <p:nvPr/>
        </p:nvPicPr>
        <p:blipFill>
          <a:blip r:embed="rId4"/>
          <a:stretch>
            <a:fillRect/>
          </a:stretch>
        </p:blipFill>
        <p:spPr>
          <a:xfrm>
            <a:off x="928116" y="4631436"/>
            <a:ext cx="384048" cy="384048"/>
          </a:xfrm>
          <a:prstGeom prst="rect">
            <a:avLst/>
          </a:prstGeom>
        </p:spPr>
      </p:pic>
      <p:sp>
        <p:nvSpPr>
          <p:cNvPr id="23" name="Text 16"/>
          <p:cNvSpPr txBox="1"/>
          <p:nvPr/>
        </p:nvSpPr>
        <p:spPr>
          <a:xfrm>
            <a:off x="1600200" y="445312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README proyek</a:t>
            </a:r>
            <a:endParaRPr lang="en-US" sz="1800" dirty="0"/>
          </a:p>
        </p:txBody>
      </p:sp>
      <p:sp>
        <p:nvSpPr>
          <p:cNvPr id="24" name="Text 17"/>
          <p:cNvSpPr txBox="1"/>
          <p:nvPr/>
        </p:nvSpPr>
        <p:spPr>
          <a:xfrm>
            <a:off x="777240" y="5303520"/>
            <a:ext cx="3027578" cy="777240"/>
          </a:xfrm>
          <a:prstGeom prst="rect">
            <a:avLst/>
          </a:prstGeom>
          <a:noFill/>
          <a:ln/>
        </p:spPr>
        <p:txBody>
          <a:bodyPr wrap="square" lIns="0" tIns="0" rIns="0" bIns="0" rtlCol="0" anchor="t"/>
          <a:lstStyle/>
          <a:p>
            <a:pPr indent="0" marL="0">
              <a:buNone/>
            </a:pPr>
            <a:r>
              <a:rPr lang="en-US" sz="1500" dirty="0">
                <a:solidFill>
                  <a:schemeClr val="tx1"/>
                </a:solidFill>
              </a:rPr>
              <a:t>Sebutkan izin apa saja yang dipakai dan untuk apa.</a:t>
            </a:r>
            <a:endParaRPr lang="en-US" sz="1500" dirty="0"/>
          </a:p>
        </p:txBody>
      </p:sp>
      <p:sp>
        <p:nvSpPr>
          <p:cNvPr id="25" name="kartu 5"/>
          <p:cNvSpPr/>
          <p:nvPr/>
        </p:nvSpPr>
        <p:spPr>
          <a:xfrm>
            <a:off x="4353458" y="4251960"/>
            <a:ext cx="3484778" cy="1965960"/>
          </a:xfrm>
          <a:prstGeom prst="roundRect">
            <a:avLst>
              <a:gd name="adj" fmla="val 5581"/>
            </a:avLst>
          </a:prstGeom>
          <a:solidFill>
            <a:schemeClr val="bg2"/>
          </a:solidFill>
          <a:ln/>
        </p:spPr>
      </p:sp>
      <p:sp>
        <p:nvSpPr>
          <p:cNvPr id="26" name="lingkaran perangkat"/>
          <p:cNvSpPr/>
          <p:nvPr/>
        </p:nvSpPr>
        <p:spPr>
          <a:xfrm>
            <a:off x="4582058" y="4480560"/>
            <a:ext cx="685800" cy="685800"/>
          </a:xfrm>
          <a:prstGeom prst="ellipse">
            <a:avLst/>
          </a:prstGeom>
          <a:solidFill>
            <a:schemeClr val="accent4"/>
          </a:solidFill>
          <a:ln/>
        </p:spPr>
      </p:sp>
      <p:pic>
        <p:nvPicPr>
          <p:cNvPr id="27" name="Image 4" descr="perangkat">    </p:cNvPr>
          <p:cNvPicPr>
            <a:picLocks noChangeAspect="1"/>
          </p:cNvPicPr>
          <p:nvPr/>
        </p:nvPicPr>
        <p:blipFill>
          <a:blip r:embed="rId5"/>
          <a:stretch>
            <a:fillRect/>
          </a:stretch>
        </p:blipFill>
        <p:spPr>
          <a:xfrm>
            <a:off x="4732934" y="4631436"/>
            <a:ext cx="384048" cy="384048"/>
          </a:xfrm>
          <a:prstGeom prst="rect">
            <a:avLst/>
          </a:prstGeom>
        </p:spPr>
      </p:pic>
      <p:sp>
        <p:nvSpPr>
          <p:cNvPr id="28" name="Text 20"/>
          <p:cNvSpPr txBox="1"/>
          <p:nvPr/>
        </p:nvSpPr>
        <p:spPr>
          <a:xfrm>
            <a:off x="5405018" y="445312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Dicoba di dua tempat</a:t>
            </a:r>
            <a:endParaRPr lang="en-US" sz="1800" dirty="0"/>
          </a:p>
        </p:txBody>
      </p:sp>
      <p:sp>
        <p:nvSpPr>
          <p:cNvPr id="29" name="Text 21"/>
          <p:cNvSpPr txBox="1"/>
          <p:nvPr/>
        </p:nvSpPr>
        <p:spPr>
          <a:xfrm>
            <a:off x="4582058" y="5303520"/>
            <a:ext cx="3027578" cy="777240"/>
          </a:xfrm>
          <a:prstGeom prst="rect">
            <a:avLst/>
          </a:prstGeom>
          <a:noFill/>
          <a:ln/>
        </p:spPr>
        <p:txBody>
          <a:bodyPr wrap="square" lIns="0" tIns="0" rIns="0" bIns="0" rtlCol="0" anchor="t"/>
          <a:lstStyle/>
          <a:p>
            <a:pPr indent="0" marL="0">
              <a:buNone/>
            </a:pPr>
            <a:r>
              <a:rPr lang="en-US" sz="1500" dirty="0">
                <a:solidFill>
                  <a:schemeClr val="tx1"/>
                </a:solidFill>
              </a:rPr>
              <a:t>Minimal di Chrome DAN di emulator atau HP Android.</a:t>
            </a:r>
            <a:endParaRPr lang="en-US" sz="1500" dirty="0"/>
          </a:p>
        </p:txBody>
      </p:sp>
      <p:sp>
        <p:nvSpPr>
          <p:cNvPr id="30" name="kartu 6"/>
          <p:cNvSpPr/>
          <p:nvPr/>
        </p:nvSpPr>
        <p:spPr>
          <a:xfrm>
            <a:off x="8158277" y="4251960"/>
            <a:ext cx="3484778" cy="1965960"/>
          </a:xfrm>
          <a:prstGeom prst="roundRect">
            <a:avLst>
              <a:gd name="adj" fmla="val 5581"/>
            </a:avLst>
          </a:prstGeom>
          <a:solidFill>
            <a:schemeClr val="bg2"/>
          </a:solidFill>
          <a:ln/>
        </p:spPr>
      </p:sp>
      <p:sp>
        <p:nvSpPr>
          <p:cNvPr id="31" name="lingkaran privasi"/>
          <p:cNvSpPr/>
          <p:nvPr/>
        </p:nvSpPr>
        <p:spPr>
          <a:xfrm>
            <a:off x="8386877" y="4480560"/>
            <a:ext cx="685800" cy="685800"/>
          </a:xfrm>
          <a:prstGeom prst="ellipse">
            <a:avLst/>
          </a:prstGeom>
          <a:solidFill>
            <a:schemeClr val="accent4"/>
          </a:solidFill>
          <a:ln/>
        </p:spPr>
      </p:sp>
      <p:pic>
        <p:nvPicPr>
          <p:cNvPr id="32" name="Image 5" descr="privasi">    </p:cNvPr>
          <p:cNvPicPr>
            <a:picLocks noChangeAspect="1"/>
          </p:cNvPicPr>
          <p:nvPr/>
        </p:nvPicPr>
        <p:blipFill>
          <a:blip r:embed="rId6"/>
          <a:stretch>
            <a:fillRect/>
          </a:stretch>
        </p:blipFill>
        <p:spPr>
          <a:xfrm>
            <a:off x="8537753" y="4631436"/>
            <a:ext cx="384048" cy="384048"/>
          </a:xfrm>
          <a:prstGeom prst="rect">
            <a:avLst/>
          </a:prstGeom>
        </p:spPr>
      </p:pic>
      <p:sp>
        <p:nvSpPr>
          <p:cNvPr id="33" name="Text 24"/>
          <p:cNvSpPr txBox="1"/>
          <p:nvPr/>
        </p:nvSpPr>
        <p:spPr>
          <a:xfrm>
            <a:off x="9209837" y="445312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Privasi</a:t>
            </a:r>
            <a:endParaRPr lang="en-US" sz="1800" dirty="0"/>
          </a:p>
        </p:txBody>
      </p:sp>
      <p:sp>
        <p:nvSpPr>
          <p:cNvPr id="34" name="Text 25"/>
          <p:cNvSpPr txBox="1"/>
          <p:nvPr/>
        </p:nvSpPr>
        <p:spPr>
          <a:xfrm>
            <a:off x="8386877" y="5303520"/>
            <a:ext cx="3027578" cy="777240"/>
          </a:xfrm>
          <a:prstGeom prst="rect">
            <a:avLst/>
          </a:prstGeom>
          <a:noFill/>
          <a:ln/>
        </p:spPr>
        <p:txBody>
          <a:bodyPr wrap="square" lIns="0" tIns="0" rIns="0" bIns="0" rtlCol="0" anchor="t"/>
          <a:lstStyle/>
          <a:p>
            <a:pPr indent="0" marL="0">
              <a:buNone/>
            </a:pPr>
            <a:r>
              <a:rPr lang="en-US" sz="1500" dirty="0">
                <a:solidFill>
                  <a:schemeClr val="tx1"/>
                </a:solidFill>
              </a:rPr>
              <a:t>Ambil seperlunya, saat dibutuhkan; jelaskan kepada pengguna (Refleksi 3).</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Memilih Alat yang Tepat</a:t>
            </a:r>
            <a:endParaRPr lang="en-US" sz="32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782076"/>
                <a:gridCol w="6312340"/>
              </a:tblGrid>
              <a:tr h="4754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Kebutuhan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Pakai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47548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Satu foto dari galeri atau kamera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ImagePicker().pickImage(source: ...)</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Beberapa foto sekaligus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pickMultiImage(limit: ...)</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Satu posisi sekarang</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Geolocator.getCurrentPosition(...)</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Posisi terus-menerus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getPositionStream(...) + cancel()</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Jarak dan arah dua titik</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distanceBetween / bearingBetween, atau haversine</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Membuka Pengaturan (bukan di web)</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openAppSettings() / openLocationSettings()</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Tahu kapan pengguna kembali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AppLifecycleListener(onResume: ...)</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Membuka Google Maps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url_launcher + Maps URLs</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Menguji tanpa HP</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Kontrak + data palsu; DevTools → Sensors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Ringkasan</a:t>
            </a:r>
            <a:endParaRPr lang="en-US" sz="3200" dirty="0"/>
          </a:p>
        </p:txBody>
      </p:sp>
      <p:sp>
        <p:nvSpPr>
          <p:cNvPr id="4" name="Text 1"/>
          <p:cNvSpPr txBox="1"/>
          <p:nvPr/>
        </p:nvSpPr>
        <p:spPr>
          <a:xfrm>
            <a:off x="548640"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2"/>
          <p:cNvSpPr txBox="1"/>
          <p:nvPr/>
        </p:nvSpPr>
        <p:spPr>
          <a:xfrm>
            <a:off x="1234440" y="1371600"/>
            <a:ext cx="4632808" cy="1051560"/>
          </a:xfrm>
          <a:prstGeom prst="rect">
            <a:avLst/>
          </a:prstGeom>
          <a:noFill/>
          <a:ln/>
        </p:spPr>
        <p:txBody>
          <a:bodyPr wrap="square" lIns="0" tIns="0" rIns="0" bIns="0" rtlCol="0" anchor="t"/>
          <a:lstStyle/>
          <a:p>
            <a:pPr indent="0" marL="0">
              <a:buNone/>
            </a:pPr>
            <a:r>
              <a:rPr lang="en-US" sz="1700" dirty="0">
                <a:solidFill>
                  <a:schemeClr val="tx1"/>
                </a:solidFill>
              </a:rPr>
              <a:t>Plugin = kode Dart + kode asli platform: image_picker dan geolocator.</a:t>
            </a:r>
            <a:endParaRPr lang="en-US" sz="1700" dirty="0"/>
          </a:p>
        </p:txBody>
      </p:sp>
      <p:sp>
        <p:nvSpPr>
          <p:cNvPr id="6" name="Text 3"/>
          <p:cNvSpPr txBox="1"/>
          <p:nvPr/>
        </p:nvSpPr>
        <p:spPr>
          <a:xfrm>
            <a:off x="548640" y="2560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4"/>
          <p:cNvSpPr txBox="1"/>
          <p:nvPr/>
        </p:nvSpPr>
        <p:spPr>
          <a:xfrm>
            <a:off x="1234440" y="2514600"/>
            <a:ext cx="4632808" cy="1051560"/>
          </a:xfrm>
          <a:prstGeom prst="rect">
            <a:avLst/>
          </a:prstGeom>
          <a:noFill/>
          <a:ln/>
        </p:spPr>
        <p:txBody>
          <a:bodyPr wrap="square" lIns="0" tIns="0" rIns="0" bIns="0" rtlCol="0" anchor="t"/>
          <a:lstStyle/>
          <a:p>
            <a:pPr indent="0" marL="0">
              <a:buNone/>
            </a:pPr>
            <a:r>
              <a:rPr lang="en-US" sz="1700" dirty="0">
                <a:solidFill>
                  <a:schemeClr val="tx1"/>
                </a:solidFill>
              </a:rPr>
              <a:t>Izin: aplikasi bertanya, sistem mencatat, pengguna memutuskan. Penolakan kedua = diblokir.</a:t>
            </a:r>
            <a:endParaRPr lang="en-US" sz="1700" dirty="0"/>
          </a:p>
        </p:txBody>
      </p:sp>
      <p:sp>
        <p:nvSpPr>
          <p:cNvPr id="8" name="Text 5"/>
          <p:cNvSpPr txBox="1"/>
          <p:nvPr/>
        </p:nvSpPr>
        <p:spPr>
          <a:xfrm>
            <a:off x="548640" y="3703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 6"/>
          <p:cNvSpPr txBox="1"/>
          <p:nvPr/>
        </p:nvSpPr>
        <p:spPr>
          <a:xfrm>
            <a:off x="1234440" y="3657600"/>
            <a:ext cx="4632808" cy="1051560"/>
          </a:xfrm>
          <a:prstGeom prst="rect">
            <a:avLst/>
          </a:prstGeom>
          <a:noFill/>
          <a:ln/>
        </p:spPr>
        <p:txBody>
          <a:bodyPr wrap="square" lIns="0" tIns="0" rIns="0" bIns="0" rtlCol="0" anchor="t"/>
          <a:lstStyle/>
          <a:p>
            <a:pPr indent="0" marL="0">
              <a:buNone/>
            </a:pPr>
            <a:r>
              <a:rPr lang="en-US" sz="1700" dirty="0">
                <a:solidFill>
                  <a:schemeClr val="tx1"/>
                </a:solidFill>
              </a:rPr>
              <a:t>Persiapan: AndroidManifest.xml, kalimat alasan Info.plist, HTTPS/localhost; jalankan ulang.</a:t>
            </a:r>
            <a:endParaRPr lang="en-US" sz="1700" dirty="0"/>
          </a:p>
        </p:txBody>
      </p:sp>
      <p:sp>
        <p:nvSpPr>
          <p:cNvPr id="10" name="Text 7"/>
          <p:cNvSpPr txBox="1"/>
          <p:nvPr/>
        </p:nvSpPr>
        <p:spPr>
          <a:xfrm>
            <a:off x="548640" y="4846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1" name="Text 8"/>
          <p:cNvSpPr txBox="1"/>
          <p:nvPr/>
        </p:nvSpPr>
        <p:spPr>
          <a:xfrm>
            <a:off x="1234440" y="4800600"/>
            <a:ext cx="4632808" cy="1051560"/>
          </a:xfrm>
          <a:prstGeom prst="rect">
            <a:avLst/>
          </a:prstGeom>
          <a:noFill/>
          <a:ln/>
        </p:spPr>
        <p:txBody>
          <a:bodyPr wrap="square" lIns="0" tIns="0" rIns="0" bIns="0" rtlCol="0" anchor="t"/>
          <a:lstStyle/>
          <a:p>
            <a:pPr indent="0" marL="0">
              <a:buNone/>
            </a:pPr>
            <a:r>
              <a:rPr lang="en-US" sz="1700" dirty="0">
                <a:solidFill>
                  <a:schemeClr val="tx1"/>
                </a:solidFill>
              </a:rPr>
              <a:t>pickImage → XFile, null (batal), atau PlatformException; Image.memory di semua platform.</a:t>
            </a:r>
            <a:endParaRPr lang="en-US" sz="1700" dirty="0"/>
          </a:p>
        </p:txBody>
      </p:sp>
      <p:sp>
        <p:nvSpPr>
          <p:cNvPr id="12" name="Text 9"/>
          <p:cNvSpPr txBox="1"/>
          <p:nvPr/>
        </p:nvSpPr>
        <p:spPr>
          <a:xfrm>
            <a:off x="6324448"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3" name="Text 10"/>
          <p:cNvSpPr txBox="1"/>
          <p:nvPr/>
        </p:nvSpPr>
        <p:spPr>
          <a:xfrm>
            <a:off x="7010248" y="1371600"/>
            <a:ext cx="4632808" cy="1051560"/>
          </a:xfrm>
          <a:prstGeom prst="rect">
            <a:avLst/>
          </a:prstGeom>
          <a:noFill/>
          <a:ln/>
        </p:spPr>
        <p:txBody>
          <a:bodyPr wrap="square" lIns="0" tIns="0" rIns="0" bIns="0" rtlCol="0" anchor="t"/>
          <a:lstStyle/>
          <a:p>
            <a:pPr indent="0" marL="0">
              <a:buNone/>
            </a:pPr>
            <a:r>
              <a:rPr lang="en-US" sz="1700" dirty="0">
                <a:solidFill>
                  <a:schemeClr val="tx1"/>
                </a:solidFill>
              </a:rPr>
              <a:t>Lokasi: layanan → izin → posisi dengan batas waktu; selalu periksa akurasi.</a:t>
            </a:r>
            <a:endParaRPr lang="en-US" sz="1700" dirty="0"/>
          </a:p>
        </p:txBody>
      </p:sp>
      <p:sp>
        <p:nvSpPr>
          <p:cNvPr id="14" name="Text 11"/>
          <p:cNvSpPr txBox="1"/>
          <p:nvPr/>
        </p:nvSpPr>
        <p:spPr>
          <a:xfrm>
            <a:off x="6324448" y="2560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5" name="Text 12"/>
          <p:cNvSpPr txBox="1"/>
          <p:nvPr/>
        </p:nvSpPr>
        <p:spPr>
          <a:xfrm>
            <a:off x="7010248" y="2514600"/>
            <a:ext cx="4632808" cy="1051560"/>
          </a:xfrm>
          <a:prstGeom prst="rect">
            <a:avLst/>
          </a:prstGeom>
          <a:noFill/>
          <a:ln/>
        </p:spPr>
        <p:txBody>
          <a:bodyPr wrap="square" lIns="0" tIns="0" rIns="0" bIns="0" rtlCol="0" anchor="t"/>
          <a:lstStyle/>
          <a:p>
            <a:pPr indent="0" marL="0">
              <a:buNone/>
            </a:pPr>
            <a:r>
              <a:rPr lang="en-US" sz="1700" dirty="0">
                <a:solidFill>
                  <a:schemeClr val="tx1"/>
                </a:solidFill>
              </a:rPr>
              <a:t>Zona: lokasi palsu → akurasi → jarak (haversine).</a:t>
            </a:r>
            <a:endParaRPr lang="en-US" sz="1700" dirty="0"/>
          </a:p>
        </p:txBody>
      </p:sp>
      <p:sp>
        <p:nvSpPr>
          <p:cNvPr id="16" name="Text 13"/>
          <p:cNvSpPr txBox="1"/>
          <p:nvPr/>
        </p:nvSpPr>
        <p:spPr>
          <a:xfrm>
            <a:off x="6324448" y="3703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17" name="Text 14"/>
          <p:cNvSpPr txBox="1"/>
          <p:nvPr/>
        </p:nvSpPr>
        <p:spPr>
          <a:xfrm>
            <a:off x="7010248" y="3657600"/>
            <a:ext cx="4632808" cy="1051560"/>
          </a:xfrm>
          <a:prstGeom prst="rect">
            <a:avLst/>
          </a:prstGeom>
          <a:noFill/>
          <a:ln/>
        </p:spPr>
        <p:txBody>
          <a:bodyPr wrap="square" lIns="0" tIns="0" rIns="0" bIns="0" rtlCol="0" anchor="t"/>
          <a:lstStyle/>
          <a:p>
            <a:pPr indent="0" marL="0">
              <a:buNone/>
            </a:pPr>
            <a:r>
              <a:rPr lang="en-US" sz="1700" dirty="0">
                <a:solidFill>
                  <a:schemeClr val="tx1"/>
                </a:solidFill>
              </a:rPr>
              <a:t>Izin yang sopan: saat dipakai, jelaskan, tetap jalan, tawarkan Pengaturan, onResume.</a:t>
            </a:r>
            <a:endParaRPr lang="en-US" sz="1700" dirty="0"/>
          </a:p>
        </p:txBody>
      </p:sp>
      <p:sp>
        <p:nvSpPr>
          <p:cNvPr id="18" name="Text 15"/>
          <p:cNvSpPr txBox="1"/>
          <p:nvPr/>
        </p:nvSpPr>
        <p:spPr>
          <a:xfrm>
            <a:off x="6324448" y="4846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19" name="Text 16"/>
          <p:cNvSpPr txBox="1"/>
          <p:nvPr/>
        </p:nvSpPr>
        <p:spPr>
          <a:xfrm>
            <a:off x="7010248" y="4800600"/>
            <a:ext cx="4632808" cy="1051560"/>
          </a:xfrm>
          <a:prstGeom prst="rect">
            <a:avLst/>
          </a:prstGeom>
          <a:noFill/>
          <a:ln/>
        </p:spPr>
        <p:txBody>
          <a:bodyPr wrap="square" lIns="0" tIns="0" rIns="0" bIns="0" rtlCol="0" anchor="t"/>
          <a:lstStyle/>
          <a:p>
            <a:pPr indent="0" marL="0">
              <a:buNone/>
            </a:pPr>
            <a:r>
              <a:rPr lang="en-US" sz="1700" dirty="0">
                <a:solidFill>
                  <a:schemeClr val="tx1"/>
                </a:solidFill>
              </a:rPr>
              <a:t>Stream lokasi wajib cancel(); fitur perangkat di balik kontrak + data palsu; privasi.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Saatnya Praktik!</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Kerjakan Jobsheet Pertemuan 13 (lima praktikum "Lapor Fasilitas" + tugas Parkir Motorku), lalu uji diri di Latihan. Pertemuan berikutnya: pengujian dan debugging dengan flutter test.</a:t>
            </a:r>
            <a:endParaRPr lang="en-US" sz="2000" dirty="0"/>
          </a:p>
        </p:txBody>
      </p:sp>
      <p:sp>
        <p:nvSpPr>
          <p:cNvPr id="5" name="tombol tautan">
            <a:hlinkClick r:id="rId1" tooltip="https://github.com/antonprafanto/mobile2026/blob/main/pertemuan_13_fitur_perangkat_dan_izin/JOBSHEET.md"/>
          </p:cNvPr>
          <p:cNvSpPr txBox="1"/>
          <p:nvPr/>
        </p:nvSpPr>
        <p:spPr>
          <a:xfrm>
            <a:off x="731520" y="5166360"/>
            <a:ext cx="2697480" cy="548640"/>
          </a:xfrm>
          <a:prstGeom prst="roundRect">
            <a:avLst>
              <a:gd name="adj" fmla="val 20000"/>
            </a:avLst>
          </a:prstGeom>
          <a:solidFill>
            <a:schemeClr val="accent1"/>
          </a:solidFill>
          <a:ln/>
        </p:spPr>
        <p:txBody>
          <a:bodyPr wrap="square" lIns="622300" tIns="0" rIns="76200" bIns="0" rtlCol="0" anchor="ctr"/>
          <a:lstStyle/>
          <a:p>
            <a:pPr algn="l" indent="0" marL="0">
              <a:buNone/>
            </a:pPr>
            <a:r>
              <a:rPr lang="en-US" sz="1600" b="1" dirty="0">
                <a:solidFill>
                  <a:schemeClr val="bg1"/>
                </a:solidFill>
              </a:rPr>
              <a:t>Jobsheet P13</a:t>
            </a:r>
            <a:endParaRPr lang="en-US" sz="1600" dirty="0"/>
          </a:p>
        </p:txBody>
      </p:sp>
      <p:pic>
        <p:nvPicPr>
          <p:cNvPr id="6" name="Image 0" descr="ikon tautan">
            <a:hlinkClick r:id="rId3" tooltip="https://github.com/antonprafanto/mobile2026/blob/main/pertemuan_13_fitur_perangkat_dan_izin/JOBSHEET.md"/>
          </p:cNvPr>
          <p:cNvPicPr>
            <a:picLocks noChangeAspect="1"/>
          </p:cNvPicPr>
          <p:nvPr/>
        </p:nvPicPr>
        <p:blipFill>
          <a:blip r:embed="rId2"/>
          <a:stretch>
            <a:fillRect/>
          </a:stretch>
        </p:blipFill>
        <p:spPr>
          <a:xfrm>
            <a:off x="877824" y="5276088"/>
            <a:ext cx="329184" cy="329184"/>
          </a:xfrm>
          <a:prstGeom prst="rect">
            <a:avLst/>
          </a:prstGeom>
        </p:spPr>
      </p:pic>
      <p:sp>
        <p:nvSpPr>
          <p:cNvPr id="7" name="tombol tautan">
            <a:hlinkClick r:id="rId4" tooltip="https://github.com/antonprafanto/mobile2026/blob/main/pertemuan_13_fitur_perangkat_dan_izin/LATIHAN.md"/>
          </p:cNvPr>
          <p:cNvSpPr txBox="1"/>
          <p:nvPr/>
        </p:nvSpPr>
        <p:spPr>
          <a:xfrm>
            <a:off x="361188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Latihan P13</a:t>
            </a:r>
            <a:endParaRPr lang="en-US" sz="1600" dirty="0"/>
          </a:p>
        </p:txBody>
      </p:sp>
      <p:pic>
        <p:nvPicPr>
          <p:cNvPr id="8" name="Image 1" descr="ikon tautan">
            <a:hlinkClick r:id="rId6" tooltip="https://github.com/antonprafanto/mobile2026/blob/main/pertemuan_13_fitur_perangkat_dan_izin/LATIHAN.md"/>
          </p:cNvPr>
          <p:cNvPicPr>
            <a:picLocks noChangeAspect="1"/>
          </p:cNvPicPr>
          <p:nvPr/>
        </p:nvPicPr>
        <p:blipFill>
          <a:blip r:embed="rId5"/>
          <a:stretch>
            <a:fillRect/>
          </a:stretch>
        </p:blipFill>
        <p:spPr>
          <a:xfrm>
            <a:off x="3758184" y="5276088"/>
            <a:ext cx="329184" cy="329184"/>
          </a:xfrm>
          <a:prstGeom prst="rect">
            <a:avLst/>
          </a:prstGeom>
        </p:spPr>
      </p:pic>
      <p:sp>
        <p:nvSpPr>
          <p:cNvPr id="9" name="tombol tautan">
            <a:hlinkClick r:id="rId7" tooltip="https://github.com/antonprafanto/mobile2026/blob/main/panduan/05_proyek_akhir.md"/>
          </p:cNvPr>
          <p:cNvSpPr txBox="1"/>
          <p:nvPr/>
        </p:nvSpPr>
        <p:spPr>
          <a:xfrm>
            <a:off x="649224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Proyek Akhir</a:t>
            </a:r>
            <a:endParaRPr lang="en-US" sz="1600" dirty="0"/>
          </a:p>
        </p:txBody>
      </p:sp>
      <p:pic>
        <p:nvPicPr>
          <p:cNvPr id="10" name="Image 2" descr="ikon tautan">
            <a:hlinkClick r:id="rId9" tooltip="https://github.com/antonprafanto/mobile2026/blob/main/panduan/05_proyek_akhir.md"/>
          </p:cNvPr>
          <p:cNvPicPr>
            <a:picLocks noChangeAspect="1"/>
          </p:cNvPicPr>
          <p:nvPr/>
        </p:nvPicPr>
        <p:blipFill>
          <a:blip r:embed="rId8"/>
          <a:stretch>
            <a:fillRect/>
          </a:stretch>
        </p:blipFill>
        <p:spPr>
          <a:xfrm>
            <a:off x="6638544" y="5276088"/>
            <a:ext cx="329184" cy="329184"/>
          </a:xfrm>
          <a:prstGeom prst="rect">
            <a:avLst/>
          </a:prstGeom>
        </p:spPr>
      </p:pic>
      <p:sp>
        <p:nvSpPr>
          <p:cNvPr id="11" name="lingkaran roket"/>
          <p:cNvSpPr/>
          <p:nvPr/>
        </p:nvSpPr>
        <p:spPr>
          <a:xfrm>
            <a:off x="9646920" y="1828800"/>
            <a:ext cx="1737360" cy="1737360"/>
          </a:xfrm>
          <a:prstGeom prst="ellipse">
            <a:avLst/>
          </a:prstGeom>
          <a:solidFill>
            <a:schemeClr val="accent1"/>
          </a:solidFill>
          <a:ln/>
        </p:spPr>
      </p:sp>
      <p:pic>
        <p:nvPicPr>
          <p:cNvPr id="12" name="Image 3" descr="roket">    </p:cNvPr>
          <p:cNvPicPr>
            <a:picLocks noChangeAspect="1"/>
          </p:cNvPicPr>
          <p:nvPr/>
        </p:nvPicPr>
        <p:blipFill>
          <a:blip r:embed="rId10"/>
          <a:stretch>
            <a:fillRect/>
          </a:stretch>
        </p:blipFill>
        <p:spPr>
          <a:xfrm>
            <a:off x="10029139" y="2211019"/>
            <a:ext cx="972922" cy="972922"/>
          </a:xfrm>
          <a:prstGeom prst="rect">
            <a:avLst/>
          </a:prstGeom>
        </p:spPr>
      </p:pic>
    </p:spTree>
  </p:cSld>
  <p:clrMapOvr>
    <a:masterClrMapping/>
  </p:clrMapOvr>
</p:sld>
</file>

<file path=ppt/theme/theme1.xml><?xml version="1.0" encoding="utf-8"?>
<a:theme xmlns:a="http://schemas.openxmlformats.org/drawingml/2006/main" name="PPB Flutter 2026">
  <a:themeElements>
    <a:clrScheme name="PPB Flutter 2026">
      <a:dk1>
        <a:srgbClr val="1B2333"/>
      </a:dk1>
      <a:lt1>
        <a:srgbClr val="FFFFFF"/>
      </a:lt1>
      <a:dk2>
        <a:srgbClr val="0B2545"/>
      </a:dk2>
      <a:lt2>
        <a:srgbClr val="EEF3FA"/>
      </a:lt2>
      <a:accent1>
        <a:srgbClr val="0175C2"/>
      </a:accent1>
      <a:accent2>
        <a:srgbClr val="13B9FD"/>
      </a:accent2>
      <a:accent3>
        <a:srgbClr val="F2A900"/>
      </a:accent3>
      <a:accent4>
        <a:srgbClr val="2E7D32"/>
      </a:accent4>
      <a:accent5>
        <a:srgbClr val="C62828"/>
      </a:accent5>
      <a:accent6>
        <a:srgbClr val="6750A4"/>
      </a:accent6>
      <a:hlink>
        <a:srgbClr val="0175C2"/>
      </a:hlink>
      <a:folHlink>
        <a:srgbClr val="6750A4"/>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85</Slides>
  <Notes>85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85</vt:i4>
      </vt:variant>
    </vt:vector>
  </HeadingPairs>
  <TitlesOfParts>
    <vt:vector size="8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13 - Fitur Perangkat &amp; Izin Akses</dc:title>
  <dc:subject>Materi kuliah Pemrograman Piranti Bergerak (Flutter 2026)</dc:subject>
  <dc:creator>Pemrograman Piranti Bergerak - Informatika S1</dc:creator>
  <cp:lastModifiedBy>Pemrograman Piranti Bergerak - Informatika S1</cp:lastModifiedBy>
  <cp:revision>1</cp:revision>
  <dcterms:created xsi:type="dcterms:W3CDTF">2026-10-16T12:18:37Z</dcterms:created>
  <dcterms:modified xsi:type="dcterms:W3CDTF">2026-10-16T12:18:37Z</dcterms:modified>
</cp:coreProperties>
</file>