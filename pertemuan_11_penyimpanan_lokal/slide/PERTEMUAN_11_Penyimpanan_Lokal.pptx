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Lst>
  <p:notesMasterIdLst>
    <p:notesMasterId r:id="rId7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69a415c7-b1d5-6755-37bf-113ebf1ab634}">
          <p14:sldIdLst>
            <p14:sldId id="256"/>
            <p14:sldId id="257"/>
            <p14:sldId id="258"/>
          </p14:sldIdLst>
        </p14:section>
        <p14:section name="Mengapa Data Hilang Saat Aplikasi Ditutup?" id="{a94ff2fb-591f-478b-aba3-051b35e9923e}">
          <p14:sldIdLst>
            <p14:sldId id="259"/>
            <p14:sldId id="260"/>
            <p14:sldId id="261"/>
          </p14:sldIdLst>
        </p14:section>
        <p14:section name="shared_preferences: Loker Berlabel" id="{ffba3e5b-cf0e-30e3-a3f9-61940c055fbb}">
          <p14:sldIdLst>
            <p14:sldId id="262"/>
            <p14:sldId id="263"/>
            <p14:sldId id="264"/>
            <p14:sldId id="265"/>
            <p14:sldId id="266"/>
            <p14:sldId id="267"/>
          </p14:sldIdLst>
        </p14:section>
        <p14:section name="Pengaturan yang Siap Sejak Layar Pertama" id="{caee43a6-c988-09c2-1265-eee545195e77}">
          <p14:sldIdLst>
            <p14:sldId id="268"/>
            <p14:sldId id="269"/>
            <p14:sldId id="270"/>
            <p14:sldId id="271"/>
          </p14:sldIdLst>
        </p14:section>
        <p14:section name="Menyimpan Objek dan Daftar" id="{ab9af6fe-c0dc-b29c-de44-e7945b1fa61d}">
          <p14:sldIdLst>
            <p14:sldId id="272"/>
            <p14:sldId id="273"/>
            <p14:sldId id="274"/>
            <p14:sldId id="275"/>
          </p14:sldIdLst>
        </p14:section>
        <p14:section name="Mengenal SQLite dan Memasang sqflite" id="{da4bef97-f749-5cde-74c1-9123f7404e8a}">
          <p14:sldIdLst>
            <p14:sldId id="276"/>
            <p14:sldId id="277"/>
            <p14:sldId id="278"/>
            <p14:sldId id="279"/>
            <p14:sldId id="280"/>
          </p14:sldIdLst>
        </p14:section>
        <p14:section name="SQL Langkah demi Langkah" id="{fe0d1a69-77ce-d441-e2d8-1c2d18437d82}">
          <p14:sldIdLst>
            <p14:sldId id="281"/>
            <p14:sldId id="282"/>
            <p14:sldId id="283"/>
            <p14:sldId id="284"/>
            <p14:sldId id="285"/>
            <p14:sldId id="286"/>
          </p14:sldIdLst>
        </p14:section>
        <p14:section name="CRUD dengan MVVM: Catatan Kuliah" id="{cc4da3e2-2199-575b-2fe7-1248011f1cc6}">
          <p14:sldIdLst>
            <p14:sldId id="287"/>
            <p14:sldId id="288"/>
            <p14:sldId id="289"/>
            <p14:sldId id="290"/>
            <p14:sldId id="291"/>
            <p14:sldId id="292"/>
          </p14:sldIdLst>
        </p14:section>
        <p14:section name="Mengubah Struktur Tabel: Versi dan Migrasi" id="{1ee26a1a-666a-a55f-3681-d9b721145dee}">
          <p14:sldIdLst>
            <p14:sldId id="293"/>
            <p14:sldId id="294"/>
            <p14:sldId id="295"/>
            <p14:sldId id="296"/>
            <p14:sldId id="297"/>
            <p14:sldId id="298"/>
          </p14:sldIdLst>
        </p14:section>
        <p14:section name="Transaksi dan Batch" id="{2c914ca5-c34d-f9b9-a94b-21783a64aab9}">
          <p14:sldIdLst>
            <p14:sldId id="299"/>
            <p14:sldId id="300"/>
            <p14:sldId id="301"/>
            <p14:sldId id="302"/>
            <p14:sldId id="303"/>
          </p14:sldIdLst>
        </p14:section>
        <p14:section name="Cache: Data Internet yang Tetap Terbaca Saat Luring" id="{1bdc9d39-677d-8244-50f2-531be0eb5892}">
          <p14:sldIdLst>
            <p14:sldId id="304"/>
            <p14:sldId id="305"/>
            <p14:sldId id="306"/>
            <p14:sldId id="307"/>
          </p14:sldIdLst>
        </p14:section>
        <p14:section name="Studi Kasus: Cuaca Kampus Luring" id="{5638832d-828a-badb-165a-a187b7a892ff}">
          <p14:sldIdLst>
            <p14:sldId id="308"/>
            <p14:sldId id="309"/>
            <p14:sldId id="310"/>
            <p14:sldId id="311"/>
            <p14:sldId id="312"/>
            <p14:sldId id="313"/>
            <p14:sldId id="314"/>
            <p14:sldId id="315"/>
          </p14:sldIdLst>
        </p14:section>
        <p14:section name="Memeriksa, Menguji, dan Menjaga Keamanan" id="{1cbd5d5a-b63e-9871-09c5-f38f09df8f4a}">
          <p14:sldIdLst>
            <p14:sldId id="316"/>
            <p14:sldId id="317"/>
            <p14:sldId id="318"/>
            <p14:sldId id="319"/>
            <p14:sldId id="320"/>
            <p14:sldId id="321"/>
            <p14:sldId id="322"/>
            <p14:sldId id="32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notesMaster" Target="notesMasters/notes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Praktikum 5 Pertemuan 10, tugas yang ditambahkan ke "Tugas Kuliahku" hilang begitu aplikasi ditutup atau di-hot restart, dan tanpa internet aplikasinya tidak bisa dipakai. Hari ini kita membuat data tetap ada. Bekal: Future, async/await, exception, dan Stream (P3); ChangeNotifier, provider, MVVM, repository (P9); JSON, layanan, MockClient (P10). Pengetahuan SQL dari Basis Data membantu, tetapi dasarnya diulang di Bagian 5. Semua contoh hari ini dijalankan di proyek latihan (VS Code), bukan di DartPad, karena paket sqflite belum tersedia di DartPad.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akhir hari ini: aplikasi "Cuaca Kampus Luring". Aplikasi cuaca dari Pertemuan 10 kini mengingat kota terakhir dan kota favorit, menyimpan prakiraan di database SQLite, menampilkan data tersimpan seketika, lalu memperbaruinya dari internet. Saat internet mati, data terakhir tetap tampil dengan keterangan waktunya.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A: mengapa data hilang, dan alat apa untuk data apa? Bagian B: bagaimana menyimpan pengaturan kecil seperti mode gelap atau kota terakhir? Bagian C: bagaimana menyimpan banyak data yang perlu dicari, diurutkan, diubah, dan dijaga keutuhannya? Bagian D: bagaimana aplikasi tetap berguna saat internet mati? Bagian E: bagaimana melihat isi penyimpanan, mengujinya, dan menjaga keamanannya?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variabel Dart tinggal di memori. Memori dikosongkan saat aplikasi ditutup.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Pertemuan 1 Bagian 6 kita belajar bahwa aplikasi bisa dihentikan sistem tanpa sempat melewati status detached. Data yang menunggu disimpan "nanti saja" bisa hilang begitu saja. Alurnya: aplikasi dibuka → baca dari penyimpanan → data di memori (variabel) → pengguna mengubah data → simpan ke penyimpanan.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Cek cepat: aplikasi kas kelas mencatat ratusan transaksi yang harus bisa dicari per bulan dan tidak boleh hilang. Pakai apa? SQLite (dengan transaksi, Bagian 9), bukan shared_preferences. Mode gelap aplikasi yang sama cukup dengan shared_preferences.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Paket resmi tim Flutter untuk data kecil berbentuk kunci–nilai.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Jika paket dipasang saat aplikasi sedang berjalan, hot reload atau hot restart memunculkan MissingPluginException, karena bagian aslinya belum ikut terpasang. Alasan --web-port=8080 dijelaskan dua slide lagi. Paket ini tidak berjalan di DartPad: jendela hasil DartPad tidak diizinkan memakai penyimpanan browser, sehingga aplikasinya hanya menampilkan lingkaran memuat. Karena itu semua contoh hari ini dijalankan di proyek latihan.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Dokumentasi resmi paket shared_preferences menyebut API lama SharedPreferences akan dihentikan di masa depan. Untuk kode baru, pakai SharedPreferencesAsync atau SharedPreferencesWithCache.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Kunci ditulis sekali sebagai konstanta agar tidak salah ketik di tempat lain. Tampilan diubah dulu dengan setState (terasa cepat), baru kemudian disimpan. Membaca penyimpanan butuh waktu (asinkron), jadi halaman menampilkan lingkaran memuat lebih dulu, seperti saat mengambil data dari internet. Cek cepat: aplikasi baru dipasang, await getInt('jumlah_tamu') hasilnya? null, karena belum pernah disimpan. ?? 0 memberi nilai awal agar _jumlah (int, tidak boleh null) tetap punya nilai.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localhost:8080 dan localhost:8081 dianggap dua situs berbeda. Tanpa --web-port, flutter run memilih port acak setiap kali dijalankan. Ingin melihat isinya? Chrome DevTools (F12) → tab Application → Local Storage → http://localhost:8080: tampil kunci jumlah_tamu beserta nilainya.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Tipe lain (DateTime, enum, objek) harus diubah dulu menjadi salah satu dari lima tipe dasar. Nama kunci ditulis sebagai konstanta agar tidak salah ketik. Contoh kesalahan: setString('jumlah_tamu', '5') lalu getInt('jumlah_tamu').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05 Pertemuan 7: pilihan mode gelap hilang setiap aplikasi ditutup. Sekarang disimpan, tanpa berkedip.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ensureInitialized: plugin (shared_preferences, sqflite) berbicara dengan bagian asli platform. Jalurnya baru siap setelah Flutter "dinyalakan". Biasanya runApp yang menyalakannya; jika plugin dipakai sebelum runApp, nyalakan sendiri dengan baris ini. setString tetap Future: nilai di memori langsung berubah, lalu ditulis ke perangkat. Contoh 02 menyimpan tiga pengaturan: mode tema, warna utama, dan tingkat kontras.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 yang tidak dikenal bisa muncul, misalnya nama enum yang sudah dihapus di versi aplikasi yang lebih baru. Nama juga lebih mudah dibaca saat diperiksa di DevTools daripada angka urutan.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Kiri: mode terang, warna hijau toska. Kanan: mode gelap, warna indigo, kontras tinggi. Coba: pilih Gelap, Indigo, Tinggi, hentikan aplikasi (q), lalu jalankan lagi dengan port yang sama: aplikasi langsung tampil gelap sejak layar pertama. Cek cepat: mengapa PengaturanViewModel bisa membaca pengaturan di constructor tanpa await, sedangkan Contoh 01 butuh _memuat? Karena WithCache sudah membaca (dan ditunggu) di main sebelum runApp; Contoh 01 memakai Async yang membaca dari platform setiap 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shared_preferences tidak bisa menyimpan objek, tetapi bisa menyimpan teks. Kita pakai lagi JSON dari Pertemuan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03 adalah formulir surat izin kuliah yang drafnya tersimpan sendiri. Isi formulir (mata kuliah, jenis izin, alasan) adalah satu objek DrafIzin. Teks yang tersimpan misalnya {"mata_kuliah":"Basis Data","jenis":"sakit","alasan":"Demam"}. Kode di slide sedikit dirapatkan (return di baris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Cek cepat: mengapa riwayat disimpan sebagai List&lt;String&gt;, sedangkan draf sebagai satu String JSON? Setiap entri riwayat cukup satu teks. Draf terdiri dari beberapa bagian yang harus tetap berpasangan, sehingga lebih mudah disimpan sebagai satu teks JSON lalu dibaca kembali menjadi satu objek.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shared_preferences cocok untuk data kecil dan tidak penting. Untuk data yang banyak, terstruktur, atau penting, kita pindah ke SQLite.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lengkap dalam satu berkas di perangkat, tanpa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Android, iOS, dan browser modern memakai SQLite di balik layar, misalnya untuk menyimpan pesan, kontak, dan riwayat. Dengan paket sqflite, aplikasi Flutter bisa membuat database SQLite sendiri dan mengolahnya dengan SQL, walaupun datanya ribuan.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juga BLOB (Uint8List) untuk data biner kecil dan NULL untuk kosong. Ingat dua yang tidak ada di SQLite: bool dan DateTime. Keduanya diubah dulu sebelum disimpan, lalu diubah kembali saat dibaca.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mahasiswa ini dipakai Contoh 04 (Lab SQL Mini). Di slide berikutnya kita lihat bahwa sqflite menyediakan metode pembantu, sehingga sebagian besar SQL di atas tidak perlu ditulis lengkap.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kIsWeb bernilai true hanya saat aplikasi berjalan di browser. Di Android, baris itu dilewati dan sqflite memakai SQLite bawaan HP. Semua contoh SQLite hari ini sudah memuat baris tersebut, jadi berkasnya bisa dijalankan di Chrome maupun di Android tanpa diubah. Perintah setup butuh internet dan bisa memakan waktu beberapa menit. Untuk aplikasi web sungguhan, pertimbangkan pilihan lain (Bagian 13) atau simpan datanya di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04 "Lab SQL Mini": 11 langkah SQL pada tabel mahasiswa, di database memori.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openDatabase(...) membuka (atau membuat) database dan menghasilkan objek Database; semua perintah lewat objek itu dan semuanya asinkron (await). execute menjalankan SQL apa adanya, cocok untuk CREATE TABLE. Contoh 04 memakai openDatabase(inMemoryDatabasePath): database baru yang kosong, hanya hidup di memori, sehingga hasilnya selalu sama setiap kali dijalankan.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Hasil query berupa daftar Map, misalnya {id: 1, nim: 2609106001, nama: Rina Kusuma, ipk: 3.75}. Model dibuat sekali di satu tempat, lalu seluruh aplikasi memakai objek Mahasiswa.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layar, tombol Jalankan menampilkan hasil langkah 1 sampai 11, misalnya INSERT Rina id 1, Bayu id 2, Citra id 3. Hasil yang sama juga dicetak di konsol. Slide berikutnya menampilkan seluruh keluarannya.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3 dan 4 di slide diringkas menjadi nama saja; keluaran aslinya menampilkan satu baris lengkap per mahasiswa (id, nama, NIM, IPK). Mengapa id lama tidak dipakai ulang? Agar id yang masih tercatat di tempat lain tidak tertukar dengan data baru. Cek cepat: db.delete dengan id 99 yang tidak ada → tidak ada exception, hasilnya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Dengan isian ' OR '1'='1, SQL yang terbentuk menjadi ... WHERE nama = '' OR '1'='1', dan syarat '1'='1' selalu benar. Untuk rawQuery, nilainya dikirim sebagai argumen kedua: db.rawQuery('SELECT * FROM mahasiswa WHERE nama = ?', [nama]).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05: aplikasi catatan yang datanya tersimpan di berkas catatan_kuliah.db.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 restoran berlanjut: ViewModel = pelayan, repository = bagian pembelian bahan, layanan = kurir. Kali ini kurirnya tidak ke pasar (server), melainkan ke gudang di belakang (berkas database di perangkat).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Kode di slide sedikit dirapatkan (kolom judul dan isi ditulis satu baris). Banyak tutorial menulis join(await getDatabasesPath(), 'nama.db') dengan paket path; hasilnya sama. Penitipan dengan Provider beserta dispose sama seperti http.Client di Pertemuan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Nilai kata kunci tetap dikirim lewat whereArgs, bukan ditempel ke SQL. Tanpa urutan kedua (id DESC), posisi dua catatan bertanggal sama bisa berganti-ganti. Di berkas aslinya, keBaris ditulis dengan return di dalam blok; di slide dipersingkat dengan =&gt;.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Kiri: daftar catatan dengan kotak pencarian. Kanan: halaman Ubah Catatan. Di berkas aslinya, catch juga mencetak galat dengan debugPrint, dan tipe parameter where ditulis lengkap (Catatan c). Membaca ulang beberapa ratus baris dari database di perangkat hanya butuh beberapa milidetik. Cek cepat: mengapa CatatanViewModel dititipkan di atas MaterialApp? Halaman formulir dibuka dengan Navigator.push, sehingga menjadi rute baru yang bersaudara dengan home. Provider di home tidak terlihat dari rute itu (P9 Bagian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jalankanUji() dijalankan sebelum runApp, seperti Pertemuan 9 dan 10. Baris lainnya: Catatan kedua mendapat id 2, Ada 2 catatan, Yang diubah naik ke atas, Tersisa 1 setelah dihapus, ViewModel: status berhasil.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Fitur sematkan (pin) di Contoh 06 membutuhkan kolom baru di tabel catatan.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Pengguna ingin menyematkan catatan penting agar selalu tampil paling atas. Cara menghapus data sendiri selama pengembangan ada di Bagian 12.3 modul.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Kode di slide dirapatkan: di berkas aslinya CREATE TABLE ditulis lengkap, onUpgrade juga mencetak pesan migrasi dengan debugPrint, dan ALTER TABLE dibungkus try dengan isDuplicateColumnError. Pengaman itu khusus untuk latihan: jika Contoh 05 (versi 1) sempat dijalankan lagi setelah Contoh 06, versi database turun menjadi 1 padahal kolomnya sudah ada. Di aplikasi sungguhan, versi database hanya pernah naik.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Mencobanya (modul Bagian 8.4): jalankan Contoh 05 dengan --web-port=8080 dan tambahkan beberapa catatan; hentikan (q); ganti isi lib/main.dart dengan Contoh 06; jalankan dengan port yang sama. Konsol menampilkan "Migrasi database: versi 1 -&gt; 2", semua catatan masih ada, dan kini punya tombol pin. Jalankan sekali lagi: pesan migrasi tidak muncul, karena database sudah versi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jalankanUji() di Contoh 06 melakukan persis aturan keenam: membuat tabel versi 1 di memori, mengisinya, menjalankan tingkatkanSkema(db, 1, 2), lalu memastikan catatan lama masih ada dan kolom barunya bernilai 0. Praktikum 4 dan tugas mandiri Dompet Kuliah memakai pola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yang disematkan berada paling atas dengan ikon pin terisi. Perintahnya: db.update(_tabel, {'disematkan': disematkan ? 1 : 0}, where: 'id = ?', whereArgs: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07: aplikasi bendahara kelas dengan dua dompet, Kas Kelas (saldo awal Rp500.000) dan Kas Study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Tanyakan ke kelas sebelum membuka slide berikutnya: bagaimana caranya agar keempat perintah itu berhasil bersama, atau tidak berubah sama sekali?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Deadlock: perintah lewat db menunggu transaksi selesai, padahal transaksi menunggu perintah itu. onCreate dan onUpgrade tidak perlu dibungkus transaksi lagi, karena sqflite sudah menjalankan keduanya di dalam transaksi. Cek cepat: di dalam blok transaksi seseorang menulis await db.insert(...). Apa yang terjadi? Aplikasi macet; selalu pakai txn.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Saat sakelar Simulasikan gangguan menyala, repository sengaja melempar exception tepat setelah perintah 2. Tekan Atur ulang (kanan atas) sebelum setiap percobaan. Saldo kurang ditolak dua lapis: repository membaca saldo dulu lalu melempar SaldoTidakCukup, dan kolom saldo memakai CHECK (saldo &gt;= 0). COALESCE(SUM(saldo), 0): SUM dari tabel kosong bernilai NULL, COALESCE menggantinya dengan 0. Pola SUM yang sama dipakai di tugas mandiri Dompet Kuliah.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Tombol Catat iuran 12 mahasiswa menyimpan 12 baris mutasi dan menambah saldo: 13 perintah dikirim sekaligus, bukan satu per satu. Di Contoh 07, onCreate juga memakai batch untuk membuat dua tabel dan dua dompet awal dalam satu kali kirim.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08 melanjutkan aplikasi Pengumuman Prodi dari Contoh 06 Pertemuan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Cek cepat: mengapa cache pengumuman boleh disimpan dengan shared_preferences, padahal paket itu tidak boleh dipakai untuk data penting? Karena cache hanya salinan; data aslinya tetap ada di server. Ukurannya pun kecil (sepuluh pengumuman).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 ambil dari server berhasil → simpan salinan + waktunya → tampilkan data terbaru. Gagal → ada salinan? Ya: tampilkan salinan + spanduk Mode luring. Tidak: tampilkan pesan galat + tombol Coba lagi. Kode di slide dirapatkan (if dan rethrow satu baris).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Jika disimpan dengan dua kunci terpisah, bisa saja isi baru sudah tersimpan tetapi waktunya masih yang lama (aplikasi mati di antara dua perintah simpan). Format sendiri membuat salinan lama tetap terbaca walaupun suatu hari server mengubah bentuk JSON-nya. CachePengumuman memakai kontrak kecil PenyimpananTeks: aplikasi memakai PenyimpananTeksPrefs, pemeriksaan memakai PenyimpananTeksMemori.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09 melanjutkan aplikasi Cuaca Kampus dari Pertemuan 10 Bagian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Susunannya: CuacaViewModel memakai RepositoriCuacaLuring (yang memakai LayananOpenMeteo untuk internet dan CacheCuacaSqlite untuk database) serta RepositoriPreferensiShared (shared_preferences). Kota favorit disimpan sebagai daftar nama enum, misalnya ['samarinda', 'medan']; saat dibaca, nama yang tidak dikenal dibuang dengan whereType&lt;Kota&gt;().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08 baru memakai salinan setelah server gagal, sehingga pengguna menunggu sampai batas waktu habis. Di sini salinan tampil seketika, lalu diganti data terbaru begitu tiba. Panduan resmi Flutter tentang aplikasi offline-first menyarankan pola yang sama. Di Contoh 09, baca dan simpan juga dibungkus try agar kerusakan cache tidak membuat aplikasi gagal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Kolom lain di cuaca_saat_ini: kelembapan (INTEGER) dan angin (REAL). Di prakiraan_harian: kondisi, suhu_maks, dan suhu_min. peluang_hujan boleh NULL karena data Open-Meteo kadang tidak menyertakannya; pemeriksaan "SQLite: NULL tetap null" memastikannya.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Kode di slide diringkas. Pemeriksaan "SQLite: hari tidak berganda" memastikan menyimpan kota yang sama dua kali tidak menggandakan baris prakiraan.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StreamBuilder adalah pasangan FutureBuilder untuk Stream (P3), dan aturannya sama: buat Stream-nya sekali, jangan di dalam build. Untuk aplikasi dengan banyak aturan seperti ini, ViewModel dengan await for lebih mudah diatur dan diuji.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menampilkan 13 dari 17 baris LULUS. Baris lainnya: Data server bukan salinan, Data server ikut disimpan, Pilihan kota disimpan, SQLite: kondisi terbaca lagi. Sebagian pemeriksaan sengaja mematikan "server", sehingga pesan galat itu muncul di konsol.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Kiri: Samarinda bertanda bintang di depan, kartu cuaca, dan prakiraan tujuh hari. Kanan: luring, spanduk Gagal memperbarui (Tidak dapat terhubung ke internet) di atas data tersimpan. Tanpa mematikan internet, ganti 'api.open-meteo.com' menjadi 'api.open-meteo.invalid' di LayananOpenMeteo. Daftar uji mandiri lengkap di modul Bagian 11.8.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Melihat isi penyimpanan, menghapusnya selama pengembangan, mengujinya, dan memilih tempat untuk data rahasia.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Saat CREATE TABLE diubah di tengah pengembangan dan belum ingin menulis migrasi, menghapus data lama adalah jalan pintas yang wajar, asalkan itu data Anda sendiri: Clear site data di Chrome, Hapus data di Android, atau await deleteDatabase('catatan_kuliah.db') sebelum database dibuka. Menguji tanpa menyentuh data asli: repository/penyimpanan versi memori (Contoh 08, 09) atau database SQLite sungguhan di memori dengan inMemoryDatabasePath (Contoh 05, 06, 07,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Android, data memang tersimpan di folder khusus milik aplikasi, tetapi tetap berupa berkas biasa dan secara bawaan ikut dicadangkan otomatis oleh sistem. Di Chrome, kode JavaScript lain di situs yang sama pun bisa membacanya. Dukungan web flutter_secure_storage masih eksperimental. Untuk proyek akhir yang dipakai orang lain, halaman privasi sangat disarankan.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hive_ce adalah lanjutan komunitas dari paket hive yang masih dirawat. Kenali pilihan-pilihan ini, tetapi tidak perlu dipakai di kuliah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lengkap di modul Bagian 14 dan di Panduan Troubleshooting bagian F, termasuk TypeError karena satu kunci dibaca dengan tipe berbeda, ArgumentError allowList, galat sqlite3.wasm atau sqflite_sw.js (setup web belum dijalankan), duplicate column name, UNIQUE constraint failed, update yang tidak mengubah apa pun, bool/DateTime di SQLite, dan tema yang berkedip.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memetakan proyek akhir: data apa yang menjadi pengaturan (shared_preferences), data apa yang ditambah atau diubah pengguna (SQLite), dan data internet apa yang perlu tetap terbaca saat luring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menjelaskan dengan kata-kata sendiri: mengapa onCreate tidak cukup saat struktur tabel berubah, dan apa yang terjadi pada pengguna lama jika version lupa dinaikkan.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praktikum dijalankan di VS Code, bukan DartPad. Persiapan sekali: flutter pub add shared_preferences provider sqflite sqflite_common_ffi_web, lalu (untuk Chrome) dart run sqflite_common_ffi_web:setup, dan selalu jalankan dengan --web-port=8080. Praktikum 1–2: shared_preferences; Praktikum 3–4: Kamus Istilah dengan SQLite (CRUD, lalu migrasi dan impor); Praktikum 5: "Tugas Kuliahku" tersimpan di perangkat dan tetap berguna tanpa internet. Tugas mandiri Dompet Kuliah: SQLite dengan migrasi versi 2, ringkasan dengan SUM dan GROUP BY, anggaran di shared_preferences, dan jalankanUji minimal 8 pemeriksaan. Pertemuan 12 menata layanan, repository, dan ViewModel menjadi lapisan Clean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8412480" y="2926080"/>
            <a:ext cx="5669280" cy="5669280"/>
          </a:xfrm>
          <a:prstGeom prst="ellipse">
            <a:avLst/>
          </a:prstGeom>
          <a:solidFill>
            <a:schemeClr val="accent1">
              <a:alpha val="30000"/>
            </a:schemeClr>
          </a:solidFill>
          <a:ln/>
        </p:spPr>
        <p:txBody>
          <a:bodyPr wrap="square" rtlCol="0" anchor="ctr"/>
          <a:lstStyle/>
          <a:p>
            <a:pPr indent="0" marL="0">
              <a:buNone/>
            </a:pPr>
            <a:endParaRPr lang="en-US" dirty="0"/>
          </a:p>
        </p:txBody>
      </p:sp>
      <p:sp>
        <p:nvSpPr>
          <p:cNvPr id="3" name="Text 1"/>
          <p:cNvSpPr/>
          <p:nvPr/>
        </p:nvSpPr>
        <p:spPr>
          <a:xfrm>
            <a:off x="9692640" y="-1280160"/>
            <a:ext cx="3291840" cy="3291840"/>
          </a:xfrm>
          <a:prstGeom prst="ellipse">
            <a:avLst/>
          </a:prstGeom>
          <a:solidFill>
            <a:schemeClr val="accent2">
              <a:alpha val="20000"/>
            </a:schemeClr>
          </a:solidFill>
          <a:ln/>
        </p:spPr>
        <p:txBody>
          <a:bodyPr wrap="square" rtlCol="0" anchor="ctr"/>
          <a:lstStyle/>
          <a:p>
            <a:pPr indent="0" marL="0">
              <a:buNone/>
            </a:pPr>
            <a:endParaRPr lang="en-US" dirty="0"/>
          </a:p>
        </p:txBody>
      </p:sp>
      <p:sp>
        <p:nvSpPr>
          <p:cNvPr id="4" name="Text 2"/>
          <p:cNvSpPr/>
          <p:nvPr/>
        </p:nvSpPr>
        <p:spPr>
          <a:xfrm>
            <a:off x="731520" y="1005840"/>
            <a:ext cx="82296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PEMROGRAMAN PIRANTI BERGERAK  ·  INFORMATIKA S1</a:t>
            </a:r>
            <a:endParaRPr lang="en-US" sz="1400" dirty="0"/>
          </a:p>
        </p:txBody>
      </p:sp>
      <p:sp>
        <p:nvSpPr>
          <p:cNvPr id="5" name="Text 3"/>
          <p:cNvSpPr/>
          <p:nvPr/>
        </p:nvSpPr>
        <p:spPr>
          <a:xfrm>
            <a:off x="731520" y="5989320"/>
            <a:ext cx="7315200" cy="320040"/>
          </a:xfrm>
          <a:prstGeom prst="rect">
            <a:avLst/>
          </a:prstGeom>
          <a:noFill/>
          <a:ln/>
        </p:spPr>
        <p:txBody>
          <a:bodyPr wrap="square" lIns="0" tIns="0" rIns="0" bIns="0" rtlCol="0" anchor="ctr"/>
          <a:lstStyle/>
          <a:p>
            <a:pPr indent="0" marL="0">
              <a:buNone/>
            </a:pPr>
            <a:r>
              <a:rPr lang="en-US" sz="1300" dirty="0">
                <a:solidFill>
                  <a:schemeClr val="bg2"/>
                </a:solidFill>
              </a:rPr>
              <a:t>github.com/antonprafanto/mobile2026</a:t>
            </a:r>
            <a:endParaRPr lang="en-US" sz="1300" dirty="0"/>
          </a:p>
        </p:txBody>
      </p:sp>
      <p:sp>
        <p:nvSpPr>
          <p:cNvPr id="6" name="Text 4"/>
          <p:cNvSpPr/>
          <p:nvPr>
            <p:ph idx="104" type="title" hasCustomPrompt="1"/>
          </p:nvPr>
        </p:nvSpPr>
        <p:spPr>
          <a:xfrm>
            <a:off x="731520" y="1554480"/>
            <a:ext cx="877824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7" name="Text 4"/>
          <p:cNvSpPr/>
          <p:nvPr>
            <p:ph idx="105" type="body" hasCustomPrompt="1"/>
          </p:nvPr>
        </p:nvSpPr>
        <p:spPr>
          <a:xfrm>
            <a:off x="731520" y="3840480"/>
            <a:ext cx="841248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1645920" y="4023360"/>
            <a:ext cx="4572000" cy="4572000"/>
          </a:xfrm>
          <a:prstGeom prst="ellipse">
            <a:avLst/>
          </a:prstGeom>
          <a:solidFill>
            <a:schemeClr val="accent1">
              <a:alpha val="25000"/>
            </a:schemeClr>
          </a:solidFill>
          <a:ln/>
        </p:spPr>
        <p:txBody>
          <a:bodyPr wrap="square" rtlCol="0" anchor="ctr"/>
          <a:lstStyle/>
          <a:p>
            <a:pPr indent="0" marL="0">
              <a:buNone/>
            </a:pPr>
            <a:endParaRPr lang="en-US" dirty="0"/>
          </a:p>
        </p:txBody>
      </p:sp>
      <p:sp>
        <p:nvSpPr>
          <p:cNvPr id="3" name="Text 1"/>
          <p:cNvSpPr/>
          <p:nvPr>
            <p:ph idx="101" type="body" hasCustomPrompt="1"/>
          </p:nvPr>
        </p:nvSpPr>
        <p:spPr>
          <a:xfrm>
            <a:off x="3840480" y="2103120"/>
            <a:ext cx="7680960" cy="457200"/>
          </a:xfrm>
          <a:prstGeom prst="rect">
            <a:avLst/>
          </a:prstGeom>
          <a:noFill/>
          <a:ln/>
        </p:spPr>
        <p:txBody>
          <a:bodyPr wrap="square" rtlCol="0"/>
          <a:lstStyle>
            <a:lvl1pPr indent="0" marL="0">
              <a:buNone/>
              <a:defRPr lang="en-US" sz="1800" b="1" spc="200" kern="0" dirty="0">
                <a:solidFill>
                  <a:schemeClr val="accent2"/>
                </a:solidFill>
              </a:defRPr>
            </a:lvl1pPr>
          </a:lstStyle>
          <a:p>
            <a:pPr indent="0" marL="0">
              <a:buNone/>
            </a:pP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5" name="Text 1"/>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bg2"/>
                </a:solidFill>
              </a:rPr>
              <a:t>Pemrograman Piranti Bergerak  ·  Pertemuan 11  ·  Penyimpanan Lokal</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ONTE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6B7A90"/>
                </a:solidFill>
              </a:rPr>
              <a:t>Pemrograman Piranti Bergerak  ·  Pertemuan 11  ·  Penyimpanan Lokal</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image" Target="../media/image-2-1.png"/><Relationship Id="rId8" Type="http://schemas.openxmlformats.org/officeDocument/2006/relationships/slideLayout" Target="../slideLayouts/slideLayout4.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antonprafanto/mobile2026/blob/main/pertemuan_11_penyimpanan_lokal/kode/contoh_01_penghitung_tersimpan.dart" TargetMode="External"/><Relationship Id="rId4" Type="http://schemas.openxmlformats.org/officeDocument/2006/relationships/hyperlink" Target="https://github.com/antonprafanto/mobile2026/blob/main/pertemuan_11_penyimpanan_lokal/kode/contoh_01_penghitung_tersimpan.dart" TargetMode="External"/><Relationship Id="rId1" Type="http://schemas.openxmlformats.org/officeDocument/2006/relationships/image" Target="../media/image-10-1.jpg"/><Relationship Id="rId3" Type="http://schemas.openxmlformats.org/officeDocument/2006/relationships/image" Target="../media/image-10-2.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github.com/antonprafanto/mobile2026/blob/main/pertemuan_11_penyimpanan_lokal/kode/contoh_02_pengaturan_tampilan.dart" TargetMode="External"/><Relationship Id="rId3" Type="http://schemas.openxmlformats.org/officeDocument/2006/relationships/hyperlink" Target="https://github.com/antonprafanto/mobile2026/blob/main/pertemuan_11_penyimpanan_lokal/kode/contoh_02_pengaturan_tampilan.dart" TargetMode="External"/><Relationship Id="rId2" Type="http://schemas.openxmlformats.org/officeDocument/2006/relationships/image" Target="../media/image-14-1.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github.com/antonprafanto/mobile2026/blob/main/pertemuan_11_penyimpanan_lokal/kode/contoh_02_pengaturan_tampilan.dart" TargetMode="External"/><Relationship Id="rId3" Type="http://schemas.openxmlformats.org/officeDocument/2006/relationships/hyperlink" Target="https://github.com/antonprafanto/mobile2026/blob/main/pertemuan_11_penyimpanan_lokal/kode/contoh_02_pengaturan_tampilan.dart" TargetMode="External"/><Relationship Id="rId2" Type="http://schemas.openxmlformats.org/officeDocument/2006/relationships/image" Target="../media/image-15-1.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antonprafanto/mobile2026/blob/main/pertemuan_11_penyimpanan_lokal/kode/contoh_02_pengaturan_tampilan.dart" TargetMode="External"/><Relationship Id="rId5" Type="http://schemas.openxmlformats.org/officeDocument/2006/relationships/hyperlink" Target="https://github.com/antonprafanto/mobile2026/blob/main/pertemuan_11_penyimpanan_lokal/kode/contoh_02_pengaturan_tampilan.dart" TargetMode="External"/><Relationship Id="rId1" Type="http://schemas.openxmlformats.org/officeDocument/2006/relationships/image" Target="../media/image-16-1.jpg"/><Relationship Id="rId2" Type="http://schemas.openxmlformats.org/officeDocument/2006/relationships/image" Target="../media/image-16-2.jpg"/><Relationship Id="rId4" Type="http://schemas.openxmlformats.org/officeDocument/2006/relationships/image" Target="../media/image-16-3.png"/><Relationship Id="rId6" Type="http://schemas.openxmlformats.org/officeDocument/2006/relationships/slideLayout" Target="../slideLayouts/slideLayout4.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github.com/antonprafanto/mobile2026/blob/main/pertemuan_11_penyimpanan_lokal/kode/contoh_03_draf_dan_riwayat.dart" TargetMode="External"/><Relationship Id="rId3" Type="http://schemas.openxmlformats.org/officeDocument/2006/relationships/hyperlink" Target="https://github.com/antonprafanto/mobile2026/blob/main/pertemuan_11_penyimpanan_lokal/kode/contoh_03_draf_dan_riwayat.dart" TargetMode="External"/><Relationship Id="rId2" Type="http://schemas.openxmlformats.org/officeDocument/2006/relationships/image" Target="../media/image-18-1.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antonprafanto/mobile2026/blob/main/pertemuan_11_penyimpanan_lokal/kode/contoh_03_draf_dan_riwayat.dart" TargetMode="External"/><Relationship Id="rId4" Type="http://schemas.openxmlformats.org/officeDocument/2006/relationships/hyperlink" Target="https://github.com/antonprafanto/mobile2026/blob/main/pertemuan_11_penyimpanan_lokal/kode/contoh_03_draf_dan_riwayat.dart" TargetMode="External"/><Relationship Id="rId1" Type="http://schemas.openxmlformats.org/officeDocument/2006/relationships/image" Target="../media/image-19-1.jpg"/><Relationship Id="rId3" Type="http://schemas.openxmlformats.org/officeDocument/2006/relationships/image" Target="../media/image-19-2.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github.com/antonprafanto/mobile2026/blob/main/pertemuan_11_penyimpanan_lokal/kode/contoh_04_sql_langkah_demi_langkah.dart" TargetMode="External"/><Relationship Id="rId3" Type="http://schemas.openxmlformats.org/officeDocument/2006/relationships/hyperlink" Target="https://github.com/antonprafanto/mobile2026/blob/main/pertemuan_11_penyimpanan_lokal/kode/contoh_04_sql_langkah_demi_langkah.dart" TargetMode="External"/><Relationship Id="rId2" Type="http://schemas.openxmlformats.org/officeDocument/2006/relationships/image" Target="../media/image-28-1.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hyperlink" Target="https://github.com/antonprafanto/mobile2026/blob/main/pertemuan_11_penyimpanan_lokal/kode/contoh_04_sql_langkah_demi_langkah.dart" TargetMode="External"/><Relationship Id="rId4" Type="http://schemas.openxmlformats.org/officeDocument/2006/relationships/hyperlink" Target="https://github.com/antonprafanto/mobile2026/blob/main/pertemuan_11_penyimpanan_lokal/kode/contoh_04_sql_langkah_demi_langkah.dart" TargetMode="External"/><Relationship Id="rId1" Type="http://schemas.openxmlformats.org/officeDocument/2006/relationships/image" Target="../media/image-29-1.jpg"/><Relationship Id="rId3" Type="http://schemas.openxmlformats.org/officeDocument/2006/relationships/image" Target="../media/image-29-2.png"/><Relationship Id="rId5" Type="http://schemas.openxmlformats.org/officeDocument/2006/relationships/slideLayout" Target="../slideLayouts/slideLayout4.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4.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4.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github.com/antonprafanto/mobile2026/blob/main/pertemuan_11_penyimpanan_lokal/kode/contoh_05_catatan_kuliah_crud.dart" TargetMode="External"/><Relationship Id="rId3" Type="http://schemas.openxmlformats.org/officeDocument/2006/relationships/hyperlink" Target="https://github.com/antonprafanto/mobile2026/blob/main/pertemuan_11_penyimpanan_lokal/kode/contoh_05_catatan_kuliah_crud.dart" TargetMode="External"/><Relationship Id="rId2" Type="http://schemas.openxmlformats.org/officeDocument/2006/relationships/image" Target="../media/image-34-1.png"/><Relationship Id="rId4" Type="http://schemas.openxmlformats.org/officeDocument/2006/relationships/slideLayout" Target="../slideLayouts/slideLayout4.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github.com/antonprafanto/mobile2026/blob/main/pertemuan_11_penyimpanan_lokal/kode/contoh_05_catatan_kuliah_crud.dart" TargetMode="External"/><Relationship Id="rId3" Type="http://schemas.openxmlformats.org/officeDocument/2006/relationships/hyperlink" Target="https://github.com/antonprafanto/mobile2026/blob/main/pertemuan_11_penyimpanan_lokal/kode/contoh_05_catatan_kuliah_crud.dart" TargetMode="External"/><Relationship Id="rId2" Type="http://schemas.openxmlformats.org/officeDocument/2006/relationships/image" Target="../media/image-35-1.png"/><Relationship Id="rId4" Type="http://schemas.openxmlformats.org/officeDocument/2006/relationships/slideLayout" Target="../slideLayouts/slideLayout4.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hyperlink" Target="https://github.com/antonprafanto/mobile2026/blob/main/pertemuan_11_penyimpanan_lokal/kode/contoh_05_catatan_kuliah_crud.dart" TargetMode="External"/><Relationship Id="rId5" Type="http://schemas.openxmlformats.org/officeDocument/2006/relationships/hyperlink" Target="https://github.com/antonprafanto/mobile2026/blob/main/pertemuan_11_penyimpanan_lokal/kode/contoh_05_catatan_kuliah_crud.dart" TargetMode="External"/><Relationship Id="rId1" Type="http://schemas.openxmlformats.org/officeDocument/2006/relationships/image" Target="../media/image-36-1.jpg"/><Relationship Id="rId2" Type="http://schemas.openxmlformats.org/officeDocument/2006/relationships/image" Target="../media/image-36-2.jpg"/><Relationship Id="rId4" Type="http://schemas.openxmlformats.org/officeDocument/2006/relationships/image" Target="../media/image-36-3.png"/><Relationship Id="rId6" Type="http://schemas.openxmlformats.org/officeDocument/2006/relationships/slideLayout" Target="../slideLayouts/slideLayout4.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hyperlink" Target="https://github.com/antonprafanto/mobile2026/blob/main/pertemuan_11_penyimpanan_lokal/kode/contoh_05_catatan_kuliah_crud.dart" TargetMode="External"/><Relationship Id="rId3" Type="http://schemas.openxmlformats.org/officeDocument/2006/relationships/hyperlink" Target="https://github.com/antonprafanto/mobile2026/blob/main/pertemuan_11_penyimpanan_lokal/kode/contoh_05_catatan_kuliah_crud.dart" TargetMode="External"/><Relationship Id="rId2" Type="http://schemas.openxmlformats.org/officeDocument/2006/relationships/image" Target="../media/image-37-1.png"/><Relationship Id="rId4" Type="http://schemas.openxmlformats.org/officeDocument/2006/relationships/slideLayout" Target="../slideLayouts/slideLayout4.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hyperlink" Target="https://github.com/antonprafanto/mobile2026/blob/main/pertemuan_11_penyimpanan_lokal/kode/contoh_06_migrasi_skema.dart" TargetMode="External"/><Relationship Id="rId3" Type="http://schemas.openxmlformats.org/officeDocument/2006/relationships/hyperlink" Target="https://github.com/antonprafanto/mobile2026/blob/main/pertemuan_11_penyimpanan_lokal/kode/contoh_06_migrasi_skema.dart" TargetMode="External"/><Relationship Id="rId2" Type="http://schemas.openxmlformats.org/officeDocument/2006/relationships/image" Target="../media/image-40-1.png"/><Relationship Id="rId4" Type="http://schemas.openxmlformats.org/officeDocument/2006/relationships/slideLayout" Target="../slideLayouts/slideLayout4.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slideLayout" Target="../slideLayouts/slideLayout4.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2" Type="http://schemas.openxmlformats.org/officeDocument/2006/relationships/hyperlink" Target="https://github.com/antonprafanto/mobile2026/blob/main/pertemuan_11_penyimpanan_lokal/kode/contoh_06_migrasi_skema.dart" TargetMode="External"/><Relationship Id="rId4" Type="http://schemas.openxmlformats.org/officeDocument/2006/relationships/hyperlink" Target="https://github.com/antonprafanto/mobile2026/blob/main/pertemuan_11_penyimpanan_lokal/kode/contoh_06_migrasi_skema.dart" TargetMode="External"/><Relationship Id="rId1" Type="http://schemas.openxmlformats.org/officeDocument/2006/relationships/image" Target="../media/image-43-1.jpg"/><Relationship Id="rId3" Type="http://schemas.openxmlformats.org/officeDocument/2006/relationships/image" Target="../media/image-43-2.png"/><Relationship Id="rId5" Type="http://schemas.openxmlformats.org/officeDocument/2006/relationships/slideLayout" Target="../slideLayouts/slideLayout4.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github.com/antonprafanto/mobile2026/blob/main/pertemuan_11_penyimpanan_lokal/kode/contoh_07_transaksi_dan_batch.dart" TargetMode="External"/><Relationship Id="rId3" Type="http://schemas.openxmlformats.org/officeDocument/2006/relationships/hyperlink" Target="https://github.com/antonprafanto/mobile2026/blob/main/pertemuan_11_penyimpanan_lokal/kode/contoh_07_transaksi_dan_batch.dart" TargetMode="External"/><Relationship Id="rId2" Type="http://schemas.openxmlformats.org/officeDocument/2006/relationships/image" Target="../media/image-46-1.png"/><Relationship Id="rId4" Type="http://schemas.openxmlformats.org/officeDocument/2006/relationships/slideLayout" Target="../slideLayouts/slideLayout4.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2" Type="http://schemas.openxmlformats.org/officeDocument/2006/relationships/hyperlink" Target="https://github.com/antonprafanto/mobile2026/blob/main/pertemuan_11_penyimpanan_lokal/kode/contoh_07_transaksi_dan_batch.dart" TargetMode="External"/><Relationship Id="rId4" Type="http://schemas.openxmlformats.org/officeDocument/2006/relationships/hyperlink" Target="https://github.com/antonprafanto/mobile2026/blob/main/pertemuan_11_penyimpanan_lokal/kode/contoh_07_transaksi_dan_batch.dart" TargetMode="External"/><Relationship Id="rId1" Type="http://schemas.openxmlformats.org/officeDocument/2006/relationships/image" Target="../media/image-47-1.jpg"/><Relationship Id="rId3" Type="http://schemas.openxmlformats.org/officeDocument/2006/relationships/image" Target="../media/image-47-2.png"/><Relationship Id="rId5" Type="http://schemas.openxmlformats.org/officeDocument/2006/relationships/slideLayout" Target="../slideLayouts/slideLayout4.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hyperlink" Target="https://github.com/antonprafanto/mobile2026/blob/main/pertemuan_11_penyimpanan_lokal/kode/contoh_07_transaksi_dan_batch.dart" TargetMode="External"/><Relationship Id="rId3" Type="http://schemas.openxmlformats.org/officeDocument/2006/relationships/hyperlink" Target="https://github.com/antonprafanto/mobile2026/blob/main/pertemuan_11_penyimpanan_lokal/kode/contoh_07_transaksi_dan_batch.dart" TargetMode="External"/><Relationship Id="rId2" Type="http://schemas.openxmlformats.org/officeDocument/2006/relationships/image" Target="../media/image-48-1.png"/><Relationship Id="rId4" Type="http://schemas.openxmlformats.org/officeDocument/2006/relationships/slideLayout" Target="../slideLayouts/slideLayout4.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slideLayout" Target="../slideLayouts/slideLayout4.xm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hyperlink" Target="https://github.com/antonprafanto/mobile2026/blob/main/pertemuan_11_penyimpanan_lokal/kode/contoh_08_cache_data_internet.dart" TargetMode="External"/><Relationship Id="rId3" Type="http://schemas.openxmlformats.org/officeDocument/2006/relationships/hyperlink" Target="https://github.com/antonprafanto/mobile2026/blob/main/pertemuan_11_penyimpanan_lokal/kode/contoh_08_cache_data_internet.dart" TargetMode="External"/><Relationship Id="rId2" Type="http://schemas.openxmlformats.org/officeDocument/2006/relationships/image" Target="../media/image-51-1.png"/><Relationship Id="rId4" Type="http://schemas.openxmlformats.org/officeDocument/2006/relationships/slideLayout" Target="../slideLayouts/slideLayout4.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2" Type="http://schemas.openxmlformats.org/officeDocument/2006/relationships/hyperlink" Target="https://github.com/antonprafanto/mobile2026/blob/main/pertemuan_11_penyimpanan_lokal/kode/contoh_08_cache_data_internet.dart" TargetMode="External"/><Relationship Id="rId4" Type="http://schemas.openxmlformats.org/officeDocument/2006/relationships/hyperlink" Target="https://github.com/antonprafanto/mobile2026/blob/main/pertemuan_11_penyimpanan_lokal/kode/contoh_08_cache_data_internet.dart" TargetMode="External"/><Relationship Id="rId1" Type="http://schemas.openxmlformats.org/officeDocument/2006/relationships/image" Target="../media/image-52-1.jpg"/><Relationship Id="rId3" Type="http://schemas.openxmlformats.org/officeDocument/2006/relationships/image" Target="../media/image-52-2.png"/><Relationship Id="rId5" Type="http://schemas.openxmlformats.org/officeDocument/2006/relationships/slideLayout" Target="../slideLayouts/slideLayout4.xml"/><Relationship Id="rId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hyperlink" Target="https://github.com/antonprafanto/mobile2026/blob/main/pertemuan_11_penyimpanan_lokal/kode/contoh_09_studi_kasus_cuaca_luring.dart" TargetMode="External"/><Relationship Id="rId3" Type="http://schemas.openxmlformats.org/officeDocument/2006/relationships/hyperlink" Target="https://github.com/antonprafanto/mobile2026/blob/main/pertemuan_11_penyimpanan_lokal/kode/contoh_09_studi_kasus_cuaca_luring.dart" TargetMode="External"/><Relationship Id="rId2" Type="http://schemas.openxmlformats.org/officeDocument/2006/relationships/image" Target="../media/image-55-1.png"/><Relationship Id="rId4" Type="http://schemas.openxmlformats.org/officeDocument/2006/relationships/slideLayout" Target="../slideLayouts/slideLayout4.xml"/><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hyperlink" Target="https://github.com/antonprafanto/mobile2026/blob/main/pertemuan_11_penyimpanan_lokal/kode/contoh_09_studi_kasus_cuaca_luring.dart" TargetMode="External"/><Relationship Id="rId3" Type="http://schemas.openxmlformats.org/officeDocument/2006/relationships/hyperlink" Target="https://github.com/antonprafanto/mobile2026/blob/main/pertemuan_11_penyimpanan_lokal/kode/contoh_09_studi_kasus_cuaca_luring.dart" TargetMode="External"/><Relationship Id="rId2" Type="http://schemas.openxmlformats.org/officeDocument/2006/relationships/image" Target="../media/image-57-1.png"/><Relationship Id="rId4" Type="http://schemas.openxmlformats.org/officeDocument/2006/relationships/slideLayout" Target="../slideLayouts/slideLayout4.xm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hyperlink" Target="https://github.com/antonprafanto/mobile2026/blob/main/pertemuan_11_penyimpanan_lokal/kode/contoh_09_studi_kasus_cuaca_luring.dart" TargetMode="External"/><Relationship Id="rId3" Type="http://schemas.openxmlformats.org/officeDocument/2006/relationships/hyperlink" Target="https://github.com/antonprafanto/mobile2026/blob/main/pertemuan_11_penyimpanan_lokal/kode/contoh_09_studi_kasus_cuaca_luring.dart" TargetMode="External"/><Relationship Id="rId2" Type="http://schemas.openxmlformats.org/officeDocument/2006/relationships/image" Target="../media/image-58-1.png"/><Relationship Id="rId4" Type="http://schemas.openxmlformats.org/officeDocument/2006/relationships/slideLayout" Target="../slideLayouts/slideLayout4.xml"/><Relationship Id="rId5"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3" Type="http://schemas.openxmlformats.org/officeDocument/2006/relationships/hyperlink" Target="https://github.com/antonprafanto/mobile2026/blob/main/pertemuan_11_penyimpanan_lokal/kode/contoh_09_studi_kasus_cuaca_luring.dart" TargetMode="External"/><Relationship Id="rId5" Type="http://schemas.openxmlformats.org/officeDocument/2006/relationships/hyperlink" Target="https://github.com/antonprafanto/mobile2026/blob/main/pertemuan_11_penyimpanan_lokal/kode/contoh_09_studi_kasus_cuaca_luring.dart" TargetMode="External"/><Relationship Id="rId1" Type="http://schemas.openxmlformats.org/officeDocument/2006/relationships/image" Target="../media/image-60-1.jpg"/><Relationship Id="rId2" Type="http://schemas.openxmlformats.org/officeDocument/2006/relationships/image" Target="../media/image-60-2.jpg"/><Relationship Id="rId4" Type="http://schemas.openxmlformats.org/officeDocument/2006/relationships/image" Target="../media/image-60-3.png"/><Relationship Id="rId6" Type="http://schemas.openxmlformats.org/officeDocument/2006/relationships/slideLayout" Target="../slideLayouts/slideLayout4.xml"/><Relationship Id="rId7"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4.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slideLayout" Target="../slideLayouts/slideLayout4.xm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4.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hyperlink" Target="https://github.com/antonprafanto/mobile2026/blob/main/pertemuan_11_penyimpanan_lokal/JOBSHEET.md" TargetMode="External"/><Relationship Id="rId3" Type="http://schemas.openxmlformats.org/officeDocument/2006/relationships/hyperlink" Target="https://github.com/antonprafanto/mobile2026/blob/main/pertemuan_11_penyimpanan_lokal/JOBSHEET.md" TargetMode="External"/><Relationship Id="rId4" Type="http://schemas.openxmlformats.org/officeDocument/2006/relationships/hyperlink" Target="https://github.com/antonprafanto/mobile2026/blob/main/pertemuan_11_penyimpanan_lokal/LATIHAN.md" TargetMode="External"/><Relationship Id="rId6" Type="http://schemas.openxmlformats.org/officeDocument/2006/relationships/hyperlink" Target="https://github.com/antonprafanto/mobile2026/blob/main/pertemuan_11_penyimpanan_lokal/LATIHAN.md" TargetMode="External"/><Relationship Id="rId7" Type="http://schemas.openxmlformats.org/officeDocument/2006/relationships/hyperlink" Target="https://github.com/antonprafanto/mobile2026/blob/main/panduan/05_proyek_akhir.md" TargetMode="External"/><Relationship Id="rId9" Type="http://schemas.openxmlformats.org/officeDocument/2006/relationships/hyperlink" Target="https://github.com/antonprafanto/mobile2026/blob/main/panduan/05_proyek_akhir.md" TargetMode="External"/><Relationship Id="rId2" Type="http://schemas.openxmlformats.org/officeDocument/2006/relationships/image" Target="../media/image-68-1.png"/><Relationship Id="rId5" Type="http://schemas.openxmlformats.org/officeDocument/2006/relationships/image" Target="../media/image-68-2.png"/><Relationship Id="rId8" Type="http://schemas.openxmlformats.org/officeDocument/2006/relationships/image" Target="../media/image-68-3.png"/><Relationship Id="rId10" Type="http://schemas.openxmlformats.org/officeDocument/2006/relationships/image" Target="../media/image-68-3.png"/><Relationship Id="rId11" Type="http://schemas.openxmlformats.org/officeDocument/2006/relationships/slideLayout" Target="../slideLayouts/slideLayout2.xml"/><Relationship Id="rId12"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Penyimpanan Lokal</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Pertemuan 11  ·  shared_preferences, objek sebagai JSON, SQLite dengan sqflite, CRUD yang aman dengan whereArgs, migrasi versi, transaksi dan batch, cache agar tetap terbaca saat luring, dan menguji tanpa menyentuh data asli</a:t>
            </a:r>
            <a:endParaRPr lang="en-US" sz="2000" dirty="0"/>
          </a:p>
        </p:txBody>
      </p:sp>
      <p:sp>
        <p:nvSpPr>
          <p:cNvPr id="5" name="lingkaran hp"/>
          <p:cNvSpPr/>
          <p:nvPr/>
        </p:nvSpPr>
        <p:spPr>
          <a:xfrm>
            <a:off x="9646920" y="1828800"/>
            <a:ext cx="1737360" cy="1737360"/>
          </a:xfrm>
          <a:prstGeom prst="ellipse">
            <a:avLst/>
          </a:prstGeom>
          <a:solidFill>
            <a:schemeClr val="accent1"/>
          </a:solidFill>
          <a:ln/>
        </p:spPr>
      </p:sp>
      <p:pic>
        <p:nvPicPr>
          <p:cNvPr id="6" name="Image 0" descr="hp">    </p:cNvPr>
          <p:cNvPicPr>
            <a:picLocks noChangeAspect="1"/>
          </p:cNvPicPr>
          <p:nvPr/>
        </p:nvPicPr>
        <p:blipFill>
          <a:blip r:embed="rId1"/>
          <a:stretch>
            <a:fillRect/>
          </a:stretch>
        </p:blipFill>
        <p:spPr>
          <a:xfrm>
            <a:off x="10029139" y="2211019"/>
            <a:ext cx="972922" cy="9729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Tujuan Pembelajaran</a:t>
            </a:r>
            <a:endParaRPr lang="en-US" sz="3200" dirty="0"/>
          </a:p>
        </p:txBody>
      </p:sp>
      <p:sp>
        <p:nvSpPr>
          <p:cNvPr id="4" name="Text 1"/>
          <p:cNvSpPr txBox="1"/>
          <p:nvPr/>
        </p:nvSpPr>
        <p:spPr>
          <a:xfrm>
            <a:off x="548640" y="1325880"/>
            <a:ext cx="11094415" cy="411480"/>
          </a:xfrm>
          <a:prstGeom prst="rect">
            <a:avLst/>
          </a:prstGeom>
          <a:noFill/>
          <a:ln/>
        </p:spPr>
        <p:txBody>
          <a:bodyPr wrap="square" lIns="0" tIns="0" rIns="0" bIns="0" rtlCol="0" anchor="ctr"/>
          <a:lstStyle/>
          <a:p>
            <a:pPr indent="0" marL="0">
              <a:buNone/>
            </a:pPr>
            <a:r>
              <a:rPr lang="en-US" sz="1800" i="1" dirty="0">
                <a:solidFill>
                  <a:srgbClr val="4A5870"/>
                </a:solidFill>
              </a:rPr>
              <a:t>Setelah pertemuan ini, Anda mampu:</a:t>
            </a:r>
            <a:endParaRPr lang="en-US" sz="1800" dirty="0"/>
          </a:p>
        </p:txBody>
      </p:sp>
      <p:sp>
        <p:nvSpPr>
          <p:cNvPr id="5" name="lingkaran centang"/>
          <p:cNvSpPr/>
          <p:nvPr/>
        </p:nvSpPr>
        <p:spPr>
          <a:xfrm>
            <a:off x="548640" y="2011680"/>
            <a:ext cx="594360" cy="594360"/>
          </a:xfrm>
          <a:prstGeom prst="ellipse">
            <a:avLst/>
          </a:prstGeom>
          <a:solidFill>
            <a:schemeClr val="accent4"/>
          </a:solidFill>
          <a:ln/>
        </p:spPr>
      </p:sp>
      <p:pic>
        <p:nvPicPr>
          <p:cNvPr id="6" name="Image 0" descr="centang">    </p:cNvPr>
          <p:cNvPicPr>
            <a:picLocks noChangeAspect="1"/>
          </p:cNvPicPr>
          <p:nvPr/>
        </p:nvPicPr>
        <p:blipFill>
          <a:blip r:embed="rId1"/>
          <a:stretch>
            <a:fillRect/>
          </a:stretch>
        </p:blipFill>
        <p:spPr>
          <a:xfrm>
            <a:off x="679399" y="2142439"/>
            <a:ext cx="332842" cy="332842"/>
          </a:xfrm>
          <a:prstGeom prst="rect">
            <a:avLst/>
          </a:prstGeom>
        </p:spPr>
      </p:pic>
      <p:sp>
        <p:nvSpPr>
          <p:cNvPr id="7" name="Text 3"/>
          <p:cNvSpPr txBox="1"/>
          <p:nvPr/>
        </p:nvSpPr>
        <p:spPr>
          <a:xfrm>
            <a:off x="1325880"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Membedakan data di memori dan di penyimpanan perangkat, lalu memilih tempat yang tepat</a:t>
            </a:r>
            <a:endParaRPr lang="en-US" sz="1900" dirty="0"/>
          </a:p>
        </p:txBody>
      </p:sp>
      <p:sp>
        <p:nvSpPr>
          <p:cNvPr id="8" name="lingkaran centang"/>
          <p:cNvSpPr/>
          <p:nvPr/>
        </p:nvSpPr>
        <p:spPr>
          <a:xfrm>
            <a:off x="548640" y="3086100"/>
            <a:ext cx="594360" cy="594360"/>
          </a:xfrm>
          <a:prstGeom prst="ellipse">
            <a:avLst/>
          </a:prstGeom>
          <a:solidFill>
            <a:schemeClr val="accent4"/>
          </a:solidFill>
          <a:ln/>
        </p:spPr>
      </p:sp>
      <p:pic>
        <p:nvPicPr>
          <p:cNvPr id="9" name="Image 1" descr="centang">    </p:cNvPr>
          <p:cNvPicPr>
            <a:picLocks noChangeAspect="1"/>
          </p:cNvPicPr>
          <p:nvPr/>
        </p:nvPicPr>
        <p:blipFill>
          <a:blip r:embed="rId2"/>
          <a:stretch>
            <a:fillRect/>
          </a:stretch>
        </p:blipFill>
        <p:spPr>
          <a:xfrm>
            <a:off x="679399" y="3216859"/>
            <a:ext cx="332842" cy="332842"/>
          </a:xfrm>
          <a:prstGeom prst="rect">
            <a:avLst/>
          </a:prstGeom>
        </p:spPr>
      </p:pic>
      <p:sp>
        <p:nvSpPr>
          <p:cNvPr id="10" name="Text 5"/>
          <p:cNvSpPr txBox="1"/>
          <p:nvPr/>
        </p:nvSpPr>
        <p:spPr>
          <a:xfrm>
            <a:off x="1325880" y="299466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Menyimpan pengaturan dengan SharedPreferencesAsync dan SharedPreferencesWithCache</a:t>
            </a:r>
            <a:endParaRPr lang="en-US" sz="1900" dirty="0"/>
          </a:p>
        </p:txBody>
      </p:sp>
      <p:sp>
        <p:nvSpPr>
          <p:cNvPr id="11" name="lingkaran centang"/>
          <p:cNvSpPr/>
          <p:nvPr/>
        </p:nvSpPr>
        <p:spPr>
          <a:xfrm>
            <a:off x="548640" y="4160520"/>
            <a:ext cx="594360" cy="594360"/>
          </a:xfrm>
          <a:prstGeom prst="ellipse">
            <a:avLst/>
          </a:prstGeom>
          <a:solidFill>
            <a:schemeClr val="accent4"/>
          </a:solidFill>
          <a:ln/>
        </p:spPr>
      </p:sp>
      <p:pic>
        <p:nvPicPr>
          <p:cNvPr id="12" name="Image 2" descr="centang">    </p:cNvPr>
          <p:cNvPicPr>
            <a:picLocks noChangeAspect="1"/>
          </p:cNvPicPr>
          <p:nvPr/>
        </p:nvPicPr>
        <p:blipFill>
          <a:blip r:embed="rId3"/>
          <a:stretch>
            <a:fillRect/>
          </a:stretch>
        </p:blipFill>
        <p:spPr>
          <a:xfrm>
            <a:off x="679399" y="4291279"/>
            <a:ext cx="332842" cy="332842"/>
          </a:xfrm>
          <a:prstGeom prst="rect">
            <a:avLst/>
          </a:prstGeom>
        </p:spPr>
      </p:pic>
      <p:sp>
        <p:nvSpPr>
          <p:cNvPr id="13" name="Text 7"/>
          <p:cNvSpPr txBox="1"/>
          <p:nvPr/>
        </p:nvSpPr>
        <p:spPr>
          <a:xfrm>
            <a:off x="1325880" y="406908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Menyimpan enum, waktu, daftar teks, dan objek kecil (JSON)</a:t>
            </a:r>
            <a:endParaRPr lang="en-US" sz="1900" dirty="0"/>
          </a:p>
        </p:txBody>
      </p:sp>
      <p:sp>
        <p:nvSpPr>
          <p:cNvPr id="14" name="lingkaran centang"/>
          <p:cNvSpPr/>
          <p:nvPr/>
        </p:nvSpPr>
        <p:spPr>
          <a:xfrm>
            <a:off x="548640" y="5234940"/>
            <a:ext cx="594360" cy="594360"/>
          </a:xfrm>
          <a:prstGeom prst="ellipse">
            <a:avLst/>
          </a:prstGeom>
          <a:solidFill>
            <a:schemeClr val="accent4"/>
          </a:solidFill>
          <a:ln/>
        </p:spPr>
      </p:sp>
      <p:pic>
        <p:nvPicPr>
          <p:cNvPr id="15" name="Image 3" descr="centang">    </p:cNvPr>
          <p:cNvPicPr>
            <a:picLocks noChangeAspect="1"/>
          </p:cNvPicPr>
          <p:nvPr/>
        </p:nvPicPr>
        <p:blipFill>
          <a:blip r:embed="rId4"/>
          <a:stretch>
            <a:fillRect/>
          </a:stretch>
        </p:blipFill>
        <p:spPr>
          <a:xfrm>
            <a:off x="679399" y="5365699"/>
            <a:ext cx="332842" cy="332842"/>
          </a:xfrm>
          <a:prstGeom prst="rect">
            <a:avLst/>
          </a:prstGeom>
        </p:spPr>
      </p:pic>
      <p:sp>
        <p:nvSpPr>
          <p:cNvPr id="16" name="Text 9"/>
          <p:cNvSpPr txBox="1"/>
          <p:nvPr/>
        </p:nvSpPr>
        <p:spPr>
          <a:xfrm>
            <a:off x="1325880" y="514350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Membuat tabel SQLite dan menjalankan CRUD dengan sqflite secara aman (whereArgs)</a:t>
            </a:r>
            <a:endParaRPr lang="en-US" sz="1900" dirty="0"/>
          </a:p>
        </p:txBody>
      </p:sp>
      <p:sp>
        <p:nvSpPr>
          <p:cNvPr id="17" name="lingkaran centang"/>
          <p:cNvSpPr/>
          <p:nvPr/>
        </p:nvSpPr>
        <p:spPr>
          <a:xfrm>
            <a:off x="6278728" y="2011680"/>
            <a:ext cx="594360" cy="594360"/>
          </a:xfrm>
          <a:prstGeom prst="ellipse">
            <a:avLst/>
          </a:prstGeom>
          <a:solidFill>
            <a:schemeClr val="accent4"/>
          </a:solidFill>
          <a:ln/>
        </p:spPr>
      </p:sp>
      <p:pic>
        <p:nvPicPr>
          <p:cNvPr id="18" name="Image 4" descr="centang">    </p:cNvPr>
          <p:cNvPicPr>
            <a:picLocks noChangeAspect="1"/>
          </p:cNvPicPr>
          <p:nvPr/>
        </p:nvPicPr>
        <p:blipFill>
          <a:blip r:embed="rId5"/>
          <a:stretch>
            <a:fillRect/>
          </a:stretch>
        </p:blipFill>
        <p:spPr>
          <a:xfrm>
            <a:off x="6409487" y="2142439"/>
            <a:ext cx="332842" cy="332842"/>
          </a:xfrm>
          <a:prstGeom prst="rect">
            <a:avLst/>
          </a:prstGeom>
        </p:spPr>
      </p:pic>
      <p:sp>
        <p:nvSpPr>
          <p:cNvPr id="19" name="Text 11"/>
          <p:cNvSpPr txBox="1"/>
          <p:nvPr/>
        </p:nvSpPr>
        <p:spPr>
          <a:xfrm>
            <a:off x="7055968"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Mengubah struktur tabel dengan versi dan migrasi tanpa menghapus data</a:t>
            </a:r>
            <a:endParaRPr lang="en-US" sz="1900" dirty="0"/>
          </a:p>
        </p:txBody>
      </p:sp>
      <p:sp>
        <p:nvSpPr>
          <p:cNvPr id="20" name="lingkaran centang"/>
          <p:cNvSpPr/>
          <p:nvPr/>
        </p:nvSpPr>
        <p:spPr>
          <a:xfrm>
            <a:off x="6278728" y="3086100"/>
            <a:ext cx="594360" cy="594360"/>
          </a:xfrm>
          <a:prstGeom prst="ellipse">
            <a:avLst/>
          </a:prstGeom>
          <a:solidFill>
            <a:schemeClr val="accent4"/>
          </a:solidFill>
          <a:ln/>
        </p:spPr>
      </p:sp>
      <p:pic>
        <p:nvPicPr>
          <p:cNvPr id="21" name="Image 5" descr="centang">    </p:cNvPr>
          <p:cNvPicPr>
            <a:picLocks noChangeAspect="1"/>
          </p:cNvPicPr>
          <p:nvPr/>
        </p:nvPicPr>
        <p:blipFill>
          <a:blip r:embed="rId6"/>
          <a:stretch>
            <a:fillRect/>
          </a:stretch>
        </p:blipFill>
        <p:spPr>
          <a:xfrm>
            <a:off x="6409487" y="3216859"/>
            <a:ext cx="332842" cy="332842"/>
          </a:xfrm>
          <a:prstGeom prst="rect">
            <a:avLst/>
          </a:prstGeom>
        </p:spPr>
      </p:pic>
      <p:sp>
        <p:nvSpPr>
          <p:cNvPr id="22" name="Text 13"/>
          <p:cNvSpPr txBox="1"/>
          <p:nvPr/>
        </p:nvSpPr>
        <p:spPr>
          <a:xfrm>
            <a:off x="7055968" y="299466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Menjaga keutuhan data dengan transaksi, dan mempercepatnya dengan batch</a:t>
            </a:r>
            <a:endParaRPr lang="en-US" sz="1900" dirty="0"/>
          </a:p>
        </p:txBody>
      </p:sp>
      <p:sp>
        <p:nvSpPr>
          <p:cNvPr id="23" name="lingkaran centang"/>
          <p:cNvSpPr/>
          <p:nvPr/>
        </p:nvSpPr>
        <p:spPr>
          <a:xfrm>
            <a:off x="6278728" y="4160520"/>
            <a:ext cx="594360" cy="594360"/>
          </a:xfrm>
          <a:prstGeom prst="ellipse">
            <a:avLst/>
          </a:prstGeom>
          <a:solidFill>
            <a:schemeClr val="accent4"/>
          </a:solidFill>
          <a:ln/>
        </p:spPr>
      </p:sp>
      <p:pic>
        <p:nvPicPr>
          <p:cNvPr id="24" name="Image 6" descr="centang">    </p:cNvPr>
          <p:cNvPicPr>
            <a:picLocks noChangeAspect="1"/>
          </p:cNvPicPr>
          <p:nvPr/>
        </p:nvPicPr>
        <p:blipFill>
          <a:blip r:embed="rId7"/>
          <a:stretch>
            <a:fillRect/>
          </a:stretch>
        </p:blipFill>
        <p:spPr>
          <a:xfrm>
            <a:off x="6409487" y="4291279"/>
            <a:ext cx="332842" cy="332842"/>
          </a:xfrm>
          <a:prstGeom prst="rect">
            <a:avLst/>
          </a:prstGeom>
        </p:spPr>
      </p:pic>
      <p:sp>
        <p:nvSpPr>
          <p:cNvPr id="25" name="Text 15"/>
          <p:cNvSpPr txBox="1"/>
          <p:nvPr/>
        </p:nvSpPr>
        <p:spPr>
          <a:xfrm>
            <a:off x="7055968" y="406908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Menerapkan cache agar data internet tetap terbaca saat luring</a:t>
            </a:r>
            <a:endParaRPr lang="en-US" sz="19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Peta Materi Hari Ini</a:t>
            </a:r>
            <a:endParaRPr lang="en-US" sz="3200" dirty="0"/>
          </a:p>
        </p:txBody>
      </p:sp>
      <p:sp>
        <p:nvSpPr>
          <p:cNvPr id="4" name="langkah 1"/>
          <p:cNvSpPr/>
          <p:nvPr/>
        </p:nvSpPr>
        <p:spPr>
          <a:xfrm>
            <a:off x="548640" y="1828800"/>
            <a:ext cx="1962851" cy="3566160"/>
          </a:xfrm>
          <a:prstGeom prst="roundRect">
            <a:avLst>
              <a:gd name="adj" fmla="val 6988"/>
            </a:avLst>
          </a:prstGeom>
          <a:solidFill>
            <a:schemeClr val="bg2"/>
          </a:solidFill>
          <a:ln/>
        </p:spPr>
      </p:sp>
      <p:sp>
        <p:nvSpPr>
          <p:cNvPr id="5" name="lingkaran memori"/>
          <p:cNvSpPr/>
          <p:nvPr/>
        </p:nvSpPr>
        <p:spPr>
          <a:xfrm>
            <a:off x="1095726" y="2103120"/>
            <a:ext cx="868680" cy="868680"/>
          </a:xfrm>
          <a:prstGeom prst="ellipse">
            <a:avLst/>
          </a:prstGeom>
          <a:solidFill>
            <a:schemeClr val="accent1"/>
          </a:solidFill>
          <a:ln/>
        </p:spPr>
      </p:sp>
      <p:pic>
        <p:nvPicPr>
          <p:cNvPr id="6" name="Image 0" descr="memori">    </p:cNvPr>
          <p:cNvPicPr>
            <a:picLocks noChangeAspect="1"/>
          </p:cNvPicPr>
          <p:nvPr/>
        </p:nvPicPr>
        <p:blipFill>
          <a:blip r:embed="rId1"/>
          <a:stretch>
            <a:fillRect/>
          </a:stretch>
        </p:blipFill>
        <p:spPr>
          <a:xfrm>
            <a:off x="1286835" y="2294230"/>
            <a:ext cx="486461" cy="486461"/>
          </a:xfrm>
          <a:prstGeom prst="rect">
            <a:avLst/>
          </a:prstGeom>
        </p:spPr>
      </p:pic>
      <p:sp>
        <p:nvSpPr>
          <p:cNvPr id="7" name="Text 3"/>
          <p:cNvSpPr txBox="1"/>
          <p:nvPr/>
        </p:nvSpPr>
        <p:spPr>
          <a:xfrm>
            <a:off x="658368"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8" name="Text 4"/>
          <p:cNvSpPr txBox="1"/>
          <p:nvPr/>
        </p:nvSpPr>
        <p:spPr>
          <a:xfrm>
            <a:off x="685800"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A. Memori vs penyimpanan</a:t>
            </a:r>
            <a:endParaRPr lang="en-US" sz="1700" dirty="0"/>
          </a:p>
        </p:txBody>
      </p:sp>
      <p:sp>
        <p:nvSpPr>
          <p:cNvPr id="9" name="Text 5"/>
          <p:cNvSpPr txBox="1"/>
          <p:nvPr/>
        </p:nvSpPr>
        <p:spPr>
          <a:xfrm>
            <a:off x="685800"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Mengapa data hilang, dan di mana menyimpannya (Bagian 1)</a:t>
            </a:r>
            <a:endParaRPr lang="en-US" sz="1400" dirty="0"/>
          </a:p>
        </p:txBody>
      </p:sp>
      <p:sp>
        <p:nvSpPr>
          <p:cNvPr id="10" name="Shape 6"/>
          <p:cNvSpPr/>
          <p:nvPr/>
        </p:nvSpPr>
        <p:spPr>
          <a:xfrm>
            <a:off x="2548067" y="2395728"/>
            <a:ext cx="246888" cy="274320"/>
          </a:xfrm>
          <a:prstGeom prst="rightArrow">
            <a:avLst/>
          </a:prstGeom>
          <a:solidFill>
            <a:schemeClr val="accent2"/>
          </a:solidFill>
          <a:ln/>
        </p:spPr>
      </p:sp>
      <p:sp>
        <p:nvSpPr>
          <p:cNvPr id="11" name="langkah 2"/>
          <p:cNvSpPr/>
          <p:nvPr/>
        </p:nvSpPr>
        <p:spPr>
          <a:xfrm>
            <a:off x="2831531" y="1828800"/>
            <a:ext cx="1962851" cy="3566160"/>
          </a:xfrm>
          <a:prstGeom prst="roundRect">
            <a:avLst>
              <a:gd name="adj" fmla="val 6988"/>
            </a:avLst>
          </a:prstGeom>
          <a:solidFill>
            <a:schemeClr val="bg2"/>
          </a:solidFill>
          <a:ln/>
        </p:spPr>
      </p:sp>
      <p:sp>
        <p:nvSpPr>
          <p:cNvPr id="12" name="lingkaran kunci"/>
          <p:cNvSpPr/>
          <p:nvPr/>
        </p:nvSpPr>
        <p:spPr>
          <a:xfrm>
            <a:off x="3378617" y="2103120"/>
            <a:ext cx="868680" cy="868680"/>
          </a:xfrm>
          <a:prstGeom prst="ellipse">
            <a:avLst/>
          </a:prstGeom>
          <a:solidFill>
            <a:schemeClr val="accent1"/>
          </a:solidFill>
          <a:ln/>
        </p:spPr>
      </p:sp>
      <p:pic>
        <p:nvPicPr>
          <p:cNvPr id="13" name="Image 1" descr="kunci">    </p:cNvPr>
          <p:cNvPicPr>
            <a:picLocks noChangeAspect="1"/>
          </p:cNvPicPr>
          <p:nvPr/>
        </p:nvPicPr>
        <p:blipFill>
          <a:blip r:embed="rId2"/>
          <a:stretch>
            <a:fillRect/>
          </a:stretch>
        </p:blipFill>
        <p:spPr>
          <a:xfrm>
            <a:off x="3569726" y="2294230"/>
            <a:ext cx="486461" cy="486461"/>
          </a:xfrm>
          <a:prstGeom prst="rect">
            <a:avLst/>
          </a:prstGeom>
        </p:spPr>
      </p:pic>
      <p:sp>
        <p:nvSpPr>
          <p:cNvPr id="14" name="Text 9"/>
          <p:cNvSpPr txBox="1"/>
          <p:nvPr/>
        </p:nvSpPr>
        <p:spPr>
          <a:xfrm>
            <a:off x="2941259"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5" name="Text 10"/>
          <p:cNvSpPr txBox="1"/>
          <p:nvPr/>
        </p:nvSpPr>
        <p:spPr>
          <a:xfrm>
            <a:off x="2968691"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B. Pengaturan kecil</a:t>
            </a:r>
            <a:endParaRPr lang="en-US" sz="1700" dirty="0"/>
          </a:p>
        </p:txBody>
      </p:sp>
      <p:sp>
        <p:nvSpPr>
          <p:cNvPr id="16" name="Text 11"/>
          <p:cNvSpPr txBox="1"/>
          <p:nvPr/>
        </p:nvSpPr>
        <p:spPr>
          <a:xfrm>
            <a:off x="2968691"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shared_preferences: enum, JSON, debounce (2–4)</a:t>
            </a:r>
            <a:endParaRPr lang="en-US" sz="1400" dirty="0"/>
          </a:p>
        </p:txBody>
      </p:sp>
      <p:sp>
        <p:nvSpPr>
          <p:cNvPr id="17" name="Shape 12"/>
          <p:cNvSpPr/>
          <p:nvPr/>
        </p:nvSpPr>
        <p:spPr>
          <a:xfrm>
            <a:off x="4830958" y="2395728"/>
            <a:ext cx="246888" cy="274320"/>
          </a:xfrm>
          <a:prstGeom prst="rightArrow">
            <a:avLst/>
          </a:prstGeom>
          <a:solidFill>
            <a:schemeClr val="accent2"/>
          </a:solidFill>
          <a:ln/>
        </p:spPr>
      </p:sp>
      <p:sp>
        <p:nvSpPr>
          <p:cNvPr id="18" name="langkah 3"/>
          <p:cNvSpPr/>
          <p:nvPr/>
        </p:nvSpPr>
        <p:spPr>
          <a:xfrm>
            <a:off x="5114422" y="1828800"/>
            <a:ext cx="1962851" cy="3566160"/>
          </a:xfrm>
          <a:prstGeom prst="roundRect">
            <a:avLst>
              <a:gd name="adj" fmla="val 6988"/>
            </a:avLst>
          </a:prstGeom>
          <a:solidFill>
            <a:schemeClr val="bg2"/>
          </a:solidFill>
          <a:ln/>
        </p:spPr>
      </p:sp>
      <p:sp>
        <p:nvSpPr>
          <p:cNvPr id="19" name="lingkaran tabel"/>
          <p:cNvSpPr/>
          <p:nvPr/>
        </p:nvSpPr>
        <p:spPr>
          <a:xfrm>
            <a:off x="5661508" y="2103120"/>
            <a:ext cx="868680" cy="868680"/>
          </a:xfrm>
          <a:prstGeom prst="ellipse">
            <a:avLst/>
          </a:prstGeom>
          <a:solidFill>
            <a:schemeClr val="accent1"/>
          </a:solidFill>
          <a:ln/>
        </p:spPr>
      </p:sp>
      <p:pic>
        <p:nvPicPr>
          <p:cNvPr id="20" name="Image 2" descr="tabel">    </p:cNvPr>
          <p:cNvPicPr>
            <a:picLocks noChangeAspect="1"/>
          </p:cNvPicPr>
          <p:nvPr/>
        </p:nvPicPr>
        <p:blipFill>
          <a:blip r:embed="rId3"/>
          <a:stretch>
            <a:fillRect/>
          </a:stretch>
        </p:blipFill>
        <p:spPr>
          <a:xfrm>
            <a:off x="5852617" y="2294230"/>
            <a:ext cx="486461" cy="486461"/>
          </a:xfrm>
          <a:prstGeom prst="rect">
            <a:avLst/>
          </a:prstGeom>
        </p:spPr>
      </p:pic>
      <p:sp>
        <p:nvSpPr>
          <p:cNvPr id="21" name="Text 15"/>
          <p:cNvSpPr txBox="1"/>
          <p:nvPr/>
        </p:nvSpPr>
        <p:spPr>
          <a:xfrm>
            <a:off x="5224150"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2" name="Text 16"/>
          <p:cNvSpPr txBox="1"/>
          <p:nvPr/>
        </p:nvSpPr>
        <p:spPr>
          <a:xfrm>
            <a:off x="5251582"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C. SQLite &amp; sqflite</a:t>
            </a:r>
            <a:endParaRPr lang="en-US" sz="1700" dirty="0"/>
          </a:p>
        </p:txBody>
      </p:sp>
      <p:sp>
        <p:nvSpPr>
          <p:cNvPr id="23" name="Text 17"/>
          <p:cNvSpPr txBox="1"/>
          <p:nvPr/>
        </p:nvSpPr>
        <p:spPr>
          <a:xfrm>
            <a:off x="5251582"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CRUD, whereArgs, MVVM, migrasi, transaksi, batch (5–9)</a:t>
            </a:r>
            <a:endParaRPr lang="en-US" sz="1400" dirty="0"/>
          </a:p>
        </p:txBody>
      </p:sp>
      <p:sp>
        <p:nvSpPr>
          <p:cNvPr id="24" name="Shape 18"/>
          <p:cNvSpPr/>
          <p:nvPr/>
        </p:nvSpPr>
        <p:spPr>
          <a:xfrm>
            <a:off x="7113849" y="2395728"/>
            <a:ext cx="246888" cy="274320"/>
          </a:xfrm>
          <a:prstGeom prst="rightArrow">
            <a:avLst/>
          </a:prstGeom>
          <a:solidFill>
            <a:schemeClr val="accent2"/>
          </a:solidFill>
          <a:ln/>
        </p:spPr>
      </p:sp>
      <p:sp>
        <p:nvSpPr>
          <p:cNvPr id="25" name="langkah 4"/>
          <p:cNvSpPr/>
          <p:nvPr/>
        </p:nvSpPr>
        <p:spPr>
          <a:xfrm>
            <a:off x="7397313" y="1828800"/>
            <a:ext cx="1962851" cy="3566160"/>
          </a:xfrm>
          <a:prstGeom prst="roundRect">
            <a:avLst>
              <a:gd name="adj" fmla="val 6988"/>
            </a:avLst>
          </a:prstGeom>
          <a:solidFill>
            <a:schemeClr val="bg2"/>
          </a:solidFill>
          <a:ln/>
        </p:spPr>
      </p:sp>
      <p:sp>
        <p:nvSpPr>
          <p:cNvPr id="26" name="lingkaran luring"/>
          <p:cNvSpPr/>
          <p:nvPr/>
        </p:nvSpPr>
        <p:spPr>
          <a:xfrm>
            <a:off x="7944399" y="2103120"/>
            <a:ext cx="868680" cy="868680"/>
          </a:xfrm>
          <a:prstGeom prst="ellipse">
            <a:avLst/>
          </a:prstGeom>
          <a:solidFill>
            <a:schemeClr val="accent1"/>
          </a:solidFill>
          <a:ln/>
        </p:spPr>
      </p:sp>
      <p:pic>
        <p:nvPicPr>
          <p:cNvPr id="27" name="Image 3" descr="luring">    </p:cNvPr>
          <p:cNvPicPr>
            <a:picLocks noChangeAspect="1"/>
          </p:cNvPicPr>
          <p:nvPr/>
        </p:nvPicPr>
        <p:blipFill>
          <a:blip r:embed="rId4"/>
          <a:stretch>
            <a:fillRect/>
          </a:stretch>
        </p:blipFill>
        <p:spPr>
          <a:xfrm>
            <a:off x="8135508" y="2294230"/>
            <a:ext cx="486461" cy="486461"/>
          </a:xfrm>
          <a:prstGeom prst="rect">
            <a:avLst/>
          </a:prstGeom>
        </p:spPr>
      </p:pic>
      <p:sp>
        <p:nvSpPr>
          <p:cNvPr id="28" name="Text 21"/>
          <p:cNvSpPr txBox="1"/>
          <p:nvPr/>
        </p:nvSpPr>
        <p:spPr>
          <a:xfrm>
            <a:off x="7507041"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29" name="Text 22"/>
          <p:cNvSpPr txBox="1"/>
          <p:nvPr/>
        </p:nvSpPr>
        <p:spPr>
          <a:xfrm>
            <a:off x="7534473"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D. Cache &amp; luring</a:t>
            </a:r>
            <a:endParaRPr lang="en-US" sz="1700" dirty="0"/>
          </a:p>
        </p:txBody>
      </p:sp>
      <p:sp>
        <p:nvSpPr>
          <p:cNvPr id="30" name="Text 23"/>
          <p:cNvSpPr txBox="1"/>
          <p:nvPr/>
        </p:nvSpPr>
        <p:spPr>
          <a:xfrm>
            <a:off x="7534473"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Data internet tetap terbaca; studi kasus cuaca (10–11)</a:t>
            </a:r>
            <a:endParaRPr lang="en-US" sz="1400" dirty="0"/>
          </a:p>
        </p:txBody>
      </p:sp>
      <p:sp>
        <p:nvSpPr>
          <p:cNvPr id="31" name="Shape 24"/>
          <p:cNvSpPr/>
          <p:nvPr/>
        </p:nvSpPr>
        <p:spPr>
          <a:xfrm>
            <a:off x="9396740" y="2395728"/>
            <a:ext cx="246888" cy="274320"/>
          </a:xfrm>
          <a:prstGeom prst="rightArrow">
            <a:avLst/>
          </a:prstGeom>
          <a:solidFill>
            <a:schemeClr val="accent2"/>
          </a:solidFill>
          <a:ln/>
        </p:spPr>
      </p:sp>
      <p:sp>
        <p:nvSpPr>
          <p:cNvPr id="32" name="langkah 5"/>
          <p:cNvSpPr/>
          <p:nvPr/>
        </p:nvSpPr>
        <p:spPr>
          <a:xfrm>
            <a:off x="9680204" y="1828800"/>
            <a:ext cx="1962851" cy="3566160"/>
          </a:xfrm>
          <a:prstGeom prst="roundRect">
            <a:avLst>
              <a:gd name="adj" fmla="val 6988"/>
            </a:avLst>
          </a:prstGeom>
          <a:solidFill>
            <a:schemeClr val="bg2"/>
          </a:solidFill>
          <a:ln/>
        </p:spPr>
      </p:sp>
      <p:sp>
        <p:nvSpPr>
          <p:cNvPr id="33" name="lingkaran perisai"/>
          <p:cNvSpPr/>
          <p:nvPr/>
        </p:nvSpPr>
        <p:spPr>
          <a:xfrm>
            <a:off x="10227290" y="2103120"/>
            <a:ext cx="868680" cy="868680"/>
          </a:xfrm>
          <a:prstGeom prst="ellipse">
            <a:avLst/>
          </a:prstGeom>
          <a:solidFill>
            <a:schemeClr val="accent4"/>
          </a:solidFill>
          <a:ln/>
        </p:spPr>
      </p:sp>
      <p:pic>
        <p:nvPicPr>
          <p:cNvPr id="34" name="Image 4" descr="perisai">    </p:cNvPr>
          <p:cNvPicPr>
            <a:picLocks noChangeAspect="1"/>
          </p:cNvPicPr>
          <p:nvPr/>
        </p:nvPicPr>
        <p:blipFill>
          <a:blip r:embed="rId5"/>
          <a:stretch>
            <a:fillRect/>
          </a:stretch>
        </p:blipFill>
        <p:spPr>
          <a:xfrm>
            <a:off x="10418399" y="2294230"/>
            <a:ext cx="486461" cy="486461"/>
          </a:xfrm>
          <a:prstGeom prst="rect">
            <a:avLst/>
          </a:prstGeom>
        </p:spPr>
      </p:pic>
      <p:sp>
        <p:nvSpPr>
          <p:cNvPr id="35" name="Text 27"/>
          <p:cNvSpPr txBox="1"/>
          <p:nvPr/>
        </p:nvSpPr>
        <p:spPr>
          <a:xfrm>
            <a:off x="9789932"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6" name="Text 28"/>
          <p:cNvSpPr txBox="1"/>
          <p:nvPr/>
        </p:nvSpPr>
        <p:spPr>
          <a:xfrm>
            <a:off x="9817364"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E. Memeriksa &amp; aman</a:t>
            </a:r>
            <a:endParaRPr lang="en-US" sz="1700" dirty="0"/>
          </a:p>
        </p:txBody>
      </p:sp>
      <p:sp>
        <p:nvSpPr>
          <p:cNvPr id="37" name="Text 29"/>
          <p:cNvSpPr txBox="1"/>
          <p:nvPr/>
        </p:nvSpPr>
        <p:spPr>
          <a:xfrm>
            <a:off x="9817364"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DevTools, pengujian, keamanan (12–13)</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Mengapa Data Hilang Saat Aplikasi Ditutup?</a:t>
            </a:r>
            <a:endParaRPr lang="en-US" sz="4000" dirty="0"/>
          </a:p>
        </p:txBody>
      </p:sp>
      <p:sp>
        <p:nvSpPr>
          <p:cNvPr id="5" name="lingkaran memori"/>
          <p:cNvSpPr/>
          <p:nvPr/>
        </p:nvSpPr>
        <p:spPr>
          <a:xfrm>
            <a:off x="1097280" y="2148840"/>
            <a:ext cx="2011680" cy="2011680"/>
          </a:xfrm>
          <a:prstGeom prst="ellipse">
            <a:avLst/>
          </a:prstGeom>
          <a:solidFill>
            <a:schemeClr val="accent1"/>
          </a:solidFill>
          <a:ln/>
        </p:spPr>
      </p:sp>
      <p:pic>
        <p:nvPicPr>
          <p:cNvPr id="6" name="Image 0" descr="memori">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Papan Tulis dan Buku Catatan</a:t>
            </a:r>
            <a:endParaRPr lang="en-US" sz="3200" dirty="0"/>
          </a:p>
        </p:txBody>
      </p:sp>
      <p:sp>
        <p:nvSpPr>
          <p:cNvPr id="4" name="kolom 1"/>
          <p:cNvSpPr/>
          <p:nvPr/>
        </p:nvSpPr>
        <p:spPr>
          <a:xfrm>
            <a:off x="548640" y="1371600"/>
            <a:ext cx="5387188" cy="3931920"/>
          </a:xfrm>
          <a:prstGeom prst="roundRect">
            <a:avLst>
              <a:gd name="adj" fmla="val 2791"/>
            </a:avLst>
          </a:prstGeom>
          <a:solidFill>
            <a:schemeClr val="bg2"/>
          </a:solidFill>
          <a:ln/>
        </p:spPr>
      </p:sp>
      <p:sp>
        <p:nvSpPr>
          <p:cNvPr id="5" name="lingkaran memori"/>
          <p:cNvSpPr/>
          <p:nvPr/>
        </p:nvSpPr>
        <p:spPr>
          <a:xfrm>
            <a:off x="777240" y="1600200"/>
            <a:ext cx="685800" cy="685800"/>
          </a:xfrm>
          <a:prstGeom prst="ellipse">
            <a:avLst/>
          </a:prstGeom>
          <a:solidFill>
            <a:schemeClr val="accent5"/>
          </a:solidFill>
          <a:ln/>
        </p:spPr>
      </p:sp>
      <p:pic>
        <p:nvPicPr>
          <p:cNvPr id="6" name="Image 0" descr="memori">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Memori (RAM) = papan tulis</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5"/>
                </a:solidFill>
              </a:rPr>
              <a:t>Cepat, tetapi dihapus saat kelas selesai</a:t>
            </a:r>
            <a:endParaRPr lang="en-US" sz="1400" dirty="0"/>
          </a:p>
        </p:txBody>
      </p:sp>
      <p:sp>
        <p:nvSpPr>
          <p:cNvPr id="9" name="daftar poin"/>
          <p:cNvSpPr txBox="1"/>
          <p:nvPr/>
        </p:nvSpPr>
        <p:spPr>
          <a:xfrm>
            <a:off x="777240"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Tempat semua variabel Dart, seperti _jumlah atau _daftar</a:t>
            </a:r>
            <a:endParaRPr lang="en-US" sz="1600" dirty="0"/>
          </a:p>
          <a:p>
            <a:pPr marL="228600" indent="-228600">
              <a:spcAft>
                <a:spcPts val="800"/>
              </a:spcAft>
              <a:buSzPct val="100000"/>
              <a:buChar char="•"/>
            </a:pPr>
            <a:r>
              <a:rPr lang="en-US" sz="1600" dirty="0">
                <a:solidFill>
                  <a:schemeClr val="tx1"/>
                </a:solidFill>
              </a:rPr>
              <a:t>Kosong lagi saat aplikasi ditutup, di-hot restart, atau "dibunuh" sistem</a:t>
            </a:r>
            <a:endParaRPr lang="en-US" sz="1600" dirty="0"/>
          </a:p>
        </p:txBody>
      </p:sp>
      <p:sp>
        <p:nvSpPr>
          <p:cNvPr id="10" name="kolom 2"/>
          <p:cNvSpPr/>
          <p:nvPr/>
        </p:nvSpPr>
        <p:spPr>
          <a:xfrm>
            <a:off x="6255868" y="1371600"/>
            <a:ext cx="5387188" cy="3931920"/>
          </a:xfrm>
          <a:prstGeom prst="roundRect">
            <a:avLst>
              <a:gd name="adj" fmla="val 2791"/>
            </a:avLst>
          </a:prstGeom>
          <a:solidFill>
            <a:srgbClr val="E3F2FD"/>
          </a:solidFill>
          <a:ln w="25400">
            <a:solidFill>
              <a:schemeClr val="accent1"/>
            </a:solidFill>
            <a:prstDash val="solid"/>
          </a:ln>
        </p:spPr>
      </p:sp>
      <p:sp>
        <p:nvSpPr>
          <p:cNvPr id="11" name="lingkaran disket"/>
          <p:cNvSpPr/>
          <p:nvPr/>
        </p:nvSpPr>
        <p:spPr>
          <a:xfrm>
            <a:off x="6484468" y="1600200"/>
            <a:ext cx="685800" cy="685800"/>
          </a:xfrm>
          <a:prstGeom prst="ellipse">
            <a:avLst/>
          </a:prstGeom>
          <a:solidFill>
            <a:schemeClr val="accent4"/>
          </a:solidFill>
          <a:ln/>
        </p:spPr>
      </p:sp>
      <p:pic>
        <p:nvPicPr>
          <p:cNvPr id="12" name="Image 1" descr="disket">    </p:cNvPr>
          <p:cNvPicPr>
            <a:picLocks noChangeAspect="1"/>
          </p:cNvPicPr>
          <p:nvPr/>
        </p:nvPicPr>
        <p:blipFill>
          <a:blip r:embed="rId2"/>
          <a:stretch>
            <a:fillRect/>
          </a:stretch>
        </p:blipFill>
        <p:spPr>
          <a:xfrm>
            <a:off x="6635344" y="1751076"/>
            <a:ext cx="384048" cy="384048"/>
          </a:xfrm>
          <a:prstGeom prst="rect">
            <a:avLst/>
          </a:prstGeom>
        </p:spPr>
      </p:pic>
      <p:sp>
        <p:nvSpPr>
          <p:cNvPr id="13" name="Text 8"/>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Penyimpanan perangkat = buku catatan</a:t>
            </a:r>
            <a:endParaRPr lang="en-US" sz="1900" dirty="0"/>
          </a:p>
        </p:txBody>
      </p:sp>
      <p:sp>
        <p:nvSpPr>
          <p:cNvPr id="14" name="Text 9"/>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4"/>
                </a:solidFill>
              </a:rPr>
              <a:t>Butuh sedikit waktu, tetapi isinya tetap ada</a:t>
            </a:r>
            <a:endParaRPr lang="en-US" sz="1400" dirty="0"/>
          </a:p>
        </p:txBody>
      </p:sp>
      <p:sp>
        <p:nvSpPr>
          <p:cNvPr id="15" name="daftar poin"/>
          <p:cNvSpPr txBox="1"/>
          <p:nvPr/>
        </p:nvSpPr>
        <p:spPr>
          <a:xfrm>
            <a:off x="6484468"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Berkas di HP, atau penyimpanan milik browser</a:t>
            </a:r>
            <a:endParaRPr lang="en-US" sz="1600" dirty="0"/>
          </a:p>
          <a:p>
            <a:pPr marL="228600" indent="-228600">
              <a:spcAft>
                <a:spcPts val="800"/>
              </a:spcAft>
              <a:buSzPct val="100000"/>
              <a:buChar char="•"/>
            </a:pPr>
            <a:r>
              <a:rPr lang="en-US" sz="1600" dirty="0">
                <a:solidFill>
                  <a:schemeClr val="tx1"/>
                </a:solidFill>
              </a:rPr>
              <a:t>Tetap ada walaupun aplikasi ditutup, HP dimatikan, lalu dinyalakan lagi</a:t>
            </a:r>
            <a:endParaRPr lang="en-US" sz="1600" dirty="0"/>
          </a:p>
        </p:txBody>
      </p:sp>
      <p:sp>
        <p:nvSpPr>
          <p:cNvPr id="16" name="lingkaran lampu"/>
          <p:cNvSpPr/>
          <p:nvPr/>
        </p:nvSpPr>
        <p:spPr>
          <a:xfrm>
            <a:off x="548640" y="5532120"/>
            <a:ext cx="548640" cy="548640"/>
          </a:xfrm>
          <a:prstGeom prst="ellipse">
            <a:avLst/>
          </a:prstGeom>
          <a:solidFill>
            <a:schemeClr val="accent3"/>
          </a:solidFill>
          <a:ln/>
        </p:spPr>
      </p:sp>
      <p:pic>
        <p:nvPicPr>
          <p:cNvPr id="17"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18" name="Text 12"/>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Kapan menyimpan? SEGERA setelah data berubah, lalu baca kembali saat aplikasi dibuka. Jangan menunggu aplikasi ditutup.</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Memilih Tempat Penyimpanan</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308861"/>
                <a:gridCol w="3308861"/>
                <a:gridCol w="3308861"/>
                <a:gridCol w="1167833"/>
              </a:tblGrid>
              <a:tr h="65836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Jenis data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Contoh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Alat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Bagian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5836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Pengaturan kecil berbentuk kunci–nilai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Mode gelap, kota terakhir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shared_preferences</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2–4</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5836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Data terstruktur yang banyak: dicari, diurutkan, diubah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Catatan, daftar tugas, transaksi keuangan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SQLite + paket sqflite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5–9</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5836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Salinan data dari internet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Pengumuman, prakiraan cuaca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Cache (salah satu alat di atas)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10–11</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5836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Data rahasia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Token masuk (login), PIN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flutter_secure_storage</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13</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5836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Berkas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Foto, PDF hasil unduhan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path_provider + dart:io</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13</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2</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shared_preferences: Loker Berlabel</a:t>
            </a:r>
            <a:endParaRPr lang="en-US" sz="4000" dirty="0"/>
          </a:p>
        </p:txBody>
      </p:sp>
      <p:sp>
        <p:nvSpPr>
          <p:cNvPr id="5" name="lingkaran kunci"/>
          <p:cNvSpPr/>
          <p:nvPr/>
        </p:nvSpPr>
        <p:spPr>
          <a:xfrm>
            <a:off x="1097280" y="2148840"/>
            <a:ext cx="2011680" cy="2011680"/>
          </a:xfrm>
          <a:prstGeom prst="ellipse">
            <a:avLst/>
          </a:prstGeom>
          <a:solidFill>
            <a:schemeClr val="accent1"/>
          </a:solidFill>
          <a:ln/>
        </p:spPr>
      </p:sp>
      <p:pic>
        <p:nvPicPr>
          <p:cNvPr id="6" name="Image 0" descr="kunci">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Memasang shared_preferences</a:t>
            </a:r>
            <a:endParaRPr lang="en-US" sz="3200" dirty="0"/>
          </a:p>
        </p:txBody>
      </p:sp>
      <p:sp>
        <p:nvSpPr>
          <p:cNvPr id="4" name="kotak kode"/>
          <p:cNvSpPr txBox="1"/>
          <p:nvPr/>
        </p:nvSpPr>
        <p:spPr>
          <a:xfrm>
            <a:off x="548640" y="1371600"/>
            <a:ext cx="6949440" cy="2075688"/>
          </a:xfrm>
          <a:prstGeom prst="roundRect">
            <a:avLst>
              <a:gd name="adj" fmla="val 4405"/>
            </a:avLst>
          </a:prstGeom>
          <a:solidFill>
            <a:srgbClr val="0E1A2B"/>
          </a:solidFill>
          <a:ln/>
        </p:spPr>
        <p:txBody>
          <a:bodyPr wrap="square" lIns="177800" tIns="152400" rIns="152400" bIns="177800" rtlCol="0" anchor="t"/>
          <a:lstStyle/>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sekali, di folder proyek</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flutter pub add shared_preferences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di bagian atas berkas Dart: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import </a:t>
            </a:r>
            <a:r>
              <a:rPr lang="en-US" sz="1300" dirty="0">
                <a:solidFill>
                  <a:srgbClr val="C3E88D"/>
                </a:solidFill>
                <a:latin typeface="Consolas" pitchFamily="34" charset="0"/>
                <a:ea typeface="Consolas" pitchFamily="34" charset="-122"/>
                <a:cs typeface="Consolas" pitchFamily="34" charset="-120"/>
              </a:rPr>
              <a:t>'package:shared_preferences/shared_preferences.dart'</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setiap kali menjalankan di Chrome: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flutter run -d chrome --web-port=</a:t>
            </a:r>
            <a:r>
              <a:rPr lang="en-US" sz="1300" dirty="0">
                <a:solidFill>
                  <a:srgbClr val="F78C6C"/>
                </a:solidFill>
                <a:latin typeface="Consolas" pitchFamily="34" charset="0"/>
                <a:ea typeface="Consolas" pitchFamily="34" charset="-122"/>
                <a:cs typeface="Consolas" pitchFamily="34" charset="-120"/>
              </a:rPr>
              <a:t>8080</a:t>
            </a:r>
            <a:endParaRPr lang="en-US" sz="1300" dirty="0"/>
          </a:p>
        </p:txBody>
      </p:sp>
      <p:sp>
        <p:nvSpPr>
          <p:cNvPr id="5"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Kunci = label loker; nilai = isinya. Sebutkan labelnya untuk mengambil kembali.</a:t>
            </a:r>
            <a:endParaRPr lang="en-US" sz="1700" dirty="0"/>
          </a:p>
          <a:p>
            <a:pPr marL="228600" indent="-228600">
              <a:spcAft>
                <a:spcPts val="800"/>
              </a:spcAft>
              <a:buSzPct val="100000"/>
              <a:buChar char="•"/>
            </a:pPr>
            <a:r>
              <a:rPr lang="en-US" sz="1700" dirty="0">
                <a:solidFill>
                  <a:schemeClr val="tx1"/>
                </a:solidFill>
              </a:rPr>
              <a:t>Android: DataStore Preferences · iOS: NSUserDefaults · Web: Local Storage · Windows: folder AppData.</a:t>
            </a:r>
            <a:endParaRPr lang="en-US" sz="1700" dirty="0"/>
          </a:p>
          <a:p>
            <a:pPr marL="228600" indent="-228600">
              <a:spcAft>
                <a:spcPts val="800"/>
              </a:spcAft>
              <a:buSzPct val="100000"/>
              <a:buChar char="•"/>
            </a:pPr>
            <a:r>
              <a:rPr lang="en-US" sz="1700" dirty="0">
                <a:solidFill>
                  <a:schemeClr val="tx1"/>
                </a:solidFill>
              </a:rPr>
              <a:t>Kodenya sama untuk semua platform.</a:t>
            </a:r>
            <a:endParaRPr lang="en-US" sz="1700" dirty="0"/>
          </a:p>
          <a:p>
            <a:pPr marL="228600" indent="-228600">
              <a:spcAft>
                <a:spcPts val="800"/>
              </a:spcAft>
              <a:buSzPct val="100000"/>
              <a:buChar char="•"/>
            </a:pPr>
            <a:r>
              <a:rPr lang="en-US" sz="1700" dirty="0">
                <a:solidFill>
                  <a:schemeClr val="tx1"/>
                </a:solidFill>
              </a:rPr>
              <a:t>Paket berplugin: setelah memasang, hentikan aplikasi (q), lalu jalankan lagi.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Tiga Cara Memakai shared_preferences</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730019"/>
                <a:gridCol w="4112585"/>
                <a:gridCol w="3251811"/>
              </a:tblGrid>
              <a:tr h="8686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Cara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Ciri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Kapan dipakai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86868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SharedPreferencesAsync</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Setiap baca dan tulis memakai await; selalu membaca nilai terbaru</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Pilihan paling sederhana (Contoh 01, 03, 08, 09)</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86868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SharedPreferencesWithCache</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Dibuat sekali dengan await; setelah itu membaca TANPA await (nilai disalin ke memori)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Pengaturan yang harus ada sejak layar pertama, misalnya tema (Contoh 02)</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86868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SharedPreferences (lama)</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SharedPreferences.getInstance()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Hanya untuk memahami kode lama: akan dihentikan (deprecated)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Sejak versi 2.3.0 paket ini menyediakan tiga cara. Cara ketiga masih sering muncul di tutorial lama.</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01: Penghitung Tamu yang Tidak Lupa</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1.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2875788"/>
          </a:xfrm>
          <a:prstGeom prst="roundRect">
            <a:avLst>
              <a:gd name="adj" fmla="val 3180"/>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static </a:t>
            </a:r>
            <a:r>
              <a:rPr lang="en-US" sz="1100" dirty="0">
                <a:solidFill>
                  <a:srgbClr val="C792EA"/>
                </a:solidFill>
                <a:latin typeface="Consolas" pitchFamily="34" charset="0"/>
                <a:ea typeface="Consolas" pitchFamily="34" charset="-122"/>
                <a:cs typeface="Consolas" pitchFamily="34" charset="-120"/>
              </a:rPr>
              <a:t>const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_kunciJumlah = </a:t>
            </a:r>
            <a:r>
              <a:rPr lang="en-US" sz="1100" dirty="0">
                <a:solidFill>
                  <a:srgbClr val="C3E88D"/>
                </a:solidFill>
                <a:latin typeface="Consolas" pitchFamily="34" charset="0"/>
                <a:ea typeface="Consolas" pitchFamily="34" charset="-122"/>
                <a:cs typeface="Consolas" pitchFamily="34" charset="-120"/>
              </a:rPr>
              <a:t>'jumlah_tamu'</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SharedPreferencesAsync</a:t>
            </a:r>
            <a:r>
              <a:rPr lang="en-US" sz="1100" dirty="0">
                <a:solidFill>
                  <a:srgbClr val="E6EDF3"/>
                </a:solidFill>
                <a:latin typeface="Consolas" pitchFamily="34" charset="0"/>
                <a:ea typeface="Consolas" pitchFamily="34" charset="-122"/>
                <a:cs typeface="Consolas" pitchFamily="34" charset="-120"/>
              </a:rPr>
              <a:t> _penyimpanan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SharedPreferencesAsync</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C792EA"/>
                </a:solidFill>
                <a:latin typeface="Consolas" pitchFamily="34" charset="0"/>
                <a:ea typeface="Consolas" pitchFamily="34" charset="-122"/>
                <a:cs typeface="Consolas" pitchFamily="34" charset="-120"/>
              </a:rPr>
              <a:t>void</a:t>
            </a:r>
            <a:r>
              <a:rPr lang="en-US" sz="1100" dirty="0">
                <a:solidFill>
                  <a:srgbClr val="E6EDF3"/>
                </a:solidFill>
                <a:latin typeface="Consolas" pitchFamily="34" charset="0"/>
                <a:ea typeface="Consolas" pitchFamily="34" charset="-122"/>
                <a:cs typeface="Consolas" pitchFamily="34" charset="-120"/>
              </a:rPr>
              <a:t>&gt; _muat()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int</a:t>
            </a:r>
            <a:r>
              <a:rPr lang="en-US" sz="1100" dirty="0">
                <a:solidFill>
                  <a:srgbClr val="E6EDF3"/>
                </a:solidFill>
                <a:latin typeface="Consolas" pitchFamily="34" charset="0"/>
                <a:ea typeface="Consolas" pitchFamily="34" charset="-122"/>
                <a:cs typeface="Consolas" pitchFamily="34" charset="-120"/>
              </a:rPr>
              <a:t>? jumlah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_penyimpanan.getInt(_kunciJumlah);</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(!mounted)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setState(()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_jumlah = jumlah ?? </a:t>
            </a:r>
            <a:r>
              <a:rPr lang="en-US" sz="1100" dirty="0">
                <a:solidFill>
                  <a:srgbClr val="F78C6C"/>
                </a:solidFill>
                <a:latin typeface="Consolas" pitchFamily="34" charset="0"/>
                <a:ea typeface="Consolas" pitchFamily="34" charset="-122"/>
                <a:cs typeface="Consolas" pitchFamily="34" charset="-120"/>
              </a:rPr>
              <a:t>0</a:t>
            </a: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null = belum pernah</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_memuat = </a:t>
            </a:r>
            <a:r>
              <a:rPr lang="en-US" sz="1100" dirty="0">
                <a:solidFill>
                  <a:srgbClr val="C792EA"/>
                </a:solidFill>
                <a:latin typeface="Consolas" pitchFamily="34" charset="0"/>
                <a:ea typeface="Consolas" pitchFamily="34" charset="-122"/>
                <a:cs typeface="Consolas" pitchFamily="34" charset="-120"/>
              </a:rPr>
              <a:t>false</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i="1" dirty="0">
                <a:solidFill>
                  <a:srgbClr val="8FA3BC"/>
                </a:solidFill>
                <a:latin typeface="Consolas" pitchFamily="34" charset="0"/>
                <a:ea typeface="Consolas" pitchFamily="34" charset="-122"/>
                <a:cs typeface="Consolas" pitchFamily="34" charset="-120"/>
              </a:rPr>
              <a:t>// setiap kali angkanya berubah:</a:t>
            </a:r>
            <a:endParaRPr lang="en-US" sz="1100" dirty="0"/>
          </a:p>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_penyimpanan.setInt(_kunciJumlah, _jumlah);</a:t>
            </a:r>
            <a:endParaRPr lang="en-US" sz="1100" dirty="0"/>
          </a:p>
        </p:txBody>
      </p:sp>
      <p:sp>
        <p:nvSpPr>
          <p:cNvPr id="7" name="tombol tautan">
            <a:hlinkClick r:id="rId2" tooltip="https://github.com/antonprafanto/mobile2026/blob/main/pertemuan_11_penyimpanan_lokal/kode/contoh_01_penghitung_tersimpan.dart"/>
          </p:cNvPr>
          <p:cNvSpPr txBox="1"/>
          <p:nvPr/>
        </p:nvSpPr>
        <p:spPr>
          <a:xfrm>
            <a:off x="548640" y="4430268"/>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contoh_01_penghitung_tersimpan.dart</a:t>
            </a:r>
            <a:endParaRPr lang="en-US" sz="1300" dirty="0"/>
          </a:p>
        </p:txBody>
      </p:sp>
      <p:pic>
        <p:nvPicPr>
          <p:cNvPr id="8" name="Image 1" descr="ikon tautan">
            <a:hlinkClick r:id="rId4" tooltip="https://github.com/antonprafanto/mobile2026/blob/main/pertemuan_11_penyimpanan_lokal/kode/contoh_01_penghitung_tersimpan.dart"/>
          </p:cNvPr>
          <p:cNvPicPr>
            <a:picLocks noChangeAspect="1"/>
          </p:cNvPicPr>
          <p:nvPr/>
        </p:nvPicPr>
        <p:blipFill>
          <a:blip r:embed="rId3"/>
          <a:stretch>
            <a:fillRect/>
          </a:stretch>
        </p:blipFill>
        <p:spPr>
          <a:xfrm>
            <a:off x="694944" y="4521708"/>
            <a:ext cx="274320" cy="274320"/>
          </a:xfrm>
          <a:prstGeom prst="rect">
            <a:avLst/>
          </a:prstGeom>
        </p:spPr>
      </p:pic>
      <p:sp>
        <p:nvSpPr>
          <p:cNvPr id="9" name="daftar poin"/>
          <p:cNvSpPr txBox="1"/>
          <p:nvPr/>
        </p:nvSpPr>
        <p:spPr>
          <a:xfrm>
            <a:off x="548640" y="5161788"/>
            <a:ext cx="7608319" cy="1056132"/>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getInt → null jika kunci itu belum pernah disimpan.</a:t>
            </a:r>
            <a:endParaRPr lang="en-US" sz="1500" dirty="0"/>
          </a:p>
          <a:p>
            <a:pPr marL="228600" indent="-228600">
              <a:spcAft>
                <a:spcPts val="800"/>
              </a:spcAft>
              <a:buSzPct val="100000"/>
              <a:buChar char="•"/>
            </a:pPr>
            <a:r>
              <a:rPr lang="en-US" sz="1500" dirty="0">
                <a:solidFill>
                  <a:schemeClr val="tx1"/>
                </a:solidFill>
              </a:rPr>
              <a:t>setInt menimpa nilai lama; remove menghapus kunci.</a:t>
            </a:r>
            <a:endParaRPr lang="en-US" sz="1500" dirty="0"/>
          </a:p>
          <a:p>
            <a:pPr marL="228600" indent="-228600">
              <a:spcAft>
                <a:spcPts val="800"/>
              </a:spcAft>
              <a:buSzPct val="100000"/>
              <a:buChar char="•"/>
            </a:pPr>
            <a:r>
              <a:rPr lang="en-US" sz="1500" dirty="0">
                <a:solidFill>
                  <a:schemeClr val="tx1"/>
                </a:solidFill>
              </a:rPr>
              <a:t>Waktu: toIso8601String() → teks, DateTime.tryParse → kembali.</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Membuktikan Data Benar-Benar Tersimpan</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060528"/>
                <a:gridCol w="4590792"/>
                <a:gridCol w="3443094"/>
              </a:tblGrid>
              <a:tr h="7315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Percobaan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Cara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Hasil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3152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Hot restart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Tekan R di terminal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Semua variabel dibuat ulang, tetapi angkanya TETAP ADA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3152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Jalankan ulang di Chrome</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Tekan q, lalu flutter run -d chrome --web-port=8080</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Angkanya tetap ada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3152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Jalankan ulang di Android</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Tutup dari daftar aplikasi terbuka, lalu buka lagi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Angkanya tetap ada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Mengapa --web-port=8080? Chrome menyimpan data per alamat situs, TERMASUK port. Port acak = "situs lain" = data seolah hilang.</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Tipe Data yang Bisa Disimpan</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251811"/>
                <a:gridCol w="4399509"/>
                <a:gridCol w="3443094"/>
              </a:tblGrid>
              <a:tr h="60350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Data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Menyimpan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Membaca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bool, int, double, String</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setBool / setInt / setDouble / setString</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getBool / getInt / ...</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List&lt;String&gt;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setStringList(k, ['a', 'b'])</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getStringList(k)</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DateTime → teks ISO 8601</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setString(k, w.toIso8601String())</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DateTime.tryParse(...)</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Enum → namanya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setString(k, ThemeMode.dark.name)</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asNameMap()[nama]</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3504">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Objek kecil → teks JSON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setString(k, jsonEncode(...))</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jsonDecode(...)</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Satu tipe untuk satu kunci. Disimpan dengan setString, lalu dibaca dengan getInt → TypeError.</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3</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Pengaturan yang Siap Sejak Layar Pertama</a:t>
            </a:r>
            <a:endParaRPr lang="en-US" sz="4000" dirty="0"/>
          </a:p>
        </p:txBody>
      </p:sp>
      <p:sp>
        <p:nvSpPr>
          <p:cNvPr id="5" name="lingkaran gelap"/>
          <p:cNvSpPr/>
          <p:nvPr/>
        </p:nvSpPr>
        <p:spPr>
          <a:xfrm>
            <a:off x="1097280" y="2148840"/>
            <a:ext cx="2011680" cy="2011680"/>
          </a:xfrm>
          <a:prstGeom prst="ellipse">
            <a:avLst/>
          </a:prstGeom>
          <a:solidFill>
            <a:schemeClr val="accent1"/>
          </a:solidFill>
          <a:ln/>
        </p:spPr>
      </p:sp>
      <p:pic>
        <p:nvPicPr>
          <p:cNvPr id="6" name="Image 0" descr="gelap">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Masalah "Berkedip" dan SharedPreferencesWithCache</a:t>
            </a:r>
            <a:endParaRPr lang="en-US" sz="3200" dirty="0"/>
          </a:p>
        </p:txBody>
      </p:sp>
      <p:sp>
        <p:nvSpPr>
          <p:cNvPr id="4" name="kotak kode"/>
          <p:cNvSpPr txBox="1"/>
          <p:nvPr/>
        </p:nvSpPr>
        <p:spPr>
          <a:xfrm>
            <a:off x="548640" y="1371600"/>
            <a:ext cx="6949440" cy="3099816"/>
          </a:xfrm>
          <a:prstGeom prst="roundRect">
            <a:avLst>
              <a:gd name="adj" fmla="val 2950"/>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Future</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C792EA"/>
                </a:solidFill>
                <a:latin typeface="Consolas" pitchFamily="34" charset="0"/>
                <a:ea typeface="Consolas" pitchFamily="34" charset="-122"/>
                <a:cs typeface="Consolas" pitchFamily="34" charset="-120"/>
              </a:rPr>
              <a:t>void</a:t>
            </a:r>
            <a:r>
              <a:rPr lang="en-US" sz="1200" dirty="0">
                <a:solidFill>
                  <a:srgbClr val="E6EDF3"/>
                </a:solidFill>
                <a:latin typeface="Consolas" pitchFamily="34" charset="0"/>
                <a:ea typeface="Consolas" pitchFamily="34" charset="-122"/>
                <a:cs typeface="Consolas" pitchFamily="34" charset="-120"/>
              </a:rPr>
              <a:t>&gt; main() </a:t>
            </a:r>
            <a:r>
              <a:rPr lang="en-US" sz="1200" dirty="0">
                <a:solidFill>
                  <a:srgbClr val="C792EA"/>
                </a:solidFill>
                <a:latin typeface="Consolas" pitchFamily="34" charset="0"/>
                <a:ea typeface="Consolas" pitchFamily="34" charset="-122"/>
                <a:cs typeface="Consolas" pitchFamily="34" charset="-120"/>
              </a:rPr>
              <a:t>async</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Wajib jika plugin dipakai SEBELUM runApp.</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WidgetsFlutterBinding</a:t>
            </a:r>
            <a:r>
              <a:rPr lang="en-US" sz="1200" dirty="0">
                <a:solidFill>
                  <a:srgbClr val="E6EDF3"/>
                </a:solidFill>
                <a:latin typeface="Consolas" pitchFamily="34" charset="0"/>
                <a:ea typeface="Consolas" pitchFamily="34" charset="-122"/>
                <a:cs typeface="Consolas" pitchFamily="34" charset="-120"/>
              </a:rPr>
              <a:t>.ensureInitialized();</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Membaca semua pengaturan ke memori, sekali saja.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SharedPreferencesWithCache</a:t>
            </a:r>
            <a:r>
              <a:rPr lang="en-US" sz="1200" dirty="0">
                <a:solidFill>
                  <a:srgbClr val="E6EDF3"/>
                </a:solidFill>
                <a:latin typeface="Consolas" pitchFamily="34" charset="0"/>
                <a:ea typeface="Consolas" pitchFamily="34" charset="-122"/>
                <a:cs typeface="Consolas" pitchFamily="34" charset="-120"/>
              </a:rPr>
              <a:t> prefs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SharedPreferencesWithCache</a:t>
            </a:r>
            <a:r>
              <a:rPr lang="en-US" sz="1200" dirty="0">
                <a:solidFill>
                  <a:srgbClr val="E6EDF3"/>
                </a:solidFill>
                <a:latin typeface="Consolas" pitchFamily="34" charset="0"/>
                <a:ea typeface="Consolas" pitchFamily="34" charset="-122"/>
                <a:cs typeface="Consolas" pitchFamily="34" charset="-120"/>
              </a:rPr>
              <a:t>.create(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cacheOptions: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SharedPreferencesWithCacheOptions</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allowList: </a:t>
            </a:r>
            <a:r>
              <a:rPr lang="en-US" sz="1200" dirty="0">
                <a:solidFill>
                  <a:srgbClr val="FFCB6B"/>
                </a:solidFill>
                <a:latin typeface="Consolas" pitchFamily="34" charset="0"/>
                <a:ea typeface="Consolas" pitchFamily="34" charset="-122"/>
                <a:cs typeface="Consolas" pitchFamily="34" charset="-120"/>
              </a:rPr>
              <a:t>RepositoriPengaturanPrefs</a:t>
            </a:r>
            <a:r>
              <a:rPr lang="en-US" sz="1200" dirty="0">
                <a:solidFill>
                  <a:srgbClr val="E6EDF3"/>
                </a:solidFill>
                <a:latin typeface="Consolas" pitchFamily="34" charset="0"/>
                <a:ea typeface="Consolas" pitchFamily="34" charset="-122"/>
                <a:cs typeface="Consolas" pitchFamily="34" charset="-120"/>
              </a:rPr>
              <a:t>.semuaKunci,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runApp(</a:t>
            </a:r>
            <a:r>
              <a:rPr lang="en-US" sz="1200" i="1" dirty="0">
                <a:solidFill>
                  <a:srgbClr val="8FA3BC"/>
                </a:solidFill>
                <a:latin typeface="Consolas" pitchFamily="34" charset="0"/>
                <a:ea typeface="Consolas" pitchFamily="34" charset="-122"/>
                <a:cs typeface="Consolas" pitchFamily="34" charset="-120"/>
              </a:rPr>
              <a:t>/* ... RepositoriPengaturanPrefs(prefs) ... */</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1_penyimpanan_lokal/kode/contoh_02_pengaturan_tampilan.dart"/>
          </p:cNvPr>
          <p:cNvSpPr txBox="1"/>
          <p:nvPr/>
        </p:nvSpPr>
        <p:spPr>
          <a:xfrm>
            <a:off x="548640" y="4700016"/>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contoh_02_pengaturan_tampilan.dart</a:t>
            </a:r>
            <a:endParaRPr lang="en-US" sz="1300" dirty="0"/>
          </a:p>
        </p:txBody>
      </p:sp>
      <p:pic>
        <p:nvPicPr>
          <p:cNvPr id="6" name="Image 0" descr="ikon tautan">
            <a:hlinkClick r:id="rId3" tooltip="https://github.com/antonprafanto/mobile2026/blob/main/pertemuan_11_penyimpanan_lokal/kode/contoh_02_pengaturan_tampilan.dart"/>
          </p:cNvPr>
          <p:cNvPicPr>
            <a:picLocks noChangeAspect="1"/>
          </p:cNvPicPr>
          <p:nvPr/>
        </p:nvPicPr>
        <p:blipFill>
          <a:blip r:embed="rId2"/>
          <a:stretch>
            <a:fillRect/>
          </a:stretch>
        </p:blipFill>
        <p:spPr>
          <a:xfrm>
            <a:off x="694944" y="4791456"/>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Dengan Async: layar pertama tampil terang dulu, sesaat kemudian gelap = BERKEDIP.</a:t>
            </a:r>
            <a:endParaRPr lang="en-US" sz="1700" dirty="0"/>
          </a:p>
          <a:p>
            <a:pPr marL="228600" indent="-228600">
              <a:spcAft>
                <a:spcPts val="800"/>
              </a:spcAft>
              <a:buSzPct val="100000"/>
              <a:buChar char="•"/>
            </a:pPr>
            <a:r>
              <a:rPr lang="en-US" sz="1700" dirty="0">
                <a:solidFill>
                  <a:schemeClr val="tx1"/>
                </a:solidFill>
              </a:rPr>
              <a:t>WithCache: semua nilai dibaca SEBELUM runApp.</a:t>
            </a:r>
            <a:endParaRPr lang="en-US" sz="1700" dirty="0"/>
          </a:p>
          <a:p>
            <a:pPr marL="228600" indent="-228600">
              <a:spcAft>
                <a:spcPts val="800"/>
              </a:spcAft>
              <a:buSzPct val="100000"/>
              <a:buChar char="•"/>
            </a:pPr>
            <a:r>
              <a:rPr lang="en-US" sz="1700" dirty="0">
                <a:solidFill>
                  <a:schemeClr val="tx1"/>
                </a:solidFill>
              </a:rPr>
              <a:t>Sesudahnya prefs.getString(...) tanpa await (sinkron).</a:t>
            </a:r>
            <a:endParaRPr lang="en-US" sz="1700" dirty="0"/>
          </a:p>
          <a:p>
            <a:pPr marL="228600" indent="-228600">
              <a:spcAft>
                <a:spcPts val="800"/>
              </a:spcAft>
              <a:buSzPct val="100000"/>
              <a:buChar char="•"/>
            </a:pPr>
            <a:r>
              <a:rPr lang="en-US" sz="1700" dirty="0">
                <a:solidFill>
                  <a:schemeClr val="tx1"/>
                </a:solidFill>
              </a:rPr>
              <a:t>allowList: hanya kunci ini yang boleh dipakai; kunci lain → ArgumentError.</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Enum Disimpan sebagai Namanya</a:t>
            </a:r>
            <a:endParaRPr lang="en-US" sz="3200" dirty="0"/>
          </a:p>
        </p:txBody>
      </p:sp>
      <p:sp>
        <p:nvSpPr>
          <p:cNvPr id="4" name="kotak kode"/>
          <p:cNvSpPr txBox="1"/>
          <p:nvPr/>
        </p:nvSpPr>
        <p:spPr>
          <a:xfrm>
            <a:off x="548640" y="1371600"/>
            <a:ext cx="7132320" cy="1867662"/>
          </a:xfrm>
          <a:prstGeom prst="roundRect">
            <a:avLst>
              <a:gd name="adj" fmla="val 4896"/>
            </a:avLst>
          </a:prstGeom>
          <a:solidFill>
            <a:srgbClr val="0E1A2B"/>
          </a:solidFill>
          <a:ln/>
        </p:spPr>
        <p:txBody>
          <a:bodyPr wrap="square" lIns="177800" tIns="152400" rIns="152400" bIns="177800" rtlCol="0" anchor="t"/>
          <a:lstStyle/>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Menyimpan: ThemeMode.dark -&gt; 'dark'</a:t>
            </a:r>
            <a:endParaRPr lang="en-US" sz="1300" dirty="0"/>
          </a:p>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await</a:t>
            </a:r>
            <a:r>
              <a:rPr lang="en-US" sz="1300" dirty="0">
                <a:solidFill>
                  <a:srgbClr val="E6EDF3"/>
                </a:solidFill>
                <a:latin typeface="Consolas" pitchFamily="34" charset="0"/>
                <a:ea typeface="Consolas" pitchFamily="34" charset="-122"/>
                <a:cs typeface="Consolas" pitchFamily="34" charset="-120"/>
              </a:rPr>
              <a:t> _prefs.setString(kunciMode, pengaturan.mode.name);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Membaca: 'dark' -&gt; ThemeMode.dark</a:t>
            </a:r>
            <a:endParaRPr lang="en-US" sz="1300" dirty="0"/>
          </a:p>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String</a:t>
            </a:r>
            <a:r>
              <a:rPr lang="en-US" sz="1300" dirty="0">
                <a:solidFill>
                  <a:srgbClr val="E6EDF3"/>
                </a:solidFill>
                <a:latin typeface="Consolas" pitchFamily="34" charset="0"/>
                <a:ea typeface="Consolas" pitchFamily="34" charset="-122"/>
                <a:cs typeface="Consolas" pitchFamily="34" charset="-120"/>
              </a:rPr>
              <a:t>? namaMode = _prefs.getString(kunciMode);</a:t>
            </a:r>
            <a:endParaRPr lang="en-US" sz="1300" dirty="0"/>
          </a:p>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ThemeMode</a:t>
            </a:r>
            <a:r>
              <a:rPr lang="en-US" sz="1300" dirty="0">
                <a:solidFill>
                  <a:srgbClr val="E6EDF3"/>
                </a:solidFill>
                <a:latin typeface="Consolas" pitchFamily="34" charset="0"/>
                <a:ea typeface="Consolas" pitchFamily="34" charset="-122"/>
                <a:cs typeface="Consolas" pitchFamily="34" charset="-120"/>
              </a:rPr>
              <a:t> mode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ThemeMode</a:t>
            </a:r>
            <a:r>
              <a:rPr lang="en-US" sz="1300" dirty="0">
                <a:solidFill>
                  <a:srgbClr val="E6EDF3"/>
                </a:solidFill>
                <a:latin typeface="Consolas" pitchFamily="34" charset="0"/>
                <a:ea typeface="Consolas" pitchFamily="34" charset="-122"/>
                <a:cs typeface="Consolas" pitchFamily="34" charset="-120"/>
              </a:rPr>
              <a:t>.values.asNameMap()[namaMode] ?? </a:t>
            </a:r>
            <a:r>
              <a:rPr lang="en-US" sz="1300" dirty="0">
                <a:solidFill>
                  <a:srgbClr val="FFCB6B"/>
                </a:solidFill>
                <a:latin typeface="Consolas" pitchFamily="34" charset="0"/>
                <a:ea typeface="Consolas" pitchFamily="34" charset="-122"/>
                <a:cs typeface="Consolas" pitchFamily="34" charset="-120"/>
              </a:rPr>
              <a:t>ThemeMode</a:t>
            </a:r>
            <a:r>
              <a:rPr lang="en-US" sz="1300" dirty="0">
                <a:solidFill>
                  <a:srgbClr val="E6EDF3"/>
                </a:solidFill>
                <a:latin typeface="Consolas" pitchFamily="34" charset="0"/>
                <a:ea typeface="Consolas" pitchFamily="34" charset="-122"/>
                <a:cs typeface="Consolas" pitchFamily="34" charset="-120"/>
              </a:rPr>
              <a:t>.system;</a:t>
            </a:r>
            <a:endParaRPr lang="en-US" sz="1300" dirty="0"/>
          </a:p>
        </p:txBody>
      </p:sp>
      <p:sp>
        <p:nvSpPr>
          <p:cNvPr id="5" name="tombol tautan">
            <a:hlinkClick r:id="rId1" tooltip="https://github.com/antonprafanto/mobile2026/blob/main/pertemuan_11_penyimpanan_lokal/kode/contoh_02_pengaturan_tampilan.dart"/>
          </p:cNvPr>
          <p:cNvSpPr txBox="1"/>
          <p:nvPr/>
        </p:nvSpPr>
        <p:spPr>
          <a:xfrm>
            <a:off x="548640" y="3467862"/>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contoh_02_pengaturan_tampilan.dart</a:t>
            </a:r>
            <a:endParaRPr lang="en-US" sz="1300" dirty="0"/>
          </a:p>
        </p:txBody>
      </p:sp>
      <p:pic>
        <p:nvPicPr>
          <p:cNvPr id="6" name="Image 0" descr="ikon tautan">
            <a:hlinkClick r:id="rId3" tooltip="https://github.com/antonprafanto/mobile2026/blob/main/pertemuan_11_penyimpanan_lokal/kode/contoh_02_pengaturan_tampilan.dart"/>
          </p:cNvPr>
          <p:cNvPicPr>
            <a:picLocks noChangeAspect="1"/>
          </p:cNvPicPr>
          <p:nvPr/>
        </p:nvPicPr>
        <p:blipFill>
          <a:blip r:embed="rId2"/>
          <a:stretch>
            <a:fillRect/>
          </a:stretch>
        </p:blipFill>
        <p:spPr>
          <a:xfrm>
            <a:off x="694944" y="3559302"/>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asNameMap(): {'system': ThemeMode.system, 'light': ..., 'dark': ...}</a:t>
            </a:r>
            <a:endParaRPr lang="en-US" sz="1700" dirty="0"/>
          </a:p>
          <a:p>
            <a:pPr marL="228600" indent="-228600">
              <a:spcAft>
                <a:spcPts val="800"/>
              </a:spcAft>
              <a:buSzPct val="100000"/>
              <a:buChar char="•"/>
            </a:pPr>
            <a:r>
              <a:rPr lang="en-US" sz="1700" dirty="0">
                <a:solidFill>
                  <a:schemeClr val="tx1"/>
                </a:solidFill>
              </a:rPr>
              <a:t>Kunci belum ada (null) atau nama tidak dikenal → nilai bawaan setelah ??.</a:t>
            </a:r>
            <a:endParaRPr lang="en-US" sz="1700" dirty="0"/>
          </a:p>
          <a:p>
            <a:pPr marL="228600" indent="-228600">
              <a:spcAft>
                <a:spcPts val="800"/>
              </a:spcAft>
              <a:buSzPct val="100000"/>
              <a:buChar char="•"/>
            </a:pPr>
            <a:r>
              <a:rPr lang="en-US" sz="1700" dirty="0">
                <a:solidFill>
                  <a:schemeClr val="tx1"/>
                </a:solidFill>
              </a:rPr>
              <a:t>Aplikasi tidak pernah crash karena data lama.</a:t>
            </a:r>
            <a:endParaRPr lang="en-US" sz="1700" dirty="0"/>
          </a:p>
          <a:p>
            <a:pPr marL="228600" indent="-228600">
              <a:spcAft>
                <a:spcPts val="800"/>
              </a:spcAft>
              <a:buSzPct val="100000"/>
              <a:buChar char="•"/>
            </a:pPr>
            <a:r>
              <a:rPr lang="en-US" sz="1700" dirty="0">
                <a:solidFill>
                  <a:schemeClr val="tx1"/>
                </a:solidFill>
              </a:rPr>
              <a:t>Jangan simpan .index: jika urutan enum berubah, angka lama menunjuk pilihan yang salah.</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02: Pengaturan Tampilan yang Tersimpan</a:t>
            </a:r>
            <a:endParaRPr lang="en-US" sz="3200" dirty="0"/>
          </a:p>
        </p:txBody>
      </p:sp>
      <p:sp>
        <p:nvSpPr>
          <p:cNvPr id="4" name="bingkai layar 1"/>
          <p:cNvSpPr/>
          <p:nvPr/>
        </p:nvSpPr>
        <p:spPr>
          <a:xfrm>
            <a:off x="6101791" y="1316736"/>
            <a:ext cx="2715768" cy="4161454"/>
          </a:xfrm>
          <a:prstGeom prst="roundRect">
            <a:avLst>
              <a:gd name="adj" fmla="val 3367"/>
            </a:avLst>
          </a:prstGeom>
          <a:solidFill>
            <a:srgbClr val="FFFFFF"/>
          </a:solidFill>
          <a:ln w="12700">
            <a:solidFill>
              <a:srgbClr val="C9D3E0"/>
            </a:solidFill>
            <a:prstDash val="solid"/>
          </a:ln>
        </p:spPr>
      </p:sp>
      <p:pic>
        <p:nvPicPr>
          <p:cNvPr id="5" name="layar 1" descr="Tangkapan layar aplikasi (hasil_contoh_02a.jpg)">    </p:cNvPr>
          <p:cNvPicPr>
            <a:picLocks noChangeAspect="1"/>
          </p:cNvPicPr>
          <p:nvPr/>
        </p:nvPicPr>
        <p:blipFill>
          <a:blip r:embed="rId1"/>
          <a:stretch>
            <a:fillRect/>
          </a:stretch>
        </p:blipFill>
        <p:spPr>
          <a:xfrm>
            <a:off x="6156655" y="1371600"/>
            <a:ext cx="2606040" cy="4051726"/>
          </a:xfrm>
          <a:prstGeom prst="rect">
            <a:avLst/>
          </a:prstGeom>
        </p:spPr>
      </p:pic>
      <p:sp>
        <p:nvSpPr>
          <p:cNvPr id="6" name="bingkai layar 2"/>
          <p:cNvSpPr/>
          <p:nvPr/>
        </p:nvSpPr>
        <p:spPr>
          <a:xfrm>
            <a:off x="8982151" y="1316736"/>
            <a:ext cx="2715768" cy="4161454"/>
          </a:xfrm>
          <a:prstGeom prst="roundRect">
            <a:avLst>
              <a:gd name="adj" fmla="val 3367"/>
            </a:avLst>
          </a:prstGeom>
          <a:solidFill>
            <a:srgbClr val="FFFFFF"/>
          </a:solidFill>
          <a:ln w="12700">
            <a:solidFill>
              <a:srgbClr val="C9D3E0"/>
            </a:solidFill>
            <a:prstDash val="solid"/>
          </a:ln>
        </p:spPr>
      </p:sp>
      <p:pic>
        <p:nvPicPr>
          <p:cNvPr id="7" name="layar 2" descr="Tangkapan layar aplikasi (hasil_contoh_02b.jpg)">    </p:cNvPr>
          <p:cNvPicPr>
            <a:picLocks noChangeAspect="1"/>
          </p:cNvPicPr>
          <p:nvPr/>
        </p:nvPicPr>
        <p:blipFill>
          <a:blip r:embed="rId2"/>
          <a:stretch>
            <a:fillRect/>
          </a:stretch>
        </p:blipFill>
        <p:spPr>
          <a:xfrm>
            <a:off x="9037015" y="1371600"/>
            <a:ext cx="2606040" cy="4051726"/>
          </a:xfrm>
          <a:prstGeom prst="rect">
            <a:avLst/>
          </a:prstGeom>
        </p:spPr>
      </p:pic>
      <p:sp>
        <p:nvSpPr>
          <p:cNvPr id="8" name="kotak kode"/>
          <p:cNvSpPr txBox="1"/>
          <p:nvPr/>
        </p:nvSpPr>
        <p:spPr>
          <a:xfrm>
            <a:off x="548640" y="1371600"/>
            <a:ext cx="5150815" cy="2715768"/>
          </a:xfrm>
          <a:prstGeom prst="roundRect">
            <a:avLst>
              <a:gd name="adj" fmla="val 3367"/>
            </a:avLst>
          </a:prstGeom>
          <a:solidFill>
            <a:srgbClr val="0E1A2B"/>
          </a:solidFill>
          <a:ln/>
        </p:spPr>
        <p:txBody>
          <a:bodyPr wrap="square" lIns="177800" tIns="152400" rIns="152400" bIns="177800" rtlCol="0" anchor="t"/>
          <a:lstStyle/>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sinkron: nilainya sudah ada di cache</a:t>
            </a:r>
            <a:endParaRPr lang="en-US" sz="1200" dirty="0"/>
          </a:p>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PengaturanViewModel</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C792EA"/>
                </a:solidFill>
                <a:latin typeface="Consolas" pitchFamily="34" charset="0"/>
                <a:ea typeface="Consolas" pitchFamily="34" charset="-122"/>
                <a:cs typeface="Consolas" pitchFamily="34" charset="-120"/>
              </a:rPr>
              <a:t>required</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this</a:t>
            </a:r>
            <a:r>
              <a:rPr lang="en-US" sz="1200" dirty="0">
                <a:solidFill>
                  <a:srgbClr val="E6EDF3"/>
                </a:solidFill>
                <a:latin typeface="Consolas" pitchFamily="34" charset="0"/>
                <a:ea typeface="Consolas" pitchFamily="34" charset="-122"/>
                <a:cs typeface="Consolas" pitchFamily="34" charset="-120"/>
              </a:rPr>
              <a:t>._repositori})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 _pengaturan = _repositori.baca();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Future</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C792EA"/>
                </a:solidFill>
                <a:latin typeface="Consolas" pitchFamily="34" charset="0"/>
                <a:ea typeface="Consolas" pitchFamily="34" charset="-122"/>
                <a:cs typeface="Consolas" pitchFamily="34" charset="-120"/>
              </a:rPr>
              <a:t>void</a:t>
            </a:r>
            <a:r>
              <a:rPr lang="en-US" sz="1200" dirty="0">
                <a:solidFill>
                  <a:srgbClr val="E6EDF3"/>
                </a:solidFill>
                <a:latin typeface="Consolas" pitchFamily="34" charset="0"/>
                <a:ea typeface="Consolas" pitchFamily="34" charset="-122"/>
                <a:cs typeface="Consolas" pitchFamily="34" charset="-120"/>
              </a:rPr>
              <a:t>&gt; ubahMode(</a:t>
            </a:r>
            <a:r>
              <a:rPr lang="en-US" sz="1200" dirty="0">
                <a:solidFill>
                  <a:srgbClr val="FFCB6B"/>
                </a:solidFill>
                <a:latin typeface="Consolas" pitchFamily="34" charset="0"/>
                <a:ea typeface="Consolas" pitchFamily="34" charset="-122"/>
                <a:cs typeface="Consolas" pitchFamily="34" charset="-120"/>
              </a:rPr>
              <a:t>ThemeMode</a:t>
            </a:r>
            <a:r>
              <a:rPr lang="en-US" sz="1200" dirty="0">
                <a:solidFill>
                  <a:srgbClr val="E6EDF3"/>
                </a:solidFill>
                <a:latin typeface="Consolas" pitchFamily="34" charset="0"/>
                <a:ea typeface="Consolas" pitchFamily="34" charset="-122"/>
                <a:cs typeface="Consolas" pitchFamily="34" charset="-120"/>
              </a:rPr>
              <a:t> mode) =&gt;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_terapkan(_pengaturan.copyWith(mode: mode));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Future</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C792EA"/>
                </a:solidFill>
                <a:latin typeface="Consolas" pitchFamily="34" charset="0"/>
                <a:ea typeface="Consolas" pitchFamily="34" charset="-122"/>
                <a:cs typeface="Consolas" pitchFamily="34" charset="-120"/>
              </a:rPr>
              <a:t>void</a:t>
            </a:r>
            <a:r>
              <a:rPr lang="en-US" sz="1200" dirty="0">
                <a:solidFill>
                  <a:srgbClr val="E6EDF3"/>
                </a:solidFill>
                <a:latin typeface="Consolas" pitchFamily="34" charset="0"/>
                <a:ea typeface="Consolas" pitchFamily="34" charset="-122"/>
                <a:cs typeface="Consolas" pitchFamily="34" charset="-120"/>
              </a:rPr>
              <a:t>&gt; _terapkan(</a:t>
            </a:r>
            <a:r>
              <a:rPr lang="en-US" sz="1200" dirty="0">
                <a:solidFill>
                  <a:srgbClr val="FFCB6B"/>
                </a:solidFill>
                <a:latin typeface="Consolas" pitchFamily="34" charset="0"/>
                <a:ea typeface="Consolas" pitchFamily="34" charset="-122"/>
                <a:cs typeface="Consolas" pitchFamily="34" charset="-120"/>
              </a:rPr>
              <a:t>Pengaturan</a:t>
            </a:r>
            <a:r>
              <a:rPr lang="en-US" sz="1200" dirty="0">
                <a:solidFill>
                  <a:srgbClr val="E6EDF3"/>
                </a:solidFill>
                <a:latin typeface="Consolas" pitchFamily="34" charset="0"/>
                <a:ea typeface="Consolas" pitchFamily="34" charset="-122"/>
                <a:cs typeface="Consolas" pitchFamily="34" charset="-120"/>
              </a:rPr>
              <a:t> baru) </a:t>
            </a:r>
            <a:r>
              <a:rPr lang="en-US" sz="1200" dirty="0">
                <a:solidFill>
                  <a:srgbClr val="C792EA"/>
                </a:solidFill>
                <a:latin typeface="Consolas" pitchFamily="34" charset="0"/>
                <a:ea typeface="Consolas" pitchFamily="34" charset="-122"/>
                <a:cs typeface="Consolas" pitchFamily="34" charset="-120"/>
              </a:rPr>
              <a:t>async</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_pengaturan = baru;</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notifyListeners(); </a:t>
            </a:r>
            <a:r>
              <a:rPr lang="en-US" sz="1200" i="1" dirty="0">
                <a:solidFill>
                  <a:srgbClr val="8FA3BC"/>
                </a:solidFill>
                <a:latin typeface="Consolas" pitchFamily="34" charset="0"/>
                <a:ea typeface="Consolas" pitchFamily="34" charset="-122"/>
                <a:cs typeface="Consolas" pitchFamily="34" charset="-120"/>
              </a:rPr>
              <a:t>// tampilan berubah dulu,</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_repositori.simpan(baru); </a:t>
            </a:r>
            <a:r>
              <a:rPr lang="en-US" sz="1200" i="1" dirty="0">
                <a:solidFill>
                  <a:srgbClr val="8FA3BC"/>
                </a:solidFill>
                <a:latin typeface="Consolas" pitchFamily="34" charset="0"/>
                <a:ea typeface="Consolas" pitchFamily="34" charset="-122"/>
                <a:cs typeface="Consolas" pitchFamily="34" charset="-120"/>
              </a:rPr>
              <a:t>// lalu simpan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9" name="tombol tautan">
            <a:hlinkClick r:id="rId3" tooltip="https://github.com/antonprafanto/mobile2026/blob/main/pertemuan_11_penyimpanan_lokal/kode/contoh_02_pengaturan_tampilan.dart"/>
          </p:cNvPr>
          <p:cNvSpPr txBox="1"/>
          <p:nvPr/>
        </p:nvSpPr>
        <p:spPr>
          <a:xfrm>
            <a:off x="548640" y="4270248"/>
            <a:ext cx="515081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contoh_02_pengaturan_tampilan.dart</a:t>
            </a:r>
            <a:endParaRPr lang="en-US" sz="1300" dirty="0"/>
          </a:p>
        </p:txBody>
      </p:sp>
      <p:pic>
        <p:nvPicPr>
          <p:cNvPr id="10" name="Image 2" descr="ikon tautan">
            <a:hlinkClick r:id="rId5" tooltip="https://github.com/antonprafanto/mobile2026/blob/main/pertemuan_11_penyimpanan_lokal/kode/contoh_02_pengaturan_tampilan.dart"/>
          </p:cNvPr>
          <p:cNvPicPr>
            <a:picLocks noChangeAspect="1"/>
          </p:cNvPicPr>
          <p:nvPr/>
        </p:nvPicPr>
        <p:blipFill>
          <a:blip r:embed="rId4"/>
          <a:stretch>
            <a:fillRect/>
          </a:stretch>
        </p:blipFill>
        <p:spPr>
          <a:xfrm>
            <a:off x="694944" y="4361688"/>
            <a:ext cx="274320" cy="274320"/>
          </a:xfrm>
          <a:prstGeom prst="rect">
            <a:avLst/>
          </a:prstGeom>
        </p:spPr>
      </p:pic>
      <p:sp>
        <p:nvSpPr>
          <p:cNvPr id="11" name="daftar poin"/>
          <p:cNvSpPr txBox="1"/>
          <p:nvPr/>
        </p:nvSpPr>
        <p:spPr>
          <a:xfrm>
            <a:off x="548640" y="5001768"/>
            <a:ext cx="5150815" cy="1216152"/>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MaterialApp memakai context.watch: seluruh tema langsung berganti.</a:t>
            </a:r>
            <a:endParaRPr lang="en-US" sz="1500" dirty="0"/>
          </a:p>
          <a:p>
            <a:pPr marL="228600" indent="-228600">
              <a:spcAft>
                <a:spcPts val="800"/>
              </a:spcAft>
              <a:buSzPct val="100000"/>
              <a:buChar char="•"/>
            </a:pPr>
            <a:r>
              <a:rPr lang="en-US" sz="1500" dirty="0">
                <a:solidFill>
                  <a:schemeClr val="tx1"/>
                </a:solidFill>
              </a:rPr>
              <a:t>contrastLevel: 0.0 normal, 0.5 sedang, 1.0 tinggi.</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4</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Menyimpan Objek dan Daftar</a:t>
            </a:r>
            <a:endParaRPr lang="en-US" sz="4000" dirty="0"/>
          </a:p>
        </p:txBody>
      </p:sp>
      <p:sp>
        <p:nvSpPr>
          <p:cNvPr id="5" name="lingkaran data"/>
          <p:cNvSpPr/>
          <p:nvPr/>
        </p:nvSpPr>
        <p:spPr>
          <a:xfrm>
            <a:off x="1097280" y="2148840"/>
            <a:ext cx="2011680" cy="2011680"/>
          </a:xfrm>
          <a:prstGeom prst="ellipse">
            <a:avLst/>
          </a:prstGeom>
          <a:solidFill>
            <a:schemeClr val="accent1"/>
          </a:solidFill>
          <a:ln/>
        </p:spPr>
      </p:sp>
      <p:pic>
        <p:nvPicPr>
          <p:cNvPr id="6" name="Image 0" descr="data">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Objek Kecil sebagai Teks JSON</a:t>
            </a:r>
            <a:endParaRPr lang="en-US" sz="3200" dirty="0"/>
          </a:p>
        </p:txBody>
      </p:sp>
      <p:sp>
        <p:nvSpPr>
          <p:cNvPr id="4" name="kotak kode"/>
          <p:cNvSpPr txBox="1"/>
          <p:nvPr/>
        </p:nvSpPr>
        <p:spPr>
          <a:xfrm>
            <a:off x="548640" y="1371600"/>
            <a:ext cx="7132320" cy="3867912"/>
          </a:xfrm>
          <a:prstGeom prst="roundRect">
            <a:avLst>
              <a:gd name="adj" fmla="val 2364"/>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Future</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C792EA"/>
                </a:solidFill>
                <a:latin typeface="Consolas" pitchFamily="34" charset="0"/>
                <a:ea typeface="Consolas" pitchFamily="34" charset="-122"/>
                <a:cs typeface="Consolas" pitchFamily="34" charset="-120"/>
              </a:rPr>
              <a:t>void</a:t>
            </a:r>
            <a:r>
              <a:rPr lang="en-US" sz="1200" dirty="0">
                <a:solidFill>
                  <a:srgbClr val="E6EDF3"/>
                </a:solidFill>
                <a:latin typeface="Consolas" pitchFamily="34" charset="0"/>
                <a:ea typeface="Consolas" pitchFamily="34" charset="-122"/>
                <a:cs typeface="Consolas" pitchFamily="34" charset="-120"/>
              </a:rPr>
              <a:t>&gt; simpanDraf(</a:t>
            </a:r>
            <a:r>
              <a:rPr lang="en-US" sz="1200" dirty="0">
                <a:solidFill>
                  <a:srgbClr val="FFCB6B"/>
                </a:solidFill>
                <a:latin typeface="Consolas" pitchFamily="34" charset="0"/>
                <a:ea typeface="Consolas" pitchFamily="34" charset="-122"/>
                <a:cs typeface="Consolas" pitchFamily="34" charset="-120"/>
              </a:rPr>
              <a:t>DrafIzin</a:t>
            </a:r>
            <a:r>
              <a:rPr lang="en-US" sz="1200" dirty="0">
                <a:solidFill>
                  <a:srgbClr val="E6EDF3"/>
                </a:solidFill>
                <a:latin typeface="Consolas" pitchFamily="34" charset="0"/>
                <a:ea typeface="Consolas" pitchFamily="34" charset="-122"/>
                <a:cs typeface="Consolas" pitchFamily="34" charset="-120"/>
              </a:rPr>
              <a:t> draf) </a:t>
            </a:r>
            <a:r>
              <a:rPr lang="en-US" sz="1200" dirty="0">
                <a:solidFill>
                  <a:srgbClr val="C792EA"/>
                </a:solidFill>
                <a:latin typeface="Consolas" pitchFamily="34" charset="0"/>
                <a:ea typeface="Consolas" pitchFamily="34" charset="-122"/>
                <a:cs typeface="Consolas" pitchFamily="34" charset="-120"/>
              </a:rPr>
              <a:t>async</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teks = jsonEncode(draf.keJson());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_prefs.setString(_kunciDraf, teks);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Future</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DrafIzin</a:t>
            </a:r>
            <a:r>
              <a:rPr lang="en-US" sz="1200" dirty="0">
                <a:solidFill>
                  <a:srgbClr val="E6EDF3"/>
                </a:solidFill>
                <a:latin typeface="Consolas" pitchFamily="34" charset="0"/>
                <a:ea typeface="Consolas" pitchFamily="34" charset="-122"/>
                <a:cs typeface="Consolas" pitchFamily="34" charset="-120"/>
              </a:rPr>
              <a:t>?&gt; bacaDraf() </a:t>
            </a:r>
            <a:r>
              <a:rPr lang="en-US" sz="1200" dirty="0">
                <a:solidFill>
                  <a:srgbClr val="C792EA"/>
                </a:solidFill>
                <a:latin typeface="Consolas" pitchFamily="34" charset="0"/>
                <a:ea typeface="Consolas" pitchFamily="34" charset="-122"/>
                <a:cs typeface="Consolas" pitchFamily="34" charset="-120"/>
              </a:rPr>
              <a:t>async</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teks =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_prefs.getString(_kunciDraf);</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(teks == </a:t>
            </a:r>
            <a:r>
              <a:rPr lang="en-US" sz="1200" dirty="0">
                <a:solidFill>
                  <a:srgbClr val="C792EA"/>
                </a:solidFill>
                <a:latin typeface="Consolas" pitchFamily="34" charset="0"/>
                <a:ea typeface="Consolas" pitchFamily="34" charset="-122"/>
                <a:cs typeface="Consolas" pitchFamily="34" charset="-120"/>
              </a:rPr>
              <a:t>null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null</a:t>
            </a: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belum ada draf</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try</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switch</a:t>
            </a:r>
            <a:r>
              <a:rPr lang="en-US" sz="1200" dirty="0">
                <a:solidFill>
                  <a:srgbClr val="E6EDF3"/>
                </a:solidFill>
                <a:latin typeface="Consolas" pitchFamily="34" charset="0"/>
                <a:ea typeface="Consolas" pitchFamily="34" charset="-122"/>
                <a:cs typeface="Consolas" pitchFamily="34" charset="-120"/>
              </a:rPr>
              <a:t> (jsonDecode(teks))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Map</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dynamic</a:t>
            </a:r>
            <a:r>
              <a:rPr lang="en-US" sz="1200" dirty="0">
                <a:solidFill>
                  <a:srgbClr val="E6EDF3"/>
                </a:solidFill>
                <a:latin typeface="Consolas" pitchFamily="34" charset="0"/>
                <a:ea typeface="Consolas" pitchFamily="34" charset="-122"/>
                <a:cs typeface="Consolas" pitchFamily="34" charset="-120"/>
              </a:rPr>
              <a:t>&gt; json =&gt; </a:t>
            </a:r>
            <a:r>
              <a:rPr lang="en-US" sz="1200" dirty="0">
                <a:solidFill>
                  <a:srgbClr val="FFCB6B"/>
                </a:solidFill>
                <a:latin typeface="Consolas" pitchFamily="34" charset="0"/>
                <a:ea typeface="Consolas" pitchFamily="34" charset="-122"/>
                <a:cs typeface="Consolas" pitchFamily="34" charset="-120"/>
              </a:rPr>
              <a:t>DrafIzin</a:t>
            </a:r>
            <a:r>
              <a:rPr lang="en-US" sz="1200" dirty="0">
                <a:solidFill>
                  <a:srgbClr val="E6EDF3"/>
                </a:solidFill>
                <a:latin typeface="Consolas" pitchFamily="34" charset="0"/>
                <a:ea typeface="Consolas" pitchFamily="34" charset="-122"/>
                <a:cs typeface="Consolas" pitchFamily="34" charset="-120"/>
              </a:rPr>
              <a:t>.dariJson(json),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 =&gt; </a:t>
            </a:r>
            <a:r>
              <a:rPr lang="en-US" sz="1200" dirty="0">
                <a:solidFill>
                  <a:srgbClr val="C792EA"/>
                </a:solidFill>
                <a:latin typeface="Consolas" pitchFamily="34" charset="0"/>
                <a:ea typeface="Consolas" pitchFamily="34" charset="-122"/>
                <a:cs typeface="Consolas" pitchFamily="34" charset="-120"/>
              </a:rPr>
              <a:t>null</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 </a:t>
            </a:r>
            <a:r>
              <a:rPr lang="en-US" sz="1200" dirty="0">
                <a:solidFill>
                  <a:srgbClr val="C792EA"/>
                </a:solidFill>
                <a:latin typeface="Consolas" pitchFamily="34" charset="0"/>
                <a:ea typeface="Consolas" pitchFamily="34" charset="-122"/>
                <a:cs typeface="Consolas" pitchFamily="34" charset="-120"/>
              </a:rPr>
              <a:t>on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FormatException</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_prefs.remove(_kunciDraf); </a:t>
            </a:r>
            <a:r>
              <a:rPr lang="en-US" sz="1200" i="1" dirty="0">
                <a:solidFill>
                  <a:srgbClr val="8FA3BC"/>
                </a:solidFill>
                <a:latin typeface="Consolas" pitchFamily="34" charset="0"/>
                <a:ea typeface="Consolas" pitchFamily="34" charset="-122"/>
                <a:cs typeface="Consolas" pitchFamily="34" charset="-120"/>
              </a:rPr>
              <a:t>// rusak: buang saja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null</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1_penyimpanan_lokal/kode/contoh_03_draf_dan_riwayat.dart"/>
          </p:cNvPr>
          <p:cNvSpPr txBox="1"/>
          <p:nvPr/>
        </p:nvSpPr>
        <p:spPr>
          <a:xfrm>
            <a:off x="548640" y="5468112"/>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contoh_03_draf_dan_riwayat.dart</a:t>
            </a:r>
            <a:endParaRPr lang="en-US" sz="1300" dirty="0"/>
          </a:p>
        </p:txBody>
      </p:sp>
      <p:pic>
        <p:nvPicPr>
          <p:cNvPr id="6" name="Image 0" descr="ikon tautan">
            <a:hlinkClick r:id="rId3" tooltip="https://github.com/antonprafanto/mobile2026/blob/main/pertemuan_11_penyimpanan_lokal/kode/contoh_03_draf_dan_riwayat.dart"/>
          </p:cNvPr>
          <p:cNvPicPr>
            <a:picLocks noChangeAspect="1"/>
          </p:cNvPicPr>
          <p:nvPr/>
        </p:nvPicPr>
        <p:blipFill>
          <a:blip r:embed="rId2"/>
          <a:stretch>
            <a:fillRect/>
          </a:stretch>
        </p:blipFill>
        <p:spPr>
          <a:xfrm>
            <a:off x="694944" y="5559552"/>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Objek → keJson() → jsonEncode → setString.</a:t>
            </a:r>
            <a:endParaRPr lang="en-US" sz="1700" dirty="0"/>
          </a:p>
          <a:p>
            <a:pPr marL="228600" indent="-228600">
              <a:spcAft>
                <a:spcPts val="800"/>
              </a:spcAft>
              <a:buSzPct val="100000"/>
              <a:buChar char="•"/>
            </a:pPr>
            <a:r>
              <a:rPr lang="en-US" sz="1700" dirty="0">
                <a:solidFill>
                  <a:schemeClr val="tx1"/>
                </a:solidFill>
              </a:rPr>
              <a:t>getString → jsonDecode → dariJson → objek.</a:t>
            </a:r>
            <a:endParaRPr lang="en-US" sz="1700" dirty="0"/>
          </a:p>
          <a:p>
            <a:pPr marL="228600" indent="-228600">
              <a:spcAft>
                <a:spcPts val="800"/>
              </a:spcAft>
              <a:buSzPct val="100000"/>
              <a:buChar char="•"/>
            </a:pPr>
            <a:r>
              <a:rPr lang="en-US" sz="1700" dirty="0">
                <a:solidFill>
                  <a:schemeClr val="tx1"/>
                </a:solidFill>
              </a:rPr>
              <a:t>Data tersimpan bisa rusak, atau berasal dari versi lama yang bentuknya berbeda.</a:t>
            </a:r>
            <a:endParaRPr lang="en-US" sz="1700" dirty="0"/>
          </a:p>
          <a:p>
            <a:pPr marL="228600" indent="-228600">
              <a:spcAft>
                <a:spcPts val="800"/>
              </a:spcAft>
              <a:buSzPct val="100000"/>
              <a:buChar char="•"/>
            </a:pPr>
            <a:r>
              <a:rPr lang="en-US" sz="1700" dirty="0">
                <a:solidFill>
                  <a:schemeClr val="tx1"/>
                </a:solidFill>
              </a:rPr>
              <a:t>Aplikasi yang baik tidak crash: draf rusak dibuang, formulir mulai kosong.</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03: Draf Otomatis dan Riwayat</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3.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2715768"/>
          </a:xfrm>
          <a:prstGeom prst="roundRect">
            <a:avLst>
              <a:gd name="adj" fmla="val 3367"/>
            </a:avLst>
          </a:prstGeom>
          <a:solidFill>
            <a:srgbClr val="0E1A2B"/>
          </a:solidFill>
          <a:ln/>
        </p:spPr>
        <p:txBody>
          <a:bodyPr wrap="square" lIns="177800" tIns="152400" rIns="152400" bIns="177800" rtlCol="0" anchor="t"/>
          <a:lstStyle/>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debounce: simpan 600 ms setelah BERHENTI mengetik</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void</a:t>
            </a:r>
            <a:r>
              <a:rPr lang="en-US" sz="1200" dirty="0">
                <a:solidFill>
                  <a:srgbClr val="E6EDF3"/>
                </a:solidFill>
                <a:latin typeface="Consolas" pitchFamily="34" charset="0"/>
                <a:ea typeface="Consolas" pitchFamily="34" charset="-122"/>
                <a:cs typeface="Consolas" pitchFamily="34" charset="-120"/>
              </a:rPr>
              <a:t> _jadwalkanSimpan()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_penunda?.cancel(); </a:t>
            </a:r>
            <a:r>
              <a:rPr lang="en-US" sz="1200" i="1" dirty="0">
                <a:solidFill>
                  <a:srgbClr val="8FA3BC"/>
                </a:solidFill>
                <a:latin typeface="Consolas" pitchFamily="34" charset="0"/>
                <a:ea typeface="Consolas" pitchFamily="34" charset="-122"/>
                <a:cs typeface="Consolas" pitchFamily="34" charset="-120"/>
              </a:rPr>
              <a:t>// batalkan jadwal sebelumnya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_penunda = </a:t>
            </a:r>
            <a:r>
              <a:rPr lang="en-US" sz="1200" dirty="0">
                <a:solidFill>
                  <a:srgbClr val="FFCB6B"/>
                </a:solidFill>
                <a:latin typeface="Consolas" pitchFamily="34" charset="0"/>
                <a:ea typeface="Consolas" pitchFamily="34" charset="-122"/>
                <a:cs typeface="Consolas" pitchFamily="34" charset="-120"/>
              </a:rPr>
              <a:t>Timer</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Duration</a:t>
            </a:r>
            <a:r>
              <a:rPr lang="en-US" sz="1200" dirty="0">
                <a:solidFill>
                  <a:srgbClr val="E6EDF3"/>
                </a:solidFill>
                <a:latin typeface="Consolas" pitchFamily="34" charset="0"/>
                <a:ea typeface="Consolas" pitchFamily="34" charset="-122"/>
                <a:cs typeface="Consolas" pitchFamily="34" charset="-120"/>
              </a:rPr>
              <a:t>(milliseconds: </a:t>
            </a:r>
            <a:r>
              <a:rPr lang="en-US" sz="1200" dirty="0">
                <a:solidFill>
                  <a:srgbClr val="F78C6C"/>
                </a:solidFill>
                <a:latin typeface="Consolas" pitchFamily="34" charset="0"/>
                <a:ea typeface="Consolas" pitchFamily="34" charset="-122"/>
                <a:cs typeface="Consolas" pitchFamily="34" charset="-120"/>
              </a:rPr>
              <a:t>600</a:t>
            </a:r>
            <a:r>
              <a:rPr lang="en-US" sz="1200" dirty="0">
                <a:solidFill>
                  <a:srgbClr val="E6EDF3"/>
                </a:solidFill>
                <a:latin typeface="Consolas" pitchFamily="34" charset="0"/>
                <a:ea typeface="Consolas" pitchFamily="34" charset="-122"/>
                <a:cs typeface="Consolas" pitchFamily="34" charset="-120"/>
              </a:rPr>
              <a:t>), _simpanSekarang);</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riwayat: terbaru di depan, paling banyak 5</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&gt; lama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_prefs.getStringList(_kunciRiwayat) ?? [];</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&gt; baru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[entri, ...lama].take(batasRiwayat).toList();</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_prefs.setStringList(_kunciRiwayat, baru);</a:t>
            </a:r>
            <a:endParaRPr lang="en-US" sz="1200" dirty="0"/>
          </a:p>
        </p:txBody>
      </p:sp>
      <p:sp>
        <p:nvSpPr>
          <p:cNvPr id="7" name="tombol tautan">
            <a:hlinkClick r:id="rId2" tooltip="https://github.com/antonprafanto/mobile2026/blob/main/pertemuan_11_penyimpanan_lokal/kode/contoh_03_draf_dan_riwayat.dart"/>
          </p:cNvPr>
          <p:cNvSpPr txBox="1"/>
          <p:nvPr/>
        </p:nvSpPr>
        <p:spPr>
          <a:xfrm>
            <a:off x="548640" y="4270248"/>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contoh_03_draf_dan_riwayat.dart</a:t>
            </a:r>
            <a:endParaRPr lang="en-US" sz="1300" dirty="0"/>
          </a:p>
        </p:txBody>
      </p:sp>
      <p:pic>
        <p:nvPicPr>
          <p:cNvPr id="8" name="Image 1" descr="ikon tautan">
            <a:hlinkClick r:id="rId4" tooltip="https://github.com/antonprafanto/mobile2026/blob/main/pertemuan_11_penyimpanan_lokal/kode/contoh_03_draf_dan_riwayat.dart"/>
          </p:cNvPr>
          <p:cNvPicPr>
            <a:picLocks noChangeAspect="1"/>
          </p:cNvPicPr>
          <p:nvPr/>
        </p:nvPicPr>
        <p:blipFill>
          <a:blip r:embed="rId3"/>
          <a:stretch>
            <a:fillRect/>
          </a:stretch>
        </p:blipFill>
        <p:spPr>
          <a:xfrm>
            <a:off x="694944" y="4361688"/>
            <a:ext cx="274320" cy="274320"/>
          </a:xfrm>
          <a:prstGeom prst="rect">
            <a:avLst/>
          </a:prstGeom>
        </p:spPr>
      </p:pic>
      <p:sp>
        <p:nvSpPr>
          <p:cNvPr id="9" name="daftar poin"/>
          <p:cNvSpPr txBox="1"/>
          <p:nvPr/>
        </p:nvSpPr>
        <p:spPr>
          <a:xfrm>
            <a:off x="548640" y="5001768"/>
            <a:ext cx="7608319" cy="1216152"/>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Menyimpan setiap huruf itu boros: debounce dari Pertemuan 10.</a:t>
            </a:r>
            <a:endParaRPr lang="en-US" sz="1500" dirty="0"/>
          </a:p>
          <a:p>
            <a:pPr marL="228600" indent="-228600">
              <a:spcAft>
                <a:spcPts val="800"/>
              </a:spcAft>
              <a:buSzPct val="100000"/>
              <a:buChar char="•"/>
            </a:pPr>
            <a:r>
              <a:rPr lang="en-US" sz="1500" dirty="0">
                <a:solidFill>
                  <a:schemeClr val="tx1"/>
                </a:solidFill>
              </a:rPr>
              <a:t>Halaman ditutup sebelum 600 ms? Ketikan terakhir disimpan di dispose().</a:t>
            </a:r>
            <a:endParaRPr lang="en-US" sz="1500" dirty="0"/>
          </a:p>
          <a:p>
            <a:pPr marL="228600" indent="-228600">
              <a:spcAft>
                <a:spcPts val="800"/>
              </a:spcAft>
              <a:buSzPct val="100000"/>
              <a:buChar char="•"/>
            </a:pPr>
            <a:r>
              <a:rPr lang="en-US" sz="1500" dirty="0">
                <a:solidFill>
                  <a:schemeClr val="tx1"/>
                </a:solidFill>
              </a:rPr>
              <a:t>Coba: isi sebagian formulir, hot restart → "Draf terakhir dipulihkan."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Batas Kemampuan shared_preferences</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738491"/>
                <a:gridCol w="1338981"/>
                <a:gridCol w="4016943"/>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Kebutuhan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Cocok?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Sebaiknya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Mode gelap, bahasa, kota terakhir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Draf formulir, riwayat pencarian singkat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Salinan kecil data internet (cache)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Bagian 10</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Ratusan catatan yang perlu dicari dan diurutkan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Tidak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SQLite (Bagian 5)</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Transaksi keuangan, nilai: TIDAK BOLEH hilang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Tidak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SQLite + transaksi, cadangan di server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Password dan token masuk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Tidak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flutter_secure_storage (Bagian 13)</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Dokumentasi resminya: tidak ada jaminan data benar-benar tertulis saat perintah simpan selesai → jangan dipakai untuk data penting.</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5</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Mengenal SQLite dan Memasang sqflite</a:t>
            </a:r>
            <a:endParaRPr lang="en-US" sz="4000" dirty="0"/>
          </a:p>
        </p:txBody>
      </p:sp>
      <p:sp>
        <p:nvSpPr>
          <p:cNvPr id="5" name="lingkaran tabel"/>
          <p:cNvSpPr/>
          <p:nvPr/>
        </p:nvSpPr>
        <p:spPr>
          <a:xfrm>
            <a:off x="1097280" y="2148840"/>
            <a:ext cx="2011680" cy="2011680"/>
          </a:xfrm>
          <a:prstGeom prst="ellipse">
            <a:avLst/>
          </a:prstGeom>
          <a:solidFill>
            <a:schemeClr val="accent1"/>
          </a:solidFill>
          <a:ln/>
        </p:spPr>
      </p:sp>
      <p:pic>
        <p:nvPicPr>
          <p:cNvPr id="6" name="Image 0" descr="tabel">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SQLite: Lemari Arsip dalam Satu Berkas</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355925"/>
                <a:gridCol w="5738491"/>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Lemari arsip</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SQLite</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66928">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Lemarinya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Berkas database, misalnya catatan_kuliah.db</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Satu laci untuk satu jenis arsip</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Tabel, misalnya catatan atau mahasiswa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Isian yang sama di setiap kartu (nama, NIM, IPK)</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Kolom</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Satu kartu arsip</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Baris (row), yaitu satu data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Nomor kartu yang tidak pernah kembar</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Kunci utama (primary key), biasanya kolom id</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SQLite bisa mencari (WHERE), mengurutkan (ORDER BY), menghitung (COUNT, SUM), menghubungkan tabel (JOIN), dan menjaga keutuhan (UNIQUE, CHECK, transaksi).</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Tipe Data SQLite dan Padanannya di Dart</a:t>
            </a:r>
            <a:endParaRPr lang="en-US" sz="3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869245"/>
                <a:gridCol w="3443094"/>
                <a:gridCol w="4782076"/>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SQLite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Dart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Catatan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48640">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INTEGER</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int</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Bilangan bulat, termasuk uang dalam rupiah</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REAL</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double (dibaca sebagai num)</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Pecahan, misalnya IPK dan suhu</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TEXT</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String</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Teks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INTEGER 1 / 0</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bool</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SQLite tidak punya bool: disematkan ? 1 : 0</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INTEGER milidetik</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DateTime (waktu)</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waktu.millisecondsSinceEpoch</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TEXT 'YYYY-MM-DD'</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DateTime (tanggal saja)</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Urutan teksnya sama dengan urutan tanggal</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TEXT nama</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Enum</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kondisi.name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SQL Kilat</a:t>
            </a:r>
            <a:endParaRPr lang="en-US" sz="3200" dirty="0"/>
          </a:p>
        </p:txBody>
      </p:sp>
      <p:sp>
        <p:nvSpPr>
          <p:cNvPr id="4" name="kotak kode"/>
          <p:cNvSpPr txBox="1"/>
          <p:nvPr/>
        </p:nvSpPr>
        <p:spPr>
          <a:xfrm>
            <a:off x="548640" y="1371600"/>
            <a:ext cx="7132320" cy="3115818"/>
          </a:xfrm>
          <a:prstGeom prst="roundRect">
            <a:avLst>
              <a:gd name="adj" fmla="val 293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CREATE TABLE mahasiswa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id   INTEGER PRIMARY KEY AUTOINCREMENT,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nim  TEXT NOT NULL UNIQUE,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nama TEXT NOT NULL,</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ipk  REAL NOT NULL</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INSERT INTO mahasiswa (nim, nama, ipk)</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VALUES (</a:t>
            </a:r>
            <a:r>
              <a:rPr lang="en-US" sz="1300" dirty="0">
                <a:solidFill>
                  <a:srgbClr val="C3E88D"/>
                </a:solidFill>
                <a:latin typeface="Consolas" pitchFamily="34" charset="0"/>
                <a:ea typeface="Consolas" pitchFamily="34" charset="-122"/>
                <a:cs typeface="Consolas" pitchFamily="34" charset="-120"/>
              </a:rPr>
              <a:t>'2609106001'</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'Rina Kusuma'</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78C6C"/>
                </a:solidFill>
                <a:latin typeface="Consolas" pitchFamily="34" charset="0"/>
                <a:ea typeface="Consolas" pitchFamily="34" charset="-122"/>
                <a:cs typeface="Consolas" pitchFamily="34" charset="-120"/>
              </a:rPr>
              <a:t>3.75</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SELECT * FROM mahasiswa WHERE ipk &gt;= </a:t>
            </a:r>
            <a:r>
              <a:rPr lang="en-US" sz="1300" dirty="0">
                <a:solidFill>
                  <a:srgbClr val="F78C6C"/>
                </a:solidFill>
                <a:latin typeface="Consolas" pitchFamily="34" charset="0"/>
                <a:ea typeface="Consolas" pitchFamily="34" charset="-122"/>
                <a:cs typeface="Consolas" pitchFamily="34" charset="-120"/>
              </a:rPr>
              <a:t>3.5</a:t>
            </a:r>
            <a:r>
              <a:rPr lang="en-US" sz="1300" dirty="0">
                <a:solidFill>
                  <a:srgbClr val="E6EDF3"/>
                </a:solidFill>
                <a:latin typeface="Consolas" pitchFamily="34" charset="0"/>
                <a:ea typeface="Consolas" pitchFamily="34" charset="-122"/>
                <a:cs typeface="Consolas" pitchFamily="34" charset="-120"/>
              </a:rPr>
              <a:t> ORDER BY ipk DESC;</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UPDATE mahasiswa SET ipk = </a:t>
            </a:r>
            <a:r>
              <a:rPr lang="en-US" sz="1300" dirty="0">
                <a:solidFill>
                  <a:srgbClr val="F78C6C"/>
                </a:solidFill>
                <a:latin typeface="Consolas" pitchFamily="34" charset="0"/>
                <a:ea typeface="Consolas" pitchFamily="34" charset="-122"/>
                <a:cs typeface="Consolas" pitchFamily="34" charset="-120"/>
              </a:rPr>
              <a:t>3.40</a:t>
            </a:r>
            <a:r>
              <a:rPr lang="en-US" sz="1300" dirty="0">
                <a:solidFill>
                  <a:srgbClr val="E6EDF3"/>
                </a:solidFill>
                <a:latin typeface="Consolas" pitchFamily="34" charset="0"/>
                <a:ea typeface="Consolas" pitchFamily="34" charset="-122"/>
                <a:cs typeface="Consolas" pitchFamily="34" charset="-120"/>
              </a:rPr>
              <a:t> WHERE nim = </a:t>
            </a:r>
            <a:r>
              <a:rPr lang="en-US" sz="1300" dirty="0">
                <a:solidFill>
                  <a:srgbClr val="C3E88D"/>
                </a:solidFill>
                <a:latin typeface="Consolas" pitchFamily="34" charset="0"/>
                <a:ea typeface="Consolas" pitchFamily="34" charset="-122"/>
                <a:cs typeface="Consolas" pitchFamily="34" charset="-120"/>
              </a:rPr>
              <a:t>'2609106002'</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DELETE FROM mahasiswa WHERE id = </a:t>
            </a:r>
            <a:r>
              <a:rPr lang="en-US" sz="1300" dirty="0">
                <a:solidFill>
                  <a:srgbClr val="F78C6C"/>
                </a:solidFill>
                <a:latin typeface="Consolas" pitchFamily="34" charset="0"/>
                <a:ea typeface="Consolas" pitchFamily="34" charset="-122"/>
                <a:cs typeface="Consolas" pitchFamily="34" charset="-120"/>
              </a:rPr>
              <a:t>3</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SELECT COUNT(*) FROM mahasiswa;</a:t>
            </a:r>
            <a:endParaRPr lang="en-US" sz="1300" dirty="0"/>
          </a:p>
        </p:txBody>
      </p:sp>
      <p:sp>
        <p:nvSpPr>
          <p:cNvPr id="5"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AUTOINCREMENT: nomor otomatis, tidak pernah dipakai ulang.</a:t>
            </a:r>
            <a:endParaRPr lang="en-US" sz="1700" dirty="0"/>
          </a:p>
          <a:p>
            <a:pPr marL="228600" indent="-228600">
              <a:spcAft>
                <a:spcPts val="800"/>
              </a:spcAft>
              <a:buSzPct val="100000"/>
              <a:buChar char="•"/>
            </a:pPr>
            <a:r>
              <a:rPr lang="en-US" sz="1700" dirty="0">
                <a:solidFill>
                  <a:schemeClr val="tx1"/>
                </a:solidFill>
              </a:rPr>
              <a:t>NOT NULL: wajib diisi. UNIQUE: tidak boleh kembar.</a:t>
            </a:r>
            <a:endParaRPr lang="en-US" sz="1700" dirty="0"/>
          </a:p>
          <a:p>
            <a:pPr marL="228600" indent="-228600">
              <a:spcAft>
                <a:spcPts val="800"/>
              </a:spcAft>
              <a:buSzPct val="100000"/>
              <a:buChar char="•"/>
            </a:pPr>
            <a:r>
              <a:rPr lang="en-US" sz="1700" dirty="0">
                <a:solidFill>
                  <a:schemeClr val="tx1"/>
                </a:solidFill>
              </a:rPr>
              <a:t>Sudah mengambil Basis Data? Ini sekadar pengingat.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Memasang sqflite (Android dan Chrome)</a:t>
            </a:r>
            <a:endParaRPr lang="en-US" sz="3200" dirty="0"/>
          </a:p>
        </p:txBody>
      </p:sp>
      <p:sp>
        <p:nvSpPr>
          <p:cNvPr id="4" name="kotak kode"/>
          <p:cNvSpPr txBox="1"/>
          <p:nvPr/>
        </p:nvSpPr>
        <p:spPr>
          <a:xfrm>
            <a:off x="548640" y="1371600"/>
            <a:ext cx="6766560" cy="2715768"/>
          </a:xfrm>
          <a:prstGeom prst="roundRect">
            <a:avLst>
              <a:gd name="adj" fmla="val 3367"/>
            </a:avLst>
          </a:prstGeom>
          <a:solidFill>
            <a:srgbClr val="0E1A2B"/>
          </a:solidFill>
          <a:ln/>
        </p:spPr>
        <p:txBody>
          <a:bodyPr wrap="square" lIns="177800" tIns="152400" rIns="152400" bIns="177800" rtlCol="0" anchor="t"/>
          <a:lstStyle/>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flutter pub add sqflite sqflite_common_ffi_web</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Chrome, sekali: dart run sqflite_common_ffi_web:setup</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import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'package:flutter/foundation.dart'</a:t>
            </a:r>
            <a:r>
              <a:rPr lang="en-US" sz="1200" dirty="0">
                <a:solidFill>
                  <a:srgbClr val="E6EDF3"/>
                </a:solidFill>
                <a:latin typeface="Consolas" pitchFamily="34" charset="0"/>
                <a:ea typeface="Consolas" pitchFamily="34" charset="-122"/>
                <a:cs typeface="Consolas" pitchFamily="34" charset="-120"/>
              </a:rPr>
              <a:t> show kIsWeb;</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import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'package:sqflite/sqflite.dart'</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import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'package:sqflite_common_ffi_web/sqflite_ffi_web.dart'</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void</a:t>
            </a:r>
            <a:r>
              <a:rPr lang="en-US" sz="1200" dirty="0">
                <a:solidFill>
                  <a:srgbClr val="E6EDF3"/>
                </a:solidFill>
                <a:latin typeface="Consolas" pitchFamily="34" charset="0"/>
                <a:ea typeface="Consolas" pitchFamily="34" charset="-122"/>
                <a:cs typeface="Consolas" pitchFamily="34" charset="-120"/>
              </a:rPr>
              <a:t> main()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(kIsWeb)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databaseFactory = databaseFactoryFfiWeb;</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runApp(</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AplikasiSaya</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sqflite: Android, iOS, macOS; data = satu berkas di folder aplikasi.</a:t>
            </a:r>
            <a:endParaRPr lang="en-US" sz="1700" dirty="0"/>
          </a:p>
          <a:p>
            <a:pPr marL="228600" indent="-228600">
              <a:spcAft>
                <a:spcPts val="800"/>
              </a:spcAft>
              <a:buSzPct val="100000"/>
              <a:buChar char="•"/>
            </a:pPr>
            <a:r>
              <a:rPr lang="en-US" sz="1700" dirty="0">
                <a:solidFill>
                  <a:schemeClr val="tx1"/>
                </a:solidFill>
              </a:rPr>
              <a:t>sqflite_common_ffi_web: SQLite versi WebAssembly untuk Chrome; data di IndexedDB.</a:t>
            </a:r>
            <a:endParaRPr lang="en-US" sz="1700" dirty="0"/>
          </a:p>
          <a:p>
            <a:pPr marL="228600" indent="-228600">
              <a:spcAft>
                <a:spcPts val="800"/>
              </a:spcAft>
              <a:buSzPct val="100000"/>
              <a:buChar char="•"/>
            </a:pPr>
            <a:r>
              <a:rPr lang="en-US" sz="1700" dirty="0">
                <a:solidFill>
                  <a:schemeClr val="tx1"/>
                </a:solidFill>
              </a:rPr>
              <a:t>setup menyiapkan web/sqlite3.wasm dan web/sqflite_sw.js.</a:t>
            </a:r>
            <a:endParaRPr lang="en-US" sz="1700" dirty="0"/>
          </a:p>
          <a:p>
            <a:pPr marL="228600" indent="-228600">
              <a:spcAft>
                <a:spcPts val="800"/>
              </a:spcAft>
              <a:buSzPct val="100000"/>
              <a:buChar char="•"/>
            </a:pPr>
            <a:r>
              <a:rPr lang="en-US" sz="1700" dirty="0">
                <a:solidFill>
                  <a:schemeClr val="tx1"/>
                </a:solidFill>
              </a:rPr>
              <a:t>Di Chrome: selalu --web-port=8080.</a:t>
            </a:r>
            <a:endParaRPr lang="en-US" sz="1700" dirty="0"/>
          </a:p>
          <a:p>
            <a:pPr marL="228600" indent="-228600">
              <a:spcAft>
                <a:spcPts val="800"/>
              </a:spcAft>
              <a:buSzPct val="100000"/>
              <a:buChar char="•"/>
            </a:pPr>
            <a:r>
              <a:rPr lang="en-US" sz="1700" dirty="0">
                <a:solidFill>
                  <a:schemeClr val="tx1"/>
                </a:solidFill>
              </a:rPr>
              <a:t>Belum tersedia di DartPad. Dukungan web masih eksperimental.</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6</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SQL Langkah demi Langkah</a:t>
            </a:r>
            <a:endParaRPr lang="en-US" sz="4000" dirty="0"/>
          </a:p>
        </p:txBody>
      </p:sp>
      <p:sp>
        <p:nvSpPr>
          <p:cNvPr id="5" name="lingkaran terminal"/>
          <p:cNvSpPr/>
          <p:nvPr/>
        </p:nvSpPr>
        <p:spPr>
          <a:xfrm>
            <a:off x="1097280" y="2148840"/>
            <a:ext cx="2011680" cy="2011680"/>
          </a:xfrm>
          <a:prstGeom prst="ellipse">
            <a:avLst/>
          </a:prstGeom>
          <a:solidFill>
            <a:schemeClr val="accent1"/>
          </a:solidFill>
          <a:ln/>
        </p:spPr>
      </p:sp>
      <p:pic>
        <p:nvPicPr>
          <p:cNvPr id="6" name="Image 0" descr="terminal">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Empat Operasi Utama: CRUD</a:t>
            </a:r>
            <a:endParaRPr 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434623"/>
                <a:gridCol w="6886189"/>
                <a:gridCol w="2773604"/>
              </a:tblGrid>
              <a:tr h="7772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Operasi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Kode Dart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Hasilnya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7724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Create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db.insert('mahasiswa', {'nim': '2609106001', 'nama': 'Rina Kusuma', 'ipk': 3.75})</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int: id baris baru</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7724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Read</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db.query('mahasiswa', where: 'ipk &gt;= ?', whereArgs: [3.5], orderBy: 'ipk DESC')</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List&lt;Map&lt;String, Object?&gt;&gt;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7724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Update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db.update('mahasiswa', {'ipk': 3.40}, where: 'nim = ?', whereArgs: ['2609106002'])</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int: JUMLAH baris berubah</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7724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Delete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db.delete('mahasiswa', where: 'id = ?', whereArgs: [3])</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int: JUMLAH baris terhapus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Isi baris = Map: kunci = nama kolom, nilai = isinya. Kolom id tidak perlu diisi: AUTOINCREMENT.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Baris Tabel Menjadi Model, dan rawQuery</a:t>
            </a:r>
            <a:endParaRPr lang="en-US" sz="3200" dirty="0"/>
          </a:p>
        </p:txBody>
      </p:sp>
      <p:sp>
        <p:nvSpPr>
          <p:cNvPr id="4" name="kotak kode"/>
          <p:cNvSpPr txBox="1"/>
          <p:nvPr/>
        </p:nvSpPr>
        <p:spPr>
          <a:xfrm>
            <a:off x="548640" y="1371600"/>
            <a:ext cx="7132320" cy="3483864"/>
          </a:xfrm>
          <a:prstGeom prst="roundRect">
            <a:avLst>
              <a:gd name="adj" fmla="val 2625"/>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factory</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Mahasiswa</a:t>
            </a:r>
            <a:r>
              <a:rPr lang="en-US" sz="1200" dirty="0">
                <a:solidFill>
                  <a:srgbClr val="E6EDF3"/>
                </a:solidFill>
                <a:latin typeface="Consolas" pitchFamily="34" charset="0"/>
                <a:ea typeface="Consolas" pitchFamily="34" charset="-122"/>
                <a:cs typeface="Consolas" pitchFamily="34" charset="-120"/>
              </a:rPr>
              <a:t>.dariBaris(</a:t>
            </a:r>
            <a:r>
              <a:rPr lang="en-US" sz="1200" dirty="0">
                <a:solidFill>
                  <a:srgbClr val="FFCB6B"/>
                </a:solidFill>
                <a:latin typeface="Consolas" pitchFamily="34" charset="0"/>
                <a:ea typeface="Consolas" pitchFamily="34" charset="-122"/>
                <a:cs typeface="Consolas" pitchFamily="34" charset="-120"/>
              </a:rPr>
              <a:t>Map</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Object</a:t>
            </a:r>
            <a:r>
              <a:rPr lang="en-US" sz="1200" dirty="0">
                <a:solidFill>
                  <a:srgbClr val="E6EDF3"/>
                </a:solidFill>
                <a:latin typeface="Consolas" pitchFamily="34" charset="0"/>
                <a:ea typeface="Consolas" pitchFamily="34" charset="-122"/>
                <a:cs typeface="Consolas" pitchFamily="34" charset="-120"/>
              </a:rPr>
              <a:t>?&gt; baris)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switch</a:t>
            </a:r>
            <a:r>
              <a:rPr lang="en-US" sz="1200" dirty="0">
                <a:solidFill>
                  <a:srgbClr val="E6EDF3"/>
                </a:solidFill>
                <a:latin typeface="Consolas" pitchFamily="34" charset="0"/>
                <a:ea typeface="Consolas" pitchFamily="34" charset="-122"/>
                <a:cs typeface="Consolas" pitchFamily="34" charset="-120"/>
              </a:rPr>
              <a:t> (baris)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'id'</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int</a:t>
            </a:r>
            <a:r>
              <a:rPr lang="en-US" sz="1200" dirty="0">
                <a:solidFill>
                  <a:srgbClr val="E6EDF3"/>
                </a:solidFill>
                <a:latin typeface="Consolas" pitchFamily="34" charset="0"/>
                <a:ea typeface="Consolas" pitchFamily="34" charset="-122"/>
                <a:cs typeface="Consolas" pitchFamily="34" charset="-120"/>
              </a:rPr>
              <a:t> id,</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'nim'</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nim,</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'nama'</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nama,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'ipk'</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num</a:t>
            </a:r>
            <a:r>
              <a:rPr lang="en-US" sz="1200" dirty="0">
                <a:solidFill>
                  <a:srgbClr val="E6EDF3"/>
                </a:solidFill>
                <a:latin typeface="Consolas" pitchFamily="34" charset="0"/>
                <a:ea typeface="Consolas" pitchFamily="34" charset="-122"/>
                <a:cs typeface="Consolas" pitchFamily="34" charset="-120"/>
              </a:rPr>
              <a:t> ipk, </a:t>
            </a:r>
            <a:r>
              <a:rPr lang="en-US" sz="1200" i="1" dirty="0">
                <a:solidFill>
                  <a:srgbClr val="8FA3BC"/>
                </a:solidFill>
                <a:latin typeface="Consolas" pitchFamily="34" charset="0"/>
                <a:ea typeface="Consolas" pitchFamily="34" charset="-122"/>
                <a:cs typeface="Consolas" pitchFamily="34" charset="-120"/>
              </a:rPr>
              <a:t>// REAL dibaca sebagai num</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 =&gt;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Mahasiswa</a:t>
            </a:r>
            <a:r>
              <a:rPr lang="en-US" sz="1200" dirty="0">
                <a:solidFill>
                  <a:srgbClr val="E6EDF3"/>
                </a:solidFill>
                <a:latin typeface="Consolas" pitchFamily="34" charset="0"/>
                <a:ea typeface="Consolas" pitchFamily="34" charset="-122"/>
                <a:cs typeface="Consolas" pitchFamily="34" charset="-120"/>
              </a:rPr>
              <a:t>(id: id, nim: nim, nama: nama, ipk: ipk.toDouble()),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 =&gt; </a:t>
            </a:r>
            <a:r>
              <a:rPr lang="en-US" sz="1200" dirty="0">
                <a:solidFill>
                  <a:srgbClr val="C792EA"/>
                </a:solidFill>
                <a:latin typeface="Consolas" pitchFamily="34" charset="0"/>
                <a:ea typeface="Consolas" pitchFamily="34" charset="-122"/>
                <a:cs typeface="Consolas" pitchFamily="34" charset="-120"/>
              </a:rPr>
              <a:t>throw</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FormatException</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C3E88D"/>
                </a:solidFill>
                <a:latin typeface="Consolas" pitchFamily="34" charset="0"/>
                <a:ea typeface="Consolas" pitchFamily="34" charset="-122"/>
                <a:cs typeface="Consolas" pitchFamily="34" charset="-120"/>
              </a:rPr>
              <a:t>'Baris tidak sesuai: $baris'</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int</a:t>
            </a:r>
            <a:r>
              <a:rPr lang="en-US" sz="1200" dirty="0">
                <a:solidFill>
                  <a:srgbClr val="E6EDF3"/>
                </a:solidFill>
                <a:latin typeface="Consolas" pitchFamily="34" charset="0"/>
                <a:ea typeface="Consolas" pitchFamily="34" charset="-122"/>
                <a:cs typeface="Consolas" pitchFamily="34" charset="-120"/>
              </a:rPr>
              <a:t>? jumlah = </a:t>
            </a:r>
            <a:r>
              <a:rPr lang="en-US" sz="1200" dirty="0">
                <a:solidFill>
                  <a:srgbClr val="FFCB6B"/>
                </a:solidFill>
                <a:latin typeface="Consolas" pitchFamily="34" charset="0"/>
                <a:ea typeface="Consolas" pitchFamily="34" charset="-122"/>
                <a:cs typeface="Consolas" pitchFamily="34" charset="-120"/>
              </a:rPr>
              <a:t>Sqflite</a:t>
            </a:r>
            <a:r>
              <a:rPr lang="en-US" sz="1200" dirty="0">
                <a:solidFill>
                  <a:srgbClr val="E6EDF3"/>
                </a:solidFill>
                <a:latin typeface="Consolas" pitchFamily="34" charset="0"/>
                <a:ea typeface="Consolas" pitchFamily="34" charset="-122"/>
                <a:cs typeface="Consolas" pitchFamily="34" charset="-120"/>
              </a:rPr>
              <a:t>.firstIntValue(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db.rawQuery(</a:t>
            </a:r>
            <a:r>
              <a:rPr lang="en-US" sz="1200" dirty="0">
                <a:solidFill>
                  <a:srgbClr val="C3E88D"/>
                </a:solidFill>
                <a:latin typeface="Consolas" pitchFamily="34" charset="0"/>
                <a:ea typeface="Consolas" pitchFamily="34" charset="-122"/>
                <a:cs typeface="Consolas" pitchFamily="34" charset="-120"/>
              </a:rPr>
              <a:t>'SELECT COUNT(*) FROM mahasiswa'</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1_penyimpanan_lokal/kode/contoh_04_sql_langkah_demi_langkah.dart"/>
          </p:cNvPr>
          <p:cNvSpPr txBox="1"/>
          <p:nvPr/>
        </p:nvSpPr>
        <p:spPr>
          <a:xfrm>
            <a:off x="548640" y="5084064"/>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contoh_04_sql_langkah_demi_langkah.dart</a:t>
            </a:r>
            <a:endParaRPr lang="en-US" sz="1300" dirty="0"/>
          </a:p>
        </p:txBody>
      </p:sp>
      <p:pic>
        <p:nvPicPr>
          <p:cNvPr id="6" name="Image 0" descr="ikon tautan">
            <a:hlinkClick r:id="rId3" tooltip="https://github.com/antonprafanto/mobile2026/blob/main/pertemuan_11_penyimpanan_lokal/kode/contoh_04_sql_langkah_demi_langkah.dart"/>
          </p:cNvPr>
          <p:cNvPicPr>
            <a:picLocks noChangeAspect="1"/>
          </p:cNvPicPr>
          <p:nvPr/>
        </p:nvPicPr>
        <p:blipFill>
          <a:blip r:embed="rId2"/>
          <a:stretch>
            <a:fillRect/>
          </a:stretch>
        </p:blipFill>
        <p:spPr>
          <a:xfrm>
            <a:off x="694944" y="5175504"/>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Pola map, sama seperti fromJson di Pertemuan 10.</a:t>
            </a:r>
            <a:endParaRPr lang="en-US" sz="1700" dirty="0"/>
          </a:p>
          <a:p>
            <a:pPr marL="228600" indent="-228600">
              <a:spcAft>
                <a:spcPts val="800"/>
              </a:spcAft>
              <a:buSzPct val="100000"/>
              <a:buChar char="•"/>
            </a:pPr>
            <a:r>
              <a:rPr lang="en-US" sz="1700" dirty="0">
                <a:solidFill>
                  <a:schemeClr val="tx1"/>
                </a:solidFill>
              </a:rPr>
              <a:t>rawQuery: SQL bebas, misalnya COUNT, AVG, SUM, JOIN.</a:t>
            </a:r>
            <a:endParaRPr lang="en-US" sz="1700" dirty="0"/>
          </a:p>
          <a:p>
            <a:pPr marL="228600" indent="-228600">
              <a:spcAft>
                <a:spcPts val="800"/>
              </a:spcAft>
              <a:buSzPct val="100000"/>
              <a:buChar char="•"/>
            </a:pPr>
            <a:r>
              <a:rPr lang="en-US" sz="1700" dirty="0">
                <a:solidFill>
                  <a:schemeClr val="tx1"/>
                </a:solidFill>
              </a:rPr>
              <a:t>Sqflite.firstIntValue: angka pertama di baris pertama.</a:t>
            </a:r>
            <a:endParaRPr lang="en-US" sz="1700" dirty="0"/>
          </a:p>
          <a:p>
            <a:pPr marL="228600" indent="-228600">
              <a:spcAft>
                <a:spcPts val="800"/>
              </a:spcAft>
              <a:buSzPct val="100000"/>
              <a:buChar char="•"/>
            </a:pPr>
            <a:r>
              <a:rPr lang="en-US" sz="1700" dirty="0">
                <a:solidFill>
                  <a:schemeClr val="tx1"/>
                </a:solidFill>
              </a:rPr>
              <a:t>Pasangan tulisnya: rawInsert, rawUpdate, rawDelete.</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04: Database Pun Bisa Menolak</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4.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2907792"/>
          </a:xfrm>
          <a:prstGeom prst="roundRect">
            <a:avLst>
              <a:gd name="adj" fmla="val 3145"/>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try</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db.insert(</a:t>
            </a:r>
            <a:r>
              <a:rPr lang="en-US" sz="1200" dirty="0">
                <a:solidFill>
                  <a:srgbClr val="C3E88D"/>
                </a:solidFill>
                <a:latin typeface="Consolas" pitchFamily="34" charset="0"/>
                <a:ea typeface="Consolas" pitchFamily="34" charset="-122"/>
                <a:cs typeface="Consolas" pitchFamily="34" charset="-120"/>
              </a:rPr>
              <a:t>'mahasiswa'</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'nim'</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'2609106001'</a:t>
            </a: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sudah dipakai Rina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'nama'</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'Rina Palsu'</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'ipk'</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78C6C"/>
                </a:solidFill>
                <a:latin typeface="Consolas" pitchFamily="34" charset="0"/>
                <a:ea typeface="Consolas" pitchFamily="34" charset="-122"/>
                <a:cs typeface="Consolas" pitchFamily="34" charset="-120"/>
              </a:rPr>
              <a:t>4.0</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on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DatabaseException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catch</a:t>
            </a:r>
            <a:r>
              <a:rPr lang="en-US" sz="1200" dirty="0">
                <a:solidFill>
                  <a:srgbClr val="E6EDF3"/>
                </a:solidFill>
                <a:latin typeface="Consolas" pitchFamily="34" charset="0"/>
                <a:ea typeface="Consolas" pitchFamily="34" charset="-122"/>
                <a:cs typeface="Consolas" pitchFamily="34" charset="-120"/>
              </a:rPr>
              <a:t> (galat)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(galat.isUniqueConstraintError())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Langkah 9: ditolak (UNIQUE)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 </a:t>
            </a:r>
            <a:r>
              <a:rPr lang="en-US" sz="1200" dirty="0">
                <a:solidFill>
                  <a:srgbClr val="C792EA"/>
                </a:solidFill>
                <a:latin typeface="Consolas" pitchFamily="34" charset="0"/>
                <a:ea typeface="Consolas" pitchFamily="34" charset="-122"/>
                <a:cs typeface="Consolas" pitchFamily="34" charset="-120"/>
              </a:rPr>
              <a:t>else</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rethrow;</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7" name="tombol tautan">
            <a:hlinkClick r:id="rId2" tooltip="https://github.com/antonprafanto/mobile2026/blob/main/pertemuan_11_penyimpanan_lokal/kode/contoh_04_sql_langkah_demi_langkah.dart"/>
          </p:cNvPr>
          <p:cNvSpPr txBox="1"/>
          <p:nvPr/>
        </p:nvSpPr>
        <p:spPr>
          <a:xfrm>
            <a:off x="548640" y="4462272"/>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contoh_04_sql_langkah_demi_langkah.dart</a:t>
            </a:r>
            <a:endParaRPr lang="en-US" sz="1300" dirty="0"/>
          </a:p>
        </p:txBody>
      </p:sp>
      <p:pic>
        <p:nvPicPr>
          <p:cNvPr id="8" name="Image 1" descr="ikon tautan">
            <a:hlinkClick r:id="rId4" tooltip="https://github.com/antonprafanto/mobile2026/blob/main/pertemuan_11_penyimpanan_lokal/kode/contoh_04_sql_langkah_demi_langkah.dart"/>
          </p:cNvPr>
          <p:cNvPicPr>
            <a:picLocks noChangeAspect="1"/>
          </p:cNvPicPr>
          <p:nvPr/>
        </p:nvPicPr>
        <p:blipFill>
          <a:blip r:embed="rId3"/>
          <a:stretch>
            <a:fillRect/>
          </a:stretch>
        </p:blipFill>
        <p:spPr>
          <a:xfrm>
            <a:off x="694944" y="4553712"/>
            <a:ext cx="274320" cy="274320"/>
          </a:xfrm>
          <a:prstGeom prst="rect">
            <a:avLst/>
          </a:prstGeom>
        </p:spPr>
      </p:pic>
      <p:sp>
        <p:nvSpPr>
          <p:cNvPr id="9" name="daftar poin"/>
          <p:cNvSpPr txBox="1"/>
          <p:nvPr/>
        </p:nvSpPr>
        <p:spPr>
          <a:xfrm>
            <a:off x="548640" y="5193792"/>
            <a:ext cx="7608319" cy="1024128"/>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NIM kembar ditolak SQLite → DatabaseException.</a:t>
            </a:r>
            <a:endParaRPr lang="en-US" sz="1500" dirty="0"/>
          </a:p>
          <a:p>
            <a:pPr marL="228600" indent="-228600">
              <a:spcAft>
                <a:spcPts val="800"/>
              </a:spcAft>
              <a:buSzPct val="100000"/>
              <a:buChar char="•"/>
            </a:pPr>
            <a:r>
              <a:rPr lang="en-US" sz="1500" dirty="0">
                <a:solidFill>
                  <a:schemeClr val="tx1"/>
                </a:solidFill>
              </a:rPr>
              <a:t>NOT NULL, UNIQUE, CHECK = pagar terakhir, walaupun kode Dart ber-bug.</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Hasil Seluruh Langkah</a:t>
            </a:r>
            <a:endParaRPr lang="en-US" sz="3200" dirty="0"/>
          </a:p>
        </p:txBody>
      </p:sp>
      <p:sp>
        <p:nvSpPr>
          <p:cNvPr id="4" name="kotak kode"/>
          <p:cNvSpPr txBox="1"/>
          <p:nvPr/>
        </p:nvSpPr>
        <p:spPr>
          <a:xfrm>
            <a:off x="548640" y="1371600"/>
            <a:ext cx="7132320" cy="3099816"/>
          </a:xfrm>
          <a:prstGeom prst="roundRect">
            <a:avLst>
              <a:gd name="adj" fmla="val 2950"/>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Langkah </a:t>
            </a:r>
            <a:r>
              <a:rPr lang="en-US" sz="1200" dirty="0">
                <a:solidFill>
                  <a:srgbClr val="F78C6C"/>
                </a:solidFill>
                <a:latin typeface="Consolas" pitchFamily="34" charset="0"/>
                <a:ea typeface="Consolas" pitchFamily="34" charset="-122"/>
                <a:cs typeface="Consolas" pitchFamily="34" charset="-120"/>
              </a:rPr>
              <a:t>1</a:t>
            </a:r>
            <a:r>
              <a:rPr lang="en-US" sz="1200" dirty="0">
                <a:solidFill>
                  <a:srgbClr val="E6EDF3"/>
                </a:solidFill>
                <a:latin typeface="Consolas" pitchFamily="34" charset="0"/>
                <a:ea typeface="Consolas" pitchFamily="34" charset="-122"/>
                <a:cs typeface="Consolas" pitchFamily="34" charset="-120"/>
              </a:rPr>
              <a:t> · CREATE TABLE: tabel mahasiswa dibuat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Langkah </a:t>
            </a:r>
            <a:r>
              <a:rPr lang="en-US" sz="1200" dirty="0">
                <a:solidFill>
                  <a:srgbClr val="F78C6C"/>
                </a:solidFill>
                <a:latin typeface="Consolas" pitchFamily="34" charset="0"/>
                <a:ea typeface="Consolas" pitchFamily="34" charset="-122"/>
                <a:cs typeface="Consolas" pitchFamily="34" charset="-120"/>
              </a:rPr>
              <a:t>2</a:t>
            </a:r>
            <a:r>
              <a:rPr lang="en-US" sz="1200" dirty="0">
                <a:solidFill>
                  <a:srgbClr val="E6EDF3"/>
                </a:solidFill>
                <a:latin typeface="Consolas" pitchFamily="34" charset="0"/>
                <a:ea typeface="Consolas" pitchFamily="34" charset="-122"/>
                <a:cs typeface="Consolas" pitchFamily="34" charset="-120"/>
              </a:rPr>
              <a:t> · INSERT: Rina -&gt; id </a:t>
            </a:r>
            <a:r>
              <a:rPr lang="en-US" sz="1200" dirty="0">
                <a:solidFill>
                  <a:srgbClr val="F78C6C"/>
                </a:solidFill>
                <a:latin typeface="Consolas" pitchFamily="34" charset="0"/>
                <a:ea typeface="Consolas" pitchFamily="34" charset="-122"/>
                <a:cs typeface="Consolas" pitchFamily="34" charset="-120"/>
              </a:rPr>
              <a:t>1</a:t>
            </a:r>
            <a:r>
              <a:rPr lang="en-US" sz="1200" dirty="0">
                <a:solidFill>
                  <a:srgbClr val="E6EDF3"/>
                </a:solidFill>
                <a:latin typeface="Consolas" pitchFamily="34" charset="0"/>
                <a:ea typeface="Consolas" pitchFamily="34" charset="-122"/>
                <a:cs typeface="Consolas" pitchFamily="34" charset="-120"/>
              </a:rPr>
              <a:t>, Bayu -&gt; id </a:t>
            </a:r>
            <a:r>
              <a:rPr lang="en-US" sz="1200" dirty="0">
                <a:solidFill>
                  <a:srgbClr val="F78C6C"/>
                </a:solidFill>
                <a:latin typeface="Consolas" pitchFamily="34" charset="0"/>
                <a:ea typeface="Consolas" pitchFamily="34" charset="-122"/>
                <a:cs typeface="Consolas" pitchFamily="34" charset="-120"/>
              </a:rPr>
              <a:t>2</a:t>
            </a:r>
            <a:r>
              <a:rPr lang="en-US" sz="1200" dirty="0">
                <a:solidFill>
                  <a:srgbClr val="E6EDF3"/>
                </a:solidFill>
                <a:latin typeface="Consolas" pitchFamily="34" charset="0"/>
                <a:ea typeface="Consolas" pitchFamily="34" charset="-122"/>
                <a:cs typeface="Consolas" pitchFamily="34" charset="-120"/>
              </a:rPr>
              <a:t>, Citra -&gt; id </a:t>
            </a:r>
            <a:r>
              <a:rPr lang="en-US" sz="1200" dirty="0">
                <a:solidFill>
                  <a:srgbClr val="F78C6C"/>
                </a:solidFill>
                <a:latin typeface="Consolas" pitchFamily="34" charset="0"/>
                <a:ea typeface="Consolas" pitchFamily="34" charset="-122"/>
                <a:cs typeface="Consolas" pitchFamily="34" charset="-120"/>
              </a:rPr>
              <a:t>3</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Langkah </a:t>
            </a:r>
            <a:r>
              <a:rPr lang="en-US" sz="1200" dirty="0">
                <a:solidFill>
                  <a:srgbClr val="F78C6C"/>
                </a:solidFill>
                <a:latin typeface="Consolas" pitchFamily="34" charset="0"/>
                <a:ea typeface="Consolas" pitchFamily="34" charset="-122"/>
                <a:cs typeface="Consolas" pitchFamily="34" charset="-120"/>
              </a:rPr>
              <a:t>3</a:t>
            </a:r>
            <a:r>
              <a:rPr lang="en-US" sz="1200" dirty="0">
                <a:solidFill>
                  <a:srgbClr val="E6EDF3"/>
                </a:solidFill>
                <a:latin typeface="Consolas" pitchFamily="34" charset="0"/>
                <a:ea typeface="Consolas" pitchFamily="34" charset="-122"/>
                <a:cs typeface="Consolas" pitchFamily="34" charset="-120"/>
              </a:rPr>
              <a:t> · SELECT semua (urut nama): Bayu, Citra, Rina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Langkah </a:t>
            </a:r>
            <a:r>
              <a:rPr lang="en-US" sz="1200" dirty="0">
                <a:solidFill>
                  <a:srgbClr val="F78C6C"/>
                </a:solidFill>
                <a:latin typeface="Consolas" pitchFamily="34" charset="0"/>
                <a:ea typeface="Consolas" pitchFamily="34" charset="-122"/>
                <a:cs typeface="Consolas" pitchFamily="34" charset="-120"/>
              </a:rPr>
              <a:t>4</a:t>
            </a:r>
            <a:r>
              <a:rPr lang="en-US" sz="1200" dirty="0">
                <a:solidFill>
                  <a:srgbClr val="E6EDF3"/>
                </a:solidFill>
                <a:latin typeface="Consolas" pitchFamily="34" charset="0"/>
                <a:ea typeface="Consolas" pitchFamily="34" charset="-122"/>
                <a:cs typeface="Consolas" pitchFamily="34" charset="-120"/>
              </a:rPr>
              <a:t> · SELECT IPK &gt;= </a:t>
            </a:r>
            <a:r>
              <a:rPr lang="en-US" sz="1200" dirty="0">
                <a:solidFill>
                  <a:srgbClr val="F78C6C"/>
                </a:solidFill>
                <a:latin typeface="Consolas" pitchFamily="34" charset="0"/>
                <a:ea typeface="Consolas" pitchFamily="34" charset="-122"/>
                <a:cs typeface="Consolas" pitchFamily="34" charset="-120"/>
              </a:rPr>
              <a:t>3.50</a:t>
            </a:r>
            <a:r>
              <a:rPr lang="en-US" sz="1200" dirty="0">
                <a:solidFill>
                  <a:srgbClr val="E6EDF3"/>
                </a:solidFill>
                <a:latin typeface="Consolas" pitchFamily="34" charset="0"/>
                <a:ea typeface="Consolas" pitchFamily="34" charset="-122"/>
                <a:cs typeface="Consolas" pitchFamily="34" charset="-120"/>
              </a:rPr>
              <a:t> (tertinggi dulu): Citra, Rina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Langkah </a:t>
            </a:r>
            <a:r>
              <a:rPr lang="en-US" sz="1200" dirty="0">
                <a:solidFill>
                  <a:srgbClr val="F78C6C"/>
                </a:solidFill>
                <a:latin typeface="Consolas" pitchFamily="34" charset="0"/>
                <a:ea typeface="Consolas" pitchFamily="34" charset="-122"/>
                <a:cs typeface="Consolas" pitchFamily="34" charset="-120"/>
              </a:rPr>
              <a:t>5</a:t>
            </a:r>
            <a:r>
              <a:rPr lang="en-US" sz="1200" dirty="0">
                <a:solidFill>
                  <a:srgbClr val="E6EDF3"/>
                </a:solidFill>
                <a:latin typeface="Consolas" pitchFamily="34" charset="0"/>
                <a:ea typeface="Consolas" pitchFamily="34" charset="-122"/>
                <a:cs typeface="Consolas" pitchFamily="34" charset="-120"/>
              </a:rPr>
              <a:t> · UPDATE IPK Bayu -&gt; </a:t>
            </a:r>
            <a:r>
              <a:rPr lang="en-US" sz="1200" dirty="0">
                <a:solidFill>
                  <a:srgbClr val="F78C6C"/>
                </a:solidFill>
                <a:latin typeface="Consolas" pitchFamily="34" charset="0"/>
                <a:ea typeface="Consolas" pitchFamily="34" charset="-122"/>
                <a:cs typeface="Consolas" pitchFamily="34" charset="-120"/>
              </a:rPr>
              <a:t>1</a:t>
            </a:r>
            <a:r>
              <a:rPr lang="en-US" sz="1200" dirty="0">
                <a:solidFill>
                  <a:srgbClr val="E6EDF3"/>
                </a:solidFill>
                <a:latin typeface="Consolas" pitchFamily="34" charset="0"/>
                <a:ea typeface="Consolas" pitchFamily="34" charset="-122"/>
                <a:cs typeface="Consolas" pitchFamily="34" charset="-120"/>
              </a:rPr>
              <a:t> baris berubah</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Langkah </a:t>
            </a:r>
            <a:r>
              <a:rPr lang="en-US" sz="1200" dirty="0">
                <a:solidFill>
                  <a:srgbClr val="F78C6C"/>
                </a:solidFill>
                <a:latin typeface="Consolas" pitchFamily="34" charset="0"/>
                <a:ea typeface="Consolas" pitchFamily="34" charset="-122"/>
                <a:cs typeface="Consolas" pitchFamily="34" charset="-120"/>
              </a:rPr>
              <a:t>6</a:t>
            </a:r>
            <a:r>
              <a:rPr lang="en-US" sz="1200" dirty="0">
                <a:solidFill>
                  <a:srgbClr val="E6EDF3"/>
                </a:solidFill>
                <a:latin typeface="Consolas" pitchFamily="34" charset="0"/>
                <a:ea typeface="Consolas" pitchFamily="34" charset="-122"/>
                <a:cs typeface="Consolas" pitchFamily="34" charset="-120"/>
              </a:rPr>
              <a:t> · UPDATE NIM </a:t>
            </a:r>
            <a:r>
              <a:rPr lang="en-US" sz="1200" dirty="0">
                <a:solidFill>
                  <a:srgbClr val="F78C6C"/>
                </a:solidFill>
                <a:latin typeface="Consolas" pitchFamily="34" charset="0"/>
                <a:ea typeface="Consolas" pitchFamily="34" charset="-122"/>
                <a:cs typeface="Consolas" pitchFamily="34" charset="-120"/>
              </a:rPr>
              <a:t>2609109999</a:t>
            </a:r>
            <a:r>
              <a:rPr lang="en-US" sz="1200" dirty="0">
                <a:solidFill>
                  <a:srgbClr val="E6EDF3"/>
                </a:solidFill>
                <a:latin typeface="Consolas" pitchFamily="34" charset="0"/>
                <a:ea typeface="Consolas" pitchFamily="34" charset="-122"/>
                <a:cs typeface="Consolas" pitchFamily="34" charset="-120"/>
              </a:rPr>
              <a:t> -&gt; </a:t>
            </a:r>
            <a:r>
              <a:rPr lang="en-US" sz="1200" dirty="0">
                <a:solidFill>
                  <a:srgbClr val="F78C6C"/>
                </a:solidFill>
                <a:latin typeface="Consolas" pitchFamily="34" charset="0"/>
                <a:ea typeface="Consolas" pitchFamily="34" charset="-122"/>
                <a:cs typeface="Consolas" pitchFamily="34" charset="-120"/>
              </a:rPr>
              <a:t>0</a:t>
            </a:r>
            <a:r>
              <a:rPr lang="en-US" sz="1200" dirty="0">
                <a:solidFill>
                  <a:srgbClr val="E6EDF3"/>
                </a:solidFill>
                <a:latin typeface="Consolas" pitchFamily="34" charset="0"/>
                <a:ea typeface="Consolas" pitchFamily="34" charset="-122"/>
                <a:cs typeface="Consolas" pitchFamily="34" charset="-120"/>
              </a:rPr>
              <a:t> baris berubah</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Langkah </a:t>
            </a:r>
            <a:r>
              <a:rPr lang="en-US" sz="1200" dirty="0">
                <a:solidFill>
                  <a:srgbClr val="F78C6C"/>
                </a:solidFill>
                <a:latin typeface="Consolas" pitchFamily="34" charset="0"/>
                <a:ea typeface="Consolas" pitchFamily="34" charset="-122"/>
                <a:cs typeface="Consolas" pitchFamily="34" charset="-120"/>
              </a:rPr>
              <a:t>7</a:t>
            </a:r>
            <a:r>
              <a:rPr lang="en-US" sz="1200" dirty="0">
                <a:solidFill>
                  <a:srgbClr val="E6EDF3"/>
                </a:solidFill>
                <a:latin typeface="Consolas" pitchFamily="34" charset="0"/>
                <a:ea typeface="Consolas" pitchFamily="34" charset="-122"/>
                <a:cs typeface="Consolas" pitchFamily="34" charset="-120"/>
              </a:rPr>
              <a:t> · COUNT -&gt; </a:t>
            </a:r>
            <a:r>
              <a:rPr lang="en-US" sz="1200" dirty="0">
                <a:solidFill>
                  <a:srgbClr val="F78C6C"/>
                </a:solidFill>
                <a:latin typeface="Consolas" pitchFamily="34" charset="0"/>
                <a:ea typeface="Consolas" pitchFamily="34" charset="-122"/>
                <a:cs typeface="Consolas" pitchFamily="34" charset="-120"/>
              </a:rPr>
              <a:t>3</a:t>
            </a:r>
            <a:r>
              <a:rPr lang="en-US" sz="1200" dirty="0">
                <a:solidFill>
                  <a:srgbClr val="E6EDF3"/>
                </a:solidFill>
                <a:latin typeface="Consolas" pitchFamily="34" charset="0"/>
                <a:ea typeface="Consolas" pitchFamily="34" charset="-122"/>
                <a:cs typeface="Consolas" pitchFamily="34" charset="-120"/>
              </a:rPr>
              <a:t> mahasiswa, rata-rata IPK </a:t>
            </a:r>
            <a:r>
              <a:rPr lang="en-US" sz="1200" dirty="0">
                <a:solidFill>
                  <a:srgbClr val="F78C6C"/>
                </a:solidFill>
                <a:latin typeface="Consolas" pitchFamily="34" charset="0"/>
                <a:ea typeface="Consolas" pitchFamily="34" charset="-122"/>
                <a:cs typeface="Consolas" pitchFamily="34" charset="-120"/>
              </a:rPr>
              <a:t>3.69</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Langkah </a:t>
            </a:r>
            <a:r>
              <a:rPr lang="en-US" sz="1200" dirty="0">
                <a:solidFill>
                  <a:srgbClr val="F78C6C"/>
                </a:solidFill>
                <a:latin typeface="Consolas" pitchFamily="34" charset="0"/>
                <a:ea typeface="Consolas" pitchFamily="34" charset="-122"/>
                <a:cs typeface="Consolas" pitchFamily="34" charset="-120"/>
              </a:rPr>
              <a:t>8</a:t>
            </a:r>
            <a:r>
              <a:rPr lang="en-US" sz="1200" dirty="0">
                <a:solidFill>
                  <a:srgbClr val="E6EDF3"/>
                </a:solidFill>
                <a:latin typeface="Consolas" pitchFamily="34" charset="0"/>
                <a:ea typeface="Consolas" pitchFamily="34" charset="-122"/>
                <a:cs typeface="Consolas" pitchFamily="34" charset="-120"/>
              </a:rPr>
              <a:t> · DELETE id </a:t>
            </a:r>
            <a:r>
              <a:rPr lang="en-US" sz="1200" dirty="0">
                <a:solidFill>
                  <a:srgbClr val="F78C6C"/>
                </a:solidFill>
                <a:latin typeface="Consolas" pitchFamily="34" charset="0"/>
                <a:ea typeface="Consolas" pitchFamily="34" charset="-122"/>
                <a:cs typeface="Consolas" pitchFamily="34" charset="-120"/>
              </a:rPr>
              <a:t>3</a:t>
            </a:r>
            <a:r>
              <a:rPr lang="en-US" sz="1200" dirty="0">
                <a:solidFill>
                  <a:srgbClr val="E6EDF3"/>
                </a:solidFill>
                <a:latin typeface="Consolas" pitchFamily="34" charset="0"/>
                <a:ea typeface="Consolas" pitchFamily="34" charset="-122"/>
                <a:cs typeface="Consolas" pitchFamily="34" charset="-120"/>
              </a:rPr>
              <a:t> -&gt; </a:t>
            </a:r>
            <a:r>
              <a:rPr lang="en-US" sz="1200" dirty="0">
                <a:solidFill>
                  <a:srgbClr val="F78C6C"/>
                </a:solidFill>
                <a:latin typeface="Consolas" pitchFamily="34" charset="0"/>
                <a:ea typeface="Consolas" pitchFamily="34" charset="-122"/>
                <a:cs typeface="Consolas" pitchFamily="34" charset="-120"/>
              </a:rPr>
              <a:t>1</a:t>
            </a:r>
            <a:r>
              <a:rPr lang="en-US" sz="1200" dirty="0">
                <a:solidFill>
                  <a:srgbClr val="E6EDF3"/>
                </a:solidFill>
                <a:latin typeface="Consolas" pitchFamily="34" charset="0"/>
                <a:ea typeface="Consolas" pitchFamily="34" charset="-122"/>
                <a:cs typeface="Consolas" pitchFamily="34" charset="-120"/>
              </a:rPr>
              <a:t> baris terhapus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Langkah </a:t>
            </a:r>
            <a:r>
              <a:rPr lang="en-US" sz="1200" dirty="0">
                <a:solidFill>
                  <a:srgbClr val="F78C6C"/>
                </a:solidFill>
                <a:latin typeface="Consolas" pitchFamily="34" charset="0"/>
                <a:ea typeface="Consolas" pitchFamily="34" charset="-122"/>
                <a:cs typeface="Consolas" pitchFamily="34" charset="-120"/>
              </a:rPr>
              <a:t>9</a:t>
            </a:r>
            <a:r>
              <a:rPr lang="en-US" sz="1200" dirty="0">
                <a:solidFill>
                  <a:srgbClr val="E6EDF3"/>
                </a:solidFill>
                <a:latin typeface="Consolas" pitchFamily="34" charset="0"/>
                <a:ea typeface="Consolas" pitchFamily="34" charset="-122"/>
                <a:cs typeface="Consolas" pitchFamily="34" charset="-120"/>
              </a:rPr>
              <a:t> · INSERT NIM kembar -&gt; ditolak (UNIQUE)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Langkah </a:t>
            </a:r>
            <a:r>
              <a:rPr lang="en-US" sz="1200" dirty="0">
                <a:solidFill>
                  <a:srgbClr val="F78C6C"/>
                </a:solidFill>
                <a:latin typeface="Consolas" pitchFamily="34" charset="0"/>
                <a:ea typeface="Consolas" pitchFamily="34" charset="-122"/>
                <a:cs typeface="Consolas" pitchFamily="34" charset="-120"/>
              </a:rPr>
              <a:t>10</a:t>
            </a:r>
            <a:r>
              <a:rPr lang="en-US" sz="1200" dirty="0">
                <a:solidFill>
                  <a:srgbClr val="E6EDF3"/>
                </a:solidFill>
                <a:latin typeface="Consolas" pitchFamily="34" charset="0"/>
                <a:ea typeface="Consolas" pitchFamily="34" charset="-122"/>
                <a:cs typeface="Consolas" pitchFamily="34" charset="-120"/>
              </a:rPr>
              <a:t> · INSERT Dewi -&gt; id </a:t>
            </a:r>
            <a:r>
              <a:rPr lang="en-US" sz="1200" dirty="0">
                <a:solidFill>
                  <a:srgbClr val="F78C6C"/>
                </a:solidFill>
                <a:latin typeface="Consolas" pitchFamily="34" charset="0"/>
                <a:ea typeface="Consolas" pitchFamily="34" charset="-122"/>
                <a:cs typeface="Consolas" pitchFamily="34" charset="-120"/>
              </a:rPr>
              <a:t>4</a:t>
            </a:r>
            <a:r>
              <a:rPr lang="en-US" sz="1200" dirty="0">
                <a:solidFill>
                  <a:srgbClr val="E6EDF3"/>
                </a:solidFill>
                <a:latin typeface="Consolas" pitchFamily="34" charset="0"/>
                <a:ea typeface="Consolas" pitchFamily="34" charset="-122"/>
                <a:cs typeface="Consolas" pitchFamily="34" charset="-120"/>
              </a:rPr>
              <a:t> (id </a:t>
            </a:r>
            <a:r>
              <a:rPr lang="en-US" sz="1200" dirty="0">
                <a:solidFill>
                  <a:srgbClr val="F78C6C"/>
                </a:solidFill>
                <a:latin typeface="Consolas" pitchFamily="34" charset="0"/>
                <a:ea typeface="Consolas" pitchFamily="34" charset="-122"/>
                <a:cs typeface="Consolas" pitchFamily="34" charset="-120"/>
              </a:rPr>
              <a:t>3</a:t>
            </a:r>
            <a:r>
              <a:rPr lang="en-US" sz="1200" dirty="0">
                <a:solidFill>
                  <a:srgbClr val="E6EDF3"/>
                </a:solidFill>
                <a:latin typeface="Consolas" pitchFamily="34" charset="0"/>
                <a:ea typeface="Consolas" pitchFamily="34" charset="-122"/>
                <a:cs typeface="Consolas" pitchFamily="34" charset="-120"/>
              </a:rPr>
              <a:t> tidak dipakai lagi)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Langkah </a:t>
            </a:r>
            <a:r>
              <a:rPr lang="en-US" sz="1200" dirty="0">
                <a:solidFill>
                  <a:srgbClr val="F78C6C"/>
                </a:solidFill>
                <a:latin typeface="Consolas" pitchFamily="34" charset="0"/>
                <a:ea typeface="Consolas" pitchFamily="34" charset="-122"/>
                <a:cs typeface="Consolas" pitchFamily="34" charset="-120"/>
              </a:rPr>
              <a:t>11</a:t>
            </a:r>
            <a:r>
              <a:rPr lang="en-US" sz="1200" dirty="0">
                <a:solidFill>
                  <a:srgbClr val="E6EDF3"/>
                </a:solidFill>
                <a:latin typeface="Consolas" pitchFamily="34" charset="0"/>
                <a:ea typeface="Consolas" pitchFamily="34" charset="-122"/>
                <a:cs typeface="Consolas" pitchFamily="34" charset="-120"/>
              </a:rPr>
              <a:t> · SELECT semua (urut id):</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78C6C"/>
                </a:solidFill>
                <a:latin typeface="Consolas" pitchFamily="34" charset="0"/>
                <a:ea typeface="Consolas" pitchFamily="34" charset="-122"/>
                <a:cs typeface="Consolas" pitchFamily="34" charset="-120"/>
              </a:rPr>
              <a:t>1</a:t>
            </a:r>
            <a:r>
              <a:rPr lang="en-US" sz="1200" dirty="0">
                <a:solidFill>
                  <a:srgbClr val="E6EDF3"/>
                </a:solidFill>
                <a:latin typeface="Consolas" pitchFamily="34" charset="0"/>
                <a:ea typeface="Consolas" pitchFamily="34" charset="-122"/>
                <a:cs typeface="Consolas" pitchFamily="34" charset="-120"/>
              </a:rPr>
              <a:t> · Rina Kusuma · </a:t>
            </a:r>
            <a:r>
              <a:rPr lang="en-US" sz="1200" dirty="0">
                <a:solidFill>
                  <a:srgbClr val="F78C6C"/>
                </a:solidFill>
                <a:latin typeface="Consolas" pitchFamily="34" charset="0"/>
                <a:ea typeface="Consolas" pitchFamily="34" charset="-122"/>
                <a:cs typeface="Consolas" pitchFamily="34" charset="-120"/>
              </a:rPr>
              <a:t>2609106001</a:t>
            </a:r>
            <a:r>
              <a:rPr lang="en-US" sz="1200" dirty="0">
                <a:solidFill>
                  <a:srgbClr val="E6EDF3"/>
                </a:solidFill>
                <a:latin typeface="Consolas" pitchFamily="34" charset="0"/>
                <a:ea typeface="Consolas" pitchFamily="34" charset="-122"/>
                <a:cs typeface="Consolas" pitchFamily="34" charset="-120"/>
              </a:rPr>
              <a:t> · IPK </a:t>
            </a:r>
            <a:r>
              <a:rPr lang="en-US" sz="1200" dirty="0">
                <a:solidFill>
                  <a:srgbClr val="F78C6C"/>
                </a:solidFill>
                <a:latin typeface="Consolas" pitchFamily="34" charset="0"/>
                <a:ea typeface="Consolas" pitchFamily="34" charset="-122"/>
                <a:cs typeface="Consolas" pitchFamily="34" charset="-120"/>
              </a:rPr>
              <a:t>3.75</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78C6C"/>
                </a:solidFill>
                <a:latin typeface="Consolas" pitchFamily="34" charset="0"/>
                <a:ea typeface="Consolas" pitchFamily="34" charset="-122"/>
                <a:cs typeface="Consolas" pitchFamily="34" charset="-120"/>
              </a:rPr>
              <a:t>2</a:t>
            </a:r>
            <a:r>
              <a:rPr lang="en-US" sz="1200" dirty="0">
                <a:solidFill>
                  <a:srgbClr val="E6EDF3"/>
                </a:solidFill>
                <a:latin typeface="Consolas" pitchFamily="34" charset="0"/>
                <a:ea typeface="Consolas" pitchFamily="34" charset="-122"/>
                <a:cs typeface="Consolas" pitchFamily="34" charset="-120"/>
              </a:rPr>
              <a:t> · Bayu Saputra · </a:t>
            </a:r>
            <a:r>
              <a:rPr lang="en-US" sz="1200" dirty="0">
                <a:solidFill>
                  <a:srgbClr val="F78C6C"/>
                </a:solidFill>
                <a:latin typeface="Consolas" pitchFamily="34" charset="0"/>
                <a:ea typeface="Consolas" pitchFamily="34" charset="-122"/>
                <a:cs typeface="Consolas" pitchFamily="34" charset="-120"/>
              </a:rPr>
              <a:t>2609106002</a:t>
            </a:r>
            <a:r>
              <a:rPr lang="en-US" sz="1200" dirty="0">
                <a:solidFill>
                  <a:srgbClr val="E6EDF3"/>
                </a:solidFill>
                <a:latin typeface="Consolas" pitchFamily="34" charset="0"/>
                <a:ea typeface="Consolas" pitchFamily="34" charset="-122"/>
                <a:cs typeface="Consolas" pitchFamily="34" charset="-120"/>
              </a:rPr>
              <a:t> · IPK </a:t>
            </a:r>
            <a:r>
              <a:rPr lang="en-US" sz="1200" dirty="0">
                <a:solidFill>
                  <a:srgbClr val="F78C6C"/>
                </a:solidFill>
                <a:latin typeface="Consolas" pitchFamily="34" charset="0"/>
                <a:ea typeface="Consolas" pitchFamily="34" charset="-122"/>
                <a:cs typeface="Consolas" pitchFamily="34" charset="-120"/>
              </a:rPr>
              <a:t>3.40</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78C6C"/>
                </a:solidFill>
                <a:latin typeface="Consolas" pitchFamily="34" charset="0"/>
                <a:ea typeface="Consolas" pitchFamily="34" charset="-122"/>
                <a:cs typeface="Consolas" pitchFamily="34" charset="-120"/>
              </a:rPr>
              <a:t>4</a:t>
            </a:r>
            <a:r>
              <a:rPr lang="en-US" sz="1200" dirty="0">
                <a:solidFill>
                  <a:srgbClr val="E6EDF3"/>
                </a:solidFill>
                <a:latin typeface="Consolas" pitchFamily="34" charset="0"/>
                <a:ea typeface="Consolas" pitchFamily="34" charset="-122"/>
                <a:cs typeface="Consolas" pitchFamily="34" charset="-120"/>
              </a:rPr>
              <a:t> · Dewi Anggraini · </a:t>
            </a:r>
            <a:r>
              <a:rPr lang="en-US" sz="1200" dirty="0">
                <a:solidFill>
                  <a:srgbClr val="F78C6C"/>
                </a:solidFill>
                <a:latin typeface="Consolas" pitchFamily="34" charset="0"/>
                <a:ea typeface="Consolas" pitchFamily="34" charset="-122"/>
                <a:cs typeface="Consolas" pitchFamily="34" charset="-120"/>
              </a:rPr>
              <a:t>2609106004</a:t>
            </a:r>
            <a:r>
              <a:rPr lang="en-US" sz="1200" dirty="0">
                <a:solidFill>
                  <a:srgbClr val="E6EDF3"/>
                </a:solidFill>
                <a:latin typeface="Consolas" pitchFamily="34" charset="0"/>
                <a:ea typeface="Consolas" pitchFamily="34" charset="-122"/>
                <a:cs typeface="Consolas" pitchFamily="34" charset="-120"/>
              </a:rPr>
              <a:t> · IPK </a:t>
            </a:r>
            <a:r>
              <a:rPr lang="en-US" sz="1200" dirty="0">
                <a:solidFill>
                  <a:srgbClr val="F78C6C"/>
                </a:solidFill>
                <a:latin typeface="Consolas" pitchFamily="34" charset="0"/>
                <a:ea typeface="Consolas" pitchFamily="34" charset="-122"/>
                <a:cs typeface="Consolas" pitchFamily="34" charset="-120"/>
              </a:rPr>
              <a:t>3.58</a:t>
            </a:r>
            <a:endParaRPr lang="en-US" sz="1200" dirty="0"/>
          </a:p>
        </p:txBody>
      </p:sp>
      <p:sp>
        <p:nvSpPr>
          <p:cNvPr id="5"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Langkah 6: tidak gagal. UPDATE yang tidak menemukan baris hanya menghasilkan 0.</a:t>
            </a:r>
            <a:endParaRPr lang="en-US" sz="1700" dirty="0"/>
          </a:p>
          <a:p>
            <a:pPr marL="228600" indent="-228600">
              <a:spcAft>
                <a:spcPts val="800"/>
              </a:spcAft>
              <a:buSzPct val="100000"/>
              <a:buChar char="•"/>
            </a:pPr>
            <a:r>
              <a:rPr lang="en-US" sz="1700" dirty="0">
                <a:solidFill>
                  <a:schemeClr val="tx1"/>
                </a:solidFill>
              </a:rPr>
              <a:t>Langkah 7: rata-rata dihitung SETELAH IPK Bayu menjadi 3.40: (3.75 + 3.40 + 3.92) ÷ 3 = 3.69.</a:t>
            </a:r>
            <a:endParaRPr lang="en-US" sz="1700" dirty="0"/>
          </a:p>
          <a:p>
            <a:pPr marL="228600" indent="-228600">
              <a:spcAft>
                <a:spcPts val="800"/>
              </a:spcAft>
              <a:buSzPct val="100000"/>
              <a:buChar char="•"/>
            </a:pPr>
            <a:r>
              <a:rPr lang="en-US" sz="1700" dirty="0">
                <a:solidFill>
                  <a:schemeClr val="tx1"/>
                </a:solidFill>
              </a:rPr>
              <a:t>Langkah 10: id yang sudah dihapus tidak dipakai ulang.</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Mengapa Harus whereArgs?</a:t>
            </a:r>
            <a:endParaRPr lang="en-US" sz="3200" dirty="0"/>
          </a:p>
        </p:txBody>
      </p:sp>
      <p:sp>
        <p:nvSpPr>
          <p:cNvPr id="4" name="kolom 1"/>
          <p:cNvSpPr/>
          <p:nvPr/>
        </p:nvSpPr>
        <p:spPr>
          <a:xfrm>
            <a:off x="548640" y="1371600"/>
            <a:ext cx="5387188" cy="3931920"/>
          </a:xfrm>
          <a:prstGeom prst="roundRect">
            <a:avLst>
              <a:gd name="adj" fmla="val 2791"/>
            </a:avLst>
          </a:prstGeom>
          <a:solidFill>
            <a:schemeClr val="bg2"/>
          </a:solidFill>
          <a:ln/>
        </p:spPr>
      </p:sp>
      <p:sp>
        <p:nvSpPr>
          <p:cNvPr id="5" name="lingkaran galat"/>
          <p:cNvSpPr/>
          <p:nvPr/>
        </p:nvSpPr>
        <p:spPr>
          <a:xfrm>
            <a:off x="777240" y="1600200"/>
            <a:ext cx="685800" cy="685800"/>
          </a:xfrm>
          <a:prstGeom prst="ellipse">
            <a:avLst/>
          </a:prstGeom>
          <a:solidFill>
            <a:schemeClr val="accent5"/>
          </a:solidFill>
          <a:ln/>
        </p:spPr>
      </p:sp>
      <p:pic>
        <p:nvPicPr>
          <p:cNvPr id="6" name="Image 0" descr="galat">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Ditempel ke teks SQL</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5"/>
                </a:solidFill>
              </a:rPr>
              <a:t>Rawan error dan SQL injection</a:t>
            </a:r>
            <a:endParaRPr lang="en-US" sz="1400" dirty="0"/>
          </a:p>
        </p:txBody>
      </p:sp>
      <p:sp>
        <p:nvSpPr>
          <p:cNvPr id="9" name="daftar poin"/>
          <p:cNvSpPr txBox="1"/>
          <p:nvPr/>
        </p:nvSpPr>
        <p:spPr>
          <a:xfrm>
            <a:off x="777240" y="2926080"/>
            <a:ext cx="4929988" cy="996696"/>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nama = Jum'at → error: tanda kutip memotong SQL</a:t>
            </a:r>
            <a:endParaRPr lang="en-US" sz="1600" dirty="0"/>
          </a:p>
          <a:p>
            <a:pPr marL="228600" indent="-228600">
              <a:spcAft>
                <a:spcPts val="800"/>
              </a:spcAft>
              <a:buSzPct val="100000"/>
              <a:buChar char="•"/>
            </a:pPr>
            <a:r>
              <a:rPr lang="en-US" sz="1600" dirty="0">
                <a:solidFill>
                  <a:schemeClr val="tx1"/>
                </a:solidFill>
              </a:rPr>
              <a:t>nama = ' OR '1'='1 → SEMUA data tampil (SQL injection)</a:t>
            </a:r>
            <a:endParaRPr lang="en-US" sz="1600" dirty="0"/>
          </a:p>
        </p:txBody>
      </p:sp>
      <p:sp>
        <p:nvSpPr>
          <p:cNvPr id="10" name="kotak kode"/>
          <p:cNvSpPr txBox="1"/>
          <p:nvPr/>
        </p:nvSpPr>
        <p:spPr>
          <a:xfrm>
            <a:off x="731520" y="3877056"/>
            <a:ext cx="5021428" cy="1243584"/>
          </a:xfrm>
          <a:prstGeom prst="roundRect">
            <a:avLst>
              <a:gd name="adj" fmla="val 7353"/>
            </a:avLst>
          </a:prstGeom>
          <a:solidFill>
            <a:srgbClr val="0E1A2B"/>
          </a:solidFill>
          <a:ln/>
        </p:spPr>
        <p:txBody>
          <a:bodyPr wrap="square" lIns="177800" tIns="152400" rIns="152400" bIns="177800" rtlCol="0" anchor="t"/>
          <a:lstStyle/>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JANGAN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db.rawQuery(</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"SELECT * FROM mahasiswa</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WHERE</a:t>
            </a:r>
            <a:r>
              <a:rPr lang="en-US" sz="1300" dirty="0">
                <a:solidFill>
                  <a:srgbClr val="E6EDF3"/>
                </a:solidFill>
                <a:latin typeface="Consolas" pitchFamily="34" charset="0"/>
                <a:ea typeface="Consolas" pitchFamily="34" charset="-122"/>
                <a:cs typeface="Consolas" pitchFamily="34" charset="-120"/>
              </a:rPr>
              <a:t> nama = </a:t>
            </a:r>
            <a:r>
              <a:rPr lang="en-US" sz="1300" dirty="0">
                <a:solidFill>
                  <a:srgbClr val="C3E88D"/>
                </a:solidFill>
                <a:latin typeface="Consolas" pitchFamily="34" charset="0"/>
                <a:ea typeface="Consolas" pitchFamily="34" charset="-122"/>
                <a:cs typeface="Consolas" pitchFamily="34" charset="-120"/>
              </a:rPr>
              <a:t>'$nama'</a:t>
            </a:r>
            <a:r>
              <a:rPr lang="en-US" sz="1300" dirty="0">
                <a:solidFill>
                  <a:srgbClr val="C3E88D"/>
                </a:solidFill>
                <a:latin typeface="Consolas" pitchFamily="34" charset="0"/>
                <a:ea typeface="Consolas" pitchFamily="34" charset="-122"/>
                <a:cs typeface="Consolas" pitchFamily="34" charset="-120"/>
              </a:rPr>
              <a:t>");</a:t>
            </a:r>
            <a:endParaRPr lang="en-US" sz="1300" dirty="0"/>
          </a:p>
        </p:txBody>
      </p:sp>
      <p:sp>
        <p:nvSpPr>
          <p:cNvPr id="11" name="kolom 2"/>
          <p:cNvSpPr/>
          <p:nvPr/>
        </p:nvSpPr>
        <p:spPr>
          <a:xfrm>
            <a:off x="6255868" y="1371600"/>
            <a:ext cx="5387188" cy="3931920"/>
          </a:xfrm>
          <a:prstGeom prst="roundRect">
            <a:avLst>
              <a:gd name="adj" fmla="val 2791"/>
            </a:avLst>
          </a:prstGeom>
          <a:solidFill>
            <a:srgbClr val="E3F2FD"/>
          </a:solidFill>
          <a:ln w="25400">
            <a:solidFill>
              <a:schemeClr val="accent1"/>
            </a:solidFill>
            <a:prstDash val="solid"/>
          </a:ln>
        </p:spPr>
      </p:sp>
      <p:sp>
        <p:nvSpPr>
          <p:cNvPr id="12" name="lingkaran perisai"/>
          <p:cNvSpPr/>
          <p:nvPr/>
        </p:nvSpPr>
        <p:spPr>
          <a:xfrm>
            <a:off x="6484468" y="1600200"/>
            <a:ext cx="685800" cy="685800"/>
          </a:xfrm>
          <a:prstGeom prst="ellipse">
            <a:avLst/>
          </a:prstGeom>
          <a:solidFill>
            <a:schemeClr val="accent4"/>
          </a:solidFill>
          <a:ln/>
        </p:spPr>
      </p:sp>
      <p:pic>
        <p:nvPicPr>
          <p:cNvPr id="13" name="Image 1" descr="perisai">    </p:cNvPr>
          <p:cNvPicPr>
            <a:picLocks noChangeAspect="1"/>
          </p:cNvPicPr>
          <p:nvPr/>
        </p:nvPicPr>
        <p:blipFill>
          <a:blip r:embed="rId2"/>
          <a:stretch>
            <a:fillRect/>
          </a:stretch>
        </p:blipFill>
        <p:spPr>
          <a:xfrm>
            <a:off x="6635344" y="1751076"/>
            <a:ext cx="384048" cy="384048"/>
          </a:xfrm>
          <a:prstGeom prst="rect">
            <a:avLst/>
          </a:prstGeom>
        </p:spPr>
      </p:pic>
      <p:sp>
        <p:nvSpPr>
          <p:cNvPr id="14" name="Text 9"/>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Dikirim lewat whereArgs</a:t>
            </a:r>
            <a:endParaRPr lang="en-US" sz="1900" dirty="0"/>
          </a:p>
        </p:txBody>
      </p:sp>
      <p:sp>
        <p:nvSpPr>
          <p:cNvPr id="15" name="Text 10"/>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4"/>
                </a:solidFill>
              </a:rPr>
              <a:t>Nilai tetap data, apa pun isinya</a:t>
            </a:r>
            <a:endParaRPr lang="en-US" sz="1400" dirty="0"/>
          </a:p>
        </p:txBody>
      </p:sp>
      <p:sp>
        <p:nvSpPr>
          <p:cNvPr id="16" name="daftar poin"/>
          <p:cNvSpPr txBox="1"/>
          <p:nvPr/>
        </p:nvSpPr>
        <p:spPr>
          <a:xfrm>
            <a:off x="6484468" y="2926080"/>
            <a:ext cx="4929988" cy="12344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Nilai dikirim TERPISAH dari perintah SQL</a:t>
            </a:r>
            <a:endParaRPr lang="en-US" sz="1600" dirty="0"/>
          </a:p>
          <a:p>
            <a:pPr marL="228600" indent="-228600">
              <a:spcAft>
                <a:spcPts val="800"/>
              </a:spcAft>
              <a:buSzPct val="100000"/>
              <a:buChar char="•"/>
            </a:pPr>
            <a:r>
              <a:rPr lang="en-US" sz="1600" dirty="0">
                <a:solidFill>
                  <a:schemeClr val="tx1"/>
                </a:solidFill>
              </a:rPr>
              <a:t>Untuk setiap nilai dari pengguna, internet, atau dari mana pun di luar kode</a:t>
            </a:r>
            <a:endParaRPr lang="en-US" sz="1600" dirty="0"/>
          </a:p>
        </p:txBody>
      </p:sp>
      <p:sp>
        <p:nvSpPr>
          <p:cNvPr id="17" name="kotak kode"/>
          <p:cNvSpPr txBox="1"/>
          <p:nvPr/>
        </p:nvSpPr>
        <p:spPr>
          <a:xfrm>
            <a:off x="6438748" y="4114800"/>
            <a:ext cx="5021428" cy="1005840"/>
          </a:xfrm>
          <a:prstGeom prst="roundRect">
            <a:avLst>
              <a:gd name="adj" fmla="val 9091"/>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db.query(</a:t>
            </a:r>
            <a:r>
              <a:rPr lang="en-US" sz="1300" dirty="0">
                <a:solidFill>
                  <a:srgbClr val="C3E88D"/>
                </a:solidFill>
                <a:latin typeface="Consolas" pitchFamily="34" charset="0"/>
                <a:ea typeface="Consolas" pitchFamily="34" charset="-122"/>
                <a:cs typeface="Consolas" pitchFamily="34" charset="-120"/>
              </a:rPr>
              <a:t>'mahasiswa'</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where: </a:t>
            </a:r>
            <a:r>
              <a:rPr lang="en-US" sz="1300" dirty="0">
                <a:solidFill>
                  <a:srgbClr val="C3E88D"/>
                </a:solidFill>
                <a:latin typeface="Consolas" pitchFamily="34" charset="0"/>
                <a:ea typeface="Consolas" pitchFamily="34" charset="-122"/>
                <a:cs typeface="Consolas" pitchFamily="34" charset="-120"/>
              </a:rPr>
              <a:t>'nama = ?'</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whereArgs: [nama]);</a:t>
            </a:r>
            <a:endParaRPr lang="en-US" sz="1300" dirty="0"/>
          </a:p>
        </p:txBody>
      </p:sp>
      <p:sp>
        <p:nvSpPr>
          <p:cNvPr id="18" name="lingkaran lampu"/>
          <p:cNvSpPr/>
          <p:nvPr/>
        </p:nvSpPr>
        <p:spPr>
          <a:xfrm>
            <a:off x="548640" y="5532120"/>
            <a:ext cx="548640" cy="548640"/>
          </a:xfrm>
          <a:prstGeom prst="ellipse">
            <a:avLst/>
          </a:prstGeom>
          <a:solidFill>
            <a:schemeClr val="accent3"/>
          </a:solidFill>
          <a:ln/>
        </p:spPr>
      </p:sp>
      <p:pic>
        <p:nvPicPr>
          <p:cNvPr id="19"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20" name="Text 14"/>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Hanya nama tabel dan nama kolom yang boleh ditulis langsung di teks SQL, karena keduanya Anda tentukan sendiri.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7</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CRUD dengan MVVM: Catatan Kuliah</a:t>
            </a:r>
            <a:endParaRPr lang="en-US" sz="4000" dirty="0"/>
          </a:p>
        </p:txBody>
      </p:sp>
      <p:sp>
        <p:nvSpPr>
          <p:cNvPr id="5" name="lingkaran catatan"/>
          <p:cNvSpPr/>
          <p:nvPr/>
        </p:nvSpPr>
        <p:spPr>
          <a:xfrm>
            <a:off x="1097280" y="2148840"/>
            <a:ext cx="2011680" cy="2011680"/>
          </a:xfrm>
          <a:prstGeom prst="ellipse">
            <a:avLst/>
          </a:prstGeom>
          <a:solidFill>
            <a:schemeClr val="accent1"/>
          </a:solidFill>
          <a:ln/>
        </p:spPr>
      </p:sp>
      <p:pic>
        <p:nvPicPr>
          <p:cNvPr id="6" name="Image 0" descr="catatan">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Siapa Mengerjakan Apa?</a:t>
            </a:r>
            <a:endParaRPr lang="en-US" sz="3200" dirty="0"/>
          </a:p>
        </p:txBody>
      </p:sp>
      <p:sp>
        <p:nvSpPr>
          <p:cNvPr id="4" name="lapisan 1"/>
          <p:cNvSpPr/>
          <p:nvPr/>
        </p:nvSpPr>
        <p:spPr>
          <a:xfrm>
            <a:off x="548640" y="1371600"/>
            <a:ext cx="6583680" cy="813816"/>
          </a:xfrm>
          <a:prstGeom prst="roundRect">
            <a:avLst>
              <a:gd name="adj" fmla="val 13483"/>
            </a:avLst>
          </a:prstGeom>
          <a:solidFill>
            <a:schemeClr val="bg2"/>
          </a:solidFill>
          <a:ln/>
        </p:spPr>
      </p:sp>
      <p:sp>
        <p:nvSpPr>
          <p:cNvPr id="5" name="lingkaran hp"/>
          <p:cNvSpPr/>
          <p:nvPr/>
        </p:nvSpPr>
        <p:spPr>
          <a:xfrm>
            <a:off x="731520" y="1458468"/>
            <a:ext cx="640080" cy="640080"/>
          </a:xfrm>
          <a:prstGeom prst="ellipse">
            <a:avLst/>
          </a:prstGeom>
          <a:solidFill>
            <a:schemeClr val="accent1"/>
          </a:solidFill>
          <a:ln/>
        </p:spPr>
      </p:sp>
      <p:pic>
        <p:nvPicPr>
          <p:cNvPr id="6" name="Image 0" descr="hp">    </p:cNvPr>
          <p:cNvPicPr>
            <a:picLocks noChangeAspect="1"/>
          </p:cNvPicPr>
          <p:nvPr/>
        </p:nvPicPr>
        <p:blipFill>
          <a:blip r:embed="rId1"/>
          <a:stretch>
            <a:fillRect/>
          </a:stretch>
        </p:blipFill>
        <p:spPr>
          <a:xfrm>
            <a:off x="872338" y="1599286"/>
            <a:ext cx="358445" cy="358445"/>
          </a:xfrm>
          <a:prstGeom prst="rect">
            <a:avLst/>
          </a:prstGeom>
        </p:spPr>
      </p:pic>
      <p:sp>
        <p:nvSpPr>
          <p:cNvPr id="7" name="Text 3"/>
          <p:cNvSpPr txBox="1"/>
          <p:nvPr/>
        </p:nvSpPr>
        <p:spPr>
          <a:xfrm>
            <a:off x="1554480" y="1371600"/>
            <a:ext cx="5394960" cy="813816"/>
          </a:xfrm>
          <a:prstGeom prst="rect">
            <a:avLst/>
          </a:prstGeom>
          <a:noFill/>
          <a:ln/>
        </p:spPr>
        <p:txBody>
          <a:bodyPr wrap="square" lIns="0" tIns="0" rIns="0" bIns="0" rtlCol="0" anchor="ctr"/>
          <a:lstStyle/>
          <a:p>
            <a:pPr indent="0" marL="0">
              <a:buNone/>
            </a:pPr>
            <a:r>
              <a:rPr lang="en-US" sz="1800" b="1" dirty="0">
                <a:solidFill>
                  <a:schemeClr val="tx2"/>
                </a:solidFill>
              </a:rPr>
              <a:t>View</a:t>
            </a:r>
            <a:endParaRPr lang="en-US" sz="1800" dirty="0"/>
          </a:p>
          <a:p>
            <a:pPr indent="0" marL="0">
              <a:buNone/>
            </a:pPr>
            <a:r>
              <a:rPr lang="en-US" sz="1500" dirty="0">
                <a:solidFill>
                  <a:schemeClr val="tx1"/>
                </a:solidFill>
              </a:rPr>
              <a:t>Daftar, kotak pencarian, geser untuk menghapus, formulir</a:t>
            </a:r>
            <a:endParaRPr lang="en-US" sz="1800" dirty="0"/>
          </a:p>
        </p:txBody>
      </p:sp>
      <p:sp>
        <p:nvSpPr>
          <p:cNvPr id="8" name="Shape 4"/>
          <p:cNvSpPr/>
          <p:nvPr/>
        </p:nvSpPr>
        <p:spPr>
          <a:xfrm>
            <a:off x="3703320" y="2167128"/>
            <a:ext cx="274320" cy="219456"/>
          </a:xfrm>
          <a:prstGeom prst="downArrow">
            <a:avLst/>
          </a:prstGeom>
          <a:solidFill>
            <a:schemeClr val="accent2"/>
          </a:solidFill>
          <a:ln/>
        </p:spPr>
      </p:sp>
      <p:sp>
        <p:nvSpPr>
          <p:cNvPr id="9" name="lapisan 2"/>
          <p:cNvSpPr/>
          <p:nvPr/>
        </p:nvSpPr>
        <p:spPr>
          <a:xfrm>
            <a:off x="548640" y="2368296"/>
            <a:ext cx="6583680" cy="813816"/>
          </a:xfrm>
          <a:prstGeom prst="roundRect">
            <a:avLst>
              <a:gd name="adj" fmla="val 13483"/>
            </a:avLst>
          </a:prstGeom>
          <a:solidFill>
            <a:schemeClr val="bg2"/>
          </a:solidFill>
          <a:ln/>
        </p:spPr>
      </p:sp>
      <p:sp>
        <p:nvSpPr>
          <p:cNvPr id="10" name="lingkaran restoran"/>
          <p:cNvSpPr/>
          <p:nvPr/>
        </p:nvSpPr>
        <p:spPr>
          <a:xfrm>
            <a:off x="731520" y="2455164"/>
            <a:ext cx="640080" cy="640080"/>
          </a:xfrm>
          <a:prstGeom prst="ellipse">
            <a:avLst/>
          </a:prstGeom>
          <a:solidFill>
            <a:schemeClr val="accent6"/>
          </a:solidFill>
          <a:ln/>
        </p:spPr>
      </p:sp>
      <p:pic>
        <p:nvPicPr>
          <p:cNvPr id="11" name="Image 1" descr="restoran">    </p:cNvPr>
          <p:cNvPicPr>
            <a:picLocks noChangeAspect="1"/>
          </p:cNvPicPr>
          <p:nvPr/>
        </p:nvPicPr>
        <p:blipFill>
          <a:blip r:embed="rId2"/>
          <a:stretch>
            <a:fillRect/>
          </a:stretch>
        </p:blipFill>
        <p:spPr>
          <a:xfrm>
            <a:off x="872338" y="2595982"/>
            <a:ext cx="358445" cy="358445"/>
          </a:xfrm>
          <a:prstGeom prst="rect">
            <a:avLst/>
          </a:prstGeom>
        </p:spPr>
      </p:pic>
      <p:sp>
        <p:nvSpPr>
          <p:cNvPr id="12" name="Text 7"/>
          <p:cNvSpPr txBox="1"/>
          <p:nvPr/>
        </p:nvSpPr>
        <p:spPr>
          <a:xfrm>
            <a:off x="1554480" y="2368296"/>
            <a:ext cx="5394960" cy="813816"/>
          </a:xfrm>
          <a:prstGeom prst="rect">
            <a:avLst/>
          </a:prstGeom>
          <a:noFill/>
          <a:ln/>
        </p:spPr>
        <p:txBody>
          <a:bodyPr wrap="square" lIns="0" tIns="0" rIns="0" bIns="0" rtlCol="0" anchor="ctr"/>
          <a:lstStyle/>
          <a:p>
            <a:pPr indent="0" marL="0">
              <a:buNone/>
            </a:pPr>
            <a:r>
              <a:rPr lang="en-US" sz="1800" b="1" dirty="0">
                <a:solidFill>
                  <a:schemeClr val="tx2"/>
                </a:solidFill>
              </a:rPr>
              <a:t>CatatanViewModel</a:t>
            </a:r>
            <a:endParaRPr lang="en-US" sz="1800" dirty="0"/>
          </a:p>
          <a:p>
            <a:pPr indent="0" marL="0">
              <a:buNone/>
            </a:pPr>
            <a:r>
              <a:rPr lang="en-US" sz="1500" dirty="0">
                <a:solidFill>
                  <a:schemeClr val="tx1"/>
                </a:solidFill>
              </a:rPr>
              <a:t>Status memuat, kata kunci, perintah tulis. Tidak tahu SQL</a:t>
            </a:r>
            <a:endParaRPr lang="en-US" sz="1800" dirty="0"/>
          </a:p>
        </p:txBody>
      </p:sp>
      <p:sp>
        <p:nvSpPr>
          <p:cNvPr id="13" name="Shape 8"/>
          <p:cNvSpPr/>
          <p:nvPr/>
        </p:nvSpPr>
        <p:spPr>
          <a:xfrm>
            <a:off x="3703320" y="3163824"/>
            <a:ext cx="274320" cy="219456"/>
          </a:xfrm>
          <a:prstGeom prst="downArrow">
            <a:avLst/>
          </a:prstGeom>
          <a:solidFill>
            <a:schemeClr val="accent2"/>
          </a:solidFill>
          <a:ln/>
        </p:spPr>
      </p:sp>
      <p:sp>
        <p:nvSpPr>
          <p:cNvPr id="14" name="lapisan 3"/>
          <p:cNvSpPr/>
          <p:nvPr/>
        </p:nvSpPr>
        <p:spPr>
          <a:xfrm>
            <a:off x="548640" y="3364992"/>
            <a:ext cx="6583680" cy="813816"/>
          </a:xfrm>
          <a:prstGeom prst="roundRect">
            <a:avLst>
              <a:gd name="adj" fmla="val 13483"/>
            </a:avLst>
          </a:prstGeom>
          <a:solidFill>
            <a:schemeClr val="bg2"/>
          </a:solidFill>
          <a:ln/>
        </p:spPr>
      </p:sp>
      <p:sp>
        <p:nvSpPr>
          <p:cNvPr id="15" name="lingkaran gudang"/>
          <p:cNvSpPr/>
          <p:nvPr/>
        </p:nvSpPr>
        <p:spPr>
          <a:xfrm>
            <a:off x="731520" y="3451860"/>
            <a:ext cx="640080" cy="640080"/>
          </a:xfrm>
          <a:prstGeom prst="ellipse">
            <a:avLst/>
          </a:prstGeom>
          <a:solidFill>
            <a:schemeClr val="accent4"/>
          </a:solidFill>
          <a:ln/>
        </p:spPr>
      </p:sp>
      <p:pic>
        <p:nvPicPr>
          <p:cNvPr id="16" name="Image 2" descr="gudang">    </p:cNvPr>
          <p:cNvPicPr>
            <a:picLocks noChangeAspect="1"/>
          </p:cNvPicPr>
          <p:nvPr/>
        </p:nvPicPr>
        <p:blipFill>
          <a:blip r:embed="rId3"/>
          <a:stretch>
            <a:fillRect/>
          </a:stretch>
        </p:blipFill>
        <p:spPr>
          <a:xfrm>
            <a:off x="872338" y="3592678"/>
            <a:ext cx="358445" cy="358445"/>
          </a:xfrm>
          <a:prstGeom prst="rect">
            <a:avLst/>
          </a:prstGeom>
        </p:spPr>
      </p:pic>
      <p:sp>
        <p:nvSpPr>
          <p:cNvPr id="17" name="Text 11"/>
          <p:cNvSpPr txBox="1"/>
          <p:nvPr/>
        </p:nvSpPr>
        <p:spPr>
          <a:xfrm>
            <a:off x="1554480" y="3364992"/>
            <a:ext cx="5394960" cy="813816"/>
          </a:xfrm>
          <a:prstGeom prst="rect">
            <a:avLst/>
          </a:prstGeom>
          <a:noFill/>
          <a:ln/>
        </p:spPr>
        <p:txBody>
          <a:bodyPr wrap="square" lIns="0" tIns="0" rIns="0" bIns="0" rtlCol="0" anchor="ctr"/>
          <a:lstStyle/>
          <a:p>
            <a:pPr indent="0" marL="0">
              <a:buNone/>
            </a:pPr>
            <a:r>
              <a:rPr lang="en-US" sz="1800" b="1" dirty="0">
                <a:solidFill>
                  <a:schemeClr val="tx2"/>
                </a:solidFill>
              </a:rPr>
              <a:t>RepositoriCatatanSqlite</a:t>
            </a:r>
            <a:endParaRPr lang="en-US" sz="1800" dirty="0"/>
          </a:p>
          <a:p>
            <a:pPr indent="0" marL="0">
              <a:buNone/>
            </a:pPr>
            <a:r>
              <a:rPr lang="en-US" sz="1500" dirty="0">
                <a:solidFill>
                  <a:schemeClr val="tx1"/>
                </a:solidFill>
              </a:rPr>
              <a:t>SQL ⇄ Model: insert, query, update, delete</a:t>
            </a:r>
            <a:endParaRPr lang="en-US" sz="1800" dirty="0"/>
          </a:p>
        </p:txBody>
      </p:sp>
      <p:sp>
        <p:nvSpPr>
          <p:cNvPr id="18" name="Shape 12"/>
          <p:cNvSpPr/>
          <p:nvPr/>
        </p:nvSpPr>
        <p:spPr>
          <a:xfrm>
            <a:off x="3703320" y="4160520"/>
            <a:ext cx="274320" cy="219456"/>
          </a:xfrm>
          <a:prstGeom prst="downArrow">
            <a:avLst/>
          </a:prstGeom>
          <a:solidFill>
            <a:schemeClr val="accent2"/>
          </a:solidFill>
          <a:ln/>
        </p:spPr>
      </p:sp>
      <p:sp>
        <p:nvSpPr>
          <p:cNvPr id="19" name="lapisan 4"/>
          <p:cNvSpPr/>
          <p:nvPr/>
        </p:nvSpPr>
        <p:spPr>
          <a:xfrm>
            <a:off x="548640" y="4361688"/>
            <a:ext cx="6583680" cy="813816"/>
          </a:xfrm>
          <a:prstGeom prst="roundRect">
            <a:avLst>
              <a:gd name="adj" fmla="val 13483"/>
            </a:avLst>
          </a:prstGeom>
          <a:solidFill>
            <a:schemeClr val="bg2"/>
          </a:solidFill>
          <a:ln/>
        </p:spPr>
      </p:sp>
      <p:sp>
        <p:nvSpPr>
          <p:cNvPr id="20" name="lingkaran kurir"/>
          <p:cNvSpPr/>
          <p:nvPr/>
        </p:nvSpPr>
        <p:spPr>
          <a:xfrm>
            <a:off x="731520" y="4448556"/>
            <a:ext cx="640080" cy="640080"/>
          </a:xfrm>
          <a:prstGeom prst="ellipse">
            <a:avLst/>
          </a:prstGeom>
          <a:solidFill>
            <a:schemeClr val="accent5"/>
          </a:solidFill>
          <a:ln/>
        </p:spPr>
      </p:sp>
      <p:pic>
        <p:nvPicPr>
          <p:cNvPr id="21" name="Image 3" descr="kurir">    </p:cNvPr>
          <p:cNvPicPr>
            <a:picLocks noChangeAspect="1"/>
          </p:cNvPicPr>
          <p:nvPr/>
        </p:nvPicPr>
        <p:blipFill>
          <a:blip r:embed="rId4"/>
          <a:stretch>
            <a:fillRect/>
          </a:stretch>
        </p:blipFill>
        <p:spPr>
          <a:xfrm>
            <a:off x="872338" y="4589374"/>
            <a:ext cx="358445" cy="358445"/>
          </a:xfrm>
          <a:prstGeom prst="rect">
            <a:avLst/>
          </a:prstGeom>
        </p:spPr>
      </p:pic>
      <p:sp>
        <p:nvSpPr>
          <p:cNvPr id="22" name="Text 15"/>
          <p:cNvSpPr txBox="1"/>
          <p:nvPr/>
        </p:nvSpPr>
        <p:spPr>
          <a:xfrm>
            <a:off x="1554480" y="4361688"/>
            <a:ext cx="5394960" cy="813816"/>
          </a:xfrm>
          <a:prstGeom prst="rect">
            <a:avLst/>
          </a:prstGeom>
          <a:noFill/>
          <a:ln/>
        </p:spPr>
        <p:txBody>
          <a:bodyPr wrap="square" lIns="0" tIns="0" rIns="0" bIns="0" rtlCol="0" anchor="ctr"/>
          <a:lstStyle/>
          <a:p>
            <a:pPr indent="0" marL="0">
              <a:buNone/>
            </a:pPr>
            <a:r>
              <a:rPr lang="en-US" sz="1800" b="1" dirty="0">
                <a:solidFill>
                  <a:schemeClr val="tx2"/>
                </a:solidFill>
              </a:rPr>
              <a:t>LayananBasisData</a:t>
            </a:r>
            <a:endParaRPr lang="en-US" sz="1800" dirty="0"/>
          </a:p>
          <a:p>
            <a:pPr indent="0" marL="0">
              <a:buNone/>
            </a:pPr>
            <a:r>
              <a:rPr lang="en-US" sz="1500" dirty="0">
                <a:solidFill>
                  <a:schemeClr val="tx1"/>
                </a:solidFill>
              </a:rPr>
              <a:t>Membuka database SEKALI, membuat tabel, menutupnya</a:t>
            </a:r>
            <a:endParaRPr lang="en-US" sz="1800" dirty="0"/>
          </a:p>
        </p:txBody>
      </p:sp>
      <p:sp>
        <p:nvSpPr>
          <p:cNvPr id="23" name="Shape 16"/>
          <p:cNvSpPr/>
          <p:nvPr/>
        </p:nvSpPr>
        <p:spPr>
          <a:xfrm>
            <a:off x="3703320" y="5157216"/>
            <a:ext cx="274320" cy="219456"/>
          </a:xfrm>
          <a:prstGeom prst="downArrow">
            <a:avLst/>
          </a:prstGeom>
          <a:solidFill>
            <a:schemeClr val="accent2"/>
          </a:solidFill>
          <a:ln/>
        </p:spPr>
      </p:sp>
      <p:sp>
        <p:nvSpPr>
          <p:cNvPr id="24" name="lapisan 5"/>
          <p:cNvSpPr/>
          <p:nvPr/>
        </p:nvSpPr>
        <p:spPr>
          <a:xfrm>
            <a:off x="548640" y="5358384"/>
            <a:ext cx="6583680" cy="813816"/>
          </a:xfrm>
          <a:prstGeom prst="roundRect">
            <a:avLst>
              <a:gd name="adj" fmla="val 13483"/>
            </a:avLst>
          </a:prstGeom>
          <a:solidFill>
            <a:schemeClr val="bg2"/>
          </a:solidFill>
          <a:ln/>
        </p:spPr>
      </p:sp>
      <p:sp>
        <p:nvSpPr>
          <p:cNvPr id="25" name="lingkaran simpan"/>
          <p:cNvSpPr/>
          <p:nvPr/>
        </p:nvSpPr>
        <p:spPr>
          <a:xfrm>
            <a:off x="731520" y="5445252"/>
            <a:ext cx="640080" cy="640080"/>
          </a:xfrm>
          <a:prstGeom prst="ellipse">
            <a:avLst/>
          </a:prstGeom>
          <a:solidFill>
            <a:schemeClr val="tx2"/>
          </a:solidFill>
          <a:ln/>
        </p:spPr>
      </p:sp>
      <p:pic>
        <p:nvPicPr>
          <p:cNvPr id="26" name="Image 4" descr="simpan">    </p:cNvPr>
          <p:cNvPicPr>
            <a:picLocks noChangeAspect="1"/>
          </p:cNvPicPr>
          <p:nvPr/>
        </p:nvPicPr>
        <p:blipFill>
          <a:blip r:embed="rId5"/>
          <a:stretch>
            <a:fillRect/>
          </a:stretch>
        </p:blipFill>
        <p:spPr>
          <a:xfrm>
            <a:off x="872338" y="5586070"/>
            <a:ext cx="358445" cy="358445"/>
          </a:xfrm>
          <a:prstGeom prst="rect">
            <a:avLst/>
          </a:prstGeom>
        </p:spPr>
      </p:pic>
      <p:sp>
        <p:nvSpPr>
          <p:cNvPr id="27" name="Text 19"/>
          <p:cNvSpPr txBox="1"/>
          <p:nvPr/>
        </p:nvSpPr>
        <p:spPr>
          <a:xfrm>
            <a:off x="1554480" y="5358384"/>
            <a:ext cx="5394960" cy="813816"/>
          </a:xfrm>
          <a:prstGeom prst="rect">
            <a:avLst/>
          </a:prstGeom>
          <a:noFill/>
          <a:ln/>
        </p:spPr>
        <p:txBody>
          <a:bodyPr wrap="square" lIns="0" tIns="0" rIns="0" bIns="0" rtlCol="0" anchor="ctr"/>
          <a:lstStyle/>
          <a:p>
            <a:pPr indent="0" marL="0">
              <a:buNone/>
            </a:pPr>
            <a:r>
              <a:rPr lang="en-US" sz="1800" b="1" dirty="0">
                <a:solidFill>
                  <a:schemeClr val="tx2"/>
                </a:solidFill>
              </a:rPr>
              <a:t>catatan_kuliah.db</a:t>
            </a:r>
            <a:endParaRPr lang="en-US" sz="1800" dirty="0"/>
          </a:p>
          <a:p>
            <a:pPr indent="0" marL="0">
              <a:buNone/>
            </a:pPr>
            <a:r>
              <a:rPr lang="en-US" sz="1500" dirty="0">
                <a:solidFill>
                  <a:schemeClr val="tx1"/>
                </a:solidFill>
              </a:rPr>
              <a:t>Berkas database di folder milik aplikasi</a:t>
            </a:r>
            <a:endParaRPr lang="en-US" sz="1800" dirty="0"/>
          </a:p>
        </p:txBody>
      </p:sp>
      <p:sp>
        <p:nvSpPr>
          <p:cNvPr id="28" name="daftar poin"/>
          <p:cNvSpPr txBox="1"/>
          <p:nvPr/>
        </p:nvSpPr>
        <p:spPr>
          <a:xfrm>
            <a:off x="7589520" y="1417320"/>
            <a:ext cx="4053535" cy="457200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Susunannya sama dengan Pertemuan 9 dan 10.</a:t>
            </a:r>
            <a:endParaRPr lang="en-US" sz="1800" dirty="0"/>
          </a:p>
          <a:p>
            <a:pPr marL="228600" indent="-228600">
              <a:spcAft>
                <a:spcPts val="800"/>
              </a:spcAft>
              <a:buSzPct val="100000"/>
              <a:buChar char="•"/>
            </a:pPr>
            <a:r>
              <a:rPr lang="en-US" sz="1800" dirty="0">
                <a:solidFill>
                  <a:schemeClr val="tx1"/>
                </a:solidFill>
              </a:rPr>
              <a:t>Yang berbeda hanya sumber datanya: database, bukan internet.</a:t>
            </a:r>
            <a:endParaRPr lang="en-US" sz="1800" dirty="0"/>
          </a:p>
          <a:p>
            <a:pPr marL="228600" indent="-228600">
              <a:spcAft>
                <a:spcPts val="800"/>
              </a:spcAft>
              <a:buSzPct val="100000"/>
              <a:buChar char="•"/>
            </a:pPr>
            <a:r>
              <a:rPr lang="en-US" sz="1800" dirty="0">
                <a:solidFill>
                  <a:schemeClr val="tx1"/>
                </a:solidFill>
              </a:rPr>
              <a:t>Database = sumber kebenaran (source of truth).</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Layanan: Membuka Database Sekali Saja</a:t>
            </a:r>
            <a:endParaRPr lang="en-US" sz="3200" dirty="0"/>
          </a:p>
        </p:txBody>
      </p:sp>
      <p:sp>
        <p:nvSpPr>
          <p:cNvPr id="4" name="kotak kode"/>
          <p:cNvSpPr txBox="1"/>
          <p:nvPr/>
        </p:nvSpPr>
        <p:spPr>
          <a:xfrm>
            <a:off x="548640" y="1371600"/>
            <a:ext cx="6766560" cy="4206240"/>
          </a:xfrm>
          <a:prstGeom prst="roundRect">
            <a:avLst>
              <a:gd name="adj" fmla="val 2174"/>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class</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LayananBasisData</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LayananBasisData</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792EA"/>
                </a:solidFill>
                <a:latin typeface="Consolas" pitchFamily="34" charset="0"/>
                <a:ea typeface="Consolas" pitchFamily="34" charset="-122"/>
                <a:cs typeface="Consolas" pitchFamily="34" charset="-120"/>
              </a:rPr>
              <a:t>this</a:t>
            </a:r>
            <a:r>
              <a:rPr lang="en-US" sz="1100" dirty="0">
                <a:solidFill>
                  <a:srgbClr val="E6EDF3"/>
                </a:solidFill>
                <a:latin typeface="Consolas" pitchFamily="34" charset="0"/>
                <a:ea typeface="Consolas" pitchFamily="34" charset="-122"/>
                <a:cs typeface="Consolas" pitchFamily="34" charset="-120"/>
              </a:rPr>
              <a:t>.namaBerkas = </a:t>
            </a:r>
            <a:r>
              <a:rPr lang="en-US" sz="1100" dirty="0">
                <a:solidFill>
                  <a:srgbClr val="C3E88D"/>
                </a:solidFill>
                <a:latin typeface="Consolas" pitchFamily="34" charset="0"/>
                <a:ea typeface="Consolas" pitchFamily="34" charset="-122"/>
                <a:cs typeface="Consolas" pitchFamily="34" charset="-120"/>
              </a:rPr>
              <a:t>'catatan_kuliah.db'</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namaBerkas;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Database</a:t>
            </a:r>
            <a:r>
              <a:rPr lang="en-US" sz="1100" dirty="0">
                <a:solidFill>
                  <a:srgbClr val="E6EDF3"/>
                </a:solidFill>
                <a:latin typeface="Consolas" pitchFamily="34" charset="0"/>
                <a:ea typeface="Consolas" pitchFamily="34" charset="-122"/>
                <a:cs typeface="Consolas" pitchFamily="34" charset="-120"/>
              </a:rPr>
              <a:t>&gt;? _database;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Database</a:t>
            </a:r>
            <a:r>
              <a:rPr lang="en-US" sz="1100" dirty="0">
                <a:solidFill>
                  <a:srgbClr val="E6EDF3"/>
                </a:solidFill>
                <a:latin typeface="Consolas" pitchFamily="34" charset="0"/>
                <a:ea typeface="Consolas" pitchFamily="34" charset="-122"/>
                <a:cs typeface="Consolas" pitchFamily="34" charset="-120"/>
              </a:rPr>
              <a:t>&gt; </a:t>
            </a:r>
            <a:r>
              <a:rPr lang="en-US" sz="1100" dirty="0">
                <a:solidFill>
                  <a:srgbClr val="C792EA"/>
                </a:solidFill>
                <a:latin typeface="Consolas" pitchFamily="34" charset="0"/>
                <a:ea typeface="Consolas" pitchFamily="34" charset="-122"/>
                <a:cs typeface="Consolas" pitchFamily="34" charset="-120"/>
              </a:rPr>
              <a:t>get</a:t>
            </a:r>
            <a:r>
              <a:rPr lang="en-US" sz="1100" dirty="0">
                <a:solidFill>
                  <a:srgbClr val="E6EDF3"/>
                </a:solidFill>
                <a:latin typeface="Consolas" pitchFamily="34" charset="0"/>
                <a:ea typeface="Consolas" pitchFamily="34" charset="-122"/>
                <a:cs typeface="Consolas" pitchFamily="34" charset="-120"/>
              </a:rPr>
              <a:t> database =&gt; _database ??= _buka();</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Database</a:t>
            </a:r>
            <a:r>
              <a:rPr lang="en-US" sz="1100" dirty="0">
                <a:solidFill>
                  <a:srgbClr val="E6EDF3"/>
                </a:solidFill>
                <a:latin typeface="Consolas" pitchFamily="34" charset="0"/>
                <a:ea typeface="Consolas" pitchFamily="34" charset="-122"/>
                <a:cs typeface="Consolas" pitchFamily="34" charset="-120"/>
              </a:rPr>
              <a:t>&gt; _buka()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openDatabase(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namaBerkas,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version: </a:t>
            </a:r>
            <a:r>
              <a:rPr lang="en-US" sz="1100" dirty="0">
                <a:solidFill>
                  <a:srgbClr val="F78C6C"/>
                </a:solidFill>
                <a:latin typeface="Consolas" pitchFamily="34" charset="0"/>
                <a:ea typeface="Consolas" pitchFamily="34" charset="-122"/>
                <a:cs typeface="Consolas" pitchFamily="34" charset="-120"/>
              </a:rPr>
              <a:t>1</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hanya SEKALI: saat berkas database belum ada</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onCreate: (</a:t>
            </a:r>
            <a:r>
              <a:rPr lang="en-US" sz="1100" dirty="0">
                <a:solidFill>
                  <a:srgbClr val="FFCB6B"/>
                </a:solidFill>
                <a:latin typeface="Consolas" pitchFamily="34" charset="0"/>
                <a:ea typeface="Consolas" pitchFamily="34" charset="-122"/>
                <a:cs typeface="Consolas" pitchFamily="34" charset="-120"/>
              </a:rPr>
              <a:t>Database</a:t>
            </a:r>
            <a:r>
              <a:rPr lang="en-US" sz="1100" dirty="0">
                <a:solidFill>
                  <a:srgbClr val="E6EDF3"/>
                </a:solidFill>
                <a:latin typeface="Consolas" pitchFamily="34" charset="0"/>
                <a:ea typeface="Consolas" pitchFamily="34" charset="-122"/>
                <a:cs typeface="Consolas" pitchFamily="34" charset="-120"/>
              </a:rPr>
              <a:t> db, </a:t>
            </a:r>
            <a:r>
              <a:rPr lang="en-US" sz="1100" dirty="0">
                <a:solidFill>
                  <a:srgbClr val="FFCB6B"/>
                </a:solidFill>
                <a:latin typeface="Consolas" pitchFamily="34" charset="0"/>
                <a:ea typeface="Consolas" pitchFamily="34" charset="-122"/>
                <a:cs typeface="Consolas" pitchFamily="34" charset="-120"/>
              </a:rPr>
              <a:t>int</a:t>
            </a:r>
            <a:r>
              <a:rPr lang="en-US" sz="1100" dirty="0">
                <a:solidFill>
                  <a:srgbClr val="E6EDF3"/>
                </a:solidFill>
                <a:latin typeface="Consolas" pitchFamily="34" charset="0"/>
                <a:ea typeface="Consolas" pitchFamily="34" charset="-122"/>
                <a:cs typeface="Consolas" pitchFamily="34" charset="-120"/>
              </a:rPr>
              <a:t> versi)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db.execute(</a:t>
            </a:r>
            <a:r>
              <a:rPr lang="en-US" sz="1100" dirty="0">
                <a:solidFill>
                  <a:srgbClr val="C3E88D"/>
                </a:solidFill>
                <a:latin typeface="Consolas" pitchFamily="34" charset="0"/>
                <a:ea typeface="Consolas" pitchFamily="34" charset="-122"/>
                <a:cs typeface="Consolas" pitchFamily="34" charset="-120"/>
              </a:rPr>
              <a:t>''</a:t>
            </a:r>
            <a:r>
              <a:rPr lang="en-US" sz="1100" dirty="0">
                <a:solidFill>
                  <a:srgbClr val="C3E88D"/>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CREATE</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TABLE</a:t>
            </a:r>
            <a:r>
              <a:rPr lang="en-US" sz="1100" dirty="0">
                <a:solidFill>
                  <a:srgbClr val="E6EDF3"/>
                </a:solidFill>
                <a:latin typeface="Consolas" pitchFamily="34" charset="0"/>
                <a:ea typeface="Consolas" pitchFamily="34" charset="-122"/>
                <a:cs typeface="Consolas" pitchFamily="34" charset="-120"/>
              </a:rPr>
              <a:t> catatan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id     </a:t>
            </a:r>
            <a:r>
              <a:rPr lang="en-US" sz="1100" dirty="0">
                <a:solidFill>
                  <a:srgbClr val="FFCB6B"/>
                </a:solidFill>
                <a:latin typeface="Consolas" pitchFamily="34" charset="0"/>
                <a:ea typeface="Consolas" pitchFamily="34" charset="-122"/>
                <a:cs typeface="Consolas" pitchFamily="34" charset="-120"/>
              </a:rPr>
              <a:t>INTEGER</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PRIMARY</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KEY</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AUTOINCREMENT</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judul  </a:t>
            </a:r>
            <a:r>
              <a:rPr lang="en-US" sz="1100" dirty="0">
                <a:solidFill>
                  <a:srgbClr val="FFCB6B"/>
                </a:solidFill>
                <a:latin typeface="Consolas" pitchFamily="34" charset="0"/>
                <a:ea typeface="Consolas" pitchFamily="34" charset="-122"/>
                <a:cs typeface="Consolas" pitchFamily="34" charset="-120"/>
              </a:rPr>
              <a:t>TEXT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NOT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NULL</a:t>
            </a:r>
            <a:r>
              <a:rPr lang="en-US" sz="1100" dirty="0">
                <a:solidFill>
                  <a:srgbClr val="E6EDF3"/>
                </a:solidFill>
                <a:latin typeface="Consolas" pitchFamily="34" charset="0"/>
                <a:ea typeface="Consolas" pitchFamily="34" charset="-122"/>
                <a:cs typeface="Consolas" pitchFamily="34" charset="-120"/>
              </a:rPr>
              <a:t>, isi </a:t>
            </a:r>
            <a:r>
              <a:rPr lang="en-US" sz="1100" dirty="0">
                <a:solidFill>
                  <a:srgbClr val="FFCB6B"/>
                </a:solidFill>
                <a:latin typeface="Consolas" pitchFamily="34" charset="0"/>
                <a:ea typeface="Consolas" pitchFamily="34" charset="-122"/>
                <a:cs typeface="Consolas" pitchFamily="34" charset="-120"/>
              </a:rPr>
              <a:t>TEXT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NOT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NULL</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diubah </a:t>
            </a:r>
            <a:r>
              <a:rPr lang="en-US" sz="1100" dirty="0">
                <a:solidFill>
                  <a:srgbClr val="FFCB6B"/>
                </a:solidFill>
                <a:latin typeface="Consolas" pitchFamily="34" charset="0"/>
                <a:ea typeface="Consolas" pitchFamily="34" charset="-122"/>
                <a:cs typeface="Consolas" pitchFamily="34" charset="-120"/>
              </a:rPr>
              <a:t>INTEGER</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NOT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NULL</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3E88D"/>
                </a:solidFill>
                <a:latin typeface="Consolas" pitchFamily="34" charset="0"/>
                <a:ea typeface="Consolas" pitchFamily="34" charset="-122"/>
                <a:cs typeface="Consolas" pitchFamily="34" charset="-120"/>
              </a:rPr>
              <a:t>''</a:t>
            </a:r>
            <a:r>
              <a:rPr lang="en-US" sz="1100" dirty="0">
                <a:solidFill>
                  <a:srgbClr val="C3E88D"/>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1_penyimpanan_lokal/kode/contoh_05_catatan_kuliah_crud.dart"/>
          </p:cNvPr>
          <p:cNvSpPr txBox="1"/>
          <p:nvPr/>
        </p:nvSpPr>
        <p:spPr>
          <a:xfrm>
            <a:off x="548640" y="5806440"/>
            <a:ext cx="67665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contoh_05_catatan_kuliah_crud.dart</a:t>
            </a:r>
            <a:endParaRPr lang="en-US" sz="1300" dirty="0"/>
          </a:p>
        </p:txBody>
      </p:sp>
      <p:pic>
        <p:nvPicPr>
          <p:cNvPr id="6" name="Image 0" descr="ikon tautan">
            <a:hlinkClick r:id="rId3" tooltip="https://github.com/antonprafanto/mobile2026/blob/main/pertemuan_11_penyimpanan_lokal/kode/contoh_05_catatan_kuliah_crud.dart"/>
          </p:cNvPr>
          <p:cNvPicPr>
            <a:picLocks noChangeAspect="1"/>
          </p:cNvPicPr>
          <p:nvPr/>
        </p:nvPicPr>
        <p:blipFill>
          <a:blip r:embed="rId2"/>
          <a:stretch>
            <a:fillRect/>
          </a:stretch>
        </p:blipFill>
        <p:spPr>
          <a:xfrm>
            <a:off x="694944" y="5897880"/>
            <a:ext cx="274320" cy="274320"/>
          </a:xfrm>
          <a:prstGeom prst="rect">
            <a:avLst/>
          </a:prstGeom>
        </p:spPr>
      </p:pic>
      <p:sp>
        <p:nvSpPr>
          <p:cNvPr id="7"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Cukup nama berkas: sqflite menyimpannya di folder database milik aplikasi.</a:t>
            </a:r>
            <a:endParaRPr lang="en-US" sz="1700" dirty="0"/>
          </a:p>
          <a:p>
            <a:pPr marL="228600" indent="-228600">
              <a:spcAft>
                <a:spcPts val="800"/>
              </a:spcAft>
              <a:buSzPct val="100000"/>
              <a:buChar char="•"/>
            </a:pPr>
            <a:r>
              <a:rPr lang="en-US" sz="1700" dirty="0">
                <a:solidFill>
                  <a:schemeClr val="tx1"/>
                </a:solidFill>
              </a:rPr>
              <a:t>??= : openDatabase hanya dipanggil SEKALI, walaupun getter dipanggil berkali-kali.</a:t>
            </a:r>
            <a:endParaRPr lang="en-US" sz="1700" dirty="0"/>
          </a:p>
          <a:p>
            <a:pPr marL="228600" indent="-228600">
              <a:spcAft>
                <a:spcPts val="800"/>
              </a:spcAft>
              <a:buSzPct val="100000"/>
              <a:buChar char="•"/>
            </a:pPr>
            <a:r>
              <a:rPr lang="en-US" sz="1700" dirty="0">
                <a:solidFill>
                  <a:schemeClr val="tx1"/>
                </a:solidFill>
              </a:rPr>
              <a:t>version: nomor versi STRUKTUR database (Bagian 8).</a:t>
            </a:r>
            <a:endParaRPr lang="en-US" sz="1700" dirty="0"/>
          </a:p>
          <a:p>
            <a:pPr marL="228600" indent="-228600">
              <a:spcAft>
                <a:spcPts val="800"/>
              </a:spcAft>
              <a:buSzPct val="100000"/>
              <a:buChar char="•"/>
            </a:pPr>
            <a:r>
              <a:rPr lang="en-US" sz="1700" dirty="0">
                <a:solidFill>
                  <a:schemeClr val="tx1"/>
                </a:solidFill>
              </a:rPr>
              <a:t>Dititipkan dengan Provider + dispose: database ditutup saat aplikasi selesai.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Repository: SQL ⇄ Model</a:t>
            </a:r>
            <a:endParaRPr lang="en-US" sz="3200" dirty="0"/>
          </a:p>
        </p:txBody>
      </p:sp>
      <p:sp>
        <p:nvSpPr>
          <p:cNvPr id="4" name="kotak kode"/>
          <p:cNvSpPr txBox="1"/>
          <p:nvPr/>
        </p:nvSpPr>
        <p:spPr>
          <a:xfrm>
            <a:off x="548640" y="1371600"/>
            <a:ext cx="7132320" cy="3579876"/>
          </a:xfrm>
          <a:prstGeom prst="roundRect">
            <a:avLst>
              <a:gd name="adj" fmla="val 2554"/>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List</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Catatan</a:t>
            </a:r>
            <a:r>
              <a:rPr lang="en-US" sz="1100" dirty="0">
                <a:solidFill>
                  <a:srgbClr val="E6EDF3"/>
                </a:solidFill>
                <a:latin typeface="Consolas" pitchFamily="34" charset="0"/>
                <a:ea typeface="Consolas" pitchFamily="34" charset="-122"/>
                <a:cs typeface="Consolas" pitchFamily="34" charset="-120"/>
              </a:rPr>
              <a:t>&gt;&gt; ambilSemua({</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kataKunci = </a:t>
            </a:r>
            <a:r>
              <a:rPr lang="en-US" sz="1100" dirty="0">
                <a:solidFill>
                  <a:srgbClr val="C3E88D"/>
                </a:solidFill>
                <a:latin typeface="Consolas" pitchFamily="34" charset="0"/>
                <a:ea typeface="Consolas" pitchFamily="34" charset="-122"/>
                <a:cs typeface="Consolas" pitchFamily="34" charset="-120"/>
              </a:rPr>
              <a: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Database</a:t>
            </a:r>
            <a:r>
              <a:rPr lang="en-US" sz="1100" dirty="0">
                <a:solidFill>
                  <a:srgbClr val="E6EDF3"/>
                </a:solidFill>
                <a:latin typeface="Consolas" pitchFamily="34" charset="0"/>
                <a:ea typeface="Consolas" pitchFamily="34" charset="-122"/>
                <a:cs typeface="Consolas" pitchFamily="34" charset="-120"/>
              </a:rPr>
              <a:t> db =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_layanan.database;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kunci = kataKunci.trim();</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final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List</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Map</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Object</a:t>
            </a:r>
            <a:r>
              <a:rPr lang="en-US" sz="1100" dirty="0">
                <a:solidFill>
                  <a:srgbClr val="E6EDF3"/>
                </a:solidFill>
                <a:latin typeface="Consolas" pitchFamily="34" charset="0"/>
                <a:ea typeface="Consolas" pitchFamily="34" charset="-122"/>
                <a:cs typeface="Consolas" pitchFamily="34" charset="-120"/>
              </a:rPr>
              <a:t>?&gt;&gt; baris =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db.query(</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'catatan'</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where: kunci.isEmpty ? </a:t>
            </a:r>
            <a:r>
              <a:rPr lang="en-US" sz="1100" dirty="0">
                <a:solidFill>
                  <a:srgbClr val="C792EA"/>
                </a:solidFill>
                <a:latin typeface="Consolas" pitchFamily="34" charset="0"/>
                <a:ea typeface="Consolas" pitchFamily="34" charset="-122"/>
                <a:cs typeface="Consolas" pitchFamily="34" charset="-120"/>
              </a:rPr>
              <a:t>null</a:t>
            </a:r>
            <a:r>
              <a:rPr lang="en-US" sz="1100" dirty="0">
                <a:solidFill>
                  <a:srgbClr val="E6EDF3"/>
                </a:solidFill>
                <a:latin typeface="Consolas" pitchFamily="34" charset="0"/>
                <a:ea typeface="Consolas" pitchFamily="34" charset="-122"/>
                <a:cs typeface="Consolas" pitchFamily="34" charset="-120"/>
              </a:rPr>
              <a:t> : </a:t>
            </a:r>
            <a:r>
              <a:rPr lang="en-US" sz="1100" dirty="0">
                <a:solidFill>
                  <a:srgbClr val="C3E88D"/>
                </a:solidFill>
                <a:latin typeface="Consolas" pitchFamily="34" charset="0"/>
                <a:ea typeface="Consolas" pitchFamily="34" charset="-122"/>
                <a:cs typeface="Consolas" pitchFamily="34" charset="-120"/>
              </a:rPr>
              <a:t>'judul LIKE ? OR isi LIKE ?'</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whereArgs: kunci.isEmpty ? </a:t>
            </a:r>
            <a:r>
              <a:rPr lang="en-US" sz="1100" dirty="0">
                <a:solidFill>
                  <a:srgbClr val="C792EA"/>
                </a:solidFill>
                <a:latin typeface="Consolas" pitchFamily="34" charset="0"/>
                <a:ea typeface="Consolas" pitchFamily="34" charset="-122"/>
                <a:cs typeface="Consolas" pitchFamily="34" charset="-120"/>
              </a:rPr>
              <a:t>null</a:t>
            </a:r>
            <a:r>
              <a:rPr lang="en-US" sz="1100" dirty="0">
                <a:solidFill>
                  <a:srgbClr val="E6EDF3"/>
                </a:solidFill>
                <a:latin typeface="Consolas" pitchFamily="34" charset="0"/>
                <a:ea typeface="Consolas" pitchFamily="34" charset="-122"/>
                <a:cs typeface="Consolas" pitchFamily="34" charset="-120"/>
              </a:rPr>
              <a:t> : [</a:t>
            </a:r>
            <a:r>
              <a:rPr lang="en-US" sz="1100" dirty="0">
                <a:solidFill>
                  <a:srgbClr val="C3E88D"/>
                </a:solidFill>
                <a:latin typeface="Consolas" pitchFamily="34" charset="0"/>
                <a:ea typeface="Consolas" pitchFamily="34" charset="-122"/>
                <a:cs typeface="Consolas" pitchFamily="34" charset="-120"/>
              </a:rPr>
              <a:t>'%$kunci%'</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'%$kunci%'</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orderBy: </a:t>
            </a:r>
            <a:r>
              <a:rPr lang="en-US" sz="1100" dirty="0">
                <a:solidFill>
                  <a:srgbClr val="C3E88D"/>
                </a:solidFill>
                <a:latin typeface="Consolas" pitchFamily="34" charset="0"/>
                <a:ea typeface="Consolas" pitchFamily="34" charset="-122"/>
                <a:cs typeface="Consolas" pitchFamily="34" charset="-120"/>
              </a:rPr>
              <a:t>'diubah DESC, id DESC'</a:t>
            </a: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terbaru di atas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baris.map(</a:t>
            </a:r>
            <a:r>
              <a:rPr lang="en-US" sz="1100" dirty="0">
                <a:solidFill>
                  <a:srgbClr val="FFCB6B"/>
                </a:solidFill>
                <a:latin typeface="Consolas" pitchFamily="34" charset="0"/>
                <a:ea typeface="Consolas" pitchFamily="34" charset="-122"/>
                <a:cs typeface="Consolas" pitchFamily="34" charset="-120"/>
              </a:rPr>
              <a:t>Catatan</a:t>
            </a:r>
            <a:r>
              <a:rPr lang="en-US" sz="1100" dirty="0">
                <a:solidFill>
                  <a:srgbClr val="E6EDF3"/>
                </a:solidFill>
                <a:latin typeface="Consolas" pitchFamily="34" charset="0"/>
                <a:ea typeface="Consolas" pitchFamily="34" charset="-122"/>
                <a:cs typeface="Consolas" pitchFamily="34" charset="-120"/>
              </a:rPr>
              <a:t>.dariBaris).toList();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Map</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String</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Object</a:t>
            </a:r>
            <a:r>
              <a:rPr lang="en-US" sz="1100" dirty="0">
                <a:solidFill>
                  <a:srgbClr val="E6EDF3"/>
                </a:solidFill>
                <a:latin typeface="Consolas" pitchFamily="34" charset="0"/>
                <a:ea typeface="Consolas" pitchFamily="34" charset="-122"/>
                <a:cs typeface="Consolas" pitchFamily="34" charset="-120"/>
              </a:rPr>
              <a:t>?&gt; keBaris() =&gt;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'id'</a:t>
            </a:r>
            <a:r>
              <a:rPr lang="en-US" sz="1100" dirty="0">
                <a:solidFill>
                  <a:srgbClr val="E6EDF3"/>
                </a:solidFill>
                <a:latin typeface="Consolas" pitchFamily="34" charset="0"/>
                <a:ea typeface="Consolas" pitchFamily="34" charset="-122"/>
                <a:cs typeface="Consolas" pitchFamily="34" charset="-120"/>
              </a:rPr>
              <a:t>: ?id, </a:t>
            </a:r>
            <a:r>
              <a:rPr lang="en-US" sz="1100" i="1" dirty="0">
                <a:solidFill>
                  <a:srgbClr val="8FA3BC"/>
                </a:solidFill>
                <a:latin typeface="Consolas" pitchFamily="34" charset="0"/>
                <a:ea typeface="Consolas" pitchFamily="34" charset="-122"/>
                <a:cs typeface="Consolas" pitchFamily="34" charset="-120"/>
              </a:rPr>
              <a:t>// id null: diisi SQLite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'judul'</a:t>
            </a:r>
            <a:r>
              <a:rPr lang="en-US" sz="1100" dirty="0">
                <a:solidFill>
                  <a:srgbClr val="E6EDF3"/>
                </a:solidFill>
                <a:latin typeface="Consolas" pitchFamily="34" charset="0"/>
                <a:ea typeface="Consolas" pitchFamily="34" charset="-122"/>
                <a:cs typeface="Consolas" pitchFamily="34" charset="-120"/>
              </a:rPr>
              <a:t>: judul,</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'isi'</a:t>
            </a:r>
            <a:r>
              <a:rPr lang="en-US" sz="1100" dirty="0">
                <a:solidFill>
                  <a:srgbClr val="E6EDF3"/>
                </a:solidFill>
                <a:latin typeface="Consolas" pitchFamily="34" charset="0"/>
                <a:ea typeface="Consolas" pitchFamily="34" charset="-122"/>
                <a:cs typeface="Consolas" pitchFamily="34" charset="-120"/>
              </a:rPr>
              <a:t>: isi,</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'diubah'</a:t>
            </a:r>
            <a:r>
              <a:rPr lang="en-US" sz="1100" dirty="0">
                <a:solidFill>
                  <a:srgbClr val="E6EDF3"/>
                </a:solidFill>
                <a:latin typeface="Consolas" pitchFamily="34" charset="0"/>
                <a:ea typeface="Consolas" pitchFamily="34" charset="-122"/>
                <a:cs typeface="Consolas" pitchFamily="34" charset="-120"/>
              </a:rPr>
              <a:t>: diubah.millisecondsSinceEpoch, </a:t>
            </a:r>
            <a:r>
              <a:rPr lang="en-US" sz="1100" i="1" dirty="0">
                <a:solidFill>
                  <a:srgbClr val="8FA3BC"/>
                </a:solidFill>
                <a:latin typeface="Consolas" pitchFamily="34" charset="0"/>
                <a:ea typeface="Consolas" pitchFamily="34" charset="-122"/>
                <a:cs typeface="Consolas" pitchFamily="34" charset="-120"/>
              </a:rPr>
              <a:t>// DateTime -&gt; int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1_penyimpanan_lokal/kode/contoh_05_catatan_kuliah_crud.dart"/>
          </p:cNvPr>
          <p:cNvSpPr txBox="1"/>
          <p:nvPr/>
        </p:nvSpPr>
        <p:spPr>
          <a:xfrm>
            <a:off x="548640" y="5180076"/>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contoh_05_catatan_kuliah_crud.dart</a:t>
            </a:r>
            <a:endParaRPr lang="en-US" sz="1300" dirty="0"/>
          </a:p>
        </p:txBody>
      </p:sp>
      <p:pic>
        <p:nvPicPr>
          <p:cNvPr id="6" name="Image 0" descr="ikon tautan">
            <a:hlinkClick r:id="rId3" tooltip="https://github.com/antonprafanto/mobile2026/blob/main/pertemuan_11_penyimpanan_lokal/kode/contoh_05_catatan_kuliah_crud.dart"/>
          </p:cNvPr>
          <p:cNvPicPr>
            <a:picLocks noChangeAspect="1"/>
          </p:cNvPicPr>
          <p:nvPr/>
        </p:nvPicPr>
        <p:blipFill>
          <a:blip r:embed="rId2"/>
          <a:stretch>
            <a:fillRect/>
          </a:stretch>
        </p:blipFill>
        <p:spPr>
          <a:xfrm>
            <a:off x="694944" y="5271516"/>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LIKE '%kata%' = mengandung kata itu; huruf besar dan kecil dianggap sama.</a:t>
            </a:r>
            <a:endParaRPr lang="en-US" sz="1700" dirty="0"/>
          </a:p>
          <a:p>
            <a:pPr marL="228600" indent="-228600">
              <a:spcAft>
                <a:spcPts val="800"/>
              </a:spcAft>
              <a:buSzPct val="100000"/>
              <a:buChar char="•"/>
            </a:pPr>
            <a:r>
              <a:rPr lang="en-US" sz="1700" dirty="0">
                <a:solidFill>
                  <a:schemeClr val="tx1"/>
                </a:solidFill>
              </a:rPr>
              <a:t>id DESC: dua catatan bisa saja disimpan pada milidetik yang sama.</a:t>
            </a:r>
            <a:endParaRPr lang="en-US" sz="1700" dirty="0"/>
          </a:p>
          <a:p>
            <a:pPr marL="228600" indent="-228600">
              <a:spcAft>
                <a:spcPts val="800"/>
              </a:spcAft>
              <a:buSzPct val="100000"/>
              <a:buChar char="•"/>
            </a:pPr>
            <a:r>
              <a:rPr lang="en-US" sz="1700" dirty="0">
                <a:solidFill>
                  <a:schemeClr val="tx1"/>
                </a:solidFill>
              </a:rPr>
              <a:t>id bertipe int?: null = belum pernah disimpan. Setelah insert: copyWith(id: id).</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ViewModel: Tulis, lalu Baca Ulang</a:t>
            </a:r>
            <a:endParaRPr lang="en-US" sz="3200" dirty="0"/>
          </a:p>
        </p:txBody>
      </p:sp>
      <p:sp>
        <p:nvSpPr>
          <p:cNvPr id="4" name="bingkai layar 1"/>
          <p:cNvSpPr/>
          <p:nvPr/>
        </p:nvSpPr>
        <p:spPr>
          <a:xfrm>
            <a:off x="7016191" y="1316736"/>
            <a:ext cx="2258568" cy="3450625"/>
          </a:xfrm>
          <a:prstGeom prst="roundRect">
            <a:avLst>
              <a:gd name="adj" fmla="val 4049"/>
            </a:avLst>
          </a:prstGeom>
          <a:solidFill>
            <a:srgbClr val="FFFFFF"/>
          </a:solidFill>
          <a:ln w="12700">
            <a:solidFill>
              <a:srgbClr val="C9D3E0"/>
            </a:solidFill>
            <a:prstDash val="solid"/>
          </a:ln>
        </p:spPr>
      </p:sp>
      <p:pic>
        <p:nvPicPr>
          <p:cNvPr id="5" name="layar 1" descr="Tangkapan layar aplikasi (hasil_contoh_05a.jpg)">    </p:cNvPr>
          <p:cNvPicPr>
            <a:picLocks noChangeAspect="1"/>
          </p:cNvPicPr>
          <p:nvPr/>
        </p:nvPicPr>
        <p:blipFill>
          <a:blip r:embed="rId1"/>
          <a:stretch>
            <a:fillRect/>
          </a:stretch>
        </p:blipFill>
        <p:spPr>
          <a:xfrm>
            <a:off x="7071055" y="1371600"/>
            <a:ext cx="2148840" cy="3340897"/>
          </a:xfrm>
          <a:prstGeom prst="rect">
            <a:avLst/>
          </a:prstGeom>
        </p:spPr>
      </p:pic>
      <p:sp>
        <p:nvSpPr>
          <p:cNvPr id="6" name="bingkai layar 2"/>
          <p:cNvSpPr/>
          <p:nvPr/>
        </p:nvSpPr>
        <p:spPr>
          <a:xfrm>
            <a:off x="9439351" y="1316736"/>
            <a:ext cx="2258568" cy="3450625"/>
          </a:xfrm>
          <a:prstGeom prst="roundRect">
            <a:avLst>
              <a:gd name="adj" fmla="val 4049"/>
            </a:avLst>
          </a:prstGeom>
          <a:solidFill>
            <a:srgbClr val="FFFFFF"/>
          </a:solidFill>
          <a:ln w="12700">
            <a:solidFill>
              <a:srgbClr val="C9D3E0"/>
            </a:solidFill>
            <a:prstDash val="solid"/>
          </a:ln>
        </p:spPr>
      </p:sp>
      <p:pic>
        <p:nvPicPr>
          <p:cNvPr id="7" name="layar 2" descr="Tangkapan layar aplikasi (hasil_contoh_05b.jpg)">    </p:cNvPr>
          <p:cNvPicPr>
            <a:picLocks noChangeAspect="1"/>
          </p:cNvPicPr>
          <p:nvPr/>
        </p:nvPicPr>
        <p:blipFill>
          <a:blip r:embed="rId2"/>
          <a:stretch>
            <a:fillRect/>
          </a:stretch>
        </p:blipFill>
        <p:spPr>
          <a:xfrm>
            <a:off x="9494215" y="1371600"/>
            <a:ext cx="2148840" cy="3340897"/>
          </a:xfrm>
          <a:prstGeom prst="rect">
            <a:avLst/>
          </a:prstGeom>
        </p:spPr>
      </p:pic>
      <p:sp>
        <p:nvSpPr>
          <p:cNvPr id="8" name="kotak kode"/>
          <p:cNvSpPr txBox="1"/>
          <p:nvPr/>
        </p:nvSpPr>
        <p:spPr>
          <a:xfrm>
            <a:off x="548640" y="1371600"/>
            <a:ext cx="6065215" cy="3227832"/>
          </a:xfrm>
          <a:prstGeom prst="roundRect">
            <a:avLst>
              <a:gd name="adj" fmla="val 2833"/>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bool</a:t>
            </a:r>
            <a:r>
              <a:rPr lang="en-US" sz="1100" dirty="0">
                <a:solidFill>
                  <a:srgbClr val="E6EDF3"/>
                </a:solidFill>
                <a:latin typeface="Consolas" pitchFamily="34" charset="0"/>
                <a:ea typeface="Consolas" pitchFamily="34" charset="-122"/>
                <a:cs typeface="Consolas" pitchFamily="34" charset="-120"/>
              </a:rPr>
              <a:t>&gt; _tulis(</a:t>
            </a: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C792EA"/>
                </a:solidFill>
                <a:latin typeface="Consolas" pitchFamily="34" charset="0"/>
                <a:ea typeface="Consolas" pitchFamily="34" charset="-122"/>
                <a:cs typeface="Consolas" pitchFamily="34" charset="-120"/>
              </a:rPr>
              <a:t>void</a:t>
            </a:r>
            <a:r>
              <a:rPr lang="en-US" sz="1100" dirty="0">
                <a:solidFill>
                  <a:srgbClr val="E6EDF3"/>
                </a:solidFill>
                <a:latin typeface="Consolas" pitchFamily="34" charset="0"/>
                <a:ea typeface="Consolas" pitchFamily="34" charset="-122"/>
                <a:cs typeface="Consolas" pitchFamily="34" charset="-120"/>
              </a:rPr>
              <a:t>&gt; </a:t>
            </a:r>
            <a:r>
              <a:rPr lang="en-US" sz="1100" dirty="0">
                <a:solidFill>
                  <a:srgbClr val="FFCB6B"/>
                </a:solidFill>
                <a:latin typeface="Consolas" pitchFamily="34" charset="0"/>
                <a:ea typeface="Consolas" pitchFamily="34" charset="-122"/>
                <a:cs typeface="Consolas" pitchFamily="34" charset="-120"/>
              </a:rPr>
              <a:t>Function</a:t>
            </a:r>
            <a:r>
              <a:rPr lang="en-US" sz="1100" dirty="0">
                <a:solidFill>
                  <a:srgbClr val="E6EDF3"/>
                </a:solidFill>
                <a:latin typeface="Consolas" pitchFamily="34" charset="0"/>
                <a:ea typeface="Consolas" pitchFamily="34" charset="-122"/>
                <a:cs typeface="Consolas" pitchFamily="34" charset="-120"/>
              </a:rPr>
              <a:t>() perintah)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bool</a:t>
            </a:r>
            <a:r>
              <a:rPr lang="en-US" sz="1100" dirty="0">
                <a:solidFill>
                  <a:srgbClr val="E6EDF3"/>
                </a:solidFill>
                <a:latin typeface="Consolas" pitchFamily="34" charset="0"/>
                <a:ea typeface="Consolas" pitchFamily="34" charset="-122"/>
                <a:cs typeface="Consolas" pitchFamily="34" charset="-120"/>
              </a:rPr>
              <a:t> berhasil = </a:t>
            </a:r>
            <a:r>
              <a:rPr lang="en-US" sz="1100" dirty="0">
                <a:solidFill>
                  <a:srgbClr val="C792EA"/>
                </a:solidFill>
                <a:latin typeface="Consolas" pitchFamily="34" charset="0"/>
                <a:ea typeface="Consolas" pitchFamily="34" charset="-122"/>
                <a:cs typeface="Consolas" pitchFamily="34" charset="-120"/>
              </a:rPr>
              <a:t>true</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try</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perintah();</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 </a:t>
            </a:r>
            <a:r>
              <a:rPr lang="en-US" sz="1100" dirty="0">
                <a:solidFill>
                  <a:srgbClr val="C792EA"/>
                </a:solidFill>
                <a:latin typeface="Consolas" pitchFamily="34" charset="0"/>
                <a:ea typeface="Consolas" pitchFamily="34" charset="-122"/>
                <a:cs typeface="Consolas" pitchFamily="34" charset="-120"/>
              </a:rPr>
              <a:t>catch</a:t>
            </a:r>
            <a:r>
              <a:rPr lang="en-US" sz="1100" dirty="0">
                <a:solidFill>
                  <a:srgbClr val="E6EDF3"/>
                </a:solidFill>
                <a:latin typeface="Consolas" pitchFamily="34" charset="0"/>
                <a:ea typeface="Consolas" pitchFamily="34" charset="-122"/>
                <a:cs typeface="Consolas" pitchFamily="34" charset="-120"/>
              </a:rPr>
              <a:t> (galat)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berhasil = </a:t>
            </a:r>
            <a:r>
              <a:rPr lang="en-US" sz="1100" dirty="0">
                <a:solidFill>
                  <a:srgbClr val="C792EA"/>
                </a:solidFill>
                <a:latin typeface="Consolas" pitchFamily="34" charset="0"/>
                <a:ea typeface="Consolas" pitchFamily="34" charset="-122"/>
                <a:cs typeface="Consolas" pitchFamily="34" charset="-120"/>
              </a:rPr>
              <a:t>false</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muat(); </a:t>
            </a:r>
            <a:r>
              <a:rPr lang="en-US" sz="1100" i="1" dirty="0">
                <a:solidFill>
                  <a:srgbClr val="8FA3BC"/>
                </a:solidFill>
                <a:latin typeface="Consolas" pitchFamily="34" charset="0"/>
                <a:ea typeface="Consolas" pitchFamily="34" charset="-122"/>
                <a:cs typeface="Consolas" pitchFamily="34" charset="-120"/>
              </a:rPr>
              <a:t>// SELALU baca ulang dari database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berhasil;</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FFCB6B"/>
                </a:solidFill>
                <a:latin typeface="Consolas" pitchFamily="34" charset="0"/>
                <a:ea typeface="Consolas" pitchFamily="34" charset="-122"/>
                <a:cs typeface="Consolas" pitchFamily="34" charset="-120"/>
              </a:rPr>
              <a:t>bool</a:t>
            </a:r>
            <a:r>
              <a:rPr lang="en-US" sz="1100" dirty="0">
                <a:solidFill>
                  <a:srgbClr val="E6EDF3"/>
                </a:solidFill>
                <a:latin typeface="Consolas" pitchFamily="34" charset="0"/>
                <a:ea typeface="Consolas" pitchFamily="34" charset="-122"/>
                <a:cs typeface="Consolas" pitchFamily="34" charset="-120"/>
              </a:rPr>
              <a:t>&gt; hapus(</a:t>
            </a:r>
            <a:r>
              <a:rPr lang="en-US" sz="1100" dirty="0">
                <a:solidFill>
                  <a:srgbClr val="FFCB6B"/>
                </a:solidFill>
                <a:latin typeface="Consolas" pitchFamily="34" charset="0"/>
                <a:ea typeface="Consolas" pitchFamily="34" charset="-122"/>
                <a:cs typeface="Consolas" pitchFamily="34" charset="-120"/>
              </a:rPr>
              <a:t>Catatan</a:t>
            </a:r>
            <a:r>
              <a:rPr lang="en-US" sz="1100" dirty="0">
                <a:solidFill>
                  <a:srgbClr val="E6EDF3"/>
                </a:solidFill>
                <a:latin typeface="Consolas" pitchFamily="34" charset="0"/>
                <a:ea typeface="Consolas" pitchFamily="34" charset="-122"/>
                <a:cs typeface="Consolas" pitchFamily="34" charset="-120"/>
              </a:rPr>
              <a:t> catatan)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Dismissible: barisnya harus LANGSUNG hilang</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_daftar = _daftar.where((c) =&gt; c.id != catatan.id).toList();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notifyListeners();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_tulis(() =&gt; _repositori.hapus(catatan.id!));</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9" name="tombol tautan">
            <a:hlinkClick r:id="rId3" tooltip="https://github.com/antonprafanto/mobile2026/blob/main/pertemuan_11_penyimpanan_lokal/kode/contoh_05_catatan_kuliah_crud.dart"/>
          </p:cNvPr>
          <p:cNvSpPr txBox="1"/>
          <p:nvPr/>
        </p:nvSpPr>
        <p:spPr>
          <a:xfrm>
            <a:off x="548640" y="4782312"/>
            <a:ext cx="606521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contoh_05_catatan_kuliah_crud.dart</a:t>
            </a:r>
            <a:endParaRPr lang="en-US" sz="1300" dirty="0"/>
          </a:p>
        </p:txBody>
      </p:sp>
      <p:pic>
        <p:nvPicPr>
          <p:cNvPr id="10" name="Image 2" descr="ikon tautan">
            <a:hlinkClick r:id="rId5" tooltip="https://github.com/antonprafanto/mobile2026/blob/main/pertemuan_11_penyimpanan_lokal/kode/contoh_05_catatan_kuliah_crud.dart"/>
          </p:cNvPr>
          <p:cNvPicPr>
            <a:picLocks noChangeAspect="1"/>
          </p:cNvPicPr>
          <p:nvPr/>
        </p:nvPicPr>
        <p:blipFill>
          <a:blip r:embed="rId4"/>
          <a:stretch>
            <a:fillRect/>
          </a:stretch>
        </p:blipFill>
        <p:spPr>
          <a:xfrm>
            <a:off x="694944" y="4873752"/>
            <a:ext cx="274320" cy="274320"/>
          </a:xfrm>
          <a:prstGeom prst="rect">
            <a:avLst/>
          </a:prstGeom>
        </p:spPr>
      </p:pic>
      <p:sp>
        <p:nvSpPr>
          <p:cNvPr id="11" name="daftar poin"/>
          <p:cNvSpPr txBox="1"/>
          <p:nvPr/>
        </p:nvSpPr>
        <p:spPr>
          <a:xfrm>
            <a:off x="548640" y="5513832"/>
            <a:ext cx="6065215" cy="704088"/>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Database = sumber kebenaran: cukup baca ulang hasil akhirnya.</a:t>
            </a:r>
            <a:endParaRPr lang="en-US" sz="1400" dirty="0"/>
          </a:p>
          <a:p>
            <a:pPr marL="228600" indent="-228600">
              <a:spcAft>
                <a:spcPts val="800"/>
              </a:spcAft>
              <a:buSzPct val="100000"/>
              <a:buChar char="•"/>
            </a:pPr>
            <a:r>
              <a:rPr lang="en-US" sz="1400" dirty="0">
                <a:solidFill>
                  <a:schemeClr val="tx1"/>
                </a:solidFill>
              </a:rPr>
              <a:t>Urungkan → pulihkan: disimpan lagi lengkap dengan id lamanya.</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Menguji dengan Database di Memori</a:t>
            </a:r>
            <a:endParaRPr lang="en-US" sz="3200" dirty="0"/>
          </a:p>
        </p:txBody>
      </p:sp>
      <p:sp>
        <p:nvSpPr>
          <p:cNvPr id="4" name="kotak kode"/>
          <p:cNvSpPr txBox="1"/>
          <p:nvPr/>
        </p:nvSpPr>
        <p:spPr>
          <a:xfrm>
            <a:off x="548640" y="1371600"/>
            <a:ext cx="6949440" cy="3115818"/>
          </a:xfrm>
          <a:prstGeom prst="roundRect">
            <a:avLst>
              <a:gd name="adj" fmla="val 293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LayananBasisData</a:t>
            </a:r>
            <a:r>
              <a:rPr lang="en-US" sz="1300" dirty="0">
                <a:solidFill>
                  <a:srgbClr val="E6EDF3"/>
                </a:solidFill>
                <a:latin typeface="Consolas" pitchFamily="34" charset="0"/>
                <a:ea typeface="Consolas" pitchFamily="34" charset="-122"/>
                <a:cs typeface="Consolas" pitchFamily="34" charset="-120"/>
              </a:rPr>
              <a:t> layanan = </a:t>
            </a:r>
            <a:r>
              <a:rPr lang="en-US" sz="1300" dirty="0">
                <a:solidFill>
                  <a:srgbClr val="FFCB6B"/>
                </a:solidFill>
                <a:latin typeface="Consolas" pitchFamily="34" charset="0"/>
                <a:ea typeface="Consolas" pitchFamily="34" charset="-122"/>
                <a:cs typeface="Consolas" pitchFamily="34" charset="-120"/>
              </a:rPr>
              <a:t>LayananBasisData</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namaBerkas: inMemoryDatabasePath, </a:t>
            </a:r>
            <a:r>
              <a:rPr lang="en-US" sz="1300" i="1" dirty="0">
                <a:solidFill>
                  <a:srgbClr val="8FA3BC"/>
                </a:solidFill>
                <a:latin typeface="Consolas" pitchFamily="34" charset="0"/>
                <a:ea typeface="Consolas" pitchFamily="34" charset="-122"/>
                <a:cs typeface="Consolas" pitchFamily="34" charset="-120"/>
              </a:rPr>
              <a:t>// database sementara</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RepositoriCatatan</a:t>
            </a:r>
            <a:r>
              <a:rPr lang="en-US" sz="1300" dirty="0">
                <a:solidFill>
                  <a:srgbClr val="E6EDF3"/>
                </a:solidFill>
                <a:latin typeface="Consolas" pitchFamily="34" charset="0"/>
                <a:ea typeface="Consolas" pitchFamily="34" charset="-122"/>
                <a:cs typeface="Consolas" pitchFamily="34" charset="-120"/>
              </a:rPr>
              <a:t> repo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RepositoriCatatanSqlite</a:t>
            </a:r>
            <a:r>
              <a:rPr lang="en-US" sz="1300" dirty="0">
                <a:solidFill>
                  <a:srgbClr val="E6EDF3"/>
                </a:solidFill>
                <a:latin typeface="Consolas" pitchFamily="34" charset="0"/>
                <a:ea typeface="Consolas" pitchFamily="34" charset="-122"/>
                <a:cs typeface="Consolas" pitchFamily="34" charset="-120"/>
              </a:rPr>
              <a:t>(layanan: layanan);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Konsol (sebagian dari 11 baris):</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LULUS  Catatan pertama mendapat id 1</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LULUS  Yang terbaru di atas</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LULUS  Cari tidak membedakan huruf besar</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LULUS  Tanda kutip tidak merusak SQL</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LULUS  Kembali dengan id lamanya</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LULUS  ViewModel: hasil pencarian</a:t>
            </a:r>
            <a:endParaRPr lang="en-US" sz="1300" dirty="0"/>
          </a:p>
        </p:txBody>
      </p:sp>
      <p:sp>
        <p:nvSpPr>
          <p:cNvPr id="5" name="tombol tautan">
            <a:hlinkClick r:id="rId1" tooltip="https://github.com/antonprafanto/mobile2026/blob/main/pertemuan_11_penyimpanan_lokal/kode/contoh_05_catatan_kuliah_crud.dart"/>
          </p:cNvPr>
          <p:cNvSpPr txBox="1"/>
          <p:nvPr/>
        </p:nvSpPr>
        <p:spPr>
          <a:xfrm>
            <a:off x="548640" y="4716018"/>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contoh_05_catatan_kuliah_crud.dart</a:t>
            </a:r>
            <a:endParaRPr lang="en-US" sz="1300" dirty="0"/>
          </a:p>
        </p:txBody>
      </p:sp>
      <p:pic>
        <p:nvPicPr>
          <p:cNvPr id="6" name="Image 0" descr="ikon tautan">
            <a:hlinkClick r:id="rId3" tooltip="https://github.com/antonprafanto/mobile2026/blob/main/pertemuan_11_penyimpanan_lokal/kode/contoh_05_catatan_kuliah_crud.dart"/>
          </p:cNvPr>
          <p:cNvPicPr>
            <a:picLocks noChangeAspect="1"/>
          </p:cNvPicPr>
          <p:nvPr/>
        </p:nvPicPr>
        <p:blipFill>
          <a:blip r:embed="rId2"/>
          <a:stretch>
            <a:fillRect/>
          </a:stretch>
        </p:blipFill>
        <p:spPr>
          <a:xfrm>
            <a:off x="694944" y="4807458"/>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Hanya nama berkasnya yang berbeda: SQL yang diuji sama persis dengan aplikasi.</a:t>
            </a:r>
            <a:endParaRPr lang="en-US" sz="1700" dirty="0"/>
          </a:p>
          <a:p>
            <a:pPr marL="228600" indent="-228600">
              <a:spcAft>
                <a:spcPts val="800"/>
              </a:spcAft>
              <a:buSzPct val="100000"/>
              <a:buChar char="•"/>
            </a:pPr>
            <a:r>
              <a:rPr lang="en-US" sz="1700" dirty="0">
                <a:solidFill>
                  <a:schemeClr val="tx1"/>
                </a:solidFill>
              </a:rPr>
              <a:t>Catatan asli di catatan_kuliah.db tidak tersentuh.</a:t>
            </a:r>
            <a:endParaRPr lang="en-US" sz="1700" dirty="0"/>
          </a:p>
          <a:p>
            <a:pPr marL="228600" indent="-228600">
              <a:spcAft>
                <a:spcPts val="800"/>
              </a:spcAft>
              <a:buSzPct val="100000"/>
              <a:buChar char="•"/>
            </a:pPr>
            <a:r>
              <a:rPr lang="en-US" sz="1700" dirty="0">
                <a:solidFill>
                  <a:schemeClr val="tx1"/>
                </a:solidFill>
              </a:rPr>
              <a:t>Setiap uji dimulai dari database kosong.</a:t>
            </a:r>
            <a:endParaRPr lang="en-US" sz="1700" dirty="0"/>
          </a:p>
          <a:p>
            <a:pPr marL="228600" indent="-228600">
              <a:spcAft>
                <a:spcPts val="800"/>
              </a:spcAft>
              <a:buSzPct val="100000"/>
              <a:buChar char="•"/>
            </a:pPr>
            <a:r>
              <a:rPr lang="en-US" sz="1700" dirty="0">
                <a:solidFill>
                  <a:schemeClr val="tx1"/>
                </a:solidFill>
              </a:rPr>
              <a:t>Pertemuan 14: cara yang sama di folder test/ dengan flutter test.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8</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Mengubah Struktur Tabel: Versi dan Migrasi</a:t>
            </a:r>
            <a:endParaRPr lang="en-US" sz="4000" dirty="0"/>
          </a:p>
        </p:txBody>
      </p:sp>
      <p:sp>
        <p:nvSpPr>
          <p:cNvPr id="5" name="lingkaran naik"/>
          <p:cNvSpPr/>
          <p:nvPr/>
        </p:nvSpPr>
        <p:spPr>
          <a:xfrm>
            <a:off x="1097280" y="2148840"/>
            <a:ext cx="2011680" cy="2011680"/>
          </a:xfrm>
          <a:prstGeom prst="ellipse">
            <a:avLst/>
          </a:prstGeom>
          <a:solidFill>
            <a:schemeClr val="accent1"/>
          </a:solidFill>
          <a:ln/>
        </p:spPr>
      </p:sp>
      <p:pic>
        <p:nvPicPr>
          <p:cNvPr id="6" name="Image 0" descr="naik">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Kolom Baru, Pengguna Lama: Mengapa Error?</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Kolom disematkan hanya ditambahkan di CREATE TABLE → pengguna lama: DatabaseException(no such column: disematkan ...)</a:t>
            </a:r>
            <a:endParaRPr lang="en-US" sz="18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4782076"/>
                <a:gridCol w="6312340"/>
              </a:tblGrid>
              <a:tr h="7315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"Solusi"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Mengapa tidak boleh untuk pengguna sungguhan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3152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Menambah kolom di CREATE TABLE saja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onCreate hanya berjalan saat berkas BELUM ada; berkas pengguna lama sudah ada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3152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Hapus aplikasi lalu pasang ulang</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Semua catatan pengguna HILANG</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3152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Hapus berkas database setiap aplikasi dibuka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Sama saja: semua data hilang</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6" name="lingkaran lampu"/>
          <p:cNvSpPr/>
          <p:nvPr/>
        </p:nvSpPr>
        <p:spPr>
          <a:xfrm>
            <a:off x="548640" y="5486400"/>
            <a:ext cx="502920" cy="502920"/>
          </a:xfrm>
          <a:prstGeom prst="ellipse">
            <a:avLst/>
          </a:prstGeom>
          <a:solidFill>
            <a:schemeClr val="accent3"/>
          </a:solidFill>
          <a:ln/>
        </p:spPr>
      </p:sp>
      <p:pic>
        <p:nvPicPr>
          <p:cNvPr id="7"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8" name="Text 3"/>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Selama pengembangan, menghapus data sendiri memang jalan pintas. Untuk aplikasi yang sudah dipakai orang: MIGRASI.</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version dan onUpgrade</a:t>
            </a:r>
            <a:endParaRPr lang="en-US" sz="3200" dirty="0"/>
          </a:p>
        </p:txBody>
      </p:sp>
      <p:sp>
        <p:nvSpPr>
          <p:cNvPr id="4" name="kotak kode"/>
          <p:cNvSpPr txBox="1"/>
          <p:nvPr/>
        </p:nvSpPr>
        <p:spPr>
          <a:xfrm>
            <a:off x="548640" y="1371600"/>
            <a:ext cx="6949440" cy="4206240"/>
          </a:xfrm>
          <a:prstGeom prst="roundRect">
            <a:avLst>
              <a:gd name="adj" fmla="val 2174"/>
            </a:avLst>
          </a:prstGeom>
          <a:solidFill>
            <a:srgbClr val="0E1A2B"/>
          </a:solidFill>
          <a:ln/>
        </p:spPr>
        <p:txBody>
          <a:bodyPr wrap="square" lIns="177800" tIns="152400" rIns="152400" bIns="177800" rtlCol="0" anchor="t"/>
          <a:lstStyle/>
          <a:p>
            <a:pPr indent="0" marL="0">
              <a:lnSpc>
                <a:spcPct val="105000"/>
              </a:lnSpc>
              <a:buNone/>
            </a:pPr>
            <a:r>
              <a:rPr lang="en-US" sz="1100" dirty="0">
                <a:solidFill>
                  <a:srgbClr val="C792EA"/>
                </a:solidFill>
                <a:latin typeface="Consolas" pitchFamily="34" charset="0"/>
                <a:ea typeface="Consolas" pitchFamily="34" charset="-122"/>
                <a:cs typeface="Consolas" pitchFamily="34" charset="-120"/>
              </a:rPr>
              <a:t>return</a:t>
            </a:r>
            <a:r>
              <a:rPr lang="en-US" sz="1100" dirty="0">
                <a:solidFill>
                  <a:srgbClr val="E6EDF3"/>
                </a:solidFill>
                <a:latin typeface="Consolas" pitchFamily="34" charset="0"/>
                <a:ea typeface="Consolas" pitchFamily="34" charset="-122"/>
                <a:cs typeface="Consolas" pitchFamily="34" charset="-120"/>
              </a:rPr>
              <a:t> openDatabase(</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namaBerkas,</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version: </a:t>
            </a:r>
            <a:r>
              <a:rPr lang="en-US" sz="1100" dirty="0">
                <a:solidFill>
                  <a:srgbClr val="F78C6C"/>
                </a:solidFill>
                <a:latin typeface="Consolas" pitchFamily="34" charset="0"/>
                <a:ea typeface="Consolas" pitchFamily="34" charset="-122"/>
                <a:cs typeface="Consolas" pitchFamily="34" charset="-120"/>
              </a:rPr>
              <a:t>2</a:t>
            </a: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naik dari 1: struktur tabel berubah</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Pengguna BARU: langsung tabel versi terbaru.</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onCreate: (</a:t>
            </a:r>
            <a:r>
              <a:rPr lang="en-US" sz="1100" dirty="0">
                <a:solidFill>
                  <a:srgbClr val="FFCB6B"/>
                </a:solidFill>
                <a:latin typeface="Consolas" pitchFamily="34" charset="0"/>
                <a:ea typeface="Consolas" pitchFamily="34" charset="-122"/>
                <a:cs typeface="Consolas" pitchFamily="34" charset="-120"/>
              </a:rPr>
              <a:t>Database</a:t>
            </a:r>
            <a:r>
              <a:rPr lang="en-US" sz="1100" dirty="0">
                <a:solidFill>
                  <a:srgbClr val="E6EDF3"/>
                </a:solidFill>
                <a:latin typeface="Consolas" pitchFamily="34" charset="0"/>
                <a:ea typeface="Consolas" pitchFamily="34" charset="-122"/>
                <a:cs typeface="Consolas" pitchFamily="34" charset="-120"/>
              </a:rPr>
              <a:t> db, </a:t>
            </a:r>
            <a:r>
              <a:rPr lang="en-US" sz="1100" dirty="0">
                <a:solidFill>
                  <a:srgbClr val="FFCB6B"/>
                </a:solidFill>
                <a:latin typeface="Consolas" pitchFamily="34" charset="0"/>
                <a:ea typeface="Consolas" pitchFamily="34" charset="-122"/>
                <a:cs typeface="Consolas" pitchFamily="34" charset="-120"/>
              </a:rPr>
              <a:t>int</a:t>
            </a:r>
            <a:r>
              <a:rPr lang="en-US" sz="1100" dirty="0">
                <a:solidFill>
                  <a:srgbClr val="E6EDF3"/>
                </a:solidFill>
                <a:latin typeface="Consolas" pitchFamily="34" charset="0"/>
                <a:ea typeface="Consolas" pitchFamily="34" charset="-122"/>
                <a:cs typeface="Consolas" pitchFamily="34" charset="-120"/>
              </a:rPr>
              <a:t> versi)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db.execute(</a:t>
            </a:r>
            <a:r>
              <a:rPr lang="en-US" sz="1100" dirty="0">
                <a:solidFill>
                  <a:srgbClr val="C3E88D"/>
                </a:solidFill>
                <a:latin typeface="Consolas" pitchFamily="34" charset="0"/>
                <a:ea typeface="Consolas" pitchFamily="34" charset="-122"/>
                <a:cs typeface="Consolas" pitchFamily="34" charset="-120"/>
              </a:rPr>
              <a:t>''</a:t>
            </a:r>
            <a:r>
              <a:rPr lang="en-US" sz="1100" dirty="0">
                <a:solidFill>
                  <a:srgbClr val="C3E88D"/>
                </a:solidFill>
                <a:latin typeface="Consolas" pitchFamily="34" charset="0"/>
                <a:ea typeface="Consolas" pitchFamily="34" charset="-122"/>
                <a:cs typeface="Consolas" pitchFamily="34" charset="-120"/>
              </a:rPr>
              <a:t>'CREATE TABLE catatan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disematkan </a:t>
            </a:r>
            <a:r>
              <a:rPr lang="en-US" sz="1100" dirty="0">
                <a:solidFill>
                  <a:srgbClr val="FFCB6B"/>
                </a:solidFill>
                <a:latin typeface="Consolas" pitchFamily="34" charset="0"/>
                <a:ea typeface="Consolas" pitchFamily="34" charset="-122"/>
                <a:cs typeface="Consolas" pitchFamily="34" charset="-120"/>
              </a:rPr>
              <a:t>INTEGER</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NOT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NULL</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DEFAULT</a:t>
            </a: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78C6C"/>
                </a:solidFill>
                <a:latin typeface="Consolas" pitchFamily="34" charset="0"/>
                <a:ea typeface="Consolas" pitchFamily="34" charset="-122"/>
                <a:cs typeface="Consolas" pitchFamily="34" charset="-120"/>
              </a:rPr>
              <a:t>0</a:t>
            </a:r>
            <a:r>
              <a:rPr lang="en-US" sz="1100" dirty="0">
                <a:solidFill>
                  <a:srgbClr val="E6EDF3"/>
                </a:solidFill>
                <a:latin typeface="Consolas" pitchFamily="34" charset="0"/>
                <a:ea typeface="Consolas" pitchFamily="34" charset="-122"/>
                <a:cs typeface="Consolas" pitchFamily="34" charset="-120"/>
              </a:rPr>
              <a:t>)</a:t>
            </a:r>
            <a:r>
              <a:rPr lang="en-US" sz="1100" dirty="0">
                <a:solidFill>
                  <a:srgbClr val="C3E88D"/>
                </a:solidFill>
                <a:latin typeface="Consolas" pitchFamily="34" charset="0"/>
                <a:ea typeface="Consolas" pitchFamily="34" charset="-122"/>
                <a:cs typeface="Consolas" pitchFamily="34" charset="-120"/>
              </a:rPr>
              <a:t>''</a:t>
            </a:r>
            <a:r>
              <a:rPr lang="en-US" sz="1100" dirty="0">
                <a:solidFill>
                  <a:srgbClr val="C3E88D"/>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Pengguna LAMA (berkas versi 1): ditingkatkan.</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onUpgrade: (</a:t>
            </a:r>
            <a:r>
              <a:rPr lang="en-US" sz="1100" dirty="0">
                <a:solidFill>
                  <a:srgbClr val="FFCB6B"/>
                </a:solidFill>
                <a:latin typeface="Consolas" pitchFamily="34" charset="0"/>
                <a:ea typeface="Consolas" pitchFamily="34" charset="-122"/>
                <a:cs typeface="Consolas" pitchFamily="34" charset="-120"/>
              </a:rPr>
              <a:t>Database</a:t>
            </a:r>
            <a:r>
              <a:rPr lang="en-US" sz="1100" dirty="0">
                <a:solidFill>
                  <a:srgbClr val="E6EDF3"/>
                </a:solidFill>
                <a:latin typeface="Consolas" pitchFamily="34" charset="0"/>
                <a:ea typeface="Consolas" pitchFamily="34" charset="-122"/>
                <a:cs typeface="Consolas" pitchFamily="34" charset="-120"/>
              </a:rPr>
              <a:t> db, </a:t>
            </a:r>
            <a:r>
              <a:rPr lang="en-US" sz="1100" dirty="0">
                <a:solidFill>
                  <a:srgbClr val="FFCB6B"/>
                </a:solidFill>
                <a:latin typeface="Consolas" pitchFamily="34" charset="0"/>
                <a:ea typeface="Consolas" pitchFamily="34" charset="-122"/>
                <a:cs typeface="Consolas" pitchFamily="34" charset="-120"/>
              </a:rPr>
              <a:t>int</a:t>
            </a:r>
            <a:r>
              <a:rPr lang="en-US" sz="1100" dirty="0">
                <a:solidFill>
                  <a:srgbClr val="E6EDF3"/>
                </a:solidFill>
                <a:latin typeface="Consolas" pitchFamily="34" charset="0"/>
                <a:ea typeface="Consolas" pitchFamily="34" charset="-122"/>
                <a:cs typeface="Consolas" pitchFamily="34" charset="-120"/>
              </a:rPr>
              <a:t> versiLama, </a:t>
            </a:r>
            <a:r>
              <a:rPr lang="en-US" sz="1100" dirty="0">
                <a:solidFill>
                  <a:srgbClr val="FFCB6B"/>
                </a:solidFill>
                <a:latin typeface="Consolas" pitchFamily="34" charset="0"/>
                <a:ea typeface="Consolas" pitchFamily="34" charset="-122"/>
                <a:cs typeface="Consolas" pitchFamily="34" charset="-120"/>
              </a:rPr>
              <a:t>int</a:t>
            </a:r>
            <a:r>
              <a:rPr lang="en-US" sz="1100" dirty="0">
                <a:solidFill>
                  <a:srgbClr val="E6EDF3"/>
                </a:solidFill>
                <a:latin typeface="Consolas" pitchFamily="34" charset="0"/>
                <a:ea typeface="Consolas" pitchFamily="34" charset="-122"/>
                <a:cs typeface="Consolas" pitchFamily="34" charset="-120"/>
              </a:rPr>
              <a:t> versiBaru)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tingkatkanSkema(db, versiLama, versiBaru);</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FFCB6B"/>
                </a:solidFill>
                <a:latin typeface="Consolas" pitchFamily="34" charset="0"/>
                <a:ea typeface="Consolas" pitchFamily="34" charset="-122"/>
                <a:cs typeface="Consolas" pitchFamily="34" charset="-120"/>
              </a:rPr>
              <a:t>Future</a:t>
            </a:r>
            <a:r>
              <a:rPr lang="en-US" sz="1100" dirty="0">
                <a:solidFill>
                  <a:srgbClr val="E6EDF3"/>
                </a:solidFill>
                <a:latin typeface="Consolas" pitchFamily="34" charset="0"/>
                <a:ea typeface="Consolas" pitchFamily="34" charset="-122"/>
                <a:cs typeface="Consolas" pitchFamily="34" charset="-120"/>
              </a:rPr>
              <a:t>&lt;</a:t>
            </a:r>
            <a:r>
              <a:rPr lang="en-US" sz="1100" dirty="0">
                <a:solidFill>
                  <a:srgbClr val="C792EA"/>
                </a:solidFill>
                <a:latin typeface="Consolas" pitchFamily="34" charset="0"/>
                <a:ea typeface="Consolas" pitchFamily="34" charset="-122"/>
                <a:cs typeface="Consolas" pitchFamily="34" charset="-120"/>
              </a:rPr>
              <a:t>void</a:t>
            </a:r>
            <a:r>
              <a:rPr lang="en-US" sz="1100" dirty="0">
                <a:solidFill>
                  <a:srgbClr val="E6EDF3"/>
                </a:solidFill>
                <a:latin typeface="Consolas" pitchFamily="34" charset="0"/>
                <a:ea typeface="Consolas" pitchFamily="34" charset="-122"/>
                <a:cs typeface="Consolas" pitchFamily="34" charset="-120"/>
              </a:rPr>
              <a:t>&gt; tingkatkanSkema(</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FFCB6B"/>
                </a:solidFill>
                <a:latin typeface="Consolas" pitchFamily="34" charset="0"/>
                <a:ea typeface="Consolas" pitchFamily="34" charset="-122"/>
                <a:cs typeface="Consolas" pitchFamily="34" charset="-120"/>
              </a:rPr>
              <a:t>Database</a:t>
            </a:r>
            <a:r>
              <a:rPr lang="en-US" sz="1100" dirty="0">
                <a:solidFill>
                  <a:srgbClr val="E6EDF3"/>
                </a:solidFill>
                <a:latin typeface="Consolas" pitchFamily="34" charset="0"/>
                <a:ea typeface="Consolas" pitchFamily="34" charset="-122"/>
                <a:cs typeface="Consolas" pitchFamily="34" charset="-120"/>
              </a:rPr>
              <a:t> db, </a:t>
            </a:r>
            <a:r>
              <a:rPr lang="en-US" sz="1100" dirty="0">
                <a:solidFill>
                  <a:srgbClr val="FFCB6B"/>
                </a:solidFill>
                <a:latin typeface="Consolas" pitchFamily="34" charset="0"/>
                <a:ea typeface="Consolas" pitchFamily="34" charset="-122"/>
                <a:cs typeface="Consolas" pitchFamily="34" charset="-120"/>
              </a:rPr>
              <a:t>int</a:t>
            </a:r>
            <a:r>
              <a:rPr lang="en-US" sz="1100" dirty="0">
                <a:solidFill>
                  <a:srgbClr val="E6EDF3"/>
                </a:solidFill>
                <a:latin typeface="Consolas" pitchFamily="34" charset="0"/>
                <a:ea typeface="Consolas" pitchFamily="34" charset="-122"/>
                <a:cs typeface="Consolas" pitchFamily="34" charset="-120"/>
              </a:rPr>
              <a:t> versiLama, </a:t>
            </a:r>
            <a:r>
              <a:rPr lang="en-US" sz="1100" dirty="0">
                <a:solidFill>
                  <a:srgbClr val="FFCB6B"/>
                </a:solidFill>
                <a:latin typeface="Consolas" pitchFamily="34" charset="0"/>
                <a:ea typeface="Consolas" pitchFamily="34" charset="-122"/>
                <a:cs typeface="Consolas" pitchFamily="34" charset="-120"/>
              </a:rPr>
              <a:t>int</a:t>
            </a:r>
            <a:r>
              <a:rPr lang="en-US" sz="1100" dirty="0">
                <a:solidFill>
                  <a:srgbClr val="E6EDF3"/>
                </a:solidFill>
                <a:latin typeface="Consolas" pitchFamily="34" charset="0"/>
                <a:ea typeface="Consolas" pitchFamily="34" charset="-122"/>
                <a:cs typeface="Consolas" pitchFamily="34" charset="-120"/>
              </a:rPr>
              <a:t> versiBaru) </a:t>
            </a:r>
            <a:r>
              <a:rPr lang="en-US" sz="1100" dirty="0">
                <a:solidFill>
                  <a:srgbClr val="C792EA"/>
                </a:solidFill>
                <a:latin typeface="Consolas" pitchFamily="34" charset="0"/>
                <a:ea typeface="Consolas" pitchFamily="34" charset="-122"/>
                <a:cs typeface="Consolas" pitchFamily="34" charset="-120"/>
              </a:rPr>
              <a:t>async</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if</a:t>
            </a:r>
            <a:r>
              <a:rPr lang="en-US" sz="1100" dirty="0">
                <a:solidFill>
                  <a:srgbClr val="E6EDF3"/>
                </a:solidFill>
                <a:latin typeface="Consolas" pitchFamily="34" charset="0"/>
                <a:ea typeface="Consolas" pitchFamily="34" charset="-122"/>
                <a:cs typeface="Consolas" pitchFamily="34" charset="-120"/>
              </a:rPr>
              <a:t> (versiLama &lt; </a:t>
            </a:r>
            <a:r>
              <a:rPr lang="en-US" sz="1100" dirty="0">
                <a:solidFill>
                  <a:srgbClr val="F78C6C"/>
                </a:solidFill>
                <a:latin typeface="Consolas" pitchFamily="34" charset="0"/>
                <a:ea typeface="Consolas" pitchFamily="34" charset="-122"/>
                <a:cs typeface="Consolas" pitchFamily="34" charset="-120"/>
              </a:rPr>
              <a:t>2</a:t>
            </a: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792EA"/>
                </a:solidFill>
                <a:latin typeface="Consolas" pitchFamily="34" charset="0"/>
                <a:ea typeface="Consolas" pitchFamily="34" charset="-122"/>
                <a:cs typeface="Consolas" pitchFamily="34" charset="-120"/>
              </a:rPr>
              <a:t>await</a:t>
            </a:r>
            <a:r>
              <a:rPr lang="en-US" sz="1100" dirty="0">
                <a:solidFill>
                  <a:srgbClr val="E6EDF3"/>
                </a:solidFill>
                <a:latin typeface="Consolas" pitchFamily="34" charset="0"/>
                <a:ea typeface="Consolas" pitchFamily="34" charset="-122"/>
                <a:cs typeface="Consolas" pitchFamily="34" charset="-120"/>
              </a:rPr>
              <a:t> db.execute(</a:t>
            </a:r>
            <a:r>
              <a:rPr lang="en-US" sz="1100" dirty="0">
                <a:solidFill>
                  <a:srgbClr val="C3E88D"/>
                </a:solidFill>
                <a:latin typeface="Consolas" pitchFamily="34" charset="0"/>
                <a:ea typeface="Consolas" pitchFamily="34" charset="-122"/>
                <a:cs typeface="Consolas" pitchFamily="34" charset="-120"/>
              </a:rPr>
              <a:t>'ALTER TABLE catatan ADD COLUMN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dirty="0">
                <a:solidFill>
                  <a:srgbClr val="C3E88D"/>
                </a:solidFill>
                <a:latin typeface="Consolas" pitchFamily="34" charset="0"/>
                <a:ea typeface="Consolas" pitchFamily="34" charset="-122"/>
                <a:cs typeface="Consolas" pitchFamily="34" charset="-120"/>
              </a:rPr>
              <a:t>'disematkan INTEGER NOT NULL DEFAULT 0'</a:t>
            </a:r>
            <a:r>
              <a:rPr lang="en-US" sz="1100" dirty="0">
                <a:solidFill>
                  <a:srgbClr val="E6EDF3"/>
                </a:solidFill>
                <a:latin typeface="Consolas" pitchFamily="34" charset="0"/>
                <a:ea typeface="Consolas" pitchFamily="34" charset="-122"/>
                <a:cs typeface="Consolas" pitchFamily="34" charset="-120"/>
              </a:rPr>
              <a:t>);</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  </a:t>
            </a:r>
            <a:r>
              <a:rPr lang="en-US" sz="1100" i="1" dirty="0">
                <a:solidFill>
                  <a:srgbClr val="8FA3BC"/>
                </a:solidFill>
                <a:latin typeface="Consolas" pitchFamily="34" charset="0"/>
                <a:ea typeface="Consolas" pitchFamily="34" charset="-122"/>
                <a:cs typeface="Consolas" pitchFamily="34" charset="-120"/>
              </a:rPr>
              <a:t>// berikutnya: if (versiLama &lt; 3) { ... }</a:t>
            </a:r>
            <a:endParaRPr lang="en-US" sz="1100" dirty="0"/>
          </a:p>
          <a:p>
            <a:pPr indent="0" marL="0">
              <a:lnSpc>
                <a:spcPct val="105000"/>
              </a:lnSpc>
              <a:buNone/>
            </a:pPr>
            <a:r>
              <a:rPr lang="en-US" sz="1100" dirty="0">
                <a:solidFill>
                  <a:srgbClr val="E6EDF3"/>
                </a:solidFill>
                <a:latin typeface="Consolas" pitchFamily="34" charset="0"/>
                <a:ea typeface="Consolas" pitchFamily="34" charset="-122"/>
                <a:cs typeface="Consolas" pitchFamily="34" charset="-120"/>
              </a:rPr>
              <a:t>}</a:t>
            </a:r>
            <a:endParaRPr lang="en-US" sz="1100" dirty="0"/>
          </a:p>
        </p:txBody>
      </p:sp>
      <p:sp>
        <p:nvSpPr>
          <p:cNvPr id="5" name="tombol tautan">
            <a:hlinkClick r:id="rId1" tooltip="https://github.com/antonprafanto/mobile2026/blob/main/pertemuan_11_penyimpanan_lokal/kode/contoh_06_migrasi_skema.dart"/>
          </p:cNvPr>
          <p:cNvSpPr txBox="1"/>
          <p:nvPr/>
        </p:nvSpPr>
        <p:spPr>
          <a:xfrm>
            <a:off x="548640" y="5806440"/>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contoh_06_migrasi_skema.dart</a:t>
            </a:r>
            <a:endParaRPr lang="en-US" sz="1300" dirty="0"/>
          </a:p>
        </p:txBody>
      </p:sp>
      <p:pic>
        <p:nvPicPr>
          <p:cNvPr id="6" name="Image 0" descr="ikon tautan">
            <a:hlinkClick r:id="rId3" tooltip="https://github.com/antonprafanto/mobile2026/blob/main/pertemuan_11_penyimpanan_lokal/kode/contoh_06_migrasi_skema.dart"/>
          </p:cNvPr>
          <p:cNvPicPr>
            <a:picLocks noChangeAspect="1"/>
          </p:cNvPicPr>
          <p:nvPr/>
        </p:nvPicPr>
        <p:blipFill>
          <a:blip r:embed="rId2"/>
          <a:stretch>
            <a:fillRect/>
          </a:stretch>
        </p:blipFill>
        <p:spPr>
          <a:xfrm>
            <a:off x="694944" y="5897880"/>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DEFAULT 0: semua catatan lama otomatis "tidak disematkan".</a:t>
            </a:r>
            <a:endParaRPr lang="en-US" sz="1700" dirty="0"/>
          </a:p>
          <a:p>
            <a:pPr marL="228600" indent="-228600">
              <a:spcAft>
                <a:spcPts val="800"/>
              </a:spcAft>
              <a:buSzPct val="100000"/>
              <a:buChar char="•"/>
            </a:pPr>
            <a:r>
              <a:rPr lang="en-US" sz="1700" dirty="0">
                <a:solidFill>
                  <a:schemeClr val="tx1"/>
                </a:solidFill>
              </a:rPr>
              <a:t>Tidak ada satu catatan pun yang hilang.</a:t>
            </a:r>
            <a:endParaRPr lang="en-US" sz="1700" dirty="0"/>
          </a:p>
          <a:p>
            <a:pPr marL="228600" indent="-228600">
              <a:spcAft>
                <a:spcPts val="800"/>
              </a:spcAft>
              <a:buSzPct val="100000"/>
              <a:buChar char="•"/>
            </a:pPr>
            <a:r>
              <a:rPr lang="en-US" sz="1700" dirty="0">
                <a:solidFill>
                  <a:schemeClr val="tx1"/>
                </a:solidFill>
              </a:rPr>
              <a:t>tingkatkanSkema ditulis terpisah agar bisa diuji.</a:t>
            </a:r>
            <a:endParaRPr lang="en-US" sz="1700" dirty="0"/>
          </a:p>
          <a:p>
            <a:pPr marL="228600" indent="-228600">
              <a:spcAft>
                <a:spcPts val="800"/>
              </a:spcAft>
              <a:buSzPct val="100000"/>
              <a:buChar char="•"/>
            </a:pPr>
            <a:r>
              <a:rPr lang="en-US" sz="1700" dirty="0">
                <a:solidFill>
                  <a:schemeClr val="tx1"/>
                </a:solidFill>
              </a:rPr>
              <a:t>Konsol: Migrasi database: versi 1 -&gt; 2.</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Setiap Kali Membuka, Versi Dibandingkan</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sqflite menyimpan nomor versi DI DALAM berkas database, lalu membandingkannya dengan version:</a:t>
            </a:r>
            <a:endParaRPr lang="en-US" sz="18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5355925"/>
                <a:gridCol w="5738491"/>
              </a:tblGrid>
              <a:tr h="68580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Keadaan berkas di perangkat</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Yang dijalankan sqflite</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8580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Belum ada (pengguna baru)</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onsolas" pitchFamily="34" charset="0"/>
                          <a:ea typeface="Consolas" pitchFamily="34" charset="-122"/>
                          <a:cs typeface="Consolas" pitchFamily="34" charset="-120"/>
                        </a:rPr>
                        <a:t>onCreate(db, 2)</a:t>
                      </a:r>
                      <a:endParaRPr lang="en-US" sz="17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8580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Versi 1 (pengguna lama)</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onsolas" pitchFamily="34" charset="0"/>
                          <a:ea typeface="Consolas" pitchFamily="34" charset="-122"/>
                          <a:cs typeface="Consolas" pitchFamily="34" charset="-120"/>
                        </a:rPr>
                        <a:t>onUpgrade(db, 1, 2)</a:t>
                      </a:r>
                      <a:endParaRPr lang="en-US" sz="17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8580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Sudah versi 2</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Tidak ada; database langsung dipakai</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8580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Versi 3 (dibuat aplikasi yang lebih baru)</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onDowngrade, jika ada. Hindari keadaan ini</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Aturan Emas Migrasi</a:t>
            </a:r>
            <a:endParaRPr lang="en-US" sz="3200" dirty="0"/>
          </a:p>
        </p:txBody>
      </p:sp>
      <p:sp>
        <p:nvSpPr>
          <p:cNvPr id="4" name="kartu 1"/>
          <p:cNvSpPr/>
          <p:nvPr/>
        </p:nvSpPr>
        <p:spPr>
          <a:xfrm>
            <a:off x="548640" y="1371600"/>
            <a:ext cx="3484778" cy="2286000"/>
          </a:xfrm>
          <a:prstGeom prst="roundRect">
            <a:avLst>
              <a:gd name="adj" fmla="val 4800"/>
            </a:avLst>
          </a:prstGeom>
          <a:solidFill>
            <a:schemeClr val="bg2"/>
          </a:solidFill>
          <a:ln/>
        </p:spPr>
      </p:sp>
      <p:sp>
        <p:nvSpPr>
          <p:cNvPr id="5" name="lingkaran naik"/>
          <p:cNvSpPr/>
          <p:nvPr/>
        </p:nvSpPr>
        <p:spPr>
          <a:xfrm>
            <a:off x="777240" y="1600200"/>
            <a:ext cx="685800" cy="685800"/>
          </a:xfrm>
          <a:prstGeom prst="ellipse">
            <a:avLst/>
          </a:prstGeom>
          <a:solidFill>
            <a:schemeClr val="accent1"/>
          </a:solidFill>
          <a:ln/>
        </p:spPr>
      </p:sp>
      <p:pic>
        <p:nvPicPr>
          <p:cNvPr id="6" name="Image 0" descr="naik">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version hanya naik</a:t>
            </a:r>
            <a:endParaRPr lang="en-US" sz="1800" dirty="0"/>
          </a:p>
        </p:txBody>
      </p:sp>
      <p:sp>
        <p:nvSpPr>
          <p:cNvPr id="8" name="Text 4"/>
          <p:cNvSpPr txBox="1"/>
          <p:nvPr/>
        </p:nvSpPr>
        <p:spPr>
          <a:xfrm>
            <a:off x="777240"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Setiap kali struktur berubah: tambah tabel, kolom, atau indeks.</a:t>
            </a:r>
            <a:endParaRPr lang="en-US" sz="1500" dirty="0"/>
          </a:p>
        </p:txBody>
      </p:sp>
      <p:sp>
        <p:nvSpPr>
          <p:cNvPr id="9" name="kartu 2"/>
          <p:cNvSpPr/>
          <p:nvPr/>
        </p:nvSpPr>
        <p:spPr>
          <a:xfrm>
            <a:off x="4353458" y="1371600"/>
            <a:ext cx="3484778" cy="2286000"/>
          </a:xfrm>
          <a:prstGeom prst="roundRect">
            <a:avLst>
              <a:gd name="adj" fmla="val 4800"/>
            </a:avLst>
          </a:prstGeom>
          <a:solidFill>
            <a:schemeClr val="bg2"/>
          </a:solidFill>
          <a:ln/>
        </p:spPr>
      </p:sp>
      <p:sp>
        <p:nvSpPr>
          <p:cNvPr id="10" name="lingkaran centang"/>
          <p:cNvSpPr/>
          <p:nvPr/>
        </p:nvSpPr>
        <p:spPr>
          <a:xfrm>
            <a:off x="4582058" y="1600200"/>
            <a:ext cx="685800" cy="685800"/>
          </a:xfrm>
          <a:prstGeom prst="ellipse">
            <a:avLst/>
          </a:prstGeom>
          <a:solidFill>
            <a:schemeClr val="accent1"/>
          </a:solidFill>
          <a:ln/>
        </p:spPr>
      </p:sp>
      <p:pic>
        <p:nvPicPr>
          <p:cNvPr id="11" name="Image 1" descr="centang">    </p:cNvPr>
          <p:cNvPicPr>
            <a:picLocks noChangeAspect="1"/>
          </p:cNvPicPr>
          <p:nvPr/>
        </p:nvPicPr>
        <p:blipFill>
          <a:blip r:embed="rId2"/>
          <a:stretch>
            <a:fillRect/>
          </a:stretch>
        </p:blipFill>
        <p:spPr>
          <a:xfrm>
            <a:off x="4732934" y="1751076"/>
            <a:ext cx="384048" cy="384048"/>
          </a:xfrm>
          <a:prstGeom prst="rect">
            <a:avLst/>
          </a:prstGeom>
        </p:spPr>
      </p:pic>
      <p:sp>
        <p:nvSpPr>
          <p:cNvPr id="12" name="Text 7"/>
          <p:cNvSpPr txBox="1"/>
          <p:nvPr/>
        </p:nvSpPr>
        <p:spPr>
          <a:xfrm>
            <a:off x="5405018"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onCreate = struktur terbaru</a:t>
            </a:r>
            <a:endParaRPr lang="en-US" sz="1800" dirty="0"/>
          </a:p>
        </p:txBody>
      </p:sp>
      <p:sp>
        <p:nvSpPr>
          <p:cNvPr id="13" name="Text 8"/>
          <p:cNvSpPr txBox="1"/>
          <p:nvPr/>
        </p:nvSpPr>
        <p:spPr>
          <a:xfrm>
            <a:off x="4582058"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Untuk pengguna baru, langsung lengkap.</a:t>
            </a:r>
            <a:endParaRPr lang="en-US" sz="1500" dirty="0"/>
          </a:p>
        </p:txBody>
      </p:sp>
      <p:sp>
        <p:nvSpPr>
          <p:cNvPr id="14" name="kartu 3"/>
          <p:cNvSpPr/>
          <p:nvPr/>
        </p:nvSpPr>
        <p:spPr>
          <a:xfrm>
            <a:off x="8158277" y="1371600"/>
            <a:ext cx="3484778" cy="2286000"/>
          </a:xfrm>
          <a:prstGeom prst="roundRect">
            <a:avLst>
              <a:gd name="adj" fmla="val 4800"/>
            </a:avLst>
          </a:prstGeom>
          <a:solidFill>
            <a:schemeClr val="bg2"/>
          </a:solidFill>
          <a:ln/>
        </p:spPr>
      </p:sp>
      <p:sp>
        <p:nvSpPr>
          <p:cNvPr id="15" name="lingkaran nomor"/>
          <p:cNvSpPr/>
          <p:nvPr/>
        </p:nvSpPr>
        <p:spPr>
          <a:xfrm>
            <a:off x="8386877" y="1600200"/>
            <a:ext cx="685800" cy="685800"/>
          </a:xfrm>
          <a:prstGeom prst="ellipse">
            <a:avLst/>
          </a:prstGeom>
          <a:solidFill>
            <a:schemeClr val="accent1"/>
          </a:solidFill>
          <a:ln/>
        </p:spPr>
      </p:sp>
      <p:pic>
        <p:nvPicPr>
          <p:cNvPr id="16" name="Image 2" descr="nomor">    </p:cNvPr>
          <p:cNvPicPr>
            <a:picLocks noChangeAspect="1"/>
          </p:cNvPicPr>
          <p:nvPr/>
        </p:nvPicPr>
        <p:blipFill>
          <a:blip r:embed="rId3"/>
          <a:stretch>
            <a:fillRect/>
          </a:stretch>
        </p:blipFill>
        <p:spPr>
          <a:xfrm>
            <a:off x="8537753" y="1751076"/>
            <a:ext cx="384048" cy="384048"/>
          </a:xfrm>
          <a:prstGeom prst="rect">
            <a:avLst/>
          </a:prstGeom>
        </p:spPr>
      </p:pic>
      <p:sp>
        <p:nvSpPr>
          <p:cNvPr id="17" name="Text 11"/>
          <p:cNvSpPr txBox="1"/>
          <p:nvPr/>
        </p:nvSpPr>
        <p:spPr>
          <a:xfrm>
            <a:off x="9209837"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Setahap demi setahap</a:t>
            </a:r>
            <a:endParaRPr lang="en-US" sz="1800" dirty="0"/>
          </a:p>
        </p:txBody>
      </p:sp>
      <p:sp>
        <p:nvSpPr>
          <p:cNvPr id="18" name="Text 12"/>
          <p:cNvSpPr txBox="1"/>
          <p:nvPr/>
        </p:nvSpPr>
        <p:spPr>
          <a:xfrm>
            <a:off x="8386877"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if (versiLama &lt; 2), if (versiLama &lt; 3), ... TANPA else: lompat dari versi 1 ke 3 tetap melewati semua langkah.</a:t>
            </a:r>
            <a:endParaRPr lang="en-US" sz="1500" dirty="0"/>
          </a:p>
        </p:txBody>
      </p:sp>
      <p:sp>
        <p:nvSpPr>
          <p:cNvPr id="19" name="kartu 4"/>
          <p:cNvSpPr/>
          <p:nvPr/>
        </p:nvSpPr>
        <p:spPr>
          <a:xfrm>
            <a:off x="548640" y="3931920"/>
            <a:ext cx="3484778" cy="2286000"/>
          </a:xfrm>
          <a:prstGeom prst="roundRect">
            <a:avLst>
              <a:gd name="adj" fmla="val 4800"/>
            </a:avLst>
          </a:prstGeom>
          <a:solidFill>
            <a:schemeClr val="bg2"/>
          </a:solidFill>
          <a:ln/>
        </p:spPr>
      </p:sp>
      <p:sp>
        <p:nvSpPr>
          <p:cNvPr id="20" name="lingkaran gembok"/>
          <p:cNvSpPr/>
          <p:nvPr/>
        </p:nvSpPr>
        <p:spPr>
          <a:xfrm>
            <a:off x="777240" y="4160520"/>
            <a:ext cx="685800" cy="685800"/>
          </a:xfrm>
          <a:prstGeom prst="ellipse">
            <a:avLst/>
          </a:prstGeom>
          <a:solidFill>
            <a:schemeClr val="accent5"/>
          </a:solidFill>
          <a:ln/>
        </p:spPr>
      </p:sp>
      <p:pic>
        <p:nvPicPr>
          <p:cNvPr id="21" name="Image 3" descr="gembok">    </p:cNvPr>
          <p:cNvPicPr>
            <a:picLocks noChangeAspect="1"/>
          </p:cNvPicPr>
          <p:nvPr/>
        </p:nvPicPr>
        <p:blipFill>
          <a:blip r:embed="rId4"/>
          <a:stretch>
            <a:fillRect/>
          </a:stretch>
        </p:blipFill>
        <p:spPr>
          <a:xfrm>
            <a:off x="928116" y="4311396"/>
            <a:ext cx="384048" cy="384048"/>
          </a:xfrm>
          <a:prstGeom prst="rect">
            <a:avLst/>
          </a:prstGeom>
        </p:spPr>
      </p:pic>
      <p:sp>
        <p:nvSpPr>
          <p:cNvPr id="22" name="Text 15"/>
          <p:cNvSpPr txBox="1"/>
          <p:nvPr/>
        </p:nvSpPr>
        <p:spPr>
          <a:xfrm>
            <a:off x="1600200"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Blok yang sudah dirilis tidak diubah</a:t>
            </a:r>
            <a:endParaRPr lang="en-US" sz="1800" dirty="0"/>
          </a:p>
        </p:txBody>
      </p:sp>
      <p:sp>
        <p:nvSpPr>
          <p:cNvPr id="23" name="Text 16"/>
          <p:cNvSpPr txBox="1"/>
          <p:nvPr/>
        </p:nvSpPr>
        <p:spPr>
          <a:xfrm>
            <a:off x="777240"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Ada yang salah? Perbaiki di versi berikutnya.</a:t>
            </a:r>
            <a:endParaRPr lang="en-US" sz="1500" dirty="0"/>
          </a:p>
        </p:txBody>
      </p:sp>
      <p:sp>
        <p:nvSpPr>
          <p:cNvPr id="24" name="kartu 5"/>
          <p:cNvSpPr/>
          <p:nvPr/>
        </p:nvSpPr>
        <p:spPr>
          <a:xfrm>
            <a:off x="4353458" y="3931920"/>
            <a:ext cx="3484778" cy="2286000"/>
          </a:xfrm>
          <a:prstGeom prst="roundRect">
            <a:avLst>
              <a:gd name="adj" fmla="val 4800"/>
            </a:avLst>
          </a:prstGeom>
          <a:solidFill>
            <a:schemeClr val="bg2"/>
          </a:solidFill>
          <a:ln/>
        </p:spPr>
      </p:sp>
      <p:sp>
        <p:nvSpPr>
          <p:cNvPr id="25" name="lingkaran tabel"/>
          <p:cNvSpPr/>
          <p:nvPr/>
        </p:nvSpPr>
        <p:spPr>
          <a:xfrm>
            <a:off x="4582058" y="4160520"/>
            <a:ext cx="685800" cy="685800"/>
          </a:xfrm>
          <a:prstGeom prst="ellipse">
            <a:avLst/>
          </a:prstGeom>
          <a:solidFill>
            <a:schemeClr val="accent1"/>
          </a:solidFill>
          <a:ln/>
        </p:spPr>
      </p:sp>
      <p:pic>
        <p:nvPicPr>
          <p:cNvPr id="26" name="Image 4" descr="tabel">    </p:cNvPr>
          <p:cNvPicPr>
            <a:picLocks noChangeAspect="1"/>
          </p:cNvPicPr>
          <p:nvPr/>
        </p:nvPicPr>
        <p:blipFill>
          <a:blip r:embed="rId5"/>
          <a:stretch>
            <a:fillRect/>
          </a:stretch>
        </p:blipFill>
        <p:spPr>
          <a:xfrm>
            <a:off x="4732934" y="4311396"/>
            <a:ext cx="384048" cy="384048"/>
          </a:xfrm>
          <a:prstGeom prst="rect">
            <a:avLst/>
          </a:prstGeom>
        </p:spPr>
      </p:pic>
      <p:sp>
        <p:nvSpPr>
          <p:cNvPr id="27" name="Text 19"/>
          <p:cNvSpPr txBox="1"/>
          <p:nvPr/>
        </p:nvSpPr>
        <p:spPr>
          <a:xfrm>
            <a:off x="5405018"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ALTER TABLE terbatas</a:t>
            </a:r>
            <a:endParaRPr lang="en-US" sz="1800" dirty="0"/>
          </a:p>
        </p:txBody>
      </p:sp>
      <p:sp>
        <p:nvSpPr>
          <p:cNvPr id="28" name="Text 20"/>
          <p:cNvSpPr txBox="1"/>
          <p:nvPr/>
        </p:nvSpPr>
        <p:spPr>
          <a:xfrm>
            <a:off x="4582058"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Menambah kolom mudah. Mengubah tipe kolom: buat tabel baru, salin data, hapus yang lama, ganti nama.</a:t>
            </a:r>
            <a:endParaRPr lang="en-US" sz="1500" dirty="0"/>
          </a:p>
        </p:txBody>
      </p:sp>
      <p:sp>
        <p:nvSpPr>
          <p:cNvPr id="29" name="kartu 6"/>
          <p:cNvSpPr/>
          <p:nvPr/>
        </p:nvSpPr>
        <p:spPr>
          <a:xfrm>
            <a:off x="8158277" y="3931920"/>
            <a:ext cx="3484778" cy="2286000"/>
          </a:xfrm>
          <a:prstGeom prst="roundRect">
            <a:avLst>
              <a:gd name="adj" fmla="val 4800"/>
            </a:avLst>
          </a:prstGeom>
          <a:solidFill>
            <a:schemeClr val="bg2"/>
          </a:solidFill>
          <a:ln/>
        </p:spPr>
      </p:sp>
      <p:sp>
        <p:nvSpPr>
          <p:cNvPr id="30" name="lingkaran uji"/>
          <p:cNvSpPr/>
          <p:nvPr/>
        </p:nvSpPr>
        <p:spPr>
          <a:xfrm>
            <a:off x="8386877" y="4160520"/>
            <a:ext cx="685800" cy="685800"/>
          </a:xfrm>
          <a:prstGeom prst="ellipse">
            <a:avLst/>
          </a:prstGeom>
          <a:solidFill>
            <a:schemeClr val="accent4"/>
          </a:solidFill>
          <a:ln/>
        </p:spPr>
      </p:sp>
      <p:pic>
        <p:nvPicPr>
          <p:cNvPr id="31" name="Image 5" descr="uji">    </p:cNvPr>
          <p:cNvPicPr>
            <a:picLocks noChangeAspect="1"/>
          </p:cNvPicPr>
          <p:nvPr/>
        </p:nvPicPr>
        <p:blipFill>
          <a:blip r:embed="rId6"/>
          <a:stretch>
            <a:fillRect/>
          </a:stretch>
        </p:blipFill>
        <p:spPr>
          <a:xfrm>
            <a:off x="8537753" y="4311396"/>
            <a:ext cx="384048" cy="384048"/>
          </a:xfrm>
          <a:prstGeom prst="rect">
            <a:avLst/>
          </a:prstGeom>
        </p:spPr>
      </p:pic>
      <p:sp>
        <p:nvSpPr>
          <p:cNvPr id="32" name="Text 23"/>
          <p:cNvSpPr txBox="1"/>
          <p:nvPr/>
        </p:nvSpPr>
        <p:spPr>
          <a:xfrm>
            <a:off x="9209837"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Uji migrasinya</a:t>
            </a:r>
            <a:endParaRPr lang="en-US" sz="1800" dirty="0"/>
          </a:p>
        </p:txBody>
      </p:sp>
      <p:sp>
        <p:nvSpPr>
          <p:cNvPr id="33" name="Text 24"/>
          <p:cNvSpPr txBox="1"/>
          <p:nvPr/>
        </p:nvSpPr>
        <p:spPr>
          <a:xfrm>
            <a:off x="8386877"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Buat tabel versi 1 di memori, isi, jalankan tingkatkanSkema(db, 1, 2), periksa datanya.</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06: Catatan yang Bisa Disematkan</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6.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1867662"/>
          </a:xfrm>
          <a:prstGeom prst="roundRect">
            <a:avLst>
              <a:gd name="adj" fmla="val 4896"/>
            </a:avLst>
          </a:prstGeom>
          <a:solidFill>
            <a:srgbClr val="0E1A2B"/>
          </a:solidFill>
          <a:ln/>
        </p:spPr>
        <p:txBody>
          <a:bodyPr wrap="square" lIns="177800" tIns="152400" rIns="152400" bIns="177800" rtlCol="0" anchor="t"/>
          <a:lstStyle/>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Yang disematkan (1) di atas, lalu terbaru.</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orderBy: </a:t>
            </a:r>
            <a:r>
              <a:rPr lang="en-US" sz="1300" dirty="0">
                <a:solidFill>
                  <a:srgbClr val="C3E88D"/>
                </a:solidFill>
                <a:latin typeface="Consolas" pitchFamily="34" charset="0"/>
                <a:ea typeface="Consolas" pitchFamily="34" charset="-122"/>
                <a:cs typeface="Consolas" pitchFamily="34" charset="-120"/>
              </a:rPr>
              <a:t>'disematkan DESC, diubah DESC, id DESC'</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bool -&gt; INTEGER saat menyimpan</a:t>
            </a:r>
            <a:endParaRPr lang="en-US" sz="1300" dirty="0"/>
          </a:p>
          <a:p>
            <a:pPr indent="0" marL="0">
              <a:lnSpc>
                <a:spcPct val="105000"/>
              </a:lnSpc>
              <a:buNone/>
            </a:pPr>
            <a:r>
              <a:rPr lang="en-US" sz="1300" dirty="0">
                <a:solidFill>
                  <a:srgbClr val="C3E88D"/>
                </a:solidFill>
                <a:latin typeface="Consolas" pitchFamily="34" charset="0"/>
                <a:ea typeface="Consolas" pitchFamily="34" charset="-122"/>
                <a:cs typeface="Consolas" pitchFamily="34" charset="-120"/>
              </a:rPr>
              <a:t>'disematkan'</a:t>
            </a:r>
            <a:r>
              <a:rPr lang="en-US" sz="1300" dirty="0">
                <a:solidFill>
                  <a:srgbClr val="E6EDF3"/>
                </a:solidFill>
                <a:latin typeface="Consolas" pitchFamily="34" charset="0"/>
                <a:ea typeface="Consolas" pitchFamily="34" charset="-122"/>
                <a:cs typeface="Consolas" pitchFamily="34" charset="-120"/>
              </a:rPr>
              <a:t>: disematkan ? </a:t>
            </a:r>
            <a:r>
              <a:rPr lang="en-US" sz="1300" dirty="0">
                <a:solidFill>
                  <a:srgbClr val="F78C6C"/>
                </a:solidFill>
                <a:latin typeface="Consolas" pitchFamily="34" charset="0"/>
                <a:ea typeface="Consolas" pitchFamily="34" charset="-122"/>
                <a:cs typeface="Consolas" pitchFamily="34" charset="-120"/>
              </a:rPr>
              <a:t>1</a:t>
            </a:r>
            <a:r>
              <a:rPr lang="en-US" sz="1300" dirty="0">
                <a:solidFill>
                  <a:srgbClr val="E6EDF3"/>
                </a:solidFill>
                <a:latin typeface="Consolas" pitchFamily="34" charset="0"/>
                <a:ea typeface="Consolas" pitchFamily="34" charset="-122"/>
                <a:cs typeface="Consolas" pitchFamily="34" charset="-120"/>
              </a:rPr>
              <a:t> : </a:t>
            </a:r>
            <a:r>
              <a:rPr lang="en-US" sz="1300" dirty="0">
                <a:solidFill>
                  <a:srgbClr val="F78C6C"/>
                </a:solidFill>
                <a:latin typeface="Consolas" pitchFamily="34" charset="0"/>
                <a:ea typeface="Consolas" pitchFamily="34" charset="-122"/>
                <a:cs typeface="Consolas" pitchFamily="34" charset="-120"/>
              </a:rPr>
              <a:t>0</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INTEGER -&gt; bool saat membaca</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disematkan: disematkan == </a:t>
            </a:r>
            <a:r>
              <a:rPr lang="en-US" sz="1300" dirty="0">
                <a:solidFill>
                  <a:srgbClr val="F78C6C"/>
                </a:solidFill>
                <a:latin typeface="Consolas" pitchFamily="34" charset="0"/>
                <a:ea typeface="Consolas" pitchFamily="34" charset="-122"/>
                <a:cs typeface="Consolas" pitchFamily="34" charset="-120"/>
              </a:rPr>
              <a:t>1</a:t>
            </a: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7" name="tombol tautan">
            <a:hlinkClick r:id="rId2" tooltip="https://github.com/antonprafanto/mobile2026/blob/main/pertemuan_11_penyimpanan_lokal/kode/contoh_06_migrasi_skema.dart"/>
          </p:cNvPr>
          <p:cNvSpPr txBox="1"/>
          <p:nvPr/>
        </p:nvSpPr>
        <p:spPr>
          <a:xfrm>
            <a:off x="548640" y="3422142"/>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contoh_06_migrasi_skema.dart</a:t>
            </a:r>
            <a:endParaRPr lang="en-US" sz="1300" dirty="0"/>
          </a:p>
        </p:txBody>
      </p:sp>
      <p:pic>
        <p:nvPicPr>
          <p:cNvPr id="8" name="Image 1" descr="ikon tautan">
            <a:hlinkClick r:id="rId4" tooltip="https://github.com/antonprafanto/mobile2026/blob/main/pertemuan_11_penyimpanan_lokal/kode/contoh_06_migrasi_skema.dart"/>
          </p:cNvPr>
          <p:cNvPicPr>
            <a:picLocks noChangeAspect="1"/>
          </p:cNvPicPr>
          <p:nvPr/>
        </p:nvPicPr>
        <p:blipFill>
          <a:blip r:embed="rId3"/>
          <a:stretch>
            <a:fillRect/>
          </a:stretch>
        </p:blipFill>
        <p:spPr>
          <a:xfrm>
            <a:off x="694944" y="3513582"/>
            <a:ext cx="274320" cy="274320"/>
          </a:xfrm>
          <a:prstGeom prst="rect">
            <a:avLst/>
          </a:prstGeom>
        </p:spPr>
      </p:pic>
      <p:sp>
        <p:nvSpPr>
          <p:cNvPr id="9" name="daftar poin"/>
          <p:cNvSpPr txBox="1"/>
          <p:nvPr/>
        </p:nvSpPr>
        <p:spPr>
          <a:xfrm>
            <a:off x="548640" y="4153662"/>
            <a:ext cx="7608319" cy="2064258"/>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Ikon pin terisi = disematkan; bergaris = tidak.</a:t>
            </a:r>
            <a:endParaRPr lang="en-US" sz="1600" dirty="0"/>
          </a:p>
          <a:p>
            <a:pPr marL="228600" indent="-228600">
              <a:spcAft>
                <a:spcPts val="800"/>
              </a:spcAft>
              <a:buSzPct val="100000"/>
              <a:buChar char="•"/>
            </a:pPr>
            <a:r>
              <a:rPr lang="en-US" sz="1600" dirty="0">
                <a:solidFill>
                  <a:schemeClr val="tx1"/>
                </a:solidFill>
              </a:rPr>
              <a:t>Menyematkan hanya mengubah kolom disematkan; waktu diubah tetap.</a:t>
            </a:r>
            <a:endParaRPr lang="en-US" sz="1600" dirty="0"/>
          </a:p>
          <a:p>
            <a:pPr marL="228600" indent="-228600">
              <a:spcAft>
                <a:spcPts val="800"/>
              </a:spcAft>
              <a:buSzPct val="100000"/>
              <a:buChar char="•"/>
            </a:pPr>
            <a:r>
              <a:rPr lang="en-US" sz="1600" dirty="0">
                <a:solidFill>
                  <a:schemeClr val="tx1"/>
                </a:solidFill>
              </a:rPr>
              <a:t>Bagian yang berubah dari Contoh 05 ditandai [BARU] di berkasnya.</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9</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Transaksi dan Batch</a:t>
            </a:r>
            <a:endParaRPr lang="en-US" sz="4000" dirty="0"/>
          </a:p>
        </p:txBody>
      </p:sp>
      <p:sp>
        <p:nvSpPr>
          <p:cNvPr id="5" name="lingkaran dompet"/>
          <p:cNvSpPr/>
          <p:nvPr/>
        </p:nvSpPr>
        <p:spPr>
          <a:xfrm>
            <a:off x="1097280" y="2148840"/>
            <a:ext cx="2011680" cy="2011680"/>
          </a:xfrm>
          <a:prstGeom prst="ellipse">
            <a:avLst/>
          </a:prstGeom>
          <a:solidFill>
            <a:schemeClr val="accent1"/>
          </a:solidFill>
          <a:ln/>
        </p:spPr>
      </p:sp>
      <p:pic>
        <p:nvPicPr>
          <p:cNvPr id="6" name="Image 0" descr="dompet">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Masalah "Uang Hilang"</a:t>
            </a:r>
            <a:endParaRPr lang="en-US" sz="3200" dirty="0"/>
          </a:p>
        </p:txBody>
      </p:sp>
      <p:sp>
        <p:nvSpPr>
          <p:cNvPr id="4" name="kotak kode"/>
          <p:cNvSpPr txBox="1"/>
          <p:nvPr/>
        </p:nvSpPr>
        <p:spPr>
          <a:xfrm>
            <a:off x="548640" y="1371600"/>
            <a:ext cx="7132320" cy="1451610"/>
          </a:xfrm>
          <a:prstGeom prst="roundRect">
            <a:avLst>
              <a:gd name="adj" fmla="val 6299"/>
            </a:avLst>
          </a:prstGeom>
          <a:solidFill>
            <a:srgbClr val="0E1A2B"/>
          </a:solidFill>
          <a:ln/>
        </p:spPr>
        <p:txBody>
          <a:bodyPr wrap="square" lIns="177800" tIns="152400" rIns="152400" bIns="177800" rtlCol="0" anchor="t"/>
          <a:lstStyle/>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Memindahkan Rp50.000 dari Kas Kelas ke Kas Study Tour:</a:t>
            </a:r>
            <a:endParaRPr lang="en-US" sz="1300" dirty="0"/>
          </a:p>
          <a:p>
            <a:pPr indent="0" marL="0">
              <a:lnSpc>
                <a:spcPct val="105000"/>
              </a:lnSpc>
              <a:buNone/>
            </a:pPr>
            <a:r>
              <a:rPr lang="en-US" sz="1300" dirty="0">
                <a:solidFill>
                  <a:srgbClr val="F78C6C"/>
                </a:solidFill>
                <a:latin typeface="Consolas" pitchFamily="34" charset="0"/>
                <a:ea typeface="Consolas" pitchFamily="34" charset="-122"/>
                <a:cs typeface="Consolas" pitchFamily="34" charset="-120"/>
              </a:rPr>
              <a:t>1.</a:t>
            </a:r>
            <a:r>
              <a:rPr lang="en-US" sz="1300" dirty="0">
                <a:solidFill>
                  <a:srgbClr val="E6EDF3"/>
                </a:solidFill>
                <a:latin typeface="Consolas" pitchFamily="34" charset="0"/>
                <a:ea typeface="Consolas" pitchFamily="34" charset="-122"/>
                <a:cs typeface="Consolas" pitchFamily="34" charset="-120"/>
              </a:rPr>
              <a:t> UPDATE dompet SET saldo = saldo - </a:t>
            </a:r>
            <a:r>
              <a:rPr lang="en-US" sz="1300" dirty="0">
                <a:solidFill>
                  <a:srgbClr val="F78C6C"/>
                </a:solidFill>
                <a:latin typeface="Consolas" pitchFamily="34" charset="0"/>
                <a:ea typeface="Consolas" pitchFamily="34" charset="-122"/>
                <a:cs typeface="Consolas" pitchFamily="34" charset="-120"/>
              </a:rPr>
              <a:t>50000</a:t>
            </a:r>
            <a:r>
              <a:rPr lang="en-US" sz="1300" dirty="0">
                <a:solidFill>
                  <a:srgbClr val="E6EDF3"/>
                </a:solidFill>
                <a:latin typeface="Consolas" pitchFamily="34" charset="0"/>
                <a:ea typeface="Consolas" pitchFamily="34" charset="-122"/>
                <a:cs typeface="Consolas" pitchFamily="34" charset="-120"/>
              </a:rPr>
              <a:t> WHERE id = </a:t>
            </a:r>
            <a:r>
              <a:rPr lang="en-US" sz="1300" dirty="0">
                <a:solidFill>
                  <a:srgbClr val="F78C6C"/>
                </a:solidFill>
                <a:latin typeface="Consolas" pitchFamily="34" charset="0"/>
                <a:ea typeface="Consolas" pitchFamily="34" charset="-122"/>
                <a:cs typeface="Consolas" pitchFamily="34" charset="-120"/>
              </a:rPr>
              <a:t>1</a:t>
            </a:r>
            <a:endParaRPr lang="en-US" sz="1300" dirty="0"/>
          </a:p>
          <a:p>
            <a:pPr indent="0" marL="0">
              <a:lnSpc>
                <a:spcPct val="105000"/>
              </a:lnSpc>
              <a:buNone/>
            </a:pPr>
            <a:r>
              <a:rPr lang="en-US" sz="1300" dirty="0">
                <a:solidFill>
                  <a:srgbClr val="F78C6C"/>
                </a:solidFill>
                <a:latin typeface="Consolas" pitchFamily="34" charset="0"/>
                <a:ea typeface="Consolas" pitchFamily="34" charset="-122"/>
                <a:cs typeface="Consolas" pitchFamily="34" charset="-120"/>
              </a:rPr>
              <a:t>2.</a:t>
            </a:r>
            <a:r>
              <a:rPr lang="en-US" sz="1300" dirty="0">
                <a:solidFill>
                  <a:srgbClr val="E6EDF3"/>
                </a:solidFill>
                <a:latin typeface="Consolas" pitchFamily="34" charset="0"/>
                <a:ea typeface="Consolas" pitchFamily="34" charset="-122"/>
                <a:cs typeface="Consolas" pitchFamily="34" charset="-120"/>
              </a:rPr>
              <a:t> INSERT INTO mutasi ...   (catat uang keluar)</a:t>
            </a:r>
            <a:endParaRPr lang="en-US" sz="1300" dirty="0"/>
          </a:p>
          <a:p>
            <a:pPr indent="0" marL="0">
              <a:lnSpc>
                <a:spcPct val="105000"/>
              </a:lnSpc>
              <a:buNone/>
            </a:pPr>
            <a:r>
              <a:rPr lang="en-US" sz="1300" dirty="0">
                <a:solidFill>
                  <a:srgbClr val="F78C6C"/>
                </a:solidFill>
                <a:latin typeface="Consolas" pitchFamily="34" charset="0"/>
                <a:ea typeface="Consolas" pitchFamily="34" charset="-122"/>
                <a:cs typeface="Consolas" pitchFamily="34" charset="-120"/>
              </a:rPr>
              <a:t>3.</a:t>
            </a:r>
            <a:r>
              <a:rPr lang="en-US" sz="1300" dirty="0">
                <a:solidFill>
                  <a:srgbClr val="E6EDF3"/>
                </a:solidFill>
                <a:latin typeface="Consolas" pitchFamily="34" charset="0"/>
                <a:ea typeface="Consolas" pitchFamily="34" charset="-122"/>
                <a:cs typeface="Consolas" pitchFamily="34" charset="-120"/>
              </a:rPr>
              <a:t> UPDATE dompet SET saldo = saldo + </a:t>
            </a:r>
            <a:r>
              <a:rPr lang="en-US" sz="1300" dirty="0">
                <a:solidFill>
                  <a:srgbClr val="F78C6C"/>
                </a:solidFill>
                <a:latin typeface="Consolas" pitchFamily="34" charset="0"/>
                <a:ea typeface="Consolas" pitchFamily="34" charset="-122"/>
                <a:cs typeface="Consolas" pitchFamily="34" charset="-120"/>
              </a:rPr>
              <a:t>50000</a:t>
            </a:r>
            <a:r>
              <a:rPr lang="en-US" sz="1300" dirty="0">
                <a:solidFill>
                  <a:srgbClr val="E6EDF3"/>
                </a:solidFill>
                <a:latin typeface="Consolas" pitchFamily="34" charset="0"/>
                <a:ea typeface="Consolas" pitchFamily="34" charset="-122"/>
                <a:cs typeface="Consolas" pitchFamily="34" charset="-120"/>
              </a:rPr>
              <a:t> WHERE id = </a:t>
            </a:r>
            <a:r>
              <a:rPr lang="en-US" sz="1300" dirty="0">
                <a:solidFill>
                  <a:srgbClr val="F78C6C"/>
                </a:solidFill>
                <a:latin typeface="Consolas" pitchFamily="34" charset="0"/>
                <a:ea typeface="Consolas" pitchFamily="34" charset="-122"/>
                <a:cs typeface="Consolas" pitchFamily="34" charset="-120"/>
              </a:rPr>
              <a:t>2</a:t>
            </a:r>
            <a:endParaRPr lang="en-US" sz="1300" dirty="0"/>
          </a:p>
          <a:p>
            <a:pPr indent="0" marL="0">
              <a:lnSpc>
                <a:spcPct val="105000"/>
              </a:lnSpc>
              <a:buNone/>
            </a:pPr>
            <a:r>
              <a:rPr lang="en-US" sz="1300" dirty="0">
                <a:solidFill>
                  <a:srgbClr val="F78C6C"/>
                </a:solidFill>
                <a:latin typeface="Consolas" pitchFamily="34" charset="0"/>
                <a:ea typeface="Consolas" pitchFamily="34" charset="-122"/>
                <a:cs typeface="Consolas" pitchFamily="34" charset="-120"/>
              </a:rPr>
              <a:t>4.</a:t>
            </a:r>
            <a:r>
              <a:rPr lang="en-US" sz="1300" dirty="0">
                <a:solidFill>
                  <a:srgbClr val="E6EDF3"/>
                </a:solidFill>
                <a:latin typeface="Consolas" pitchFamily="34" charset="0"/>
                <a:ea typeface="Consolas" pitchFamily="34" charset="-122"/>
                <a:cs typeface="Consolas" pitchFamily="34" charset="-120"/>
              </a:rPr>
              <a:t> INSERT INTO mutasi ...   (catat uang masuk)</a:t>
            </a:r>
            <a:endParaRPr lang="en-US" sz="1300" dirty="0"/>
          </a:p>
        </p:txBody>
      </p:sp>
      <p:sp>
        <p:nvSpPr>
          <p:cNvPr id="5"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Satu pemindahan = EMPAT perintah SQL.</a:t>
            </a:r>
            <a:endParaRPr lang="en-US" sz="1700" dirty="0"/>
          </a:p>
          <a:p>
            <a:pPr marL="228600" indent="-228600">
              <a:spcAft>
                <a:spcPts val="800"/>
              </a:spcAft>
              <a:buSzPct val="100000"/>
              <a:buChar char="•"/>
            </a:pPr>
            <a:r>
              <a:rPr lang="en-US" sz="1700" dirty="0">
                <a:solidFill>
                  <a:schemeClr val="tx1"/>
                </a:solidFill>
              </a:rPr>
              <a:t>Aplikasi mati tepat setelah perintah 2 (baterai habis, crash, dihentikan sistem)?</a:t>
            </a:r>
            <a:endParaRPr lang="en-US" sz="1700" dirty="0"/>
          </a:p>
          <a:p>
            <a:pPr marL="228600" indent="-228600">
              <a:spcAft>
                <a:spcPts val="800"/>
              </a:spcAft>
              <a:buSzPct val="100000"/>
              <a:buChar char="•"/>
            </a:pPr>
            <a:r>
              <a:rPr lang="en-US" sz="1700" dirty="0">
                <a:solidFill>
                  <a:schemeClr val="tx1"/>
                </a:solidFill>
              </a:rPr>
              <a:t>Kas Kelas sudah berkurang, Kas Study Tour tidak pernah bertambah.</a:t>
            </a:r>
            <a:endParaRPr lang="en-US" sz="1700" dirty="0"/>
          </a:p>
          <a:p>
            <a:pPr marL="228600" indent="-228600">
              <a:spcAft>
                <a:spcPts val="800"/>
              </a:spcAft>
              <a:buSzPct val="100000"/>
              <a:buChar char="•"/>
            </a:pPr>
            <a:r>
              <a:rPr lang="en-US" sz="1700" dirty="0">
                <a:solidFill>
                  <a:schemeClr val="tx1"/>
                </a:solidFill>
              </a:rPr>
              <a:t>Rp50.000 HILANG. Bank tidak pernah mengizinkan ini.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Transaksi: Semua atau Tidak Sama Sekali</a:t>
            </a:r>
            <a:endParaRPr lang="en-US" sz="3200" dirty="0"/>
          </a:p>
        </p:txBody>
      </p:sp>
      <p:sp>
        <p:nvSpPr>
          <p:cNvPr id="4" name="kotak kode"/>
          <p:cNvSpPr txBox="1"/>
          <p:nvPr/>
        </p:nvSpPr>
        <p:spPr>
          <a:xfrm>
            <a:off x="548640" y="1371600"/>
            <a:ext cx="6766560" cy="3115818"/>
          </a:xfrm>
          <a:prstGeom prst="roundRect">
            <a:avLst>
              <a:gd name="adj" fmla="val 293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await</a:t>
            </a:r>
            <a:r>
              <a:rPr lang="en-US" sz="1300" dirty="0">
                <a:solidFill>
                  <a:srgbClr val="E6EDF3"/>
                </a:solidFill>
                <a:latin typeface="Consolas" pitchFamily="34" charset="0"/>
                <a:ea typeface="Consolas" pitchFamily="34" charset="-122"/>
                <a:cs typeface="Consolas" pitchFamily="34" charset="-120"/>
              </a:rPr>
              <a:t> db.transaction((</a:t>
            </a:r>
            <a:r>
              <a:rPr lang="en-US" sz="1300" dirty="0">
                <a:solidFill>
                  <a:srgbClr val="FFCB6B"/>
                </a:solidFill>
                <a:latin typeface="Consolas" pitchFamily="34" charset="0"/>
                <a:ea typeface="Consolas" pitchFamily="34" charset="-122"/>
                <a:cs typeface="Consolas" pitchFamily="34" charset="-120"/>
              </a:rPr>
              <a:t>Transaction</a:t>
            </a:r>
            <a:r>
              <a:rPr lang="en-US" sz="1300" dirty="0">
                <a:solidFill>
                  <a:srgbClr val="E6EDF3"/>
                </a:solidFill>
                <a:latin typeface="Consolas" pitchFamily="34" charset="0"/>
                <a:ea typeface="Consolas" pitchFamily="34" charset="-122"/>
                <a:cs typeface="Consolas" pitchFamily="34" charset="-120"/>
              </a:rPr>
              <a:t> txn) </a:t>
            </a:r>
            <a:r>
              <a:rPr lang="en-US" sz="1300" dirty="0">
                <a:solidFill>
                  <a:srgbClr val="C792EA"/>
                </a:solidFill>
                <a:latin typeface="Consolas" pitchFamily="34" charset="0"/>
                <a:ea typeface="Consolas" pitchFamily="34" charset="-122"/>
                <a:cs typeface="Consolas" pitchFamily="34" charset="-120"/>
              </a:rPr>
              <a:t>async</a:t>
            </a: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i="1" dirty="0">
                <a:solidFill>
                  <a:srgbClr val="8FA3BC"/>
                </a:solidFill>
                <a:latin typeface="Consolas" pitchFamily="34" charset="0"/>
                <a:ea typeface="Consolas" pitchFamily="34" charset="-122"/>
                <a:cs typeface="Consolas" pitchFamily="34" charset="-120"/>
              </a:rPr>
              <a:t>// Di dalam blok ini, pakai txn, JANGAN db.</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await</a:t>
            </a:r>
            <a:r>
              <a:rPr lang="en-US" sz="1300" dirty="0">
                <a:solidFill>
                  <a:srgbClr val="E6EDF3"/>
                </a:solidFill>
                <a:latin typeface="Consolas" pitchFamily="34" charset="0"/>
                <a:ea typeface="Consolas" pitchFamily="34" charset="-122"/>
                <a:cs typeface="Consolas" pitchFamily="34" charset="-120"/>
              </a:rPr>
              <a:t> txn.rawUpdate(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'UPDATE dompet SET saldo = saldo - ? WHERE id = ?'</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[jumlah, dariId],</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await</a:t>
            </a:r>
            <a:r>
              <a:rPr lang="en-US" sz="1300" dirty="0">
                <a:solidFill>
                  <a:srgbClr val="E6EDF3"/>
                </a:solidFill>
                <a:latin typeface="Consolas" pitchFamily="34" charset="0"/>
                <a:ea typeface="Consolas" pitchFamily="34" charset="-122"/>
                <a:cs typeface="Consolas" pitchFamily="34" charset="-120"/>
              </a:rPr>
              <a:t> txn.insert(</a:t>
            </a:r>
            <a:r>
              <a:rPr lang="en-US" sz="1300" dirty="0">
                <a:solidFill>
                  <a:srgbClr val="C3E88D"/>
                </a:solidFill>
                <a:latin typeface="Consolas" pitchFamily="34" charset="0"/>
                <a:ea typeface="Consolas" pitchFamily="34" charset="-122"/>
                <a:cs typeface="Consolas" pitchFamily="34" charset="-120"/>
              </a:rPr>
              <a:t>'mutasi'</a:t>
            </a: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await</a:t>
            </a:r>
            <a:r>
              <a:rPr lang="en-US" sz="1300" dirty="0">
                <a:solidFill>
                  <a:srgbClr val="E6EDF3"/>
                </a:solidFill>
                <a:latin typeface="Consolas" pitchFamily="34" charset="0"/>
                <a:ea typeface="Consolas" pitchFamily="34" charset="-122"/>
                <a:cs typeface="Consolas" pitchFamily="34" charset="-120"/>
              </a:rPr>
              <a:t> txn.rawUpdate(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3E88D"/>
                </a:solidFill>
                <a:latin typeface="Consolas" pitchFamily="34" charset="0"/>
                <a:ea typeface="Consolas" pitchFamily="34" charset="-122"/>
                <a:cs typeface="Consolas" pitchFamily="34" charset="-120"/>
              </a:rPr>
              <a:t>'UPDATE dompet SET saldo = saldo + ? WHERE id = ?'</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[jumlah, keId],</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await</a:t>
            </a:r>
            <a:r>
              <a:rPr lang="en-US" sz="1300" dirty="0">
                <a:solidFill>
                  <a:srgbClr val="E6EDF3"/>
                </a:solidFill>
                <a:latin typeface="Consolas" pitchFamily="34" charset="0"/>
                <a:ea typeface="Consolas" pitchFamily="34" charset="-122"/>
                <a:cs typeface="Consolas" pitchFamily="34" charset="-120"/>
              </a:rPr>
              <a:t> txn.insert(</a:t>
            </a:r>
            <a:r>
              <a:rPr lang="en-US" sz="1300" dirty="0">
                <a:solidFill>
                  <a:srgbClr val="C3E88D"/>
                </a:solidFill>
                <a:latin typeface="Consolas" pitchFamily="34" charset="0"/>
                <a:ea typeface="Consolas" pitchFamily="34" charset="-122"/>
                <a:cs typeface="Consolas" pitchFamily="34" charset="-120"/>
              </a:rPr>
              <a:t>'mutasi'</a:t>
            </a: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5" name="tombol tautan">
            <a:hlinkClick r:id="rId1" tooltip="https://github.com/antonprafanto/mobile2026/blob/main/pertemuan_11_penyimpanan_lokal/kode/contoh_07_transaksi_dan_batch.dart"/>
          </p:cNvPr>
          <p:cNvSpPr txBox="1"/>
          <p:nvPr/>
        </p:nvSpPr>
        <p:spPr>
          <a:xfrm>
            <a:off x="548640" y="4716018"/>
            <a:ext cx="67665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contoh_07_transaksi_dan_batch.dart</a:t>
            </a:r>
            <a:endParaRPr lang="en-US" sz="1300" dirty="0"/>
          </a:p>
        </p:txBody>
      </p:sp>
      <p:pic>
        <p:nvPicPr>
          <p:cNvPr id="6" name="Image 0" descr="ikon tautan">
            <a:hlinkClick r:id="rId3" tooltip="https://github.com/antonprafanto/mobile2026/blob/main/pertemuan_11_penyimpanan_lokal/kode/contoh_07_transaksi_dan_batch.dart"/>
          </p:cNvPr>
          <p:cNvPicPr>
            <a:picLocks noChangeAspect="1"/>
          </p:cNvPicPr>
          <p:nvPr/>
        </p:nvPicPr>
        <p:blipFill>
          <a:blip r:embed="rId2"/>
          <a:stretch>
            <a:fillRect/>
          </a:stretch>
        </p:blipFill>
        <p:spPr>
          <a:xfrm>
            <a:off x="694944" y="4807458"/>
            <a:ext cx="274320" cy="274320"/>
          </a:xfrm>
          <a:prstGeom prst="rect">
            <a:avLst/>
          </a:prstGeom>
        </p:spPr>
      </p:pic>
      <p:sp>
        <p:nvSpPr>
          <p:cNvPr id="7"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Semua berhasil → disimpan (commit).</a:t>
            </a:r>
            <a:endParaRPr lang="en-US" sz="1700" dirty="0"/>
          </a:p>
          <a:p>
            <a:pPr marL="228600" indent="-228600">
              <a:spcAft>
                <a:spcPts val="800"/>
              </a:spcAft>
              <a:buSzPct val="100000"/>
              <a:buChar char="•"/>
            </a:pPr>
            <a:r>
              <a:rPr lang="en-US" sz="1700" dirty="0">
                <a:solidFill>
                  <a:schemeClr val="tx1"/>
                </a:solidFill>
              </a:rPr>
              <a:t>Satu saja melempar exception → SEMUA dibatalkan (rollback).</a:t>
            </a:r>
            <a:endParaRPr lang="en-US" sz="1700" dirty="0"/>
          </a:p>
          <a:p>
            <a:pPr marL="228600" indent="-228600">
              <a:spcAft>
                <a:spcPts val="800"/>
              </a:spcAft>
              <a:buSzPct val="100000"/>
              <a:buChar char="•"/>
            </a:pPr>
            <a:r>
              <a:rPr lang="en-US" sz="1700" dirty="0">
                <a:solidFill>
                  <a:schemeClr val="tx1"/>
                </a:solidFill>
              </a:rPr>
              <a:t>Biarkan exception keluar dari blok: itu tanda untuk membatalkan, lalu diteruskan ke ViewModel.</a:t>
            </a:r>
            <a:endParaRPr lang="en-US" sz="1700" dirty="0"/>
          </a:p>
          <a:p>
            <a:pPr marL="228600" indent="-228600">
              <a:spcAft>
                <a:spcPts val="800"/>
              </a:spcAft>
              <a:buSzPct val="100000"/>
              <a:buChar char="•"/>
            </a:pPr>
            <a:r>
              <a:rPr lang="en-US" sz="1700" dirty="0">
                <a:solidFill>
                  <a:schemeClr val="tx1"/>
                </a:solidFill>
              </a:rPr>
              <a:t>Memakai db di dalam blok → aplikasi MACET (deadlock).</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07: Percobaan dengan dan tanpa Transaksi</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7.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2523744"/>
          </a:xfrm>
          <a:prstGeom prst="roundRect">
            <a:avLst>
              <a:gd name="adj" fmla="val 3623"/>
            </a:avLst>
          </a:prstGeom>
          <a:solidFill>
            <a:srgbClr val="0E1A2B"/>
          </a:solidFill>
          <a:ln/>
        </p:spPr>
        <p:txBody>
          <a:bodyPr wrap="square" lIns="177800" tIns="152400" rIns="152400" bIns="177800" rtlCol="0" anchor="t"/>
          <a:lstStyle/>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Database dan Transaction sama-sama DatabaseExecutor</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(pakaiTransaksi)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db.transaction((</a:t>
            </a:r>
            <a:r>
              <a:rPr lang="en-US" sz="1200" dirty="0">
                <a:solidFill>
                  <a:srgbClr val="FFCB6B"/>
                </a:solidFill>
                <a:latin typeface="Consolas" pitchFamily="34" charset="0"/>
                <a:ea typeface="Consolas" pitchFamily="34" charset="-122"/>
                <a:cs typeface="Consolas" pitchFamily="34" charset="-120"/>
              </a:rPr>
              <a:t>Transaction</a:t>
            </a:r>
            <a:r>
              <a:rPr lang="en-US" sz="1200" dirty="0">
                <a:solidFill>
                  <a:srgbClr val="E6EDF3"/>
                </a:solidFill>
                <a:latin typeface="Consolas" pitchFamily="34" charset="0"/>
                <a:ea typeface="Consolas" pitchFamily="34" charset="-122"/>
                <a:cs typeface="Consolas" pitchFamily="34" charset="-120"/>
              </a:rPr>
              <a:t> txn) </a:t>
            </a:r>
            <a:r>
              <a:rPr lang="en-US" sz="1200" dirty="0">
                <a:solidFill>
                  <a:srgbClr val="C792EA"/>
                </a:solidFill>
                <a:latin typeface="Consolas" pitchFamily="34" charset="0"/>
                <a:ea typeface="Consolas" pitchFamily="34" charset="-122"/>
                <a:cs typeface="Consolas" pitchFamily="34" charset="-120"/>
              </a:rPr>
              <a:t>async</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_langkahPindah(txn,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else</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_langkahPindah(db, ...); </a:t>
            </a:r>
            <a:r>
              <a:rPr lang="en-US" sz="1200" i="1" dirty="0">
                <a:solidFill>
                  <a:srgbClr val="8FA3BC"/>
                </a:solidFill>
                <a:latin typeface="Consolas" pitchFamily="34" charset="0"/>
                <a:ea typeface="Consolas" pitchFamily="34" charset="-122"/>
                <a:cs typeface="Consolas" pitchFamily="34" charset="-120"/>
              </a:rPr>
              <a:t>// langsung tersimpan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Total uang dihitung oleh SQL:</a:t>
            </a:r>
            <a:endParaRPr lang="en-US" sz="1200" dirty="0"/>
          </a:p>
          <a:p>
            <a:pPr indent="0" marL="0">
              <a:lnSpc>
                <a:spcPct val="105000"/>
              </a:lnSpc>
              <a:buNone/>
            </a:pPr>
            <a:r>
              <a:rPr lang="en-US" sz="1200" dirty="0">
                <a:solidFill>
                  <a:srgbClr val="C3E88D"/>
                </a:solidFill>
                <a:latin typeface="Consolas" pitchFamily="34" charset="0"/>
                <a:ea typeface="Consolas" pitchFamily="34" charset="-122"/>
                <a:cs typeface="Consolas" pitchFamily="34" charset="-120"/>
              </a:rPr>
              <a:t>'SELECT COALESCE(SUM(saldo), 0) FROM dompet'</a:t>
            </a:r>
            <a:endParaRPr lang="en-US" sz="1200" dirty="0"/>
          </a:p>
        </p:txBody>
      </p:sp>
      <p:sp>
        <p:nvSpPr>
          <p:cNvPr id="7" name="tombol tautan">
            <a:hlinkClick r:id="rId2" tooltip="https://github.com/antonprafanto/mobile2026/blob/main/pertemuan_11_penyimpanan_lokal/kode/contoh_07_transaksi_dan_batch.dart"/>
          </p:cNvPr>
          <p:cNvSpPr txBox="1"/>
          <p:nvPr/>
        </p:nvSpPr>
        <p:spPr>
          <a:xfrm>
            <a:off x="548640" y="4078224"/>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contoh_07_transaksi_dan_batch.dart</a:t>
            </a:r>
            <a:endParaRPr lang="en-US" sz="1300" dirty="0"/>
          </a:p>
        </p:txBody>
      </p:sp>
      <p:pic>
        <p:nvPicPr>
          <p:cNvPr id="8" name="Image 1" descr="ikon tautan">
            <a:hlinkClick r:id="rId4" tooltip="https://github.com/antonprafanto/mobile2026/blob/main/pertemuan_11_penyimpanan_lokal/kode/contoh_07_transaksi_dan_batch.dart"/>
          </p:cNvPr>
          <p:cNvPicPr>
            <a:picLocks noChangeAspect="1"/>
          </p:cNvPicPr>
          <p:nvPr/>
        </p:nvPicPr>
        <p:blipFill>
          <a:blip r:embed="rId3"/>
          <a:stretch>
            <a:fillRect/>
          </a:stretch>
        </p:blipFill>
        <p:spPr>
          <a:xfrm>
            <a:off x="694944" y="4169664"/>
            <a:ext cx="274320" cy="274320"/>
          </a:xfrm>
          <a:prstGeom prst="rect">
            <a:avLst/>
          </a:prstGeom>
        </p:spPr>
      </p:pic>
      <p:sp>
        <p:nvSpPr>
          <p:cNvPr id="9" name="daftar poin"/>
          <p:cNvSpPr txBox="1"/>
          <p:nvPr/>
        </p:nvSpPr>
        <p:spPr>
          <a:xfrm>
            <a:off x="548640" y="4809744"/>
            <a:ext cx="7608319" cy="1408176"/>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Transaksi, tanpa gangguan: 450 rb + 50 rb = 500 rb (utuh).</a:t>
            </a:r>
            <a:endParaRPr lang="en-US" sz="1500" dirty="0"/>
          </a:p>
          <a:p>
            <a:pPr marL="228600" indent="-228600">
              <a:spcAft>
                <a:spcPts val="800"/>
              </a:spcAft>
              <a:buSzPct val="100000"/>
              <a:buChar char="•"/>
            </a:pPr>
            <a:r>
              <a:rPr lang="en-US" sz="1500" dirty="0">
                <a:solidFill>
                  <a:schemeClr val="tx1"/>
                </a:solidFill>
              </a:rPr>
              <a:t>Transaksi + gangguan: 500 rb + 0 = 500 rb (dibatalkan semua).</a:t>
            </a:r>
            <a:endParaRPr lang="en-US" sz="1500" dirty="0"/>
          </a:p>
          <a:p>
            <a:pPr marL="228600" indent="-228600">
              <a:spcAft>
                <a:spcPts val="800"/>
              </a:spcAft>
              <a:buSzPct val="100000"/>
              <a:buChar char="•"/>
            </a:pPr>
            <a:r>
              <a:rPr lang="en-US" sz="1500" dirty="0">
                <a:solidFill>
                  <a:schemeClr val="tx1"/>
                </a:solidFill>
              </a:rPr>
              <a:t>TANPA transaksi + gangguan: 450 rb + 0 = 450 rb (50 rb HILANG).</a:t>
            </a:r>
            <a:endParaRPr lang="en-US" sz="1500" dirty="0"/>
          </a:p>
          <a:p>
            <a:pPr marL="228600" indent="-228600">
              <a:spcAft>
                <a:spcPts val="800"/>
              </a:spcAft>
              <a:buSzPct val="100000"/>
              <a:buChar char="•"/>
            </a:pPr>
            <a:r>
              <a:rPr lang="en-US" sz="1500" dirty="0">
                <a:solidFill>
                  <a:schemeClr val="tx1"/>
                </a:solidFill>
              </a:rPr>
              <a:t>CHECK (saldo &gt;= 0): database menolak saldo negatif.</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Batch: Banyak Perintah Sekaligus</a:t>
            </a:r>
            <a:endParaRPr lang="en-US" sz="3200" dirty="0"/>
          </a:p>
        </p:txBody>
      </p:sp>
      <p:sp>
        <p:nvSpPr>
          <p:cNvPr id="4" name="kotak kode"/>
          <p:cNvSpPr txBox="1"/>
          <p:nvPr/>
        </p:nvSpPr>
        <p:spPr>
          <a:xfrm>
            <a:off x="548640" y="1371600"/>
            <a:ext cx="7132320" cy="3483864"/>
          </a:xfrm>
          <a:prstGeom prst="roundRect">
            <a:avLst>
              <a:gd name="adj" fmla="val 2625"/>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db.transaction((</a:t>
            </a:r>
            <a:r>
              <a:rPr lang="en-US" sz="1200" dirty="0">
                <a:solidFill>
                  <a:srgbClr val="FFCB6B"/>
                </a:solidFill>
                <a:latin typeface="Consolas" pitchFamily="34" charset="0"/>
                <a:ea typeface="Consolas" pitchFamily="34" charset="-122"/>
                <a:cs typeface="Consolas" pitchFamily="34" charset="-120"/>
              </a:rPr>
              <a:t>Transaction</a:t>
            </a:r>
            <a:r>
              <a:rPr lang="en-US" sz="1200" dirty="0">
                <a:solidFill>
                  <a:srgbClr val="E6EDF3"/>
                </a:solidFill>
                <a:latin typeface="Consolas" pitchFamily="34" charset="0"/>
                <a:ea typeface="Consolas" pitchFamily="34" charset="-122"/>
                <a:cs typeface="Consolas" pitchFamily="34" charset="-120"/>
              </a:rPr>
              <a:t> txn) </a:t>
            </a:r>
            <a:r>
              <a:rPr lang="en-US" sz="1200" dirty="0">
                <a:solidFill>
                  <a:srgbClr val="C792EA"/>
                </a:solidFill>
                <a:latin typeface="Consolas" pitchFamily="34" charset="0"/>
                <a:ea typeface="Consolas" pitchFamily="34" charset="-122"/>
                <a:cs typeface="Consolas" pitchFamily="34" charset="-120"/>
              </a:rPr>
              <a:t>async</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Batch</a:t>
            </a:r>
            <a:r>
              <a:rPr lang="en-US" sz="1200" dirty="0">
                <a:solidFill>
                  <a:srgbClr val="E6EDF3"/>
                </a:solidFill>
                <a:latin typeface="Consolas" pitchFamily="34" charset="0"/>
                <a:ea typeface="Consolas" pitchFamily="34" charset="-122"/>
                <a:cs typeface="Consolas" pitchFamily="34" charset="-120"/>
              </a:rPr>
              <a:t> batch = txn.batch();</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for</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nama </a:t>
            </a:r>
            <a:r>
              <a:rPr lang="en-US" sz="1200" dirty="0">
                <a:solidFill>
                  <a:srgbClr val="C792EA"/>
                </a:solidFill>
                <a:latin typeface="Consolas" pitchFamily="34" charset="0"/>
                <a:ea typeface="Consolas" pitchFamily="34" charset="-122"/>
                <a:cs typeface="Consolas" pitchFamily="34" charset="-120"/>
              </a:rPr>
              <a:t>in</a:t>
            </a:r>
            <a:r>
              <a:rPr lang="en-US" sz="1200" dirty="0">
                <a:solidFill>
                  <a:srgbClr val="E6EDF3"/>
                </a:solidFill>
                <a:latin typeface="Consolas" pitchFamily="34" charset="0"/>
                <a:ea typeface="Consolas" pitchFamily="34" charset="-122"/>
                <a:cs typeface="Consolas" pitchFamily="34" charset="-120"/>
              </a:rPr>
              <a:t> namaMahasiswa)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batch.insert(</a:t>
            </a:r>
            <a:r>
              <a:rPr lang="en-US" sz="1200" dirty="0">
                <a:solidFill>
                  <a:srgbClr val="C3E88D"/>
                </a:solidFill>
                <a:latin typeface="Consolas" pitchFamily="34" charset="0"/>
                <a:ea typeface="Consolas" pitchFamily="34" charset="-122"/>
                <a:cs typeface="Consolas" pitchFamily="34" charset="-120"/>
              </a:rPr>
              <a:t>'mutasi'</a:t>
            </a:r>
            <a:r>
              <a:rPr lang="en-US" sz="1200" dirty="0">
                <a:solidFill>
                  <a:srgbClr val="E6EDF3"/>
                </a:solidFill>
                <a:latin typeface="Consolas" pitchFamily="34" charset="0"/>
                <a:ea typeface="Consolas" pitchFamily="34" charset="-122"/>
                <a:cs typeface="Consolas" pitchFamily="34" charset="-120"/>
              </a:rPr>
              <a:t>, { </a:t>
            </a:r>
            <a:r>
              <a:rPr lang="en-US" sz="1200" i="1" dirty="0">
                <a:solidFill>
                  <a:srgbClr val="8FA3BC"/>
                </a:solidFill>
                <a:latin typeface="Consolas" pitchFamily="34" charset="0"/>
                <a:ea typeface="Consolas" pitchFamily="34" charset="-122"/>
                <a:cs typeface="Consolas" pitchFamily="34" charset="-120"/>
              </a:rPr>
              <a:t>// BELUM dijalankan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'dompet_id'</a:t>
            </a:r>
            <a:r>
              <a:rPr lang="en-US" sz="1200" dirty="0">
                <a:solidFill>
                  <a:srgbClr val="E6EDF3"/>
                </a:solidFill>
                <a:latin typeface="Consolas" pitchFamily="34" charset="0"/>
                <a:ea typeface="Consolas" pitchFamily="34" charset="-122"/>
                <a:cs typeface="Consolas" pitchFamily="34" charset="-120"/>
              </a:rPr>
              <a:t>: idKasKelas,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'jumlah'</a:t>
            </a:r>
            <a:r>
              <a:rPr lang="en-US" sz="1200" dirty="0">
                <a:solidFill>
                  <a:srgbClr val="E6EDF3"/>
                </a:solidFill>
                <a:latin typeface="Consolas" pitchFamily="34" charset="0"/>
                <a:ea typeface="Consolas" pitchFamily="34" charset="-122"/>
                <a:cs typeface="Consolas" pitchFamily="34" charset="-120"/>
              </a:rPr>
              <a:t>: iuranPerOrang,</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'keterangan'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'Iuran $nama'</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'waktu'</a:t>
            </a:r>
            <a:r>
              <a:rPr lang="en-US" sz="1200" dirty="0">
                <a:solidFill>
                  <a:srgbClr val="E6EDF3"/>
                </a:solidFill>
                <a:latin typeface="Consolas" pitchFamily="34" charset="0"/>
                <a:ea typeface="Consolas" pitchFamily="34" charset="-122"/>
                <a:cs typeface="Consolas" pitchFamily="34" charset="-120"/>
              </a:rPr>
              <a:t>: waktu,</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batch.rawUpdate(</a:t>
            </a:r>
            <a:r>
              <a:rPr lang="en-US" sz="1200" dirty="0">
                <a:solidFill>
                  <a:srgbClr val="C3E88D"/>
                </a:solidFill>
                <a:latin typeface="Consolas" pitchFamily="34" charset="0"/>
                <a:ea typeface="Consolas" pitchFamily="34" charset="-122"/>
                <a:cs typeface="Consolas" pitchFamily="34" charset="-120"/>
              </a:rPr>
              <a:t>'UPDATE dompet SET saldo = saldo + ? WHERE id = ?'</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iuranPerOrang * namaMahasiswa.length,</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idKasKelas,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batch.commit(noResult: </a:t>
            </a:r>
            <a:r>
              <a:rPr lang="en-US" sz="1200" dirty="0">
                <a:solidFill>
                  <a:srgbClr val="C792EA"/>
                </a:solidFill>
                <a:latin typeface="Consolas" pitchFamily="34" charset="0"/>
                <a:ea typeface="Consolas" pitchFamily="34" charset="-122"/>
                <a:cs typeface="Consolas" pitchFamily="34" charset="-120"/>
              </a:rPr>
              <a:t>true</a:t>
            </a: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kirim sekaligus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1_penyimpanan_lokal/kode/contoh_07_transaksi_dan_batch.dart"/>
          </p:cNvPr>
          <p:cNvSpPr txBox="1"/>
          <p:nvPr/>
        </p:nvSpPr>
        <p:spPr>
          <a:xfrm>
            <a:off x="548640" y="5084064"/>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contoh_07_transaksi_dan_batch.dart</a:t>
            </a:r>
            <a:endParaRPr lang="en-US" sz="1300" dirty="0"/>
          </a:p>
        </p:txBody>
      </p:sp>
      <p:pic>
        <p:nvPicPr>
          <p:cNvPr id="6" name="Image 0" descr="ikon tautan">
            <a:hlinkClick r:id="rId3" tooltip="https://github.com/antonprafanto/mobile2026/blob/main/pertemuan_11_penyimpanan_lokal/kode/contoh_07_transaksi_dan_batch.dart"/>
          </p:cNvPr>
          <p:cNvPicPr>
            <a:picLocks noChangeAspect="1"/>
          </p:cNvPicPr>
          <p:nvPr/>
        </p:nvPicPr>
        <p:blipFill>
          <a:blip r:embed="rId2"/>
          <a:stretch>
            <a:fillRect/>
          </a:stretch>
        </p:blipFill>
        <p:spPr>
          <a:xfrm>
            <a:off x="694944" y="5175504"/>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batch.insert(...) tanpa await: hanya DICATAT.</a:t>
            </a:r>
            <a:endParaRPr lang="en-US" sz="1700" dirty="0"/>
          </a:p>
          <a:p>
            <a:pPr marL="228600" indent="-228600">
              <a:spcAft>
                <a:spcPts val="800"/>
              </a:spcAft>
              <a:buSzPct val="100000"/>
              <a:buChar char="•"/>
            </a:pPr>
            <a:r>
              <a:rPr lang="en-US" sz="1700" dirty="0">
                <a:solidFill>
                  <a:schemeClr val="tx1"/>
                </a:solidFill>
              </a:rPr>
              <a:t>commit: semua perintah dikirim dalam satu kali kirim.</a:t>
            </a:r>
            <a:endParaRPr lang="en-US" sz="1700" dirty="0"/>
          </a:p>
          <a:p>
            <a:pPr marL="228600" indent="-228600">
              <a:spcAft>
                <a:spcPts val="800"/>
              </a:spcAft>
              <a:buSzPct val="100000"/>
              <a:buChar char="•"/>
            </a:pPr>
            <a:r>
              <a:rPr lang="en-US" sz="1700" dirty="0">
                <a:solidFill>
                  <a:schemeClr val="tx1"/>
                </a:solidFill>
              </a:rPr>
              <a:t>noResult: true: hasil tiap perintah tidak perlu dikembalikan → lebih cepat.</a:t>
            </a:r>
            <a:endParaRPr lang="en-US" sz="1700" dirty="0"/>
          </a:p>
          <a:p>
            <a:pPr marL="228600" indent="-228600">
              <a:spcAft>
                <a:spcPts val="800"/>
              </a:spcAft>
              <a:buSzPct val="100000"/>
              <a:buChar char="•"/>
            </a:pPr>
            <a:r>
              <a:rPr lang="en-US" sz="1700" dirty="0">
                <a:solidFill>
                  <a:schemeClr val="tx1"/>
                </a:solidFill>
              </a:rPr>
              <a:t>Batch di dalam transaksi: ikut aturan semua atau tidak sama sekali.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10</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Cache: Data Internet yang Tetap Terbaca Saat Luring</a:t>
            </a:r>
            <a:endParaRPr lang="en-US" sz="4000" dirty="0"/>
          </a:p>
        </p:txBody>
      </p:sp>
      <p:sp>
        <p:nvSpPr>
          <p:cNvPr id="5" name="lingkaran luring"/>
          <p:cNvSpPr/>
          <p:nvPr/>
        </p:nvSpPr>
        <p:spPr>
          <a:xfrm>
            <a:off x="1097280" y="2148840"/>
            <a:ext cx="2011680" cy="2011680"/>
          </a:xfrm>
          <a:prstGeom prst="ellipse">
            <a:avLst/>
          </a:prstGeom>
          <a:solidFill>
            <a:schemeClr val="accent1"/>
          </a:solidFill>
          <a:ln/>
        </p:spPr>
      </p:sp>
      <p:pic>
        <p:nvPicPr>
          <p:cNvPr id="6" name="Image 0" descr="luring">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Cache = Salinan</a:t>
            </a:r>
            <a:endParaRPr lang="en-US" sz="3200" dirty="0"/>
          </a:p>
        </p:txBody>
      </p:sp>
      <p:sp>
        <p:nvSpPr>
          <p:cNvPr id="4" name="kolom 1"/>
          <p:cNvSpPr/>
          <p:nvPr/>
        </p:nvSpPr>
        <p:spPr>
          <a:xfrm>
            <a:off x="548640" y="1371600"/>
            <a:ext cx="5387188" cy="3931920"/>
          </a:xfrm>
          <a:prstGeom prst="roundRect">
            <a:avLst>
              <a:gd name="adj" fmla="val 2791"/>
            </a:avLst>
          </a:prstGeom>
          <a:solidFill>
            <a:schemeClr val="bg2"/>
          </a:solidFill>
          <a:ln/>
        </p:spPr>
      </p:sp>
      <p:sp>
        <p:nvSpPr>
          <p:cNvPr id="5" name="lingkaran hapus"/>
          <p:cNvSpPr/>
          <p:nvPr/>
        </p:nvSpPr>
        <p:spPr>
          <a:xfrm>
            <a:off x="777240" y="1600200"/>
            <a:ext cx="685800" cy="685800"/>
          </a:xfrm>
          <a:prstGeom prst="ellipse">
            <a:avLst/>
          </a:prstGeom>
          <a:solidFill>
            <a:schemeClr val="accent1"/>
          </a:solidFill>
          <a:ln/>
        </p:spPr>
      </p:sp>
      <p:pic>
        <p:nvPicPr>
          <p:cNvPr id="6" name="Image 0" descr="hapus">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Cache boleh hilang</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1"/>
                </a:solidFill>
              </a:rPr>
              <a:t>Data aslinya tetap ada di server</a:t>
            </a:r>
            <a:endParaRPr lang="en-US" sz="1400" dirty="0"/>
          </a:p>
        </p:txBody>
      </p:sp>
      <p:sp>
        <p:nvSpPr>
          <p:cNvPr id="9" name="daftar poin"/>
          <p:cNvSpPr txBox="1"/>
          <p:nvPr/>
        </p:nvSpPr>
        <p:spPr>
          <a:xfrm>
            <a:off x="777240"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Terhapus? Aplikasi cukup mengambil lagi dari server saat internet tersedia</a:t>
            </a:r>
            <a:endParaRPr lang="en-US" sz="1600" dirty="0"/>
          </a:p>
          <a:p>
            <a:pPr marL="228600" indent="-228600">
              <a:spcAft>
                <a:spcPts val="800"/>
              </a:spcAft>
              <a:buSzPct val="100000"/>
              <a:buChar char="•"/>
            </a:pPr>
            <a:r>
              <a:rPr lang="en-US" sz="1600" dirty="0">
                <a:solidFill>
                  <a:schemeClr val="tx1"/>
                </a:solidFill>
              </a:rPr>
              <a:t>Karena itu cache yang kecil boleh disimpan dengan shared_preferences</a:t>
            </a:r>
            <a:endParaRPr lang="en-US" sz="1600" dirty="0"/>
          </a:p>
          <a:p>
            <a:pPr marL="228600" indent="-228600">
              <a:spcAft>
                <a:spcPts val="800"/>
              </a:spcAft>
              <a:buSzPct val="100000"/>
              <a:buChar char="•"/>
            </a:pPr>
            <a:r>
              <a:rPr lang="en-US" sz="1600" dirty="0">
                <a:solidFill>
                  <a:schemeClr val="tx1"/>
                </a:solidFill>
              </a:rPr>
              <a:t>Cache yang banyak atau terstruktur: SQLite</a:t>
            </a:r>
            <a:endParaRPr lang="en-US" sz="1600" dirty="0"/>
          </a:p>
        </p:txBody>
      </p:sp>
      <p:sp>
        <p:nvSpPr>
          <p:cNvPr id="10" name="kolom 2"/>
          <p:cNvSpPr/>
          <p:nvPr/>
        </p:nvSpPr>
        <p:spPr>
          <a:xfrm>
            <a:off x="6255868" y="1371600"/>
            <a:ext cx="5387188" cy="3931920"/>
          </a:xfrm>
          <a:prstGeom prst="roundRect">
            <a:avLst>
              <a:gd name="adj" fmla="val 2791"/>
            </a:avLst>
          </a:prstGeom>
          <a:solidFill>
            <a:schemeClr val="bg2"/>
          </a:solidFill>
          <a:ln/>
        </p:spPr>
      </p:sp>
      <p:sp>
        <p:nvSpPr>
          <p:cNvPr id="11" name="lingkaran jam"/>
          <p:cNvSpPr/>
          <p:nvPr/>
        </p:nvSpPr>
        <p:spPr>
          <a:xfrm>
            <a:off x="6484468" y="1600200"/>
            <a:ext cx="685800" cy="685800"/>
          </a:xfrm>
          <a:prstGeom prst="ellipse">
            <a:avLst/>
          </a:prstGeom>
          <a:solidFill>
            <a:schemeClr val="accent5"/>
          </a:solidFill>
          <a:ln/>
        </p:spPr>
      </p:sp>
      <p:pic>
        <p:nvPicPr>
          <p:cNvPr id="12" name="Image 1" descr="jam">    </p:cNvPr>
          <p:cNvPicPr>
            <a:picLocks noChangeAspect="1"/>
          </p:cNvPicPr>
          <p:nvPr/>
        </p:nvPicPr>
        <p:blipFill>
          <a:blip r:embed="rId2"/>
          <a:stretch>
            <a:fillRect/>
          </a:stretch>
        </p:blipFill>
        <p:spPr>
          <a:xfrm>
            <a:off x="6635344" y="1751076"/>
            <a:ext cx="384048" cy="384048"/>
          </a:xfrm>
          <a:prstGeom prst="rect">
            <a:avLst/>
          </a:prstGeom>
        </p:spPr>
      </p:pic>
      <p:sp>
        <p:nvSpPr>
          <p:cNvPr id="13" name="Text 8"/>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Cache bisa basi</a:t>
            </a:r>
            <a:endParaRPr lang="en-US" sz="1900" dirty="0"/>
          </a:p>
        </p:txBody>
      </p:sp>
      <p:sp>
        <p:nvSpPr>
          <p:cNvPr id="14" name="Text 9"/>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5"/>
                </a:solidFill>
              </a:rPr>
              <a:t>Tunjukkan waktunya</a:t>
            </a:r>
            <a:endParaRPr lang="en-US" sz="1400" dirty="0"/>
          </a:p>
        </p:txBody>
      </p:sp>
      <p:sp>
        <p:nvSpPr>
          <p:cNvPr id="15" name="daftar poin"/>
          <p:cNvSpPr txBox="1"/>
          <p:nvPr/>
        </p:nvSpPr>
        <p:spPr>
          <a:xfrm>
            <a:off x="6484468"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Selalu beri tahu pengguna KAPAN data itu diambil</a:t>
            </a:r>
            <a:endParaRPr lang="en-US" sz="1600" dirty="0"/>
          </a:p>
          <a:p>
            <a:pPr marL="228600" indent="-228600">
              <a:spcAft>
                <a:spcPts val="800"/>
              </a:spcAft>
              <a:buSzPct val="100000"/>
              <a:buChar char="•"/>
            </a:pPr>
            <a:r>
              <a:rPr lang="en-US" sz="1600" dirty="0">
                <a:solidFill>
                  <a:schemeClr val="tx1"/>
                </a:solidFill>
              </a:rPr>
              <a:t>Tanpa keterangan waktu, pengumuman yang sudah basi dikira yang terbaru</a:t>
            </a:r>
            <a:endParaRPr lang="en-US" sz="1600" dirty="0"/>
          </a:p>
          <a:p>
            <a:pPr marL="228600" indent="-228600">
              <a:spcAft>
                <a:spcPts val="800"/>
              </a:spcAft>
              <a:buSzPct val="100000"/>
              <a:buChar char="•"/>
            </a:pPr>
            <a:r>
              <a:rPr lang="en-US" sz="1600" dirty="0">
                <a:solidFill>
                  <a:schemeClr val="tx1"/>
                </a:solidFill>
              </a:rPr>
              <a:t>Perbarui begitu internet tersedia</a:t>
            </a:r>
            <a:endParaRPr lang="en-US" sz="1600" dirty="0"/>
          </a:p>
        </p:txBody>
      </p:sp>
      <p:sp>
        <p:nvSpPr>
          <p:cNvPr id="16" name="lingkaran lampu"/>
          <p:cNvSpPr/>
          <p:nvPr/>
        </p:nvSpPr>
        <p:spPr>
          <a:xfrm>
            <a:off x="548640" y="5532120"/>
            <a:ext cx="548640" cy="548640"/>
          </a:xfrm>
          <a:prstGeom prst="ellipse">
            <a:avLst/>
          </a:prstGeom>
          <a:solidFill>
            <a:schemeClr val="accent3"/>
          </a:solidFill>
          <a:ln/>
        </p:spPr>
      </p:sp>
      <p:pic>
        <p:nvPicPr>
          <p:cNvPr id="17"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18" name="Text 12"/>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Seperti memotret jadwal kuliah di papan pengumuman: tetap bisa dibaca saat tidak ke kampus, walaupun mungkin bukan yang terbaru.</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Strategi "Data Lokal sebagai Cadangan"</a:t>
            </a:r>
            <a:endParaRPr lang="en-US" sz="3200" dirty="0"/>
          </a:p>
        </p:txBody>
      </p:sp>
      <p:sp>
        <p:nvSpPr>
          <p:cNvPr id="4" name="kotak kode"/>
          <p:cNvSpPr txBox="1"/>
          <p:nvPr/>
        </p:nvSpPr>
        <p:spPr>
          <a:xfrm>
            <a:off x="548640" y="1371600"/>
            <a:ext cx="7132320" cy="3483864"/>
          </a:xfrm>
          <a:prstGeom prst="roundRect">
            <a:avLst>
              <a:gd name="adj" fmla="val 2625"/>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Future</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HasilPengumuman</a:t>
            </a:r>
            <a:r>
              <a:rPr lang="en-US" sz="1200" dirty="0">
                <a:solidFill>
                  <a:srgbClr val="E6EDF3"/>
                </a:solidFill>
                <a:latin typeface="Consolas" pitchFamily="34" charset="0"/>
                <a:ea typeface="Consolas" pitchFamily="34" charset="-122"/>
                <a:cs typeface="Consolas" pitchFamily="34" charset="-120"/>
              </a:rPr>
              <a:t>&gt; ambilSemua() </a:t>
            </a:r>
            <a:r>
              <a:rPr lang="en-US" sz="1200" dirty="0">
                <a:solidFill>
                  <a:srgbClr val="C792EA"/>
                </a:solidFill>
                <a:latin typeface="Consolas" pitchFamily="34" charset="0"/>
                <a:ea typeface="Consolas" pitchFamily="34" charset="-122"/>
                <a:cs typeface="Consolas" pitchFamily="34" charset="-120"/>
              </a:rPr>
              <a:t>async</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try</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1. Coba ambil dari server.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Pengumuman</a:t>
            </a:r>
            <a:r>
              <a:rPr lang="en-US" sz="1200" dirty="0">
                <a:solidFill>
                  <a:srgbClr val="E6EDF3"/>
                </a:solidFill>
                <a:latin typeface="Consolas" pitchFamily="34" charset="0"/>
                <a:ea typeface="Consolas" pitchFamily="34" charset="-122"/>
                <a:cs typeface="Consolas" pitchFamily="34" charset="-120"/>
              </a:rPr>
              <a:t>&gt; daftar =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_ambilDariServer();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2. Berhasil: simpan salinannya untuk nanti.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DateTime</a:t>
            </a:r>
            <a:r>
              <a:rPr lang="en-US" sz="1200" dirty="0">
                <a:solidFill>
                  <a:srgbClr val="E6EDF3"/>
                </a:solidFill>
                <a:latin typeface="Consolas" pitchFamily="34" charset="0"/>
                <a:ea typeface="Consolas" pitchFamily="34" charset="-122"/>
                <a:cs typeface="Consolas" pitchFamily="34" charset="-120"/>
              </a:rPr>
              <a:t> sekarang = </a:t>
            </a:r>
            <a:r>
              <a:rPr lang="en-US" sz="1200" dirty="0">
                <a:solidFill>
                  <a:srgbClr val="FFCB6B"/>
                </a:solidFill>
                <a:latin typeface="Consolas" pitchFamily="34" charset="0"/>
                <a:ea typeface="Consolas" pitchFamily="34" charset="-122"/>
                <a:cs typeface="Consolas" pitchFamily="34" charset="-120"/>
              </a:rPr>
              <a:t>DateTime</a:t>
            </a:r>
            <a:r>
              <a:rPr lang="en-US" sz="1200" dirty="0">
                <a:solidFill>
                  <a:srgbClr val="E6EDF3"/>
                </a:solidFill>
                <a:latin typeface="Consolas" pitchFamily="34" charset="0"/>
                <a:ea typeface="Consolas" pitchFamily="34" charset="-122"/>
                <a:cs typeface="Consolas" pitchFamily="34" charset="-120"/>
              </a:rPr>
              <a:t>.now();</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_cache.simpan(daftar, sekarang);</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HasilPengumuman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daftar: daftar, waktu: sekarang, dariCache: </a:t>
            </a:r>
            <a:r>
              <a:rPr lang="en-US" sz="1200" dirty="0">
                <a:solidFill>
                  <a:srgbClr val="C792EA"/>
                </a:solidFill>
                <a:latin typeface="Consolas" pitchFamily="34" charset="0"/>
                <a:ea typeface="Consolas" pitchFamily="34" charset="-122"/>
                <a:cs typeface="Consolas" pitchFamily="34" charset="-120"/>
              </a:rPr>
              <a:t>false</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 </a:t>
            </a:r>
            <a:r>
              <a:rPr lang="en-US" sz="1200" dirty="0">
                <a:solidFill>
                  <a:srgbClr val="C792EA"/>
                </a:solidFill>
                <a:latin typeface="Consolas" pitchFamily="34" charset="0"/>
                <a:ea typeface="Consolas" pitchFamily="34" charset="-122"/>
                <a:cs typeface="Consolas" pitchFamily="34" charset="-120"/>
              </a:rPr>
              <a:t>catch</a:t>
            </a:r>
            <a:r>
              <a:rPr lang="en-US" sz="1200" dirty="0">
                <a:solidFill>
                  <a:srgbClr val="E6EDF3"/>
                </a:solidFill>
                <a:latin typeface="Consolas" pitchFamily="34" charset="0"/>
                <a:ea typeface="Consolas" pitchFamily="34" charset="-122"/>
                <a:cs typeface="Consolas" pitchFamily="34" charset="-120"/>
              </a:rPr>
              <a:t> (galat)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3. Gagal: pakai salinan tersimpan, jika ada.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HasilPengumuman</a:t>
            </a:r>
            <a:r>
              <a:rPr lang="en-US" sz="1200" dirty="0">
                <a:solidFill>
                  <a:srgbClr val="E6EDF3"/>
                </a:solidFill>
                <a:latin typeface="Consolas" pitchFamily="34" charset="0"/>
                <a:ea typeface="Consolas" pitchFamily="34" charset="-122"/>
                <a:cs typeface="Consolas" pitchFamily="34" charset="-120"/>
              </a:rPr>
              <a:t>? tersimpan =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_cache.baca();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(tersimpan == </a:t>
            </a:r>
            <a:r>
              <a:rPr lang="en-US" sz="1200" dirty="0">
                <a:solidFill>
                  <a:srgbClr val="C792EA"/>
                </a:solidFill>
                <a:latin typeface="Consolas" pitchFamily="34" charset="0"/>
                <a:ea typeface="Consolas" pitchFamily="34" charset="-122"/>
                <a:cs typeface="Consolas" pitchFamily="34" charset="-120"/>
              </a:rPr>
              <a:t>null</a:t>
            </a:r>
            <a:r>
              <a:rPr lang="en-US" sz="1200" dirty="0">
                <a:solidFill>
                  <a:srgbClr val="E6EDF3"/>
                </a:solidFill>
                <a:latin typeface="Consolas" pitchFamily="34" charset="0"/>
                <a:ea typeface="Consolas" pitchFamily="34" charset="-122"/>
                <a:cs typeface="Consolas" pitchFamily="34" charset="-120"/>
              </a:rPr>
              <a:t>) rethrow; </a:t>
            </a:r>
            <a:r>
              <a:rPr lang="en-US" sz="1200" i="1" dirty="0">
                <a:solidFill>
                  <a:srgbClr val="8FA3BC"/>
                </a:solidFill>
                <a:latin typeface="Consolas" pitchFamily="34" charset="0"/>
                <a:ea typeface="Consolas" pitchFamily="34" charset="-122"/>
                <a:cs typeface="Consolas" pitchFamily="34" charset="-120"/>
              </a:rPr>
              <a:t>// belum pernah tersimpan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tersimpan;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1_penyimpanan_lokal/kode/contoh_08_cache_data_internet.dart"/>
          </p:cNvPr>
          <p:cNvSpPr txBox="1"/>
          <p:nvPr/>
        </p:nvSpPr>
        <p:spPr>
          <a:xfrm>
            <a:off x="548640" y="5084064"/>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contoh_08_cache_data_internet.dart</a:t>
            </a:r>
            <a:endParaRPr lang="en-US" sz="1300" dirty="0"/>
          </a:p>
        </p:txBody>
      </p:sp>
      <p:pic>
        <p:nvPicPr>
          <p:cNvPr id="6" name="Image 0" descr="ikon tautan">
            <a:hlinkClick r:id="rId3" tooltip="https://github.com/antonprafanto/mobile2026/blob/main/pertemuan_11_penyimpanan_lokal/kode/contoh_08_cache_data_internet.dart"/>
          </p:cNvPr>
          <p:cNvPicPr>
            <a:picLocks noChangeAspect="1"/>
          </p:cNvPicPr>
          <p:nvPr/>
        </p:nvPicPr>
        <p:blipFill>
          <a:blip r:embed="rId2"/>
          <a:stretch>
            <a:fillRect/>
          </a:stretch>
        </p:blipFill>
        <p:spPr>
          <a:xfrm>
            <a:off x="694944" y="5175504"/>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Semua keputusan ada di repository; ViewModel dan View tidak tahu asal datanya.</a:t>
            </a:r>
            <a:endParaRPr lang="en-US" sz="1700" dirty="0"/>
          </a:p>
          <a:p>
            <a:pPr marL="228600" indent="-228600">
              <a:spcAft>
                <a:spcPts val="800"/>
              </a:spcAft>
              <a:buSzPct val="100000"/>
              <a:buChar char="•"/>
            </a:pPr>
            <a:r>
              <a:rPr lang="en-US" sz="1700" dirty="0">
                <a:solidFill>
                  <a:schemeClr val="tx1"/>
                </a:solidFill>
              </a:rPr>
              <a:t>rethrow: exception yang sama dilempar ulang → pesanRamah (P10) tetap bekerja.</a:t>
            </a:r>
            <a:endParaRPr lang="en-US" sz="1700" dirty="0"/>
          </a:p>
          <a:p>
            <a:pPr marL="228600" indent="-228600">
              <a:spcAft>
                <a:spcPts val="800"/>
              </a:spcAft>
              <a:buSzPct val="100000"/>
              <a:buChar char="•"/>
            </a:pPr>
            <a:r>
              <a:rPr lang="en-US" sz="1700" dirty="0">
                <a:solidFill>
                  <a:schemeClr val="tx1"/>
                </a:solidFill>
              </a:rPr>
              <a:t>Kelemahan: salinan baru dipakai SETELAH server gagal, jadi pengguna tetap menunggu.</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Contoh 08: Pengumuman Saat Luring</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8.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1563624"/>
          </a:xfrm>
          <a:prstGeom prst="roundRect">
            <a:avLst>
              <a:gd name="adj" fmla="val 5848"/>
            </a:avLst>
          </a:prstGeom>
          <a:solidFill>
            <a:srgbClr val="0E1A2B"/>
          </a:solidFill>
          <a:ln/>
        </p:spPr>
        <p:txBody>
          <a:bodyPr wrap="square" lIns="177800" tIns="152400" rIns="152400" bIns="177800" rtlCol="0" anchor="t"/>
          <a:lstStyle/>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Isi dan waktunya dalam SATU teks JSON</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teks = jsonEncode({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'waktu'</a:t>
            </a:r>
            <a:r>
              <a:rPr lang="en-US" sz="1200" dirty="0">
                <a:solidFill>
                  <a:srgbClr val="E6EDF3"/>
                </a:solidFill>
                <a:latin typeface="Consolas" pitchFamily="34" charset="0"/>
                <a:ea typeface="Consolas" pitchFamily="34" charset="-122"/>
                <a:cs typeface="Consolas" pitchFamily="34" charset="-120"/>
              </a:rPr>
              <a:t>: waktu.millisecondsSinceEpoch,</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'daftar'</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for</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Pengumuman</a:t>
            </a:r>
            <a:r>
              <a:rPr lang="en-US" sz="1200" dirty="0">
                <a:solidFill>
                  <a:srgbClr val="E6EDF3"/>
                </a:solidFill>
                <a:latin typeface="Consolas" pitchFamily="34" charset="0"/>
                <a:ea typeface="Consolas" pitchFamily="34" charset="-122"/>
                <a:cs typeface="Consolas" pitchFamily="34" charset="-120"/>
              </a:rPr>
              <a:t> p </a:t>
            </a:r>
            <a:r>
              <a:rPr lang="en-US" sz="1200" dirty="0">
                <a:solidFill>
                  <a:srgbClr val="C792EA"/>
                </a:solidFill>
                <a:latin typeface="Consolas" pitchFamily="34" charset="0"/>
                <a:ea typeface="Consolas" pitchFamily="34" charset="-122"/>
                <a:cs typeface="Consolas" pitchFamily="34" charset="-120"/>
              </a:rPr>
              <a:t>in</a:t>
            </a:r>
            <a:r>
              <a:rPr lang="en-US" sz="1200" dirty="0">
                <a:solidFill>
                  <a:srgbClr val="E6EDF3"/>
                </a:solidFill>
                <a:latin typeface="Consolas" pitchFamily="34" charset="0"/>
                <a:ea typeface="Consolas" pitchFamily="34" charset="-122"/>
                <a:cs typeface="Consolas" pitchFamily="34" charset="-120"/>
              </a:rPr>
              <a:t> daftar) p.keJson()],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_penyimpanan.tulis(_kunci, teks);</a:t>
            </a:r>
            <a:endParaRPr lang="en-US" sz="1200" dirty="0"/>
          </a:p>
        </p:txBody>
      </p:sp>
      <p:sp>
        <p:nvSpPr>
          <p:cNvPr id="7" name="tombol tautan">
            <a:hlinkClick r:id="rId2" tooltip="https://github.com/antonprafanto/mobile2026/blob/main/pertemuan_11_penyimpanan_lokal/kode/contoh_08_cache_data_internet.dart"/>
          </p:cNvPr>
          <p:cNvSpPr txBox="1"/>
          <p:nvPr/>
        </p:nvSpPr>
        <p:spPr>
          <a:xfrm>
            <a:off x="548640" y="3118104"/>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contoh_08_cache_data_internet.dart</a:t>
            </a:r>
            <a:endParaRPr lang="en-US" sz="1300" dirty="0"/>
          </a:p>
        </p:txBody>
      </p:sp>
      <p:pic>
        <p:nvPicPr>
          <p:cNvPr id="8" name="Image 1" descr="ikon tautan">
            <a:hlinkClick r:id="rId4" tooltip="https://github.com/antonprafanto/mobile2026/blob/main/pertemuan_11_penyimpanan_lokal/kode/contoh_08_cache_data_internet.dart"/>
          </p:cNvPr>
          <p:cNvPicPr>
            <a:picLocks noChangeAspect="1"/>
          </p:cNvPicPr>
          <p:nvPr/>
        </p:nvPicPr>
        <p:blipFill>
          <a:blip r:embed="rId3"/>
          <a:stretch>
            <a:fillRect/>
          </a:stretch>
        </p:blipFill>
        <p:spPr>
          <a:xfrm>
            <a:off x="694944" y="3209544"/>
            <a:ext cx="274320" cy="274320"/>
          </a:xfrm>
          <a:prstGeom prst="rect">
            <a:avLst/>
          </a:prstGeom>
        </p:spPr>
      </p:pic>
      <p:sp>
        <p:nvSpPr>
          <p:cNvPr id="9" name="daftar poin"/>
          <p:cNvSpPr txBox="1"/>
          <p:nvPr/>
        </p:nvSpPr>
        <p:spPr>
          <a:xfrm>
            <a:off x="548640" y="3849624"/>
            <a:ext cx="7608319" cy="2368296"/>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Satu teks: isi baru tidak mungkin tersimpan bersama waktu yang lama.</a:t>
            </a:r>
            <a:endParaRPr lang="en-US" sz="1500" dirty="0"/>
          </a:p>
          <a:p>
            <a:pPr marL="228600" indent="-228600">
              <a:spcAft>
                <a:spcPts val="800"/>
              </a:spcAft>
              <a:buSzPct val="100000"/>
              <a:buChar char="•"/>
            </a:pPr>
            <a:r>
              <a:rPr lang="en-US" sz="1500" dirty="0">
                <a:solidFill>
                  <a:schemeClr val="tx1"/>
                </a:solidFill>
              </a:rPr>
              <a:t>Format milik aplikasi (judul, isi, dibaca), bukan format server (title, body, views).</a:t>
            </a:r>
            <a:endParaRPr lang="en-US" sz="1500" dirty="0"/>
          </a:p>
          <a:p>
            <a:pPr marL="228600" indent="-228600">
              <a:spcAft>
                <a:spcPts val="800"/>
              </a:spcAft>
              <a:buSzPct val="100000"/>
              <a:buChar char="•"/>
            </a:pPr>
            <a:r>
              <a:rPr lang="en-US" sz="1500" dirty="0">
                <a:solidFill>
                  <a:schemeClr val="tx1"/>
                </a:solidFill>
              </a:rPr>
              <a:t>Spanduk Mode luring + waktunya: pengguna tahu datanya salinan.</a:t>
            </a:r>
            <a:endParaRPr lang="en-US" sz="1500" dirty="0"/>
          </a:p>
          <a:p>
            <a:pPr marL="228600" indent="-228600">
              <a:spcAft>
                <a:spcPts val="800"/>
              </a:spcAft>
              <a:buSzPct val="100000"/>
              <a:buChar char="•"/>
            </a:pPr>
            <a:r>
              <a:rPr lang="en-US" sz="1500" dirty="0">
                <a:solidFill>
                  <a:schemeClr val="tx1"/>
                </a:solidFill>
              </a:rPr>
              <a:t>Diuji tanpa menyentuh data asli: PenyimpananTeksMemori + MockClient yang bisa "dimatikan".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11</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Studi Kasus: Cuaca Kampus Luring</a:t>
            </a:r>
            <a:endParaRPr lang="en-US" sz="4000" dirty="0"/>
          </a:p>
        </p:txBody>
      </p:sp>
      <p:sp>
        <p:nvSpPr>
          <p:cNvPr id="5" name="lingkaran cuaca"/>
          <p:cNvSpPr/>
          <p:nvPr/>
        </p:nvSpPr>
        <p:spPr>
          <a:xfrm>
            <a:off x="1097280" y="2148840"/>
            <a:ext cx="2011680" cy="2011680"/>
          </a:xfrm>
          <a:prstGeom prst="ellipse">
            <a:avLst/>
          </a:prstGeom>
          <a:solidFill>
            <a:schemeClr val="accent1"/>
          </a:solidFill>
          <a:ln/>
        </p:spPr>
      </p:sp>
      <p:pic>
        <p:nvPicPr>
          <p:cNvPr id="6" name="Image 0" descr="cuaca">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Fitur Baru dan Tempat Menyimpannya</a:t>
            </a:r>
            <a:endParaRPr lang="en-US" sz="3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590792"/>
                <a:gridCol w="3443094"/>
                <a:gridCol w="3060528"/>
              </a:tblGrid>
              <a:tr h="8686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Fitur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Disimpan di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Alasan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8686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Mengingat kota terakhir yang dipilih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shared_preferences (String)</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Satu nilai kecil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8686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Kota favorit tampil paling depan, bertanda bintang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shared_preferences (List&lt;String&gt;)</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Daftar pendek berisi nama enum</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86868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Prakiraan terakhir setiap kota tetap terbaca tanpa internet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SQLite (cuaca_kampus.db)</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Data terstruktur: cuaca saat ini + tujuh hari per kota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Satu aplikasi bisa memakai keduanya: setiap jenis data disimpan dengan alat yang paling cocok.</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Strategi "Lokal Dulu, lalu Server": Stream</a:t>
            </a:r>
            <a:endParaRPr lang="en-US" sz="3200" dirty="0"/>
          </a:p>
        </p:txBody>
      </p:sp>
      <p:sp>
        <p:nvSpPr>
          <p:cNvPr id="4" name="kotak kode"/>
          <p:cNvSpPr txBox="1"/>
          <p:nvPr/>
        </p:nvSpPr>
        <p:spPr>
          <a:xfrm>
            <a:off x="548640" y="1371600"/>
            <a:ext cx="6766560" cy="3099816"/>
          </a:xfrm>
          <a:prstGeom prst="roundRect">
            <a:avLst>
              <a:gd name="adj" fmla="val 2950"/>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Stream</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HasilCuaca</a:t>
            </a:r>
            <a:r>
              <a:rPr lang="en-US" sz="1200" dirty="0">
                <a:solidFill>
                  <a:srgbClr val="E6EDF3"/>
                </a:solidFill>
                <a:latin typeface="Consolas" pitchFamily="34" charset="0"/>
                <a:ea typeface="Consolas" pitchFamily="34" charset="-122"/>
                <a:cs typeface="Consolas" pitchFamily="34" charset="-120"/>
              </a:rPr>
              <a:t>&gt; pantau(</a:t>
            </a:r>
            <a:r>
              <a:rPr lang="en-US" sz="1200" dirty="0">
                <a:solidFill>
                  <a:srgbClr val="FFCB6B"/>
                </a:solidFill>
                <a:latin typeface="Consolas" pitchFamily="34" charset="0"/>
                <a:ea typeface="Consolas" pitchFamily="34" charset="-122"/>
                <a:cs typeface="Consolas" pitchFamily="34" charset="-120"/>
              </a:rPr>
              <a:t>Kota</a:t>
            </a:r>
            <a:r>
              <a:rPr lang="en-US" sz="1200" dirty="0">
                <a:solidFill>
                  <a:srgbClr val="E6EDF3"/>
                </a:solidFill>
                <a:latin typeface="Consolas" pitchFamily="34" charset="0"/>
                <a:ea typeface="Consolas" pitchFamily="34" charset="-122"/>
                <a:cs typeface="Consolas" pitchFamily="34" charset="-120"/>
              </a:rPr>
              <a:t> kota) </a:t>
            </a:r>
            <a:r>
              <a:rPr lang="en-US" sz="1200" dirty="0">
                <a:solidFill>
                  <a:srgbClr val="C792EA"/>
                </a:solidFill>
                <a:latin typeface="Consolas" pitchFamily="34" charset="0"/>
                <a:ea typeface="Consolas" pitchFamily="34" charset="-122"/>
                <a:cs typeface="Consolas" pitchFamily="34" charset="-120"/>
              </a:rPr>
              <a:t>async</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1. Data tersimpan: cepat dan tidak butuh internet.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HasilCuaca</a:t>
            </a:r>
            <a:r>
              <a:rPr lang="en-US" sz="1200" dirty="0">
                <a:solidFill>
                  <a:srgbClr val="E6EDF3"/>
                </a:solidFill>
                <a:latin typeface="Consolas" pitchFamily="34" charset="0"/>
                <a:ea typeface="Consolas" pitchFamily="34" charset="-122"/>
                <a:cs typeface="Consolas" pitchFamily="34" charset="-120"/>
              </a:rPr>
              <a:t>? tersimpan =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_cache.baca(kota);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(tersimpan != </a:t>
            </a:r>
            <a:r>
              <a:rPr lang="en-US" sz="1200" dirty="0">
                <a:solidFill>
                  <a:srgbClr val="C792EA"/>
                </a:solidFill>
                <a:latin typeface="Consolas" pitchFamily="34" charset="0"/>
                <a:ea typeface="Consolas" pitchFamily="34" charset="-122"/>
                <a:cs typeface="Consolas" pitchFamily="34" charset="-120"/>
              </a:rPr>
              <a:t>null</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yield</a:t>
            </a:r>
            <a:r>
              <a:rPr lang="en-US" sz="1200" dirty="0">
                <a:solidFill>
                  <a:srgbClr val="E6EDF3"/>
                </a:solidFill>
                <a:latin typeface="Consolas" pitchFamily="34" charset="0"/>
                <a:ea typeface="Consolas" pitchFamily="34" charset="-122"/>
                <a:cs typeface="Consolas" pitchFamily="34" charset="-120"/>
              </a:rPr>
              <a:t> tersimpan;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2. Data terbaru dari server. Jika melempar exception,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Stream mengirim galat itu, lalu selesai.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Cuaca</a:t>
            </a:r>
            <a:r>
              <a:rPr lang="en-US" sz="1200" dirty="0">
                <a:solidFill>
                  <a:srgbClr val="E6EDF3"/>
                </a:solidFill>
                <a:latin typeface="Consolas" pitchFamily="34" charset="0"/>
                <a:ea typeface="Consolas" pitchFamily="34" charset="-122"/>
                <a:cs typeface="Consolas" pitchFamily="34" charset="-120"/>
              </a:rPr>
              <a:t> cuaca =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_ambilDariServer(kota);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DateTime</a:t>
            </a:r>
            <a:r>
              <a:rPr lang="en-US" sz="1200" dirty="0">
                <a:solidFill>
                  <a:srgbClr val="E6EDF3"/>
                </a:solidFill>
                <a:latin typeface="Consolas" pitchFamily="34" charset="0"/>
                <a:ea typeface="Consolas" pitchFamily="34" charset="-122"/>
                <a:cs typeface="Consolas" pitchFamily="34" charset="-120"/>
              </a:rPr>
              <a:t> sekarang = </a:t>
            </a:r>
            <a:r>
              <a:rPr lang="en-US" sz="1200" dirty="0">
                <a:solidFill>
                  <a:srgbClr val="FFCB6B"/>
                </a:solidFill>
                <a:latin typeface="Consolas" pitchFamily="34" charset="0"/>
                <a:ea typeface="Consolas" pitchFamily="34" charset="-122"/>
                <a:cs typeface="Consolas" pitchFamily="34" charset="-120"/>
              </a:rPr>
              <a:t>DateTime</a:t>
            </a:r>
            <a:r>
              <a:rPr lang="en-US" sz="1200" dirty="0">
                <a:solidFill>
                  <a:srgbClr val="E6EDF3"/>
                </a:solidFill>
                <a:latin typeface="Consolas" pitchFamily="34" charset="0"/>
                <a:ea typeface="Consolas" pitchFamily="34" charset="-122"/>
                <a:cs typeface="Consolas" pitchFamily="34" charset="-120"/>
              </a:rPr>
              <a:t>.now();</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_cache.simpan(cuaca, sekarang);</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yield</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HasilCuaca</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cuaca: cuaca, diperbarui: sekarang, dariCache: </a:t>
            </a:r>
            <a:r>
              <a:rPr lang="en-US" sz="1200" dirty="0">
                <a:solidFill>
                  <a:srgbClr val="C792EA"/>
                </a:solidFill>
                <a:latin typeface="Consolas" pitchFamily="34" charset="0"/>
                <a:ea typeface="Consolas" pitchFamily="34" charset="-122"/>
                <a:cs typeface="Consolas" pitchFamily="34" charset="-120"/>
              </a:rPr>
              <a:t>false</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1_penyimpanan_lokal/kode/contoh_09_studi_kasus_cuaca_luring.dart"/>
          </p:cNvPr>
          <p:cNvSpPr txBox="1"/>
          <p:nvPr/>
        </p:nvSpPr>
        <p:spPr>
          <a:xfrm>
            <a:off x="548640" y="4700016"/>
            <a:ext cx="67665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contoh_09_studi_kasus_cuaca_luring.dart</a:t>
            </a:r>
            <a:endParaRPr lang="en-US" sz="1300" dirty="0"/>
          </a:p>
        </p:txBody>
      </p:sp>
      <p:pic>
        <p:nvPicPr>
          <p:cNvPr id="6" name="Image 0" descr="ikon tautan">
            <a:hlinkClick r:id="rId3" tooltip="https://github.com/antonprafanto/mobile2026/blob/main/pertemuan_11_penyimpanan_lokal/kode/contoh_09_studi_kasus_cuaca_luring.dart"/>
          </p:cNvPr>
          <p:cNvPicPr>
            <a:picLocks noChangeAspect="1"/>
          </p:cNvPicPr>
          <p:nvPr/>
        </p:nvPicPr>
        <p:blipFill>
          <a:blip r:embed="rId2"/>
          <a:stretch>
            <a:fillRect/>
          </a:stretch>
        </p:blipFill>
        <p:spPr>
          <a:xfrm>
            <a:off x="694944" y="4791456"/>
            <a:ext cx="274320" cy="274320"/>
          </a:xfrm>
          <a:prstGeom prst="rect">
            <a:avLst/>
          </a:prstGeom>
        </p:spPr>
      </p:pic>
      <p:sp>
        <p:nvSpPr>
          <p:cNvPr id="7"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Ada salinan + internet → salinan, lalu data server.</a:t>
            </a:r>
            <a:endParaRPr lang="en-US" sz="1700" dirty="0"/>
          </a:p>
          <a:p>
            <a:pPr marL="228600" indent="-228600">
              <a:spcAft>
                <a:spcPts val="800"/>
              </a:spcAft>
              <a:buSzPct val="100000"/>
              <a:buChar char="•"/>
            </a:pPr>
            <a:r>
              <a:rPr lang="en-US" sz="1700" dirty="0">
                <a:solidFill>
                  <a:schemeClr val="tx1"/>
                </a:solidFill>
              </a:rPr>
              <a:t>Ada salinan, internet mati → salinan, lalu galat.</a:t>
            </a:r>
            <a:endParaRPr lang="en-US" sz="1700" dirty="0"/>
          </a:p>
          <a:p>
            <a:pPr marL="228600" indent="-228600">
              <a:spcAft>
                <a:spcPts val="800"/>
              </a:spcAft>
              <a:buSzPct val="100000"/>
              <a:buChar char="•"/>
            </a:pPr>
            <a:r>
              <a:rPr lang="en-US" sz="1700" dirty="0">
                <a:solidFill>
                  <a:schemeClr val="tx1"/>
                </a:solidFill>
              </a:rPr>
              <a:t>Belum ada salinan + internet → data server saja.</a:t>
            </a:r>
            <a:endParaRPr lang="en-US" sz="1700" dirty="0"/>
          </a:p>
          <a:p>
            <a:pPr marL="228600" indent="-228600">
              <a:spcAft>
                <a:spcPts val="800"/>
              </a:spcAft>
              <a:buSzPct val="100000"/>
              <a:buChar char="•"/>
            </a:pPr>
            <a:r>
              <a:rPr lang="en-US" sz="1700" dirty="0">
                <a:solidFill>
                  <a:schemeClr val="tx1"/>
                </a:solidFill>
              </a:rPr>
              <a:t>Belum ada salinan, internet mati → galat saja.</a:t>
            </a:r>
            <a:endParaRPr lang="en-US" sz="1700" dirty="0"/>
          </a:p>
          <a:p>
            <a:pPr marL="228600" indent="-228600">
              <a:spcAft>
                <a:spcPts val="800"/>
              </a:spcAft>
              <a:buSzPct val="100000"/>
              <a:buChar char="•"/>
            </a:pPr>
            <a:r>
              <a:rPr lang="en-US" sz="1700" dirty="0">
                <a:solidFill>
                  <a:schemeClr val="tx1"/>
                </a:solidFill>
              </a:rPr>
              <a:t>Hasil datang DUA kali → Stream, bukan Future (Pertemuan 3).</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Cache SQLite: Dua Tabel dan Kunci Gabungan</a:t>
            </a:r>
            <a:endParaRPr lang="en-US" sz="3200" dirty="0"/>
          </a:p>
        </p:txBody>
      </p:sp>
      <p:sp>
        <p:nvSpPr>
          <p:cNvPr id="4" name="kotak kode"/>
          <p:cNvSpPr txBox="1"/>
          <p:nvPr/>
        </p:nvSpPr>
        <p:spPr>
          <a:xfrm>
            <a:off x="548640" y="1371600"/>
            <a:ext cx="7132320" cy="3099816"/>
          </a:xfrm>
          <a:prstGeom prst="roundRect">
            <a:avLst>
              <a:gd name="adj" fmla="val 2950"/>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CREATE TABLE cuaca_saat_ini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kota       TEXT PRIMARY KEY,   -- satu baris per kota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suhu       REAL NOT NULL,</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kondisi    TEXT NOT NULL,      -- nama enum, mis. </a:t>
            </a:r>
            <a:r>
              <a:rPr lang="en-US" sz="1200" dirty="0">
                <a:solidFill>
                  <a:srgbClr val="C3E88D"/>
                </a:solidFill>
                <a:latin typeface="Consolas" pitchFamily="34" charset="0"/>
                <a:ea typeface="Consolas" pitchFamily="34" charset="-122"/>
                <a:cs typeface="Consolas" pitchFamily="34" charset="-120"/>
              </a:rPr>
              <a:t>'hujan'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diperbarui INTEGER NOT NULL    -- milidetik</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CREATE TABLE prakiraan_harian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kota          TEXT NOT NULL,</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tanggal       TEXT NOT NULL,   -- </a:t>
            </a:r>
            <a:r>
              <a:rPr lang="en-US" sz="1200" dirty="0">
                <a:solidFill>
                  <a:srgbClr val="C3E88D"/>
                </a:solidFill>
                <a:latin typeface="Consolas" pitchFamily="34" charset="0"/>
                <a:ea typeface="Consolas" pitchFamily="34" charset="-122"/>
                <a:cs typeface="Consolas" pitchFamily="34" charset="-120"/>
              </a:rPr>
              <a:t>'2026-10-15'</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peluang_hujan INTEGER,         -- boleh NULL</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PRIMARY KEY (kota, tanggal)    -- kunci gabungan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Kunci gabungan: pasangan (kota, tanggal) tidak boleh kembar.</a:t>
            </a:r>
            <a:endParaRPr lang="en-US" sz="1700" dirty="0"/>
          </a:p>
          <a:p>
            <a:pPr marL="228600" indent="-228600">
              <a:spcAft>
                <a:spcPts val="800"/>
              </a:spcAft>
              <a:buSzPct val="100000"/>
              <a:buChar char="•"/>
            </a:pPr>
            <a:r>
              <a:rPr lang="en-US" sz="1700" dirty="0">
                <a:solidFill>
                  <a:schemeClr val="tx1"/>
                </a:solidFill>
              </a:rPr>
              <a:t>Satu kota boleh punya banyak tanggal; satu tanggal boleh dimiliki banyak kota.</a:t>
            </a:r>
            <a:endParaRPr lang="en-US" sz="1700" dirty="0"/>
          </a:p>
          <a:p>
            <a:pPr marL="228600" indent="-228600">
              <a:spcAft>
                <a:spcPts val="800"/>
              </a:spcAft>
              <a:buSzPct val="100000"/>
              <a:buChar char="•"/>
            </a:pPr>
            <a:r>
              <a:rPr lang="en-US" sz="1700" dirty="0">
                <a:solidFill>
                  <a:schemeClr val="tx1"/>
                </a:solidFill>
              </a:rPr>
              <a:t>Tanggal sebagai teks YYYY-MM-DD; kondisi sebagai nama enum.</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Menyimpan: Transaksi + Upsert + Batch</a:t>
            </a:r>
            <a:endParaRPr lang="en-US" sz="3200" dirty="0"/>
          </a:p>
        </p:txBody>
      </p:sp>
      <p:sp>
        <p:nvSpPr>
          <p:cNvPr id="4" name="kotak kode"/>
          <p:cNvSpPr txBox="1"/>
          <p:nvPr/>
        </p:nvSpPr>
        <p:spPr>
          <a:xfrm>
            <a:off x="548640" y="1371600"/>
            <a:ext cx="6949440" cy="3675888"/>
          </a:xfrm>
          <a:prstGeom prst="roundRect">
            <a:avLst>
              <a:gd name="adj" fmla="val 2488"/>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db.transaction((</a:t>
            </a:r>
            <a:r>
              <a:rPr lang="en-US" sz="1200" dirty="0">
                <a:solidFill>
                  <a:srgbClr val="FFCB6B"/>
                </a:solidFill>
                <a:latin typeface="Consolas" pitchFamily="34" charset="0"/>
                <a:ea typeface="Consolas" pitchFamily="34" charset="-122"/>
                <a:cs typeface="Consolas" pitchFamily="34" charset="-120"/>
              </a:rPr>
              <a:t>Transaction</a:t>
            </a:r>
            <a:r>
              <a:rPr lang="en-US" sz="1200" dirty="0">
                <a:solidFill>
                  <a:srgbClr val="E6EDF3"/>
                </a:solidFill>
                <a:latin typeface="Consolas" pitchFamily="34" charset="0"/>
                <a:ea typeface="Consolas" pitchFamily="34" charset="-122"/>
                <a:cs typeface="Consolas" pitchFamily="34" charset="-120"/>
              </a:rPr>
              <a:t> txn) </a:t>
            </a:r>
            <a:r>
              <a:rPr lang="en-US" sz="1200" dirty="0">
                <a:solidFill>
                  <a:srgbClr val="C792EA"/>
                </a:solidFill>
                <a:latin typeface="Consolas" pitchFamily="34" charset="0"/>
                <a:ea typeface="Consolas" pitchFamily="34" charset="-122"/>
                <a:cs typeface="Consolas" pitchFamily="34" charset="-120"/>
              </a:rPr>
              <a:t>async</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replace: jika kota ini sudah ada, barisnya DITIMPA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txn.insert(</a:t>
            </a:r>
            <a:r>
              <a:rPr lang="en-US" sz="1200" dirty="0">
                <a:solidFill>
                  <a:srgbClr val="C3E88D"/>
                </a:solidFill>
                <a:latin typeface="Consolas" pitchFamily="34" charset="0"/>
                <a:ea typeface="Consolas" pitchFamily="34" charset="-122"/>
                <a:cs typeface="Consolas" pitchFamily="34" charset="-120"/>
              </a:rPr>
              <a:t>'cuaca_saat_ini'</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'kota'</a:t>
            </a:r>
            <a:r>
              <a:rPr lang="en-US" sz="1200" dirty="0">
                <a:solidFill>
                  <a:srgbClr val="E6EDF3"/>
                </a:solidFill>
                <a:latin typeface="Consolas" pitchFamily="34" charset="0"/>
                <a:ea typeface="Consolas" pitchFamily="34" charset="-122"/>
                <a:cs typeface="Consolas" pitchFamily="34" charset="-120"/>
              </a:rPr>
              <a:t>: kota,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'suhu'</a:t>
            </a:r>
            <a:r>
              <a:rPr lang="en-US" sz="1200" dirty="0">
                <a:solidFill>
                  <a:srgbClr val="E6EDF3"/>
                </a:solidFill>
                <a:latin typeface="Consolas" pitchFamily="34" charset="0"/>
                <a:ea typeface="Consolas" pitchFamily="34" charset="-122"/>
                <a:cs typeface="Consolas" pitchFamily="34" charset="-120"/>
              </a:rPr>
              <a:t>: cuaca.saatIni.suhu,</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 kolom lain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 conflictAlgorithm: </a:t>
            </a:r>
            <a:r>
              <a:rPr lang="en-US" sz="1200" dirty="0">
                <a:solidFill>
                  <a:srgbClr val="FFCB6B"/>
                </a:solidFill>
                <a:latin typeface="Consolas" pitchFamily="34" charset="0"/>
                <a:ea typeface="Consolas" pitchFamily="34" charset="-122"/>
                <a:cs typeface="Consolas" pitchFamily="34" charset="-120"/>
              </a:rPr>
              <a:t>ConflictAlgorithm</a:t>
            </a:r>
            <a:r>
              <a:rPr lang="en-US" sz="1200" dirty="0">
                <a:solidFill>
                  <a:srgbClr val="E6EDF3"/>
                </a:solidFill>
                <a:latin typeface="Consolas" pitchFamily="34" charset="0"/>
                <a:ea typeface="Consolas" pitchFamily="34" charset="-122"/>
                <a:cs typeface="Consolas" pitchFamily="34" charset="-120"/>
              </a:rPr>
              <a:t>.replace);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prakiraan lama kota ini dibuang, diganti yang baru</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txn.delete(</a:t>
            </a:r>
            <a:r>
              <a:rPr lang="en-US" sz="1200" dirty="0">
                <a:solidFill>
                  <a:srgbClr val="C3E88D"/>
                </a:solidFill>
                <a:latin typeface="Consolas" pitchFamily="34" charset="0"/>
                <a:ea typeface="Consolas" pitchFamily="34" charset="-122"/>
                <a:cs typeface="Consolas" pitchFamily="34" charset="-120"/>
              </a:rPr>
              <a:t>'prakiraan_harian'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where: </a:t>
            </a:r>
            <a:r>
              <a:rPr lang="en-US" sz="1200" dirty="0">
                <a:solidFill>
                  <a:srgbClr val="C3E88D"/>
                </a:solidFill>
                <a:latin typeface="Consolas" pitchFamily="34" charset="0"/>
                <a:ea typeface="Consolas" pitchFamily="34" charset="-122"/>
                <a:cs typeface="Consolas" pitchFamily="34" charset="-120"/>
              </a:rPr>
              <a:t>'kota = ?'</a:t>
            </a:r>
            <a:r>
              <a:rPr lang="en-US" sz="1200" dirty="0">
                <a:solidFill>
                  <a:srgbClr val="E6EDF3"/>
                </a:solidFill>
                <a:latin typeface="Consolas" pitchFamily="34" charset="0"/>
                <a:ea typeface="Consolas" pitchFamily="34" charset="-122"/>
                <a:cs typeface="Consolas" pitchFamily="34" charset="-120"/>
              </a:rPr>
              <a:t>, whereArgs: [kota]);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Batch</a:t>
            </a:r>
            <a:r>
              <a:rPr lang="en-US" sz="1200" dirty="0">
                <a:solidFill>
                  <a:srgbClr val="E6EDF3"/>
                </a:solidFill>
                <a:latin typeface="Consolas" pitchFamily="34" charset="0"/>
                <a:ea typeface="Consolas" pitchFamily="34" charset="-122"/>
                <a:cs typeface="Consolas" pitchFamily="34" charset="-120"/>
              </a:rPr>
              <a:t> batch = txn.batch();</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for</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PrakiraanHarian</a:t>
            </a:r>
            <a:r>
              <a:rPr lang="en-US" sz="1200" dirty="0">
                <a:solidFill>
                  <a:srgbClr val="E6EDF3"/>
                </a:solidFill>
                <a:latin typeface="Consolas" pitchFamily="34" charset="0"/>
                <a:ea typeface="Consolas" pitchFamily="34" charset="-122"/>
                <a:cs typeface="Consolas" pitchFamily="34" charset="-120"/>
              </a:rPr>
              <a:t> hari </a:t>
            </a:r>
            <a:r>
              <a:rPr lang="en-US" sz="1200" dirty="0">
                <a:solidFill>
                  <a:srgbClr val="C792EA"/>
                </a:solidFill>
                <a:latin typeface="Consolas" pitchFamily="34" charset="0"/>
                <a:ea typeface="Consolas" pitchFamily="34" charset="-122"/>
                <a:cs typeface="Consolas" pitchFamily="34" charset="-120"/>
              </a:rPr>
              <a:t>in</a:t>
            </a:r>
            <a:r>
              <a:rPr lang="en-US" sz="1200" dirty="0">
                <a:solidFill>
                  <a:srgbClr val="E6EDF3"/>
                </a:solidFill>
                <a:latin typeface="Consolas" pitchFamily="34" charset="0"/>
                <a:ea typeface="Consolas" pitchFamily="34" charset="-122"/>
                <a:cs typeface="Consolas" pitchFamily="34" charset="-120"/>
              </a:rPr>
              <a:t> cuaca.harian)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batch.insert(</a:t>
            </a:r>
            <a:r>
              <a:rPr lang="en-US" sz="1200" dirty="0">
                <a:solidFill>
                  <a:srgbClr val="C3E88D"/>
                </a:solidFill>
                <a:latin typeface="Consolas" pitchFamily="34" charset="0"/>
                <a:ea typeface="Consolas" pitchFamily="34" charset="-122"/>
                <a:cs typeface="Consolas" pitchFamily="34" charset="-120"/>
              </a:rPr>
              <a:t>'prakiraan_harian'</a:t>
            </a: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 */</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batch.commit(noResult: </a:t>
            </a:r>
            <a:r>
              <a:rPr lang="en-US" sz="1200" dirty="0">
                <a:solidFill>
                  <a:srgbClr val="C792EA"/>
                </a:solidFill>
                <a:latin typeface="Consolas" pitchFamily="34" charset="0"/>
                <a:ea typeface="Consolas" pitchFamily="34" charset="-122"/>
                <a:cs typeface="Consolas" pitchFamily="34" charset="-120"/>
              </a:rPr>
              <a:t>true</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11_penyimpanan_lokal/kode/contoh_09_studi_kasus_cuaca_luring.dart"/>
          </p:cNvPr>
          <p:cNvSpPr txBox="1"/>
          <p:nvPr/>
        </p:nvSpPr>
        <p:spPr>
          <a:xfrm>
            <a:off x="548640" y="5276088"/>
            <a:ext cx="69494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contoh_09_studi_kasus_cuaca_luring.dart</a:t>
            </a:r>
            <a:endParaRPr lang="en-US" sz="1300" dirty="0"/>
          </a:p>
        </p:txBody>
      </p:sp>
      <p:pic>
        <p:nvPicPr>
          <p:cNvPr id="6" name="Image 0" descr="ikon tautan">
            <a:hlinkClick r:id="rId3" tooltip="https://github.com/antonprafanto/mobile2026/blob/main/pertemuan_11_penyimpanan_lokal/kode/contoh_09_studi_kasus_cuaca_luring.dart"/>
          </p:cNvPr>
          <p:cNvPicPr>
            <a:picLocks noChangeAspect="1"/>
          </p:cNvPicPr>
          <p:nvPr/>
        </p:nvPicPr>
        <p:blipFill>
          <a:blip r:embed="rId2"/>
          <a:stretch>
            <a:fillRect/>
          </a:stretch>
        </p:blipFill>
        <p:spPr>
          <a:xfrm>
            <a:off x="694944" y="5367528"/>
            <a:ext cx="274320" cy="274320"/>
          </a:xfrm>
          <a:prstGeom prst="rect">
            <a:avLst/>
          </a:prstGeom>
        </p:spPr>
      </p:pic>
      <p:sp>
        <p:nvSpPr>
          <p:cNvPr id="7" name="daftar poin"/>
          <p:cNvSpPr txBox="1"/>
          <p:nvPr/>
        </p:nvSpPr>
        <p:spPr>
          <a:xfrm>
            <a:off x="7909560" y="1417320"/>
            <a:ext cx="37334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ConflictAlgorithm.replace: "masukkan, atau timpa jika sudah ada" = upsert.</a:t>
            </a:r>
            <a:endParaRPr lang="en-US" sz="1700" dirty="0"/>
          </a:p>
          <a:p>
            <a:pPr marL="228600" indent="-228600">
              <a:spcAft>
                <a:spcPts val="800"/>
              </a:spcAft>
              <a:buSzPct val="100000"/>
              <a:buChar char="•"/>
            </a:pPr>
            <a:r>
              <a:rPr lang="en-US" sz="1700" dirty="0">
                <a:solidFill>
                  <a:schemeClr val="tx1"/>
                </a:solidFill>
              </a:rPr>
              <a:t>Tanpa replace: kota yang sama untuk kedua kalinya ditolak PRIMARY KEY.</a:t>
            </a:r>
            <a:endParaRPr lang="en-US" sz="1700" dirty="0"/>
          </a:p>
          <a:p>
            <a:pPr marL="228600" indent="-228600">
              <a:spcAft>
                <a:spcPts val="800"/>
              </a:spcAft>
              <a:buSzPct val="100000"/>
              <a:buChar char="•"/>
            </a:pPr>
            <a:r>
              <a:rPr lang="en-US" sz="1700" dirty="0">
                <a:solidFill>
                  <a:schemeClr val="tx1"/>
                </a:solidFill>
              </a:rPr>
              <a:t>Satu transaksi: cuaca saat ini dan prakiraannya selalu cocok.</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ViewModel: Mendengarkan Stream dengan await for</a:t>
            </a:r>
            <a:endParaRPr lang="en-US" sz="3200" dirty="0"/>
          </a:p>
        </p:txBody>
      </p:sp>
      <p:sp>
        <p:nvSpPr>
          <p:cNvPr id="4" name="kotak kode"/>
          <p:cNvSpPr txBox="1"/>
          <p:nvPr/>
        </p:nvSpPr>
        <p:spPr>
          <a:xfrm>
            <a:off x="548640" y="1371600"/>
            <a:ext cx="7132320" cy="3099816"/>
          </a:xfrm>
          <a:prstGeom prst="roundRect">
            <a:avLst>
              <a:gd name="adj" fmla="val 2950"/>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for</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HasilCuaca</a:t>
            </a:r>
            <a:r>
              <a:rPr lang="en-US" sz="1200" dirty="0">
                <a:solidFill>
                  <a:srgbClr val="E6EDF3"/>
                </a:solidFill>
                <a:latin typeface="Consolas" pitchFamily="34" charset="0"/>
                <a:ea typeface="Consolas" pitchFamily="34" charset="-122"/>
                <a:cs typeface="Consolas" pitchFamily="34" charset="-120"/>
              </a:rPr>
              <a:t> hasil </a:t>
            </a:r>
            <a:r>
              <a:rPr lang="en-US" sz="1200" dirty="0">
                <a:solidFill>
                  <a:srgbClr val="C792EA"/>
                </a:solidFill>
                <a:latin typeface="Consolas" pitchFamily="34" charset="0"/>
                <a:ea typeface="Consolas" pitchFamily="34" charset="-122"/>
                <a:cs typeface="Consolas" pitchFamily="34" charset="-120"/>
              </a:rPr>
              <a:t>in</a:t>
            </a:r>
            <a:r>
              <a:rPr lang="en-US" sz="1200" dirty="0">
                <a:solidFill>
                  <a:srgbClr val="E6EDF3"/>
                </a:solidFill>
                <a:latin typeface="Consolas" pitchFamily="34" charset="0"/>
                <a:ea typeface="Consolas" pitchFamily="34" charset="-122"/>
                <a:cs typeface="Consolas" pitchFamily="34" charset="-120"/>
              </a:rPr>
              <a:t> _repositori.pantau(_kota))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(_sudahDibuang || nomor != _nomorPermintaan)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keluar = berhenti mendengarkan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HasilCuaca</a:t>
            </a:r>
            <a:r>
              <a:rPr lang="en-US" sz="1200" dirty="0">
                <a:solidFill>
                  <a:srgbClr val="E6EDF3"/>
                </a:solidFill>
                <a:latin typeface="Consolas" pitchFamily="34" charset="0"/>
                <a:ea typeface="Consolas" pitchFamily="34" charset="-122"/>
                <a:cs typeface="Consolas" pitchFamily="34" charset="-120"/>
              </a:rPr>
              <a:t>? tampil = _hasil;</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(hasil.dariCache &amp;&amp; tampil != </a:t>
            </a:r>
            <a:r>
              <a:rPr lang="en-US" sz="1200" dirty="0">
                <a:solidFill>
                  <a:srgbClr val="C792EA"/>
                </a:solidFill>
                <a:latin typeface="Consolas" pitchFamily="34" charset="0"/>
                <a:ea typeface="Consolas" pitchFamily="34" charset="-122"/>
                <a:cs typeface="Consolas" pitchFamily="34" charset="-120"/>
              </a:rPr>
              <a:t>null</a:t>
            </a:r>
            <a:r>
              <a:rPr lang="en-US" sz="1200" dirty="0">
                <a:solidFill>
                  <a:srgbClr val="E6EDF3"/>
                </a:solidFill>
                <a:latin typeface="Consolas" pitchFamily="34" charset="0"/>
                <a:ea typeface="Consolas" pitchFamily="34" charset="-122"/>
                <a:cs typeface="Consolas" pitchFamily="34" charset="-120"/>
              </a:rPr>
              <a:t> &amp;&amp; !tampil.dariCache)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continue</a:t>
            </a: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yang tampil sudah lebih baru</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_hasil = hasil;</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_status = </a:t>
            </a:r>
            <a:r>
              <a:rPr lang="en-US" sz="1200" dirty="0">
                <a:solidFill>
                  <a:srgbClr val="FFCB6B"/>
                </a:solidFill>
                <a:latin typeface="Consolas" pitchFamily="34" charset="0"/>
                <a:ea typeface="Consolas" pitchFamily="34" charset="-122"/>
                <a:cs typeface="Consolas" pitchFamily="34" charset="-120"/>
              </a:rPr>
              <a:t>StatusMuat</a:t>
            </a:r>
            <a:r>
              <a:rPr lang="en-US" sz="1200" dirty="0">
                <a:solidFill>
                  <a:srgbClr val="E6EDF3"/>
                </a:solidFill>
                <a:latin typeface="Consolas" pitchFamily="34" charset="0"/>
                <a:ea typeface="Consolas" pitchFamily="34" charset="-122"/>
                <a:cs typeface="Consolas" pitchFamily="34" charset="-120"/>
              </a:rPr>
              <a:t>.berhasil;</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notifyListeners();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catch: masih ada data -&gt; _peringatan;</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belum ada data -&gt; _pesanGalat + status gagal</a:t>
            </a:r>
            <a:endParaRPr lang="en-US" sz="1200" dirty="0"/>
          </a:p>
        </p:txBody>
      </p:sp>
      <p:sp>
        <p:nvSpPr>
          <p:cNvPr id="5" name="tombol tautan">
            <a:hlinkClick r:id="rId1" tooltip="https://github.com/antonprafanto/mobile2026/blob/main/pertemuan_11_penyimpanan_lokal/kode/contoh_09_studi_kasus_cuaca_luring.dart"/>
          </p:cNvPr>
          <p:cNvSpPr txBox="1"/>
          <p:nvPr/>
        </p:nvSpPr>
        <p:spPr>
          <a:xfrm>
            <a:off x="548640" y="4700016"/>
            <a:ext cx="71323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contoh_09_studi_kasus_cuaca_luring.dart</a:t>
            </a:r>
            <a:endParaRPr lang="en-US" sz="1300" dirty="0"/>
          </a:p>
        </p:txBody>
      </p:sp>
      <p:pic>
        <p:nvPicPr>
          <p:cNvPr id="6" name="Image 0" descr="ikon tautan">
            <a:hlinkClick r:id="rId3" tooltip="https://github.com/antonprafanto/mobile2026/blob/main/pertemuan_11_penyimpanan_lokal/kode/contoh_09_studi_kasus_cuaca_luring.dart"/>
          </p:cNvPr>
          <p:cNvPicPr>
            <a:picLocks noChangeAspect="1"/>
          </p:cNvPicPr>
          <p:nvPr/>
        </p:nvPicPr>
        <p:blipFill>
          <a:blip r:embed="rId2"/>
          <a:stretch>
            <a:fillRect/>
          </a:stretch>
        </p:blipFill>
        <p:spPr>
          <a:xfrm>
            <a:off x="694944" y="4791456"/>
            <a:ext cx="274320" cy="274320"/>
          </a:xfrm>
          <a:prstGeom prst="rect">
            <a:avLst/>
          </a:prstGeom>
        </p:spPr>
      </p:pic>
      <p:sp>
        <p:nvSpPr>
          <p:cNvPr id="7" name="daftar poin"/>
          <p:cNvSpPr txBox="1"/>
          <p:nvPr/>
        </p:nvSpPr>
        <p:spPr>
          <a:xfrm>
            <a:off x="8092440" y="1417320"/>
            <a:ext cx="35506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await for: menerima nilai Stream satu per satu, langsung ditampilkan.</a:t>
            </a:r>
            <a:endParaRPr lang="en-US" sz="1700" dirty="0"/>
          </a:p>
          <a:p>
            <a:pPr marL="228600" indent="-228600">
              <a:spcAft>
                <a:spcPts val="800"/>
              </a:spcAft>
              <a:buSzPct val="100000"/>
              <a:buChar char="•"/>
            </a:pPr>
            <a:r>
              <a:rPr lang="en-US" sz="1700" dirty="0">
                <a:solidFill>
                  <a:schemeClr val="tx1"/>
                </a:solidFill>
              </a:rPr>
              <a:t>return: kota sudah diganti → berhenti mendengarkan (penjaga P10).</a:t>
            </a:r>
            <a:endParaRPr lang="en-US" sz="1700" dirty="0"/>
          </a:p>
          <a:p>
            <a:pPr marL="228600" indent="-228600">
              <a:spcAft>
                <a:spcPts val="800"/>
              </a:spcAft>
              <a:buSzPct val="100000"/>
              <a:buChar char="•"/>
            </a:pPr>
            <a:r>
              <a:rPr lang="en-US" sz="1700" dirty="0">
                <a:solidFill>
                  <a:schemeClr val="tx1"/>
                </a:solidFill>
              </a:rPr>
              <a:t>continue: saat ditarik untuk menyegarkan, salinan yang datang lebih dulu dilewati.</a:t>
            </a:r>
            <a:endParaRPr lang="en-US" sz="1700" dirty="0"/>
          </a:p>
          <a:p>
            <a:pPr marL="228600" indent="-228600">
              <a:spcAft>
                <a:spcPts val="800"/>
              </a:spcAft>
              <a:buSzPct val="100000"/>
              <a:buChar char="•"/>
            </a:pPr>
            <a:r>
              <a:rPr lang="en-US" sz="1700" dirty="0">
                <a:solidFill>
                  <a:schemeClr val="tx1"/>
                </a:solidFill>
              </a:rPr>
              <a:t>Gagal tetapi ada data → spanduk peringatan; tanpa data → halaman galat + Coba lagi.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Pemeriksaan Sebelum Aplikasi Tampil</a:t>
            </a:r>
            <a:endParaRPr lang="en-US" sz="3200" dirty="0"/>
          </a:p>
        </p:txBody>
      </p:sp>
      <p:sp>
        <p:nvSpPr>
          <p:cNvPr id="4" name="kotak kode"/>
          <p:cNvSpPr txBox="1"/>
          <p:nvPr/>
        </p:nvSpPr>
        <p:spPr>
          <a:xfrm>
            <a:off x="548640" y="1371600"/>
            <a:ext cx="6583680" cy="2907792"/>
          </a:xfrm>
          <a:prstGeom prst="roundRect">
            <a:avLst>
              <a:gd name="adj" fmla="val 3145"/>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Belum tersimpan: </a:t>
            </a:r>
            <a:r>
              <a:rPr lang="en-US" sz="1200" dirty="0">
                <a:solidFill>
                  <a:srgbClr val="F78C6C"/>
                </a:solidFill>
                <a:latin typeface="Consolas" pitchFamily="34" charset="0"/>
                <a:ea typeface="Consolas" pitchFamily="34" charset="-122"/>
                <a:cs typeface="Consolas" pitchFamily="34" charset="-120"/>
              </a:rPr>
              <a:t>1</a:t>
            </a:r>
            <a:r>
              <a:rPr lang="en-US" sz="1200" dirty="0">
                <a:solidFill>
                  <a:srgbClr val="E6EDF3"/>
                </a:solidFill>
                <a:latin typeface="Consolas" pitchFamily="34" charset="0"/>
                <a:ea typeface="Consolas" pitchFamily="34" charset="-122"/>
                <a:cs typeface="Consolas" pitchFamily="34" charset="-120"/>
              </a:rPr>
              <a:t> data (dari server)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Sudah tersimpan: salinan dulu, lalu server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Server mati: salinan, lalu galat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Kota terakhir diingat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Luring: tetap berhasil</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Luring: memakai salinan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Luring: ada peringatan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Kota baru tanpa salinan: gagal</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Medan menjadi favorit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Favorit di urutan pertama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SQLite: hari tidak berganda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SQLite: NULL tetap null</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LULUS  SQLite: kota lain kosong</a:t>
            </a:r>
            <a:endParaRPr lang="en-US" sz="1200" dirty="0"/>
          </a:p>
        </p:txBody>
      </p:sp>
      <p:sp>
        <p:nvSpPr>
          <p:cNvPr id="5" name="daftar poin"/>
          <p:cNvSpPr txBox="1"/>
          <p:nvPr/>
        </p:nvSpPr>
        <p:spPr>
          <a:xfrm>
            <a:off x="7543800" y="1417320"/>
            <a:ext cx="409925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Tanpa internet: repository + cache memori, ViewModel + preferensi memori, cache SQLite + inMemoryDatabasePath.</a:t>
            </a:r>
            <a:endParaRPr lang="en-US" sz="1700" dirty="0"/>
          </a:p>
          <a:p>
            <a:pPr marL="228600" indent="-228600">
              <a:spcAft>
                <a:spcPts val="800"/>
              </a:spcAft>
              <a:buSzPct val="100000"/>
              <a:buChar char="•"/>
            </a:pPr>
            <a:r>
              <a:rPr lang="en-US" sz="1700" dirty="0">
                <a:solidFill>
                  <a:schemeClr val="tx1"/>
                </a:solidFill>
              </a:rPr>
              <a:t>Pesan "Galat saat memuat cuaca: ClientException: ..." di antaranya memang disengaja.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Cuaca Kampus Luring Berjalan</a:t>
            </a:r>
            <a:endParaRPr lang="en-US" sz="3200" dirty="0"/>
          </a:p>
        </p:txBody>
      </p:sp>
      <p:sp>
        <p:nvSpPr>
          <p:cNvPr id="4" name="bingkai layar 1"/>
          <p:cNvSpPr/>
          <p:nvPr/>
        </p:nvSpPr>
        <p:spPr>
          <a:xfrm>
            <a:off x="5736031" y="1316736"/>
            <a:ext cx="2898648" cy="4445786"/>
          </a:xfrm>
          <a:prstGeom prst="roundRect">
            <a:avLst>
              <a:gd name="adj" fmla="val 3155"/>
            </a:avLst>
          </a:prstGeom>
          <a:solidFill>
            <a:srgbClr val="FFFFFF"/>
          </a:solidFill>
          <a:ln w="12700">
            <a:solidFill>
              <a:srgbClr val="C9D3E0"/>
            </a:solidFill>
            <a:prstDash val="solid"/>
          </a:ln>
        </p:spPr>
      </p:sp>
      <p:pic>
        <p:nvPicPr>
          <p:cNvPr id="5" name="layar 1" descr="Tangkapan layar aplikasi (hasil_contoh_09a.jpg)">    </p:cNvPr>
          <p:cNvPicPr>
            <a:picLocks noChangeAspect="1"/>
          </p:cNvPicPr>
          <p:nvPr/>
        </p:nvPicPr>
        <p:blipFill>
          <a:blip r:embed="rId1"/>
          <a:stretch>
            <a:fillRect/>
          </a:stretch>
        </p:blipFill>
        <p:spPr>
          <a:xfrm>
            <a:off x="5790895" y="1371600"/>
            <a:ext cx="2788920" cy="4336058"/>
          </a:xfrm>
          <a:prstGeom prst="rect">
            <a:avLst/>
          </a:prstGeom>
        </p:spPr>
      </p:pic>
      <p:sp>
        <p:nvSpPr>
          <p:cNvPr id="6" name="bingkai layar 2"/>
          <p:cNvSpPr/>
          <p:nvPr/>
        </p:nvSpPr>
        <p:spPr>
          <a:xfrm>
            <a:off x="8799271" y="1316736"/>
            <a:ext cx="2898648" cy="4445786"/>
          </a:xfrm>
          <a:prstGeom prst="roundRect">
            <a:avLst>
              <a:gd name="adj" fmla="val 3155"/>
            </a:avLst>
          </a:prstGeom>
          <a:solidFill>
            <a:srgbClr val="FFFFFF"/>
          </a:solidFill>
          <a:ln w="12700">
            <a:solidFill>
              <a:srgbClr val="C9D3E0"/>
            </a:solidFill>
            <a:prstDash val="solid"/>
          </a:ln>
        </p:spPr>
      </p:sp>
      <p:pic>
        <p:nvPicPr>
          <p:cNvPr id="7" name="layar 2" descr="Tangkapan layar aplikasi (hasil_contoh_09b.jpg)">    </p:cNvPr>
          <p:cNvPicPr>
            <a:picLocks noChangeAspect="1"/>
          </p:cNvPicPr>
          <p:nvPr/>
        </p:nvPicPr>
        <p:blipFill>
          <a:blip r:embed="rId2"/>
          <a:stretch>
            <a:fillRect/>
          </a:stretch>
        </p:blipFill>
        <p:spPr>
          <a:xfrm>
            <a:off x="8854135" y="1371600"/>
            <a:ext cx="2788920" cy="4336058"/>
          </a:xfrm>
          <a:prstGeom prst="rect">
            <a:avLst/>
          </a:prstGeom>
        </p:spPr>
      </p:pic>
      <p:sp>
        <p:nvSpPr>
          <p:cNvPr id="8" name="tombol tautan">
            <a:hlinkClick r:id="rId3" tooltip="https://github.com/antonprafanto/mobile2026/blob/main/pertemuan_11_penyimpanan_lokal/kode/contoh_09_studi_kasus_cuaca_luring.dart"/>
          </p:cNvPr>
          <p:cNvSpPr txBox="1"/>
          <p:nvPr/>
        </p:nvSpPr>
        <p:spPr>
          <a:xfrm>
            <a:off x="548640" y="1371600"/>
            <a:ext cx="478505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contoh_09_studi_kasus_cuaca_luring.dart</a:t>
            </a:r>
            <a:endParaRPr lang="en-US" sz="1300" dirty="0"/>
          </a:p>
        </p:txBody>
      </p:sp>
      <p:pic>
        <p:nvPicPr>
          <p:cNvPr id="9" name="Image 2" descr="ikon tautan">
            <a:hlinkClick r:id="rId5" tooltip="https://github.com/antonprafanto/mobile2026/blob/main/pertemuan_11_penyimpanan_lokal/kode/contoh_09_studi_kasus_cuaca_luring.dart"/>
          </p:cNvPr>
          <p:cNvPicPr>
            <a:picLocks noChangeAspect="1"/>
          </p:cNvPicPr>
          <p:nvPr/>
        </p:nvPicPr>
        <p:blipFill>
          <a:blip r:embed="rId4"/>
          <a:stretch>
            <a:fillRect/>
          </a:stretch>
        </p:blipFill>
        <p:spPr>
          <a:xfrm>
            <a:off x="694944" y="1463040"/>
            <a:ext cx="274320" cy="274320"/>
          </a:xfrm>
          <a:prstGeom prst="rect">
            <a:avLst/>
          </a:prstGeom>
        </p:spPr>
      </p:pic>
      <p:sp>
        <p:nvSpPr>
          <p:cNvPr id="10" name="daftar poin"/>
          <p:cNvSpPr txBox="1"/>
          <p:nvPr/>
        </p:nvSpPr>
        <p:spPr>
          <a:xfrm>
            <a:off x="548640" y="2103120"/>
            <a:ext cx="4785055" cy="4114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Bintang di kanan atas: chip Samarinda pindah ke depan.</a:t>
            </a:r>
            <a:endParaRPr lang="en-US" sz="1500" dirty="0"/>
          </a:p>
          <a:p>
            <a:pPr marL="228600" indent="-228600">
              <a:spcAft>
                <a:spcPts val="800"/>
              </a:spcAft>
              <a:buSzPct val="100000"/>
              <a:buChar char="•"/>
            </a:pPr>
            <a:r>
              <a:rPr lang="en-US" sz="1500" dirty="0">
                <a:solidFill>
                  <a:schemeClr val="tx1"/>
                </a:solidFill>
              </a:rPr>
              <a:t>Ganti kota lalu kembali: data muncul SEKETIKA (SQLite), disusul garis progres tipis.</a:t>
            </a:r>
            <a:endParaRPr lang="en-US" sz="1500" dirty="0"/>
          </a:p>
          <a:p>
            <a:pPr marL="228600" indent="-228600">
              <a:spcAft>
                <a:spcPts val="800"/>
              </a:spcAft>
              <a:buSzPct val="100000"/>
              <a:buChar char="•"/>
            </a:pPr>
            <a:r>
              <a:rPr lang="en-US" sz="1500" dirty="0">
                <a:solidFill>
                  <a:schemeClr val="tx1"/>
                </a:solidFill>
              </a:rPr>
              <a:t>q, matikan internet, jalankan lagi: kota terakhir + data tersimpan + spanduk "Gagal memperbarui".</a:t>
            </a:r>
            <a:endParaRPr lang="en-US" sz="1500" dirty="0"/>
          </a:p>
          <a:p>
            <a:pPr marL="228600" indent="-228600">
              <a:spcAft>
                <a:spcPts val="800"/>
              </a:spcAft>
              <a:buSzPct val="100000"/>
              <a:buChar char="•"/>
            </a:pPr>
            <a:r>
              <a:rPr lang="en-US" sz="1500" dirty="0">
                <a:solidFill>
                  <a:schemeClr val="tx1"/>
                </a:solidFill>
              </a:rPr>
              <a:t>Kota yang belum pernah dibuka: halaman galat + Coba lagi.</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12–13</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Memeriksa, Menguji, dan Menjaga Keamanan</a:t>
            </a:r>
            <a:endParaRPr lang="en-US" sz="4000" dirty="0"/>
          </a:p>
        </p:txBody>
      </p:sp>
      <p:sp>
        <p:nvSpPr>
          <p:cNvPr id="5" name="lingkaran perisai"/>
          <p:cNvSpPr/>
          <p:nvPr/>
        </p:nvSpPr>
        <p:spPr>
          <a:xfrm>
            <a:off x="1097280" y="2148840"/>
            <a:ext cx="2011680" cy="2011680"/>
          </a:xfrm>
          <a:prstGeom prst="ellipse">
            <a:avLst/>
          </a:prstGeom>
          <a:solidFill>
            <a:schemeClr val="accent1"/>
          </a:solidFill>
          <a:ln/>
        </p:spPr>
      </p:sp>
      <p:pic>
        <p:nvPicPr>
          <p:cNvPr id="6" name="Image 0" descr="perisai">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Melihat dan Menghapus Data Tersimpan</a:t>
            </a:r>
            <a:endParaRPr lang="en-US" sz="32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738491"/>
                <a:gridCol w="5355925"/>
              </a:tblGrid>
              <a:tr h="621792">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Tempat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Isinya / gunanya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21792">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Chrome: F12 → Application → Local storage → localhost:8080</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Data shared_preferences; nilainya teks JSON ("dark" dengan kutip)</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21792">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Chrome: Application → IndexedDB</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Tempat sqflite versi web menyimpan databasenya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21792">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Chrome: Application → Storage → Clear site data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Menghapus SEMUA data situs itu</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21792">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Android Studio → App Inspection → Database Inspector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Melihat isi tabel SQLite, bahkan menjalankan query</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21792">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Android: Setelan → Aplikasi → Penyimpanan → Hapus data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Menghapus semua data aplikasi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Jangan biarkan deleteDatabase atau clear() terbawa ke aplikasi yang dibagikan, kecuali untuk tombol "Hapus semua data" yang disertai konfirmasi.</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Keamanan Data</a:t>
            </a:r>
            <a:endParaRPr lang="en-US" sz="3200" dirty="0"/>
          </a:p>
        </p:txBody>
      </p:sp>
      <p:sp>
        <p:nvSpPr>
          <p:cNvPr id="4" name="kolom 1"/>
          <p:cNvSpPr/>
          <p:nvPr/>
        </p:nvSpPr>
        <p:spPr>
          <a:xfrm>
            <a:off x="548640" y="1371600"/>
            <a:ext cx="5387188" cy="3931920"/>
          </a:xfrm>
          <a:prstGeom prst="roundRect">
            <a:avLst>
              <a:gd name="adj" fmla="val 2791"/>
            </a:avLst>
          </a:prstGeom>
          <a:solidFill>
            <a:schemeClr val="bg2"/>
          </a:solidFill>
          <a:ln/>
        </p:spPr>
      </p:sp>
      <p:sp>
        <p:nvSpPr>
          <p:cNvPr id="5" name="lingkaran gembok"/>
          <p:cNvSpPr/>
          <p:nvPr/>
        </p:nvSpPr>
        <p:spPr>
          <a:xfrm>
            <a:off x="777240" y="1600200"/>
            <a:ext cx="685800" cy="685800"/>
          </a:xfrm>
          <a:prstGeom prst="ellipse">
            <a:avLst/>
          </a:prstGeom>
          <a:solidFill>
            <a:schemeClr val="accent5"/>
          </a:solidFill>
          <a:ln/>
        </p:spPr>
      </p:sp>
      <p:pic>
        <p:nvPicPr>
          <p:cNvPr id="6" name="Image 0" descr="gembok">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Data rahasia</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5"/>
                </a:solidFill>
              </a:rPr>
              <a:t>Bukan shared_preferences, bukan SQLite biasa</a:t>
            </a:r>
            <a:endParaRPr lang="en-US" sz="1400" dirty="0"/>
          </a:p>
        </p:txBody>
      </p:sp>
      <p:sp>
        <p:nvSpPr>
          <p:cNvPr id="9" name="daftar poin"/>
          <p:cNvSpPr txBox="1"/>
          <p:nvPr/>
        </p:nvSpPr>
        <p:spPr>
          <a:xfrm>
            <a:off x="777240"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Keduanya TIDAK dienkripsi: di Chrome terbaca lewat DevTools</a:t>
            </a:r>
            <a:endParaRPr lang="en-US" sz="1600" dirty="0"/>
          </a:p>
          <a:p>
            <a:pPr marL="228600" indent="-228600">
              <a:spcAft>
                <a:spcPts val="800"/>
              </a:spcAft>
              <a:buSzPct val="100000"/>
              <a:buChar char="•"/>
            </a:pPr>
            <a:r>
              <a:rPr lang="en-US" sz="1600" dirty="0">
                <a:solidFill>
                  <a:schemeClr val="tx1"/>
                </a:solidFill>
              </a:rPr>
              <a:t>Token masuk → flutter_secure_storage (Keychain di iOS, terenkripsi di Android)</a:t>
            </a:r>
            <a:endParaRPr lang="en-US" sz="1600" dirty="0"/>
          </a:p>
          <a:p>
            <a:pPr marL="228600" indent="-228600">
              <a:spcAft>
                <a:spcPts val="800"/>
              </a:spcAft>
              <a:buSzPct val="100000"/>
              <a:buChar char="•"/>
            </a:pPr>
            <a:r>
              <a:rPr lang="en-US" sz="1600" dirty="0">
                <a:solidFill>
                  <a:schemeClr val="tx1"/>
                </a:solidFill>
              </a:rPr>
              <a:t>Password: jangan disimpan sama sekali; simpan token dari server</a:t>
            </a:r>
            <a:endParaRPr lang="en-US" sz="1600" dirty="0"/>
          </a:p>
        </p:txBody>
      </p:sp>
      <p:sp>
        <p:nvSpPr>
          <p:cNvPr id="10" name="kolom 2"/>
          <p:cNvSpPr/>
          <p:nvPr/>
        </p:nvSpPr>
        <p:spPr>
          <a:xfrm>
            <a:off x="6255868" y="1371600"/>
            <a:ext cx="5387188" cy="3931920"/>
          </a:xfrm>
          <a:prstGeom prst="roundRect">
            <a:avLst>
              <a:gd name="adj" fmla="val 2791"/>
            </a:avLst>
          </a:prstGeom>
          <a:solidFill>
            <a:schemeClr val="bg2"/>
          </a:solidFill>
          <a:ln/>
        </p:spPr>
      </p:sp>
      <p:sp>
        <p:nvSpPr>
          <p:cNvPr id="11" name="lingkaran orang"/>
          <p:cNvSpPr/>
          <p:nvPr/>
        </p:nvSpPr>
        <p:spPr>
          <a:xfrm>
            <a:off x="6484468" y="1600200"/>
            <a:ext cx="685800" cy="685800"/>
          </a:xfrm>
          <a:prstGeom prst="ellipse">
            <a:avLst/>
          </a:prstGeom>
          <a:solidFill>
            <a:schemeClr val="accent6"/>
          </a:solidFill>
          <a:ln/>
        </p:spPr>
      </p:sp>
      <p:pic>
        <p:nvPicPr>
          <p:cNvPr id="12" name="Image 1" descr="orang">    </p:cNvPr>
          <p:cNvPicPr>
            <a:picLocks noChangeAspect="1"/>
          </p:cNvPicPr>
          <p:nvPr/>
        </p:nvPicPr>
        <p:blipFill>
          <a:blip r:embed="rId2"/>
          <a:stretch>
            <a:fillRect/>
          </a:stretch>
        </p:blipFill>
        <p:spPr>
          <a:xfrm>
            <a:off x="6635344" y="1751076"/>
            <a:ext cx="384048" cy="384048"/>
          </a:xfrm>
          <a:prstGeom prst="rect">
            <a:avLst/>
          </a:prstGeom>
        </p:spPr>
      </p:pic>
      <p:sp>
        <p:nvSpPr>
          <p:cNvPr id="13" name="Text 8"/>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Data pribadi pengguna</a:t>
            </a:r>
            <a:endParaRPr lang="en-US" sz="1900" dirty="0"/>
          </a:p>
        </p:txBody>
      </p:sp>
      <p:sp>
        <p:nvSpPr>
          <p:cNvPr id="14" name="Text 9"/>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6"/>
                </a:solidFill>
              </a:rPr>
              <a:t>Seperlunya saja</a:t>
            </a:r>
            <a:endParaRPr lang="en-US" sz="1400" dirty="0"/>
          </a:p>
        </p:txBody>
      </p:sp>
      <p:sp>
        <p:nvSpPr>
          <p:cNvPr id="15" name="daftar poin"/>
          <p:cNvSpPr txBox="1"/>
          <p:nvPr/>
        </p:nvSpPr>
        <p:spPr>
          <a:xfrm>
            <a:off x="6484468"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Simpan hanya yang benar-benar dibutuhkan aplikasi</a:t>
            </a:r>
            <a:endParaRPr lang="en-US" sz="1600" dirty="0"/>
          </a:p>
          <a:p>
            <a:pPr marL="228600" indent="-228600">
              <a:spcAft>
                <a:spcPts val="800"/>
              </a:spcAft>
              <a:buSzPct val="100000"/>
              <a:buChar char="•"/>
            </a:pPr>
            <a:r>
              <a:rPr lang="en-US" sz="1600" dirty="0">
                <a:solidFill>
                  <a:schemeClr val="tx1"/>
                </a:solidFill>
              </a:rPr>
              <a:t>Saat keluar (logout), hapus data milik pengguna itu</a:t>
            </a:r>
            <a:endParaRPr lang="en-US" sz="1600" dirty="0"/>
          </a:p>
          <a:p>
            <a:pPr marL="228600" indent="-228600">
              <a:spcAft>
                <a:spcPts val="800"/>
              </a:spcAft>
              <a:buSzPct val="100000"/>
              <a:buChar char="•"/>
            </a:pPr>
            <a:r>
              <a:rPr lang="en-US" sz="1600" dirty="0">
                <a:solidFill>
                  <a:schemeClr val="tx1"/>
                </a:solidFill>
              </a:rPr>
              <a:t>Jelaskan di halaman privasi data apa saja yang disimpan</a:t>
            </a:r>
            <a:endParaRPr lang="en-US" sz="1600" dirty="0"/>
          </a:p>
        </p:txBody>
      </p:sp>
      <p:sp>
        <p:nvSpPr>
          <p:cNvPr id="16" name="lingkaran lampu"/>
          <p:cNvSpPr/>
          <p:nvPr/>
        </p:nvSpPr>
        <p:spPr>
          <a:xfrm>
            <a:off x="548640" y="5532120"/>
            <a:ext cx="548640" cy="548640"/>
          </a:xfrm>
          <a:prstGeom prst="ellipse">
            <a:avLst/>
          </a:prstGeom>
          <a:solidFill>
            <a:schemeClr val="accent3"/>
          </a:solidFill>
          <a:ln/>
        </p:spPr>
      </p:sp>
      <p:pic>
        <p:nvPicPr>
          <p:cNvPr id="17"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18" name="Text 12"/>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Di Android pun, data shared_preferences dan SQLite tetap berupa berkas biasa, dan secara bawaan ikut dicadangkan otomatis oleh sistem.</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Pilihan Penyimpanan Lain</a:t>
            </a:r>
            <a:endParaRPr lang="en-US" sz="32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677962"/>
                <a:gridCol w="4782076"/>
                <a:gridCol w="3634377"/>
              </a:tblGrid>
              <a:tr h="71323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Pilihan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Jenisnya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Kapan dipertimbangkan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13232">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drift</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SQLite dengan kode Dart yang dibuat otomatis; salah nama kolom ketahuan sebelum dijalankan. Mendukung web</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Aplikasi besar dengan banyak tabel dan query (mirip peran Room di Android native)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13232">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hive_ce</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Database kunci–nilai (NoSQL) murni Dart, mendukung web</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Menyimpan objek tanpa SQL. Paket hive asli: versi stabil terakhir 2022</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13232">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path_provider + dart:io</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Berkas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Foto atau PDF. Tidak berlaku di web</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13232">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Firebase, Supabase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Database di server</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Data harus sama di beberapa perangkat atau dibagikan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shared_preferences dan sqflite sudah cukup untuk sebagian besar aplikasi, termasuk proyek akhir.</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Kesalahan Umum Pemula</a:t>
            </a:r>
            <a:endParaRPr lang="en-US" sz="32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6121057"/>
                <a:gridCol w="4973359"/>
              </a:tblGrid>
              <a:tr h="51206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Gejala</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Solusi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12064">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Data hilang setiap kali flutter run -d chrome</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--web-port=8080</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MissingPluginException</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Hentikan aplikasi (q), jalankan lagi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Binding has not yet been initialized</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ensureInitialized() di baris pertama main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Bad state: databaseFactory not initialized</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databaseFactory = databaseFactoryFfiWeb di main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no such table / no such column</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Naikkan version, tulis onUpgrade</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Aplikasi macet saat menyimpan</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Pakai txn di dalam transaksi</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12064">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Error saat teks berisi tanda kutip (Jum'at)</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Selalu ? dan whereArgs</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1B2333"/>
                          </a:solidFill>
                          <a:latin typeface="Consolas" pitchFamily="34" charset="0"/>
                          <a:ea typeface="Consolas" pitchFamily="34" charset="-122"/>
                          <a:cs typeface="Consolas" pitchFamily="34" charset="-120"/>
                        </a:rPr>
                        <a:t>A dismissed Dismissible widget is still part of the tree</a:t>
                      </a:r>
                      <a:endParaRPr lang="en-US" sz="13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Buang dari daftar dulu, baru hapus dari database</a:t>
                      </a:r>
                      <a:endParaRPr lang="en-US" sz="13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Memilih Alat yang Tepat</a:t>
            </a:r>
            <a:endParaRPr lang="en-US" sz="32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6121057"/>
                <a:gridCol w="4973359"/>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Kebutuhan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Pakai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Satu atau beberapa nilai kecil, dibaca dengan await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SharedPreferencesAsync</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Pengaturan yang harus siap sejak layar pertama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SharedPreferencesWithCache di main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Banyak data: dicari, diurutkan, diubah, dihitung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SQLite (sqflite) + layanan + repository</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Beberapa perintah tulis yang harus berhasil bersama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db.transaction(...)</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Puluhan atau ratusan baris sekaligus</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batch (sebaiknya di dalam transaksi)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Data internet yang tetap terbaca saat luring</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Cache: "cadangan" atau "lokal dulu, lalu server"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6692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Token dan data rahasia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flutter_secure_storage</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Ringkasan</a:t>
            </a:r>
            <a:endParaRPr lang="en-US" sz="3200" dirty="0"/>
          </a:p>
        </p:txBody>
      </p:sp>
      <p:sp>
        <p:nvSpPr>
          <p:cNvPr id="4" name="Text 1"/>
          <p:cNvSpPr txBox="1"/>
          <p:nvPr/>
        </p:nvSpPr>
        <p:spPr>
          <a:xfrm>
            <a:off x="548640"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2"/>
          <p:cNvSpPr txBox="1"/>
          <p:nvPr/>
        </p:nvSpPr>
        <p:spPr>
          <a:xfrm>
            <a:off x="1234440" y="1371600"/>
            <a:ext cx="4632808" cy="1051560"/>
          </a:xfrm>
          <a:prstGeom prst="rect">
            <a:avLst/>
          </a:prstGeom>
          <a:noFill/>
          <a:ln/>
        </p:spPr>
        <p:txBody>
          <a:bodyPr wrap="square" lIns="0" tIns="0" rIns="0" bIns="0" rtlCol="0" anchor="t"/>
          <a:lstStyle/>
          <a:p>
            <a:pPr indent="0" marL="0">
              <a:buNone/>
            </a:pPr>
            <a:r>
              <a:rPr lang="en-US" sz="1700" dirty="0">
                <a:solidFill>
                  <a:schemeClr val="tx1"/>
                </a:solidFill>
              </a:rPr>
              <a:t>Variabel hidup di memori; simpan ke penyimpanan perangkat SEGERA setelah data berubah.</a:t>
            </a:r>
            <a:endParaRPr lang="en-US" sz="1700" dirty="0"/>
          </a:p>
        </p:txBody>
      </p:sp>
      <p:sp>
        <p:nvSpPr>
          <p:cNvPr id="6" name="Text 3"/>
          <p:cNvSpPr txBox="1"/>
          <p:nvPr/>
        </p:nvSpPr>
        <p:spPr>
          <a:xfrm>
            <a:off x="548640" y="2560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 4"/>
          <p:cNvSpPr txBox="1"/>
          <p:nvPr/>
        </p:nvSpPr>
        <p:spPr>
          <a:xfrm>
            <a:off x="1234440" y="2514600"/>
            <a:ext cx="4632808" cy="1051560"/>
          </a:xfrm>
          <a:prstGeom prst="rect">
            <a:avLst/>
          </a:prstGeom>
          <a:noFill/>
          <a:ln/>
        </p:spPr>
        <p:txBody>
          <a:bodyPr wrap="square" lIns="0" tIns="0" rIns="0" bIns="0" rtlCol="0" anchor="t"/>
          <a:lstStyle/>
          <a:p>
            <a:pPr indent="0" marL="0">
              <a:buNone/>
            </a:pPr>
            <a:r>
              <a:rPr lang="en-US" sz="1700" dirty="0">
                <a:solidFill>
                  <a:schemeClr val="tx1"/>
                </a:solidFill>
              </a:rPr>
              <a:t>shared_preferences: kunci–nilai kecil. Async untuk umum, WithCache + allowList untuk pengaturan sejak layar pertama.</a:t>
            </a:r>
            <a:endParaRPr lang="en-US" sz="1700" dirty="0"/>
          </a:p>
        </p:txBody>
      </p:sp>
      <p:sp>
        <p:nvSpPr>
          <p:cNvPr id="8" name="Text 5"/>
          <p:cNvSpPr txBox="1"/>
          <p:nvPr/>
        </p:nvSpPr>
        <p:spPr>
          <a:xfrm>
            <a:off x="548640" y="3703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Text 6"/>
          <p:cNvSpPr txBox="1"/>
          <p:nvPr/>
        </p:nvSpPr>
        <p:spPr>
          <a:xfrm>
            <a:off x="1234440" y="3657600"/>
            <a:ext cx="4632808" cy="1051560"/>
          </a:xfrm>
          <a:prstGeom prst="rect">
            <a:avLst/>
          </a:prstGeom>
          <a:noFill/>
          <a:ln/>
        </p:spPr>
        <p:txBody>
          <a:bodyPr wrap="square" lIns="0" tIns="0" rIns="0" bIns="0" rtlCol="0" anchor="t"/>
          <a:lstStyle/>
          <a:p>
            <a:pPr indent="0" marL="0">
              <a:buNone/>
            </a:pPr>
            <a:r>
              <a:rPr lang="en-US" sz="1700" dirty="0">
                <a:solidFill>
                  <a:schemeClr val="tx1"/>
                </a:solidFill>
              </a:rPr>
              <a:t>Enum sebagai nama (asNameMap), waktu sebagai teks/milidetik, objek sebagai JSON; data rusak ditangani.</a:t>
            </a:r>
            <a:endParaRPr lang="en-US" sz="1700" dirty="0"/>
          </a:p>
        </p:txBody>
      </p:sp>
      <p:sp>
        <p:nvSpPr>
          <p:cNvPr id="10" name="Text 7"/>
          <p:cNvSpPr txBox="1"/>
          <p:nvPr/>
        </p:nvSpPr>
        <p:spPr>
          <a:xfrm>
            <a:off x="548640" y="4846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1" name="Text 8"/>
          <p:cNvSpPr txBox="1"/>
          <p:nvPr/>
        </p:nvSpPr>
        <p:spPr>
          <a:xfrm>
            <a:off x="1234440" y="4800600"/>
            <a:ext cx="4632808" cy="1051560"/>
          </a:xfrm>
          <a:prstGeom prst="rect">
            <a:avLst/>
          </a:prstGeom>
          <a:noFill/>
          <a:ln/>
        </p:spPr>
        <p:txBody>
          <a:bodyPr wrap="square" lIns="0" tIns="0" rIns="0" bIns="0" rtlCol="0" anchor="t"/>
          <a:lstStyle/>
          <a:p>
            <a:pPr indent="0" marL="0">
              <a:buNone/>
            </a:pPr>
            <a:r>
              <a:rPr lang="en-US" sz="1700" dirty="0">
                <a:solidFill>
                  <a:schemeClr val="tx1"/>
                </a:solidFill>
              </a:rPr>
              <a:t>SQLite: tabel, baris, kolom, kunci utama. insert → id; update/delete → jumlah baris.</a:t>
            </a:r>
            <a:endParaRPr lang="en-US" sz="1700" dirty="0"/>
          </a:p>
        </p:txBody>
      </p:sp>
      <p:sp>
        <p:nvSpPr>
          <p:cNvPr id="12" name="Text 9"/>
          <p:cNvSpPr txBox="1"/>
          <p:nvPr/>
        </p:nvSpPr>
        <p:spPr>
          <a:xfrm>
            <a:off x="6324448"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3" name="Text 10"/>
          <p:cNvSpPr txBox="1"/>
          <p:nvPr/>
        </p:nvSpPr>
        <p:spPr>
          <a:xfrm>
            <a:off x="7010248" y="1371600"/>
            <a:ext cx="4632808" cy="1051560"/>
          </a:xfrm>
          <a:prstGeom prst="rect">
            <a:avLst/>
          </a:prstGeom>
          <a:noFill/>
          <a:ln/>
        </p:spPr>
        <p:txBody>
          <a:bodyPr wrap="square" lIns="0" tIns="0" rIns="0" bIns="0" rtlCol="0" anchor="t"/>
          <a:lstStyle/>
          <a:p>
            <a:pPr indent="0" marL="0">
              <a:buNone/>
            </a:pPr>
            <a:r>
              <a:rPr lang="en-US" sz="1700" dirty="0">
                <a:solidFill>
                  <a:schemeClr val="tx1"/>
                </a:solidFill>
              </a:rPr>
              <a:t>Nilai dari luar kode SELALU lewat ? dan whereArgs.</a:t>
            </a:r>
            <a:endParaRPr lang="en-US" sz="1700" dirty="0"/>
          </a:p>
        </p:txBody>
      </p:sp>
      <p:sp>
        <p:nvSpPr>
          <p:cNvPr id="14" name="Text 11"/>
          <p:cNvSpPr txBox="1"/>
          <p:nvPr/>
        </p:nvSpPr>
        <p:spPr>
          <a:xfrm>
            <a:off x="6324448" y="2560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15" name="Text 12"/>
          <p:cNvSpPr txBox="1"/>
          <p:nvPr/>
        </p:nvSpPr>
        <p:spPr>
          <a:xfrm>
            <a:off x="7010248" y="2514600"/>
            <a:ext cx="4632808" cy="1051560"/>
          </a:xfrm>
          <a:prstGeom prst="rect">
            <a:avLst/>
          </a:prstGeom>
          <a:noFill/>
          <a:ln/>
        </p:spPr>
        <p:txBody>
          <a:bodyPr wrap="square" lIns="0" tIns="0" rIns="0" bIns="0" rtlCol="0" anchor="t"/>
          <a:lstStyle/>
          <a:p>
            <a:pPr indent="0" marL="0">
              <a:buNone/>
            </a:pPr>
            <a:r>
              <a:rPr lang="en-US" sz="1700" dirty="0">
                <a:solidFill>
                  <a:schemeClr val="tx1"/>
                </a:solidFill>
              </a:rPr>
              <a:t>onCreate sekali; struktur berubah → version naik + onUpgrade bertahap.</a:t>
            </a:r>
            <a:endParaRPr lang="en-US" sz="1700" dirty="0"/>
          </a:p>
        </p:txBody>
      </p:sp>
      <p:sp>
        <p:nvSpPr>
          <p:cNvPr id="16" name="Text 13"/>
          <p:cNvSpPr txBox="1"/>
          <p:nvPr/>
        </p:nvSpPr>
        <p:spPr>
          <a:xfrm>
            <a:off x="6324448" y="3703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17" name="Text 14"/>
          <p:cNvSpPr txBox="1"/>
          <p:nvPr/>
        </p:nvSpPr>
        <p:spPr>
          <a:xfrm>
            <a:off x="7010248" y="3657600"/>
            <a:ext cx="4632808" cy="1051560"/>
          </a:xfrm>
          <a:prstGeom prst="rect">
            <a:avLst/>
          </a:prstGeom>
          <a:noFill/>
          <a:ln/>
        </p:spPr>
        <p:txBody>
          <a:bodyPr wrap="square" lIns="0" tIns="0" rIns="0" bIns="0" rtlCol="0" anchor="t"/>
          <a:lstStyle/>
          <a:p>
            <a:pPr indent="0" marL="0">
              <a:buNone/>
            </a:pPr>
            <a:r>
              <a:rPr lang="en-US" sz="1700" dirty="0">
                <a:solidFill>
                  <a:schemeClr val="tx1"/>
                </a:solidFill>
              </a:rPr>
              <a:t>Transaksi: semua atau tidak sama sekali (pakai txn). Batch: banyak perintah sekaligus.</a:t>
            </a:r>
            <a:endParaRPr lang="en-US" sz="1700" dirty="0"/>
          </a:p>
        </p:txBody>
      </p:sp>
      <p:sp>
        <p:nvSpPr>
          <p:cNvPr id="18" name="Text 15"/>
          <p:cNvSpPr txBox="1"/>
          <p:nvPr/>
        </p:nvSpPr>
        <p:spPr>
          <a:xfrm>
            <a:off x="6324448" y="4846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19" name="Text 16"/>
          <p:cNvSpPr txBox="1"/>
          <p:nvPr/>
        </p:nvSpPr>
        <p:spPr>
          <a:xfrm>
            <a:off x="7010248" y="4800600"/>
            <a:ext cx="4632808" cy="1051560"/>
          </a:xfrm>
          <a:prstGeom prst="rect">
            <a:avLst/>
          </a:prstGeom>
          <a:noFill/>
          <a:ln/>
        </p:spPr>
        <p:txBody>
          <a:bodyPr wrap="square" lIns="0" tIns="0" rIns="0" bIns="0" rtlCol="0" anchor="t"/>
          <a:lstStyle/>
          <a:p>
            <a:pPr indent="0" marL="0">
              <a:buNone/>
            </a:pPr>
            <a:r>
              <a:rPr lang="en-US" sz="1700" dirty="0">
                <a:solidFill>
                  <a:schemeClr val="tx1"/>
                </a:solidFill>
              </a:rPr>
              <a:t>Cache = salinan: "cadangan" atau "lokal dulu, lalu server" (Stream); tunjukkan waktunya.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Saatnya Praktik!</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Kerjakan Jobsheet Pertemuan 11 (lima praktikum + tugas Dompet Kuliah), lalu uji diri di Latihan. Untuk proyek akhir: tentukan data apa yang disimpan di perangkat dan di mana menyimpannya. Pertemuan berikutnya: Clean Architecture.</a:t>
            </a:r>
            <a:endParaRPr lang="en-US" sz="2000" dirty="0"/>
          </a:p>
        </p:txBody>
      </p:sp>
      <p:sp>
        <p:nvSpPr>
          <p:cNvPr id="5" name="tombol tautan">
            <a:hlinkClick r:id="rId1" tooltip="https://github.com/antonprafanto/mobile2026/blob/main/pertemuan_11_penyimpanan_lokal/JOBSHEET.md"/>
          </p:cNvPr>
          <p:cNvSpPr txBox="1"/>
          <p:nvPr/>
        </p:nvSpPr>
        <p:spPr>
          <a:xfrm>
            <a:off x="731520" y="5166360"/>
            <a:ext cx="2697480" cy="548640"/>
          </a:xfrm>
          <a:prstGeom prst="roundRect">
            <a:avLst>
              <a:gd name="adj" fmla="val 20000"/>
            </a:avLst>
          </a:prstGeom>
          <a:solidFill>
            <a:schemeClr val="accent1"/>
          </a:solidFill>
          <a:ln/>
        </p:spPr>
        <p:txBody>
          <a:bodyPr wrap="square" lIns="622300" tIns="0" rIns="76200" bIns="0" rtlCol="0" anchor="ctr"/>
          <a:lstStyle/>
          <a:p>
            <a:pPr algn="l" indent="0" marL="0">
              <a:buNone/>
            </a:pPr>
            <a:r>
              <a:rPr lang="en-US" sz="1600" b="1" dirty="0">
                <a:solidFill>
                  <a:schemeClr val="bg1"/>
                </a:solidFill>
              </a:rPr>
              <a:t>Jobsheet P11</a:t>
            </a:r>
            <a:endParaRPr lang="en-US" sz="1600" dirty="0"/>
          </a:p>
        </p:txBody>
      </p:sp>
      <p:pic>
        <p:nvPicPr>
          <p:cNvPr id="6" name="Image 0" descr="ikon tautan">
            <a:hlinkClick r:id="rId3" tooltip="https://github.com/antonprafanto/mobile2026/blob/main/pertemuan_11_penyimpanan_lokal/JOBSHEET.md"/>
          </p:cNvPr>
          <p:cNvPicPr>
            <a:picLocks noChangeAspect="1"/>
          </p:cNvPicPr>
          <p:nvPr/>
        </p:nvPicPr>
        <p:blipFill>
          <a:blip r:embed="rId2"/>
          <a:stretch>
            <a:fillRect/>
          </a:stretch>
        </p:blipFill>
        <p:spPr>
          <a:xfrm>
            <a:off x="877824" y="5276088"/>
            <a:ext cx="329184" cy="329184"/>
          </a:xfrm>
          <a:prstGeom prst="rect">
            <a:avLst/>
          </a:prstGeom>
        </p:spPr>
      </p:pic>
      <p:sp>
        <p:nvSpPr>
          <p:cNvPr id="7" name="tombol tautan">
            <a:hlinkClick r:id="rId4" tooltip="https://github.com/antonprafanto/mobile2026/blob/main/pertemuan_11_penyimpanan_lokal/LATIHAN.md"/>
          </p:cNvPr>
          <p:cNvSpPr txBox="1"/>
          <p:nvPr/>
        </p:nvSpPr>
        <p:spPr>
          <a:xfrm>
            <a:off x="361188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Latihan P11</a:t>
            </a:r>
            <a:endParaRPr lang="en-US" sz="1600" dirty="0"/>
          </a:p>
        </p:txBody>
      </p:sp>
      <p:pic>
        <p:nvPicPr>
          <p:cNvPr id="8" name="Image 1" descr="ikon tautan">
            <a:hlinkClick r:id="rId6" tooltip="https://github.com/antonprafanto/mobile2026/blob/main/pertemuan_11_penyimpanan_lokal/LATIHAN.md"/>
          </p:cNvPr>
          <p:cNvPicPr>
            <a:picLocks noChangeAspect="1"/>
          </p:cNvPicPr>
          <p:nvPr/>
        </p:nvPicPr>
        <p:blipFill>
          <a:blip r:embed="rId5"/>
          <a:stretch>
            <a:fillRect/>
          </a:stretch>
        </p:blipFill>
        <p:spPr>
          <a:xfrm>
            <a:off x="3758184" y="5276088"/>
            <a:ext cx="329184" cy="329184"/>
          </a:xfrm>
          <a:prstGeom prst="rect">
            <a:avLst/>
          </a:prstGeom>
        </p:spPr>
      </p:pic>
      <p:sp>
        <p:nvSpPr>
          <p:cNvPr id="9" name="tombol tautan">
            <a:hlinkClick r:id="rId7" tooltip="https://github.com/antonprafanto/mobile2026/blob/main/panduan/05_proyek_akhir.md"/>
          </p:cNvPr>
          <p:cNvSpPr txBox="1"/>
          <p:nvPr/>
        </p:nvSpPr>
        <p:spPr>
          <a:xfrm>
            <a:off x="649224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Proyek Akhir</a:t>
            </a:r>
            <a:endParaRPr lang="en-US" sz="1600" dirty="0"/>
          </a:p>
        </p:txBody>
      </p:sp>
      <p:pic>
        <p:nvPicPr>
          <p:cNvPr id="10" name="Image 2" descr="ikon tautan">
            <a:hlinkClick r:id="rId9" tooltip="https://github.com/antonprafanto/mobile2026/blob/main/panduan/05_proyek_akhir.md"/>
          </p:cNvPr>
          <p:cNvPicPr>
            <a:picLocks noChangeAspect="1"/>
          </p:cNvPicPr>
          <p:nvPr/>
        </p:nvPicPr>
        <p:blipFill>
          <a:blip r:embed="rId8"/>
          <a:stretch>
            <a:fillRect/>
          </a:stretch>
        </p:blipFill>
        <p:spPr>
          <a:xfrm>
            <a:off x="6638544" y="5276088"/>
            <a:ext cx="329184" cy="329184"/>
          </a:xfrm>
          <a:prstGeom prst="rect">
            <a:avLst/>
          </a:prstGeom>
        </p:spPr>
      </p:pic>
      <p:sp>
        <p:nvSpPr>
          <p:cNvPr id="11" name="lingkaran roket"/>
          <p:cNvSpPr/>
          <p:nvPr/>
        </p:nvSpPr>
        <p:spPr>
          <a:xfrm>
            <a:off x="9646920" y="1828800"/>
            <a:ext cx="1737360" cy="1737360"/>
          </a:xfrm>
          <a:prstGeom prst="ellipse">
            <a:avLst/>
          </a:prstGeom>
          <a:solidFill>
            <a:schemeClr val="accent1"/>
          </a:solidFill>
          <a:ln/>
        </p:spPr>
      </p:sp>
      <p:pic>
        <p:nvPicPr>
          <p:cNvPr id="12" name="Image 3" descr="roket">    </p:cNvPr>
          <p:cNvPicPr>
            <a:picLocks noChangeAspect="1"/>
          </p:cNvPicPr>
          <p:nvPr/>
        </p:nvPicPr>
        <p:blipFill>
          <a:blip r:embed="rId10"/>
          <a:stretch>
            <a:fillRect/>
          </a:stretch>
        </p:blipFill>
        <p:spPr>
          <a:xfrm>
            <a:off x="10029139" y="2211019"/>
            <a:ext cx="972922" cy="972922"/>
          </a:xfrm>
          <a:prstGeom prst="rect">
            <a:avLst/>
          </a:prstGeom>
        </p:spPr>
      </p:pic>
    </p:spTree>
  </p:cSld>
  <p:clrMapOvr>
    <a:masterClrMapping/>
  </p:clrMapOvr>
</p:sld>
</file>

<file path=ppt/theme/theme1.xml><?xml version="1.0" encoding="utf-8"?>
<a:theme xmlns:a="http://schemas.openxmlformats.org/drawingml/2006/main" name="PPB Flutter 2026">
  <a:themeElements>
    <a:clrScheme name="PPB Flutter 2026">
      <a:dk1>
        <a:srgbClr val="1B2333"/>
      </a:dk1>
      <a:lt1>
        <a:srgbClr val="FFFFFF"/>
      </a:lt1>
      <a:dk2>
        <a:srgbClr val="0B2545"/>
      </a:dk2>
      <a:lt2>
        <a:srgbClr val="EEF3FA"/>
      </a:lt2>
      <a:accent1>
        <a:srgbClr val="0175C2"/>
      </a:accent1>
      <a:accent2>
        <a:srgbClr val="13B9FD"/>
      </a:accent2>
      <a:accent3>
        <a:srgbClr val="F2A900"/>
      </a:accent3>
      <a:accent4>
        <a:srgbClr val="2E7D32"/>
      </a:accent4>
      <a:accent5>
        <a:srgbClr val="C62828"/>
      </a:accent5>
      <a:accent6>
        <a:srgbClr val="6750A4"/>
      </a:accent6>
      <a:hlink>
        <a:srgbClr val="0175C2"/>
      </a:hlink>
      <a:folHlink>
        <a:srgbClr val="6750A4"/>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68</Slides>
  <Notes>68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68</vt:i4>
      </vt:variant>
    </vt:vector>
  </HeadingPairs>
  <TitlesOfParts>
    <vt:vector size="7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Pertemuan 11 - Penyimpanan Lokal</dc:title>
  <dc:subject>Materi kuliah Pemrograman Piranti Bergerak (Flutter 2026)</dc:subject>
  <dc:creator>Pemrograman Piranti Bergerak - Informatika S1</dc:creator>
  <cp:lastModifiedBy>Pemrograman Piranti Bergerak - Informatika S1</cp:lastModifiedBy>
  <cp:revision>1</cp:revision>
  <dcterms:created xsi:type="dcterms:W3CDTF">2026-10-15T18:45:26Z</dcterms:created>
  <dcterms:modified xsi:type="dcterms:W3CDTF">2026-10-15T18:45:26Z</dcterms:modified>
</cp:coreProperties>
</file>